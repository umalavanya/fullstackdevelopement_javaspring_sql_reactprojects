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5" autoAdjust="0"/>
    <p:restoredTop sz="94660"/>
  </p:normalViewPr>
  <p:slideViewPr>
    <p:cSldViewPr snapToGrid="0">
      <p:cViewPr varScale="1">
        <p:scale>
          <a:sx n="56" d="100"/>
          <a:sy n="56" d="100"/>
        </p:scale>
        <p:origin x="58" y="3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9105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757447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1FB5FC-1629-4A0D-9573-785FAC7ED015}"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28083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1FB5FC-1629-4A0D-9573-785FAC7ED015}"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286600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1FB5FC-1629-4A0D-9573-785FAC7ED015}" type="datetimeFigureOut">
              <a:rPr lang="en-US" smtClean="0"/>
              <a:t>2/22/2026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1107381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1FB5FC-1629-4A0D-9573-785FAC7ED015}" type="datetimeFigureOut">
              <a:rPr lang="en-US" smtClean="0"/>
              <a:t>2/22/2026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512024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1FB5FC-1629-4A0D-9573-785FAC7ED015}" type="datetimeFigureOut">
              <a:rPr lang="en-US" smtClean="0"/>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3820224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179119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2/22/2026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453613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613614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169650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1FB5FC-1629-4A0D-9573-785FAC7ED015}" type="datetimeFigureOut">
              <a:rPr lang="en-US" smtClean="0"/>
              <a:t>2/22/2026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83C504-7F0E-4585-832D-B71C6D96FE19}" type="slidenum">
              <a:rPr lang="en-US" smtClean="0"/>
              <a:t>‹#›</a:t>
            </a:fld>
            <a:endParaRPr lang="en-US"/>
          </a:p>
        </p:txBody>
      </p:sp>
    </p:spTree>
    <p:extLst>
      <p:ext uri="{BB962C8B-B14F-4D97-AF65-F5344CB8AC3E}">
        <p14:creationId xmlns:p14="http://schemas.microsoft.com/office/powerpoint/2010/main" val="2090406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intellipaat.com/blog/tutorial/cassandra-tutoria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intellipaat.com/blog/tutorial/couchbase-tutorials/introduction/"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hyperlink" Target="https://intellipaat.com/blog/what-is-mapreduce/"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hyperlink" Target="https://intellipaat.com/blog/nosql-database-tutorial/" TargetMode="Externa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hyperlink" Target="https://intellipaat.com/blog/mongodb-vs-mysql/" TargetMode="Externa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FE296F-57CA-4E60-DA4D-3724F7B5863C}"/>
              </a:ext>
            </a:extLst>
          </p:cNvPr>
          <p:cNvSpPr txBox="1"/>
          <p:nvPr/>
        </p:nvSpPr>
        <p:spPr>
          <a:xfrm>
            <a:off x="416257" y="260328"/>
            <a:ext cx="4954136" cy="134908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 Compare MongoDB with Cassandra.</a:t>
            </a:r>
          </a:p>
          <a:p>
            <a:pPr algn="just">
              <a:lnSpc>
                <a:spcPts val="2100"/>
              </a:lnSpc>
              <a:spcBef>
                <a:spcPts val="1650"/>
              </a:spcBef>
              <a:buNone/>
            </a:pPr>
            <a:r>
              <a:rPr lang="en-US" b="0" i="0" dirty="0">
                <a:solidFill>
                  <a:srgbClr val="3A3A3A"/>
                </a:solidFill>
                <a:effectLst/>
                <a:latin typeface="Roboto" panose="02000000000000000000" pitchFamily="2" charset="0"/>
              </a:rPr>
              <a:t>Learn about a brief comparison between MongoDB and </a:t>
            </a:r>
            <a:r>
              <a:rPr lang="en-US" b="0" i="0" u="none" strike="noStrike" dirty="0">
                <a:solidFill>
                  <a:srgbClr val="0F5A9E"/>
                </a:solidFill>
                <a:effectLst/>
                <a:latin typeface="Roboto" panose="02000000000000000000" pitchFamily="2" charset="0"/>
                <a:hlinkClick r:id="rId2"/>
              </a:rPr>
              <a:t>Cassandra</a:t>
            </a:r>
            <a:r>
              <a:rPr lang="en-US" b="0" i="0" dirty="0">
                <a:solidFill>
                  <a:srgbClr val="3A3A3A"/>
                </a:solidFill>
                <a:effectLst/>
                <a:latin typeface="Roboto" panose="02000000000000000000" pitchFamily="2" charset="0"/>
              </a:rPr>
              <a:t> using this table.</a:t>
            </a:r>
          </a:p>
        </p:txBody>
      </p:sp>
      <p:graphicFrame>
        <p:nvGraphicFramePr>
          <p:cNvPr id="4" name="Table 3">
            <a:extLst>
              <a:ext uri="{FF2B5EF4-FFF2-40B4-BE49-F238E27FC236}">
                <a16:creationId xmlns:a16="http://schemas.microsoft.com/office/drawing/2014/main" id="{585E864F-122E-D822-1097-55A7B36070CE}"/>
              </a:ext>
            </a:extLst>
          </p:cNvPr>
          <p:cNvGraphicFramePr>
            <a:graphicFrameLocks noGrp="1"/>
          </p:cNvGraphicFramePr>
          <p:nvPr>
            <p:extLst>
              <p:ext uri="{D42A27DB-BD31-4B8C-83A1-F6EECF244321}">
                <p14:modId xmlns:p14="http://schemas.microsoft.com/office/powerpoint/2010/main" val="2692596022"/>
              </p:ext>
            </p:extLst>
          </p:nvPr>
        </p:nvGraphicFramePr>
        <p:xfrm>
          <a:off x="416257" y="1965960"/>
          <a:ext cx="8543925" cy="1463040"/>
        </p:xfrm>
        <a:graphic>
          <a:graphicData uri="http://schemas.openxmlformats.org/drawingml/2006/table">
            <a:tbl>
              <a:tblPr/>
              <a:tblGrid>
                <a:gridCol w="2847975">
                  <a:extLst>
                    <a:ext uri="{9D8B030D-6E8A-4147-A177-3AD203B41FA5}">
                      <a16:colId xmlns:a16="http://schemas.microsoft.com/office/drawing/2014/main" val="829966702"/>
                    </a:ext>
                  </a:extLst>
                </a:gridCol>
                <a:gridCol w="2847975">
                  <a:extLst>
                    <a:ext uri="{9D8B030D-6E8A-4147-A177-3AD203B41FA5}">
                      <a16:colId xmlns:a16="http://schemas.microsoft.com/office/drawing/2014/main" val="2861437357"/>
                    </a:ext>
                  </a:extLst>
                </a:gridCol>
                <a:gridCol w="2847975">
                  <a:extLst>
                    <a:ext uri="{9D8B030D-6E8A-4147-A177-3AD203B41FA5}">
                      <a16:colId xmlns:a16="http://schemas.microsoft.com/office/drawing/2014/main" val="1895654258"/>
                    </a:ext>
                  </a:extLst>
                </a:gridCol>
              </a:tblGrid>
              <a:tr h="0">
                <a:tc>
                  <a:txBody>
                    <a:bodyPr/>
                    <a:lstStyle/>
                    <a:p>
                      <a:pPr algn="ctr" fontAlgn="t">
                        <a:buNone/>
                      </a:pPr>
                      <a:r>
                        <a:rPr lang="en-US" b="0">
                          <a:solidFill>
                            <a:srgbClr val="FFFFFF"/>
                          </a:solidFill>
                          <a:effectLst/>
                        </a:rPr>
                        <a:t>Criteria</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MongoDB</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Cassandra</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2754044903"/>
                  </a:ext>
                </a:extLst>
              </a:tr>
              <a:tr h="0">
                <a:tc>
                  <a:txBody>
                    <a:bodyPr/>
                    <a:lstStyle/>
                    <a:p>
                      <a:pPr fontAlgn="t">
                        <a:buNone/>
                      </a:pPr>
                      <a:r>
                        <a:rPr lang="en-US">
                          <a:effectLst/>
                        </a:rPr>
                        <a:t>Data Model</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Document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Bigtable like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988325165"/>
                  </a:ext>
                </a:extLst>
              </a:tr>
              <a:tr h="0">
                <a:tc>
                  <a:txBody>
                    <a:bodyPr/>
                    <a:lstStyle/>
                    <a:p>
                      <a:pPr fontAlgn="t">
                        <a:buNone/>
                      </a:pPr>
                      <a:r>
                        <a:rPr lang="en-US">
                          <a:effectLst/>
                        </a:rPr>
                        <a:t>Database scalability</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Read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Write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185872511"/>
                  </a:ext>
                </a:extLst>
              </a:tr>
              <a:tr h="0">
                <a:tc>
                  <a:txBody>
                    <a:bodyPr/>
                    <a:lstStyle/>
                    <a:p>
                      <a:pPr fontAlgn="t">
                        <a:buNone/>
                      </a:pPr>
                      <a:r>
                        <a:rPr lang="en-US">
                          <a:effectLst/>
                        </a:rPr>
                        <a:t>Querying of data</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Multi-indexed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Using Key or Scan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02673244"/>
                  </a:ext>
                </a:extLst>
              </a:tr>
            </a:tbl>
          </a:graphicData>
        </a:graphic>
      </p:graphicFrame>
      <p:sp>
        <p:nvSpPr>
          <p:cNvPr id="6" name="TextBox 5">
            <a:extLst>
              <a:ext uri="{FF2B5EF4-FFF2-40B4-BE49-F238E27FC236}">
                <a16:creationId xmlns:a16="http://schemas.microsoft.com/office/drawing/2014/main" id="{8D52D559-A8C8-2C26-34E0-CF66ED1BB3FC}"/>
              </a:ext>
            </a:extLst>
          </p:cNvPr>
          <p:cNvSpPr txBox="1"/>
          <p:nvPr/>
        </p:nvSpPr>
        <p:spPr>
          <a:xfrm>
            <a:off x="126455" y="3429000"/>
            <a:ext cx="9123527" cy="356764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 What makes MongoDB the best?</a:t>
            </a:r>
            <a:br>
              <a:rPr lang="en-US" b="0" i="0" dirty="0">
                <a:solidFill>
                  <a:srgbClr val="272C37"/>
                </a:solidFill>
                <a:effectLst/>
                <a:latin typeface="Roboto" panose="02000000000000000000" pitchFamily="2" charset="0"/>
              </a:rPr>
            </a:br>
            <a:br>
              <a:rPr lang="en-US" b="0" i="0" dirty="0">
                <a:solidFill>
                  <a:srgbClr val="272C37"/>
                </a:solidFill>
                <a:effectLst/>
                <a:latin typeface="Roboto" panose="02000000000000000000" pitchFamily="2" charset="0"/>
              </a:rPr>
            </a:br>
            <a:r>
              <a:rPr lang="en-US" b="0" i="0" dirty="0">
                <a:solidFill>
                  <a:srgbClr val="3A3A3A"/>
                </a:solidFill>
                <a:effectLst/>
                <a:latin typeface="Roboto" panose="02000000000000000000" pitchFamily="2" charset="0"/>
              </a:rPr>
              <a:t>MongoDB is considered to be the best NoSQL database because of its following features: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Document-oriented (DO)</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High performance (HP)</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High availability (HA)</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Easy scalability</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Rich query language</a:t>
            </a:r>
          </a:p>
        </p:txBody>
      </p:sp>
    </p:spTree>
    <p:extLst>
      <p:ext uri="{BB962C8B-B14F-4D97-AF65-F5344CB8AC3E}">
        <p14:creationId xmlns:p14="http://schemas.microsoft.com/office/powerpoint/2010/main" val="686781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047F0-2EEC-3B96-C431-447C7F2D00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12F535-1B67-8590-1B05-B1C16E74F183}"/>
              </a:ext>
            </a:extLst>
          </p:cNvPr>
          <p:cNvSpPr txBox="1"/>
          <p:nvPr/>
        </p:nvSpPr>
        <p:spPr>
          <a:xfrm>
            <a:off x="286603" y="247360"/>
            <a:ext cx="9416955" cy="582467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 How to do transactions/locking in MongoDB?</a:t>
            </a:r>
          </a:p>
          <a:p>
            <a:pPr algn="just">
              <a:lnSpc>
                <a:spcPts val="2100"/>
              </a:lnSpc>
              <a:spcBef>
                <a:spcPts val="1650"/>
              </a:spcBef>
              <a:buNone/>
            </a:pPr>
            <a:r>
              <a:rPr lang="en-US" b="0" i="0" dirty="0">
                <a:solidFill>
                  <a:srgbClr val="3A3A3A"/>
                </a:solidFill>
                <a:effectLst/>
                <a:latin typeface="Roboto" panose="02000000000000000000" pitchFamily="2" charset="0"/>
              </a:rPr>
              <a:t>MongoDB does not use conventional locking with reduction as it is planned to be light, high-speed, and knowable in its presentation. It can be considered as parallel to the MySQL </a:t>
            </a:r>
            <a:r>
              <a:rPr lang="en-US" b="0" i="0" dirty="0" err="1">
                <a:solidFill>
                  <a:srgbClr val="3A3A3A"/>
                </a:solidFill>
                <a:effectLst/>
                <a:latin typeface="Roboto" panose="02000000000000000000" pitchFamily="2" charset="0"/>
              </a:rPr>
              <a:t>MyISAM</a:t>
            </a:r>
            <a:r>
              <a:rPr lang="en-US" b="0" i="0" dirty="0">
                <a:solidFill>
                  <a:srgbClr val="3A3A3A"/>
                </a:solidFill>
                <a:effectLst/>
                <a:latin typeface="Roboto" panose="02000000000000000000" pitchFamily="2" charset="0"/>
              </a:rPr>
              <a:t> auto entrust sculpt. With the simplest business sustain, performance is enhanced, particularly in a structure with numerous servers.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 When and to what extent does data get extended to multi-slice?</a:t>
            </a:r>
          </a:p>
          <a:p>
            <a:pPr algn="just">
              <a:lnSpc>
                <a:spcPts val="2100"/>
              </a:lnSpc>
              <a:spcBef>
                <a:spcPts val="1650"/>
              </a:spcBef>
              <a:buNone/>
            </a:pPr>
            <a:r>
              <a:rPr lang="en-US" b="0" i="0" dirty="0">
                <a:solidFill>
                  <a:srgbClr val="3A3A3A"/>
                </a:solidFill>
                <a:effectLst/>
                <a:latin typeface="Roboto" panose="02000000000000000000" pitchFamily="2" charset="0"/>
              </a:rPr>
              <a:t>MongoDB scrap stands on a collection. So, an album of all substances is kept in a lump or mass. Only when there is an additional time slot, there will be more than a few slice data achievement choices, but when there is more than one lump, data gets extended to a lot of slices and it can be extended to 64 MB.</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 Compare MongoDB with Couchbase and </a:t>
            </a:r>
            <a:r>
              <a:rPr lang="en-US" b="0" i="0" dirty="0" err="1">
                <a:solidFill>
                  <a:srgbClr val="272C37"/>
                </a:solidFill>
                <a:effectLst/>
                <a:latin typeface="Roboto" panose="02000000000000000000" pitchFamily="2" charset="0"/>
              </a:rPr>
              <a:t>CouchbaseDB</a:t>
            </a:r>
            <a:r>
              <a:rPr lang="en-US" b="0" i="0" dirty="0">
                <a:solidFill>
                  <a:srgbClr val="272C37"/>
                </a:solidFill>
                <a:effectLst/>
                <a:latin typeface="Roboto" panose="02000000000000000000" pitchFamily="2" charset="0"/>
              </a:rPr>
              <a:t>.</a:t>
            </a:r>
          </a:p>
          <a:p>
            <a:pPr algn="just">
              <a:lnSpc>
                <a:spcPts val="2100"/>
              </a:lnSpc>
              <a:spcBef>
                <a:spcPts val="1650"/>
              </a:spcBef>
              <a:buNone/>
            </a:pPr>
            <a:r>
              <a:rPr lang="en-US" b="0" i="0" dirty="0">
                <a:solidFill>
                  <a:srgbClr val="3A3A3A"/>
                </a:solidFill>
                <a:effectLst/>
                <a:latin typeface="Roboto" panose="02000000000000000000" pitchFamily="2" charset="0"/>
              </a:rPr>
              <a:t>Although MongoDB, </a:t>
            </a:r>
            <a:r>
              <a:rPr lang="en-US" b="0" i="0" u="none" strike="noStrike" dirty="0">
                <a:solidFill>
                  <a:srgbClr val="0F5A9E"/>
                </a:solidFill>
                <a:effectLst/>
                <a:latin typeface="Roboto" panose="02000000000000000000" pitchFamily="2" charset="0"/>
                <a:hlinkClick r:id="rId2"/>
              </a:rPr>
              <a:t>Couchbase</a:t>
            </a:r>
            <a:r>
              <a:rPr lang="en-US" b="0" i="0" dirty="0">
                <a:solidFill>
                  <a:srgbClr val="3A3A3A"/>
                </a:solidFill>
                <a:effectLst/>
                <a:latin typeface="Roboto" panose="02000000000000000000" pitchFamily="2" charset="0"/>
              </a:rPr>
              <a:t>, and Couchbase DB are common in many ways, still they are different in the case of necessities for the execution of the model, crossing points, storage, duplications, etc.</a:t>
            </a:r>
          </a:p>
        </p:txBody>
      </p:sp>
    </p:spTree>
    <p:extLst>
      <p:ext uri="{BB962C8B-B14F-4D97-AF65-F5344CB8AC3E}">
        <p14:creationId xmlns:p14="http://schemas.microsoft.com/office/powerpoint/2010/main" val="1157393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4D29A-B4F1-7845-01A9-9FC7E064E3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1040658-FE6B-FA71-BE83-991C56FE35F4}"/>
              </a:ext>
            </a:extLst>
          </p:cNvPr>
          <p:cNvSpPr txBox="1"/>
          <p:nvPr/>
        </p:nvSpPr>
        <p:spPr>
          <a:xfrm>
            <a:off x="106907" y="114735"/>
            <a:ext cx="9799093" cy="760721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 When do we use a namespace in MongoDB?</a:t>
            </a:r>
          </a:p>
          <a:p>
            <a:pPr algn="just">
              <a:lnSpc>
                <a:spcPts val="2100"/>
              </a:lnSpc>
              <a:spcBef>
                <a:spcPts val="1650"/>
              </a:spcBef>
              <a:buNone/>
            </a:pPr>
            <a:r>
              <a:rPr lang="en-US" b="0" i="0" dirty="0">
                <a:solidFill>
                  <a:srgbClr val="3A3A3A"/>
                </a:solidFill>
                <a:effectLst/>
                <a:latin typeface="Roboto" panose="02000000000000000000" pitchFamily="2" charset="0"/>
              </a:rPr>
              <a:t>During the sequencing of the names of the database and the collection, the namespace is used.</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 If you remove an object attribute, is it deleted from the database?</a:t>
            </a:r>
          </a:p>
          <a:p>
            <a:pPr algn="just">
              <a:lnSpc>
                <a:spcPts val="2100"/>
              </a:lnSpc>
              <a:spcBef>
                <a:spcPts val="1650"/>
              </a:spcBef>
              <a:buNone/>
            </a:pPr>
            <a:r>
              <a:rPr lang="en-US" b="0" i="0" dirty="0">
                <a:solidFill>
                  <a:srgbClr val="3A3A3A"/>
                </a:solidFill>
                <a:effectLst/>
                <a:latin typeface="Roboto" panose="02000000000000000000" pitchFamily="2" charset="0"/>
              </a:rPr>
              <a:t>Yes, it is deleted. Hence, it is better to eliminate the attribute and then save the object again.</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8. How can we move an old file into the </a:t>
            </a:r>
            <a:r>
              <a:rPr lang="en-US" b="0" i="0" dirty="0" err="1">
                <a:solidFill>
                  <a:srgbClr val="272C37"/>
                </a:solidFill>
                <a:effectLst/>
                <a:latin typeface="Roboto" panose="02000000000000000000" pitchFamily="2" charset="0"/>
              </a:rPr>
              <a:t>moveChunk</a:t>
            </a:r>
            <a:r>
              <a:rPr lang="en-US" b="0" i="0" dirty="0">
                <a:solidFill>
                  <a:srgbClr val="272C37"/>
                </a:solidFill>
                <a:effectLst/>
                <a:latin typeface="Roboto" panose="02000000000000000000" pitchFamily="2" charset="0"/>
              </a:rPr>
              <a:t> directory?</a:t>
            </a:r>
          </a:p>
          <a:p>
            <a:pPr algn="just">
              <a:lnSpc>
                <a:spcPts val="2100"/>
              </a:lnSpc>
              <a:spcBef>
                <a:spcPts val="1650"/>
              </a:spcBef>
              <a:buNone/>
            </a:pPr>
            <a:r>
              <a:rPr lang="en-US" b="0" i="0" dirty="0">
                <a:solidFill>
                  <a:srgbClr val="3A3A3A"/>
                </a:solidFill>
                <a:effectLst/>
                <a:latin typeface="Roboto" panose="02000000000000000000" pitchFamily="2" charset="0"/>
              </a:rPr>
              <a:t>Once the functions are done, the old files are converted to backup files and moved to the </a:t>
            </a:r>
            <a:r>
              <a:rPr lang="en-US" b="0" i="0" dirty="0" err="1">
                <a:solidFill>
                  <a:srgbClr val="3A3A3A"/>
                </a:solidFill>
                <a:effectLst/>
                <a:latin typeface="Roboto" panose="02000000000000000000" pitchFamily="2" charset="0"/>
              </a:rPr>
              <a:t>moveChunk</a:t>
            </a:r>
            <a:r>
              <a:rPr lang="en-US" b="0" i="0" dirty="0">
                <a:solidFill>
                  <a:srgbClr val="3A3A3A"/>
                </a:solidFill>
                <a:effectLst/>
                <a:latin typeface="Roboto" panose="02000000000000000000" pitchFamily="2" charset="0"/>
              </a:rPr>
              <a:t> directory at the time of balancing the slices.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9. Explain the situation when an index does not fit into RAM.</a:t>
            </a:r>
          </a:p>
          <a:p>
            <a:pPr algn="just">
              <a:lnSpc>
                <a:spcPts val="2100"/>
              </a:lnSpc>
              <a:spcBef>
                <a:spcPts val="1650"/>
              </a:spcBef>
              <a:buNone/>
            </a:pPr>
            <a:r>
              <a:rPr lang="en-US" b="0" i="0" dirty="0">
                <a:solidFill>
                  <a:srgbClr val="3A3A3A"/>
                </a:solidFill>
                <a:effectLst/>
                <a:latin typeface="Roboto" panose="02000000000000000000" pitchFamily="2" charset="0"/>
              </a:rPr>
              <a:t>When an index is too huge to fit into RAM, then MongoDB reads the index, which is faster than reading RAM because the indexes easily fit into RAM if the server has got RAM for indexes, along with the remaining set.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10. How does MongoDB provide consistency?</a:t>
            </a:r>
          </a:p>
          <a:p>
            <a:pPr algn="just">
              <a:lnSpc>
                <a:spcPts val="2100"/>
              </a:lnSpc>
              <a:spcBef>
                <a:spcPts val="1650"/>
              </a:spcBef>
              <a:buNone/>
            </a:pPr>
            <a:r>
              <a:rPr lang="en-US" b="0" i="0" dirty="0">
                <a:solidFill>
                  <a:srgbClr val="3A3A3A"/>
                </a:solidFill>
                <a:effectLst/>
                <a:latin typeface="Roboto" panose="02000000000000000000" pitchFamily="2" charset="0"/>
              </a:rPr>
              <a:t>MongoDB uses the reader–writer locks, allowing simultaneous readers to access any supply like a database or a collection but always offering private access to single writes.</a:t>
            </a:r>
          </a:p>
        </p:txBody>
      </p:sp>
    </p:spTree>
    <p:extLst>
      <p:ext uri="{BB962C8B-B14F-4D97-AF65-F5344CB8AC3E}">
        <p14:creationId xmlns:p14="http://schemas.microsoft.com/office/powerpoint/2010/main" val="3003737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FD1ED-AE24-6A7F-06AD-E8D52398C3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71101C9-AD0C-3FA9-74E4-4D5F920228EF}"/>
              </a:ext>
            </a:extLst>
          </p:cNvPr>
          <p:cNvSpPr txBox="1"/>
          <p:nvPr/>
        </p:nvSpPr>
        <p:spPr>
          <a:xfrm>
            <a:off x="2477069" y="-1204755"/>
            <a:ext cx="4954136" cy="927433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11. Why is MongoDB not chosen for a 32-bit system?</a:t>
            </a:r>
          </a:p>
          <a:p>
            <a:pPr algn="just">
              <a:lnSpc>
                <a:spcPts val="2100"/>
              </a:lnSpc>
              <a:spcBef>
                <a:spcPts val="1650"/>
              </a:spcBef>
              <a:buNone/>
            </a:pPr>
            <a:r>
              <a:rPr lang="en-US" b="0" i="0" dirty="0">
                <a:solidFill>
                  <a:srgbClr val="3A3A3A"/>
                </a:solidFill>
                <a:effectLst/>
                <a:latin typeface="Roboto" panose="02000000000000000000" pitchFamily="2" charset="0"/>
              </a:rPr>
              <a:t>Mongo DB is not considered as a 32-bit system because for running the 32-bit MongoDB, with the server, information and indexes require 2 GB. That is why it is not used in 32-bit devices.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12. How does Journaling work in MongoDB?</a:t>
            </a:r>
          </a:p>
          <a:p>
            <a:pPr algn="just">
              <a:lnSpc>
                <a:spcPts val="2100"/>
              </a:lnSpc>
              <a:spcBef>
                <a:spcPts val="1650"/>
              </a:spcBef>
              <a:buNone/>
            </a:pPr>
            <a:r>
              <a:rPr lang="en-US" b="0" i="0" dirty="0">
                <a:solidFill>
                  <a:srgbClr val="3A3A3A"/>
                </a:solidFill>
                <a:effectLst/>
                <a:latin typeface="Roboto" panose="02000000000000000000" pitchFamily="2" charset="0"/>
              </a:rPr>
              <a:t>Write operations are saved in memory while journaling is going on. The on-disk journal files are really dependable for the reason that the journal writes are habitual. Inside </a:t>
            </a:r>
            <a:r>
              <a:rPr lang="en-US" b="0" i="0" dirty="0" err="1">
                <a:solidFill>
                  <a:srgbClr val="3A3A3A"/>
                </a:solidFill>
                <a:effectLst/>
                <a:latin typeface="Roboto" panose="02000000000000000000" pitchFamily="2" charset="0"/>
              </a:rPr>
              <a:t>dbPath</a:t>
            </a:r>
            <a:r>
              <a:rPr lang="en-US" b="0" i="0" dirty="0">
                <a:solidFill>
                  <a:srgbClr val="3A3A3A"/>
                </a:solidFill>
                <a:effectLst/>
                <a:latin typeface="Roboto" panose="02000000000000000000" pitchFamily="2" charset="0"/>
              </a:rPr>
              <a:t>, a journal subdirectory is designed by MongoDB.</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13. How can you isolate the cursors from intervening with the write operations?</a:t>
            </a:r>
          </a:p>
          <a:p>
            <a:pPr algn="just">
              <a:lnSpc>
                <a:spcPts val="2100"/>
              </a:lnSpc>
              <a:spcBef>
                <a:spcPts val="1650"/>
              </a:spcBef>
              <a:buNone/>
            </a:pPr>
            <a:r>
              <a:rPr lang="en-US" b="0" i="0" dirty="0">
                <a:solidFill>
                  <a:srgbClr val="3A3A3A"/>
                </a:solidFill>
                <a:effectLst/>
                <a:latin typeface="Roboto" panose="02000000000000000000" pitchFamily="2" charset="0"/>
              </a:rPr>
              <a:t>The snapshot() method is used to isolate the cursors from intervening with writes. This method negotiates the index and makes sure that each query comes to any article only once.</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14. Define MongoDB.</a:t>
            </a:r>
          </a:p>
          <a:p>
            <a:pPr algn="just">
              <a:lnSpc>
                <a:spcPts val="2100"/>
              </a:lnSpc>
              <a:spcBef>
                <a:spcPts val="1650"/>
              </a:spcBef>
              <a:buNone/>
            </a:pPr>
            <a:r>
              <a:rPr lang="en-US" b="0" i="0" dirty="0">
                <a:solidFill>
                  <a:srgbClr val="3A3A3A"/>
                </a:solidFill>
                <a:effectLst/>
                <a:latin typeface="Roboto" panose="02000000000000000000" pitchFamily="2" charset="0"/>
              </a:rPr>
              <a:t>It is a document-oriented database that is used for high availability, easy scalability, and high performance. It supports the dynamic schema design.</a:t>
            </a:r>
          </a:p>
        </p:txBody>
      </p:sp>
    </p:spTree>
    <p:extLst>
      <p:ext uri="{BB962C8B-B14F-4D97-AF65-F5344CB8AC3E}">
        <p14:creationId xmlns:p14="http://schemas.microsoft.com/office/powerpoint/2010/main" val="3258457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7EBBE-70C4-1F8D-8A27-CED0ABFBD1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7066D0D-B5C7-C03A-8B5F-5DA70D03281F}"/>
              </a:ext>
            </a:extLst>
          </p:cNvPr>
          <p:cNvSpPr txBox="1"/>
          <p:nvPr/>
        </p:nvSpPr>
        <p:spPr>
          <a:xfrm>
            <a:off x="2477069" y="-1159871"/>
            <a:ext cx="4954136" cy="918456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15. Explain the replica set.</a:t>
            </a:r>
          </a:p>
          <a:p>
            <a:pPr algn="just">
              <a:lnSpc>
                <a:spcPts val="2100"/>
              </a:lnSpc>
              <a:spcBef>
                <a:spcPts val="1650"/>
              </a:spcBef>
              <a:buNone/>
            </a:pPr>
            <a:r>
              <a:rPr lang="en-US" b="0" i="0" dirty="0">
                <a:solidFill>
                  <a:srgbClr val="3A3A3A"/>
                </a:solidFill>
                <a:effectLst/>
                <a:latin typeface="Roboto" panose="02000000000000000000" pitchFamily="2" charset="0"/>
              </a:rPr>
              <a:t>It is a group of mongo instances that maintains the same dataset. Replica sets provide redundancy and high availability and are the basis for all production deployments.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16. What are the key features of MongoDB?</a:t>
            </a:r>
          </a:p>
          <a:p>
            <a:pPr algn="just">
              <a:lnSpc>
                <a:spcPts val="2100"/>
              </a:lnSpc>
              <a:spcBef>
                <a:spcPts val="1650"/>
              </a:spcBef>
              <a:buNone/>
            </a:pPr>
            <a:r>
              <a:rPr lang="en-US" b="0" i="0" dirty="0">
                <a:solidFill>
                  <a:srgbClr val="3A3A3A"/>
                </a:solidFill>
                <a:effectLst/>
                <a:latin typeface="Roboto" panose="02000000000000000000" pitchFamily="2" charset="0"/>
              </a:rPr>
              <a:t>There are three main features of MongoDB:</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Automatic scaling</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High performance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High availability</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17. What is CRUD?</a:t>
            </a:r>
          </a:p>
          <a:p>
            <a:pPr algn="just">
              <a:lnSpc>
                <a:spcPts val="2100"/>
              </a:lnSpc>
              <a:spcBef>
                <a:spcPts val="1650"/>
              </a:spcBef>
              <a:buNone/>
            </a:pPr>
            <a:r>
              <a:rPr lang="en-US" b="0" i="0" dirty="0">
                <a:solidFill>
                  <a:srgbClr val="3A3A3A"/>
                </a:solidFill>
                <a:effectLst/>
                <a:latin typeface="Roboto" panose="02000000000000000000" pitchFamily="2" charset="0"/>
              </a:rPr>
              <a:t>MongoDB provides CRUD operations: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Create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Read</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Update</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Delete</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18. What is Sharding?</a:t>
            </a:r>
          </a:p>
          <a:p>
            <a:pPr algn="just">
              <a:lnSpc>
                <a:spcPts val="2100"/>
              </a:lnSpc>
              <a:spcBef>
                <a:spcPts val="1650"/>
              </a:spcBef>
              <a:buNone/>
            </a:pPr>
            <a:r>
              <a:rPr lang="en-US" b="0" i="0" dirty="0">
                <a:solidFill>
                  <a:srgbClr val="3A3A3A"/>
                </a:solidFill>
                <a:effectLst/>
                <a:latin typeface="Roboto" panose="02000000000000000000" pitchFamily="2" charset="0"/>
              </a:rPr>
              <a:t>In MongoDB, sharding means to store data on multiple machines.</a:t>
            </a:r>
          </a:p>
        </p:txBody>
      </p:sp>
    </p:spTree>
    <p:extLst>
      <p:ext uri="{BB962C8B-B14F-4D97-AF65-F5344CB8AC3E}">
        <p14:creationId xmlns:p14="http://schemas.microsoft.com/office/powerpoint/2010/main" val="2928365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A10F-2D85-0FDB-FDC3-AC4C4EFA201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F98C4F0-6AA7-D077-135E-6845072CC68E}"/>
              </a:ext>
            </a:extLst>
          </p:cNvPr>
          <p:cNvSpPr txBox="1"/>
          <p:nvPr/>
        </p:nvSpPr>
        <p:spPr>
          <a:xfrm>
            <a:off x="2477069" y="-1852368"/>
            <a:ext cx="4954136" cy="1056956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19. What is Aggregation in MongoDB?</a:t>
            </a:r>
          </a:p>
          <a:p>
            <a:pPr algn="just">
              <a:lnSpc>
                <a:spcPts val="2100"/>
              </a:lnSpc>
              <a:spcBef>
                <a:spcPts val="1650"/>
              </a:spcBef>
              <a:buNone/>
            </a:pPr>
            <a:r>
              <a:rPr lang="en-US" b="0" i="0" dirty="0">
                <a:solidFill>
                  <a:srgbClr val="3A3A3A"/>
                </a:solidFill>
                <a:effectLst/>
                <a:latin typeface="Roboto" panose="02000000000000000000" pitchFamily="2" charset="0"/>
              </a:rPr>
              <a:t>In MongoDB, aggregations are operations that process data records and return computed results.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20. Define Namespace in MongoDB.</a:t>
            </a:r>
          </a:p>
          <a:p>
            <a:pPr algn="just">
              <a:lnSpc>
                <a:spcPts val="2100"/>
              </a:lnSpc>
              <a:spcBef>
                <a:spcPts val="1650"/>
              </a:spcBef>
              <a:buNone/>
            </a:pPr>
            <a:r>
              <a:rPr lang="en-US" b="0" i="0" dirty="0">
                <a:solidFill>
                  <a:srgbClr val="3A3A3A"/>
                </a:solidFill>
                <a:effectLst/>
                <a:latin typeface="Roboto" panose="02000000000000000000" pitchFamily="2" charset="0"/>
              </a:rPr>
              <a:t>It is the concatenation of the collection name and the name of the database.</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21. Which syntax is used to create a Collection in MongoDB?</a:t>
            </a:r>
          </a:p>
          <a:p>
            <a:pPr algn="just">
              <a:lnSpc>
                <a:spcPts val="2100"/>
              </a:lnSpc>
              <a:spcBef>
                <a:spcPts val="1650"/>
              </a:spcBef>
              <a:buNone/>
            </a:pPr>
            <a:r>
              <a:rPr lang="en-US" b="0" i="0" dirty="0">
                <a:solidFill>
                  <a:srgbClr val="3A3A3A"/>
                </a:solidFill>
                <a:effectLst/>
                <a:latin typeface="Roboto" panose="02000000000000000000" pitchFamily="2" charset="0"/>
              </a:rPr>
              <a:t>We can create a collection in MongoDB using the following syntax:</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db.createCollection</a:t>
            </a: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name,options</a:t>
            </a: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22. Which syntax is used to drop a Collection in MongoDB?</a:t>
            </a:r>
          </a:p>
          <a:p>
            <a:pPr algn="just">
              <a:lnSpc>
                <a:spcPts val="2100"/>
              </a:lnSpc>
              <a:spcBef>
                <a:spcPts val="1650"/>
              </a:spcBef>
              <a:buNone/>
            </a:pPr>
            <a:r>
              <a:rPr lang="en-US" b="0" i="0" dirty="0">
                <a:solidFill>
                  <a:srgbClr val="3A3A3A"/>
                </a:solidFill>
                <a:effectLst/>
                <a:latin typeface="Roboto" panose="02000000000000000000" pitchFamily="2" charset="0"/>
              </a:rPr>
              <a:t>We can use the following syntax to drop a collection in MongoDB:</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db.collection.drop</a:t>
            </a: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23. Explain Replication.</a:t>
            </a:r>
          </a:p>
          <a:p>
            <a:pPr algn="just">
              <a:lnSpc>
                <a:spcPts val="2100"/>
              </a:lnSpc>
              <a:spcBef>
                <a:spcPts val="1650"/>
              </a:spcBef>
              <a:buNone/>
            </a:pPr>
            <a:r>
              <a:rPr lang="en-US" b="0" i="0" dirty="0">
                <a:solidFill>
                  <a:srgbClr val="3A3A3A"/>
                </a:solidFill>
                <a:effectLst/>
                <a:latin typeface="Roboto" panose="02000000000000000000" pitchFamily="2" charset="0"/>
              </a:rPr>
              <a:t>Replication is the process of synchronizing data across multiple servers.</a:t>
            </a:r>
          </a:p>
        </p:txBody>
      </p:sp>
    </p:spTree>
    <p:extLst>
      <p:ext uri="{BB962C8B-B14F-4D97-AF65-F5344CB8AC3E}">
        <p14:creationId xmlns:p14="http://schemas.microsoft.com/office/powerpoint/2010/main" val="1327046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EF776-5122-9D9C-1832-6BA7A872579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71F7D8C-AF5B-246B-2BD1-A0C93555DCE9}"/>
              </a:ext>
            </a:extLst>
          </p:cNvPr>
          <p:cNvSpPr txBox="1"/>
          <p:nvPr/>
        </p:nvSpPr>
        <p:spPr>
          <a:xfrm>
            <a:off x="2477069" y="-1965219"/>
            <a:ext cx="4954136" cy="1079526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24. What is the use of an Index in MongoDB?</a:t>
            </a:r>
          </a:p>
          <a:p>
            <a:pPr algn="just">
              <a:lnSpc>
                <a:spcPts val="2100"/>
              </a:lnSpc>
              <a:spcBef>
                <a:spcPts val="1650"/>
              </a:spcBef>
              <a:buNone/>
            </a:pPr>
            <a:r>
              <a:rPr lang="en-US" b="0" i="0" dirty="0">
                <a:solidFill>
                  <a:srgbClr val="3A3A3A"/>
                </a:solidFill>
                <a:effectLst/>
                <a:latin typeface="Roboto" panose="02000000000000000000" pitchFamily="2" charset="0"/>
              </a:rPr>
              <a:t>In MongoDB, indexes provide high-performance read operations for frequently used queries.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25. Which command is used for inserting a document in MongoDB?</a:t>
            </a:r>
          </a:p>
          <a:p>
            <a:pPr algn="just">
              <a:lnSpc>
                <a:spcPts val="2100"/>
              </a:lnSpc>
              <a:spcBef>
                <a:spcPts val="1650"/>
              </a:spcBef>
              <a:buNone/>
            </a:pPr>
            <a:r>
              <a:rPr lang="en-US" b="0" i="0" dirty="0">
                <a:solidFill>
                  <a:srgbClr val="3A3A3A"/>
                </a:solidFill>
                <a:effectLst/>
                <a:latin typeface="Roboto" panose="02000000000000000000" pitchFamily="2" charset="0"/>
              </a:rPr>
              <a:t>The following command is used for inserting a document in MongoDB:</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database.collection.insert</a:t>
            </a:r>
            <a:r>
              <a:rPr lang="en-US" b="0" i="0" dirty="0">
                <a:solidFill>
                  <a:srgbClr val="212529"/>
                </a:solidFill>
                <a:effectLst/>
                <a:latin typeface="Courier New" panose="02070309020205020404" pitchFamily="49" charset="0"/>
              </a:rPr>
              <a:t> (document)&lt;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26. What is the use of </a:t>
            </a:r>
            <a:r>
              <a:rPr lang="en-US" b="0" i="0" dirty="0" err="1">
                <a:solidFill>
                  <a:srgbClr val="272C37"/>
                </a:solidFill>
                <a:effectLst/>
                <a:latin typeface="Roboto" panose="02000000000000000000" pitchFamily="2" charset="0"/>
              </a:rPr>
              <a:t>GridFS</a:t>
            </a:r>
            <a:r>
              <a:rPr lang="en-US" b="0" i="0" dirty="0">
                <a:solidFill>
                  <a:srgbClr val="272C37"/>
                </a:solidFill>
                <a:effectLst/>
                <a:latin typeface="Roboto" panose="02000000000000000000" pitchFamily="2" charset="0"/>
              </a:rPr>
              <a:t> in MongoDB?</a:t>
            </a:r>
          </a:p>
          <a:p>
            <a:pPr algn="just">
              <a:lnSpc>
                <a:spcPts val="2100"/>
              </a:lnSpc>
              <a:spcBef>
                <a:spcPts val="1650"/>
              </a:spcBef>
              <a:buNone/>
            </a:pPr>
            <a:r>
              <a:rPr lang="en-US" b="0" i="0" dirty="0" err="1">
                <a:solidFill>
                  <a:srgbClr val="3A3A3A"/>
                </a:solidFill>
                <a:effectLst/>
                <a:latin typeface="Roboto" panose="02000000000000000000" pitchFamily="2" charset="0"/>
              </a:rPr>
              <a:t>GridFS</a:t>
            </a:r>
            <a:r>
              <a:rPr lang="en-US" b="0" i="0" dirty="0">
                <a:solidFill>
                  <a:srgbClr val="3A3A3A"/>
                </a:solidFill>
                <a:effectLst/>
                <a:latin typeface="Roboto" panose="02000000000000000000" pitchFamily="2" charset="0"/>
              </a:rPr>
              <a:t> is used for storing and retrieving large files, such as audio, image, and video files.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27. What is the use of Journaling in MongoDB?</a:t>
            </a:r>
          </a:p>
          <a:p>
            <a:pPr algn="just">
              <a:lnSpc>
                <a:spcPts val="2100"/>
              </a:lnSpc>
              <a:spcBef>
                <a:spcPts val="1650"/>
              </a:spcBef>
              <a:buNone/>
            </a:pPr>
            <a:r>
              <a:rPr lang="en-US" b="0" i="0" dirty="0">
                <a:solidFill>
                  <a:srgbClr val="3A3A3A"/>
                </a:solidFill>
                <a:effectLst/>
                <a:latin typeface="Roboto" panose="02000000000000000000" pitchFamily="2" charset="0"/>
              </a:rPr>
              <a:t>Journaling is used for safe backups in MongoDB.</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28. Which command is used to see a connection?</a:t>
            </a:r>
          </a:p>
          <a:p>
            <a:pPr algn="just">
              <a:lnSpc>
                <a:spcPts val="2100"/>
              </a:lnSpc>
              <a:spcBef>
                <a:spcPts val="1650"/>
              </a:spcBef>
              <a:buNone/>
            </a:pPr>
            <a:r>
              <a:rPr lang="en-US" b="0" i="0" dirty="0">
                <a:solidFill>
                  <a:srgbClr val="3A3A3A"/>
                </a:solidFill>
                <a:effectLst/>
                <a:latin typeface="Roboto" panose="02000000000000000000" pitchFamily="2" charset="0"/>
              </a:rPr>
              <a:t>We can use the following command to see the connection:</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db_adminCommand</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connPoolStats</a:t>
            </a: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p:txBody>
      </p:sp>
    </p:spTree>
    <p:extLst>
      <p:ext uri="{BB962C8B-B14F-4D97-AF65-F5344CB8AC3E}">
        <p14:creationId xmlns:p14="http://schemas.microsoft.com/office/powerpoint/2010/main" val="816851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56DC-4F95-0F27-C495-4C63757B1A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B121799-B1E4-CA41-7797-E4CB6F7BA630}"/>
              </a:ext>
            </a:extLst>
          </p:cNvPr>
          <p:cNvSpPr txBox="1"/>
          <p:nvPr/>
        </p:nvSpPr>
        <p:spPr>
          <a:xfrm>
            <a:off x="2477069" y="-909802"/>
            <a:ext cx="4954136" cy="868442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29. Define the primary Replica set.</a:t>
            </a:r>
          </a:p>
          <a:p>
            <a:pPr algn="just">
              <a:lnSpc>
                <a:spcPts val="2100"/>
              </a:lnSpc>
              <a:spcBef>
                <a:spcPts val="1650"/>
              </a:spcBef>
              <a:buNone/>
            </a:pPr>
            <a:r>
              <a:rPr lang="en-US" b="0" i="0" dirty="0">
                <a:solidFill>
                  <a:srgbClr val="3A3A3A"/>
                </a:solidFill>
                <a:effectLst/>
                <a:latin typeface="Roboto" panose="02000000000000000000" pitchFamily="2" charset="0"/>
              </a:rPr>
              <a:t>The primary replica set accepts all write operations from clients.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30. Define the secondary Replica sets.</a:t>
            </a:r>
          </a:p>
          <a:p>
            <a:pPr algn="just">
              <a:lnSpc>
                <a:spcPts val="2100"/>
              </a:lnSpc>
              <a:spcBef>
                <a:spcPts val="1650"/>
              </a:spcBef>
              <a:buNone/>
            </a:pPr>
            <a:r>
              <a:rPr lang="en-US" b="0" i="0" dirty="0">
                <a:solidFill>
                  <a:srgbClr val="3A3A3A"/>
                </a:solidFill>
                <a:effectLst/>
                <a:latin typeface="Roboto" panose="02000000000000000000" pitchFamily="2" charset="0"/>
              </a:rPr>
              <a:t>The secondaries replicate the primary replica set’s </a:t>
            </a:r>
            <a:r>
              <a:rPr lang="en-US" b="0" i="0" dirty="0" err="1">
                <a:solidFill>
                  <a:srgbClr val="3A3A3A"/>
                </a:solidFill>
                <a:effectLst/>
                <a:latin typeface="Roboto" panose="02000000000000000000" pitchFamily="2" charset="0"/>
              </a:rPr>
              <a:t>oplog</a:t>
            </a:r>
            <a:r>
              <a:rPr lang="en-US" b="0" i="0" dirty="0">
                <a:solidFill>
                  <a:srgbClr val="3A3A3A"/>
                </a:solidFill>
                <a:effectLst/>
                <a:latin typeface="Roboto" panose="02000000000000000000" pitchFamily="2" charset="0"/>
              </a:rPr>
              <a:t> and apply the operations to their datasets such that the secondaries’ datasets reflect the primary’s dataset.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31. What is the use of Profiler?</a:t>
            </a:r>
          </a:p>
          <a:p>
            <a:pPr algn="just">
              <a:lnSpc>
                <a:spcPts val="2100"/>
              </a:lnSpc>
              <a:spcBef>
                <a:spcPts val="1650"/>
              </a:spcBef>
              <a:buNone/>
            </a:pPr>
            <a:r>
              <a:rPr lang="en-US" b="0" i="0" dirty="0">
                <a:solidFill>
                  <a:srgbClr val="3A3A3A"/>
                </a:solidFill>
                <a:effectLst/>
                <a:latin typeface="Roboto" panose="02000000000000000000" pitchFamily="2" charset="0"/>
              </a:rPr>
              <a:t>Profiler is used to show the performance characteristics of every operation against the database.</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32. What type of data is stored by MongoDB?</a:t>
            </a:r>
          </a:p>
          <a:p>
            <a:pPr algn="just">
              <a:lnSpc>
                <a:spcPts val="2100"/>
              </a:lnSpc>
              <a:spcBef>
                <a:spcPts val="1650"/>
              </a:spcBef>
              <a:buNone/>
            </a:pPr>
            <a:r>
              <a:rPr lang="en-US" b="0" i="0" dirty="0">
                <a:solidFill>
                  <a:srgbClr val="3A3A3A"/>
                </a:solidFill>
                <a:effectLst/>
                <a:latin typeface="Roboto" panose="02000000000000000000" pitchFamily="2" charset="0"/>
              </a:rPr>
              <a:t>MongoDB stores data in the form of documents, which are JSON-like field and value pairs.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33. What is the purpose of Replication?</a:t>
            </a:r>
          </a:p>
          <a:p>
            <a:pPr algn="just">
              <a:lnSpc>
                <a:spcPts val="2100"/>
              </a:lnSpc>
              <a:spcBef>
                <a:spcPts val="1650"/>
              </a:spcBef>
              <a:buNone/>
            </a:pPr>
            <a:r>
              <a:rPr lang="en-US" b="0" i="0" dirty="0">
                <a:solidFill>
                  <a:srgbClr val="3A3A3A"/>
                </a:solidFill>
                <a:effectLst/>
                <a:latin typeface="Roboto" panose="02000000000000000000" pitchFamily="2" charset="0"/>
              </a:rPr>
              <a:t>Replication provides redundancy, and it increases data availability.</a:t>
            </a:r>
          </a:p>
        </p:txBody>
      </p:sp>
    </p:spTree>
    <p:extLst>
      <p:ext uri="{BB962C8B-B14F-4D97-AF65-F5344CB8AC3E}">
        <p14:creationId xmlns:p14="http://schemas.microsoft.com/office/powerpoint/2010/main" val="2145761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7B41F-6114-4AA2-952A-6083A34CF3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A15539D-CA39-E631-7B8B-A2A3EC1C27B0}"/>
              </a:ext>
            </a:extLst>
          </p:cNvPr>
          <p:cNvSpPr txBox="1"/>
          <p:nvPr/>
        </p:nvSpPr>
        <p:spPr>
          <a:xfrm>
            <a:off x="2477069" y="654729"/>
            <a:ext cx="4954136" cy="555536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34. What are Embedded documents?</a:t>
            </a:r>
          </a:p>
          <a:p>
            <a:pPr algn="just">
              <a:lnSpc>
                <a:spcPts val="2100"/>
              </a:lnSpc>
              <a:spcBef>
                <a:spcPts val="1650"/>
              </a:spcBef>
              <a:buNone/>
            </a:pPr>
            <a:r>
              <a:rPr lang="en-US" b="0" i="0" dirty="0">
                <a:solidFill>
                  <a:srgbClr val="3A3A3A"/>
                </a:solidFill>
                <a:effectLst/>
                <a:latin typeface="Roboto" panose="02000000000000000000" pitchFamily="2" charset="0"/>
              </a:rPr>
              <a:t>Embedded documents capture relationships between data by storing related data in a single document structure.</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35. Define the application-level Encryption.</a:t>
            </a:r>
          </a:p>
          <a:p>
            <a:pPr algn="just">
              <a:lnSpc>
                <a:spcPts val="2100"/>
              </a:lnSpc>
              <a:spcBef>
                <a:spcPts val="1650"/>
              </a:spcBef>
              <a:buNone/>
            </a:pPr>
            <a:r>
              <a:rPr lang="en-US" b="0" i="0" dirty="0">
                <a:solidFill>
                  <a:srgbClr val="3A3A3A"/>
                </a:solidFill>
                <a:effectLst/>
                <a:latin typeface="Roboto" panose="02000000000000000000" pitchFamily="2" charset="0"/>
              </a:rPr>
              <a:t>The application-level encryption provides encryption on a per-field or per-document basis within the application layer.</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36. What is Storage Encryption?</a:t>
            </a:r>
          </a:p>
          <a:p>
            <a:pPr algn="just">
              <a:lnSpc>
                <a:spcPts val="2100"/>
              </a:lnSpc>
              <a:spcBef>
                <a:spcPts val="1650"/>
              </a:spcBef>
              <a:buNone/>
            </a:pPr>
            <a:r>
              <a:rPr lang="en-US" b="0" i="0" dirty="0">
                <a:solidFill>
                  <a:srgbClr val="3A3A3A"/>
                </a:solidFill>
                <a:effectLst/>
                <a:latin typeface="Roboto" panose="02000000000000000000" pitchFamily="2" charset="0"/>
              </a:rPr>
              <a:t>Storage encryption encrypts all MongoDB data on storage or on the operating system to ensure that only authorized processes can access the protected data.</a:t>
            </a:r>
          </a:p>
        </p:txBody>
      </p:sp>
    </p:spTree>
    <p:extLst>
      <p:ext uri="{BB962C8B-B14F-4D97-AF65-F5344CB8AC3E}">
        <p14:creationId xmlns:p14="http://schemas.microsoft.com/office/powerpoint/2010/main" val="2555033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5E068-DA3F-7C9A-61FF-2FCD6CDF20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7C1E943-3213-9DEE-D3D2-067F0A302413}"/>
              </a:ext>
            </a:extLst>
          </p:cNvPr>
          <p:cNvSpPr txBox="1"/>
          <p:nvPr/>
        </p:nvSpPr>
        <p:spPr>
          <a:xfrm>
            <a:off x="2477069" y="-44181"/>
            <a:ext cx="4954136" cy="6953186"/>
          </a:xfrm>
          <a:prstGeom prst="rect">
            <a:avLst/>
          </a:prstGeom>
          <a:noFill/>
        </p:spPr>
        <p:txBody>
          <a:bodyPr wrap="square">
            <a:spAutoFit/>
          </a:bodyPr>
          <a:lstStyle/>
          <a:p>
            <a:pPr algn="l">
              <a:lnSpc>
                <a:spcPts val="2550"/>
              </a:lnSpc>
              <a:spcBef>
                <a:spcPts val="3000"/>
              </a:spcBef>
              <a:buNone/>
            </a:pPr>
            <a:r>
              <a:rPr lang="en-US" b="0" i="0" dirty="0">
                <a:solidFill>
                  <a:srgbClr val="272C37"/>
                </a:solidFill>
                <a:effectLst/>
                <a:latin typeface="Roboto" panose="02000000000000000000" pitchFamily="2" charset="0"/>
              </a:rPr>
              <a:t>MongoDB Interview Questions for Experienced</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37. Which method is used to create an index?</a:t>
            </a:r>
          </a:p>
          <a:p>
            <a:pPr algn="just">
              <a:lnSpc>
                <a:spcPts val="2100"/>
              </a:lnSpc>
              <a:spcBef>
                <a:spcPts val="1650"/>
              </a:spcBef>
              <a:buNone/>
            </a:pPr>
            <a:r>
              <a:rPr lang="en-US" b="0" i="0" dirty="0">
                <a:solidFill>
                  <a:srgbClr val="3A3A3A"/>
                </a:solidFill>
                <a:effectLst/>
                <a:latin typeface="Roboto" panose="02000000000000000000" pitchFamily="2" charset="0"/>
              </a:rPr>
              <a:t>The </a:t>
            </a:r>
            <a:r>
              <a:rPr lang="en-US" b="0" i="0" dirty="0" err="1">
                <a:solidFill>
                  <a:srgbClr val="3A3A3A"/>
                </a:solidFill>
                <a:effectLst/>
                <a:latin typeface="Roboto" panose="02000000000000000000" pitchFamily="2" charset="0"/>
              </a:rPr>
              <a:t>createIndex</a:t>
            </a:r>
            <a:r>
              <a:rPr lang="en-US" b="0" i="0" dirty="0">
                <a:solidFill>
                  <a:srgbClr val="3A3A3A"/>
                </a:solidFill>
                <a:effectLst/>
                <a:latin typeface="Roboto" panose="02000000000000000000" pitchFamily="2" charset="0"/>
              </a:rPr>
              <a:t>() method is used to create an index.</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38. What is Replica set </a:t>
            </a:r>
            <a:r>
              <a:rPr lang="en-US" b="0" i="0" dirty="0" err="1">
                <a:solidFill>
                  <a:srgbClr val="272C37"/>
                </a:solidFill>
                <a:effectLst/>
                <a:latin typeface="Roboto" panose="02000000000000000000" pitchFamily="2" charset="0"/>
              </a:rPr>
              <a:t>oplog</a:t>
            </a:r>
            <a:r>
              <a:rPr lang="en-US" b="0" i="0" dirty="0">
                <a:solidFill>
                  <a:srgbClr val="272C37"/>
                </a:solidFill>
                <a:effectLst/>
                <a:latin typeface="Roboto" panose="02000000000000000000" pitchFamily="2" charset="0"/>
              </a:rPr>
              <a:t>?</a:t>
            </a:r>
          </a:p>
          <a:p>
            <a:pPr algn="just">
              <a:lnSpc>
                <a:spcPts val="2100"/>
              </a:lnSpc>
              <a:spcBef>
                <a:spcPts val="1650"/>
              </a:spcBef>
              <a:buNone/>
            </a:pPr>
            <a:r>
              <a:rPr lang="en-US" b="0" i="0" dirty="0">
                <a:solidFill>
                  <a:srgbClr val="3A3A3A"/>
                </a:solidFill>
                <a:effectLst/>
                <a:latin typeface="Roboto" panose="02000000000000000000" pitchFamily="2" charset="0"/>
              </a:rPr>
              <a:t>The </a:t>
            </a:r>
            <a:r>
              <a:rPr lang="en-US" b="0" i="0" dirty="0" err="1">
                <a:solidFill>
                  <a:srgbClr val="3A3A3A"/>
                </a:solidFill>
                <a:effectLst/>
                <a:latin typeface="Roboto" panose="02000000000000000000" pitchFamily="2" charset="0"/>
              </a:rPr>
              <a:t>oplog</a:t>
            </a:r>
            <a:r>
              <a:rPr lang="en-US" b="0" i="0" dirty="0">
                <a:solidFill>
                  <a:srgbClr val="3A3A3A"/>
                </a:solidFill>
                <a:effectLst/>
                <a:latin typeface="Roboto" panose="02000000000000000000" pitchFamily="2" charset="0"/>
              </a:rPr>
              <a:t> records all operations that modify the data in the replica set.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39. What is Vertical Scaling?</a:t>
            </a:r>
          </a:p>
          <a:p>
            <a:pPr algn="just">
              <a:lnSpc>
                <a:spcPts val="2100"/>
              </a:lnSpc>
              <a:spcBef>
                <a:spcPts val="1650"/>
              </a:spcBef>
              <a:buNone/>
            </a:pPr>
            <a:r>
              <a:rPr lang="en-US" b="0" i="0" dirty="0">
                <a:solidFill>
                  <a:srgbClr val="3A3A3A"/>
                </a:solidFill>
                <a:effectLst/>
                <a:latin typeface="Roboto" panose="02000000000000000000" pitchFamily="2" charset="0"/>
              </a:rPr>
              <a:t>Vertical scaling adds more CPU and storage resources to increase capacity.</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40. Define Horizontal Scaling.</a:t>
            </a:r>
          </a:p>
          <a:p>
            <a:pPr algn="just">
              <a:lnSpc>
                <a:spcPts val="2100"/>
              </a:lnSpc>
              <a:spcBef>
                <a:spcPts val="1650"/>
              </a:spcBef>
              <a:buNone/>
            </a:pPr>
            <a:r>
              <a:rPr lang="en-US" b="0" i="0" dirty="0">
                <a:solidFill>
                  <a:srgbClr val="3A3A3A"/>
                </a:solidFill>
                <a:effectLst/>
                <a:latin typeface="Roboto" panose="02000000000000000000" pitchFamily="2" charset="0"/>
              </a:rPr>
              <a:t>Horizontal scaling divides the dataset and distributes data over multiple servers, or shards.</a:t>
            </a:r>
          </a:p>
        </p:txBody>
      </p:sp>
    </p:spTree>
    <p:extLst>
      <p:ext uri="{BB962C8B-B14F-4D97-AF65-F5344CB8AC3E}">
        <p14:creationId xmlns:p14="http://schemas.microsoft.com/office/powerpoint/2010/main" val="2168845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8208D-0985-00C8-9982-1D94173FEC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C9D87EC-D56D-D6FB-EA81-CB75B0C626E9}"/>
              </a:ext>
            </a:extLst>
          </p:cNvPr>
          <p:cNvSpPr txBox="1"/>
          <p:nvPr/>
        </p:nvSpPr>
        <p:spPr>
          <a:xfrm>
            <a:off x="2477069" y="-1583063"/>
            <a:ext cx="4954136" cy="1003095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41. What are the components of the Sharded cluster?</a:t>
            </a:r>
          </a:p>
          <a:p>
            <a:pPr algn="just">
              <a:lnSpc>
                <a:spcPts val="2100"/>
              </a:lnSpc>
              <a:spcBef>
                <a:spcPts val="1650"/>
              </a:spcBef>
              <a:buNone/>
            </a:pPr>
            <a:r>
              <a:rPr lang="en-US" b="0" i="0" dirty="0">
                <a:solidFill>
                  <a:srgbClr val="3A3A3A"/>
                </a:solidFill>
                <a:effectLst/>
                <a:latin typeface="Roboto" panose="02000000000000000000" pitchFamily="2" charset="0"/>
              </a:rPr>
              <a:t>The sharded cluster has the following components: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Shards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Query routers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Config servers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42. Which command is used to create a database?</a:t>
            </a:r>
          </a:p>
          <a:p>
            <a:pPr algn="just">
              <a:lnSpc>
                <a:spcPts val="2100"/>
              </a:lnSpc>
              <a:spcBef>
                <a:spcPts val="1650"/>
              </a:spcBef>
              <a:buNone/>
            </a:pPr>
            <a:r>
              <a:rPr lang="en-US" b="0" i="0" dirty="0">
                <a:solidFill>
                  <a:srgbClr val="3A3A3A"/>
                </a:solidFill>
                <a:effectLst/>
                <a:latin typeface="Roboto" panose="02000000000000000000" pitchFamily="2" charset="0"/>
              </a:rPr>
              <a:t>To create a database, we can use the </a:t>
            </a:r>
            <a:r>
              <a:rPr lang="en-US" b="0" i="0" dirty="0" err="1">
                <a:solidFill>
                  <a:srgbClr val="3A3A3A"/>
                </a:solidFill>
                <a:effectLst/>
                <a:latin typeface="Roboto" panose="02000000000000000000" pitchFamily="2" charset="0"/>
              </a:rPr>
              <a:t>Database_Name</a:t>
            </a:r>
            <a:r>
              <a:rPr lang="en-US" b="0" i="0" dirty="0">
                <a:solidFill>
                  <a:srgbClr val="3A3A3A"/>
                </a:solidFill>
                <a:effectLst/>
                <a:latin typeface="Roboto" panose="02000000000000000000" pitchFamily="2" charset="0"/>
              </a:rPr>
              <a:t> command.</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43. Which command is used to drop a database?</a:t>
            </a:r>
          </a:p>
          <a:p>
            <a:pPr algn="just">
              <a:lnSpc>
                <a:spcPts val="2100"/>
              </a:lnSpc>
              <a:spcBef>
                <a:spcPts val="1650"/>
              </a:spcBef>
              <a:buNone/>
            </a:pPr>
            <a:r>
              <a:rPr lang="en-US" b="0" i="0" dirty="0">
                <a:solidFill>
                  <a:srgbClr val="3A3A3A"/>
                </a:solidFill>
                <a:effectLst/>
                <a:latin typeface="Roboto" panose="02000000000000000000" pitchFamily="2" charset="0"/>
              </a:rPr>
              <a:t>The </a:t>
            </a:r>
            <a:r>
              <a:rPr lang="en-US" b="0" i="0" dirty="0" err="1">
                <a:solidFill>
                  <a:srgbClr val="3A3A3A"/>
                </a:solidFill>
                <a:effectLst/>
                <a:latin typeface="Roboto" panose="02000000000000000000" pitchFamily="2" charset="0"/>
              </a:rPr>
              <a:t>db.dropDatabse</a:t>
            </a:r>
            <a:r>
              <a:rPr lang="en-US" b="0" i="0" dirty="0">
                <a:solidFill>
                  <a:srgbClr val="3A3A3A"/>
                </a:solidFill>
                <a:effectLst/>
                <a:latin typeface="Roboto" panose="02000000000000000000" pitchFamily="2" charset="0"/>
              </a:rPr>
              <a:t>() command is used to drop a database.</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44. What is the use of the pretty() method?</a:t>
            </a:r>
          </a:p>
          <a:p>
            <a:pPr algn="just">
              <a:lnSpc>
                <a:spcPts val="2100"/>
              </a:lnSpc>
              <a:spcBef>
                <a:spcPts val="1650"/>
              </a:spcBef>
              <a:buNone/>
            </a:pPr>
            <a:r>
              <a:rPr lang="en-US" b="0" i="0" dirty="0">
                <a:solidFill>
                  <a:srgbClr val="3A3A3A"/>
                </a:solidFill>
                <a:effectLst/>
                <a:latin typeface="Roboto" panose="02000000000000000000" pitchFamily="2" charset="0"/>
              </a:rPr>
              <a:t>The pretty() method is used to show the results in a formatted way.</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45. Which method is used to remove a document from a collection?</a:t>
            </a:r>
          </a:p>
          <a:p>
            <a:pPr algn="just">
              <a:lnSpc>
                <a:spcPts val="2100"/>
              </a:lnSpc>
              <a:spcBef>
                <a:spcPts val="1650"/>
              </a:spcBef>
              <a:buNone/>
            </a:pPr>
            <a:r>
              <a:rPr lang="en-US" b="0" i="0" dirty="0">
                <a:solidFill>
                  <a:srgbClr val="3A3A3A"/>
                </a:solidFill>
                <a:effectLst/>
                <a:latin typeface="Roboto" panose="02000000000000000000" pitchFamily="2" charset="0"/>
              </a:rPr>
              <a:t>The remove() method is used to remove a document from a collection.</a:t>
            </a:r>
          </a:p>
        </p:txBody>
      </p:sp>
    </p:spTree>
    <p:extLst>
      <p:ext uri="{BB962C8B-B14F-4D97-AF65-F5344CB8AC3E}">
        <p14:creationId xmlns:p14="http://schemas.microsoft.com/office/powerpoint/2010/main" val="2026343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A536A-EED8-A427-E116-F5A6BD812FA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1CD173F-70D8-44FA-5F52-E7C272FC7D5D}"/>
              </a:ext>
            </a:extLst>
          </p:cNvPr>
          <p:cNvSpPr txBox="1"/>
          <p:nvPr/>
        </p:nvSpPr>
        <p:spPr>
          <a:xfrm>
            <a:off x="2477069" y="611127"/>
            <a:ext cx="4954136" cy="564257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46. Define MongoDB Projection.</a:t>
            </a:r>
          </a:p>
          <a:p>
            <a:pPr algn="just">
              <a:lnSpc>
                <a:spcPts val="2100"/>
              </a:lnSpc>
              <a:spcBef>
                <a:spcPts val="1650"/>
              </a:spcBef>
              <a:buNone/>
            </a:pPr>
            <a:r>
              <a:rPr lang="en-US" b="0" i="0" dirty="0">
                <a:solidFill>
                  <a:srgbClr val="3A3A3A"/>
                </a:solidFill>
                <a:effectLst/>
                <a:latin typeface="Roboto" panose="02000000000000000000" pitchFamily="2" charset="0"/>
              </a:rPr>
              <a:t>Projection is used to select only the necessary data. It does not select the whole data of a document.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47. What is the use of the limit() method?</a:t>
            </a:r>
          </a:p>
          <a:p>
            <a:pPr algn="just">
              <a:lnSpc>
                <a:spcPts val="2100"/>
              </a:lnSpc>
              <a:spcBef>
                <a:spcPts val="1650"/>
              </a:spcBef>
              <a:buNone/>
            </a:pPr>
            <a:r>
              <a:rPr lang="en-US" b="0" i="0" dirty="0">
                <a:solidFill>
                  <a:srgbClr val="3A3A3A"/>
                </a:solidFill>
                <a:effectLst/>
                <a:latin typeface="Roboto" panose="02000000000000000000" pitchFamily="2" charset="0"/>
              </a:rPr>
              <a:t>The limit() method is used to limit the records in the database.</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48. What is the syntax of the limit() method?</a:t>
            </a:r>
          </a:p>
          <a:p>
            <a:pPr algn="just">
              <a:lnSpc>
                <a:spcPts val="2100"/>
              </a:lnSpc>
              <a:spcBef>
                <a:spcPts val="1650"/>
              </a:spcBef>
              <a:buNone/>
            </a:pPr>
            <a:r>
              <a:rPr lang="en-US" b="0" i="0" dirty="0">
                <a:solidFill>
                  <a:srgbClr val="3A3A3A"/>
                </a:solidFill>
                <a:effectLst/>
                <a:latin typeface="Roboto" panose="02000000000000000000" pitchFamily="2" charset="0"/>
              </a:rPr>
              <a:t>The syntax of the limit() method is as follows:</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&gt;</a:t>
            </a:r>
            <a:r>
              <a:rPr lang="en-US" b="0" i="0" dirty="0" err="1">
                <a:solidFill>
                  <a:srgbClr val="212529"/>
                </a:solidFill>
                <a:effectLst/>
                <a:latin typeface="Courier New" panose="02070309020205020404" pitchFamily="49" charset="0"/>
              </a:rPr>
              <a:t>db.COLLECTION_NAME.find</a:t>
            </a:r>
            <a:r>
              <a:rPr lang="en-US" b="0" i="0" dirty="0">
                <a:solidFill>
                  <a:srgbClr val="212529"/>
                </a:solidFill>
                <a:effectLst/>
                <a:latin typeface="Courier New" panose="02070309020205020404" pitchFamily="49" charset="0"/>
              </a:rPr>
              <a:t>().limit(NUMBER)&lt;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p:txBody>
      </p:sp>
    </p:spTree>
    <p:extLst>
      <p:ext uri="{BB962C8B-B14F-4D97-AF65-F5344CB8AC3E}">
        <p14:creationId xmlns:p14="http://schemas.microsoft.com/office/powerpoint/2010/main" val="4249377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16295-F736-4541-E380-60D1680D59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9A837E7-9F8C-1292-F2C7-AE97BA6D8C33}"/>
              </a:ext>
            </a:extLst>
          </p:cNvPr>
          <p:cNvSpPr txBox="1"/>
          <p:nvPr/>
        </p:nvSpPr>
        <p:spPr>
          <a:xfrm>
            <a:off x="2477069" y="-331439"/>
            <a:ext cx="4954136" cy="752770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49. What is the syntax of the sort() method?</a:t>
            </a:r>
          </a:p>
          <a:p>
            <a:pPr algn="just">
              <a:lnSpc>
                <a:spcPts val="2100"/>
              </a:lnSpc>
              <a:spcBef>
                <a:spcPts val="1650"/>
              </a:spcBef>
              <a:buNone/>
            </a:pPr>
            <a:r>
              <a:rPr lang="en-US" b="0" i="0" dirty="0">
                <a:solidFill>
                  <a:srgbClr val="3A3A3A"/>
                </a:solidFill>
                <a:effectLst/>
                <a:latin typeface="Roboto" panose="02000000000000000000" pitchFamily="2" charset="0"/>
              </a:rPr>
              <a:t>In MongoDB, the following syntax is used for sorting documents:</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&gt;</a:t>
            </a:r>
            <a:r>
              <a:rPr lang="en-US" b="0" i="0" dirty="0" err="1">
                <a:solidFill>
                  <a:srgbClr val="212529"/>
                </a:solidFill>
                <a:effectLst/>
                <a:latin typeface="Courier New" panose="02070309020205020404" pitchFamily="49" charset="0"/>
              </a:rPr>
              <a:t>db.COLLECTION_NAME.find</a:t>
            </a:r>
            <a:r>
              <a:rPr lang="en-US" b="0" i="0" dirty="0">
                <a:solidFill>
                  <a:srgbClr val="212529"/>
                </a:solidFill>
                <a:effectLst/>
                <a:latin typeface="Courier New" panose="02070309020205020404" pitchFamily="49" charset="0"/>
              </a:rPr>
              <a:t>().sort({KEY:1})</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50. Which command is used to create a backup of the database?</a:t>
            </a:r>
          </a:p>
          <a:p>
            <a:pPr algn="just">
              <a:lnSpc>
                <a:spcPts val="2100"/>
              </a:lnSpc>
              <a:spcBef>
                <a:spcPts val="1650"/>
              </a:spcBef>
              <a:buNone/>
            </a:pPr>
            <a:r>
              <a:rPr lang="en-US" b="0" i="0" dirty="0">
                <a:solidFill>
                  <a:srgbClr val="3A3A3A"/>
                </a:solidFill>
                <a:effectLst/>
                <a:latin typeface="Roboto" panose="02000000000000000000" pitchFamily="2" charset="0"/>
              </a:rPr>
              <a:t>The </a:t>
            </a:r>
            <a:r>
              <a:rPr lang="en-US" b="0" i="0" dirty="0" err="1">
                <a:solidFill>
                  <a:srgbClr val="3A3A3A"/>
                </a:solidFill>
                <a:effectLst/>
                <a:latin typeface="Roboto" panose="02000000000000000000" pitchFamily="2" charset="0"/>
              </a:rPr>
              <a:t>mongodump</a:t>
            </a:r>
            <a:r>
              <a:rPr lang="en-US" b="0" i="0" dirty="0">
                <a:solidFill>
                  <a:srgbClr val="3A3A3A"/>
                </a:solidFill>
                <a:effectLst/>
                <a:latin typeface="Roboto" panose="02000000000000000000" pitchFamily="2" charset="0"/>
              </a:rPr>
              <a:t> command is used to create a backup of the database.</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51. What is a Collection in MongoDB?</a:t>
            </a:r>
          </a:p>
          <a:p>
            <a:pPr algn="just">
              <a:lnSpc>
                <a:spcPts val="2100"/>
              </a:lnSpc>
              <a:spcBef>
                <a:spcPts val="1650"/>
              </a:spcBef>
              <a:buNone/>
            </a:pPr>
            <a:r>
              <a:rPr lang="en-US" b="0" i="0" dirty="0">
                <a:solidFill>
                  <a:srgbClr val="3A3A3A"/>
                </a:solidFill>
                <a:effectLst/>
                <a:latin typeface="Roboto" panose="02000000000000000000" pitchFamily="2" charset="0"/>
              </a:rPr>
              <a:t>In MongoDB, a collection is a group of MongoDB documents.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52. What is the use of the </a:t>
            </a:r>
            <a:r>
              <a:rPr lang="en-US" b="0" i="0" dirty="0" err="1">
                <a:solidFill>
                  <a:srgbClr val="272C37"/>
                </a:solidFill>
                <a:effectLst/>
                <a:latin typeface="Roboto" panose="02000000000000000000" pitchFamily="2" charset="0"/>
              </a:rPr>
              <a:t>db</a:t>
            </a:r>
            <a:r>
              <a:rPr lang="en-US" b="0" i="0" dirty="0">
                <a:solidFill>
                  <a:srgbClr val="272C37"/>
                </a:solidFill>
                <a:effectLst/>
                <a:latin typeface="Roboto" panose="02000000000000000000" pitchFamily="2" charset="0"/>
              </a:rPr>
              <a:t> command?</a:t>
            </a:r>
          </a:p>
          <a:p>
            <a:pPr algn="just">
              <a:lnSpc>
                <a:spcPts val="2100"/>
              </a:lnSpc>
              <a:spcBef>
                <a:spcPts val="1650"/>
              </a:spcBef>
              <a:buNone/>
            </a:pPr>
            <a:r>
              <a:rPr lang="en-US" b="0" i="0" dirty="0">
                <a:solidFill>
                  <a:srgbClr val="3A3A3A"/>
                </a:solidFill>
                <a:effectLst/>
                <a:latin typeface="Roboto" panose="02000000000000000000" pitchFamily="2" charset="0"/>
              </a:rPr>
              <a:t>The </a:t>
            </a:r>
            <a:r>
              <a:rPr lang="en-US" b="0" i="0" dirty="0" err="1">
                <a:solidFill>
                  <a:srgbClr val="3A3A3A"/>
                </a:solidFill>
                <a:effectLst/>
                <a:latin typeface="Roboto" panose="02000000000000000000" pitchFamily="2" charset="0"/>
              </a:rPr>
              <a:t>db</a:t>
            </a:r>
            <a:r>
              <a:rPr lang="en-US" b="0" i="0" dirty="0">
                <a:solidFill>
                  <a:srgbClr val="3A3A3A"/>
                </a:solidFill>
                <a:effectLst/>
                <a:latin typeface="Roboto" panose="02000000000000000000" pitchFamily="2" charset="0"/>
              </a:rPr>
              <a:t> command gives the name of the currently selected database.</a:t>
            </a:r>
          </a:p>
        </p:txBody>
      </p:sp>
    </p:spTree>
    <p:extLst>
      <p:ext uri="{BB962C8B-B14F-4D97-AF65-F5344CB8AC3E}">
        <p14:creationId xmlns:p14="http://schemas.microsoft.com/office/powerpoint/2010/main" val="3227933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7C126-04A2-CF97-FE38-E47FAAC339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0E9BA41-973B-32AE-8390-79A9763A35A3}"/>
              </a:ext>
            </a:extLst>
          </p:cNvPr>
          <p:cNvSpPr txBox="1"/>
          <p:nvPr/>
        </p:nvSpPr>
        <p:spPr>
          <a:xfrm>
            <a:off x="2477069" y="1393393"/>
            <a:ext cx="4954136" cy="407803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53. Which method is used to update documents into a collection?</a:t>
            </a:r>
          </a:p>
          <a:p>
            <a:pPr algn="just">
              <a:lnSpc>
                <a:spcPts val="2100"/>
              </a:lnSpc>
              <a:spcBef>
                <a:spcPts val="1650"/>
              </a:spcBef>
              <a:buNone/>
            </a:pPr>
            <a:r>
              <a:rPr lang="en-US" b="0" i="0" dirty="0">
                <a:solidFill>
                  <a:srgbClr val="3A3A3A"/>
                </a:solidFill>
                <a:effectLst/>
                <a:latin typeface="Roboto" panose="02000000000000000000" pitchFamily="2" charset="0"/>
              </a:rPr>
              <a:t>The update() and save() methods are used to update documents into a collection.</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54. What is the syntax of the skip() method?</a:t>
            </a:r>
          </a:p>
          <a:p>
            <a:pPr algn="just">
              <a:lnSpc>
                <a:spcPts val="2100"/>
              </a:lnSpc>
              <a:spcBef>
                <a:spcPts val="1650"/>
              </a:spcBef>
              <a:buNone/>
            </a:pPr>
            <a:r>
              <a:rPr lang="en-US" b="0" i="0" dirty="0">
                <a:solidFill>
                  <a:srgbClr val="3A3A3A"/>
                </a:solidFill>
                <a:effectLst/>
                <a:latin typeface="Roboto" panose="02000000000000000000" pitchFamily="2" charset="0"/>
              </a:rPr>
              <a:t>The syntax of the skip() </a:t>
            </a:r>
            <a:r>
              <a:rPr lang="en-US" b="0" i="0" dirty="0" err="1">
                <a:solidFill>
                  <a:srgbClr val="3A3A3A"/>
                </a:solidFill>
                <a:effectLst/>
                <a:latin typeface="Roboto" panose="02000000000000000000" pitchFamily="2" charset="0"/>
              </a:rPr>
              <a:t>methopd</a:t>
            </a:r>
            <a:r>
              <a:rPr lang="en-US" b="0" i="0" dirty="0">
                <a:solidFill>
                  <a:srgbClr val="3A3A3A"/>
                </a:solidFill>
                <a:effectLst/>
                <a:latin typeface="Roboto" panose="02000000000000000000" pitchFamily="2" charset="0"/>
              </a:rPr>
              <a:t> is as follows:</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&gt;</a:t>
            </a:r>
            <a:r>
              <a:rPr lang="en-US" b="0" i="0" dirty="0" err="1">
                <a:solidFill>
                  <a:srgbClr val="212529"/>
                </a:solidFill>
                <a:effectLst/>
                <a:latin typeface="Courier New" panose="02070309020205020404" pitchFamily="49" charset="0"/>
              </a:rPr>
              <a:t>db.COLLECTION_NAME.find</a:t>
            </a:r>
            <a:r>
              <a:rPr lang="en-US" b="0" i="0" dirty="0">
                <a:solidFill>
                  <a:srgbClr val="212529"/>
                </a:solidFill>
                <a:effectLst/>
                <a:latin typeface="Courier New" panose="02070309020205020404" pitchFamily="49" charset="0"/>
              </a:rPr>
              <a:t>().limit(NUMBER).skip(NUMBER)</a:t>
            </a:r>
          </a:p>
        </p:txBody>
      </p:sp>
    </p:spTree>
    <p:extLst>
      <p:ext uri="{BB962C8B-B14F-4D97-AF65-F5344CB8AC3E}">
        <p14:creationId xmlns:p14="http://schemas.microsoft.com/office/powerpoint/2010/main" val="248224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42B9A-8337-6E47-F8F4-F1FF3D6546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E909196-527E-3F13-7FF7-7FBC8E0A08D5}"/>
              </a:ext>
            </a:extLst>
          </p:cNvPr>
          <p:cNvSpPr txBox="1"/>
          <p:nvPr/>
        </p:nvSpPr>
        <p:spPr>
          <a:xfrm>
            <a:off x="2477069" y="-531493"/>
            <a:ext cx="4954136" cy="792781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55. Which command is used to restore the backup?</a:t>
            </a:r>
          </a:p>
          <a:p>
            <a:pPr algn="just">
              <a:lnSpc>
                <a:spcPts val="2100"/>
              </a:lnSpc>
              <a:spcBef>
                <a:spcPts val="1650"/>
              </a:spcBef>
              <a:buNone/>
            </a:pPr>
            <a:r>
              <a:rPr lang="en-US" b="0" i="0" dirty="0">
                <a:solidFill>
                  <a:srgbClr val="3A3A3A"/>
                </a:solidFill>
                <a:effectLst/>
                <a:latin typeface="Roboto" panose="02000000000000000000" pitchFamily="2" charset="0"/>
              </a:rPr>
              <a:t>The </a:t>
            </a:r>
            <a:r>
              <a:rPr lang="en-US" b="0" i="0" dirty="0" err="1">
                <a:solidFill>
                  <a:srgbClr val="3A3A3A"/>
                </a:solidFill>
                <a:effectLst/>
                <a:latin typeface="Roboto" panose="02000000000000000000" pitchFamily="2" charset="0"/>
              </a:rPr>
              <a:t>mongorestore</a:t>
            </a:r>
            <a:r>
              <a:rPr lang="en-US" b="0" i="0" dirty="0">
                <a:solidFill>
                  <a:srgbClr val="3A3A3A"/>
                </a:solidFill>
                <a:effectLst/>
                <a:latin typeface="Roboto" panose="02000000000000000000" pitchFamily="2" charset="0"/>
              </a:rPr>
              <a:t> command is used to restore the backup.</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56. What is the use of the dot notation in MongoDB?</a:t>
            </a:r>
          </a:p>
          <a:p>
            <a:pPr algn="just">
              <a:lnSpc>
                <a:spcPts val="2100"/>
              </a:lnSpc>
              <a:spcBef>
                <a:spcPts val="1650"/>
              </a:spcBef>
              <a:buNone/>
            </a:pPr>
            <a:r>
              <a:rPr lang="en-US" b="0" i="0" dirty="0">
                <a:solidFill>
                  <a:srgbClr val="3A3A3A"/>
                </a:solidFill>
                <a:effectLst/>
                <a:latin typeface="Roboto" panose="02000000000000000000" pitchFamily="2" charset="0"/>
              </a:rPr>
              <a:t>MongoDB uses the dot notation to access the elements of an array and the fields of an embedded document.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57. Define Auditing.</a:t>
            </a:r>
          </a:p>
          <a:p>
            <a:pPr algn="just">
              <a:lnSpc>
                <a:spcPts val="2100"/>
              </a:lnSpc>
              <a:spcBef>
                <a:spcPts val="1650"/>
              </a:spcBef>
              <a:buNone/>
            </a:pPr>
            <a:r>
              <a:rPr lang="en-US" b="0" i="0" dirty="0">
                <a:solidFill>
                  <a:srgbClr val="3A3A3A"/>
                </a:solidFill>
                <a:effectLst/>
                <a:latin typeface="Roboto" panose="02000000000000000000" pitchFamily="2" charset="0"/>
              </a:rPr>
              <a:t>Auditing provides administrators with the ability to verify that the implemented security policies are controlling the activity in the system.</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58. Define the Aggregation pipeline.</a:t>
            </a:r>
          </a:p>
          <a:p>
            <a:pPr algn="just">
              <a:lnSpc>
                <a:spcPts val="2100"/>
              </a:lnSpc>
              <a:spcBef>
                <a:spcPts val="1650"/>
              </a:spcBef>
              <a:buNone/>
            </a:pPr>
            <a:r>
              <a:rPr lang="en-US" b="0" i="0" dirty="0">
                <a:solidFill>
                  <a:srgbClr val="3A3A3A"/>
                </a:solidFill>
                <a:effectLst/>
                <a:latin typeface="Roboto" panose="02000000000000000000" pitchFamily="2" charset="0"/>
              </a:rPr>
              <a:t>The aggregation pipeline is a framework for performing aggregation tasks. The pipeline is used to transform documents into aggregated results.</a:t>
            </a:r>
          </a:p>
        </p:txBody>
      </p:sp>
    </p:spTree>
    <p:extLst>
      <p:ext uri="{BB962C8B-B14F-4D97-AF65-F5344CB8AC3E}">
        <p14:creationId xmlns:p14="http://schemas.microsoft.com/office/powerpoint/2010/main" val="3982434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D39D9-771D-1A99-8C9D-AF905F4171D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688247B-305E-127C-D82B-3ADAF0C04078}"/>
              </a:ext>
            </a:extLst>
          </p:cNvPr>
          <p:cNvSpPr txBox="1"/>
          <p:nvPr/>
        </p:nvSpPr>
        <p:spPr>
          <a:xfrm>
            <a:off x="2477069" y="-313485"/>
            <a:ext cx="4954136" cy="7491794"/>
          </a:xfrm>
          <a:prstGeom prst="rect">
            <a:avLst/>
          </a:prstGeom>
          <a:noFill/>
        </p:spPr>
        <p:txBody>
          <a:bodyPr wrap="square">
            <a:spAutoFit/>
          </a:bodyPr>
          <a:lstStyle/>
          <a:p>
            <a:pPr algn="l">
              <a:lnSpc>
                <a:spcPts val="2550"/>
              </a:lnSpc>
              <a:spcBef>
                <a:spcPts val="3000"/>
              </a:spcBef>
              <a:buNone/>
            </a:pPr>
            <a:r>
              <a:rPr lang="en-US" b="0" i="0" dirty="0">
                <a:solidFill>
                  <a:srgbClr val="272C37"/>
                </a:solidFill>
                <a:effectLst/>
                <a:latin typeface="Roboto" panose="02000000000000000000" pitchFamily="2" charset="0"/>
              </a:rPr>
              <a:t>MongoDB Query Interview Questions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59. Define MapReduce.</a:t>
            </a:r>
          </a:p>
          <a:p>
            <a:pPr algn="just">
              <a:lnSpc>
                <a:spcPts val="2100"/>
              </a:lnSpc>
              <a:spcBef>
                <a:spcPts val="1650"/>
              </a:spcBef>
              <a:buNone/>
            </a:pPr>
            <a:r>
              <a:rPr lang="en-US" b="0" i="0" u="none" strike="noStrike" dirty="0">
                <a:solidFill>
                  <a:srgbClr val="0F5A9E"/>
                </a:solidFill>
                <a:effectLst/>
                <a:latin typeface="Roboto" panose="02000000000000000000" pitchFamily="2" charset="0"/>
                <a:hlinkClick r:id="rId2"/>
              </a:rPr>
              <a:t>MapReduce</a:t>
            </a:r>
            <a:r>
              <a:rPr lang="en-US" b="0" i="0" dirty="0">
                <a:solidFill>
                  <a:srgbClr val="3A3A3A"/>
                </a:solidFill>
                <a:effectLst/>
                <a:latin typeface="Roboto" panose="02000000000000000000" pitchFamily="2" charset="0"/>
              </a:rPr>
              <a:t> is a generic multi-phase data aggregation modality that is used for processing quantities of data.</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60. What is Splitting in MongoDB?</a:t>
            </a:r>
          </a:p>
          <a:p>
            <a:pPr algn="just">
              <a:lnSpc>
                <a:spcPts val="2100"/>
              </a:lnSpc>
              <a:spcBef>
                <a:spcPts val="1650"/>
              </a:spcBef>
              <a:buNone/>
            </a:pPr>
            <a:r>
              <a:rPr lang="en-US" b="0" i="0" dirty="0">
                <a:solidFill>
                  <a:srgbClr val="3A3A3A"/>
                </a:solidFill>
                <a:effectLst/>
                <a:latin typeface="Roboto" panose="02000000000000000000" pitchFamily="2" charset="0"/>
              </a:rPr>
              <a:t>Splitting is a background process that is used to keep chunks from growing too large.</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61. Which language is used to write for MongoDB?</a:t>
            </a:r>
          </a:p>
          <a:p>
            <a:pPr algn="just">
              <a:lnSpc>
                <a:spcPts val="2100"/>
              </a:lnSpc>
              <a:spcBef>
                <a:spcPts val="1650"/>
              </a:spcBef>
              <a:buNone/>
            </a:pPr>
            <a:r>
              <a:rPr lang="en-US" b="0" i="0" dirty="0">
                <a:solidFill>
                  <a:srgbClr val="3A3A3A"/>
                </a:solidFill>
                <a:effectLst/>
                <a:latin typeface="Roboto" panose="02000000000000000000" pitchFamily="2" charset="0"/>
              </a:rPr>
              <a:t>C++ is used for writing and implementing MongoDB.</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62. In which format does MongoDB store data?</a:t>
            </a:r>
          </a:p>
          <a:p>
            <a:pPr algn="just">
              <a:lnSpc>
                <a:spcPts val="2100"/>
              </a:lnSpc>
              <a:spcBef>
                <a:spcPts val="1650"/>
              </a:spcBef>
              <a:buNone/>
            </a:pPr>
            <a:r>
              <a:rPr lang="en-US" b="0" i="0" dirty="0">
                <a:solidFill>
                  <a:srgbClr val="3A3A3A"/>
                </a:solidFill>
                <a:effectLst/>
                <a:latin typeface="Roboto" panose="02000000000000000000" pitchFamily="2" charset="0"/>
              </a:rPr>
              <a:t>MongoDB uses collections to store data rather than tables.</a:t>
            </a:r>
          </a:p>
        </p:txBody>
      </p:sp>
    </p:spTree>
    <p:extLst>
      <p:ext uri="{BB962C8B-B14F-4D97-AF65-F5344CB8AC3E}">
        <p14:creationId xmlns:p14="http://schemas.microsoft.com/office/powerpoint/2010/main" val="3211495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F51D3-0345-00B0-8AB0-A45023E7406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453848B-F83C-6D3D-1BBB-0EC8B2F2160F}"/>
              </a:ext>
            </a:extLst>
          </p:cNvPr>
          <p:cNvSpPr txBox="1"/>
          <p:nvPr/>
        </p:nvSpPr>
        <p:spPr>
          <a:xfrm>
            <a:off x="2477069" y="-1307347"/>
            <a:ext cx="4954136" cy="947951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63. What is the use of the save() method?</a:t>
            </a:r>
          </a:p>
          <a:p>
            <a:pPr algn="just">
              <a:lnSpc>
                <a:spcPts val="2100"/>
              </a:lnSpc>
              <a:spcBef>
                <a:spcPts val="1650"/>
              </a:spcBef>
              <a:buNone/>
            </a:pPr>
            <a:r>
              <a:rPr lang="en-US" b="0" i="0" dirty="0">
                <a:solidFill>
                  <a:srgbClr val="3A3A3A"/>
                </a:solidFill>
                <a:effectLst/>
                <a:latin typeface="Roboto" panose="02000000000000000000" pitchFamily="2" charset="0"/>
              </a:rPr>
              <a:t>The save() method is used to replace the existing document with a new document.</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64. What is MongoDB?</a:t>
            </a:r>
          </a:p>
          <a:p>
            <a:pPr algn="just">
              <a:lnSpc>
                <a:spcPts val="2100"/>
              </a:lnSpc>
              <a:spcBef>
                <a:spcPts val="1650"/>
              </a:spcBef>
              <a:buNone/>
            </a:pPr>
            <a:r>
              <a:rPr lang="en-US" b="0" i="0" dirty="0">
                <a:solidFill>
                  <a:srgbClr val="3A3A3A"/>
                </a:solidFill>
                <a:effectLst/>
                <a:latin typeface="Roboto" panose="02000000000000000000" pitchFamily="2" charset="0"/>
              </a:rPr>
              <a:t>MongoDB (from humongous) is a cross-platform document-oriented database. Classified as a </a:t>
            </a:r>
            <a:r>
              <a:rPr lang="en-US" b="0" i="0" u="none" strike="noStrike" dirty="0">
                <a:solidFill>
                  <a:srgbClr val="0F5A9E"/>
                </a:solidFill>
                <a:effectLst/>
                <a:latin typeface="Roboto" panose="02000000000000000000" pitchFamily="2" charset="0"/>
                <a:hlinkClick r:id="rId2"/>
              </a:rPr>
              <a:t>NoSQL database</a:t>
            </a:r>
            <a:r>
              <a:rPr lang="en-US" b="0" i="0" dirty="0">
                <a:solidFill>
                  <a:srgbClr val="3A3A3A"/>
                </a:solidFill>
                <a:effectLst/>
                <a:latin typeface="Roboto" panose="02000000000000000000" pitchFamily="2" charset="0"/>
              </a:rPr>
              <a:t>, MongoDB eschews the traditional table-based relational database structure in favor of JSON-like documents with dynamic schemas (MongoDB calls the format ‘BSON’), making the integration of data in certain types of applications easier and faster. Released under a combination of the GNU </a:t>
            </a:r>
            <a:r>
              <a:rPr lang="en-US" b="0" i="0" dirty="0" err="1">
                <a:solidFill>
                  <a:srgbClr val="3A3A3A"/>
                </a:solidFill>
                <a:effectLst/>
                <a:latin typeface="Roboto" panose="02000000000000000000" pitchFamily="2" charset="0"/>
              </a:rPr>
              <a:t>Affero</a:t>
            </a:r>
            <a:r>
              <a:rPr lang="en-US" b="0" i="0" dirty="0">
                <a:solidFill>
                  <a:srgbClr val="3A3A3A"/>
                </a:solidFill>
                <a:effectLst/>
                <a:latin typeface="Roboto" panose="02000000000000000000" pitchFamily="2" charset="0"/>
              </a:rPr>
              <a:t> General Public License and the Apache License, MongoDB is open-source.</a:t>
            </a:r>
          </a:p>
          <a:p>
            <a:pPr algn="just">
              <a:lnSpc>
                <a:spcPts val="2100"/>
              </a:lnSpc>
              <a:spcBef>
                <a:spcPts val="750"/>
              </a:spcBef>
              <a:buNone/>
            </a:pPr>
            <a:r>
              <a:rPr lang="en-US" b="0" i="0" dirty="0">
                <a:solidFill>
                  <a:srgbClr val="3A3A3A"/>
                </a:solidFill>
                <a:effectLst/>
                <a:latin typeface="Roboto" panose="02000000000000000000" pitchFamily="2" charset="0"/>
              </a:rPr>
              <a:t>MongoDB was first developed by the software company 10gen (now, MongoDB Inc.) in October 2007 as a component of a planned platform as a service product. Then, the company shifted to an open-source development model in 2009, with 10gen offering commercial support and other services. Since then, MongoDB has been adopted as backend software by a number of major websites and services, including Craigslist, eBay, Foursquare, </a:t>
            </a:r>
            <a:r>
              <a:rPr lang="en-US" b="0" i="0" dirty="0" err="1">
                <a:solidFill>
                  <a:srgbClr val="3A3A3A"/>
                </a:solidFill>
                <a:effectLst/>
                <a:latin typeface="Roboto" panose="02000000000000000000" pitchFamily="2" charset="0"/>
              </a:rPr>
              <a:t>SourceForge</a:t>
            </a:r>
            <a:r>
              <a:rPr lang="en-US" b="0" i="0" dirty="0">
                <a:solidFill>
                  <a:srgbClr val="3A3A3A"/>
                </a:solidFill>
                <a:effectLst/>
                <a:latin typeface="Roboto" panose="02000000000000000000" pitchFamily="2" charset="0"/>
              </a:rPr>
              <a:t>, Viacom, and the New York Times, among others. Currently, MongoDB is the most popular NoSQL database system.</a:t>
            </a:r>
          </a:p>
        </p:txBody>
      </p:sp>
    </p:spTree>
    <p:extLst>
      <p:ext uri="{BB962C8B-B14F-4D97-AF65-F5344CB8AC3E}">
        <p14:creationId xmlns:p14="http://schemas.microsoft.com/office/powerpoint/2010/main" val="3296601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5CCC6-E6E7-B7C6-6CCC-9091F85AE18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8FC5C29-2470-10E3-F2E1-14FD03057828}"/>
              </a:ext>
            </a:extLst>
          </p:cNvPr>
          <p:cNvSpPr>
            <a:spLocks noChangeArrowheads="1"/>
          </p:cNvSpPr>
          <p:nvPr/>
        </p:nvSpPr>
        <p:spPr bwMode="auto">
          <a:xfrm>
            <a:off x="0" y="27296"/>
            <a:ext cx="9906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272C37"/>
                </a:solidFill>
                <a:effectLst/>
                <a:latin typeface="Roboto" panose="02000000000000000000" pitchFamily="2" charset="0"/>
              </a:rPr>
              <a:t>65. What do you understand by NoSQL databases? Is MongoDB a NoSQL database? Explain.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3A3A3A"/>
                </a:solidFill>
                <a:effectLst/>
                <a:latin typeface="Roboto" panose="02000000000000000000" pitchFamily="2" charset="0"/>
              </a:rPr>
              <a:t>Presently, the Internet is loaded with big data, big users, and so on that are becoming more complex day by day. NoSQL is the answer to all these problems; it is not a traditional database management system, not even a relational database management system (RDBMS).</a:t>
            </a:r>
            <a:endParaRPr kumimoji="0" lang="en-US" altLang="en-US" sz="600" b="0" i="0" u="none" strike="noStrike" cap="none" normalizeH="0" baseline="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3A3A3A"/>
                </a:solidFill>
                <a:effectLst/>
                <a:latin typeface="Roboto" panose="02000000000000000000" pitchFamily="2" charset="0"/>
              </a:rPr>
              <a:t>NoSQL stands for ‘Not only SQL’, and it is a type of database that can handle and sort all types of unstructured, messy, and complicated data. It is just a new way to think about databases.</a:t>
            </a:r>
            <a:endParaRPr kumimoji="0" lang="en-US" altLang="en-US" sz="600" b="0" i="0" u="none" strike="noStrike" cap="none" normalizeH="0" baseline="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3A3A3A"/>
                </a:solidFill>
                <a:effectLst/>
                <a:latin typeface="Roboto" panose="02000000000000000000" pitchFamily="2" charset="0"/>
              </a:rPr>
              <a:t>Yes, MongoDB is a NoSQL database.</a:t>
            </a:r>
            <a:endParaRPr kumimoji="0" lang="en-US" altLang="en-US" sz="1500" b="0" i="0" u="none" strike="noStrike" cap="none" normalizeH="0" baseline="0">
              <a:ln>
                <a:noFill/>
              </a:ln>
              <a:solidFill>
                <a:srgbClr val="272C37"/>
              </a:solidFill>
              <a:effectLst/>
              <a:latin typeface="Roboto" panose="02000000000000000000" pitchFamily="2"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500" b="0" i="0" u="none" strike="noStrike" cap="none" normalizeH="0" baseline="0">
                <a:ln>
                  <a:noFill/>
                </a:ln>
                <a:solidFill>
                  <a:srgbClr val="272C37"/>
                </a:solidFill>
                <a:effectLst/>
                <a:latin typeface="Roboto" panose="02000000000000000000" pitchFamily="2" charset="0"/>
              </a:rPr>
              <a:t>66. What type of a DBMS is MongoDB?</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3A3A3A"/>
                </a:solidFill>
                <a:effectLst/>
                <a:latin typeface="Roboto" panose="02000000000000000000" pitchFamily="2" charset="0"/>
              </a:rPr>
              <a:t>MongoDB is a document-oriented DBMS.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9434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98316-616B-E845-43AD-535703B1767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0C2366-C1BE-788B-98AD-2A080DF950DB}"/>
              </a:ext>
            </a:extLst>
          </p:cNvPr>
          <p:cNvSpPr txBox="1"/>
          <p:nvPr/>
        </p:nvSpPr>
        <p:spPr>
          <a:xfrm>
            <a:off x="2477069" y="1680651"/>
            <a:ext cx="4954136" cy="350352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67. What is the difference between MongoDB and MySQL?</a:t>
            </a:r>
          </a:p>
          <a:p>
            <a:pPr algn="just">
              <a:lnSpc>
                <a:spcPts val="2100"/>
              </a:lnSpc>
              <a:spcBef>
                <a:spcPts val="1650"/>
              </a:spcBef>
              <a:buNone/>
            </a:pPr>
            <a:r>
              <a:rPr lang="en-US" b="0" i="0" dirty="0">
                <a:solidFill>
                  <a:srgbClr val="3A3A3A"/>
                </a:solidFill>
                <a:effectLst/>
                <a:latin typeface="Roboto" panose="02000000000000000000" pitchFamily="2" charset="0"/>
              </a:rPr>
              <a:t>Although both </a:t>
            </a:r>
            <a:r>
              <a:rPr lang="en-US" b="0" i="0" u="none" strike="noStrike" dirty="0">
                <a:solidFill>
                  <a:srgbClr val="0F5A9E"/>
                </a:solidFill>
                <a:effectLst/>
                <a:latin typeface="Roboto" panose="02000000000000000000" pitchFamily="2" charset="0"/>
                <a:hlinkClick r:id="rId2"/>
              </a:rPr>
              <a:t>MongoDB and MySQL</a:t>
            </a:r>
            <a:r>
              <a:rPr lang="en-US" b="0" i="0" dirty="0">
                <a:solidFill>
                  <a:srgbClr val="3A3A3A"/>
                </a:solidFill>
                <a:effectLst/>
                <a:latin typeface="Roboto" panose="02000000000000000000" pitchFamily="2" charset="0"/>
              </a:rPr>
              <a:t> are free and open-source databases, there is a lot of difference between them in terms of data representation, relationships, transaction, querying data, schema design and definition, performance speed, normalization, and many more. To compare MySQL with MongoDB is like a comparison between relational and non-relational databases.</a:t>
            </a:r>
          </a:p>
        </p:txBody>
      </p:sp>
    </p:spTree>
    <p:extLst>
      <p:ext uri="{BB962C8B-B14F-4D97-AF65-F5344CB8AC3E}">
        <p14:creationId xmlns:p14="http://schemas.microsoft.com/office/powerpoint/2010/main" val="4164324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FC741-BE3B-1381-C1C3-531DD4C166C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CD3E4E0-D9CC-1737-E4D8-C95698257F8B}"/>
              </a:ext>
            </a:extLst>
          </p:cNvPr>
          <p:cNvSpPr txBox="1"/>
          <p:nvPr/>
        </p:nvSpPr>
        <p:spPr>
          <a:xfrm>
            <a:off x="2477069" y="-1185519"/>
            <a:ext cx="4954136" cy="923586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68. What is the use of MongoDB?</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 MongoDB is typically used as the primary data store for operational applications with real-time requirements (i.e., low latency, high availability, etc.). MongoDB is generally a good fit for 60–80 percent of the applications we build today. MongoDB is easy to operate and scale in the ways that are hard if not impossible with relational databases.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MongoDB excels in many use cases where the relational databases aren’t a good fit, like applications with unstructured, semi-structured, and polymorphic data, as well as those with large scalability requirements or multi-datacenter deployments.</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MongoDB may not be a good fit for some applications. For example, applications that require complex transactions (e.g., a double-entry bookkeeping system) and scan-oriented applications that access large subsets of the data mostly may not be a good fit for MongoDB. Also, MongoDB is not a drop-in replacement for legacy applications built around the relational data model and SQL.</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Some common use cases of MongoDB include mobile apps, product catalogs, real-time personalization, content management, and applications delivering a single view across multiple systems.</a:t>
            </a:r>
          </a:p>
        </p:txBody>
      </p:sp>
    </p:spTree>
    <p:extLst>
      <p:ext uri="{BB962C8B-B14F-4D97-AF65-F5344CB8AC3E}">
        <p14:creationId xmlns:p14="http://schemas.microsoft.com/office/powerpoint/2010/main" val="1980907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1F3F0-8E3C-9EC2-08A0-4468CCE58EC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92C6B7D-CCDC-B966-16E1-DF35A4737D2D}"/>
              </a:ext>
            </a:extLst>
          </p:cNvPr>
          <p:cNvSpPr txBox="1"/>
          <p:nvPr/>
        </p:nvSpPr>
        <p:spPr>
          <a:xfrm>
            <a:off x="2477069" y="225124"/>
            <a:ext cx="4954136" cy="641457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69. What kind of a database is MongoDB?</a:t>
            </a:r>
          </a:p>
          <a:p>
            <a:pPr algn="just">
              <a:lnSpc>
                <a:spcPts val="2100"/>
              </a:lnSpc>
              <a:spcBef>
                <a:spcPts val="1650"/>
              </a:spcBef>
              <a:buNone/>
            </a:pPr>
            <a:r>
              <a:rPr lang="en-US" b="0" i="0" dirty="0">
                <a:solidFill>
                  <a:srgbClr val="3A3A3A"/>
                </a:solidFill>
                <a:effectLst/>
                <a:latin typeface="Roboto" panose="02000000000000000000" pitchFamily="2" charset="0"/>
              </a:rPr>
              <a:t>MongoDB is a document-oriented DBMS. We can think of it as MySQL but with JSON-like objects comprising the data model, rather than RDBMS tables. Significantly, MongoDB supports neither joins nor transactions. However, it features secondary indexes, an expressive query language, atomic writes on a per-document level, and fully-consistent reads. Operationally, MongoDB offers the master–slave replication with automated failover and built-in horizontal scaling via automated range-based partitioning.</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70. Which language is MongoDB written in?</a:t>
            </a:r>
          </a:p>
          <a:p>
            <a:pPr algn="just">
              <a:lnSpc>
                <a:spcPts val="2100"/>
              </a:lnSpc>
              <a:spcBef>
                <a:spcPts val="1650"/>
              </a:spcBef>
              <a:buNone/>
            </a:pPr>
            <a:r>
              <a:rPr lang="en-US" b="0" i="0" dirty="0">
                <a:solidFill>
                  <a:srgbClr val="3A3A3A"/>
                </a:solidFill>
                <a:effectLst/>
                <a:latin typeface="Roboto" panose="02000000000000000000" pitchFamily="2" charset="0"/>
              </a:rPr>
              <a:t>MongoDB is implemented in C++. However, drivers and client libraries are typically written in their own respective languages. Although, some drivers use C extensions for better performance.</a:t>
            </a:r>
          </a:p>
        </p:txBody>
      </p:sp>
    </p:spTree>
    <p:extLst>
      <p:ext uri="{BB962C8B-B14F-4D97-AF65-F5344CB8AC3E}">
        <p14:creationId xmlns:p14="http://schemas.microsoft.com/office/powerpoint/2010/main" val="1029820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392F3-1F7B-EAA1-D24C-5CD66DFD520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CE8C354-153D-272D-8225-5AD51BDA38A5}"/>
              </a:ext>
            </a:extLst>
          </p:cNvPr>
          <p:cNvSpPr txBox="1"/>
          <p:nvPr/>
        </p:nvSpPr>
        <p:spPr>
          <a:xfrm>
            <a:off x="2477069" y="1494702"/>
            <a:ext cx="4954136" cy="387542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71. What are the limitations of the 32-bit versions of MongoDB?</a:t>
            </a:r>
          </a:p>
          <a:p>
            <a:pPr algn="just">
              <a:lnSpc>
                <a:spcPts val="2100"/>
              </a:lnSpc>
              <a:spcBef>
                <a:spcPts val="1650"/>
              </a:spcBef>
              <a:buNone/>
            </a:pPr>
            <a:r>
              <a:rPr lang="en-US" b="0" i="0" dirty="0">
                <a:solidFill>
                  <a:srgbClr val="3A3A3A"/>
                </a:solidFill>
                <a:effectLst/>
                <a:latin typeface="Roboto" panose="02000000000000000000" pitchFamily="2" charset="0"/>
              </a:rPr>
              <a:t>MongoDB uses memory-mapped files. When running a 32-bit build of MongoDB, the total storage size for the server, including data and indexes, is 2 GB. For this reason, we do not deploy MongoDB to production on 32-bit machines.</a:t>
            </a:r>
          </a:p>
          <a:p>
            <a:pPr algn="just">
              <a:lnSpc>
                <a:spcPts val="2100"/>
              </a:lnSpc>
              <a:spcBef>
                <a:spcPts val="750"/>
              </a:spcBef>
              <a:buNone/>
            </a:pPr>
            <a:r>
              <a:rPr lang="en-US" b="0" i="0" dirty="0">
                <a:solidFill>
                  <a:srgbClr val="3A3A3A"/>
                </a:solidFill>
                <a:effectLst/>
                <a:latin typeface="Roboto" panose="02000000000000000000" pitchFamily="2" charset="0"/>
              </a:rPr>
              <a:t>If we’re running a 64-bit build of MongoDB, there’s virtually no limit to the storage size. For production deployments, 64-bit builds and operating systems are strongly recommended.</a:t>
            </a:r>
          </a:p>
        </p:txBody>
      </p:sp>
    </p:spTree>
    <p:extLst>
      <p:ext uri="{BB962C8B-B14F-4D97-AF65-F5344CB8AC3E}">
        <p14:creationId xmlns:p14="http://schemas.microsoft.com/office/powerpoint/2010/main" val="53744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F4734-C1A0-211C-519C-3E66DD65852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D40325A-93D9-930F-BF1A-83F33B2F34C3}"/>
              </a:ext>
            </a:extLst>
          </p:cNvPr>
          <p:cNvSpPr txBox="1"/>
          <p:nvPr/>
        </p:nvSpPr>
        <p:spPr>
          <a:xfrm>
            <a:off x="2477069" y="731673"/>
            <a:ext cx="4954136" cy="540147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72. While creating a schema in MongoDB, what are the points need to be taken into consideration?</a:t>
            </a:r>
          </a:p>
          <a:p>
            <a:pPr algn="just">
              <a:lnSpc>
                <a:spcPts val="2100"/>
              </a:lnSpc>
              <a:spcBef>
                <a:spcPts val="1650"/>
              </a:spcBef>
              <a:buNone/>
            </a:pPr>
            <a:r>
              <a:rPr lang="en-US" b="0" i="0" dirty="0">
                <a:solidFill>
                  <a:srgbClr val="3A3A3A"/>
                </a:solidFill>
                <a:effectLst/>
                <a:latin typeface="Roboto" panose="02000000000000000000" pitchFamily="2" charset="0"/>
              </a:rPr>
              <a:t>While creating a schema in MongoDB, the points need to be taken care of are as follows: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Design our schema according to the user requirements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Combine objects into one document if we want to use them together; otherwise, separate them</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Do joins while on write, and not when it is on read</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For most frequent use cases, optimize the schema</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Do complex aggregation in the schema</a:t>
            </a:r>
          </a:p>
        </p:txBody>
      </p:sp>
    </p:spTree>
    <p:extLst>
      <p:ext uri="{BB962C8B-B14F-4D97-AF65-F5344CB8AC3E}">
        <p14:creationId xmlns:p14="http://schemas.microsoft.com/office/powerpoint/2010/main" val="4268402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A05F5-03AA-D92D-60A8-B08A3E4A0CFC}"/>
            </a:ext>
          </a:extLst>
        </p:cNvPr>
        <p:cNvGrpSpPr/>
        <p:nvPr/>
      </p:nvGrpSpPr>
      <p:grpSpPr>
        <a:xfrm>
          <a:off x="0" y="0"/>
          <a:ext cx="0" cy="0"/>
          <a:chOff x="0" y="0"/>
          <a:chExt cx="0" cy="0"/>
        </a:xfrm>
      </p:grpSpPr>
    </p:spTree>
    <p:extLst>
      <p:ext uri="{BB962C8B-B14F-4D97-AF65-F5344CB8AC3E}">
        <p14:creationId xmlns:p14="http://schemas.microsoft.com/office/powerpoint/2010/main" val="4077645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9E505-40D9-4ED7-D016-8A821BFA1015}"/>
            </a:ext>
          </a:extLst>
        </p:cNvPr>
        <p:cNvGrpSpPr/>
        <p:nvPr/>
      </p:nvGrpSpPr>
      <p:grpSpPr>
        <a:xfrm>
          <a:off x="0" y="0"/>
          <a:ext cx="0" cy="0"/>
          <a:chOff x="0" y="0"/>
          <a:chExt cx="0" cy="0"/>
        </a:xfrm>
      </p:grpSpPr>
    </p:spTree>
    <p:extLst>
      <p:ext uri="{BB962C8B-B14F-4D97-AF65-F5344CB8AC3E}">
        <p14:creationId xmlns:p14="http://schemas.microsoft.com/office/powerpoint/2010/main" val="35282200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09C2D-F040-78E6-DD9B-00AC84CAA3AB}"/>
            </a:ext>
          </a:extLst>
        </p:cNvPr>
        <p:cNvGrpSpPr/>
        <p:nvPr/>
      </p:nvGrpSpPr>
      <p:grpSpPr>
        <a:xfrm>
          <a:off x="0" y="0"/>
          <a:ext cx="0" cy="0"/>
          <a:chOff x="0" y="0"/>
          <a:chExt cx="0" cy="0"/>
        </a:xfrm>
      </p:grpSpPr>
    </p:spTree>
    <p:extLst>
      <p:ext uri="{BB962C8B-B14F-4D97-AF65-F5344CB8AC3E}">
        <p14:creationId xmlns:p14="http://schemas.microsoft.com/office/powerpoint/2010/main" val="125007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263D5-F352-EAA7-74F0-A6DE67CBD075}"/>
            </a:ext>
          </a:extLst>
        </p:cNvPr>
        <p:cNvGrpSpPr/>
        <p:nvPr/>
      </p:nvGrpSpPr>
      <p:grpSpPr>
        <a:xfrm>
          <a:off x="0" y="0"/>
          <a:ext cx="0" cy="0"/>
          <a:chOff x="0" y="0"/>
          <a:chExt cx="0" cy="0"/>
        </a:xfrm>
      </p:grpSpPr>
    </p:spTree>
    <p:extLst>
      <p:ext uri="{BB962C8B-B14F-4D97-AF65-F5344CB8AC3E}">
        <p14:creationId xmlns:p14="http://schemas.microsoft.com/office/powerpoint/2010/main" val="763064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B1E5E-CDE1-A6B0-BC87-662752729A8D}"/>
            </a:ext>
          </a:extLst>
        </p:cNvPr>
        <p:cNvGrpSpPr/>
        <p:nvPr/>
      </p:nvGrpSpPr>
      <p:grpSpPr>
        <a:xfrm>
          <a:off x="0" y="0"/>
          <a:ext cx="0" cy="0"/>
          <a:chOff x="0" y="0"/>
          <a:chExt cx="0" cy="0"/>
        </a:xfrm>
      </p:grpSpPr>
    </p:spTree>
    <p:extLst>
      <p:ext uri="{BB962C8B-B14F-4D97-AF65-F5344CB8AC3E}">
        <p14:creationId xmlns:p14="http://schemas.microsoft.com/office/powerpoint/2010/main" val="21651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C157C-7E71-00DD-B11C-77BDBC4BF8C5}"/>
            </a:ext>
          </a:extLst>
        </p:cNvPr>
        <p:cNvGrpSpPr/>
        <p:nvPr/>
      </p:nvGrpSpPr>
      <p:grpSpPr>
        <a:xfrm>
          <a:off x="0" y="0"/>
          <a:ext cx="0" cy="0"/>
          <a:chOff x="0" y="0"/>
          <a:chExt cx="0" cy="0"/>
        </a:xfrm>
      </p:grpSpPr>
    </p:spTree>
    <p:extLst>
      <p:ext uri="{BB962C8B-B14F-4D97-AF65-F5344CB8AC3E}">
        <p14:creationId xmlns:p14="http://schemas.microsoft.com/office/powerpoint/2010/main" val="26236135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93A60-7F4A-4075-E419-85EE761A0B16}"/>
            </a:ext>
          </a:extLst>
        </p:cNvPr>
        <p:cNvGrpSpPr/>
        <p:nvPr/>
      </p:nvGrpSpPr>
      <p:grpSpPr>
        <a:xfrm>
          <a:off x="0" y="0"/>
          <a:ext cx="0" cy="0"/>
          <a:chOff x="0" y="0"/>
          <a:chExt cx="0" cy="0"/>
        </a:xfrm>
      </p:grpSpPr>
    </p:spTree>
    <p:extLst>
      <p:ext uri="{BB962C8B-B14F-4D97-AF65-F5344CB8AC3E}">
        <p14:creationId xmlns:p14="http://schemas.microsoft.com/office/powerpoint/2010/main" val="1008188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2FCAA-5208-4115-0033-78F3F505C61C}"/>
            </a:ext>
          </a:extLst>
        </p:cNvPr>
        <p:cNvGrpSpPr/>
        <p:nvPr/>
      </p:nvGrpSpPr>
      <p:grpSpPr>
        <a:xfrm>
          <a:off x="0" y="0"/>
          <a:ext cx="0" cy="0"/>
          <a:chOff x="0" y="0"/>
          <a:chExt cx="0" cy="0"/>
        </a:xfrm>
      </p:grpSpPr>
    </p:spTree>
    <p:extLst>
      <p:ext uri="{BB962C8B-B14F-4D97-AF65-F5344CB8AC3E}">
        <p14:creationId xmlns:p14="http://schemas.microsoft.com/office/powerpoint/2010/main" val="23357814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C0856-9563-310D-DEF0-85E9C971EA8A}"/>
            </a:ext>
          </a:extLst>
        </p:cNvPr>
        <p:cNvGrpSpPr/>
        <p:nvPr/>
      </p:nvGrpSpPr>
      <p:grpSpPr>
        <a:xfrm>
          <a:off x="0" y="0"/>
          <a:ext cx="0" cy="0"/>
          <a:chOff x="0" y="0"/>
          <a:chExt cx="0" cy="0"/>
        </a:xfrm>
      </p:grpSpPr>
    </p:spTree>
    <p:extLst>
      <p:ext uri="{BB962C8B-B14F-4D97-AF65-F5344CB8AC3E}">
        <p14:creationId xmlns:p14="http://schemas.microsoft.com/office/powerpoint/2010/main" val="27264838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3E893-EB80-1190-5E28-1A084D7EEC17}"/>
            </a:ext>
          </a:extLst>
        </p:cNvPr>
        <p:cNvGrpSpPr/>
        <p:nvPr/>
      </p:nvGrpSpPr>
      <p:grpSpPr>
        <a:xfrm>
          <a:off x="0" y="0"/>
          <a:ext cx="0" cy="0"/>
          <a:chOff x="0" y="0"/>
          <a:chExt cx="0" cy="0"/>
        </a:xfrm>
      </p:grpSpPr>
    </p:spTree>
    <p:extLst>
      <p:ext uri="{BB962C8B-B14F-4D97-AF65-F5344CB8AC3E}">
        <p14:creationId xmlns:p14="http://schemas.microsoft.com/office/powerpoint/2010/main" val="25516141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4B80D-341B-56C8-4F0C-D26AC95F9B09}"/>
            </a:ext>
          </a:extLst>
        </p:cNvPr>
        <p:cNvGrpSpPr/>
        <p:nvPr/>
      </p:nvGrpSpPr>
      <p:grpSpPr>
        <a:xfrm>
          <a:off x="0" y="0"/>
          <a:ext cx="0" cy="0"/>
          <a:chOff x="0" y="0"/>
          <a:chExt cx="0" cy="0"/>
        </a:xfrm>
      </p:grpSpPr>
    </p:spTree>
    <p:extLst>
      <p:ext uri="{BB962C8B-B14F-4D97-AF65-F5344CB8AC3E}">
        <p14:creationId xmlns:p14="http://schemas.microsoft.com/office/powerpoint/2010/main" val="17508049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234C0-6502-085A-59CD-B3BA280ADDC1}"/>
            </a:ext>
          </a:extLst>
        </p:cNvPr>
        <p:cNvGrpSpPr/>
        <p:nvPr/>
      </p:nvGrpSpPr>
      <p:grpSpPr>
        <a:xfrm>
          <a:off x="0" y="0"/>
          <a:ext cx="0" cy="0"/>
          <a:chOff x="0" y="0"/>
          <a:chExt cx="0" cy="0"/>
        </a:xfrm>
      </p:grpSpPr>
    </p:spTree>
    <p:extLst>
      <p:ext uri="{BB962C8B-B14F-4D97-AF65-F5344CB8AC3E}">
        <p14:creationId xmlns:p14="http://schemas.microsoft.com/office/powerpoint/2010/main" val="41301174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51C90-DE80-B1CD-912A-A7A37C5C7530}"/>
            </a:ext>
          </a:extLst>
        </p:cNvPr>
        <p:cNvGrpSpPr/>
        <p:nvPr/>
      </p:nvGrpSpPr>
      <p:grpSpPr>
        <a:xfrm>
          <a:off x="0" y="0"/>
          <a:ext cx="0" cy="0"/>
          <a:chOff x="0" y="0"/>
          <a:chExt cx="0" cy="0"/>
        </a:xfrm>
      </p:grpSpPr>
    </p:spTree>
    <p:extLst>
      <p:ext uri="{BB962C8B-B14F-4D97-AF65-F5344CB8AC3E}">
        <p14:creationId xmlns:p14="http://schemas.microsoft.com/office/powerpoint/2010/main" val="15231954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57C93-02CB-83DE-E1F8-98A3723CEC10}"/>
            </a:ext>
          </a:extLst>
        </p:cNvPr>
        <p:cNvGrpSpPr/>
        <p:nvPr/>
      </p:nvGrpSpPr>
      <p:grpSpPr>
        <a:xfrm>
          <a:off x="0" y="0"/>
          <a:ext cx="0" cy="0"/>
          <a:chOff x="0" y="0"/>
          <a:chExt cx="0" cy="0"/>
        </a:xfrm>
      </p:grpSpPr>
    </p:spTree>
    <p:extLst>
      <p:ext uri="{BB962C8B-B14F-4D97-AF65-F5344CB8AC3E}">
        <p14:creationId xmlns:p14="http://schemas.microsoft.com/office/powerpoint/2010/main" val="3958588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CB1A1-0DEC-6A82-7852-7AC16BEECE90}"/>
            </a:ext>
          </a:extLst>
        </p:cNvPr>
        <p:cNvGrpSpPr/>
        <p:nvPr/>
      </p:nvGrpSpPr>
      <p:grpSpPr>
        <a:xfrm>
          <a:off x="0" y="0"/>
          <a:ext cx="0" cy="0"/>
          <a:chOff x="0" y="0"/>
          <a:chExt cx="0" cy="0"/>
        </a:xfrm>
      </p:grpSpPr>
    </p:spTree>
    <p:extLst>
      <p:ext uri="{BB962C8B-B14F-4D97-AF65-F5344CB8AC3E}">
        <p14:creationId xmlns:p14="http://schemas.microsoft.com/office/powerpoint/2010/main" val="31339317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61950-3DA7-C568-07AB-C3FB6F741BC1}"/>
            </a:ext>
          </a:extLst>
        </p:cNvPr>
        <p:cNvGrpSpPr/>
        <p:nvPr/>
      </p:nvGrpSpPr>
      <p:grpSpPr>
        <a:xfrm>
          <a:off x="0" y="0"/>
          <a:ext cx="0" cy="0"/>
          <a:chOff x="0" y="0"/>
          <a:chExt cx="0" cy="0"/>
        </a:xfrm>
      </p:grpSpPr>
    </p:spTree>
    <p:extLst>
      <p:ext uri="{BB962C8B-B14F-4D97-AF65-F5344CB8AC3E}">
        <p14:creationId xmlns:p14="http://schemas.microsoft.com/office/powerpoint/2010/main" val="28480790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B8FA2-6EE9-149C-BAA5-4FFE22C58CCF}"/>
            </a:ext>
          </a:extLst>
        </p:cNvPr>
        <p:cNvGrpSpPr/>
        <p:nvPr/>
      </p:nvGrpSpPr>
      <p:grpSpPr>
        <a:xfrm>
          <a:off x="0" y="0"/>
          <a:ext cx="0" cy="0"/>
          <a:chOff x="0" y="0"/>
          <a:chExt cx="0" cy="0"/>
        </a:xfrm>
      </p:grpSpPr>
    </p:spTree>
    <p:extLst>
      <p:ext uri="{BB962C8B-B14F-4D97-AF65-F5344CB8AC3E}">
        <p14:creationId xmlns:p14="http://schemas.microsoft.com/office/powerpoint/2010/main" val="23667029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697DF-8BB5-DE2D-7CE6-B2DAADF3E5C4}"/>
            </a:ext>
          </a:extLst>
        </p:cNvPr>
        <p:cNvGrpSpPr/>
        <p:nvPr/>
      </p:nvGrpSpPr>
      <p:grpSpPr>
        <a:xfrm>
          <a:off x="0" y="0"/>
          <a:ext cx="0" cy="0"/>
          <a:chOff x="0" y="0"/>
          <a:chExt cx="0" cy="0"/>
        </a:xfrm>
      </p:grpSpPr>
    </p:spTree>
    <p:extLst>
      <p:ext uri="{BB962C8B-B14F-4D97-AF65-F5344CB8AC3E}">
        <p14:creationId xmlns:p14="http://schemas.microsoft.com/office/powerpoint/2010/main" val="24405599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24DFC-0410-FAEF-2FD3-2EFE4E34CF5B}"/>
            </a:ext>
          </a:extLst>
        </p:cNvPr>
        <p:cNvGrpSpPr/>
        <p:nvPr/>
      </p:nvGrpSpPr>
      <p:grpSpPr>
        <a:xfrm>
          <a:off x="0" y="0"/>
          <a:ext cx="0" cy="0"/>
          <a:chOff x="0" y="0"/>
          <a:chExt cx="0" cy="0"/>
        </a:xfrm>
      </p:grpSpPr>
    </p:spTree>
    <p:extLst>
      <p:ext uri="{BB962C8B-B14F-4D97-AF65-F5344CB8AC3E}">
        <p14:creationId xmlns:p14="http://schemas.microsoft.com/office/powerpoint/2010/main" val="4701438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3DD83-FC48-35DC-EE12-F4F024213B44}"/>
            </a:ext>
          </a:extLst>
        </p:cNvPr>
        <p:cNvGrpSpPr/>
        <p:nvPr/>
      </p:nvGrpSpPr>
      <p:grpSpPr>
        <a:xfrm>
          <a:off x="0" y="0"/>
          <a:ext cx="0" cy="0"/>
          <a:chOff x="0" y="0"/>
          <a:chExt cx="0" cy="0"/>
        </a:xfrm>
      </p:grpSpPr>
    </p:spTree>
    <p:extLst>
      <p:ext uri="{BB962C8B-B14F-4D97-AF65-F5344CB8AC3E}">
        <p14:creationId xmlns:p14="http://schemas.microsoft.com/office/powerpoint/2010/main" val="41036620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5D96C-C62F-EB3B-7E8E-E40D8A48B135}"/>
            </a:ext>
          </a:extLst>
        </p:cNvPr>
        <p:cNvGrpSpPr/>
        <p:nvPr/>
      </p:nvGrpSpPr>
      <p:grpSpPr>
        <a:xfrm>
          <a:off x="0" y="0"/>
          <a:ext cx="0" cy="0"/>
          <a:chOff x="0" y="0"/>
          <a:chExt cx="0" cy="0"/>
        </a:xfrm>
      </p:grpSpPr>
    </p:spTree>
    <p:extLst>
      <p:ext uri="{BB962C8B-B14F-4D97-AF65-F5344CB8AC3E}">
        <p14:creationId xmlns:p14="http://schemas.microsoft.com/office/powerpoint/2010/main" val="23931530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7EA5B-5860-8236-5200-570E159930BD}"/>
            </a:ext>
          </a:extLst>
        </p:cNvPr>
        <p:cNvGrpSpPr/>
        <p:nvPr/>
      </p:nvGrpSpPr>
      <p:grpSpPr>
        <a:xfrm>
          <a:off x="0" y="0"/>
          <a:ext cx="0" cy="0"/>
          <a:chOff x="0" y="0"/>
          <a:chExt cx="0" cy="0"/>
        </a:xfrm>
      </p:grpSpPr>
    </p:spTree>
    <p:extLst>
      <p:ext uri="{BB962C8B-B14F-4D97-AF65-F5344CB8AC3E}">
        <p14:creationId xmlns:p14="http://schemas.microsoft.com/office/powerpoint/2010/main" val="20796822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87591-80CB-26EA-34F3-73F841B64F47}"/>
            </a:ext>
          </a:extLst>
        </p:cNvPr>
        <p:cNvGrpSpPr/>
        <p:nvPr/>
      </p:nvGrpSpPr>
      <p:grpSpPr>
        <a:xfrm>
          <a:off x="0" y="0"/>
          <a:ext cx="0" cy="0"/>
          <a:chOff x="0" y="0"/>
          <a:chExt cx="0" cy="0"/>
        </a:xfrm>
      </p:grpSpPr>
    </p:spTree>
    <p:extLst>
      <p:ext uri="{BB962C8B-B14F-4D97-AF65-F5344CB8AC3E}">
        <p14:creationId xmlns:p14="http://schemas.microsoft.com/office/powerpoint/2010/main" val="1291932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29448-9945-8A2D-3E98-C1980A160BE0}"/>
            </a:ext>
          </a:extLst>
        </p:cNvPr>
        <p:cNvGrpSpPr/>
        <p:nvPr/>
      </p:nvGrpSpPr>
      <p:grpSpPr>
        <a:xfrm>
          <a:off x="0" y="0"/>
          <a:ext cx="0" cy="0"/>
          <a:chOff x="0" y="0"/>
          <a:chExt cx="0" cy="0"/>
        </a:xfrm>
      </p:grpSpPr>
    </p:spTree>
    <p:extLst>
      <p:ext uri="{BB962C8B-B14F-4D97-AF65-F5344CB8AC3E}">
        <p14:creationId xmlns:p14="http://schemas.microsoft.com/office/powerpoint/2010/main" val="8707807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925CC-42D1-6EEB-DB87-1B280C3ED41D}"/>
            </a:ext>
          </a:extLst>
        </p:cNvPr>
        <p:cNvGrpSpPr/>
        <p:nvPr/>
      </p:nvGrpSpPr>
      <p:grpSpPr>
        <a:xfrm>
          <a:off x="0" y="0"/>
          <a:ext cx="0" cy="0"/>
          <a:chOff x="0" y="0"/>
          <a:chExt cx="0" cy="0"/>
        </a:xfrm>
      </p:grpSpPr>
    </p:spTree>
    <p:extLst>
      <p:ext uri="{BB962C8B-B14F-4D97-AF65-F5344CB8AC3E}">
        <p14:creationId xmlns:p14="http://schemas.microsoft.com/office/powerpoint/2010/main" val="39548803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30842-FD4D-9C8C-D56A-B4C3542A74B6}"/>
            </a:ext>
          </a:extLst>
        </p:cNvPr>
        <p:cNvGrpSpPr/>
        <p:nvPr/>
      </p:nvGrpSpPr>
      <p:grpSpPr>
        <a:xfrm>
          <a:off x="0" y="0"/>
          <a:ext cx="0" cy="0"/>
          <a:chOff x="0" y="0"/>
          <a:chExt cx="0" cy="0"/>
        </a:xfrm>
      </p:grpSpPr>
    </p:spTree>
    <p:extLst>
      <p:ext uri="{BB962C8B-B14F-4D97-AF65-F5344CB8AC3E}">
        <p14:creationId xmlns:p14="http://schemas.microsoft.com/office/powerpoint/2010/main" val="14352370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AC70-F469-28D6-0E0E-BA1071CB9FDC}"/>
            </a:ext>
          </a:extLst>
        </p:cNvPr>
        <p:cNvGrpSpPr/>
        <p:nvPr/>
      </p:nvGrpSpPr>
      <p:grpSpPr>
        <a:xfrm>
          <a:off x="0" y="0"/>
          <a:ext cx="0" cy="0"/>
          <a:chOff x="0" y="0"/>
          <a:chExt cx="0" cy="0"/>
        </a:xfrm>
      </p:grpSpPr>
    </p:spTree>
    <p:extLst>
      <p:ext uri="{BB962C8B-B14F-4D97-AF65-F5344CB8AC3E}">
        <p14:creationId xmlns:p14="http://schemas.microsoft.com/office/powerpoint/2010/main" val="243527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06E0F-50CD-3B11-1DFD-FC72990330F6}"/>
            </a:ext>
          </a:extLst>
        </p:cNvPr>
        <p:cNvGrpSpPr/>
        <p:nvPr/>
      </p:nvGrpSpPr>
      <p:grpSpPr>
        <a:xfrm>
          <a:off x="0" y="0"/>
          <a:ext cx="0" cy="0"/>
          <a:chOff x="0" y="0"/>
          <a:chExt cx="0" cy="0"/>
        </a:xfrm>
      </p:grpSpPr>
    </p:spTree>
    <p:extLst>
      <p:ext uri="{BB962C8B-B14F-4D97-AF65-F5344CB8AC3E}">
        <p14:creationId xmlns:p14="http://schemas.microsoft.com/office/powerpoint/2010/main" val="26230847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11B39-F064-775A-9411-E73929C1D279}"/>
            </a:ext>
          </a:extLst>
        </p:cNvPr>
        <p:cNvGrpSpPr/>
        <p:nvPr/>
      </p:nvGrpSpPr>
      <p:grpSpPr>
        <a:xfrm>
          <a:off x="0" y="0"/>
          <a:ext cx="0" cy="0"/>
          <a:chOff x="0" y="0"/>
          <a:chExt cx="0" cy="0"/>
        </a:xfrm>
      </p:grpSpPr>
    </p:spTree>
    <p:extLst>
      <p:ext uri="{BB962C8B-B14F-4D97-AF65-F5344CB8AC3E}">
        <p14:creationId xmlns:p14="http://schemas.microsoft.com/office/powerpoint/2010/main" val="281360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65BB2-BFB1-CCC2-B55F-CF392C3DE129}"/>
            </a:ext>
          </a:extLst>
        </p:cNvPr>
        <p:cNvGrpSpPr/>
        <p:nvPr/>
      </p:nvGrpSpPr>
      <p:grpSpPr>
        <a:xfrm>
          <a:off x="0" y="0"/>
          <a:ext cx="0" cy="0"/>
          <a:chOff x="0" y="0"/>
          <a:chExt cx="0" cy="0"/>
        </a:xfrm>
      </p:grpSpPr>
    </p:spTree>
    <p:extLst>
      <p:ext uri="{BB962C8B-B14F-4D97-AF65-F5344CB8AC3E}">
        <p14:creationId xmlns:p14="http://schemas.microsoft.com/office/powerpoint/2010/main" val="32548526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386E9-3127-3EDA-6557-CEF76A86D7F9}"/>
            </a:ext>
          </a:extLst>
        </p:cNvPr>
        <p:cNvGrpSpPr/>
        <p:nvPr/>
      </p:nvGrpSpPr>
      <p:grpSpPr>
        <a:xfrm>
          <a:off x="0" y="0"/>
          <a:ext cx="0" cy="0"/>
          <a:chOff x="0" y="0"/>
          <a:chExt cx="0" cy="0"/>
        </a:xfrm>
      </p:grpSpPr>
    </p:spTree>
    <p:extLst>
      <p:ext uri="{BB962C8B-B14F-4D97-AF65-F5344CB8AC3E}">
        <p14:creationId xmlns:p14="http://schemas.microsoft.com/office/powerpoint/2010/main" val="7415128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B79DE-BA72-F671-6D57-9F372D222487}"/>
            </a:ext>
          </a:extLst>
        </p:cNvPr>
        <p:cNvGrpSpPr/>
        <p:nvPr/>
      </p:nvGrpSpPr>
      <p:grpSpPr>
        <a:xfrm>
          <a:off x="0" y="0"/>
          <a:ext cx="0" cy="0"/>
          <a:chOff x="0" y="0"/>
          <a:chExt cx="0" cy="0"/>
        </a:xfrm>
      </p:grpSpPr>
    </p:spTree>
    <p:extLst>
      <p:ext uri="{BB962C8B-B14F-4D97-AF65-F5344CB8AC3E}">
        <p14:creationId xmlns:p14="http://schemas.microsoft.com/office/powerpoint/2010/main" val="26190612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C9F7E-9983-7851-B4B5-4B43F29EA470}"/>
            </a:ext>
          </a:extLst>
        </p:cNvPr>
        <p:cNvGrpSpPr/>
        <p:nvPr/>
      </p:nvGrpSpPr>
      <p:grpSpPr>
        <a:xfrm>
          <a:off x="0" y="0"/>
          <a:ext cx="0" cy="0"/>
          <a:chOff x="0" y="0"/>
          <a:chExt cx="0" cy="0"/>
        </a:xfrm>
      </p:grpSpPr>
    </p:spTree>
    <p:extLst>
      <p:ext uri="{BB962C8B-B14F-4D97-AF65-F5344CB8AC3E}">
        <p14:creationId xmlns:p14="http://schemas.microsoft.com/office/powerpoint/2010/main" val="22578588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CDBD1-6A27-5F93-91B3-91C2B7F6AC20}"/>
            </a:ext>
          </a:extLst>
        </p:cNvPr>
        <p:cNvGrpSpPr/>
        <p:nvPr/>
      </p:nvGrpSpPr>
      <p:grpSpPr>
        <a:xfrm>
          <a:off x="0" y="0"/>
          <a:ext cx="0" cy="0"/>
          <a:chOff x="0" y="0"/>
          <a:chExt cx="0" cy="0"/>
        </a:xfrm>
      </p:grpSpPr>
    </p:spTree>
    <p:extLst>
      <p:ext uri="{BB962C8B-B14F-4D97-AF65-F5344CB8AC3E}">
        <p14:creationId xmlns:p14="http://schemas.microsoft.com/office/powerpoint/2010/main" val="15510496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7AA9C-661F-B1F3-C775-9B8565CE5B90}"/>
            </a:ext>
          </a:extLst>
        </p:cNvPr>
        <p:cNvGrpSpPr/>
        <p:nvPr/>
      </p:nvGrpSpPr>
      <p:grpSpPr>
        <a:xfrm>
          <a:off x="0" y="0"/>
          <a:ext cx="0" cy="0"/>
          <a:chOff x="0" y="0"/>
          <a:chExt cx="0" cy="0"/>
        </a:xfrm>
      </p:grpSpPr>
    </p:spTree>
    <p:extLst>
      <p:ext uri="{BB962C8B-B14F-4D97-AF65-F5344CB8AC3E}">
        <p14:creationId xmlns:p14="http://schemas.microsoft.com/office/powerpoint/2010/main" val="30713279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A5E3-BD05-87C9-6C1C-F7FAAF33BE18}"/>
            </a:ext>
          </a:extLst>
        </p:cNvPr>
        <p:cNvGrpSpPr/>
        <p:nvPr/>
      </p:nvGrpSpPr>
      <p:grpSpPr>
        <a:xfrm>
          <a:off x="0" y="0"/>
          <a:ext cx="0" cy="0"/>
          <a:chOff x="0" y="0"/>
          <a:chExt cx="0" cy="0"/>
        </a:xfrm>
      </p:grpSpPr>
    </p:spTree>
    <p:extLst>
      <p:ext uri="{BB962C8B-B14F-4D97-AF65-F5344CB8AC3E}">
        <p14:creationId xmlns:p14="http://schemas.microsoft.com/office/powerpoint/2010/main" val="1570452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69677-3E7F-9607-7299-044FAC57B403}"/>
            </a:ext>
          </a:extLst>
        </p:cNvPr>
        <p:cNvGrpSpPr/>
        <p:nvPr/>
      </p:nvGrpSpPr>
      <p:grpSpPr>
        <a:xfrm>
          <a:off x="0" y="0"/>
          <a:ext cx="0" cy="0"/>
          <a:chOff x="0" y="0"/>
          <a:chExt cx="0" cy="0"/>
        </a:xfrm>
      </p:grpSpPr>
    </p:spTree>
    <p:extLst>
      <p:ext uri="{BB962C8B-B14F-4D97-AF65-F5344CB8AC3E}">
        <p14:creationId xmlns:p14="http://schemas.microsoft.com/office/powerpoint/2010/main" val="10884244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AF79C-90CB-21CE-4937-EB56E77B59F5}"/>
            </a:ext>
          </a:extLst>
        </p:cNvPr>
        <p:cNvGrpSpPr/>
        <p:nvPr/>
      </p:nvGrpSpPr>
      <p:grpSpPr>
        <a:xfrm>
          <a:off x="0" y="0"/>
          <a:ext cx="0" cy="0"/>
          <a:chOff x="0" y="0"/>
          <a:chExt cx="0" cy="0"/>
        </a:xfrm>
      </p:grpSpPr>
    </p:spTree>
    <p:extLst>
      <p:ext uri="{BB962C8B-B14F-4D97-AF65-F5344CB8AC3E}">
        <p14:creationId xmlns:p14="http://schemas.microsoft.com/office/powerpoint/2010/main" val="39775751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DF3B4-10A3-F97C-DE8D-A21ED2B1B493}"/>
            </a:ext>
          </a:extLst>
        </p:cNvPr>
        <p:cNvGrpSpPr/>
        <p:nvPr/>
      </p:nvGrpSpPr>
      <p:grpSpPr>
        <a:xfrm>
          <a:off x="0" y="0"/>
          <a:ext cx="0" cy="0"/>
          <a:chOff x="0" y="0"/>
          <a:chExt cx="0" cy="0"/>
        </a:xfrm>
      </p:grpSpPr>
    </p:spTree>
    <p:extLst>
      <p:ext uri="{BB962C8B-B14F-4D97-AF65-F5344CB8AC3E}">
        <p14:creationId xmlns:p14="http://schemas.microsoft.com/office/powerpoint/2010/main" val="18625177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B5A51-AA7F-ECAF-41AE-666585F46A71}"/>
            </a:ext>
          </a:extLst>
        </p:cNvPr>
        <p:cNvGrpSpPr/>
        <p:nvPr/>
      </p:nvGrpSpPr>
      <p:grpSpPr>
        <a:xfrm>
          <a:off x="0" y="0"/>
          <a:ext cx="0" cy="0"/>
          <a:chOff x="0" y="0"/>
          <a:chExt cx="0" cy="0"/>
        </a:xfrm>
      </p:grpSpPr>
    </p:spTree>
    <p:extLst>
      <p:ext uri="{BB962C8B-B14F-4D97-AF65-F5344CB8AC3E}">
        <p14:creationId xmlns:p14="http://schemas.microsoft.com/office/powerpoint/2010/main" val="20199127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408AB-3FEA-D9E8-2260-D0EB5D4029D6}"/>
            </a:ext>
          </a:extLst>
        </p:cNvPr>
        <p:cNvGrpSpPr/>
        <p:nvPr/>
      </p:nvGrpSpPr>
      <p:grpSpPr>
        <a:xfrm>
          <a:off x="0" y="0"/>
          <a:ext cx="0" cy="0"/>
          <a:chOff x="0" y="0"/>
          <a:chExt cx="0" cy="0"/>
        </a:xfrm>
      </p:grpSpPr>
    </p:spTree>
    <p:extLst>
      <p:ext uri="{BB962C8B-B14F-4D97-AF65-F5344CB8AC3E}">
        <p14:creationId xmlns:p14="http://schemas.microsoft.com/office/powerpoint/2010/main" val="16776248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D11B9-028C-5DD4-A32D-5F68742A9264}"/>
            </a:ext>
          </a:extLst>
        </p:cNvPr>
        <p:cNvGrpSpPr/>
        <p:nvPr/>
      </p:nvGrpSpPr>
      <p:grpSpPr>
        <a:xfrm>
          <a:off x="0" y="0"/>
          <a:ext cx="0" cy="0"/>
          <a:chOff x="0" y="0"/>
          <a:chExt cx="0" cy="0"/>
        </a:xfrm>
      </p:grpSpPr>
    </p:spTree>
    <p:extLst>
      <p:ext uri="{BB962C8B-B14F-4D97-AF65-F5344CB8AC3E}">
        <p14:creationId xmlns:p14="http://schemas.microsoft.com/office/powerpoint/2010/main" val="29966819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433DC-6598-AE34-6561-657045E651C2}"/>
            </a:ext>
          </a:extLst>
        </p:cNvPr>
        <p:cNvGrpSpPr/>
        <p:nvPr/>
      </p:nvGrpSpPr>
      <p:grpSpPr>
        <a:xfrm>
          <a:off x="0" y="0"/>
          <a:ext cx="0" cy="0"/>
          <a:chOff x="0" y="0"/>
          <a:chExt cx="0" cy="0"/>
        </a:xfrm>
      </p:grpSpPr>
    </p:spTree>
    <p:extLst>
      <p:ext uri="{BB962C8B-B14F-4D97-AF65-F5344CB8AC3E}">
        <p14:creationId xmlns:p14="http://schemas.microsoft.com/office/powerpoint/2010/main" val="29060760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A9814-5741-BF68-57BD-61191B08B0D3}"/>
            </a:ext>
          </a:extLst>
        </p:cNvPr>
        <p:cNvGrpSpPr/>
        <p:nvPr/>
      </p:nvGrpSpPr>
      <p:grpSpPr>
        <a:xfrm>
          <a:off x="0" y="0"/>
          <a:ext cx="0" cy="0"/>
          <a:chOff x="0" y="0"/>
          <a:chExt cx="0" cy="0"/>
        </a:xfrm>
      </p:grpSpPr>
    </p:spTree>
    <p:extLst>
      <p:ext uri="{BB962C8B-B14F-4D97-AF65-F5344CB8AC3E}">
        <p14:creationId xmlns:p14="http://schemas.microsoft.com/office/powerpoint/2010/main" val="40264529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B12D9-7743-8E75-BF87-F74CE415798D}"/>
            </a:ext>
          </a:extLst>
        </p:cNvPr>
        <p:cNvGrpSpPr/>
        <p:nvPr/>
      </p:nvGrpSpPr>
      <p:grpSpPr>
        <a:xfrm>
          <a:off x="0" y="0"/>
          <a:ext cx="0" cy="0"/>
          <a:chOff x="0" y="0"/>
          <a:chExt cx="0" cy="0"/>
        </a:xfrm>
      </p:grpSpPr>
    </p:spTree>
    <p:extLst>
      <p:ext uri="{BB962C8B-B14F-4D97-AF65-F5344CB8AC3E}">
        <p14:creationId xmlns:p14="http://schemas.microsoft.com/office/powerpoint/2010/main" val="23174730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C3C42-195E-1AA6-666E-9DDDDC7291C4}"/>
            </a:ext>
          </a:extLst>
        </p:cNvPr>
        <p:cNvGrpSpPr/>
        <p:nvPr/>
      </p:nvGrpSpPr>
      <p:grpSpPr>
        <a:xfrm>
          <a:off x="0" y="0"/>
          <a:ext cx="0" cy="0"/>
          <a:chOff x="0" y="0"/>
          <a:chExt cx="0" cy="0"/>
        </a:xfrm>
      </p:grpSpPr>
    </p:spTree>
    <p:extLst>
      <p:ext uri="{BB962C8B-B14F-4D97-AF65-F5344CB8AC3E}">
        <p14:creationId xmlns:p14="http://schemas.microsoft.com/office/powerpoint/2010/main" val="5201467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CFC9-20DE-11FF-066F-212F321A7C1B}"/>
            </a:ext>
          </a:extLst>
        </p:cNvPr>
        <p:cNvGrpSpPr/>
        <p:nvPr/>
      </p:nvGrpSpPr>
      <p:grpSpPr>
        <a:xfrm>
          <a:off x="0" y="0"/>
          <a:ext cx="0" cy="0"/>
          <a:chOff x="0" y="0"/>
          <a:chExt cx="0" cy="0"/>
        </a:xfrm>
      </p:grpSpPr>
    </p:spTree>
    <p:extLst>
      <p:ext uri="{BB962C8B-B14F-4D97-AF65-F5344CB8AC3E}">
        <p14:creationId xmlns:p14="http://schemas.microsoft.com/office/powerpoint/2010/main" val="7537654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3B9AB-DD08-57A9-3937-3178F40B8ABB}"/>
            </a:ext>
          </a:extLst>
        </p:cNvPr>
        <p:cNvGrpSpPr/>
        <p:nvPr/>
      </p:nvGrpSpPr>
      <p:grpSpPr>
        <a:xfrm>
          <a:off x="0" y="0"/>
          <a:ext cx="0" cy="0"/>
          <a:chOff x="0" y="0"/>
          <a:chExt cx="0" cy="0"/>
        </a:xfrm>
      </p:grpSpPr>
    </p:spTree>
    <p:extLst>
      <p:ext uri="{BB962C8B-B14F-4D97-AF65-F5344CB8AC3E}">
        <p14:creationId xmlns:p14="http://schemas.microsoft.com/office/powerpoint/2010/main" val="40820340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31B59-6FFA-DE4E-A87E-7C2F448F358F}"/>
            </a:ext>
          </a:extLst>
        </p:cNvPr>
        <p:cNvGrpSpPr/>
        <p:nvPr/>
      </p:nvGrpSpPr>
      <p:grpSpPr>
        <a:xfrm>
          <a:off x="0" y="0"/>
          <a:ext cx="0" cy="0"/>
          <a:chOff x="0" y="0"/>
          <a:chExt cx="0" cy="0"/>
        </a:xfrm>
      </p:grpSpPr>
    </p:spTree>
    <p:extLst>
      <p:ext uri="{BB962C8B-B14F-4D97-AF65-F5344CB8AC3E}">
        <p14:creationId xmlns:p14="http://schemas.microsoft.com/office/powerpoint/2010/main" val="15893815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A4660-17B1-E4B5-CE8C-A6BA4F033429}"/>
            </a:ext>
          </a:extLst>
        </p:cNvPr>
        <p:cNvGrpSpPr/>
        <p:nvPr/>
      </p:nvGrpSpPr>
      <p:grpSpPr>
        <a:xfrm>
          <a:off x="0" y="0"/>
          <a:ext cx="0" cy="0"/>
          <a:chOff x="0" y="0"/>
          <a:chExt cx="0" cy="0"/>
        </a:xfrm>
      </p:grpSpPr>
    </p:spTree>
    <p:extLst>
      <p:ext uri="{BB962C8B-B14F-4D97-AF65-F5344CB8AC3E}">
        <p14:creationId xmlns:p14="http://schemas.microsoft.com/office/powerpoint/2010/main" val="20308453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D92DC-5F54-1150-3E2B-D0217D6B462B}"/>
            </a:ext>
          </a:extLst>
        </p:cNvPr>
        <p:cNvGrpSpPr/>
        <p:nvPr/>
      </p:nvGrpSpPr>
      <p:grpSpPr>
        <a:xfrm>
          <a:off x="0" y="0"/>
          <a:ext cx="0" cy="0"/>
          <a:chOff x="0" y="0"/>
          <a:chExt cx="0" cy="0"/>
        </a:xfrm>
      </p:grpSpPr>
    </p:spTree>
    <p:extLst>
      <p:ext uri="{BB962C8B-B14F-4D97-AF65-F5344CB8AC3E}">
        <p14:creationId xmlns:p14="http://schemas.microsoft.com/office/powerpoint/2010/main" val="9394175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69C64-8DDE-13EF-04ED-E030FEAF9144}"/>
            </a:ext>
          </a:extLst>
        </p:cNvPr>
        <p:cNvGrpSpPr/>
        <p:nvPr/>
      </p:nvGrpSpPr>
      <p:grpSpPr>
        <a:xfrm>
          <a:off x="0" y="0"/>
          <a:ext cx="0" cy="0"/>
          <a:chOff x="0" y="0"/>
          <a:chExt cx="0" cy="0"/>
        </a:xfrm>
      </p:grpSpPr>
    </p:spTree>
    <p:extLst>
      <p:ext uri="{BB962C8B-B14F-4D97-AF65-F5344CB8AC3E}">
        <p14:creationId xmlns:p14="http://schemas.microsoft.com/office/powerpoint/2010/main" val="5196493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08D3A-A235-1877-D051-FCC3A9ADADB6}"/>
            </a:ext>
          </a:extLst>
        </p:cNvPr>
        <p:cNvGrpSpPr/>
        <p:nvPr/>
      </p:nvGrpSpPr>
      <p:grpSpPr>
        <a:xfrm>
          <a:off x="0" y="0"/>
          <a:ext cx="0" cy="0"/>
          <a:chOff x="0" y="0"/>
          <a:chExt cx="0" cy="0"/>
        </a:xfrm>
      </p:grpSpPr>
    </p:spTree>
    <p:extLst>
      <p:ext uri="{BB962C8B-B14F-4D97-AF65-F5344CB8AC3E}">
        <p14:creationId xmlns:p14="http://schemas.microsoft.com/office/powerpoint/2010/main" val="18976342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26905-7CCD-FCB2-1A7E-E8BB36BCA071}"/>
            </a:ext>
          </a:extLst>
        </p:cNvPr>
        <p:cNvGrpSpPr/>
        <p:nvPr/>
      </p:nvGrpSpPr>
      <p:grpSpPr>
        <a:xfrm>
          <a:off x="0" y="0"/>
          <a:ext cx="0" cy="0"/>
          <a:chOff x="0" y="0"/>
          <a:chExt cx="0" cy="0"/>
        </a:xfrm>
      </p:grpSpPr>
    </p:spTree>
    <p:extLst>
      <p:ext uri="{BB962C8B-B14F-4D97-AF65-F5344CB8AC3E}">
        <p14:creationId xmlns:p14="http://schemas.microsoft.com/office/powerpoint/2010/main" val="16542573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6F266-AAFE-19DB-00DC-19E75491FCA9}"/>
            </a:ext>
          </a:extLst>
        </p:cNvPr>
        <p:cNvGrpSpPr/>
        <p:nvPr/>
      </p:nvGrpSpPr>
      <p:grpSpPr>
        <a:xfrm>
          <a:off x="0" y="0"/>
          <a:ext cx="0" cy="0"/>
          <a:chOff x="0" y="0"/>
          <a:chExt cx="0" cy="0"/>
        </a:xfrm>
      </p:grpSpPr>
    </p:spTree>
    <p:extLst>
      <p:ext uri="{BB962C8B-B14F-4D97-AF65-F5344CB8AC3E}">
        <p14:creationId xmlns:p14="http://schemas.microsoft.com/office/powerpoint/2010/main" val="7932197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0D1BF-A172-3FF0-903F-2AD081E8C22D}"/>
            </a:ext>
          </a:extLst>
        </p:cNvPr>
        <p:cNvGrpSpPr/>
        <p:nvPr/>
      </p:nvGrpSpPr>
      <p:grpSpPr>
        <a:xfrm>
          <a:off x="0" y="0"/>
          <a:ext cx="0" cy="0"/>
          <a:chOff x="0" y="0"/>
          <a:chExt cx="0" cy="0"/>
        </a:xfrm>
      </p:grpSpPr>
    </p:spTree>
    <p:extLst>
      <p:ext uri="{BB962C8B-B14F-4D97-AF65-F5344CB8AC3E}">
        <p14:creationId xmlns:p14="http://schemas.microsoft.com/office/powerpoint/2010/main" val="34540371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70E42-E71B-A766-657B-A4466062A4CE}"/>
            </a:ext>
          </a:extLst>
        </p:cNvPr>
        <p:cNvGrpSpPr/>
        <p:nvPr/>
      </p:nvGrpSpPr>
      <p:grpSpPr>
        <a:xfrm>
          <a:off x="0" y="0"/>
          <a:ext cx="0" cy="0"/>
          <a:chOff x="0" y="0"/>
          <a:chExt cx="0" cy="0"/>
        </a:xfrm>
      </p:grpSpPr>
    </p:spTree>
    <p:extLst>
      <p:ext uri="{BB962C8B-B14F-4D97-AF65-F5344CB8AC3E}">
        <p14:creationId xmlns:p14="http://schemas.microsoft.com/office/powerpoint/2010/main" val="101582018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E7962-935A-C6CA-3B98-1DCA176402AB}"/>
            </a:ext>
          </a:extLst>
        </p:cNvPr>
        <p:cNvGrpSpPr/>
        <p:nvPr/>
      </p:nvGrpSpPr>
      <p:grpSpPr>
        <a:xfrm>
          <a:off x="0" y="0"/>
          <a:ext cx="0" cy="0"/>
          <a:chOff x="0" y="0"/>
          <a:chExt cx="0" cy="0"/>
        </a:xfrm>
      </p:grpSpPr>
    </p:spTree>
    <p:extLst>
      <p:ext uri="{BB962C8B-B14F-4D97-AF65-F5344CB8AC3E}">
        <p14:creationId xmlns:p14="http://schemas.microsoft.com/office/powerpoint/2010/main" val="18148183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C3D3E-7A80-5937-D445-0BC611F6D275}"/>
            </a:ext>
          </a:extLst>
        </p:cNvPr>
        <p:cNvGrpSpPr/>
        <p:nvPr/>
      </p:nvGrpSpPr>
      <p:grpSpPr>
        <a:xfrm>
          <a:off x="0" y="0"/>
          <a:ext cx="0" cy="0"/>
          <a:chOff x="0" y="0"/>
          <a:chExt cx="0" cy="0"/>
        </a:xfrm>
      </p:grpSpPr>
    </p:spTree>
    <p:extLst>
      <p:ext uri="{BB962C8B-B14F-4D97-AF65-F5344CB8AC3E}">
        <p14:creationId xmlns:p14="http://schemas.microsoft.com/office/powerpoint/2010/main" val="23590527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39288-3934-3EE8-8DA0-8B55FB44D752}"/>
            </a:ext>
          </a:extLst>
        </p:cNvPr>
        <p:cNvGrpSpPr/>
        <p:nvPr/>
      </p:nvGrpSpPr>
      <p:grpSpPr>
        <a:xfrm>
          <a:off x="0" y="0"/>
          <a:ext cx="0" cy="0"/>
          <a:chOff x="0" y="0"/>
          <a:chExt cx="0" cy="0"/>
        </a:xfrm>
      </p:grpSpPr>
    </p:spTree>
    <p:extLst>
      <p:ext uri="{BB962C8B-B14F-4D97-AF65-F5344CB8AC3E}">
        <p14:creationId xmlns:p14="http://schemas.microsoft.com/office/powerpoint/2010/main" val="29035611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44358-7458-9EBA-410C-00B1A20E7B47}"/>
            </a:ext>
          </a:extLst>
        </p:cNvPr>
        <p:cNvGrpSpPr/>
        <p:nvPr/>
      </p:nvGrpSpPr>
      <p:grpSpPr>
        <a:xfrm>
          <a:off x="0" y="0"/>
          <a:ext cx="0" cy="0"/>
          <a:chOff x="0" y="0"/>
          <a:chExt cx="0" cy="0"/>
        </a:xfrm>
      </p:grpSpPr>
    </p:spTree>
    <p:extLst>
      <p:ext uri="{BB962C8B-B14F-4D97-AF65-F5344CB8AC3E}">
        <p14:creationId xmlns:p14="http://schemas.microsoft.com/office/powerpoint/2010/main" val="188276075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474C8-E1F0-54A0-7DB7-A4F186252A1E}"/>
            </a:ext>
          </a:extLst>
        </p:cNvPr>
        <p:cNvGrpSpPr/>
        <p:nvPr/>
      </p:nvGrpSpPr>
      <p:grpSpPr>
        <a:xfrm>
          <a:off x="0" y="0"/>
          <a:ext cx="0" cy="0"/>
          <a:chOff x="0" y="0"/>
          <a:chExt cx="0" cy="0"/>
        </a:xfrm>
      </p:grpSpPr>
    </p:spTree>
    <p:extLst>
      <p:ext uri="{BB962C8B-B14F-4D97-AF65-F5344CB8AC3E}">
        <p14:creationId xmlns:p14="http://schemas.microsoft.com/office/powerpoint/2010/main" val="22274136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8BA5F-0737-1C9E-B34A-C8D0C6CC18C7}"/>
            </a:ext>
          </a:extLst>
        </p:cNvPr>
        <p:cNvGrpSpPr/>
        <p:nvPr/>
      </p:nvGrpSpPr>
      <p:grpSpPr>
        <a:xfrm>
          <a:off x="0" y="0"/>
          <a:ext cx="0" cy="0"/>
          <a:chOff x="0" y="0"/>
          <a:chExt cx="0" cy="0"/>
        </a:xfrm>
      </p:grpSpPr>
    </p:spTree>
    <p:extLst>
      <p:ext uri="{BB962C8B-B14F-4D97-AF65-F5344CB8AC3E}">
        <p14:creationId xmlns:p14="http://schemas.microsoft.com/office/powerpoint/2010/main" val="75362609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D7587-E788-2173-9FCE-ABF5926BAC41}"/>
            </a:ext>
          </a:extLst>
        </p:cNvPr>
        <p:cNvGrpSpPr/>
        <p:nvPr/>
      </p:nvGrpSpPr>
      <p:grpSpPr>
        <a:xfrm>
          <a:off x="0" y="0"/>
          <a:ext cx="0" cy="0"/>
          <a:chOff x="0" y="0"/>
          <a:chExt cx="0" cy="0"/>
        </a:xfrm>
      </p:grpSpPr>
    </p:spTree>
    <p:extLst>
      <p:ext uri="{BB962C8B-B14F-4D97-AF65-F5344CB8AC3E}">
        <p14:creationId xmlns:p14="http://schemas.microsoft.com/office/powerpoint/2010/main" val="17286601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C10DC-3F44-09D6-0EF4-E117C7AFB14D}"/>
            </a:ext>
          </a:extLst>
        </p:cNvPr>
        <p:cNvGrpSpPr/>
        <p:nvPr/>
      </p:nvGrpSpPr>
      <p:grpSpPr>
        <a:xfrm>
          <a:off x="0" y="0"/>
          <a:ext cx="0" cy="0"/>
          <a:chOff x="0" y="0"/>
          <a:chExt cx="0" cy="0"/>
        </a:xfrm>
      </p:grpSpPr>
    </p:spTree>
    <p:extLst>
      <p:ext uri="{BB962C8B-B14F-4D97-AF65-F5344CB8AC3E}">
        <p14:creationId xmlns:p14="http://schemas.microsoft.com/office/powerpoint/2010/main" val="20082233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AB0F-A5F4-4582-FC01-5E689CFFF87F}"/>
            </a:ext>
          </a:extLst>
        </p:cNvPr>
        <p:cNvGrpSpPr/>
        <p:nvPr/>
      </p:nvGrpSpPr>
      <p:grpSpPr>
        <a:xfrm>
          <a:off x="0" y="0"/>
          <a:ext cx="0" cy="0"/>
          <a:chOff x="0" y="0"/>
          <a:chExt cx="0" cy="0"/>
        </a:xfrm>
      </p:grpSpPr>
    </p:spTree>
    <p:extLst>
      <p:ext uri="{BB962C8B-B14F-4D97-AF65-F5344CB8AC3E}">
        <p14:creationId xmlns:p14="http://schemas.microsoft.com/office/powerpoint/2010/main" val="25299871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84FF4-E87B-CEE7-4340-4A8CF2BFB654}"/>
            </a:ext>
          </a:extLst>
        </p:cNvPr>
        <p:cNvGrpSpPr/>
        <p:nvPr/>
      </p:nvGrpSpPr>
      <p:grpSpPr>
        <a:xfrm>
          <a:off x="0" y="0"/>
          <a:ext cx="0" cy="0"/>
          <a:chOff x="0" y="0"/>
          <a:chExt cx="0" cy="0"/>
        </a:xfrm>
      </p:grpSpPr>
    </p:spTree>
    <p:extLst>
      <p:ext uri="{BB962C8B-B14F-4D97-AF65-F5344CB8AC3E}">
        <p14:creationId xmlns:p14="http://schemas.microsoft.com/office/powerpoint/2010/main" val="119127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E2-575B-DE05-1E7C-0285A3ECC8D1}"/>
            </a:ext>
          </a:extLst>
        </p:cNvPr>
        <p:cNvGrpSpPr/>
        <p:nvPr/>
      </p:nvGrpSpPr>
      <p:grpSpPr>
        <a:xfrm>
          <a:off x="0" y="0"/>
          <a:ext cx="0" cy="0"/>
          <a:chOff x="0" y="0"/>
          <a:chExt cx="0" cy="0"/>
        </a:xfrm>
      </p:grpSpPr>
    </p:spTree>
    <p:extLst>
      <p:ext uri="{BB962C8B-B14F-4D97-AF65-F5344CB8AC3E}">
        <p14:creationId xmlns:p14="http://schemas.microsoft.com/office/powerpoint/2010/main" val="20203731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C7C7E-2D31-F5DA-2FCC-908AF031C200}"/>
            </a:ext>
          </a:extLst>
        </p:cNvPr>
        <p:cNvGrpSpPr/>
        <p:nvPr/>
      </p:nvGrpSpPr>
      <p:grpSpPr>
        <a:xfrm>
          <a:off x="0" y="0"/>
          <a:ext cx="0" cy="0"/>
          <a:chOff x="0" y="0"/>
          <a:chExt cx="0" cy="0"/>
        </a:xfrm>
      </p:grpSpPr>
    </p:spTree>
    <p:extLst>
      <p:ext uri="{BB962C8B-B14F-4D97-AF65-F5344CB8AC3E}">
        <p14:creationId xmlns:p14="http://schemas.microsoft.com/office/powerpoint/2010/main" val="40490989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DCCDD-1A76-AF1A-CCB5-9A78AF6F8424}"/>
            </a:ext>
          </a:extLst>
        </p:cNvPr>
        <p:cNvGrpSpPr/>
        <p:nvPr/>
      </p:nvGrpSpPr>
      <p:grpSpPr>
        <a:xfrm>
          <a:off x="0" y="0"/>
          <a:ext cx="0" cy="0"/>
          <a:chOff x="0" y="0"/>
          <a:chExt cx="0" cy="0"/>
        </a:xfrm>
      </p:grpSpPr>
    </p:spTree>
    <p:extLst>
      <p:ext uri="{BB962C8B-B14F-4D97-AF65-F5344CB8AC3E}">
        <p14:creationId xmlns:p14="http://schemas.microsoft.com/office/powerpoint/2010/main" val="390989250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D685A-5937-3C52-2F3B-74955B1FF06D}"/>
            </a:ext>
          </a:extLst>
        </p:cNvPr>
        <p:cNvGrpSpPr/>
        <p:nvPr/>
      </p:nvGrpSpPr>
      <p:grpSpPr>
        <a:xfrm>
          <a:off x="0" y="0"/>
          <a:ext cx="0" cy="0"/>
          <a:chOff x="0" y="0"/>
          <a:chExt cx="0" cy="0"/>
        </a:xfrm>
      </p:grpSpPr>
    </p:spTree>
    <p:extLst>
      <p:ext uri="{BB962C8B-B14F-4D97-AF65-F5344CB8AC3E}">
        <p14:creationId xmlns:p14="http://schemas.microsoft.com/office/powerpoint/2010/main" val="294505623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9A74E-5113-4DFD-160C-4238D2609F56}"/>
            </a:ext>
          </a:extLst>
        </p:cNvPr>
        <p:cNvGrpSpPr/>
        <p:nvPr/>
      </p:nvGrpSpPr>
      <p:grpSpPr>
        <a:xfrm>
          <a:off x="0" y="0"/>
          <a:ext cx="0" cy="0"/>
          <a:chOff x="0" y="0"/>
          <a:chExt cx="0" cy="0"/>
        </a:xfrm>
      </p:grpSpPr>
    </p:spTree>
    <p:extLst>
      <p:ext uri="{BB962C8B-B14F-4D97-AF65-F5344CB8AC3E}">
        <p14:creationId xmlns:p14="http://schemas.microsoft.com/office/powerpoint/2010/main" val="9688610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71383-6B34-E468-1316-F7BB6A02D075}"/>
            </a:ext>
          </a:extLst>
        </p:cNvPr>
        <p:cNvGrpSpPr/>
        <p:nvPr/>
      </p:nvGrpSpPr>
      <p:grpSpPr>
        <a:xfrm>
          <a:off x="0" y="0"/>
          <a:ext cx="0" cy="0"/>
          <a:chOff x="0" y="0"/>
          <a:chExt cx="0" cy="0"/>
        </a:xfrm>
      </p:grpSpPr>
    </p:spTree>
    <p:extLst>
      <p:ext uri="{BB962C8B-B14F-4D97-AF65-F5344CB8AC3E}">
        <p14:creationId xmlns:p14="http://schemas.microsoft.com/office/powerpoint/2010/main" val="121007572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2D463-FC14-8CA8-6D2C-26A46C3531EB}"/>
            </a:ext>
          </a:extLst>
        </p:cNvPr>
        <p:cNvGrpSpPr/>
        <p:nvPr/>
      </p:nvGrpSpPr>
      <p:grpSpPr>
        <a:xfrm>
          <a:off x="0" y="0"/>
          <a:ext cx="0" cy="0"/>
          <a:chOff x="0" y="0"/>
          <a:chExt cx="0" cy="0"/>
        </a:xfrm>
      </p:grpSpPr>
    </p:spTree>
    <p:extLst>
      <p:ext uri="{BB962C8B-B14F-4D97-AF65-F5344CB8AC3E}">
        <p14:creationId xmlns:p14="http://schemas.microsoft.com/office/powerpoint/2010/main" val="39268473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045A3-7F9A-3D1E-9952-CB829B42141B}"/>
            </a:ext>
          </a:extLst>
        </p:cNvPr>
        <p:cNvGrpSpPr/>
        <p:nvPr/>
      </p:nvGrpSpPr>
      <p:grpSpPr>
        <a:xfrm>
          <a:off x="0" y="0"/>
          <a:ext cx="0" cy="0"/>
          <a:chOff x="0" y="0"/>
          <a:chExt cx="0" cy="0"/>
        </a:xfrm>
      </p:grpSpPr>
    </p:spTree>
    <p:extLst>
      <p:ext uri="{BB962C8B-B14F-4D97-AF65-F5344CB8AC3E}">
        <p14:creationId xmlns:p14="http://schemas.microsoft.com/office/powerpoint/2010/main" val="197770600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BD669-6DBE-F77D-D40F-7C6D96C5C19D}"/>
            </a:ext>
          </a:extLst>
        </p:cNvPr>
        <p:cNvGrpSpPr/>
        <p:nvPr/>
      </p:nvGrpSpPr>
      <p:grpSpPr>
        <a:xfrm>
          <a:off x="0" y="0"/>
          <a:ext cx="0" cy="0"/>
          <a:chOff x="0" y="0"/>
          <a:chExt cx="0" cy="0"/>
        </a:xfrm>
      </p:grpSpPr>
    </p:spTree>
    <p:extLst>
      <p:ext uri="{BB962C8B-B14F-4D97-AF65-F5344CB8AC3E}">
        <p14:creationId xmlns:p14="http://schemas.microsoft.com/office/powerpoint/2010/main" val="173671968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E25A9-6E07-F074-80C0-B8D1E6741BC1}"/>
            </a:ext>
          </a:extLst>
        </p:cNvPr>
        <p:cNvGrpSpPr/>
        <p:nvPr/>
      </p:nvGrpSpPr>
      <p:grpSpPr>
        <a:xfrm>
          <a:off x="0" y="0"/>
          <a:ext cx="0" cy="0"/>
          <a:chOff x="0" y="0"/>
          <a:chExt cx="0" cy="0"/>
        </a:xfrm>
      </p:grpSpPr>
    </p:spTree>
    <p:extLst>
      <p:ext uri="{BB962C8B-B14F-4D97-AF65-F5344CB8AC3E}">
        <p14:creationId xmlns:p14="http://schemas.microsoft.com/office/powerpoint/2010/main" val="38732128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965A7-8CF5-3E06-19C9-4886680E1B18}"/>
            </a:ext>
          </a:extLst>
        </p:cNvPr>
        <p:cNvGrpSpPr/>
        <p:nvPr/>
      </p:nvGrpSpPr>
      <p:grpSpPr>
        <a:xfrm>
          <a:off x="0" y="0"/>
          <a:ext cx="0" cy="0"/>
          <a:chOff x="0" y="0"/>
          <a:chExt cx="0" cy="0"/>
        </a:xfrm>
      </p:grpSpPr>
    </p:spTree>
    <p:extLst>
      <p:ext uri="{BB962C8B-B14F-4D97-AF65-F5344CB8AC3E}">
        <p14:creationId xmlns:p14="http://schemas.microsoft.com/office/powerpoint/2010/main" val="23131665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5E8E8-9926-55CC-14D3-10A08BDEC077}"/>
            </a:ext>
          </a:extLst>
        </p:cNvPr>
        <p:cNvGrpSpPr/>
        <p:nvPr/>
      </p:nvGrpSpPr>
      <p:grpSpPr>
        <a:xfrm>
          <a:off x="0" y="0"/>
          <a:ext cx="0" cy="0"/>
          <a:chOff x="0" y="0"/>
          <a:chExt cx="0" cy="0"/>
        </a:xfrm>
      </p:grpSpPr>
    </p:spTree>
    <p:extLst>
      <p:ext uri="{BB962C8B-B14F-4D97-AF65-F5344CB8AC3E}">
        <p14:creationId xmlns:p14="http://schemas.microsoft.com/office/powerpoint/2010/main" val="155795131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38A96-9E7C-76A2-3967-042D834D1CF9}"/>
            </a:ext>
          </a:extLst>
        </p:cNvPr>
        <p:cNvGrpSpPr/>
        <p:nvPr/>
      </p:nvGrpSpPr>
      <p:grpSpPr>
        <a:xfrm>
          <a:off x="0" y="0"/>
          <a:ext cx="0" cy="0"/>
          <a:chOff x="0" y="0"/>
          <a:chExt cx="0" cy="0"/>
        </a:xfrm>
      </p:grpSpPr>
    </p:spTree>
    <p:extLst>
      <p:ext uri="{BB962C8B-B14F-4D97-AF65-F5344CB8AC3E}">
        <p14:creationId xmlns:p14="http://schemas.microsoft.com/office/powerpoint/2010/main" val="403088747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5AA9C-307F-F804-9057-56F9D987339A}"/>
            </a:ext>
          </a:extLst>
        </p:cNvPr>
        <p:cNvGrpSpPr/>
        <p:nvPr/>
      </p:nvGrpSpPr>
      <p:grpSpPr>
        <a:xfrm>
          <a:off x="0" y="0"/>
          <a:ext cx="0" cy="0"/>
          <a:chOff x="0" y="0"/>
          <a:chExt cx="0" cy="0"/>
        </a:xfrm>
      </p:grpSpPr>
    </p:spTree>
    <p:extLst>
      <p:ext uri="{BB962C8B-B14F-4D97-AF65-F5344CB8AC3E}">
        <p14:creationId xmlns:p14="http://schemas.microsoft.com/office/powerpoint/2010/main" val="3116626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304</TotalTime>
  <Words>2882</Words>
  <Application>Microsoft Office PowerPoint</Application>
  <PresentationFormat>A4 Paper (210x297 mm)</PresentationFormat>
  <Paragraphs>198</Paragraphs>
  <Slides>104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104</vt:i4>
      </vt:variant>
    </vt:vector>
  </HeadingPairs>
  <TitlesOfParts>
    <vt:vector size="110" baseType="lpstr">
      <vt:lpstr>Aptos</vt:lpstr>
      <vt:lpstr>Aptos Display</vt:lpstr>
      <vt:lpstr>Arial</vt:lpstr>
      <vt:lpstr>Courier New</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umalavanya7@gmail.com</dc:creator>
  <cp:lastModifiedBy>umalavanya7@gmail.com</cp:lastModifiedBy>
  <cp:revision>46</cp:revision>
  <dcterms:created xsi:type="dcterms:W3CDTF">2026-02-06T21:19:28Z</dcterms:created>
  <dcterms:modified xsi:type="dcterms:W3CDTF">2026-02-22T21:06:21Z</dcterms:modified>
</cp:coreProperties>
</file>