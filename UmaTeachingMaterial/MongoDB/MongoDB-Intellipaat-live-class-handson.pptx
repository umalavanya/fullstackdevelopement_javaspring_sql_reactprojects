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137"/>
  </p:notesMasterIdLst>
  <p:sldIdLst>
    <p:sldId id="256" r:id="rId2"/>
    <p:sldId id="391" r:id="rId3"/>
    <p:sldId id="379" r:id="rId4"/>
    <p:sldId id="257" r:id="rId5"/>
    <p:sldId id="258" r:id="rId6"/>
    <p:sldId id="259" r:id="rId7"/>
    <p:sldId id="360" r:id="rId8"/>
    <p:sldId id="260" r:id="rId9"/>
    <p:sldId id="361" r:id="rId10"/>
    <p:sldId id="261" r:id="rId11"/>
    <p:sldId id="362" r:id="rId12"/>
    <p:sldId id="363" r:id="rId13"/>
    <p:sldId id="364" r:id="rId14"/>
    <p:sldId id="365" r:id="rId15"/>
    <p:sldId id="366" r:id="rId16"/>
    <p:sldId id="378" r:id="rId17"/>
    <p:sldId id="367" r:id="rId18"/>
    <p:sldId id="380" r:id="rId19"/>
    <p:sldId id="368" r:id="rId20"/>
    <p:sldId id="369" r:id="rId21"/>
    <p:sldId id="370" r:id="rId22"/>
    <p:sldId id="371" r:id="rId23"/>
    <p:sldId id="372" r:id="rId24"/>
    <p:sldId id="373" r:id="rId25"/>
    <p:sldId id="374" r:id="rId26"/>
    <p:sldId id="375" r:id="rId27"/>
    <p:sldId id="376" r:id="rId28"/>
    <p:sldId id="377" r:id="rId29"/>
    <p:sldId id="262" r:id="rId30"/>
    <p:sldId id="263" r:id="rId31"/>
    <p:sldId id="381" r:id="rId32"/>
    <p:sldId id="382" r:id="rId33"/>
    <p:sldId id="383" r:id="rId34"/>
    <p:sldId id="384" r:id="rId35"/>
    <p:sldId id="385" r:id="rId36"/>
    <p:sldId id="386" r:id="rId37"/>
    <p:sldId id="387" r:id="rId38"/>
    <p:sldId id="388" r:id="rId39"/>
    <p:sldId id="389" r:id="rId40"/>
    <p:sldId id="264" r:id="rId41"/>
    <p:sldId id="265" r:id="rId42"/>
    <p:sldId id="266" r:id="rId43"/>
    <p:sldId id="267" r:id="rId44"/>
    <p:sldId id="268" r:id="rId45"/>
    <p:sldId id="269" r:id="rId46"/>
    <p:sldId id="270" r:id="rId47"/>
    <p:sldId id="271" r:id="rId48"/>
    <p:sldId id="272" r:id="rId49"/>
    <p:sldId id="273" r:id="rId50"/>
    <p:sldId id="274" r:id="rId51"/>
    <p:sldId id="275" r:id="rId52"/>
    <p:sldId id="276" r:id="rId53"/>
    <p:sldId id="277" r:id="rId54"/>
    <p:sldId id="278" r:id="rId55"/>
    <p:sldId id="279" r:id="rId56"/>
    <p:sldId id="280" r:id="rId57"/>
    <p:sldId id="281" r:id="rId58"/>
    <p:sldId id="282" r:id="rId59"/>
    <p:sldId id="283" r:id="rId60"/>
    <p:sldId id="284" r:id="rId61"/>
    <p:sldId id="285" r:id="rId62"/>
    <p:sldId id="286" r:id="rId63"/>
    <p:sldId id="287" r:id="rId64"/>
    <p:sldId id="288" r:id="rId65"/>
    <p:sldId id="289" r:id="rId66"/>
    <p:sldId id="290" r:id="rId67"/>
    <p:sldId id="291" r:id="rId68"/>
    <p:sldId id="292" r:id="rId69"/>
    <p:sldId id="293" r:id="rId70"/>
    <p:sldId id="294" r:id="rId71"/>
    <p:sldId id="295" r:id="rId72"/>
    <p:sldId id="296" r:id="rId73"/>
    <p:sldId id="297" r:id="rId74"/>
    <p:sldId id="298" r:id="rId75"/>
    <p:sldId id="299" r:id="rId76"/>
    <p:sldId id="300" r:id="rId77"/>
    <p:sldId id="301" r:id="rId78"/>
    <p:sldId id="302" r:id="rId79"/>
    <p:sldId id="303" r:id="rId80"/>
    <p:sldId id="304" r:id="rId81"/>
    <p:sldId id="305" r:id="rId82"/>
    <p:sldId id="306" r:id="rId83"/>
    <p:sldId id="307" r:id="rId84"/>
    <p:sldId id="308" r:id="rId85"/>
    <p:sldId id="309" r:id="rId86"/>
    <p:sldId id="310" r:id="rId87"/>
    <p:sldId id="311" r:id="rId88"/>
    <p:sldId id="312" r:id="rId89"/>
    <p:sldId id="313" r:id="rId90"/>
    <p:sldId id="314" r:id="rId91"/>
    <p:sldId id="315" r:id="rId92"/>
    <p:sldId id="316" r:id="rId93"/>
    <p:sldId id="317" r:id="rId94"/>
    <p:sldId id="318" r:id="rId95"/>
    <p:sldId id="319" r:id="rId96"/>
    <p:sldId id="320" r:id="rId97"/>
    <p:sldId id="321" r:id="rId98"/>
    <p:sldId id="322" r:id="rId99"/>
    <p:sldId id="323" r:id="rId100"/>
    <p:sldId id="324" r:id="rId101"/>
    <p:sldId id="325" r:id="rId102"/>
    <p:sldId id="326" r:id="rId103"/>
    <p:sldId id="327" r:id="rId104"/>
    <p:sldId id="328" r:id="rId105"/>
    <p:sldId id="329" r:id="rId106"/>
    <p:sldId id="330" r:id="rId107"/>
    <p:sldId id="331" r:id="rId108"/>
    <p:sldId id="332" r:id="rId109"/>
    <p:sldId id="333" r:id="rId110"/>
    <p:sldId id="334" r:id="rId111"/>
    <p:sldId id="335" r:id="rId112"/>
    <p:sldId id="336" r:id="rId113"/>
    <p:sldId id="337" r:id="rId114"/>
    <p:sldId id="338" r:id="rId115"/>
    <p:sldId id="339" r:id="rId116"/>
    <p:sldId id="340" r:id="rId117"/>
    <p:sldId id="341" r:id="rId118"/>
    <p:sldId id="342" r:id="rId119"/>
    <p:sldId id="343" r:id="rId120"/>
    <p:sldId id="344" r:id="rId121"/>
    <p:sldId id="345" r:id="rId122"/>
    <p:sldId id="346" r:id="rId123"/>
    <p:sldId id="347" r:id="rId124"/>
    <p:sldId id="348" r:id="rId125"/>
    <p:sldId id="349" r:id="rId126"/>
    <p:sldId id="350" r:id="rId127"/>
    <p:sldId id="351" r:id="rId128"/>
    <p:sldId id="352" r:id="rId129"/>
    <p:sldId id="353" r:id="rId130"/>
    <p:sldId id="354" r:id="rId131"/>
    <p:sldId id="355" r:id="rId132"/>
    <p:sldId id="356" r:id="rId133"/>
    <p:sldId id="357" r:id="rId134"/>
    <p:sldId id="358" r:id="rId135"/>
    <p:sldId id="359" r:id="rId136"/>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5552"/>
    <a:srgbClr val="1A38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varScale="1">
        <p:scale>
          <a:sx n="56" d="100"/>
          <a:sy n="56" d="100"/>
        </p:scale>
        <p:origin x="58"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464E1F-87C5-4944-821C-E8B5E8EB4992}" type="datetimeFigureOut">
              <a:rPr lang="en-US" smtClean="0"/>
              <a:t>2/22/2026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B0CFF4-5968-4E4A-A755-C9D0221DB054}" type="slidenum">
              <a:rPr lang="en-US" smtClean="0"/>
              <a:t>‹#›</a:t>
            </a:fld>
            <a:endParaRPr lang="en-US"/>
          </a:p>
        </p:txBody>
      </p:sp>
    </p:spTree>
    <p:extLst>
      <p:ext uri="{BB962C8B-B14F-4D97-AF65-F5344CB8AC3E}">
        <p14:creationId xmlns:p14="http://schemas.microsoft.com/office/powerpoint/2010/main" val="2834743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B0CFF4-5968-4E4A-A755-C9D0221DB054}" type="slidenum">
              <a:rPr lang="en-US" smtClean="0"/>
              <a:t>32</a:t>
            </a:fld>
            <a:endParaRPr lang="en-US"/>
          </a:p>
        </p:txBody>
      </p:sp>
    </p:spTree>
    <p:extLst>
      <p:ext uri="{BB962C8B-B14F-4D97-AF65-F5344CB8AC3E}">
        <p14:creationId xmlns:p14="http://schemas.microsoft.com/office/powerpoint/2010/main" val="2971023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2/22/2026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633E7B5-302F-334C-4938-E983040A76A4}"/>
              </a:ext>
            </a:extLst>
          </p:cNvPr>
          <p:cNvSpPr txBox="1"/>
          <p:nvPr/>
        </p:nvSpPr>
        <p:spPr>
          <a:xfrm>
            <a:off x="716770" y="694605"/>
            <a:ext cx="1508875" cy="5227521"/>
          </a:xfrm>
          <a:prstGeom prst="rect">
            <a:avLst/>
          </a:prstGeom>
          <a:noFill/>
        </p:spPr>
        <p:txBody>
          <a:bodyPr wrap="none" rtlCol="0">
            <a:spAutoFit/>
          </a:bodyPr>
          <a:lstStyle/>
          <a:p>
            <a:pPr marL="342900" indent="-342900">
              <a:lnSpc>
                <a:spcPct val="150000"/>
              </a:lnSpc>
              <a:buAutoNum type="arabicPeriod"/>
            </a:pPr>
            <a:r>
              <a:rPr lang="en-US" sz="1600" dirty="0">
                <a:solidFill>
                  <a:srgbClr val="FFFF00"/>
                </a:solidFill>
              </a:rPr>
              <a:t>$match</a:t>
            </a:r>
          </a:p>
          <a:p>
            <a:pPr marL="342900" indent="-342900">
              <a:lnSpc>
                <a:spcPct val="150000"/>
              </a:lnSpc>
              <a:buAutoNum type="arabicPeriod"/>
            </a:pPr>
            <a:r>
              <a:rPr lang="en-US" sz="1600" dirty="0">
                <a:solidFill>
                  <a:srgbClr val="FFFF00"/>
                </a:solidFill>
              </a:rPr>
              <a:t>$project</a:t>
            </a:r>
          </a:p>
          <a:p>
            <a:pPr marL="342900" indent="-342900">
              <a:lnSpc>
                <a:spcPct val="150000"/>
              </a:lnSpc>
              <a:buAutoNum type="arabicPeriod"/>
            </a:pPr>
            <a:r>
              <a:rPr lang="en-US" sz="1600" dirty="0">
                <a:solidFill>
                  <a:srgbClr val="FFFF00"/>
                </a:solidFill>
              </a:rPr>
              <a:t>$group</a:t>
            </a:r>
          </a:p>
          <a:p>
            <a:pPr marL="342900" indent="-342900">
              <a:lnSpc>
                <a:spcPct val="150000"/>
              </a:lnSpc>
              <a:buAutoNum type="arabicPeriod"/>
            </a:pPr>
            <a:r>
              <a:rPr lang="en-US" sz="1600" dirty="0">
                <a:solidFill>
                  <a:srgbClr val="FFFF00"/>
                </a:solidFill>
              </a:rPr>
              <a:t>$sort</a:t>
            </a:r>
          </a:p>
          <a:p>
            <a:pPr marL="342900" indent="-342900">
              <a:lnSpc>
                <a:spcPct val="150000"/>
              </a:lnSpc>
              <a:buAutoNum type="arabicPeriod"/>
            </a:pPr>
            <a:r>
              <a:rPr lang="en-US" sz="1600" dirty="0">
                <a:solidFill>
                  <a:srgbClr val="FFFF00"/>
                </a:solidFill>
              </a:rPr>
              <a:t>$limit</a:t>
            </a:r>
          </a:p>
          <a:p>
            <a:pPr marL="342900" indent="-342900">
              <a:lnSpc>
                <a:spcPct val="150000"/>
              </a:lnSpc>
              <a:buAutoNum type="arabicPeriod"/>
            </a:pPr>
            <a:r>
              <a:rPr lang="en-US" sz="1600" dirty="0">
                <a:solidFill>
                  <a:srgbClr val="FFFF00"/>
                </a:solidFill>
              </a:rPr>
              <a:t>$unwind</a:t>
            </a:r>
          </a:p>
          <a:p>
            <a:pPr marL="342900" indent="-342900">
              <a:lnSpc>
                <a:spcPct val="150000"/>
              </a:lnSpc>
              <a:buAutoNum type="arabicPeriod"/>
            </a:pPr>
            <a:r>
              <a:rPr lang="en-US" sz="1600" dirty="0">
                <a:solidFill>
                  <a:srgbClr val="FFFF00"/>
                </a:solidFill>
              </a:rPr>
              <a:t>$lookup</a:t>
            </a:r>
          </a:p>
          <a:p>
            <a:pPr marL="342900" indent="-342900">
              <a:lnSpc>
                <a:spcPct val="150000"/>
              </a:lnSpc>
              <a:buAutoNum type="arabicPeriod"/>
            </a:pPr>
            <a:r>
              <a:rPr lang="en-US" sz="1600" dirty="0">
                <a:solidFill>
                  <a:srgbClr val="FFFF00"/>
                </a:solidFill>
              </a:rPr>
              <a:t>$count</a:t>
            </a:r>
          </a:p>
          <a:p>
            <a:pPr marL="342900" indent="-342900">
              <a:lnSpc>
                <a:spcPct val="150000"/>
              </a:lnSpc>
              <a:buAutoNum type="arabicPeriod"/>
            </a:pPr>
            <a:r>
              <a:rPr lang="en-US" sz="1600" dirty="0">
                <a:solidFill>
                  <a:srgbClr val="FFFF00"/>
                </a:solidFill>
              </a:rPr>
              <a:t>$</a:t>
            </a:r>
            <a:r>
              <a:rPr lang="en-US" sz="1600" dirty="0" err="1">
                <a:solidFill>
                  <a:srgbClr val="FFFF00"/>
                </a:solidFill>
              </a:rPr>
              <a:t>addFields</a:t>
            </a:r>
            <a:endParaRPr lang="en-US" sz="1600" dirty="0">
              <a:solidFill>
                <a:srgbClr val="FFFF00"/>
              </a:solidFill>
            </a:endParaRPr>
          </a:p>
          <a:p>
            <a:pPr marL="342900" indent="-342900">
              <a:lnSpc>
                <a:spcPct val="150000"/>
              </a:lnSpc>
              <a:buAutoNum type="arabicPeriod"/>
            </a:pPr>
            <a:r>
              <a:rPr lang="en-US" sz="1600" dirty="0">
                <a:solidFill>
                  <a:srgbClr val="FFFF00"/>
                </a:solidFill>
              </a:rPr>
              <a:t>$expr</a:t>
            </a:r>
          </a:p>
          <a:p>
            <a:pPr marL="342900" indent="-342900">
              <a:lnSpc>
                <a:spcPct val="150000"/>
              </a:lnSpc>
              <a:buAutoNum type="arabicPeriod"/>
            </a:pPr>
            <a:r>
              <a:rPr lang="en-US" sz="1600" dirty="0">
                <a:solidFill>
                  <a:srgbClr val="FFFF00"/>
                </a:solidFill>
              </a:rPr>
              <a:t>$</a:t>
            </a:r>
            <a:r>
              <a:rPr lang="en-US" sz="1600" dirty="0" err="1">
                <a:solidFill>
                  <a:srgbClr val="FFFF00"/>
                </a:solidFill>
              </a:rPr>
              <a:t>cond</a:t>
            </a:r>
            <a:endParaRPr lang="en-US" sz="1600" dirty="0">
              <a:solidFill>
                <a:srgbClr val="FFFF00"/>
              </a:solidFill>
            </a:endParaRPr>
          </a:p>
          <a:p>
            <a:pPr marL="342900" indent="-342900">
              <a:lnSpc>
                <a:spcPct val="150000"/>
              </a:lnSpc>
              <a:buAutoNum type="arabicPeriod"/>
            </a:pPr>
            <a:r>
              <a:rPr lang="en-US" sz="1600" dirty="0">
                <a:solidFill>
                  <a:srgbClr val="FFFF00"/>
                </a:solidFill>
              </a:rPr>
              <a:t>$facet</a:t>
            </a:r>
          </a:p>
          <a:p>
            <a:pPr marL="342900" indent="-342900">
              <a:lnSpc>
                <a:spcPct val="150000"/>
              </a:lnSpc>
              <a:buAutoNum type="arabicPeriod"/>
            </a:pPr>
            <a:endParaRPr lang="en-US" sz="1600" dirty="0">
              <a:solidFill>
                <a:srgbClr val="FFFF00"/>
              </a:solidFill>
            </a:endParaRPr>
          </a:p>
          <a:p>
            <a:pPr marL="342900" indent="-342900">
              <a:lnSpc>
                <a:spcPct val="150000"/>
              </a:lnSpc>
              <a:buAutoNum type="arabicPeriod"/>
            </a:pPr>
            <a:endParaRPr lang="en-US" sz="1600" dirty="0">
              <a:solidFill>
                <a:srgbClr val="FFFF00"/>
              </a:solidFill>
            </a:endParaRPr>
          </a:p>
        </p:txBody>
      </p:sp>
      <p:sp>
        <p:nvSpPr>
          <p:cNvPr id="11" name="TextBox 10">
            <a:extLst>
              <a:ext uri="{FF2B5EF4-FFF2-40B4-BE49-F238E27FC236}">
                <a16:creationId xmlns:a16="http://schemas.microsoft.com/office/drawing/2014/main" id="{D2ACC54A-47DC-FD1D-12A7-B88EF679C371}"/>
              </a:ext>
            </a:extLst>
          </p:cNvPr>
          <p:cNvSpPr txBox="1"/>
          <p:nvPr/>
        </p:nvSpPr>
        <p:spPr>
          <a:xfrm>
            <a:off x="3405117" y="339763"/>
            <a:ext cx="2804615" cy="5596853"/>
          </a:xfrm>
          <a:prstGeom prst="rect">
            <a:avLst/>
          </a:prstGeom>
          <a:noFill/>
        </p:spPr>
        <p:txBody>
          <a:bodyPr wrap="square">
            <a:spAutoFit/>
          </a:bodyPr>
          <a:lstStyle/>
          <a:p>
            <a:pPr marL="342900" indent="-342900">
              <a:lnSpc>
                <a:spcPct val="150000"/>
              </a:lnSpc>
              <a:buFont typeface="+mj-lt"/>
              <a:buAutoNum type="arabicPeriod" startAt="13"/>
            </a:pPr>
            <a:r>
              <a:rPr lang="en-US" sz="1600" dirty="0">
                <a:solidFill>
                  <a:srgbClr val="FFFF00"/>
                </a:solidFill>
              </a:rPr>
              <a:t>$bucket</a:t>
            </a:r>
          </a:p>
          <a:p>
            <a:pPr marL="342900" indent="-342900">
              <a:lnSpc>
                <a:spcPct val="150000"/>
              </a:lnSpc>
              <a:buAutoNum type="arabicPeriod" startAt="13"/>
            </a:pPr>
            <a:r>
              <a:rPr lang="en-US" sz="1600" dirty="0">
                <a:solidFill>
                  <a:srgbClr val="FFFF00"/>
                </a:solidFill>
              </a:rPr>
              <a:t>$</a:t>
            </a:r>
            <a:r>
              <a:rPr lang="en-US" sz="1600" dirty="0" err="1">
                <a:solidFill>
                  <a:srgbClr val="FFFF00"/>
                </a:solidFill>
              </a:rPr>
              <a:t>bucketAuto</a:t>
            </a:r>
            <a:endParaRPr lang="en-US" sz="1600" dirty="0">
              <a:solidFill>
                <a:srgbClr val="FFFF00"/>
              </a:solidFill>
            </a:endParaRPr>
          </a:p>
          <a:p>
            <a:pPr marL="342900" indent="-342900">
              <a:lnSpc>
                <a:spcPct val="150000"/>
              </a:lnSpc>
              <a:buAutoNum type="arabicPeriod" startAt="13"/>
            </a:pPr>
            <a:r>
              <a:rPr lang="en-US" sz="1600" dirty="0">
                <a:solidFill>
                  <a:srgbClr val="FFFF00"/>
                </a:solidFill>
              </a:rPr>
              <a:t>$</a:t>
            </a:r>
            <a:r>
              <a:rPr lang="en-US" sz="1600" dirty="0" err="1">
                <a:solidFill>
                  <a:srgbClr val="FFFF00"/>
                </a:solidFill>
              </a:rPr>
              <a:t>regexMatch</a:t>
            </a:r>
            <a:endParaRPr lang="en-US" sz="1600" dirty="0">
              <a:solidFill>
                <a:srgbClr val="FFFF00"/>
              </a:solidFill>
            </a:endParaRPr>
          </a:p>
          <a:p>
            <a:pPr marL="342900" indent="-342900">
              <a:lnSpc>
                <a:spcPct val="150000"/>
              </a:lnSpc>
              <a:buAutoNum type="arabicPeriod" startAt="13"/>
            </a:pPr>
            <a:r>
              <a:rPr lang="en-US" sz="1600" dirty="0">
                <a:solidFill>
                  <a:srgbClr val="FFFF00"/>
                </a:solidFill>
              </a:rPr>
              <a:t>$text</a:t>
            </a:r>
          </a:p>
          <a:p>
            <a:pPr marL="342900" indent="-342900">
              <a:lnSpc>
                <a:spcPct val="150000"/>
              </a:lnSpc>
              <a:buAutoNum type="arabicPeriod" startAt="13"/>
            </a:pPr>
            <a:r>
              <a:rPr lang="en-US" sz="1600" dirty="0">
                <a:solidFill>
                  <a:srgbClr val="FFFF00"/>
                </a:solidFill>
              </a:rPr>
              <a:t>$year</a:t>
            </a:r>
          </a:p>
          <a:p>
            <a:pPr marL="342900" indent="-342900">
              <a:lnSpc>
                <a:spcPct val="150000"/>
              </a:lnSpc>
              <a:buAutoNum type="arabicPeriod" startAt="13"/>
            </a:pPr>
            <a:r>
              <a:rPr lang="en-US" sz="1600" dirty="0">
                <a:solidFill>
                  <a:srgbClr val="FFFF00"/>
                </a:solidFill>
              </a:rPr>
              <a:t>$month</a:t>
            </a:r>
          </a:p>
          <a:p>
            <a:pPr marL="342900" indent="-342900">
              <a:lnSpc>
                <a:spcPct val="150000"/>
              </a:lnSpc>
              <a:buAutoNum type="arabicPeriod" startAt="13"/>
            </a:pPr>
            <a:r>
              <a:rPr lang="en-US" sz="1600" dirty="0">
                <a:solidFill>
                  <a:srgbClr val="FFFF00"/>
                </a:solidFill>
              </a:rPr>
              <a:t>$map</a:t>
            </a:r>
          </a:p>
          <a:p>
            <a:pPr marL="342900" indent="-342900">
              <a:lnSpc>
                <a:spcPct val="150000"/>
              </a:lnSpc>
              <a:buAutoNum type="arabicPeriod" startAt="13"/>
            </a:pPr>
            <a:r>
              <a:rPr lang="en-US" sz="1600" dirty="0">
                <a:solidFill>
                  <a:srgbClr val="FFFF00"/>
                </a:solidFill>
              </a:rPr>
              <a:t>$filter</a:t>
            </a:r>
          </a:p>
          <a:p>
            <a:pPr marL="342900" indent="-342900">
              <a:lnSpc>
                <a:spcPct val="150000"/>
              </a:lnSpc>
              <a:buAutoNum type="arabicPeriod" startAt="13"/>
            </a:pPr>
            <a:r>
              <a:rPr lang="en-US" sz="1600" dirty="0">
                <a:solidFill>
                  <a:srgbClr val="FFFF00"/>
                </a:solidFill>
              </a:rPr>
              <a:t>$reduce</a:t>
            </a:r>
          </a:p>
          <a:p>
            <a:pPr marL="342900" indent="-342900">
              <a:lnSpc>
                <a:spcPct val="150000"/>
              </a:lnSpc>
              <a:buAutoNum type="arabicPeriod" startAt="13"/>
            </a:pPr>
            <a:r>
              <a:rPr lang="en-US" sz="1600" dirty="0">
                <a:solidFill>
                  <a:srgbClr val="FFFF00"/>
                </a:solidFill>
              </a:rPr>
              <a:t>$</a:t>
            </a:r>
            <a:r>
              <a:rPr lang="en-US" sz="1600" dirty="0" err="1">
                <a:solidFill>
                  <a:srgbClr val="FFFF00"/>
                </a:solidFill>
              </a:rPr>
              <a:t>geoNear</a:t>
            </a:r>
            <a:endParaRPr lang="en-US" sz="1600" dirty="0">
              <a:solidFill>
                <a:srgbClr val="FFFF00"/>
              </a:solidFill>
            </a:endParaRPr>
          </a:p>
          <a:p>
            <a:pPr marL="342900" indent="-342900">
              <a:lnSpc>
                <a:spcPct val="150000"/>
              </a:lnSpc>
              <a:buAutoNum type="arabicPeriod" startAt="13"/>
            </a:pPr>
            <a:r>
              <a:rPr lang="en-US" sz="1600" dirty="0">
                <a:solidFill>
                  <a:srgbClr val="FFFF00"/>
                </a:solidFill>
              </a:rPr>
              <a:t>$function</a:t>
            </a:r>
          </a:p>
          <a:p>
            <a:pPr marL="342900" indent="-342900">
              <a:lnSpc>
                <a:spcPct val="150000"/>
              </a:lnSpc>
              <a:buAutoNum type="arabicPeriod" startAt="13"/>
            </a:pPr>
            <a:r>
              <a:rPr lang="en-US" sz="1600" dirty="0">
                <a:solidFill>
                  <a:srgbClr val="FFFF00"/>
                </a:solidFill>
              </a:rPr>
              <a:t>$merge</a:t>
            </a:r>
          </a:p>
          <a:p>
            <a:pPr marL="342900" indent="-342900">
              <a:lnSpc>
                <a:spcPct val="150000"/>
              </a:lnSpc>
              <a:buAutoNum type="arabicPeriod" startAt="13"/>
            </a:pPr>
            <a:r>
              <a:rPr lang="en-US" sz="1600" dirty="0">
                <a:solidFill>
                  <a:srgbClr val="FFFF00"/>
                </a:solidFill>
              </a:rPr>
              <a:t>$redact</a:t>
            </a:r>
          </a:p>
          <a:p>
            <a:pPr marL="342900" indent="-342900">
              <a:lnSpc>
                <a:spcPct val="150000"/>
              </a:lnSpc>
              <a:buAutoNum type="arabicPeriod" startAt="13"/>
            </a:pPr>
            <a:r>
              <a:rPr lang="en-US" sz="1600" dirty="0">
                <a:solidFill>
                  <a:srgbClr val="FFFF00"/>
                </a:solidFill>
              </a:rPr>
              <a:t>$</a:t>
            </a:r>
            <a:r>
              <a:rPr lang="en-US" sz="1600" dirty="0" err="1">
                <a:solidFill>
                  <a:srgbClr val="FFFF00"/>
                </a:solidFill>
              </a:rPr>
              <a:t>mini_report</a:t>
            </a:r>
            <a:endParaRPr lang="en-US" sz="1600" dirty="0">
              <a:solidFill>
                <a:srgbClr val="FFFF00"/>
              </a:solidFill>
            </a:endParaRPr>
          </a:p>
          <a:p>
            <a:pPr marL="342900" indent="-342900">
              <a:lnSpc>
                <a:spcPct val="150000"/>
              </a:lnSpc>
              <a:buAutoNum type="arabicPeriod" startAt="13"/>
            </a:pPr>
            <a:r>
              <a:rPr lang="en-US" sz="1600" dirty="0">
                <a:solidFill>
                  <a:srgbClr val="FFFF00"/>
                </a:solidFill>
              </a:rPr>
              <a:t>$out</a:t>
            </a: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4BC2D9-3A64-97D9-FD71-0995AAF36C91}"/>
              </a:ext>
            </a:extLst>
          </p:cNvPr>
          <p:cNvSpPr txBox="1"/>
          <p:nvPr/>
        </p:nvSpPr>
        <p:spPr>
          <a:xfrm>
            <a:off x="5065595" y="1102578"/>
            <a:ext cx="4840405" cy="5755422"/>
          </a:xfrm>
          <a:prstGeom prst="rect">
            <a:avLst/>
          </a:prstGeom>
          <a:noFill/>
        </p:spPr>
        <p:txBody>
          <a:bodyPr wrap="square">
            <a:spAutoFit/>
          </a:bodyPr>
          <a:lstStyle/>
          <a:p>
            <a:pPr>
              <a:buNone/>
            </a:pPr>
            <a:br>
              <a:rPr lang="en-US" sz="800" b="0" dirty="0">
                <a:solidFill>
                  <a:schemeClr val="accent4">
                    <a:lumMod val="40000"/>
                    <a:lumOff val="60000"/>
                  </a:schemeClr>
                </a:solidFill>
                <a:effectLst/>
                <a:latin typeface="quote-cjk-patch"/>
              </a:rPr>
            </a:br>
            <a:endParaRPr lang="en-US" sz="800" b="0" dirty="0">
              <a:solidFill>
                <a:schemeClr val="accent4">
                  <a:lumMod val="40000"/>
                  <a:lumOff val="60000"/>
                </a:schemeClr>
              </a:solidFill>
              <a:effectLst/>
              <a:latin typeface="quote-cjk-patch"/>
            </a:endParaRPr>
          </a:p>
          <a:p>
            <a:pPr>
              <a:buNone/>
            </a:pPr>
            <a:r>
              <a:rPr lang="en-US" sz="800" b="1" dirty="0">
                <a:solidFill>
                  <a:schemeClr val="accent4">
                    <a:lumMod val="40000"/>
                    <a:lumOff val="60000"/>
                  </a:schemeClr>
                </a:solidFill>
                <a:effectLst/>
                <a:latin typeface="quote-cjk-patch"/>
              </a:rPr>
              <a:t>Chapter 7: Special Searches</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"Find me performers whose names start with 'C'!" </a:t>
            </a:r>
            <a:r>
              <a:rPr lang="en-US" sz="800" b="1" dirty="0">
                <a:solidFill>
                  <a:schemeClr val="accent4">
                    <a:lumMod val="40000"/>
                    <a:lumOff val="60000"/>
                  </a:schemeClr>
                </a:solidFill>
                <a:effectLst/>
                <a:latin typeface="quote-cjk-patch"/>
              </a:rPr>
              <a:t>$</a:t>
            </a:r>
            <a:r>
              <a:rPr lang="en-US" sz="800" b="1" dirty="0" err="1">
                <a:solidFill>
                  <a:schemeClr val="accent4">
                    <a:lumMod val="40000"/>
                    <a:lumOff val="60000"/>
                  </a:schemeClr>
                </a:solidFill>
                <a:effectLst/>
                <a:latin typeface="quote-cjk-patch"/>
              </a:rPr>
              <a:t>regexMatch</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(Like a word search puzzle!)</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"Find anyone talking about elephants!" </a:t>
            </a:r>
            <a:r>
              <a:rPr lang="en-US" sz="800" b="1" dirty="0">
                <a:solidFill>
                  <a:schemeClr val="accent4">
                    <a:lumMod val="40000"/>
                    <a:lumOff val="60000"/>
                  </a:schemeClr>
                </a:solidFill>
                <a:effectLst/>
                <a:latin typeface="quote-cjk-patch"/>
              </a:rPr>
              <a:t>$text</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(Search through all their stories!)</a:t>
            </a:r>
            <a:endParaRPr lang="en-US" sz="800" b="0" dirty="0">
              <a:solidFill>
                <a:schemeClr val="accent4">
                  <a:lumMod val="40000"/>
                  <a:lumOff val="60000"/>
                </a:schemeClr>
              </a:solidFill>
              <a:effectLst/>
              <a:latin typeface="quote-cjk-patch"/>
            </a:endParaRPr>
          </a:p>
          <a:p>
            <a:pPr>
              <a:buNone/>
            </a:pPr>
            <a:br>
              <a:rPr lang="en-US" sz="800" b="0" dirty="0">
                <a:solidFill>
                  <a:schemeClr val="accent4">
                    <a:lumMod val="40000"/>
                    <a:lumOff val="60000"/>
                  </a:schemeClr>
                </a:solidFill>
                <a:effectLst/>
                <a:latin typeface="quote-cjk-patch"/>
              </a:rPr>
            </a:br>
            <a:endParaRPr lang="en-US" sz="800" b="0" dirty="0">
              <a:solidFill>
                <a:schemeClr val="accent4">
                  <a:lumMod val="40000"/>
                  <a:lumOff val="60000"/>
                </a:schemeClr>
              </a:solidFill>
              <a:effectLst/>
              <a:latin typeface="quote-cjk-patch"/>
            </a:endParaRPr>
          </a:p>
          <a:p>
            <a:pPr>
              <a:buNone/>
            </a:pPr>
            <a:r>
              <a:rPr lang="en-US" sz="800" b="1" dirty="0">
                <a:solidFill>
                  <a:schemeClr val="accent4">
                    <a:lumMod val="40000"/>
                    <a:lumOff val="60000"/>
                  </a:schemeClr>
                </a:solidFill>
                <a:effectLst/>
                <a:latin typeface="quote-cjk-patch"/>
              </a:rPr>
              <a:t>Chapter 8: Time Travel</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The circus traveled through time! </a:t>
            </a:r>
            <a:r>
              <a:rPr lang="en-US" sz="800" b="1" dirty="0">
                <a:solidFill>
                  <a:schemeClr val="accent4">
                    <a:lumMod val="40000"/>
                    <a:lumOff val="60000"/>
                  </a:schemeClr>
                </a:solidFill>
                <a:effectLst/>
                <a:latin typeface="quote-cjk-patch"/>
              </a:rPr>
              <a:t>$year</a:t>
            </a:r>
            <a:r>
              <a:rPr lang="en-US" sz="800" b="0" dirty="0">
                <a:solidFill>
                  <a:schemeClr val="accent4">
                    <a:lumMod val="40000"/>
                    <a:lumOff val="60000"/>
                  </a:schemeClr>
                </a:solidFill>
                <a:effectLst/>
                <a:latin typeface="quote-cjk-patch"/>
              </a:rPr>
              <a:t>! 📅 </a:t>
            </a:r>
            <a:r>
              <a:rPr lang="en-US" sz="800" b="0" i="1" dirty="0">
                <a:solidFill>
                  <a:schemeClr val="accent4">
                    <a:lumMod val="40000"/>
                    <a:lumOff val="60000"/>
                  </a:schemeClr>
                </a:solidFill>
                <a:effectLst/>
                <a:latin typeface="quote-cjk-patch"/>
              </a:rPr>
              <a:t>(Show me performers from 2023!)</a:t>
            </a:r>
            <a:br>
              <a:rPr lang="en-US" sz="800" b="0" dirty="0">
                <a:solidFill>
                  <a:schemeClr val="accent4">
                    <a:lumMod val="40000"/>
                    <a:lumOff val="60000"/>
                  </a:schemeClr>
                </a:solidFill>
                <a:effectLst/>
                <a:latin typeface="quote-cjk-patch"/>
              </a:rPr>
            </a:br>
            <a:r>
              <a:rPr lang="en-US" sz="800" b="1" dirty="0">
                <a:solidFill>
                  <a:schemeClr val="accent4">
                    <a:lumMod val="40000"/>
                    <a:lumOff val="60000"/>
                  </a:schemeClr>
                </a:solidFill>
                <a:effectLst/>
                <a:latin typeface="quote-cjk-patch"/>
              </a:rPr>
              <a:t>$month</a:t>
            </a:r>
            <a:r>
              <a:rPr lang="en-US" sz="800" b="0" dirty="0">
                <a:solidFill>
                  <a:schemeClr val="accent4">
                    <a:lumMod val="40000"/>
                    <a:lumOff val="60000"/>
                  </a:schemeClr>
                </a:solidFill>
                <a:effectLst/>
                <a:latin typeface="quote-cjk-patch"/>
              </a:rPr>
              <a:t>! 🗓️ </a:t>
            </a:r>
            <a:r>
              <a:rPr lang="en-US" sz="800" b="0" i="1" dirty="0">
                <a:solidFill>
                  <a:schemeClr val="accent4">
                    <a:lumMod val="40000"/>
                    <a:lumOff val="60000"/>
                  </a:schemeClr>
                </a:solidFill>
                <a:effectLst/>
                <a:latin typeface="quote-cjk-patch"/>
              </a:rPr>
              <a:t>(Who joined in December?)</a:t>
            </a:r>
            <a:endParaRPr lang="en-US" sz="800" b="0" dirty="0">
              <a:solidFill>
                <a:schemeClr val="accent4">
                  <a:lumMod val="40000"/>
                  <a:lumOff val="60000"/>
                </a:schemeClr>
              </a:solidFill>
              <a:effectLst/>
              <a:latin typeface="quote-cjk-patch"/>
            </a:endParaRPr>
          </a:p>
          <a:p>
            <a:pPr>
              <a:buNone/>
            </a:pPr>
            <a:br>
              <a:rPr lang="en-US" sz="800" b="0" dirty="0">
                <a:solidFill>
                  <a:schemeClr val="accent4">
                    <a:lumMod val="40000"/>
                    <a:lumOff val="60000"/>
                  </a:schemeClr>
                </a:solidFill>
                <a:effectLst/>
                <a:latin typeface="quote-cjk-patch"/>
              </a:rPr>
            </a:br>
            <a:endParaRPr lang="en-US" sz="800" b="0" dirty="0">
              <a:solidFill>
                <a:schemeClr val="accent4">
                  <a:lumMod val="40000"/>
                  <a:lumOff val="60000"/>
                </a:schemeClr>
              </a:solidFill>
              <a:effectLst/>
              <a:latin typeface="quote-cjk-patch"/>
            </a:endParaRPr>
          </a:p>
          <a:p>
            <a:pPr>
              <a:buNone/>
            </a:pPr>
            <a:r>
              <a:rPr lang="en-US" sz="800" b="1" dirty="0">
                <a:solidFill>
                  <a:schemeClr val="accent4">
                    <a:lumMod val="40000"/>
                    <a:lumOff val="60000"/>
                  </a:schemeClr>
                </a:solidFill>
                <a:effectLst/>
                <a:latin typeface="quote-cjk-patch"/>
              </a:rPr>
              <a:t>Chapter 9: Transforming Things</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The ringmaster wanted to change the clown names: </a:t>
            </a:r>
            <a:r>
              <a:rPr lang="en-US" sz="800" b="1" dirty="0">
                <a:solidFill>
                  <a:schemeClr val="accent4">
                    <a:lumMod val="40000"/>
                    <a:lumOff val="60000"/>
                  </a:schemeClr>
                </a:solidFill>
                <a:effectLst/>
                <a:latin typeface="quote-cjk-patch"/>
              </a:rPr>
              <a:t>$map</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(Make all their names uppercase!)</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Filter out the smelly animals: </a:t>
            </a:r>
            <a:r>
              <a:rPr lang="en-US" sz="800" b="1" dirty="0">
                <a:solidFill>
                  <a:schemeClr val="accent4">
                    <a:lumMod val="40000"/>
                    <a:lumOff val="60000"/>
                  </a:schemeClr>
                </a:solidFill>
                <a:effectLst/>
                <a:latin typeface="quote-cjk-patch"/>
              </a:rPr>
              <a:t>$filter</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(Only keep the ones who had a bath!)</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Make the elephants smaller: </a:t>
            </a:r>
            <a:r>
              <a:rPr lang="en-US" sz="800" b="1" dirty="0">
                <a:solidFill>
                  <a:schemeClr val="accent4">
                    <a:lumMod val="40000"/>
                    <a:lumOff val="60000"/>
                  </a:schemeClr>
                </a:solidFill>
                <a:effectLst/>
                <a:latin typeface="quote-cjk-patch"/>
              </a:rPr>
              <a:t>$reduce</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(Combine all their peanuts into one giant pile!)</a:t>
            </a:r>
            <a:endParaRPr lang="en-US" sz="800" b="0" dirty="0">
              <a:solidFill>
                <a:schemeClr val="accent4">
                  <a:lumMod val="40000"/>
                  <a:lumOff val="60000"/>
                </a:schemeClr>
              </a:solidFill>
              <a:effectLst/>
              <a:latin typeface="quote-cjk-patch"/>
            </a:endParaRPr>
          </a:p>
          <a:p>
            <a:pPr>
              <a:buNone/>
            </a:pPr>
            <a:br>
              <a:rPr lang="en-US" sz="800" b="0" dirty="0">
                <a:solidFill>
                  <a:schemeClr val="accent4">
                    <a:lumMod val="40000"/>
                    <a:lumOff val="60000"/>
                  </a:schemeClr>
                </a:solidFill>
                <a:effectLst/>
                <a:latin typeface="quote-cjk-patch"/>
              </a:rPr>
            </a:br>
            <a:endParaRPr lang="en-US" sz="800" b="0" dirty="0">
              <a:solidFill>
                <a:schemeClr val="accent4">
                  <a:lumMod val="40000"/>
                  <a:lumOff val="60000"/>
                </a:schemeClr>
              </a:solidFill>
              <a:effectLst/>
              <a:latin typeface="quote-cjk-patch"/>
            </a:endParaRPr>
          </a:p>
          <a:p>
            <a:pPr>
              <a:buNone/>
            </a:pPr>
            <a:r>
              <a:rPr lang="en-US" sz="800" b="1" dirty="0">
                <a:solidFill>
                  <a:schemeClr val="accent4">
                    <a:lumMod val="40000"/>
                    <a:lumOff val="60000"/>
                  </a:schemeClr>
                </a:solidFill>
                <a:effectLst/>
                <a:latin typeface="quote-cjk-patch"/>
              </a:rPr>
              <a:t>Chapter 10: Location and Special Powers</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The circus got lost! </a:t>
            </a:r>
            <a:r>
              <a:rPr lang="en-US" sz="800" b="1" dirty="0">
                <a:solidFill>
                  <a:schemeClr val="accent4">
                    <a:lumMod val="40000"/>
                    <a:lumOff val="60000"/>
                  </a:schemeClr>
                </a:solidFill>
                <a:effectLst/>
                <a:latin typeface="quote-cjk-patch"/>
              </a:rPr>
              <a:t>$</a:t>
            </a:r>
            <a:r>
              <a:rPr lang="en-US" sz="800" b="1" dirty="0" err="1">
                <a:solidFill>
                  <a:schemeClr val="accent4">
                    <a:lumMod val="40000"/>
                    <a:lumOff val="60000"/>
                  </a:schemeClr>
                </a:solidFill>
                <a:effectLst/>
                <a:latin typeface="quote-cjk-patch"/>
              </a:rPr>
              <a:t>geoNear</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(Find the circus nearest to the big city!)</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For magical transformations: </a:t>
            </a:r>
            <a:r>
              <a:rPr lang="en-US" sz="800" b="1" dirty="0">
                <a:solidFill>
                  <a:schemeClr val="accent4">
                    <a:lumMod val="40000"/>
                    <a:lumOff val="60000"/>
                  </a:schemeClr>
                </a:solidFill>
                <a:effectLst/>
                <a:latin typeface="quote-cjk-patch"/>
              </a:rPr>
              <a:t>$function</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(Write a custom spell to turn clowns into magicians!)</a:t>
            </a:r>
            <a:endParaRPr lang="en-US" sz="800" b="0" dirty="0">
              <a:solidFill>
                <a:schemeClr val="accent4">
                  <a:lumMod val="40000"/>
                  <a:lumOff val="60000"/>
                </a:schemeClr>
              </a:solidFill>
              <a:effectLst/>
              <a:latin typeface="quote-cjk-patch"/>
            </a:endParaRPr>
          </a:p>
          <a:p>
            <a:pPr>
              <a:buNone/>
            </a:pPr>
            <a:br>
              <a:rPr lang="en-US" sz="800" b="0" dirty="0">
                <a:solidFill>
                  <a:schemeClr val="accent4">
                    <a:lumMod val="40000"/>
                    <a:lumOff val="60000"/>
                  </a:schemeClr>
                </a:solidFill>
                <a:effectLst/>
                <a:latin typeface="quote-cjk-patch"/>
              </a:rPr>
            </a:br>
            <a:endParaRPr lang="en-US" sz="800" b="0" dirty="0">
              <a:solidFill>
                <a:schemeClr val="accent4">
                  <a:lumMod val="40000"/>
                  <a:lumOff val="60000"/>
                </a:schemeClr>
              </a:solidFill>
              <a:effectLst/>
              <a:latin typeface="quote-cjk-patch"/>
            </a:endParaRPr>
          </a:p>
          <a:p>
            <a:pPr>
              <a:buNone/>
            </a:pPr>
            <a:r>
              <a:rPr lang="en-US" sz="800" b="1" dirty="0">
                <a:solidFill>
                  <a:schemeClr val="accent4">
                    <a:lumMod val="40000"/>
                    <a:lumOff val="60000"/>
                  </a:schemeClr>
                </a:solidFill>
                <a:effectLst/>
                <a:latin typeface="quote-cjk-patch"/>
              </a:rPr>
              <a:t>Chapter 11: The End of the Show</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Time to combine with another circus: </a:t>
            </a:r>
            <a:r>
              <a:rPr lang="en-US" sz="800" b="1" dirty="0">
                <a:solidFill>
                  <a:schemeClr val="accent4">
                    <a:lumMod val="40000"/>
                    <a:lumOff val="60000"/>
                  </a:schemeClr>
                </a:solidFill>
                <a:effectLst/>
                <a:latin typeface="quote-cjk-patch"/>
              </a:rPr>
              <a:t>$merge</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(Put all our performers together!)</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Hide the boring parts: </a:t>
            </a:r>
            <a:r>
              <a:rPr lang="en-US" sz="800" b="1" dirty="0">
                <a:solidFill>
                  <a:schemeClr val="accent4">
                    <a:lumMod val="40000"/>
                    <a:lumOff val="60000"/>
                  </a:schemeClr>
                </a:solidFill>
                <a:effectLst/>
                <a:latin typeface="quote-cjk-patch"/>
              </a:rPr>
              <a:t>$redact</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(Show only the exciting acts, hide the cleanup crew!)</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Get a quick summary: </a:t>
            </a:r>
            <a:r>
              <a:rPr lang="en-US" sz="800" b="1" dirty="0">
                <a:solidFill>
                  <a:schemeClr val="accent4">
                    <a:lumMod val="40000"/>
                    <a:lumOff val="60000"/>
                  </a:schemeClr>
                </a:solidFill>
                <a:effectLst/>
                <a:latin typeface="quote-cjk-patch"/>
              </a:rPr>
              <a:t>$</a:t>
            </a:r>
            <a:r>
              <a:rPr lang="en-US" sz="800" b="1" dirty="0" err="1">
                <a:solidFill>
                  <a:schemeClr val="accent4">
                    <a:lumMod val="40000"/>
                    <a:lumOff val="60000"/>
                  </a:schemeClr>
                </a:solidFill>
                <a:effectLst/>
                <a:latin typeface="quote-cjk-patch"/>
              </a:rPr>
              <a:t>mini_report</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(Just give me the highlights!)</a:t>
            </a:r>
            <a:endParaRPr lang="en-US" sz="800" b="0" dirty="0">
              <a:solidFill>
                <a:schemeClr val="accent4">
                  <a:lumMod val="40000"/>
                  <a:lumOff val="60000"/>
                </a:schemeClr>
              </a:solidFill>
              <a:effectLst/>
              <a:latin typeface="quote-cjk-patch"/>
            </a:endParaRPr>
          </a:p>
          <a:p>
            <a:pPr>
              <a:buNone/>
            </a:pPr>
            <a:r>
              <a:rPr lang="en-US" sz="800" b="0" dirty="0">
                <a:solidFill>
                  <a:schemeClr val="accent4">
                    <a:lumMod val="40000"/>
                    <a:lumOff val="60000"/>
                  </a:schemeClr>
                </a:solidFill>
                <a:effectLst/>
                <a:latin typeface="quote-cjk-patch"/>
              </a:rPr>
              <a:t>And finally, when the show is over: </a:t>
            </a:r>
            <a:r>
              <a:rPr lang="en-US" sz="800" b="1" dirty="0">
                <a:solidFill>
                  <a:schemeClr val="accent4">
                    <a:lumMod val="40000"/>
                    <a:lumOff val="60000"/>
                  </a:schemeClr>
                </a:solidFill>
                <a:effectLst/>
                <a:latin typeface="quote-cjk-patch"/>
              </a:rPr>
              <a:t>$out</a:t>
            </a:r>
            <a:r>
              <a:rPr lang="en-US" sz="800" b="0" dirty="0">
                <a:solidFill>
                  <a:schemeClr val="accent4">
                    <a:lumMod val="40000"/>
                    <a:lumOff val="60000"/>
                  </a:schemeClr>
                </a:solidFill>
                <a:effectLst/>
                <a:latin typeface="quote-cjk-patch"/>
              </a:rPr>
              <a:t>! 🚪</a:t>
            </a:r>
            <a:br>
              <a:rPr lang="en-US" sz="800" b="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(Save all the memories into a new collection!)</a:t>
            </a:r>
            <a:endParaRPr lang="en-US" sz="800" b="0" dirty="0">
              <a:solidFill>
                <a:schemeClr val="accent4">
                  <a:lumMod val="40000"/>
                  <a:lumOff val="60000"/>
                </a:schemeClr>
              </a:solidFill>
              <a:effectLst/>
              <a:latin typeface="quote-cjk-patch"/>
            </a:endParaRPr>
          </a:p>
          <a:p>
            <a:pPr>
              <a:buNone/>
            </a:pPr>
            <a:br>
              <a:rPr lang="en-US" sz="800" b="0" dirty="0">
                <a:solidFill>
                  <a:schemeClr val="accent4">
                    <a:lumMod val="40000"/>
                    <a:lumOff val="60000"/>
                  </a:schemeClr>
                </a:solidFill>
                <a:effectLst/>
                <a:latin typeface="quote-cjk-patch"/>
              </a:rPr>
            </a:br>
            <a:endParaRPr lang="en-US" sz="800" b="0" dirty="0">
              <a:solidFill>
                <a:schemeClr val="accent4">
                  <a:lumMod val="40000"/>
                  <a:lumOff val="60000"/>
                </a:schemeClr>
              </a:solidFill>
              <a:effectLst/>
              <a:latin typeface="quote-cjk-patch"/>
            </a:endParaRPr>
          </a:p>
          <a:p>
            <a:pPr>
              <a:buNone/>
            </a:pPr>
            <a:r>
              <a:rPr lang="en-US" sz="800" b="1" dirty="0">
                <a:solidFill>
                  <a:schemeClr val="accent4">
                    <a:lumMod val="40000"/>
                    <a:lumOff val="60000"/>
                  </a:schemeClr>
                </a:solidFill>
                <a:effectLst/>
                <a:latin typeface="quote-cjk-patch"/>
              </a:rPr>
              <a:t>THE END!</a:t>
            </a:r>
            <a:r>
              <a:rPr lang="en-US" sz="800" b="0" dirty="0">
                <a:solidFill>
                  <a:schemeClr val="accent4">
                    <a:lumMod val="40000"/>
                    <a:lumOff val="60000"/>
                  </a:schemeClr>
                </a:solidFill>
                <a:effectLst/>
                <a:latin typeface="quote-cjk-patch"/>
              </a:rPr>
              <a:t> 🎉</a:t>
            </a:r>
          </a:p>
          <a:p>
            <a:pPr>
              <a:buNone/>
            </a:pPr>
            <a:r>
              <a:rPr lang="en-US" sz="800" b="0" i="1" dirty="0">
                <a:solidFill>
                  <a:schemeClr val="accent4">
                    <a:lumMod val="40000"/>
                    <a:lumOff val="60000"/>
                  </a:schemeClr>
                </a:solidFill>
                <a:effectLst/>
                <a:latin typeface="quote-cjk-patch"/>
              </a:rPr>
              <a:t>Remember: every MongoDB command is like a circus act - they each do something special to help organize and transform your data circus!</a:t>
            </a:r>
            <a:endParaRPr lang="en-US" sz="800" b="0" dirty="0">
              <a:solidFill>
                <a:schemeClr val="accent4">
                  <a:lumMod val="40000"/>
                  <a:lumOff val="60000"/>
                </a:schemeClr>
              </a:solidFill>
              <a:effectLst/>
              <a:latin typeface="quote-cjk-patch"/>
            </a:endParaRPr>
          </a:p>
          <a:p>
            <a:pPr>
              <a:buNone/>
            </a:pPr>
            <a:br>
              <a:rPr lang="en-US" sz="800" dirty="0">
                <a:solidFill>
                  <a:schemeClr val="accent4">
                    <a:lumMod val="40000"/>
                    <a:lumOff val="60000"/>
                  </a:schemeClr>
                </a:solidFill>
                <a:effectLst/>
              </a:rPr>
            </a:br>
            <a:endParaRPr lang="en-US" sz="800" dirty="0">
              <a:solidFill>
                <a:schemeClr val="accent4">
                  <a:lumMod val="40000"/>
                  <a:lumOff val="60000"/>
                </a:schemeClr>
              </a:solidFill>
            </a:endParaRPr>
          </a:p>
        </p:txBody>
      </p:sp>
      <p:sp>
        <p:nvSpPr>
          <p:cNvPr id="7" name="TextBox 6">
            <a:extLst>
              <a:ext uri="{FF2B5EF4-FFF2-40B4-BE49-F238E27FC236}">
                <a16:creationId xmlns:a16="http://schemas.microsoft.com/office/drawing/2014/main" id="{F61EB822-7F4D-A61A-D72D-469A9C11F4E9}"/>
              </a:ext>
            </a:extLst>
          </p:cNvPr>
          <p:cNvSpPr txBox="1"/>
          <p:nvPr/>
        </p:nvSpPr>
        <p:spPr>
          <a:xfrm>
            <a:off x="245660" y="2890110"/>
            <a:ext cx="5568286" cy="3539430"/>
          </a:xfrm>
          <a:prstGeom prst="rect">
            <a:avLst/>
          </a:prstGeom>
          <a:noFill/>
        </p:spPr>
        <p:txBody>
          <a:bodyPr wrap="square">
            <a:spAutoFit/>
          </a:bodyPr>
          <a:lstStyle/>
          <a:p>
            <a:pPr marL="0" marR="0" lvl="0" indent="0" algn="l" defTabSz="457200" rtl="0" eaLnBrk="1" fontAlgn="auto" latinLnBrk="0" hangingPunct="1">
              <a:lnSpc>
                <a:spcPct val="100000"/>
              </a:lnSpc>
              <a:buClrTx/>
              <a:buSzTx/>
              <a:buFontTx/>
              <a:buNone/>
              <a:tabLst/>
              <a:defRPr/>
            </a:pP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Chapter 3: The Confusing Clown Car</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A tiny clown car arrived with clowns popping out everywhere! </a:t>
            </a: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$unwind</a:t>
            </a: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 🚗</a:t>
            </a: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r>
              <a:rPr kumimoji="0" lang="en-US" sz="800" b="0" i="1"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(Let each clown come out one by one so we can see them!)</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The ringmaster wanted to see what other circuses were doing: </a:t>
            </a: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$lookup</a:t>
            </a: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 👀</a:t>
            </a: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r>
              <a:rPr kumimoji="0" lang="en-US" sz="800" b="0" i="1"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(Go check the circus next door and bring back their acrobats!)</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Chapter 4: Counting and Adding</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"How many performers do we have?" </a:t>
            </a: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$count</a:t>
            </a: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 🔢</a:t>
            </a: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r>
              <a:rPr kumimoji="0" lang="en-US" sz="800" b="0" i="1"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(Just tell me the number!)</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"Wait, I forgot to add something!" </a:t>
            </a: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a:t>
            </a:r>
            <a:r>
              <a:rPr kumimoji="0" lang="en-US" sz="800" b="1" i="0" u="none" strike="noStrike" kern="1200" cap="none" spc="0" normalizeH="0" baseline="0" noProof="0" dirty="0" err="1">
                <a:ln>
                  <a:noFill/>
                </a:ln>
                <a:solidFill>
                  <a:schemeClr val="accent4">
                    <a:lumMod val="40000"/>
                    <a:lumOff val="60000"/>
                  </a:schemeClr>
                </a:solidFill>
                <a:effectLst/>
                <a:uLnTx/>
                <a:uFillTx/>
                <a:latin typeface="quote-cjk-patch"/>
                <a:ea typeface="+mn-ea"/>
                <a:cs typeface="+mn-cs"/>
              </a:rPr>
              <a:t>addFields</a:t>
            </a: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 ➕</a:t>
            </a: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r>
              <a:rPr kumimoji="0" lang="en-US" sz="800" b="0" i="1"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(Give every clown a red nose!)</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Chapter 5: Tricky Decisions</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The ringmaster needed to make smart choices: </a:t>
            </a: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$expr</a:t>
            </a: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 🧠</a:t>
            </a: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r>
              <a:rPr kumimoji="0" lang="en-US" sz="800" b="0" i="1"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(Let me use complex expressions to find performers who can balance on one foot while juggling!)</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For tough choices: </a:t>
            </a: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a:t>
            </a:r>
            <a:r>
              <a:rPr kumimoji="0" lang="en-US" sz="800" b="1" i="0" u="none" strike="noStrike" kern="1200" cap="none" spc="0" normalizeH="0" baseline="0" noProof="0" dirty="0" err="1">
                <a:ln>
                  <a:noFill/>
                </a:ln>
                <a:solidFill>
                  <a:schemeClr val="accent4">
                    <a:lumMod val="40000"/>
                    <a:lumOff val="60000"/>
                  </a:schemeClr>
                </a:solidFill>
                <a:effectLst/>
                <a:uLnTx/>
                <a:uFillTx/>
                <a:latin typeface="quote-cjk-patch"/>
                <a:ea typeface="+mn-ea"/>
                <a:cs typeface="+mn-cs"/>
              </a:rPr>
              <a:t>cond</a:t>
            </a: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 🤔</a:t>
            </a: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r>
              <a:rPr kumimoji="0" lang="en-US" sz="800" b="0" i="1"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(If they can juggle fire, give them a helmet. If not, give them water!)</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Chapter 6: Multiple Shows at Once</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The circus had three rings! </a:t>
            </a: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$facet</a:t>
            </a: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 🎪🎪🎪</a:t>
            </a: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r>
              <a:rPr kumimoji="0" lang="en-US" sz="800" b="0" i="1"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(In one ring: group the clowns! In another: sort the acrobats! In another: count the animals!)</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For organizing by skill level: </a:t>
            </a: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$bucket</a:t>
            </a: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 📦</a:t>
            </a: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r>
              <a:rPr kumimoji="0" lang="en-US" sz="800" b="0" i="1"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(Beginners in bucket 1, intermediates in bucket 2, experts in bucket 3!)</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a:p>
            <a:pPr marL="0" marR="0" lvl="0" indent="0" algn="l" defTabSz="457200" rtl="0" eaLnBrk="1" fontAlgn="auto" latinLnBrk="0" hangingPunct="1">
              <a:lnSpc>
                <a:spcPct val="100000"/>
              </a:lnSpc>
              <a:buClrTx/>
              <a:buSzTx/>
              <a:buFontTx/>
              <a:buNone/>
              <a:tabLst/>
              <a:defRPr/>
            </a:pP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Even better: </a:t>
            </a:r>
            <a:r>
              <a:rPr kumimoji="0" lang="en-US" sz="800" b="1"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a:t>
            </a:r>
            <a:r>
              <a:rPr kumimoji="0" lang="en-US" sz="800" b="1" i="0" u="none" strike="noStrike" kern="1200" cap="none" spc="0" normalizeH="0" baseline="0" noProof="0" dirty="0" err="1">
                <a:ln>
                  <a:noFill/>
                </a:ln>
                <a:solidFill>
                  <a:schemeClr val="accent4">
                    <a:lumMod val="40000"/>
                    <a:lumOff val="60000"/>
                  </a:schemeClr>
                </a:solidFill>
                <a:effectLst/>
                <a:uLnTx/>
                <a:uFillTx/>
                <a:latin typeface="quote-cjk-patch"/>
                <a:ea typeface="+mn-ea"/>
                <a:cs typeface="+mn-cs"/>
              </a:rPr>
              <a:t>bucketAuto</a:t>
            </a:r>
            <a: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 🤖</a:t>
            </a:r>
            <a:br>
              <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br>
            <a:r>
              <a:rPr kumimoji="0" lang="en-US" sz="800" b="0" i="1" u="none" strike="noStrike" kern="1200" cap="none" spc="0" normalizeH="0" baseline="0" noProof="0" dirty="0">
                <a:ln>
                  <a:noFill/>
                </a:ln>
                <a:solidFill>
                  <a:schemeClr val="accent4">
                    <a:lumMod val="40000"/>
                    <a:lumOff val="60000"/>
                  </a:schemeClr>
                </a:solidFill>
                <a:effectLst/>
                <a:uLnTx/>
                <a:uFillTx/>
                <a:latin typeface="quote-cjk-patch"/>
                <a:ea typeface="+mn-ea"/>
                <a:cs typeface="+mn-cs"/>
              </a:rPr>
              <a:t>(Let the computer decide how to group them fairly!)</a:t>
            </a:r>
            <a:endParaRPr kumimoji="0" lang="en-US" sz="800" b="0" i="0" u="none" strike="noStrike" kern="1200" cap="none" spc="0" normalizeH="0" baseline="0" noProof="0" dirty="0">
              <a:ln>
                <a:noFill/>
              </a:ln>
              <a:solidFill>
                <a:schemeClr val="accent4">
                  <a:lumMod val="40000"/>
                  <a:lumOff val="60000"/>
                </a:schemeClr>
              </a:solidFill>
              <a:effectLst/>
              <a:uLnTx/>
              <a:uFillTx/>
              <a:latin typeface="quote-cjk-patch"/>
              <a:ea typeface="+mn-ea"/>
              <a:cs typeface="+mn-cs"/>
            </a:endParaRPr>
          </a:p>
        </p:txBody>
      </p:sp>
      <p:sp>
        <p:nvSpPr>
          <p:cNvPr id="8" name="TextBox 7">
            <a:extLst>
              <a:ext uri="{FF2B5EF4-FFF2-40B4-BE49-F238E27FC236}">
                <a16:creationId xmlns:a16="http://schemas.microsoft.com/office/drawing/2014/main" id="{1B3E557C-8D6A-15A8-FA22-C9FE2740F184}"/>
              </a:ext>
            </a:extLst>
          </p:cNvPr>
          <p:cNvSpPr txBox="1"/>
          <p:nvPr/>
        </p:nvSpPr>
        <p:spPr>
          <a:xfrm>
            <a:off x="266132" y="195366"/>
            <a:ext cx="9464722" cy="338554"/>
          </a:xfrm>
          <a:prstGeom prst="rect">
            <a:avLst/>
          </a:prstGeom>
          <a:noFill/>
        </p:spPr>
        <p:txBody>
          <a:bodyPr wrap="square">
            <a:spAutoFit/>
          </a:bodyPr>
          <a:lstStyle/>
          <a:p>
            <a:pPr algn="l">
              <a:buNone/>
            </a:pPr>
            <a:r>
              <a:rPr lang="en-US" sz="800" b="1" i="0" dirty="0">
                <a:solidFill>
                  <a:srgbClr val="FFFF00"/>
                </a:solidFill>
                <a:effectLst/>
                <a:latin typeface="quote-cjk-patch"/>
              </a:rPr>
              <a:t>The Great MongoDB Circus Adventure!</a:t>
            </a:r>
            <a:endParaRPr lang="en-US" sz="800" b="0" i="0" dirty="0">
              <a:solidFill>
                <a:srgbClr val="FFFF00"/>
              </a:solidFill>
              <a:effectLst/>
              <a:latin typeface="quote-cjk-patch"/>
            </a:endParaRPr>
          </a:p>
          <a:p>
            <a:pPr algn="l">
              <a:buNone/>
            </a:pPr>
            <a:r>
              <a:rPr lang="en-US" sz="800" b="0" i="0" dirty="0">
                <a:solidFill>
                  <a:srgbClr val="FFFF00"/>
                </a:solidFill>
                <a:effectLst/>
                <a:latin typeface="quote-cjk-patch"/>
              </a:rPr>
              <a:t>Once upon a time, a silly circus troupe needed to organize their chaotic performers. Let's follow their adventure!</a:t>
            </a:r>
          </a:p>
        </p:txBody>
      </p:sp>
      <p:sp>
        <p:nvSpPr>
          <p:cNvPr id="9" name="TextBox 8">
            <a:extLst>
              <a:ext uri="{FF2B5EF4-FFF2-40B4-BE49-F238E27FC236}">
                <a16:creationId xmlns:a16="http://schemas.microsoft.com/office/drawing/2014/main" id="{F08ED96A-26F8-38B8-36EC-D63B18BCB30D}"/>
              </a:ext>
            </a:extLst>
          </p:cNvPr>
          <p:cNvSpPr txBox="1"/>
          <p:nvPr/>
        </p:nvSpPr>
        <p:spPr>
          <a:xfrm>
            <a:off x="266132" y="748635"/>
            <a:ext cx="2995814" cy="707886"/>
          </a:xfrm>
          <a:prstGeom prst="rect">
            <a:avLst/>
          </a:prstGeom>
          <a:noFill/>
        </p:spPr>
        <p:txBody>
          <a:bodyPr wrap="square">
            <a:spAutoFit/>
          </a:bodyPr>
          <a:lstStyle/>
          <a:p>
            <a:pPr algn="l">
              <a:buNone/>
            </a:pPr>
            <a:r>
              <a:rPr lang="en-US" sz="800" b="1" i="0" dirty="0">
                <a:solidFill>
                  <a:schemeClr val="accent4">
                    <a:lumMod val="40000"/>
                    <a:lumOff val="60000"/>
                  </a:schemeClr>
                </a:solidFill>
                <a:effectLst/>
                <a:latin typeface="quote-cjk-patch"/>
              </a:rPr>
              <a:t>Chapter 1: Setting Up the Show</a:t>
            </a:r>
            <a:endParaRPr lang="en-US" sz="800" b="0" i="0" dirty="0">
              <a:solidFill>
                <a:schemeClr val="accent4">
                  <a:lumMod val="40000"/>
                  <a:lumOff val="60000"/>
                </a:schemeClr>
              </a:solidFill>
              <a:effectLst/>
              <a:latin typeface="quote-cjk-patch"/>
            </a:endParaRPr>
          </a:p>
          <a:p>
            <a:pPr algn="l">
              <a:buNone/>
            </a:pPr>
            <a:r>
              <a:rPr lang="en-US" sz="800" b="0" i="0" dirty="0">
                <a:solidFill>
                  <a:schemeClr val="accent4">
                    <a:lumMod val="40000"/>
                    <a:lumOff val="60000"/>
                  </a:schemeClr>
                </a:solidFill>
                <a:effectLst/>
                <a:latin typeface="quote-cjk-patch"/>
              </a:rPr>
              <a:t>The ringmaster stood on stage and said: </a:t>
            </a:r>
            <a:r>
              <a:rPr lang="en-US" sz="800" b="1" i="0" dirty="0">
                <a:solidFill>
                  <a:schemeClr val="accent4">
                    <a:lumMod val="40000"/>
                    <a:lumOff val="60000"/>
                  </a:schemeClr>
                </a:solidFill>
                <a:effectLst/>
                <a:latin typeface="quote-cjk-patch"/>
              </a:rPr>
              <a:t>$match</a:t>
            </a:r>
            <a:r>
              <a:rPr lang="en-US" sz="800" b="0" i="0" dirty="0">
                <a:solidFill>
                  <a:schemeClr val="accent4">
                    <a:lumMod val="40000"/>
                    <a:lumOff val="60000"/>
                  </a:schemeClr>
                </a:solidFill>
                <a:effectLst/>
                <a:latin typeface="quote-cjk-patch"/>
              </a:rPr>
              <a:t>! 🎪</a:t>
            </a:r>
            <a:br>
              <a:rPr lang="en-US" sz="800" b="0" i="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(Find me all the performers who can juggle!)</a:t>
            </a:r>
            <a:endParaRPr lang="en-US" sz="800" b="0" i="0" dirty="0">
              <a:solidFill>
                <a:schemeClr val="accent4">
                  <a:lumMod val="40000"/>
                  <a:lumOff val="60000"/>
                </a:schemeClr>
              </a:solidFill>
              <a:effectLst/>
              <a:latin typeface="quote-cjk-patch"/>
            </a:endParaRPr>
          </a:p>
          <a:p>
            <a:pPr algn="l">
              <a:buNone/>
            </a:pPr>
            <a:r>
              <a:rPr lang="en-US" sz="800" b="0" i="0" dirty="0">
                <a:solidFill>
                  <a:schemeClr val="accent4">
                    <a:lumMod val="40000"/>
                    <a:lumOff val="60000"/>
                  </a:schemeClr>
                </a:solidFill>
                <a:effectLst/>
                <a:latin typeface="quote-cjk-patch"/>
              </a:rPr>
              <a:t>Then he looked at each performer and said: </a:t>
            </a:r>
            <a:r>
              <a:rPr lang="en-US" sz="800" b="1" i="0" dirty="0">
                <a:solidFill>
                  <a:schemeClr val="accent4">
                    <a:lumMod val="40000"/>
                    <a:lumOff val="60000"/>
                  </a:schemeClr>
                </a:solidFill>
                <a:effectLst/>
                <a:latin typeface="quote-cjk-patch"/>
              </a:rPr>
              <a:t>$project</a:t>
            </a:r>
            <a:r>
              <a:rPr lang="en-US" sz="800" b="0" i="0" dirty="0">
                <a:solidFill>
                  <a:schemeClr val="accent4">
                    <a:lumMod val="40000"/>
                    <a:lumOff val="60000"/>
                  </a:schemeClr>
                </a:solidFill>
                <a:effectLst/>
                <a:latin typeface="quote-cjk-patch"/>
              </a:rPr>
              <a:t>! ✨</a:t>
            </a:r>
            <a:br>
              <a:rPr lang="en-US" sz="800" b="0" i="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(I only want to see their name and talent, nothing else!)</a:t>
            </a:r>
            <a:endParaRPr lang="en-US" sz="800" b="0" i="0" dirty="0">
              <a:solidFill>
                <a:schemeClr val="accent4">
                  <a:lumMod val="40000"/>
                  <a:lumOff val="60000"/>
                </a:schemeClr>
              </a:solidFill>
              <a:effectLst/>
              <a:latin typeface="quote-cjk-patch"/>
            </a:endParaRPr>
          </a:p>
        </p:txBody>
      </p:sp>
      <p:sp>
        <p:nvSpPr>
          <p:cNvPr id="10" name="TextBox 9">
            <a:extLst>
              <a:ext uri="{FF2B5EF4-FFF2-40B4-BE49-F238E27FC236}">
                <a16:creationId xmlns:a16="http://schemas.microsoft.com/office/drawing/2014/main" id="{D39258B6-9EDF-A145-8DDF-51FDD8D02B20}"/>
              </a:ext>
            </a:extLst>
          </p:cNvPr>
          <p:cNvSpPr txBox="1"/>
          <p:nvPr/>
        </p:nvSpPr>
        <p:spPr>
          <a:xfrm>
            <a:off x="266132" y="1634911"/>
            <a:ext cx="3472962" cy="1077218"/>
          </a:xfrm>
          <a:prstGeom prst="rect">
            <a:avLst/>
          </a:prstGeom>
          <a:noFill/>
        </p:spPr>
        <p:txBody>
          <a:bodyPr wrap="square">
            <a:spAutoFit/>
          </a:bodyPr>
          <a:lstStyle/>
          <a:p>
            <a:pPr algn="l">
              <a:buNone/>
            </a:pPr>
            <a:r>
              <a:rPr lang="en-US" sz="800" b="1" i="0" dirty="0">
                <a:solidFill>
                  <a:schemeClr val="accent4">
                    <a:lumMod val="40000"/>
                    <a:lumOff val="60000"/>
                  </a:schemeClr>
                </a:solidFill>
                <a:effectLst/>
                <a:latin typeface="quote-cjk-patch"/>
              </a:rPr>
              <a:t>Chapter 2: Organizing the Chaos</a:t>
            </a:r>
            <a:endParaRPr lang="en-US" sz="800" b="0" i="0" dirty="0">
              <a:solidFill>
                <a:schemeClr val="accent4">
                  <a:lumMod val="40000"/>
                  <a:lumOff val="60000"/>
                </a:schemeClr>
              </a:solidFill>
              <a:effectLst/>
              <a:latin typeface="quote-cjk-patch"/>
            </a:endParaRPr>
          </a:p>
          <a:p>
            <a:pPr algn="l">
              <a:buNone/>
            </a:pPr>
            <a:r>
              <a:rPr lang="en-US" sz="800" b="0" i="0" dirty="0">
                <a:solidFill>
                  <a:schemeClr val="accent4">
                    <a:lumMod val="40000"/>
                    <a:lumOff val="60000"/>
                  </a:schemeClr>
                </a:solidFill>
                <a:effectLst/>
                <a:latin typeface="quote-cjk-patch"/>
              </a:rPr>
              <a:t>All the clowns started running around wildly! The ringmaster shouted: </a:t>
            </a:r>
            <a:r>
              <a:rPr lang="en-US" sz="800" b="1" i="0" dirty="0">
                <a:solidFill>
                  <a:schemeClr val="accent4">
                    <a:lumMod val="40000"/>
                    <a:lumOff val="60000"/>
                  </a:schemeClr>
                </a:solidFill>
                <a:effectLst/>
                <a:latin typeface="quote-cjk-patch"/>
              </a:rPr>
              <a:t>$group</a:t>
            </a:r>
            <a:r>
              <a:rPr lang="en-US" sz="800" b="0" i="0" dirty="0">
                <a:solidFill>
                  <a:schemeClr val="accent4">
                    <a:lumMod val="40000"/>
                    <a:lumOff val="60000"/>
                  </a:schemeClr>
                </a:solidFill>
                <a:effectLst/>
                <a:latin typeface="quote-cjk-patch"/>
              </a:rPr>
              <a:t>! 🤡</a:t>
            </a:r>
            <a:br>
              <a:rPr lang="en-US" sz="800" b="0" i="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(Put all the jugglers together, all the acrobats together!)</a:t>
            </a:r>
            <a:endParaRPr lang="en-US" sz="800" b="0" i="0" dirty="0">
              <a:solidFill>
                <a:schemeClr val="accent4">
                  <a:lumMod val="40000"/>
                  <a:lumOff val="60000"/>
                </a:schemeClr>
              </a:solidFill>
              <a:effectLst/>
              <a:latin typeface="quote-cjk-patch"/>
            </a:endParaRPr>
          </a:p>
          <a:p>
            <a:pPr algn="l">
              <a:buNone/>
            </a:pPr>
            <a:r>
              <a:rPr lang="en-US" sz="800" b="0" i="0" dirty="0">
                <a:solidFill>
                  <a:schemeClr val="accent4">
                    <a:lumMod val="40000"/>
                    <a:lumOff val="60000"/>
                  </a:schemeClr>
                </a:solidFill>
                <a:effectLst/>
                <a:latin typeface="quote-cjk-patch"/>
              </a:rPr>
              <a:t>But there was too much noise! </a:t>
            </a:r>
            <a:r>
              <a:rPr lang="en-US" sz="800" b="1" i="0" dirty="0">
                <a:solidFill>
                  <a:schemeClr val="accent4">
                    <a:lumMod val="40000"/>
                    <a:lumOff val="60000"/>
                  </a:schemeClr>
                </a:solidFill>
                <a:effectLst/>
                <a:latin typeface="quote-cjk-patch"/>
              </a:rPr>
              <a:t>$sort</a:t>
            </a:r>
            <a:r>
              <a:rPr lang="en-US" sz="800" b="0" i="0" dirty="0">
                <a:solidFill>
                  <a:schemeClr val="accent4">
                    <a:lumMod val="40000"/>
                    <a:lumOff val="60000"/>
                  </a:schemeClr>
                </a:solidFill>
                <a:effectLst/>
                <a:latin typeface="quote-cjk-patch"/>
              </a:rPr>
              <a:t>! 🎯</a:t>
            </a:r>
            <a:br>
              <a:rPr lang="en-US" sz="800" b="0" i="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(Line them up from shortest to tallest!)</a:t>
            </a:r>
            <a:endParaRPr lang="en-US" sz="800" b="0" i="0" dirty="0">
              <a:solidFill>
                <a:schemeClr val="accent4">
                  <a:lumMod val="40000"/>
                  <a:lumOff val="60000"/>
                </a:schemeClr>
              </a:solidFill>
              <a:effectLst/>
              <a:latin typeface="quote-cjk-patch"/>
            </a:endParaRPr>
          </a:p>
          <a:p>
            <a:pPr algn="l">
              <a:buNone/>
            </a:pPr>
            <a:r>
              <a:rPr lang="en-US" sz="800" b="0" i="0" dirty="0">
                <a:solidFill>
                  <a:schemeClr val="accent4">
                    <a:lumMod val="40000"/>
                    <a:lumOff val="60000"/>
                  </a:schemeClr>
                </a:solidFill>
                <a:effectLst/>
                <a:latin typeface="quote-cjk-patch"/>
              </a:rPr>
              <a:t>Too many performers! </a:t>
            </a:r>
            <a:r>
              <a:rPr lang="en-US" sz="800" b="1" i="0" dirty="0">
                <a:solidFill>
                  <a:schemeClr val="accent4">
                    <a:lumMod val="40000"/>
                    <a:lumOff val="60000"/>
                  </a:schemeClr>
                </a:solidFill>
                <a:effectLst/>
                <a:latin typeface="quote-cjk-patch"/>
              </a:rPr>
              <a:t>$limit</a:t>
            </a:r>
            <a:r>
              <a:rPr lang="en-US" sz="800" b="0" i="0" dirty="0">
                <a:solidFill>
                  <a:schemeClr val="accent4">
                    <a:lumMod val="40000"/>
                    <a:lumOff val="60000"/>
                  </a:schemeClr>
                </a:solidFill>
                <a:effectLst/>
                <a:latin typeface="quote-cjk-patch"/>
              </a:rPr>
              <a:t>! ✋</a:t>
            </a:r>
            <a:br>
              <a:rPr lang="en-US" sz="800" b="0" i="0" dirty="0">
                <a:solidFill>
                  <a:schemeClr val="accent4">
                    <a:lumMod val="40000"/>
                    <a:lumOff val="60000"/>
                  </a:schemeClr>
                </a:solidFill>
                <a:effectLst/>
                <a:latin typeface="quote-cjk-patch"/>
              </a:rPr>
            </a:br>
            <a:r>
              <a:rPr lang="en-US" sz="800" b="0" i="1" dirty="0">
                <a:solidFill>
                  <a:schemeClr val="accent4">
                    <a:lumMod val="40000"/>
                    <a:lumOff val="60000"/>
                  </a:schemeClr>
                </a:solidFill>
                <a:effectLst/>
                <a:latin typeface="quote-cjk-patch"/>
              </a:rPr>
              <a:t>(I only want to see the first 5!)</a:t>
            </a:r>
            <a:endParaRPr lang="en-US" sz="800" b="0" i="0" dirty="0">
              <a:solidFill>
                <a:schemeClr val="accent4">
                  <a:lumMod val="40000"/>
                  <a:lumOff val="60000"/>
                </a:schemeClr>
              </a:solidFill>
              <a:effectLst/>
              <a:latin typeface="quote-cjk-patch"/>
            </a:endParaRPr>
          </a:p>
        </p:txBody>
      </p:sp>
    </p:spTree>
    <p:extLst>
      <p:ext uri="{BB962C8B-B14F-4D97-AF65-F5344CB8AC3E}">
        <p14:creationId xmlns:p14="http://schemas.microsoft.com/office/powerpoint/2010/main" val="4246493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B42FC-F611-38FE-D5DE-163035B1F56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5168D79-E71D-7826-BD61-8F75EE7FB382}"/>
              </a:ext>
            </a:extLst>
          </p:cNvPr>
          <p:cNvSpPr txBox="1"/>
          <p:nvPr/>
        </p:nvSpPr>
        <p:spPr>
          <a:xfrm>
            <a:off x="4813057" y="633483"/>
            <a:ext cx="4954464" cy="5657959"/>
          </a:xfrm>
          <a:prstGeom prst="rect">
            <a:avLst/>
          </a:prstGeom>
          <a:noFill/>
        </p:spPr>
        <p:txBody>
          <a:bodyPr wrap="square">
            <a:spAutoFit/>
          </a:bodyPr>
          <a:lstStyle/>
          <a:p>
            <a:pPr>
              <a:lnSpc>
                <a:spcPts val="1425"/>
              </a:lnSpc>
              <a:buNone/>
            </a:pPr>
            <a:r>
              <a:rPr lang="en-US" sz="1200" b="0" dirty="0">
                <a:solidFill>
                  <a:srgbClr val="6A9955"/>
                </a:solidFill>
                <a:effectLst/>
                <a:latin typeface="Consolas" panose="020B0609020204030204" pitchFamily="49" charset="0"/>
              </a:rPr>
              <a:t>// 3. Goal: find products with a price greater than 100</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$match:</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price:</a:t>
            </a: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gt</a:t>
            </a:r>
            <a:r>
              <a:rPr lang="en-US" sz="1200" b="0" dirty="0">
                <a:solidFill>
                  <a:srgbClr val="9CDCFE"/>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100</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4. Goal: find products from the brand "Apple"</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$match:</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brand:</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"Apple"</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5. Goal: find customers from "New York"</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customers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$match:</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location:</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"New York"</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p:txBody>
      </p:sp>
      <p:sp>
        <p:nvSpPr>
          <p:cNvPr id="7" name="TextBox 6">
            <a:extLst>
              <a:ext uri="{FF2B5EF4-FFF2-40B4-BE49-F238E27FC236}">
                <a16:creationId xmlns:a16="http://schemas.microsoft.com/office/drawing/2014/main" id="{9292DEAE-22F9-EAC1-E916-5940C06FF0A0}"/>
              </a:ext>
            </a:extLst>
          </p:cNvPr>
          <p:cNvSpPr txBox="1"/>
          <p:nvPr/>
        </p:nvSpPr>
        <p:spPr>
          <a:xfrm>
            <a:off x="243987" y="1032550"/>
            <a:ext cx="4954464" cy="2785378"/>
          </a:xfrm>
          <a:prstGeom prst="rect">
            <a:avLst/>
          </a:prstGeom>
          <a:noFill/>
        </p:spPr>
        <p:txBody>
          <a:bodyPr wrap="square">
            <a:spAutoFit/>
          </a:bodyPr>
          <a:lstStyle/>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1. Goal: find all delivered orders</a:t>
            </a:r>
            <a:endPar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db</a:t>
            </a:r>
            <a:r>
              <a:rPr kumimoji="0" lang="en-US" sz="12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orders</a:t>
            </a:r>
            <a:r>
              <a:rPr kumimoji="0" lang="en-US" sz="12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aggregate</a:t>
            </a: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12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$match:</a:t>
            </a: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12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status:</a:t>
            </a: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"delivered"</a:t>
            </a: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ts val="1425"/>
              </a:lnSpc>
              <a:spcBef>
                <a:spcPts val="0"/>
              </a:spcBef>
              <a:spcAft>
                <a:spcPts val="0"/>
              </a:spcAft>
              <a:buClrTx/>
              <a:buSzTx/>
              <a:buFontTx/>
              <a:buNone/>
              <a:tabLst/>
              <a:defRPr/>
            </a:pPr>
            <a:b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endPar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2. Goal: find all products that belong to the "Electronics" category.</a:t>
            </a:r>
            <a:endPar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db</a:t>
            </a:r>
            <a:r>
              <a:rPr kumimoji="0" lang="en-US" sz="12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products</a:t>
            </a:r>
            <a:r>
              <a:rPr kumimoji="0" lang="en-US" sz="12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a:t>
            </a:r>
            <a:r>
              <a:rPr kumimoji="0" lang="en-US" sz="12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aggregate</a:t>
            </a: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$match:</a:t>
            </a: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category:</a:t>
            </a: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"Electronics"</a:t>
            </a:r>
            <a:endPar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p:txBody>
      </p:sp>
      <p:sp>
        <p:nvSpPr>
          <p:cNvPr id="8" name="TextBox 7">
            <a:extLst>
              <a:ext uri="{FF2B5EF4-FFF2-40B4-BE49-F238E27FC236}">
                <a16:creationId xmlns:a16="http://schemas.microsoft.com/office/drawing/2014/main" id="{08752C23-2E93-36C4-FEA1-6C513A5C7BAD}"/>
              </a:ext>
            </a:extLst>
          </p:cNvPr>
          <p:cNvSpPr txBox="1"/>
          <p:nvPr/>
        </p:nvSpPr>
        <p:spPr>
          <a:xfrm>
            <a:off x="566644" y="342900"/>
            <a:ext cx="1184940" cy="369332"/>
          </a:xfrm>
          <a:prstGeom prst="rect">
            <a:avLst/>
          </a:prstGeom>
          <a:noFill/>
        </p:spPr>
        <p:txBody>
          <a:bodyPr wrap="none" rtlCol="0">
            <a:spAutoFit/>
          </a:bodyPr>
          <a:lstStyle/>
          <a:p>
            <a:r>
              <a:rPr lang="en-US" dirty="0">
                <a:solidFill>
                  <a:srgbClr val="FFFF00"/>
                </a:solidFill>
              </a:rPr>
              <a:t>1. $match</a:t>
            </a:r>
          </a:p>
        </p:txBody>
      </p:sp>
    </p:spTree>
    <p:extLst>
      <p:ext uri="{BB962C8B-B14F-4D97-AF65-F5344CB8AC3E}">
        <p14:creationId xmlns:p14="http://schemas.microsoft.com/office/powerpoint/2010/main" val="37994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31620F3-4C58-2AF8-8874-A2DABFF01266}"/>
              </a:ext>
            </a:extLst>
          </p:cNvPr>
          <p:cNvSpPr txBox="1"/>
          <p:nvPr/>
        </p:nvSpPr>
        <p:spPr>
          <a:xfrm>
            <a:off x="195942" y="578337"/>
            <a:ext cx="7158447" cy="6017032"/>
          </a:xfrm>
          <a:prstGeom prst="rect">
            <a:avLst/>
          </a:prstGeom>
          <a:noFill/>
        </p:spPr>
        <p:txBody>
          <a:bodyPr wrap="square">
            <a:spAutoFit/>
          </a:bodyPr>
          <a:lstStyle/>
          <a:p>
            <a:pPr>
              <a:lnSpc>
                <a:spcPts val="1425"/>
              </a:lnSpc>
              <a:buNone/>
            </a:pPr>
            <a:r>
              <a:rPr lang="en-US" sz="1200" b="0" dirty="0">
                <a:solidFill>
                  <a:srgbClr val="6A9955"/>
                </a:solidFill>
                <a:effectLst/>
                <a:latin typeface="Consolas" panose="020B0609020204030204" pitchFamily="49" charset="0"/>
              </a:rPr>
              <a:t>// 1. Goal: Show only the name, price, and category fields from the products collection</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find</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name:</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price:</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category:</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_id:</a:t>
            </a:r>
            <a:r>
              <a:rPr lang="en-US" sz="1200" b="0" dirty="0">
                <a:solidFill>
                  <a:srgbClr val="B5CEA8"/>
                </a:solidFill>
                <a:effectLst/>
                <a:latin typeface="Consolas" panose="020B0609020204030204" pitchFamily="49" charset="0"/>
              </a:rPr>
              <a:t>0</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$project: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name:</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price:</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category:</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_id:</a:t>
            </a:r>
            <a:r>
              <a:rPr lang="en-US" sz="1200" b="0" dirty="0">
                <a:solidFill>
                  <a:srgbClr val="B5CEA8"/>
                </a:solidFill>
                <a:effectLst/>
                <a:latin typeface="Consolas" panose="020B0609020204030204" pitchFamily="49" charset="0"/>
              </a:rPr>
              <a:t>0</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6A9955"/>
                </a:solidFill>
                <a:effectLst/>
                <a:latin typeface="Consolas" panose="020B0609020204030204" pitchFamily="49" charset="0"/>
              </a:rPr>
              <a:t>// 2. Goal: Show all fields from the products collection except for description.</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$project:</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description:</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0</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3. Goal: Add a new field </a:t>
            </a:r>
            <a:r>
              <a:rPr lang="en-US" sz="1200" b="0" dirty="0" err="1">
                <a:solidFill>
                  <a:srgbClr val="6A9955"/>
                </a:solidFill>
                <a:effectLst/>
                <a:latin typeface="Consolas" panose="020B0609020204030204" pitchFamily="49" charset="0"/>
              </a:rPr>
              <a:t>totalPrice</a:t>
            </a:r>
            <a:r>
              <a:rPr lang="en-US" sz="1200" b="0" dirty="0">
                <a:solidFill>
                  <a:srgbClr val="6A9955"/>
                </a:solidFill>
                <a:effectLst/>
                <a:latin typeface="Consolas" panose="020B0609020204030204" pitchFamily="49" charset="0"/>
              </a:rPr>
              <a:t> that is the product of price and stock</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find</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name:</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price:</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stock:</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totalPrice</a:t>
            </a:r>
            <a:r>
              <a:rPr lang="en-US" sz="1200" b="0" dirty="0">
                <a:solidFill>
                  <a:srgbClr val="9CDCFE"/>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$multiply:</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price"</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"$stock</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$project:</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name:</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price:</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stock:</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totalPrice</a:t>
            </a:r>
            <a:r>
              <a:rPr lang="en-US" sz="1200" b="0" dirty="0">
                <a:solidFill>
                  <a:srgbClr val="9CDCFE"/>
                </a:solidFill>
                <a:effectLst/>
                <a:latin typeface="Consolas" panose="020B0609020204030204" pitchFamily="49" charset="0"/>
              </a:rPr>
              <a:t>:</a:t>
            </a: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$multiply:</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"$price"</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"$stock"</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5CF8685C-1E87-C8B7-F103-42B4849C98E6}"/>
              </a:ext>
            </a:extLst>
          </p:cNvPr>
          <p:cNvSpPr txBox="1"/>
          <p:nvPr/>
        </p:nvSpPr>
        <p:spPr>
          <a:xfrm>
            <a:off x="195942" y="209005"/>
            <a:ext cx="1247521" cy="369332"/>
          </a:xfrm>
          <a:prstGeom prst="rect">
            <a:avLst/>
          </a:prstGeom>
          <a:noFill/>
        </p:spPr>
        <p:txBody>
          <a:bodyPr wrap="none" rtlCol="0">
            <a:spAutoFit/>
          </a:bodyPr>
          <a:lstStyle/>
          <a:p>
            <a:r>
              <a:rPr lang="en-US" dirty="0">
                <a:solidFill>
                  <a:srgbClr val="FFFF00"/>
                </a:solidFill>
              </a:rPr>
              <a:t>2. $project</a:t>
            </a:r>
          </a:p>
        </p:txBody>
      </p:sp>
    </p:spTree>
    <p:extLst>
      <p:ext uri="{BB962C8B-B14F-4D97-AF65-F5344CB8AC3E}">
        <p14:creationId xmlns:p14="http://schemas.microsoft.com/office/powerpoint/2010/main" val="1157393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F9598D-7684-AD23-CC7A-44562E5EB0B3}"/>
              </a:ext>
            </a:extLst>
          </p:cNvPr>
          <p:cNvSpPr txBox="1"/>
          <p:nvPr/>
        </p:nvSpPr>
        <p:spPr>
          <a:xfrm>
            <a:off x="605246" y="689147"/>
            <a:ext cx="9300754" cy="5479705"/>
          </a:xfrm>
          <a:prstGeom prst="rect">
            <a:avLst/>
          </a:prstGeom>
          <a:noFill/>
        </p:spPr>
        <p:txBody>
          <a:bodyPr wrap="square">
            <a:spAutoFit/>
          </a:bodyPr>
          <a:lstStyle/>
          <a:p>
            <a:pPr>
              <a:lnSpc>
                <a:spcPts val="1425"/>
              </a:lnSpc>
              <a:buNone/>
            </a:pPr>
            <a:r>
              <a:rPr lang="en-US" sz="1400" b="0" dirty="0">
                <a:solidFill>
                  <a:srgbClr val="6A9955"/>
                </a:solidFill>
                <a:effectLst/>
                <a:latin typeface="Consolas" panose="020B0609020204030204" pitchFamily="49" charset="0"/>
              </a:rPr>
              <a:t>// 4. Goal: Show the city and coordinates from the location field in the products collection.</a:t>
            </a:r>
          </a:p>
          <a:p>
            <a:pPr>
              <a:lnSpc>
                <a:spcPts val="1425"/>
              </a:lnSpc>
              <a:buNone/>
            </a:pPr>
            <a:endParaRPr lang="en-US" sz="1400" b="0" dirty="0">
              <a:solidFill>
                <a:srgbClr val="D4D4D4"/>
              </a:solidFill>
              <a:effectLst/>
              <a:latin typeface="Consolas" panose="020B0609020204030204" pitchFamily="49" charset="0"/>
            </a:endParaRPr>
          </a:p>
          <a:p>
            <a:pPr>
              <a:lnSpc>
                <a:spcPts val="1425"/>
              </a:lnSpc>
              <a:buNone/>
            </a:pPr>
            <a:r>
              <a:rPr lang="en-US" sz="1400" b="0" dirty="0" err="1">
                <a:solidFill>
                  <a:srgbClr val="9CDCFE"/>
                </a:solidFill>
                <a:effectLst/>
                <a:latin typeface="Consolas" panose="020B0609020204030204" pitchFamily="49" charset="0"/>
              </a:rPr>
              <a:t>db</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products</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aggregate</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$project:</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name:</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location.city</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location.coordinates</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1</a:t>
            </a: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a:t>
            </a:r>
          </a:p>
          <a:p>
            <a:pPr>
              <a:lnSpc>
                <a:spcPts val="1425"/>
              </a:lnSpc>
              <a:buNone/>
            </a:pPr>
            <a:br>
              <a:rPr lang="en-US" sz="1400" b="0" dirty="0">
                <a:solidFill>
                  <a:srgbClr val="D4D4D4"/>
                </a:solidFill>
                <a:effectLst/>
                <a:latin typeface="Consolas" panose="020B0609020204030204" pitchFamily="49" charset="0"/>
              </a:rPr>
            </a:b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6A9955"/>
                </a:solidFill>
                <a:effectLst/>
                <a:latin typeface="Consolas" panose="020B0609020204030204" pitchFamily="49" charset="0"/>
              </a:rPr>
              <a:t>// 5. Goal: Rename the name field to </a:t>
            </a:r>
            <a:r>
              <a:rPr lang="en-US" sz="1400" b="0" dirty="0" err="1">
                <a:solidFill>
                  <a:srgbClr val="6A9955"/>
                </a:solidFill>
                <a:effectLst/>
                <a:latin typeface="Consolas" panose="020B0609020204030204" pitchFamily="49" charset="0"/>
              </a:rPr>
              <a:t>productName</a:t>
            </a:r>
            <a:r>
              <a:rPr lang="en-US" sz="1400" b="0" dirty="0">
                <a:solidFill>
                  <a:srgbClr val="6A9955"/>
                </a:solidFill>
                <a:effectLst/>
                <a:latin typeface="Consolas" panose="020B0609020204030204" pitchFamily="49" charset="0"/>
              </a:rPr>
              <a:t> and price field to </a:t>
            </a:r>
            <a:r>
              <a:rPr lang="en-US" sz="1400" b="0" dirty="0" err="1">
                <a:solidFill>
                  <a:srgbClr val="6A9955"/>
                </a:solidFill>
                <a:effectLst/>
                <a:latin typeface="Consolas" panose="020B0609020204030204" pitchFamily="49" charset="0"/>
              </a:rPr>
              <a:t>productPrice</a:t>
            </a:r>
            <a:r>
              <a:rPr lang="en-US" sz="1400" b="0" dirty="0">
                <a:solidFill>
                  <a:srgbClr val="6A9955"/>
                </a:solidFill>
                <a:effectLst/>
                <a:latin typeface="Consolas" panose="020B0609020204030204" pitchFamily="49" charset="0"/>
              </a:rPr>
              <a:t>.</a:t>
            </a:r>
            <a:endParaRPr lang="en-US" sz="1400" b="0" dirty="0">
              <a:solidFill>
                <a:srgbClr val="D4D4D4"/>
              </a:solidFill>
              <a:effectLst/>
              <a:latin typeface="Consolas" panose="020B0609020204030204" pitchFamily="49" charset="0"/>
            </a:endParaRPr>
          </a:p>
          <a:p>
            <a:pPr>
              <a:lnSpc>
                <a:spcPts val="1425"/>
              </a:lnSpc>
              <a:buNone/>
            </a:pPr>
            <a:r>
              <a:rPr lang="en-US" sz="1400" b="0" dirty="0" err="1">
                <a:solidFill>
                  <a:srgbClr val="9CDCFE"/>
                </a:solidFill>
                <a:effectLst/>
                <a:latin typeface="Consolas" panose="020B0609020204030204" pitchFamily="49" charset="0"/>
              </a:rPr>
              <a:t>db</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products</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find</a:t>
            </a:r>
            <a:r>
              <a:rPr lang="en-US" sz="1400" b="0" dirty="0">
                <a:solidFill>
                  <a:srgbClr val="D4D4D4"/>
                </a:solidFill>
                <a:effectLst/>
                <a:latin typeface="Consolas" panose="020B0609020204030204" pitchFamily="49" charset="0"/>
              </a:rPr>
              <a:t>({},{</a:t>
            </a:r>
            <a:br>
              <a:rPr lang="en-US" sz="1400" b="0" dirty="0">
                <a:solidFill>
                  <a:srgbClr val="D4D4D4"/>
                </a:solidFill>
                <a:effectLst/>
                <a:latin typeface="Consolas" panose="020B0609020204030204" pitchFamily="49" charset="0"/>
              </a:rPr>
            </a:b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category:</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a:t>
            </a:r>
          </a:p>
          <a:p>
            <a:pPr>
              <a:lnSpc>
                <a:spcPts val="1425"/>
              </a:lnSpc>
              <a:buNone/>
            </a:pPr>
            <a:r>
              <a:rPr lang="en-US" sz="1400" dirty="0">
                <a:solidFill>
                  <a:srgbClr val="D4D4D4"/>
                </a:solidFill>
                <a:latin typeface="Consolas" panose="020B0609020204030204" pitchFamily="49" charset="0"/>
              </a:rPr>
              <a:t>					</a:t>
            </a:r>
            <a:r>
              <a:rPr lang="en-US" sz="1400" b="0" dirty="0" err="1">
                <a:solidFill>
                  <a:srgbClr val="9CDCFE"/>
                </a:solidFill>
                <a:effectLst/>
                <a:latin typeface="Consolas" panose="020B0609020204030204" pitchFamily="49" charset="0"/>
              </a:rPr>
              <a:t>productName</a:t>
            </a:r>
            <a:r>
              <a:rPr lang="en-US" sz="1400" b="0" dirty="0">
                <a:solidFill>
                  <a:srgbClr val="9CDCFE"/>
                </a:solidFill>
                <a:effectLst/>
                <a:latin typeface="Consolas" panose="020B0609020204030204" pitchFamily="49" charset="0"/>
              </a:rPr>
              <a:t>:</a:t>
            </a:r>
            <a:r>
              <a:rPr lang="en-US" sz="1400" b="0" dirty="0">
                <a:solidFill>
                  <a:srgbClr val="CE9178"/>
                </a:solidFill>
                <a:effectLst/>
                <a:latin typeface="Consolas" panose="020B0609020204030204" pitchFamily="49" charset="0"/>
              </a:rPr>
              <a:t>"$name"</a:t>
            </a:r>
            <a:r>
              <a:rPr lang="en-US" sz="1400" b="0" dirty="0">
                <a:solidFill>
                  <a:srgbClr val="D4D4D4"/>
                </a:solidFill>
                <a:effectLst/>
                <a:latin typeface="Consolas" panose="020B0609020204030204" pitchFamily="49" charset="0"/>
              </a:rPr>
              <a:t>,</a:t>
            </a:r>
          </a:p>
          <a:p>
            <a:pPr>
              <a:lnSpc>
                <a:spcPts val="1425"/>
              </a:lnSpc>
              <a:buNone/>
            </a:pPr>
            <a:r>
              <a:rPr lang="en-US" sz="1400" dirty="0">
                <a:solidFill>
                  <a:srgbClr val="D4D4D4"/>
                </a:solidFill>
                <a:latin typeface="Consolas" panose="020B0609020204030204" pitchFamily="49" charset="0"/>
              </a:rPr>
              <a:t>					</a:t>
            </a:r>
            <a:r>
              <a:rPr lang="en-US" sz="1400" b="0" dirty="0" err="1">
                <a:solidFill>
                  <a:srgbClr val="9CDCFE"/>
                </a:solidFill>
                <a:effectLst/>
                <a:latin typeface="Consolas" panose="020B0609020204030204" pitchFamily="49" charset="0"/>
              </a:rPr>
              <a:t>productPrice</a:t>
            </a:r>
            <a:r>
              <a:rPr lang="en-US" sz="1400" b="0" dirty="0">
                <a:solidFill>
                  <a:srgbClr val="9CDCFE"/>
                </a:solidFill>
                <a:effectLst/>
                <a:latin typeface="Consolas" panose="020B0609020204030204" pitchFamily="49" charset="0"/>
              </a:rPr>
              <a:t>:</a:t>
            </a:r>
            <a:r>
              <a:rPr lang="en-US" sz="1400" b="0" dirty="0">
                <a:solidFill>
                  <a:srgbClr val="CE9178"/>
                </a:solidFill>
                <a:effectLst/>
                <a:latin typeface="Consolas" panose="020B0609020204030204" pitchFamily="49" charset="0"/>
              </a:rPr>
              <a:t>"$price“</a:t>
            </a:r>
          </a:p>
          <a:p>
            <a:pPr>
              <a:lnSpc>
                <a:spcPts val="1425"/>
              </a:lnSpc>
              <a:buNone/>
            </a:pPr>
            <a:r>
              <a:rPr lang="en-US" sz="1400" dirty="0">
                <a:solidFill>
                  <a:srgbClr val="CE9178"/>
                </a:solidFill>
                <a:latin typeface="Consolas" panose="020B0609020204030204" pitchFamily="49" charset="0"/>
              </a:rPr>
              <a:t>				  </a:t>
            </a:r>
            <a:r>
              <a:rPr lang="en-US" sz="1400" b="0" dirty="0">
                <a:solidFill>
                  <a:srgbClr val="D4D4D4"/>
                </a:solidFill>
                <a:effectLst/>
                <a:latin typeface="Consolas" panose="020B0609020204030204" pitchFamily="49" charset="0"/>
              </a:rPr>
              <a:t>})</a:t>
            </a:r>
          </a:p>
          <a:p>
            <a:pPr>
              <a:lnSpc>
                <a:spcPts val="1425"/>
              </a:lnSpc>
              <a:buNone/>
            </a:pPr>
            <a:endParaRPr lang="en-US" sz="1400" b="0" dirty="0">
              <a:solidFill>
                <a:srgbClr val="D4D4D4"/>
              </a:solidFill>
              <a:effectLst/>
              <a:latin typeface="Consolas" panose="020B0609020204030204" pitchFamily="49" charset="0"/>
            </a:endParaRPr>
          </a:p>
          <a:p>
            <a:pPr>
              <a:lnSpc>
                <a:spcPts val="1425"/>
              </a:lnSpc>
              <a:buNone/>
            </a:pPr>
            <a:r>
              <a:rPr lang="en-US" sz="1400" b="0" dirty="0" err="1">
                <a:solidFill>
                  <a:srgbClr val="9CDCFE"/>
                </a:solidFill>
                <a:effectLst/>
                <a:latin typeface="Consolas" panose="020B0609020204030204" pitchFamily="49" charset="0"/>
              </a:rPr>
              <a:t>db</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products</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aggregate</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$project:</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productName</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"$name"</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productPrice</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"$price"</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category:</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1</a:t>
            </a: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63FF16BA-5633-FE26-EF4E-8A3D4E87C59D}"/>
              </a:ext>
            </a:extLst>
          </p:cNvPr>
          <p:cNvSpPr txBox="1"/>
          <p:nvPr/>
        </p:nvSpPr>
        <p:spPr>
          <a:xfrm>
            <a:off x="195942" y="209005"/>
            <a:ext cx="1247521" cy="369332"/>
          </a:xfrm>
          <a:prstGeom prst="rect">
            <a:avLst/>
          </a:prstGeom>
          <a:noFill/>
        </p:spPr>
        <p:txBody>
          <a:bodyPr wrap="none" rtlCol="0">
            <a:spAutoFit/>
          </a:bodyPr>
          <a:lstStyle/>
          <a:p>
            <a:r>
              <a:rPr lang="en-US" dirty="0">
                <a:solidFill>
                  <a:srgbClr val="FFFF00"/>
                </a:solidFill>
              </a:rPr>
              <a:t>2. $project</a:t>
            </a:r>
          </a:p>
        </p:txBody>
      </p:sp>
    </p:spTree>
    <p:extLst>
      <p:ext uri="{BB962C8B-B14F-4D97-AF65-F5344CB8AC3E}">
        <p14:creationId xmlns:p14="http://schemas.microsoft.com/office/powerpoint/2010/main" val="3003737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23E1AD-C613-C352-F4D4-C961A47907BC}"/>
              </a:ext>
            </a:extLst>
          </p:cNvPr>
          <p:cNvSpPr txBox="1"/>
          <p:nvPr/>
        </p:nvSpPr>
        <p:spPr>
          <a:xfrm>
            <a:off x="195942" y="209005"/>
            <a:ext cx="1114472" cy="369332"/>
          </a:xfrm>
          <a:prstGeom prst="rect">
            <a:avLst/>
          </a:prstGeom>
          <a:noFill/>
        </p:spPr>
        <p:txBody>
          <a:bodyPr wrap="none" rtlCol="0">
            <a:spAutoFit/>
          </a:bodyPr>
          <a:lstStyle/>
          <a:p>
            <a:r>
              <a:rPr lang="en-US" dirty="0">
                <a:solidFill>
                  <a:srgbClr val="FFFF00"/>
                </a:solidFill>
              </a:rPr>
              <a:t>3. $group</a:t>
            </a:r>
          </a:p>
        </p:txBody>
      </p:sp>
      <p:sp>
        <p:nvSpPr>
          <p:cNvPr id="8" name="TextBox 7">
            <a:extLst>
              <a:ext uri="{FF2B5EF4-FFF2-40B4-BE49-F238E27FC236}">
                <a16:creationId xmlns:a16="http://schemas.microsoft.com/office/drawing/2014/main" id="{42F6BE29-72AB-4463-DA88-A0984BDC246C}"/>
              </a:ext>
            </a:extLst>
          </p:cNvPr>
          <p:cNvSpPr txBox="1"/>
          <p:nvPr/>
        </p:nvSpPr>
        <p:spPr>
          <a:xfrm>
            <a:off x="511467" y="461910"/>
            <a:ext cx="9198591" cy="6211059"/>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 1. Goal: Count how many orders are in each status (e.g., pending, shipped, delivered, etc.):</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"$status"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totalOrders</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$sum:</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Explanation:</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_id as the grouping key ($status)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$sum: 1 counts documents</a:t>
            </a:r>
            <a:endParaRPr lang="en-US" b="0" dirty="0">
              <a:solidFill>
                <a:srgbClr val="D4D4D4"/>
              </a:solidFill>
              <a:effectLst/>
              <a:latin typeface="Consolas" panose="020B0609020204030204" pitchFamily="49" charset="0"/>
            </a:endParaRP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2. Goal: Find the average price of products in each category:</a:t>
            </a: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"$category"</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avgPrice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$avg:</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C8C8C8"/>
                </a:solidFill>
                <a:effectLst/>
                <a:latin typeface="Consolas" panose="020B0609020204030204" pitchFamily="49" charset="0"/>
              </a:rPr>
              <a:t>Explaination</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$avg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operator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numeric</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grouping</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key</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$category</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258457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5BA50-5CE2-B510-B940-422247C041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3CCD3C-2CBD-9D73-1600-DC49AAD707AC}"/>
              </a:ext>
            </a:extLst>
          </p:cNvPr>
          <p:cNvSpPr txBox="1"/>
          <p:nvPr/>
        </p:nvSpPr>
        <p:spPr>
          <a:xfrm>
            <a:off x="195942" y="209005"/>
            <a:ext cx="878830" cy="369332"/>
          </a:xfrm>
          <a:prstGeom prst="rect">
            <a:avLst/>
          </a:prstGeom>
          <a:noFill/>
        </p:spPr>
        <p:txBody>
          <a:bodyPr wrap="none" rtlCol="0">
            <a:spAutoFit/>
          </a:bodyPr>
          <a:lstStyle/>
          <a:p>
            <a:r>
              <a:rPr lang="en-US" dirty="0">
                <a:solidFill>
                  <a:srgbClr val="FFFF00"/>
                </a:solidFill>
              </a:rPr>
              <a:t>$group</a:t>
            </a:r>
          </a:p>
        </p:txBody>
      </p:sp>
      <p:sp>
        <p:nvSpPr>
          <p:cNvPr id="4" name="TextBox 3">
            <a:extLst>
              <a:ext uri="{FF2B5EF4-FFF2-40B4-BE49-F238E27FC236}">
                <a16:creationId xmlns:a16="http://schemas.microsoft.com/office/drawing/2014/main" id="{11FF7474-693B-3B3F-5D33-38943354715B}"/>
              </a:ext>
            </a:extLst>
          </p:cNvPr>
          <p:cNvSpPr txBox="1"/>
          <p:nvPr/>
        </p:nvSpPr>
        <p:spPr>
          <a:xfrm>
            <a:off x="1814828" y="323470"/>
            <a:ext cx="7895230" cy="6211059"/>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Show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stock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available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each</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brand</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"$brand"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totalStock</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$sum:</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"$stock"</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C8C8C8"/>
                </a:solidFill>
                <a:effectLst/>
                <a:latin typeface="Consolas" panose="020B0609020204030204" pitchFamily="49" charset="0"/>
              </a:rPr>
              <a:t>Explaination</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$sum</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summing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numeric</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grouping</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key</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$brand</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Use</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case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inventory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checks</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How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many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customers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are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each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gender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category</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"$gender"</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count: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$sum:</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Explaination</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$sum</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summing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numeric</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fields</a:t>
            </a: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068279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9EBF35-996E-36BD-0B7D-C7CD8996BDE7}"/>
              </a:ext>
            </a:extLst>
          </p:cNvPr>
          <p:cNvSpPr txBox="1"/>
          <p:nvPr/>
        </p:nvSpPr>
        <p:spPr>
          <a:xfrm>
            <a:off x="195942" y="209005"/>
            <a:ext cx="699230" cy="369332"/>
          </a:xfrm>
          <a:prstGeom prst="rect">
            <a:avLst/>
          </a:prstGeom>
          <a:noFill/>
        </p:spPr>
        <p:txBody>
          <a:bodyPr wrap="none" rtlCol="0">
            <a:spAutoFit/>
          </a:bodyPr>
          <a:lstStyle/>
          <a:p>
            <a:r>
              <a:rPr lang="en-US" dirty="0">
                <a:solidFill>
                  <a:srgbClr val="FFFF00"/>
                </a:solidFill>
              </a:rPr>
              <a:t>$sort</a:t>
            </a:r>
          </a:p>
        </p:txBody>
      </p:sp>
      <p:sp>
        <p:nvSpPr>
          <p:cNvPr id="4" name="TextBox 3">
            <a:extLst>
              <a:ext uri="{FF2B5EF4-FFF2-40B4-BE49-F238E27FC236}">
                <a16:creationId xmlns:a16="http://schemas.microsoft.com/office/drawing/2014/main" id="{0E130A7A-6BD8-AD00-DDF5-1EBE6B03731D}"/>
              </a:ext>
            </a:extLst>
          </p:cNvPr>
          <p:cNvSpPr txBox="1"/>
          <p:nvPr/>
        </p:nvSpPr>
        <p:spPr>
          <a:xfrm>
            <a:off x="682387" y="720254"/>
            <a:ext cx="9054965" cy="5837495"/>
          </a:xfrm>
          <a:prstGeom prst="rect">
            <a:avLst/>
          </a:prstGeom>
          <a:noFill/>
        </p:spPr>
        <p:txBody>
          <a:bodyPr wrap="square">
            <a:spAutoFit/>
          </a:bodyPr>
          <a:lstStyle/>
          <a:p>
            <a:pPr>
              <a:lnSpc>
                <a:spcPts val="1425"/>
              </a:lnSpc>
              <a:buNone/>
            </a:pP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r>
              <a:rPr lang="en-US" sz="1200" b="0" dirty="0">
                <a:solidFill>
                  <a:srgbClr val="C8C8C8"/>
                </a:solidFill>
                <a:effectLst/>
                <a:latin typeface="Consolas" panose="020B0609020204030204" pitchFamily="49" charset="0"/>
              </a:rPr>
              <a:t>Goal</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Sort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products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by</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price</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ascending</a:t>
            </a:r>
            <a:r>
              <a:rPr lang="en-US" sz="1200" b="0" dirty="0">
                <a:solidFill>
                  <a:srgbClr val="D4D4D4"/>
                </a:solidFill>
                <a:effectLst/>
                <a:latin typeface="Consolas" panose="020B0609020204030204" pitchFamily="49" charset="0"/>
              </a:rPr>
              <a:t> </a:t>
            </a:r>
            <a:r>
              <a:rPr lang="en-US" sz="1200" b="0" dirty="0">
                <a:solidFill>
                  <a:srgbClr val="DCDCAA"/>
                </a:solidFill>
                <a:effectLst/>
                <a:latin typeface="Consolas" panose="020B0609020204030204" pitchFamily="49" charset="0"/>
              </a:rPr>
              <a:t>order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from</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lowest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highest</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$sort:</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price:</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C8C8C8"/>
                </a:solidFill>
                <a:effectLst/>
                <a:latin typeface="Consolas" panose="020B0609020204030204" pitchFamily="49" charset="0"/>
              </a:rPr>
              <a:t>Explanation</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indicates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ascending</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order</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indicates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descending</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order</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B5CEA8"/>
                </a:solidFill>
                <a:effectLst/>
                <a:latin typeface="Consolas" panose="020B0609020204030204" pitchFamily="49" charset="0"/>
              </a:rPr>
              <a:t>2.</a:t>
            </a:r>
            <a:r>
              <a:rPr lang="en-US" sz="1200" b="0" dirty="0">
                <a:solidFill>
                  <a:srgbClr val="D4D4D4"/>
                </a:solidFill>
                <a:effectLst/>
                <a:latin typeface="Consolas" panose="020B0609020204030204" pitchFamily="49" charset="0"/>
              </a:rPr>
              <a:t> </a:t>
            </a:r>
            <a:r>
              <a:rPr lang="en-US" sz="1200" b="0" dirty="0">
                <a:solidFill>
                  <a:srgbClr val="C8C8C8"/>
                </a:solidFill>
                <a:effectLst/>
                <a:latin typeface="Consolas" panose="020B0609020204030204" pitchFamily="49" charset="0"/>
              </a:rPr>
              <a:t>Goal</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Sort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customers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by</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age</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descending</a:t>
            </a:r>
            <a:r>
              <a:rPr lang="en-US" sz="1200" b="0" dirty="0">
                <a:solidFill>
                  <a:srgbClr val="D4D4D4"/>
                </a:solidFill>
                <a:effectLst/>
                <a:latin typeface="Consolas" panose="020B0609020204030204" pitchFamily="49" charset="0"/>
              </a:rPr>
              <a:t> </a:t>
            </a:r>
            <a:r>
              <a:rPr lang="en-US" sz="1200" b="0" dirty="0">
                <a:solidFill>
                  <a:srgbClr val="DCDCAA"/>
                </a:solidFill>
                <a:effectLst/>
                <a:latin typeface="Consolas" panose="020B0609020204030204" pitchFamily="49" charset="0"/>
              </a:rPr>
              <a:t>order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from</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oldest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youngest</a:t>
            </a:r>
            <a:r>
              <a:rPr lang="en-US" sz="1200" b="0" dirty="0">
                <a:solidFill>
                  <a:srgbClr val="D4D4D4"/>
                </a:solidFill>
                <a:effectLst/>
                <a:latin typeface="Consolas" panose="020B0609020204030204" pitchFamily="49" charset="0"/>
              </a:rPr>
              <a:t>).</a:t>
            </a: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customers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$sort:</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age:</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B5CEA8"/>
                </a:solidFill>
                <a:effectLst/>
                <a:latin typeface="Consolas" panose="020B0609020204030204" pitchFamily="49" charset="0"/>
              </a:rPr>
              <a:t>3.</a:t>
            </a:r>
            <a:r>
              <a:rPr lang="en-US" sz="1200" b="0" dirty="0">
                <a:solidFill>
                  <a:srgbClr val="D4D4D4"/>
                </a:solidFill>
                <a:effectLst/>
                <a:latin typeface="Consolas" panose="020B0609020204030204" pitchFamily="49" charset="0"/>
              </a:rPr>
              <a:t> </a:t>
            </a:r>
            <a:r>
              <a:rPr lang="en-US" sz="1200" b="0" dirty="0">
                <a:solidFill>
                  <a:srgbClr val="C8C8C8"/>
                </a:solidFill>
                <a:effectLst/>
                <a:latin typeface="Consolas" panose="020B0609020204030204" pitchFamily="49" charset="0"/>
              </a:rPr>
              <a:t>Goal</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Sort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customers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by</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age</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descending</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order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and</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for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customers</a:t>
            </a: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with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same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age</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sort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them</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by</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name</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ascending</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order</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customers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$sort:</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age:</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name:</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928365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870E5-B6FB-9DD3-C689-E251E8E71A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A13551-E6A8-B821-BC3D-85CD9A427BAF}"/>
              </a:ext>
            </a:extLst>
          </p:cNvPr>
          <p:cNvSpPr txBox="1"/>
          <p:nvPr/>
        </p:nvSpPr>
        <p:spPr>
          <a:xfrm>
            <a:off x="195942" y="209005"/>
            <a:ext cx="748923" cy="369332"/>
          </a:xfrm>
          <a:prstGeom prst="rect">
            <a:avLst/>
          </a:prstGeom>
          <a:noFill/>
        </p:spPr>
        <p:txBody>
          <a:bodyPr wrap="none" rtlCol="0">
            <a:spAutoFit/>
          </a:bodyPr>
          <a:lstStyle/>
          <a:p>
            <a:r>
              <a:rPr lang="en-US" dirty="0">
                <a:solidFill>
                  <a:srgbClr val="FFFF00"/>
                </a:solidFill>
              </a:rPr>
              <a:t>$limit</a:t>
            </a:r>
          </a:p>
        </p:txBody>
      </p:sp>
      <p:sp>
        <p:nvSpPr>
          <p:cNvPr id="4" name="TextBox 3">
            <a:extLst>
              <a:ext uri="{FF2B5EF4-FFF2-40B4-BE49-F238E27FC236}">
                <a16:creationId xmlns:a16="http://schemas.microsoft.com/office/drawing/2014/main" id="{D61F5110-6D75-8EA6-30C2-6A540905DB39}"/>
              </a:ext>
            </a:extLst>
          </p:cNvPr>
          <p:cNvSpPr txBox="1"/>
          <p:nvPr/>
        </p:nvSpPr>
        <p:spPr>
          <a:xfrm>
            <a:off x="391885" y="779557"/>
            <a:ext cx="9514115" cy="5298886"/>
          </a:xfrm>
          <a:prstGeom prst="rect">
            <a:avLst/>
          </a:prstGeom>
          <a:noFill/>
        </p:spPr>
        <p:txBody>
          <a:bodyPr wrap="square">
            <a:spAutoFit/>
          </a:bodyPr>
          <a:lstStyle/>
          <a:p>
            <a:pPr>
              <a:lnSpc>
                <a:spcPts val="1425"/>
              </a:lnSpc>
              <a:buNone/>
            </a:pP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r>
              <a:rPr lang="en-US" sz="1200" b="0" dirty="0">
                <a:solidFill>
                  <a:srgbClr val="C8C8C8"/>
                </a:solidFill>
                <a:effectLst/>
                <a:latin typeface="Consolas" panose="020B0609020204030204" pitchFamily="49" charset="0"/>
              </a:rPr>
              <a:t>Goal</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Limit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esult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only</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first</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5</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products</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products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collections</a:t>
            </a:r>
            <a:r>
              <a:rPr lang="en-US" sz="1200" b="0" dirty="0">
                <a:solidFill>
                  <a:srgbClr val="D4D4D4"/>
                </a:solidFill>
                <a:effectLst/>
                <a:latin typeface="Consolas" panose="020B0609020204030204" pitchFamily="49" charset="0"/>
              </a:rPr>
              <a:t> </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$limit:</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5</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B5CEA8"/>
                </a:solidFill>
                <a:effectLst/>
                <a:latin typeface="Consolas" panose="020B0609020204030204" pitchFamily="49" charset="0"/>
              </a:rPr>
              <a:t>2.</a:t>
            </a:r>
            <a:r>
              <a:rPr lang="en-US" sz="1200" b="0" dirty="0">
                <a:solidFill>
                  <a:srgbClr val="D4D4D4"/>
                </a:solidFill>
                <a:effectLst/>
                <a:latin typeface="Consolas" panose="020B0609020204030204" pitchFamily="49" charset="0"/>
              </a:rPr>
              <a:t> </a:t>
            </a:r>
            <a:r>
              <a:rPr lang="en-US" sz="1200" b="0" dirty="0">
                <a:solidFill>
                  <a:srgbClr val="C8C8C8"/>
                </a:solidFill>
                <a:effectLst/>
                <a:latin typeface="Consolas" panose="020B0609020204030204" pitchFamily="49" charset="0"/>
              </a:rPr>
              <a:t>Goal</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Limit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result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first</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3</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orders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for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customer</a:t>
            </a: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with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specific</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customerId</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orders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$match:</a:t>
            </a:r>
            <a:r>
              <a:rPr lang="en-US" sz="1200" b="0" dirty="0">
                <a:solidFill>
                  <a:srgbClr val="D4D4D4"/>
                </a:solidFill>
                <a:effectLst/>
                <a:latin typeface="Consolas" panose="020B0609020204030204" pitchFamily="49" charset="0"/>
              </a:rPr>
              <a:t> { </a:t>
            </a:r>
            <a:r>
              <a:rPr lang="en-US" sz="1200" b="0" dirty="0" err="1">
                <a:solidFill>
                  <a:srgbClr val="9CDCFE"/>
                </a:solidFill>
                <a:effectLst/>
                <a:latin typeface="Consolas" panose="020B0609020204030204" pitchFamily="49" charset="0"/>
              </a:rPr>
              <a:t>customerId</a:t>
            </a:r>
            <a:r>
              <a:rPr lang="en-US" sz="1200" b="0" dirty="0">
                <a:solidFill>
                  <a:srgbClr val="9CDCFE"/>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ObjectId</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"6803bdd49ba84be395582703"</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$limit:</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3</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B5CEA8"/>
                </a:solidFill>
                <a:effectLst/>
                <a:latin typeface="Consolas" panose="020B0609020204030204" pitchFamily="49" charset="0"/>
              </a:rPr>
              <a:t>3.</a:t>
            </a:r>
            <a:r>
              <a:rPr lang="en-US" sz="1200" b="0" dirty="0">
                <a:solidFill>
                  <a:srgbClr val="D4D4D4"/>
                </a:solidFill>
                <a:effectLst/>
                <a:latin typeface="Consolas" panose="020B0609020204030204" pitchFamily="49" charset="0"/>
              </a:rPr>
              <a:t> </a:t>
            </a:r>
            <a:r>
              <a:rPr lang="en-US" sz="1200" b="0" dirty="0">
                <a:solidFill>
                  <a:srgbClr val="C8C8C8"/>
                </a:solidFill>
                <a:effectLst/>
                <a:latin typeface="Consolas" panose="020B0609020204030204" pitchFamily="49" charset="0"/>
              </a:rPr>
              <a:t>Goal</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Limit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result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first</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10</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customers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who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registered</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most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recently</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customers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$sort:</a:t>
            </a:r>
            <a:r>
              <a:rPr lang="en-US" sz="1200" b="0" dirty="0">
                <a:solidFill>
                  <a:srgbClr val="D4D4D4"/>
                </a:solidFill>
                <a:effectLst/>
                <a:latin typeface="Consolas" panose="020B0609020204030204" pitchFamily="49" charset="0"/>
              </a:rPr>
              <a:t> { </a:t>
            </a:r>
            <a:r>
              <a:rPr lang="en-US" sz="1200" b="0" dirty="0" err="1">
                <a:solidFill>
                  <a:srgbClr val="9CDCFE"/>
                </a:solidFill>
                <a:effectLst/>
                <a:latin typeface="Consolas" panose="020B0609020204030204" pitchFamily="49" charset="0"/>
              </a:rPr>
              <a:t>registeredAt</a:t>
            </a:r>
            <a:r>
              <a:rPr lang="en-US" sz="1200" b="0" dirty="0">
                <a:solidFill>
                  <a:srgbClr val="9CDCFE"/>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$limit:</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10</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B5CEA8"/>
                </a:solidFill>
                <a:effectLst/>
                <a:latin typeface="Consolas" panose="020B0609020204030204" pitchFamily="49" charset="0"/>
              </a:rPr>
              <a:t>4.</a:t>
            </a:r>
            <a:r>
              <a:rPr lang="en-US" sz="1200" b="0" dirty="0">
                <a:solidFill>
                  <a:srgbClr val="D4D4D4"/>
                </a:solidFill>
                <a:effectLst/>
                <a:latin typeface="Consolas" panose="020B0609020204030204" pitchFamily="49" charset="0"/>
              </a:rPr>
              <a:t> </a:t>
            </a:r>
            <a:r>
              <a:rPr lang="en-US" sz="1200" b="0" dirty="0">
                <a:solidFill>
                  <a:srgbClr val="C8C8C8"/>
                </a:solidFill>
                <a:effectLst/>
                <a:latin typeface="Consolas" panose="020B0609020204030204" pitchFamily="49" charset="0"/>
              </a:rPr>
              <a:t>Goal</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find</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top</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5</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most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expensive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products</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$sort:</a:t>
            </a: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price:</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 },</a:t>
            </a:r>
          </a:p>
          <a:p>
            <a:pPr>
              <a:lnSpc>
                <a:spcPts val="1425"/>
              </a:lnSpc>
              <a:buNone/>
            </a:pP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$limit:</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5</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364211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BECCB7-445E-D6A1-3E71-F17C462B0419}"/>
              </a:ext>
            </a:extLst>
          </p:cNvPr>
          <p:cNvSpPr txBox="1"/>
          <p:nvPr/>
        </p:nvSpPr>
        <p:spPr>
          <a:xfrm>
            <a:off x="195942" y="209005"/>
            <a:ext cx="1039515" cy="369332"/>
          </a:xfrm>
          <a:prstGeom prst="rect">
            <a:avLst/>
          </a:prstGeom>
          <a:noFill/>
        </p:spPr>
        <p:txBody>
          <a:bodyPr wrap="none" rtlCol="0">
            <a:spAutoFit/>
          </a:bodyPr>
          <a:lstStyle/>
          <a:p>
            <a:r>
              <a:rPr lang="en-US" dirty="0">
                <a:solidFill>
                  <a:srgbClr val="FFFF00"/>
                </a:solidFill>
              </a:rPr>
              <a:t>$unwind</a:t>
            </a:r>
          </a:p>
        </p:txBody>
      </p:sp>
      <p:sp>
        <p:nvSpPr>
          <p:cNvPr id="4" name="TextBox 3">
            <a:extLst>
              <a:ext uri="{FF2B5EF4-FFF2-40B4-BE49-F238E27FC236}">
                <a16:creationId xmlns:a16="http://schemas.microsoft.com/office/drawing/2014/main" id="{8A528D5F-9B99-E81D-27C8-2BA58907FC44}"/>
              </a:ext>
            </a:extLst>
          </p:cNvPr>
          <p:cNvSpPr txBox="1"/>
          <p:nvPr/>
        </p:nvSpPr>
        <p:spPr>
          <a:xfrm>
            <a:off x="195942" y="859747"/>
            <a:ext cx="9905999" cy="6017032"/>
          </a:xfrm>
          <a:prstGeom prst="rect">
            <a:avLst/>
          </a:prstGeom>
          <a:noFill/>
        </p:spPr>
        <p:txBody>
          <a:bodyPr wrap="square">
            <a:spAutoFit/>
          </a:bodyPr>
          <a:lstStyle/>
          <a:p>
            <a:pPr>
              <a:lnSpc>
                <a:spcPts val="1425"/>
              </a:lnSpc>
              <a:buNone/>
            </a:pPr>
            <a:r>
              <a:rPr lang="en-US" sz="1200" b="0" dirty="0">
                <a:solidFill>
                  <a:srgbClr val="9CDCFE"/>
                </a:solidFill>
                <a:effectLst/>
                <a:latin typeface="Consolas" panose="020B0609020204030204" pitchFamily="49" charset="0"/>
              </a:rPr>
              <a:t>When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use</a:t>
            </a: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Used</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deconstruct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array</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field</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each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item</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array</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becomes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its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own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document</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aggregation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pipeline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Goal</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Turn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each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review</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inside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reviews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array</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into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its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own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document</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$unwind:</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"$reviews"</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C8C8C8"/>
                </a:solidFill>
                <a:effectLst/>
                <a:latin typeface="Consolas" panose="020B0609020204030204" pitchFamily="49" charset="0"/>
              </a:rPr>
              <a:t>Explanation</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9CDCFE"/>
                </a:solidFill>
                <a:effectLst/>
                <a:latin typeface="Consolas" panose="020B0609020204030204" pitchFamily="49" charset="0"/>
              </a:rPr>
              <a:t>Deconstructs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reviews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array</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9CDCFE"/>
                </a:solidFill>
                <a:effectLst/>
                <a:latin typeface="Consolas" panose="020B0609020204030204" pitchFamily="49" charset="0"/>
              </a:rPr>
              <a:t>Each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product</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review</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pair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becomes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separate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document</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B5CEA8"/>
                </a:solidFill>
                <a:effectLst/>
                <a:latin typeface="Consolas" panose="020B0609020204030204" pitchFamily="49" charset="0"/>
              </a:rPr>
              <a:t>2.</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Show</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name</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of</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the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products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which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are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reviewed</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by</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vikram</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user</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$unwind:</a:t>
            </a:r>
            <a:r>
              <a:rPr lang="en-US" sz="1200" b="0" dirty="0">
                <a:solidFill>
                  <a:srgbClr val="CE9178"/>
                </a:solidFill>
                <a:effectLst/>
                <a:latin typeface="Consolas" panose="020B0609020204030204" pitchFamily="49" charset="0"/>
              </a:rPr>
              <a:t>"$reviews"</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$match:</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"reviews.user"</a:t>
            </a:r>
            <a:r>
              <a:rPr lang="en-US" sz="1200" b="0" dirty="0">
                <a:solidFill>
                  <a:srgbClr val="9CDCFE"/>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vikram</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$project:</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"name"</a:t>
            </a:r>
            <a:r>
              <a:rPr lang="en-US" sz="1200" b="0" dirty="0">
                <a:solidFill>
                  <a:srgbClr val="9CDCFE"/>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B5CEA8"/>
                </a:solidFill>
                <a:effectLst/>
                <a:latin typeface="Consolas" panose="020B0609020204030204" pitchFamily="49" charset="0"/>
              </a:rPr>
              <a:t>3.</a:t>
            </a:r>
            <a:r>
              <a:rPr lang="en-US" sz="1200" b="0" dirty="0">
                <a:solidFill>
                  <a:srgbClr val="D4D4D4"/>
                </a:solidFill>
                <a:effectLst/>
                <a:latin typeface="Consolas" panose="020B0609020204030204" pitchFamily="49" charset="0"/>
              </a:rPr>
              <a:t> </a:t>
            </a:r>
            <a:r>
              <a:rPr lang="en-US" sz="1200" b="0" dirty="0">
                <a:solidFill>
                  <a:srgbClr val="C8C8C8"/>
                </a:solidFill>
                <a:effectLst/>
                <a:latin typeface="Consolas" panose="020B0609020204030204" pitchFamily="49" charset="0"/>
              </a:rPr>
              <a:t>Goal</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See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how</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many</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reviews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exist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for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each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rating</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value</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aggregate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$unwind:</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"$reviews"</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$group:</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_id:</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reviews.rating</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count:</a:t>
            </a: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$sum:</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C8C8C8"/>
                </a:solidFill>
                <a:effectLst/>
                <a:latin typeface="Consolas" panose="020B0609020204030204" pitchFamily="49" charset="0"/>
              </a:rPr>
              <a:t>Explanation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Combine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$unwind</a:t>
            </a: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with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$group</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for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analytics</a:t>
            </a:r>
            <a:r>
              <a:rPr lang="en-US" sz="1200" dirty="0">
                <a:solidFill>
                  <a:srgbClr val="D4D4D4"/>
                </a:solidFill>
                <a:latin typeface="Consolas" panose="020B0609020204030204" pitchFamily="49" charset="0"/>
              </a:rPr>
              <a:t> </a:t>
            </a:r>
            <a:r>
              <a:rPr lang="en-US" sz="1200" b="0" dirty="0">
                <a:solidFill>
                  <a:srgbClr val="9CDCFE"/>
                </a:solidFill>
                <a:effectLst/>
                <a:latin typeface="Consolas" panose="020B0609020204030204" pitchFamily="49" charset="0"/>
              </a:rPr>
              <a:t>Perfect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for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star</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distribution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charts</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327046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AA246-BAD4-FF1C-5234-D0ED9E5B04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9C5B8E-C3C3-0123-7665-EF2FB4F9F662}"/>
              </a:ext>
            </a:extLst>
          </p:cNvPr>
          <p:cNvSpPr txBox="1"/>
          <p:nvPr/>
        </p:nvSpPr>
        <p:spPr>
          <a:xfrm>
            <a:off x="195942" y="209005"/>
            <a:ext cx="987835" cy="369332"/>
          </a:xfrm>
          <a:prstGeom prst="rect">
            <a:avLst/>
          </a:prstGeom>
          <a:noFill/>
        </p:spPr>
        <p:txBody>
          <a:bodyPr wrap="none" rtlCol="0">
            <a:spAutoFit/>
          </a:bodyPr>
          <a:lstStyle/>
          <a:p>
            <a:r>
              <a:rPr lang="en-US" dirty="0">
                <a:solidFill>
                  <a:srgbClr val="FFFF00"/>
                </a:solidFill>
              </a:rPr>
              <a:t>$lookup</a:t>
            </a:r>
          </a:p>
        </p:txBody>
      </p:sp>
      <p:sp>
        <p:nvSpPr>
          <p:cNvPr id="4" name="TextBox 3">
            <a:extLst>
              <a:ext uri="{FF2B5EF4-FFF2-40B4-BE49-F238E27FC236}">
                <a16:creationId xmlns:a16="http://schemas.microsoft.com/office/drawing/2014/main" id="{534267E8-5516-AD28-364F-5977CD2ADA3C}"/>
              </a:ext>
            </a:extLst>
          </p:cNvPr>
          <p:cNvSpPr txBox="1"/>
          <p:nvPr/>
        </p:nvSpPr>
        <p:spPr>
          <a:xfrm>
            <a:off x="1023581" y="150538"/>
            <a:ext cx="9220355" cy="6556923"/>
          </a:xfrm>
          <a:prstGeom prst="rect">
            <a:avLst/>
          </a:prstGeom>
          <a:noFill/>
        </p:spPr>
        <p:txBody>
          <a:bodyPr wrap="square">
            <a:spAutoFit/>
          </a:bodyPr>
          <a:lstStyle/>
          <a:p>
            <a:pPr>
              <a:lnSpc>
                <a:spcPts val="1425"/>
              </a:lnSpc>
              <a:buNone/>
            </a:pPr>
            <a:r>
              <a:rPr lang="en-US" sz="1400" b="0" dirty="0">
                <a:solidFill>
                  <a:srgbClr val="CE9178"/>
                </a:solidFill>
                <a:effectLst/>
                <a:latin typeface="Consolas" panose="020B0609020204030204" pitchFamily="49" charset="0"/>
              </a:rPr>
              <a:t>"JOIN"</a:t>
            </a:r>
            <a:r>
              <a:rPr lang="en-US" sz="1400" b="0" dirty="0">
                <a:solidFill>
                  <a:srgbClr val="D4D4D4"/>
                </a:solidFill>
                <a:effectLst/>
                <a:latin typeface="Consolas" panose="020B0609020204030204" pitchFamily="49" charset="0"/>
              </a:rPr>
              <a:t> </a:t>
            </a:r>
            <a:r>
              <a:rPr lang="en-US" sz="1400" b="0" dirty="0">
                <a:solidFill>
                  <a:srgbClr val="569CD6"/>
                </a:solidFill>
                <a:effectLst/>
                <a:latin typeface="Consolas" panose="020B0609020204030204" pitchFamily="49" charset="0"/>
              </a:rPr>
              <a:t>in</a:t>
            </a:r>
            <a:r>
              <a:rPr lang="en-US" sz="1400" b="0" dirty="0">
                <a:solidFill>
                  <a:srgbClr val="D4D4D4"/>
                </a:solidFill>
                <a:effectLst/>
                <a:latin typeface="Consolas" panose="020B0609020204030204" pitchFamily="49" charset="0"/>
              </a:rPr>
              <a:t> </a:t>
            </a:r>
            <a:r>
              <a:rPr lang="en-US" sz="1400" b="0" dirty="0">
                <a:solidFill>
                  <a:srgbClr val="4FC1FF"/>
                </a:solidFill>
                <a:effectLst/>
                <a:latin typeface="Consolas" panose="020B0609020204030204" pitchFamily="49" charset="0"/>
              </a:rPr>
              <a:t>SQL</a:t>
            </a:r>
            <a:r>
              <a:rPr lang="en-US" sz="1400" b="0" dirty="0">
                <a:solidFill>
                  <a:srgbClr val="D4D4D4"/>
                </a:solidFill>
                <a:effectLst/>
                <a:latin typeface="Consolas" panose="020B0609020204030204" pitchFamily="49" charset="0"/>
              </a:rPr>
              <a:t> — </a:t>
            </a:r>
            <a:r>
              <a:rPr lang="en-US" sz="1400" b="0" dirty="0">
                <a:solidFill>
                  <a:srgbClr val="9CDCFE"/>
                </a:solidFill>
                <a:effectLst/>
                <a:latin typeface="Consolas" panose="020B0609020204030204" pitchFamily="49" charset="0"/>
              </a:rPr>
              <a:t>it</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brings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related</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documents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together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from</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different</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collections</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 </a:t>
            </a:r>
            <a:r>
              <a:rPr lang="en-US" sz="1400" b="0" dirty="0">
                <a:solidFill>
                  <a:srgbClr val="C8C8C8"/>
                </a:solidFill>
                <a:effectLst/>
                <a:latin typeface="Consolas" panose="020B0609020204030204" pitchFamily="49" charset="0"/>
              </a:rPr>
              <a:t>Goal</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For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each</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order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show</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customer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details</a:t>
            </a:r>
            <a:endParaRPr lang="en-US" sz="1400" b="0" dirty="0">
              <a:solidFill>
                <a:srgbClr val="D4D4D4"/>
              </a:solidFill>
              <a:effectLst/>
              <a:latin typeface="Consolas" panose="020B0609020204030204" pitchFamily="49" charset="0"/>
            </a:endParaRPr>
          </a:p>
          <a:p>
            <a:pPr>
              <a:lnSpc>
                <a:spcPts val="1425"/>
              </a:lnSpc>
              <a:buNone/>
            </a:pPr>
            <a:r>
              <a:rPr lang="en-US" sz="1400" b="0" dirty="0" err="1">
                <a:solidFill>
                  <a:srgbClr val="9CDCFE"/>
                </a:solidFill>
                <a:effectLst/>
                <a:latin typeface="Consolas" panose="020B0609020204030204" pitchFamily="49" charset="0"/>
              </a:rPr>
              <a:t>db</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orders</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aggregate</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$lookup:</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from:</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"customers"</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localField</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customerId</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foreignField</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"_id"</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as:</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cutomer_details</a:t>
            </a:r>
            <a:r>
              <a:rPr lang="en-US" sz="1400" b="0" dirty="0">
                <a:solidFill>
                  <a:srgbClr val="CE9178"/>
                </a:solidFill>
                <a:effectLst/>
                <a:latin typeface="Consolas" panose="020B0609020204030204" pitchFamily="49" charset="0"/>
              </a:rPr>
              <a:t>"</a:t>
            </a: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a:t>
            </a:r>
          </a:p>
          <a:p>
            <a:pPr>
              <a:lnSpc>
                <a:spcPts val="1425"/>
              </a:lnSpc>
              <a:buNone/>
            </a:pPr>
            <a:r>
              <a:rPr lang="en-US" sz="1400" b="0" dirty="0" err="1">
                <a:solidFill>
                  <a:srgbClr val="C8C8C8"/>
                </a:solidFill>
                <a:effectLst/>
                <a:latin typeface="Consolas" panose="020B0609020204030204" pitchFamily="49" charset="0"/>
              </a:rPr>
              <a:t>Explaination</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We</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are</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joining</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the</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orders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and</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customers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collections</a:t>
            </a:r>
            <a:r>
              <a:rPr lang="en-US" sz="1400" b="0" dirty="0">
                <a:solidFill>
                  <a:srgbClr val="D4D4D4"/>
                </a:solidFill>
                <a:effectLst/>
                <a:latin typeface="Consolas" panose="020B0609020204030204" pitchFamily="49" charset="0"/>
              </a:rPr>
              <a:t> </a:t>
            </a:r>
            <a:r>
              <a:rPr lang="en-US" sz="1400" b="0" dirty="0">
                <a:solidFill>
                  <a:srgbClr val="569CD6"/>
                </a:solidFill>
                <a:effectLst/>
                <a:latin typeface="Consolas" panose="020B0609020204030204" pitchFamily="49" charset="0"/>
              </a:rPr>
              <a:t>using</a:t>
            </a: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customerId</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Each</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order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will</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now</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include</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customer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information</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like</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name</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email</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etc</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B5CEA8"/>
                </a:solidFill>
                <a:effectLst/>
                <a:latin typeface="Consolas" panose="020B0609020204030204" pitchFamily="49" charset="0"/>
              </a:rPr>
              <a:t>2.</a:t>
            </a:r>
            <a:r>
              <a:rPr lang="en-US" sz="1400" b="0" dirty="0">
                <a:solidFill>
                  <a:srgbClr val="D4D4D4"/>
                </a:solidFill>
                <a:effectLst/>
                <a:latin typeface="Consolas" panose="020B0609020204030204" pitchFamily="49" charset="0"/>
              </a:rPr>
              <a:t> </a:t>
            </a:r>
            <a:r>
              <a:rPr lang="en-US" sz="1400" b="0" dirty="0">
                <a:solidFill>
                  <a:srgbClr val="C8C8C8"/>
                </a:solidFill>
                <a:effectLst/>
                <a:latin typeface="Consolas" panose="020B0609020204030204" pitchFamily="49" charset="0"/>
              </a:rPr>
              <a:t>Goal</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Show</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customers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along</a:t>
            </a:r>
            <a:r>
              <a:rPr lang="en-US" sz="1400" b="0" dirty="0">
                <a:solidFill>
                  <a:srgbClr val="D4D4D4"/>
                </a:solidFill>
                <a:effectLst/>
                <a:latin typeface="Consolas" panose="020B0609020204030204" pitchFamily="49" charset="0"/>
              </a:rPr>
              <a:t> </a:t>
            </a:r>
            <a:r>
              <a:rPr lang="en-US" sz="1400" b="0" dirty="0">
                <a:solidFill>
                  <a:srgbClr val="C586C0"/>
                </a:solidFill>
                <a:effectLst/>
                <a:latin typeface="Consolas" panose="020B0609020204030204" pitchFamily="49" charset="0"/>
              </a:rPr>
              <a:t>with</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their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order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history</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donation</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history</a:t>
            </a:r>
            <a:endParaRPr lang="en-US" sz="1400" b="0" dirty="0">
              <a:solidFill>
                <a:srgbClr val="D4D4D4"/>
              </a:solidFill>
              <a:effectLst/>
              <a:latin typeface="Consolas" panose="020B0609020204030204" pitchFamily="49" charset="0"/>
            </a:endParaRPr>
          </a:p>
          <a:p>
            <a:pPr>
              <a:lnSpc>
                <a:spcPts val="1425"/>
              </a:lnSpc>
              <a:buNone/>
            </a:pPr>
            <a:r>
              <a:rPr lang="en-US" sz="1400" b="0" dirty="0" err="1">
                <a:solidFill>
                  <a:srgbClr val="9CDCFE"/>
                </a:solidFill>
                <a:effectLst/>
                <a:latin typeface="Consolas" panose="020B0609020204030204" pitchFamily="49" charset="0"/>
              </a:rPr>
              <a:t>db</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customers</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aggregate</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$lookup:</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from:</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"orders"</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localField</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"_id"</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foreignField</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customerId</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as:</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orderHistory</a:t>
            </a:r>
            <a:r>
              <a:rPr lang="en-US" sz="1400" b="0" dirty="0">
                <a:solidFill>
                  <a:srgbClr val="CE9178"/>
                </a:solidFill>
                <a:effectLst/>
                <a:latin typeface="Consolas" panose="020B0609020204030204" pitchFamily="49" charset="0"/>
              </a:rPr>
              <a:t>"</a:t>
            </a: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$lookup:</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from:</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"donations"</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localField</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"_id"</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foreignField</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customerId</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as:</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donationHistory</a:t>
            </a:r>
            <a:r>
              <a:rPr lang="en-US" sz="1400" b="0" dirty="0">
                <a:solidFill>
                  <a:srgbClr val="CE9178"/>
                </a:solidFill>
                <a:effectLst/>
                <a:latin typeface="Consolas" panose="020B0609020204030204" pitchFamily="49" charset="0"/>
              </a:rPr>
              <a:t>"</a:t>
            </a: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a:t>
            </a:r>
          </a:p>
          <a:p>
            <a:pPr>
              <a:lnSpc>
                <a:spcPts val="1425"/>
              </a:lnSpc>
              <a:buNone/>
            </a:pPr>
            <a:r>
              <a:rPr lang="en-US" sz="1400" b="0" dirty="0" err="1">
                <a:solidFill>
                  <a:srgbClr val="C8C8C8"/>
                </a:solidFill>
                <a:effectLst/>
                <a:latin typeface="Consolas" panose="020B0609020204030204" pitchFamily="49" charset="0"/>
              </a:rPr>
              <a:t>Explaination</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9CDCFE"/>
                </a:solidFill>
                <a:effectLst/>
                <a:latin typeface="Consolas" panose="020B0609020204030204" pitchFamily="49" charset="0"/>
              </a:rPr>
              <a:t>This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joins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each</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customer</a:t>
            </a:r>
            <a:r>
              <a:rPr lang="en-US" sz="1400" b="0" dirty="0">
                <a:solidFill>
                  <a:srgbClr val="D4D4D4"/>
                </a:solidFill>
                <a:effectLst/>
                <a:latin typeface="Consolas" panose="020B0609020204030204" pitchFamily="49" charset="0"/>
              </a:rPr>
              <a:t> </a:t>
            </a:r>
            <a:r>
              <a:rPr lang="en-US" sz="1400" b="0" dirty="0">
                <a:solidFill>
                  <a:srgbClr val="C586C0"/>
                </a:solidFill>
                <a:effectLst/>
                <a:latin typeface="Consolas" panose="020B0609020204030204" pitchFamily="49" charset="0"/>
              </a:rPr>
              <a:t>with</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the</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orders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they</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placed</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9CDCFE"/>
                </a:solidFill>
                <a:effectLst/>
                <a:latin typeface="Consolas" panose="020B0609020204030204" pitchFamily="49" charset="0"/>
              </a:rPr>
              <a:t>You</a:t>
            </a:r>
            <a:r>
              <a:rPr lang="en-US" sz="1400" b="0" dirty="0">
                <a:solidFill>
                  <a:srgbClr val="D4D4D4"/>
                </a:solidFill>
                <a:effectLst/>
                <a:latin typeface="Consolas" panose="020B0609020204030204" pitchFamily="49" charset="0"/>
              </a:rPr>
              <a:t>’</a:t>
            </a:r>
            <a:r>
              <a:rPr lang="en-US" sz="1400" b="0" dirty="0">
                <a:solidFill>
                  <a:srgbClr val="9CDCFE"/>
                </a:solidFill>
                <a:effectLst/>
                <a:latin typeface="Consolas" panose="020B0609020204030204" pitchFamily="49" charset="0"/>
              </a:rPr>
              <a:t>ll</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get</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customer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details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along</a:t>
            </a:r>
            <a:r>
              <a:rPr lang="en-US" sz="1400" b="0" dirty="0">
                <a:solidFill>
                  <a:srgbClr val="D4D4D4"/>
                </a:solidFill>
                <a:effectLst/>
                <a:latin typeface="Consolas" panose="020B0609020204030204" pitchFamily="49" charset="0"/>
              </a:rPr>
              <a:t> </a:t>
            </a:r>
            <a:r>
              <a:rPr lang="en-US" sz="1400" b="0" dirty="0">
                <a:solidFill>
                  <a:srgbClr val="C586C0"/>
                </a:solidFill>
                <a:effectLst/>
                <a:latin typeface="Consolas" panose="020B0609020204030204" pitchFamily="49" charset="0"/>
              </a:rPr>
              <a:t>with</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a</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list</a:t>
            </a:r>
            <a:r>
              <a:rPr lang="en-US" sz="1400" b="0" dirty="0">
                <a:solidFill>
                  <a:srgbClr val="D4D4D4"/>
                </a:solidFill>
                <a:effectLst/>
                <a:latin typeface="Consolas" panose="020B0609020204030204" pitchFamily="49" charset="0"/>
              </a:rPr>
              <a:t> </a:t>
            </a:r>
            <a:r>
              <a:rPr lang="en-US" sz="1400" b="0" dirty="0">
                <a:solidFill>
                  <a:srgbClr val="569CD6"/>
                </a:solidFill>
                <a:effectLst/>
                <a:latin typeface="Consolas" panose="020B0609020204030204" pitchFamily="49" charset="0"/>
              </a:rPr>
              <a:t>of</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their</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past</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orders</a:t>
            </a:r>
            <a:r>
              <a:rPr lang="en-US" sz="14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08941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E13C3-DD17-657E-9AC6-3C43085DA1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ED77E6-1F3C-2528-CFB2-54D65FFFFAB6}"/>
              </a:ext>
            </a:extLst>
          </p:cNvPr>
          <p:cNvSpPr txBox="1"/>
          <p:nvPr/>
        </p:nvSpPr>
        <p:spPr>
          <a:xfrm>
            <a:off x="195942" y="209005"/>
            <a:ext cx="886781" cy="369332"/>
          </a:xfrm>
          <a:prstGeom prst="rect">
            <a:avLst/>
          </a:prstGeom>
          <a:noFill/>
        </p:spPr>
        <p:txBody>
          <a:bodyPr wrap="none" rtlCol="0">
            <a:spAutoFit/>
          </a:bodyPr>
          <a:lstStyle/>
          <a:p>
            <a:r>
              <a:rPr lang="en-US" dirty="0">
                <a:solidFill>
                  <a:srgbClr val="FFFF00"/>
                </a:solidFill>
              </a:rPr>
              <a:t>$count</a:t>
            </a:r>
          </a:p>
        </p:txBody>
      </p:sp>
      <p:sp>
        <p:nvSpPr>
          <p:cNvPr id="4" name="TextBox 3">
            <a:extLst>
              <a:ext uri="{FF2B5EF4-FFF2-40B4-BE49-F238E27FC236}">
                <a16:creationId xmlns:a16="http://schemas.microsoft.com/office/drawing/2014/main" id="{D8DC84B6-022D-BDB8-CEBA-BF1C18D3DCF5}"/>
              </a:ext>
            </a:extLst>
          </p:cNvPr>
          <p:cNvSpPr txBox="1"/>
          <p:nvPr/>
        </p:nvSpPr>
        <p:spPr>
          <a:xfrm>
            <a:off x="1082723" y="807830"/>
            <a:ext cx="8143164" cy="2979405"/>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How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many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pending</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$match:</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"pending"</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$count: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pendingOrdersCount</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How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many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customers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from</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York</a:t>
            </a: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$match:</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location:</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"New York"</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$count: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NewYorkCustCount</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913431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FD228-E369-ABE6-14FF-4D22C51756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B38631-CE75-582D-301D-E235873A43A9}"/>
              </a:ext>
            </a:extLst>
          </p:cNvPr>
          <p:cNvSpPr txBox="1"/>
          <p:nvPr/>
        </p:nvSpPr>
        <p:spPr>
          <a:xfrm>
            <a:off x="195942" y="209005"/>
            <a:ext cx="1287275" cy="369332"/>
          </a:xfrm>
          <a:prstGeom prst="rect">
            <a:avLst/>
          </a:prstGeom>
          <a:noFill/>
        </p:spPr>
        <p:txBody>
          <a:bodyPr wrap="none" rtlCol="0">
            <a:spAutoFit/>
          </a:bodyPr>
          <a:lstStyle/>
          <a:p>
            <a:r>
              <a:rPr lang="en-US" dirty="0">
                <a:solidFill>
                  <a:srgbClr val="FFFF00"/>
                </a:solidFill>
              </a:rPr>
              <a:t>$</a:t>
            </a:r>
            <a:r>
              <a:rPr lang="en-US" dirty="0" err="1">
                <a:solidFill>
                  <a:srgbClr val="FFFF00"/>
                </a:solidFill>
              </a:rPr>
              <a:t>addFields</a:t>
            </a:r>
            <a:endParaRPr lang="en-US" dirty="0">
              <a:solidFill>
                <a:srgbClr val="FFFF00"/>
              </a:solidFill>
            </a:endParaRPr>
          </a:p>
        </p:txBody>
      </p:sp>
      <p:sp>
        <p:nvSpPr>
          <p:cNvPr id="4" name="TextBox 3">
            <a:extLst>
              <a:ext uri="{FF2B5EF4-FFF2-40B4-BE49-F238E27FC236}">
                <a16:creationId xmlns:a16="http://schemas.microsoft.com/office/drawing/2014/main" id="{B90984AD-2EA1-3556-46A4-AF9C6AE42852}"/>
              </a:ext>
            </a:extLst>
          </p:cNvPr>
          <p:cNvSpPr txBox="1"/>
          <p:nvPr/>
        </p:nvSpPr>
        <p:spPr>
          <a:xfrm>
            <a:off x="2477069" y="2301782"/>
            <a:ext cx="4954136" cy="2261260"/>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Add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tax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each</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order</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addFields</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tax:</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$multiply:</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0.10</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640053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A5FA0-1AEC-F2EB-EE77-1D22636CD0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89B708-F02F-05E7-1D03-82221C47C34A}"/>
              </a:ext>
            </a:extLst>
          </p:cNvPr>
          <p:cNvSpPr txBox="1"/>
          <p:nvPr/>
        </p:nvSpPr>
        <p:spPr>
          <a:xfrm>
            <a:off x="195942" y="209005"/>
            <a:ext cx="735842" cy="369332"/>
          </a:xfrm>
          <a:prstGeom prst="rect">
            <a:avLst/>
          </a:prstGeom>
          <a:noFill/>
        </p:spPr>
        <p:txBody>
          <a:bodyPr wrap="none" rtlCol="0">
            <a:spAutoFit/>
          </a:bodyPr>
          <a:lstStyle/>
          <a:p>
            <a:r>
              <a:rPr lang="en-US" dirty="0">
                <a:solidFill>
                  <a:srgbClr val="FFFF00"/>
                </a:solidFill>
              </a:rPr>
              <a:t>$expr</a:t>
            </a:r>
          </a:p>
        </p:txBody>
      </p:sp>
      <p:sp>
        <p:nvSpPr>
          <p:cNvPr id="4" name="TextBox 3">
            <a:extLst>
              <a:ext uri="{FF2B5EF4-FFF2-40B4-BE49-F238E27FC236}">
                <a16:creationId xmlns:a16="http://schemas.microsoft.com/office/drawing/2014/main" id="{FB92801D-53D1-8910-96A5-8C5596C369B1}"/>
              </a:ext>
            </a:extLst>
          </p:cNvPr>
          <p:cNvSpPr txBox="1"/>
          <p:nvPr/>
        </p:nvSpPr>
        <p:spPr>
          <a:xfrm>
            <a:off x="368488" y="816667"/>
            <a:ext cx="9103057" cy="4415696"/>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where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greater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than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$500</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$expr:</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500</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C8C8C8"/>
                </a:solidFill>
                <a:effectLst/>
                <a:latin typeface="Consolas" panose="020B0609020204030204" pitchFamily="49" charset="0"/>
              </a:rPr>
              <a:t>Explaination</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This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returns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high</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with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above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$500</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using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-to-value comparison</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customers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who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least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30</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years</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old</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$expr:</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gte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30</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C8C8C8"/>
                </a:solidFill>
                <a:effectLst/>
                <a:latin typeface="Consolas" panose="020B0609020204030204" pitchFamily="49" charset="0"/>
              </a:rPr>
              <a:t>Explaination</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Returns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all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customers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whose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greater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than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equal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30.</a:t>
            </a:r>
            <a:r>
              <a:rPr lang="en-US" b="0" dirty="0">
                <a:solidFill>
                  <a:srgbClr val="D4D4D4"/>
                </a:solidFill>
                <a:effectLst/>
                <a:latin typeface="Consolas" panose="020B0609020204030204" pitchFamily="49" charset="0"/>
              </a:rPr>
              <a:t> </a:t>
            </a:r>
            <a:r>
              <a:rPr lang="en-US" b="0" dirty="0">
                <a:solidFill>
                  <a:srgbClr val="4FC1FF"/>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classic</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use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$expr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constant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comparison</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63539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D918A-F94C-E4EC-7A4F-9335D24AFD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DAEF38-1D13-71E6-256F-CCE23B34F673}"/>
              </a:ext>
            </a:extLst>
          </p:cNvPr>
          <p:cNvSpPr txBox="1"/>
          <p:nvPr/>
        </p:nvSpPr>
        <p:spPr>
          <a:xfrm>
            <a:off x="195942" y="209005"/>
            <a:ext cx="813043" cy="369332"/>
          </a:xfrm>
          <a:prstGeom prst="rect">
            <a:avLst/>
          </a:prstGeom>
          <a:noFill/>
        </p:spPr>
        <p:txBody>
          <a:bodyPr wrap="none" rtlCol="0">
            <a:spAutoFit/>
          </a:bodyPr>
          <a:lstStyle/>
          <a:p>
            <a:r>
              <a:rPr lang="en-US" dirty="0">
                <a:solidFill>
                  <a:srgbClr val="FFFF00"/>
                </a:solidFill>
              </a:rPr>
              <a:t>$</a:t>
            </a:r>
            <a:r>
              <a:rPr lang="en-US" dirty="0" err="1">
                <a:solidFill>
                  <a:srgbClr val="FFFF00"/>
                </a:solidFill>
              </a:rPr>
              <a:t>cond</a:t>
            </a:r>
            <a:endParaRPr lang="en-US" dirty="0">
              <a:solidFill>
                <a:srgbClr val="FFFF00"/>
              </a:solidFill>
            </a:endParaRPr>
          </a:p>
        </p:txBody>
      </p:sp>
      <p:sp>
        <p:nvSpPr>
          <p:cNvPr id="4" name="TextBox 3">
            <a:extLst>
              <a:ext uri="{FF2B5EF4-FFF2-40B4-BE49-F238E27FC236}">
                <a16:creationId xmlns:a16="http://schemas.microsoft.com/office/drawing/2014/main" id="{E9220430-F8BF-909B-D93A-2BC2505A4EC8}"/>
              </a:ext>
            </a:extLst>
          </p:cNvPr>
          <p:cNvSpPr txBox="1"/>
          <p:nvPr/>
        </p:nvSpPr>
        <p:spPr>
          <a:xfrm>
            <a:off x="614148" y="865492"/>
            <a:ext cx="8871045" cy="4774769"/>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customers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who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tagged</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"young"</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age</a:t>
            </a:r>
            <a:r>
              <a:rPr lang="en-US" b="0" dirty="0">
                <a:solidFill>
                  <a:srgbClr val="D4D4D4"/>
                </a:solidFill>
                <a:effectLst/>
                <a:latin typeface="Consolas" panose="020B0609020204030204" pitchFamily="49" charset="0"/>
              </a:rPr>
              <a:t> &lt; </a:t>
            </a:r>
            <a:r>
              <a:rPr lang="en-US" b="0" dirty="0">
                <a:solidFill>
                  <a:srgbClr val="B5CEA8"/>
                </a:solidFill>
                <a:effectLst/>
                <a:latin typeface="Consolas" panose="020B0609020204030204" pitchFamily="49" charset="0"/>
              </a:rPr>
              <a:t>30</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and</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"senior"</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age</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30</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4EC9B0"/>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$project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ageGroup</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cond</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if</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lt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30</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then</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"young"</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else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"senior"</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4EC9B0"/>
                </a:solidFill>
                <a:effectLst/>
                <a:latin typeface="Consolas" panose="020B0609020204030204" pitchFamily="49" charset="0"/>
              </a:rPr>
              <a:t>Explaination</a:t>
            </a:r>
            <a:r>
              <a:rPr lang="en-US" b="0" dirty="0">
                <a:solidFill>
                  <a:srgbClr val="D4D4D4"/>
                </a:solidFill>
                <a:effectLst/>
                <a:latin typeface="Consolas" panose="020B0609020204030204" pitchFamily="49" charset="0"/>
              </a:rPr>
              <a:t>:</a:t>
            </a:r>
          </a:p>
          <a:p>
            <a:pPr>
              <a:lnSpc>
                <a:spcPts val="1425"/>
              </a:lnSpc>
              <a:buNone/>
            </a:pPr>
            <a:r>
              <a:rPr lang="en-US" b="0" dirty="0">
                <a:solidFill>
                  <a:srgbClr val="4EC9B0"/>
                </a:solidFill>
                <a:effectLst/>
                <a:latin typeface="Consolas" panose="020B0609020204030204" pitchFamily="49" charset="0"/>
              </a:rPr>
              <a:t>This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classifies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customers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"young"</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or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"senior"</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groups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based</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on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using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$cond</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867058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4D7C7-B9FC-85EA-F65B-2B272869C6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01BADB-7FBE-8623-08DA-369830BA42E7}"/>
              </a:ext>
            </a:extLst>
          </p:cNvPr>
          <p:cNvSpPr txBox="1"/>
          <p:nvPr/>
        </p:nvSpPr>
        <p:spPr>
          <a:xfrm>
            <a:off x="195942" y="209005"/>
            <a:ext cx="813043" cy="369332"/>
          </a:xfrm>
          <a:prstGeom prst="rect">
            <a:avLst/>
          </a:prstGeom>
          <a:noFill/>
        </p:spPr>
        <p:txBody>
          <a:bodyPr wrap="none" rtlCol="0">
            <a:spAutoFit/>
          </a:bodyPr>
          <a:lstStyle/>
          <a:p>
            <a:r>
              <a:rPr lang="en-US" dirty="0">
                <a:solidFill>
                  <a:srgbClr val="FFFF00"/>
                </a:solidFill>
              </a:rPr>
              <a:t>$</a:t>
            </a:r>
            <a:r>
              <a:rPr lang="en-US" dirty="0" err="1">
                <a:solidFill>
                  <a:srgbClr val="FFFF00"/>
                </a:solidFill>
              </a:rPr>
              <a:t>cond</a:t>
            </a:r>
            <a:endParaRPr lang="en-US" dirty="0">
              <a:solidFill>
                <a:srgbClr val="FFFF00"/>
              </a:solidFill>
            </a:endParaRPr>
          </a:p>
        </p:txBody>
      </p:sp>
      <p:sp>
        <p:nvSpPr>
          <p:cNvPr id="4" name="TextBox 3">
            <a:extLst>
              <a:ext uri="{FF2B5EF4-FFF2-40B4-BE49-F238E27FC236}">
                <a16:creationId xmlns:a16="http://schemas.microsoft.com/office/drawing/2014/main" id="{C90D2FA6-A9BC-0DFE-910B-222DE1107CCE}"/>
              </a:ext>
            </a:extLst>
          </p:cNvPr>
          <p:cNvSpPr txBox="1"/>
          <p:nvPr/>
        </p:nvSpPr>
        <p:spPr>
          <a:xfrm>
            <a:off x="195942" y="685955"/>
            <a:ext cx="9439377" cy="4774769"/>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Dynamically</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Add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err="1">
                <a:solidFill>
                  <a:srgbClr val="4EC9B0"/>
                </a:solidFill>
                <a:effectLst/>
                <a:latin typeface="Consolas" panose="020B0609020204030204" pitchFamily="49" charset="0"/>
              </a:rPr>
              <a:t>stockStatus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products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r>
              <a:rPr lang="en-US" b="0" dirty="0">
                <a:solidFill>
                  <a:srgbClr val="4EC9B0"/>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Stock</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stock</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100</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else</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Low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Stock</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4EC9B0"/>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addFields</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stockStatus</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cond</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if</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gte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"$stock"</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100</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then</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"In Stock"</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else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"Low Stock"</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4EC9B0"/>
                </a:solidFill>
                <a:effectLst/>
                <a:latin typeface="Consolas" panose="020B0609020204030204" pitchFamily="49" charset="0"/>
              </a:rPr>
              <a:t>Explaination</a:t>
            </a:r>
            <a:r>
              <a:rPr lang="en-US" b="0" dirty="0">
                <a:solidFill>
                  <a:srgbClr val="D4D4D4"/>
                </a:solidFill>
                <a:effectLst/>
                <a:latin typeface="Consolas" panose="020B0609020204030204" pitchFamily="49" charset="0"/>
              </a:rPr>
              <a:t>:</a:t>
            </a:r>
          </a:p>
          <a:p>
            <a:pPr>
              <a:lnSpc>
                <a:spcPts val="1425"/>
              </a:lnSpc>
              <a:buNone/>
            </a:pPr>
            <a:r>
              <a:rPr lang="en-US" b="0" dirty="0">
                <a:solidFill>
                  <a:srgbClr val="4EC9B0"/>
                </a:solidFill>
                <a:effectLst/>
                <a:latin typeface="Consolas" panose="020B0609020204030204" pitchFamily="49" charset="0"/>
              </a:rPr>
              <a:t>Dynamically</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add</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fields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documents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based</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on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conditions</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like</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tagging</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flagging</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or</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labeling</a:t>
            </a:r>
            <a:r>
              <a:rPr lang="en-US" b="0" dirty="0">
                <a:solidFill>
                  <a:srgbClr val="D4D4D4"/>
                </a:solidFill>
                <a:effectLst/>
                <a:latin typeface="Consolas" panose="020B0609020204030204" pitchFamily="49" charset="0"/>
              </a:rPr>
              <a:t>.</a:t>
            </a:r>
          </a:p>
          <a:p>
            <a:pPr>
              <a:lnSpc>
                <a:spcPts val="1425"/>
              </a:lnSpc>
              <a:buNone/>
            </a:pPr>
            <a:r>
              <a:rPr lang="en-US" b="0" dirty="0">
                <a:solidFill>
                  <a:srgbClr val="4EC9B0"/>
                </a:solidFill>
                <a:effectLst/>
                <a:latin typeface="Consolas" panose="020B0609020204030204" pitchFamily="49" charset="0"/>
              </a:rPr>
              <a:t>Adds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 </a:t>
            </a:r>
            <a:r>
              <a:rPr lang="en-US" b="0" dirty="0" err="1">
                <a:solidFill>
                  <a:srgbClr val="4EC9B0"/>
                </a:solidFill>
                <a:effectLst/>
                <a:latin typeface="Consolas" panose="020B0609020204030204" pitchFamily="49" charset="0"/>
              </a:rPr>
              <a:t>stockStatus</a:t>
            </a:r>
            <a:r>
              <a:rPr lang="en-US" b="0" dirty="0">
                <a:solidFill>
                  <a:srgbClr val="D4D4D4"/>
                </a:solidFill>
                <a:effectLst/>
                <a:latin typeface="Consolas" panose="020B0609020204030204" pitchFamily="49" charset="0"/>
              </a:rPr>
              <a:t>.</a:t>
            </a:r>
          </a:p>
          <a:p>
            <a:pPr>
              <a:lnSpc>
                <a:spcPts val="1425"/>
              </a:lnSpc>
              <a:buNone/>
            </a:pPr>
            <a:r>
              <a:rPr lang="en-US" b="0" dirty="0">
                <a:solidFill>
                  <a:srgbClr val="4EC9B0"/>
                </a:solidFill>
                <a:effectLst/>
                <a:latin typeface="Consolas" panose="020B0609020204030204" pitchFamily="49" charset="0"/>
              </a:rPr>
              <a:t>Logic</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stock</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is</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100</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or</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more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"In Stock"</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else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"Low Stock"</a:t>
            </a: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498877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0834-4E99-5ECB-9077-9C0591B040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F45419-43F5-20FA-620A-E382DF2EAD0F}"/>
              </a:ext>
            </a:extLst>
          </p:cNvPr>
          <p:cNvSpPr txBox="1"/>
          <p:nvPr/>
        </p:nvSpPr>
        <p:spPr>
          <a:xfrm>
            <a:off x="195942" y="209005"/>
            <a:ext cx="815031" cy="369332"/>
          </a:xfrm>
          <a:prstGeom prst="rect">
            <a:avLst/>
          </a:prstGeom>
          <a:noFill/>
        </p:spPr>
        <p:txBody>
          <a:bodyPr wrap="none" rtlCol="0">
            <a:spAutoFit/>
          </a:bodyPr>
          <a:lstStyle/>
          <a:p>
            <a:r>
              <a:rPr lang="en-US" dirty="0">
                <a:solidFill>
                  <a:srgbClr val="FFFF00"/>
                </a:solidFill>
              </a:rPr>
              <a:t>$facet</a:t>
            </a:r>
          </a:p>
        </p:txBody>
      </p:sp>
      <p:sp>
        <p:nvSpPr>
          <p:cNvPr id="4" name="TextBox 3">
            <a:extLst>
              <a:ext uri="{FF2B5EF4-FFF2-40B4-BE49-F238E27FC236}">
                <a16:creationId xmlns:a16="http://schemas.microsoft.com/office/drawing/2014/main" id="{8035DB8D-16C7-DA88-3241-5B09CC104A9E}"/>
              </a:ext>
            </a:extLst>
          </p:cNvPr>
          <p:cNvSpPr txBox="1"/>
          <p:nvPr/>
        </p:nvSpPr>
        <p:spPr>
          <a:xfrm>
            <a:off x="1146412" y="57578"/>
            <a:ext cx="8759587" cy="5851987"/>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It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allows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you</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run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multiple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aggregation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operations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same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same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input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data</a:t>
            </a:r>
            <a:r>
              <a:rPr lang="en-US" b="0" dirty="0">
                <a:solidFill>
                  <a:srgbClr val="D4D4D4"/>
                </a:solidFill>
                <a:effectLst/>
                <a:latin typeface="Consolas" panose="020B0609020204030204" pitchFamily="49" charset="0"/>
              </a:rPr>
              <a:t> </a:t>
            </a:r>
          </a:p>
          <a:p>
            <a:pPr>
              <a:lnSpc>
                <a:spcPts val="1425"/>
              </a:lnSpc>
              <a:buNone/>
            </a:pPr>
            <a:r>
              <a:rPr lang="en-US" b="0" dirty="0">
                <a:solidFill>
                  <a:srgbClr val="9CDCFE"/>
                </a:solidFill>
                <a:effectLst/>
                <a:latin typeface="Consolas" panose="020B0609020204030204" pitchFamily="49" charset="0"/>
              </a:rPr>
              <a:t>and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all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results</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single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output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Use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when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you</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need</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to</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Split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results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multiple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categories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Run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multiple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analyses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once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pagination</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stats</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query</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Filter</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sort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all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together</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pagination</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Order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Counts</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query</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$facet: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statusCounts</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count: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$sum:</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 }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page: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$sort:</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orderDate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$skip:</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$limit: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761149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6B5E4-685C-9E8C-FA62-01D8A1A6D74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862730-421C-C60E-A67F-785CEEF314EE}"/>
              </a:ext>
            </a:extLst>
          </p:cNvPr>
          <p:cNvSpPr txBox="1"/>
          <p:nvPr/>
        </p:nvSpPr>
        <p:spPr>
          <a:xfrm>
            <a:off x="195942" y="209005"/>
            <a:ext cx="815031" cy="369332"/>
          </a:xfrm>
          <a:prstGeom prst="rect">
            <a:avLst/>
          </a:prstGeom>
          <a:noFill/>
        </p:spPr>
        <p:txBody>
          <a:bodyPr wrap="none" rtlCol="0">
            <a:spAutoFit/>
          </a:bodyPr>
          <a:lstStyle/>
          <a:p>
            <a:r>
              <a:rPr lang="en-US" dirty="0">
                <a:solidFill>
                  <a:srgbClr val="FFFF00"/>
                </a:solidFill>
              </a:rPr>
              <a:t>$facet</a:t>
            </a:r>
          </a:p>
        </p:txBody>
      </p:sp>
      <p:sp>
        <p:nvSpPr>
          <p:cNvPr id="4" name="TextBox 3">
            <a:extLst>
              <a:ext uri="{FF2B5EF4-FFF2-40B4-BE49-F238E27FC236}">
                <a16:creationId xmlns:a16="http://schemas.microsoft.com/office/drawing/2014/main" id="{B7851C5A-4013-90B8-4C63-335265A9320E}"/>
              </a:ext>
            </a:extLst>
          </p:cNvPr>
          <p:cNvSpPr txBox="1"/>
          <p:nvPr/>
        </p:nvSpPr>
        <p:spPr>
          <a:xfrm>
            <a:off x="777924" y="841266"/>
            <a:ext cx="8816452" cy="5492914"/>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statusCounts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pipeline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counts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how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many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are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each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page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pipeline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fetches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most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recent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Split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results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multiple</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categories</a:t>
            </a: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8C8C8"/>
                </a:solidFill>
                <a:effectLst/>
                <a:latin typeface="Consolas" panose="020B0609020204030204" pitchFamily="49" charset="0"/>
              </a:rPr>
              <a:t>Scenario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ranges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cheap</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moderate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expensive</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$facet: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cheap:</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$match:</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lt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50</a:t>
            </a:r>
            <a:r>
              <a:rPr lang="en-US" b="0" dirty="0">
                <a:solidFill>
                  <a:srgbClr val="D4D4D4"/>
                </a:solidFill>
                <a:effectLst/>
                <a:latin typeface="Consolas" panose="020B0609020204030204" pitchFamily="49" charset="0"/>
              </a:rPr>
              <a:t> } }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$project: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moderate: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$match:</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gte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50</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lt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100</a:t>
            </a:r>
            <a:r>
              <a:rPr lang="en-US" b="0" dirty="0">
                <a:solidFill>
                  <a:srgbClr val="D4D4D4"/>
                </a:solidFill>
                <a:effectLst/>
                <a:latin typeface="Consolas" panose="020B0609020204030204" pitchFamily="49" charset="0"/>
              </a:rPr>
              <a:t> } }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$project: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expensive: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$match:</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gte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100</a:t>
            </a:r>
            <a:r>
              <a:rPr lang="en-US" b="0" dirty="0">
                <a:solidFill>
                  <a:srgbClr val="D4D4D4"/>
                </a:solidFill>
                <a:effectLst/>
                <a:latin typeface="Consolas" panose="020B0609020204030204" pitchFamily="49" charset="0"/>
              </a:rPr>
              <a:t> } }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$project: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926400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E19BD-34CA-D7C4-95DE-DDFE25D73E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F527A4-CE1A-5B28-A1E6-960DF209FC16}"/>
              </a:ext>
            </a:extLst>
          </p:cNvPr>
          <p:cNvSpPr txBox="1"/>
          <p:nvPr/>
        </p:nvSpPr>
        <p:spPr>
          <a:xfrm>
            <a:off x="195942" y="209005"/>
            <a:ext cx="991875" cy="369332"/>
          </a:xfrm>
          <a:prstGeom prst="rect">
            <a:avLst/>
          </a:prstGeom>
          <a:noFill/>
        </p:spPr>
        <p:txBody>
          <a:bodyPr wrap="none" rtlCol="0">
            <a:spAutoFit/>
          </a:bodyPr>
          <a:lstStyle/>
          <a:p>
            <a:r>
              <a:rPr lang="en-US" dirty="0">
                <a:solidFill>
                  <a:srgbClr val="FFFF00"/>
                </a:solidFill>
              </a:rPr>
              <a:t>$bucket</a:t>
            </a:r>
          </a:p>
        </p:txBody>
      </p:sp>
      <p:sp>
        <p:nvSpPr>
          <p:cNvPr id="4" name="TextBox 3">
            <a:extLst>
              <a:ext uri="{FF2B5EF4-FFF2-40B4-BE49-F238E27FC236}">
                <a16:creationId xmlns:a16="http://schemas.microsoft.com/office/drawing/2014/main" id="{FBACBF0E-B27E-484C-92AF-5873A7F05A21}"/>
              </a:ext>
            </a:extLst>
          </p:cNvPr>
          <p:cNvSpPr txBox="1"/>
          <p:nvPr/>
        </p:nvSpPr>
        <p:spPr>
          <a:xfrm>
            <a:off x="491319" y="955260"/>
            <a:ext cx="8952932" cy="3877087"/>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$bucket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You</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define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boundaries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manually</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Think</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it</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as</a:t>
            </a:r>
            <a:r>
              <a:rPr lang="en-US" b="0" dirty="0">
                <a:solidFill>
                  <a:srgbClr val="D4D4D4"/>
                </a:solidFill>
                <a:effectLst/>
                <a:latin typeface="Consolas" panose="020B0609020204030204" pitchFamily="49" charset="0"/>
              </a:rPr>
              <a:t>:</a:t>
            </a:r>
          </a:p>
          <a:p>
            <a:pPr>
              <a:lnSpc>
                <a:spcPts val="1425"/>
              </a:lnSpc>
              <a:buNone/>
            </a:pPr>
            <a:r>
              <a:rPr lang="en-US" b="0" dirty="0">
                <a:solidFill>
                  <a:srgbClr val="CE9178"/>
                </a:solidFill>
                <a:effectLst/>
                <a:latin typeface="Consolas" panose="020B0609020204030204" pitchFamily="49" charset="0"/>
              </a:rPr>
              <a:t>"I know the ranges I want — group documents into specific buckets I define."</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8C8C8"/>
                </a:solidFill>
                <a:effectLst/>
                <a:latin typeface="Consolas" panose="020B0609020204030204" pitchFamily="49" charset="0"/>
              </a:rPr>
              <a:t>Example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Manually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customers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brackets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$bucket: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groupBy</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Field to group by</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boundaries:</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18</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100</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Must be sorted, defines ranges: 18–29, 30–39, etc.</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default: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"Other"</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If value doesn't fit in any boundary</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output: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totalCustomers</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$sum:</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p:txBody>
      </p:sp>
    </p:spTree>
    <p:extLst>
      <p:ext uri="{BB962C8B-B14F-4D97-AF65-F5344CB8AC3E}">
        <p14:creationId xmlns:p14="http://schemas.microsoft.com/office/powerpoint/2010/main" val="2327691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4DE78-D402-D72A-1C2A-5F2C194978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A1967A-226A-5D70-D3F9-619CB83724EF}"/>
              </a:ext>
            </a:extLst>
          </p:cNvPr>
          <p:cNvSpPr txBox="1"/>
          <p:nvPr/>
        </p:nvSpPr>
        <p:spPr>
          <a:xfrm>
            <a:off x="195942" y="209005"/>
            <a:ext cx="1457194" cy="369332"/>
          </a:xfrm>
          <a:prstGeom prst="rect">
            <a:avLst/>
          </a:prstGeom>
          <a:noFill/>
        </p:spPr>
        <p:txBody>
          <a:bodyPr wrap="none" rtlCol="0">
            <a:spAutoFit/>
          </a:bodyPr>
          <a:lstStyle/>
          <a:p>
            <a:r>
              <a:rPr lang="en-US" dirty="0">
                <a:solidFill>
                  <a:srgbClr val="FFFF00"/>
                </a:solidFill>
              </a:rPr>
              <a:t>$</a:t>
            </a:r>
            <a:r>
              <a:rPr lang="en-US" dirty="0" err="1">
                <a:solidFill>
                  <a:srgbClr val="FFFF00"/>
                </a:solidFill>
              </a:rPr>
              <a:t>bucketAuto</a:t>
            </a:r>
            <a:endParaRPr lang="en-US" dirty="0">
              <a:solidFill>
                <a:srgbClr val="FFFF00"/>
              </a:solidFill>
            </a:endParaRPr>
          </a:p>
        </p:txBody>
      </p:sp>
      <p:sp>
        <p:nvSpPr>
          <p:cNvPr id="4" name="TextBox 3">
            <a:extLst>
              <a:ext uri="{FF2B5EF4-FFF2-40B4-BE49-F238E27FC236}">
                <a16:creationId xmlns:a16="http://schemas.microsoft.com/office/drawing/2014/main" id="{5DC66B95-B345-67F5-94F6-0700594A06DF}"/>
              </a:ext>
            </a:extLst>
          </p:cNvPr>
          <p:cNvSpPr txBox="1"/>
          <p:nvPr/>
        </p:nvSpPr>
        <p:spPr>
          <a:xfrm>
            <a:off x="195942" y="646941"/>
            <a:ext cx="9291851" cy="6211059"/>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bucketAuto</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MongoDB</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decide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ranges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Think</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it</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as</a:t>
            </a:r>
            <a:r>
              <a:rPr lang="en-US" b="0" dirty="0">
                <a:solidFill>
                  <a:srgbClr val="D4D4D4"/>
                </a:solidFill>
                <a:effectLst/>
                <a:latin typeface="Consolas" panose="020B0609020204030204" pitchFamily="49" charset="0"/>
              </a:rPr>
              <a:t>:</a:t>
            </a:r>
          </a:p>
          <a:p>
            <a:pPr>
              <a:lnSpc>
                <a:spcPts val="1425"/>
              </a:lnSpc>
              <a:buNone/>
            </a:pPr>
            <a:r>
              <a:rPr lang="en-US" b="0" dirty="0">
                <a:solidFill>
                  <a:srgbClr val="CE9178"/>
                </a:solidFill>
                <a:effectLst/>
                <a:latin typeface="Consolas" panose="020B0609020204030204" pitchFamily="49" charset="0"/>
              </a:rPr>
              <a:t>"Automatically group documents into evenly sized groups based on values."</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8C8C8"/>
                </a:solidFill>
                <a:effectLst/>
                <a:latin typeface="Consolas" panose="020B0609020204030204" pitchFamily="49" charset="0"/>
              </a:rPr>
              <a:t>Example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customers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buckets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bucketAuto</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groupBy</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Field to group by</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buckets:</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Number of buckets you want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output: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totalCustomers</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$sum:</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$bucket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vs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bucketAuto</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What</a:t>
            </a:r>
            <a:r>
              <a:rPr lang="en-US" b="0" dirty="0">
                <a:solidFill>
                  <a:srgbClr val="CE9178"/>
                </a:solidFill>
                <a:effectLst/>
                <a:latin typeface="Consolas" panose="020B0609020204030204" pitchFamily="49" charset="0"/>
              </a:rPr>
              <a:t>'s the Difference</a:t>
            </a:r>
            <a:r>
              <a:rPr lang="en-US" b="0" dirty="0">
                <a:solidFill>
                  <a:srgbClr val="F44747"/>
                </a:solidFill>
                <a:effectLst/>
                <a:latin typeface="Consolas" panose="020B0609020204030204" pitchFamily="49" charset="0"/>
              </a:rPr>
              <a:t>?</a:t>
            </a: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Operator</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You</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define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ranges</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Mongo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chooses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ranges</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Equal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count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bucket</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$bucket</a:t>
            </a:r>
            <a:r>
              <a:rPr lang="en-US" b="0" dirty="0">
                <a:solidFill>
                  <a:srgbClr val="D4D4D4"/>
                </a:solidFill>
                <a:effectLst/>
                <a:latin typeface="Consolas" panose="020B0609020204030204" pitchFamily="49" charset="0"/>
              </a:rPr>
              <a:t>       | ✅ </a:t>
            </a:r>
            <a:r>
              <a:rPr lang="en-US" b="0" dirty="0">
                <a:solidFill>
                  <a:srgbClr val="9CDCFE"/>
                </a:solidFill>
                <a:effectLst/>
                <a:latin typeface="Consolas" panose="020B0609020204030204" pitchFamily="49" charset="0"/>
              </a:rPr>
              <a:t>Yes</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No</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Not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guaranteed</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bucketAuto</a:t>
            </a:r>
            <a:r>
              <a:rPr lang="en-US" b="0" dirty="0">
                <a:solidFill>
                  <a:srgbClr val="D4D4D4"/>
                </a:solidFill>
                <a:effectLst/>
                <a:latin typeface="Consolas" panose="020B0609020204030204" pitchFamily="49" charset="0"/>
              </a:rPr>
              <a:t>   | ❌ </a:t>
            </a:r>
            <a:r>
              <a:rPr lang="en-US" b="0" dirty="0">
                <a:solidFill>
                  <a:srgbClr val="9CDCFE"/>
                </a:solidFill>
                <a:effectLst/>
                <a:latin typeface="Consolas" panose="020B0609020204030204" pitchFamily="49" charset="0"/>
              </a:rPr>
              <a:t>No</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Yes</a:t>
            </a:r>
            <a:r>
              <a:rPr lang="en-US" b="0" dirty="0">
                <a:solidFill>
                  <a:srgbClr val="D4D4D4"/>
                </a:solidFill>
                <a:effectLst/>
                <a:latin typeface="Consolas" panose="020B0609020204030204" pitchFamily="49" charset="0"/>
              </a:rPr>
              <a:t>                   ✅ </a:t>
            </a:r>
            <a:r>
              <a:rPr lang="en-US" b="0" dirty="0">
                <a:solidFill>
                  <a:srgbClr val="DCDCAA"/>
                </a:solidFill>
                <a:effectLst/>
                <a:latin typeface="Consolas" panose="020B0609020204030204" pitchFamily="49" charset="0"/>
              </a:rPr>
              <a:t>Yes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tries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balance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count</a:t>
            </a:r>
            <a:r>
              <a:rPr lang="en-US" b="0" dirty="0">
                <a:solidFill>
                  <a:srgbClr val="D4D4D4"/>
                </a:solidFill>
                <a:effectLst/>
                <a:latin typeface="Consolas" panose="020B0609020204030204" pitchFamily="49" charset="0"/>
              </a:rPr>
              <a:t>)</a:t>
            </a: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MongoDB</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calculates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ranges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based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tries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distribute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evenly</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824603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621F1-0209-D548-F29E-65037D6DA8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D63BEF8-A266-ACE7-192B-1CB478DE0625}"/>
              </a:ext>
            </a:extLst>
          </p:cNvPr>
          <p:cNvSpPr txBox="1"/>
          <p:nvPr/>
        </p:nvSpPr>
        <p:spPr>
          <a:xfrm>
            <a:off x="195942" y="209005"/>
            <a:ext cx="1462003" cy="369332"/>
          </a:xfrm>
          <a:prstGeom prst="rect">
            <a:avLst/>
          </a:prstGeom>
          <a:noFill/>
        </p:spPr>
        <p:txBody>
          <a:bodyPr wrap="none" rtlCol="0">
            <a:spAutoFit/>
          </a:bodyPr>
          <a:lstStyle/>
          <a:p>
            <a:r>
              <a:rPr lang="en-US" dirty="0">
                <a:solidFill>
                  <a:srgbClr val="FFFF00"/>
                </a:solidFill>
              </a:rPr>
              <a:t>$</a:t>
            </a:r>
            <a:r>
              <a:rPr lang="en-US" dirty="0" err="1">
                <a:solidFill>
                  <a:srgbClr val="FFFF00"/>
                </a:solidFill>
              </a:rPr>
              <a:t>regexMatch</a:t>
            </a:r>
            <a:endParaRPr lang="en-US" dirty="0">
              <a:solidFill>
                <a:srgbClr val="FFFF00"/>
              </a:solidFill>
            </a:endParaRPr>
          </a:p>
        </p:txBody>
      </p:sp>
      <p:sp>
        <p:nvSpPr>
          <p:cNvPr id="4" name="TextBox 3">
            <a:extLst>
              <a:ext uri="{FF2B5EF4-FFF2-40B4-BE49-F238E27FC236}">
                <a16:creationId xmlns:a16="http://schemas.microsoft.com/office/drawing/2014/main" id="{4FAAEA89-4078-6C66-84B9-FB1A752774D1}"/>
              </a:ext>
            </a:extLst>
          </p:cNvPr>
          <p:cNvSpPr txBox="1"/>
          <p:nvPr/>
        </p:nvSpPr>
        <p:spPr>
          <a:xfrm>
            <a:off x="511791" y="991597"/>
            <a:ext cx="6039134" cy="2081724"/>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with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great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description</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$match:</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description:</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$regex:</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"great"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$options: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i</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399615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FC711-1208-1693-B617-8575A093F0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9A7E8F-A08C-B42B-CB6F-60272251C4E0}"/>
              </a:ext>
            </a:extLst>
          </p:cNvPr>
          <p:cNvSpPr txBox="1"/>
          <p:nvPr/>
        </p:nvSpPr>
        <p:spPr>
          <a:xfrm>
            <a:off x="195942" y="209005"/>
            <a:ext cx="678584" cy="369332"/>
          </a:xfrm>
          <a:prstGeom prst="rect">
            <a:avLst/>
          </a:prstGeom>
          <a:noFill/>
        </p:spPr>
        <p:txBody>
          <a:bodyPr wrap="none" rtlCol="0">
            <a:spAutoFit/>
          </a:bodyPr>
          <a:lstStyle/>
          <a:p>
            <a:r>
              <a:rPr lang="en-US" dirty="0">
                <a:solidFill>
                  <a:srgbClr val="FFFF00"/>
                </a:solidFill>
              </a:rPr>
              <a:t>$text</a:t>
            </a:r>
          </a:p>
        </p:txBody>
      </p:sp>
      <p:sp>
        <p:nvSpPr>
          <p:cNvPr id="4" name="TextBox 3">
            <a:extLst>
              <a:ext uri="{FF2B5EF4-FFF2-40B4-BE49-F238E27FC236}">
                <a16:creationId xmlns:a16="http://schemas.microsoft.com/office/drawing/2014/main" id="{74F12A35-08DD-6C99-DB50-DAA244FE8F72}"/>
              </a:ext>
            </a:extLst>
          </p:cNvPr>
          <p:cNvSpPr txBox="1"/>
          <p:nvPr/>
        </p:nvSpPr>
        <p:spPr>
          <a:xfrm>
            <a:off x="195942" y="988204"/>
            <a:ext cx="6994477" cy="2440796"/>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Full</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text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search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electronics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$match:</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$text: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$search:</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"electronics"</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$text</a:t>
            </a:r>
            <a:r>
              <a:rPr lang="en-US" b="0" dirty="0">
                <a:solidFill>
                  <a:srgbClr val="D4D4D4"/>
                </a:solidFill>
                <a:effectLst/>
                <a:latin typeface="Consolas" panose="020B0609020204030204" pitchFamily="49" charset="0"/>
              </a:rPr>
              <a:t>--&gt; </a:t>
            </a:r>
            <a:r>
              <a:rPr lang="en-US" b="0" dirty="0">
                <a:solidFill>
                  <a:srgbClr val="9CDCFE"/>
                </a:solidFill>
                <a:effectLst/>
                <a:latin typeface="Consolas" panose="020B0609020204030204" pitchFamily="49" charset="0"/>
              </a:rPr>
              <a:t>must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used</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with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index</a:t>
            </a: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40717693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0374A-0FE5-2856-0307-568B25AC80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59D4D7-3E76-2A40-C4FC-CB6FC27DE3D8}"/>
              </a:ext>
            </a:extLst>
          </p:cNvPr>
          <p:cNvSpPr txBox="1"/>
          <p:nvPr/>
        </p:nvSpPr>
        <p:spPr>
          <a:xfrm>
            <a:off x="195942" y="209005"/>
            <a:ext cx="1694053" cy="369332"/>
          </a:xfrm>
          <a:prstGeom prst="rect">
            <a:avLst/>
          </a:prstGeom>
          <a:noFill/>
        </p:spPr>
        <p:txBody>
          <a:bodyPr wrap="none" rtlCol="0">
            <a:spAutoFit/>
          </a:bodyPr>
          <a:lstStyle/>
          <a:p>
            <a:r>
              <a:rPr lang="en-US" dirty="0">
                <a:solidFill>
                  <a:srgbClr val="FFFF00"/>
                </a:solidFill>
              </a:rPr>
              <a:t>$year    $month</a:t>
            </a:r>
          </a:p>
        </p:txBody>
      </p:sp>
      <p:sp>
        <p:nvSpPr>
          <p:cNvPr id="4" name="TextBox 3">
            <a:extLst>
              <a:ext uri="{FF2B5EF4-FFF2-40B4-BE49-F238E27FC236}">
                <a16:creationId xmlns:a16="http://schemas.microsoft.com/office/drawing/2014/main" id="{961D2A5C-E104-CF9A-CDF4-0E6AD6AA4CD8}"/>
              </a:ext>
            </a:extLst>
          </p:cNvPr>
          <p:cNvSpPr txBox="1"/>
          <p:nvPr/>
        </p:nvSpPr>
        <p:spPr>
          <a:xfrm>
            <a:off x="545911" y="973719"/>
            <a:ext cx="6898942" cy="2620333"/>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$year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$month</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Monthly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sales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report</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$group:</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year:</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$year: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orderDate</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month:</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$month:</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orderDate</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totalSales</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$sum:</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788727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149EC-2DB3-12BB-D082-03C22DEF0C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BBDF4C-F11A-DC8D-0947-3597473106FC}"/>
              </a:ext>
            </a:extLst>
          </p:cNvPr>
          <p:cNvSpPr txBox="1"/>
          <p:nvPr/>
        </p:nvSpPr>
        <p:spPr>
          <a:xfrm>
            <a:off x="195942" y="209005"/>
            <a:ext cx="758541" cy="369332"/>
          </a:xfrm>
          <a:prstGeom prst="rect">
            <a:avLst/>
          </a:prstGeom>
          <a:noFill/>
        </p:spPr>
        <p:txBody>
          <a:bodyPr wrap="none" rtlCol="0">
            <a:spAutoFit/>
          </a:bodyPr>
          <a:lstStyle/>
          <a:p>
            <a:r>
              <a:rPr lang="en-US" dirty="0">
                <a:solidFill>
                  <a:srgbClr val="FFFF00"/>
                </a:solidFill>
              </a:rPr>
              <a:t>$map</a:t>
            </a:r>
          </a:p>
        </p:txBody>
      </p:sp>
      <p:sp>
        <p:nvSpPr>
          <p:cNvPr id="4" name="TextBox 3">
            <a:extLst>
              <a:ext uri="{FF2B5EF4-FFF2-40B4-BE49-F238E27FC236}">
                <a16:creationId xmlns:a16="http://schemas.microsoft.com/office/drawing/2014/main" id="{9BF5A908-8BF7-B886-B59A-85A148E13EA9}"/>
              </a:ext>
            </a:extLst>
          </p:cNvPr>
          <p:cNvSpPr txBox="1"/>
          <p:nvPr/>
        </p:nvSpPr>
        <p:spPr>
          <a:xfrm>
            <a:off x="1151286" y="143934"/>
            <a:ext cx="10176356" cy="6570132"/>
          </a:xfrm>
          <a:prstGeom prst="rect">
            <a:avLst/>
          </a:prstGeom>
          <a:noFill/>
        </p:spPr>
        <p:txBody>
          <a:bodyPr wrap="square">
            <a:spAutoFit/>
          </a:bodyPr>
          <a:lstStyle/>
          <a:p>
            <a:pPr>
              <a:lnSpc>
                <a:spcPts val="1425"/>
              </a:lnSpc>
              <a:buNone/>
            </a:pP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 </a:t>
            </a:r>
            <a:r>
              <a:rPr lang="en-US" sz="1400" b="0" dirty="0">
                <a:solidFill>
                  <a:srgbClr val="C8C8C8"/>
                </a:solidFill>
                <a:effectLst/>
                <a:latin typeface="Consolas" panose="020B0609020204030204" pitchFamily="49" charset="0"/>
              </a:rPr>
              <a:t>Goal</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buy</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get</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1</a:t>
            </a: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9CDCFE"/>
                </a:solidFill>
                <a:effectLst/>
                <a:latin typeface="Consolas" panose="020B0609020204030204" pitchFamily="49" charset="0"/>
              </a:rPr>
              <a:t>map</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means</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transform</a:t>
            </a:r>
            <a:endParaRPr lang="en-US" sz="1400" b="0" dirty="0">
              <a:solidFill>
                <a:srgbClr val="D4D4D4"/>
              </a:solidFill>
              <a:effectLst/>
              <a:latin typeface="Consolas" panose="020B0609020204030204" pitchFamily="49" charset="0"/>
            </a:endParaRPr>
          </a:p>
          <a:p>
            <a:pPr>
              <a:lnSpc>
                <a:spcPts val="1425"/>
              </a:lnSpc>
              <a:buNone/>
            </a:pPr>
            <a:r>
              <a:rPr lang="en-US" sz="1400" b="0" dirty="0" err="1">
                <a:solidFill>
                  <a:srgbClr val="9CDCFE"/>
                </a:solidFill>
                <a:effectLst/>
                <a:latin typeface="Consolas" panose="020B0609020204030204" pitchFamily="49" charset="0"/>
              </a:rPr>
              <a:t>javascript</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map</a:t>
            </a:r>
            <a:r>
              <a:rPr lang="en-US" sz="1400" b="0" dirty="0">
                <a:solidFill>
                  <a:srgbClr val="D4D4D4"/>
                </a:solidFill>
                <a:effectLst/>
                <a:latin typeface="Consolas" panose="020B0609020204030204" pitchFamily="49" charset="0"/>
              </a:rPr>
              <a:t> </a:t>
            </a:r>
            <a:r>
              <a:rPr lang="en-US" sz="1400" b="0" dirty="0">
                <a:solidFill>
                  <a:srgbClr val="C8C8C8"/>
                </a:solidFill>
                <a:effectLst/>
                <a:latin typeface="Consolas" panose="020B0609020204030204" pitchFamily="49" charset="0"/>
              </a:rPr>
              <a:t>example</a:t>
            </a:r>
            <a:r>
              <a:rPr lang="en-US" sz="1400" b="0" dirty="0">
                <a:solidFill>
                  <a:srgbClr val="D4D4D4"/>
                </a:solidFill>
                <a:effectLst/>
                <a:latin typeface="Consolas" panose="020B0609020204030204" pitchFamily="49" charset="0"/>
              </a:rPr>
              <a:t>:</a:t>
            </a:r>
            <a:br>
              <a:rPr lang="en-US" sz="1400" b="0" dirty="0">
                <a:solidFill>
                  <a:srgbClr val="D4D4D4"/>
                </a:solidFill>
                <a:effectLst/>
                <a:latin typeface="Consolas" panose="020B0609020204030204" pitchFamily="49" charset="0"/>
              </a:rPr>
            </a:b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569CD6"/>
                </a:solidFill>
                <a:effectLst/>
                <a:latin typeface="Consolas" panose="020B0609020204030204" pitchFamily="49" charset="0"/>
              </a:rPr>
              <a:t>let</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products</a:t>
            </a:r>
            <a:r>
              <a:rPr lang="en-US" sz="1400" b="0" dirty="0">
                <a:solidFill>
                  <a:srgbClr val="D4D4D4"/>
                </a:solidFill>
                <a:effectLst/>
                <a:latin typeface="Consolas" panose="020B0609020204030204" pitchFamily="49" charset="0"/>
              </a:rPr>
              <a:t> =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productId</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1234324</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"quantity"</a:t>
            </a:r>
            <a:r>
              <a:rPr lang="en-US" sz="1400" b="0" dirty="0">
                <a:solidFill>
                  <a:srgbClr val="9CDCFE"/>
                </a:solidFill>
                <a:effectLst/>
                <a:latin typeface="Consolas" panose="020B0609020204030204" pitchFamily="49" charset="0"/>
              </a:rPr>
              <a:t>:</a:t>
            </a:r>
            <a:r>
              <a:rPr lang="en-US" sz="1400" b="0" dirty="0">
                <a:solidFill>
                  <a:srgbClr val="B5CEA8"/>
                </a:solidFill>
                <a:effectLst/>
                <a:latin typeface="Consolas" panose="020B0609020204030204" pitchFamily="49" charset="0"/>
              </a:rPr>
              <a:t>3</a:t>
            </a:r>
            <a:r>
              <a:rPr lang="en-US" sz="1400" b="0" dirty="0">
                <a:solidFill>
                  <a:srgbClr val="D4D4D4"/>
                </a:solidFill>
                <a:effectLst/>
                <a:latin typeface="Consolas" panose="020B0609020204030204" pitchFamily="49" charset="0"/>
              </a:rPr>
              <a:t>},&lt;--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productId</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3423423</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"quantity"</a:t>
            </a:r>
            <a:r>
              <a:rPr lang="en-US" sz="1400" b="0" dirty="0">
                <a:solidFill>
                  <a:srgbClr val="9CDCFE"/>
                </a:solidFill>
                <a:effectLst/>
                <a:latin typeface="Consolas" panose="020B0609020204030204" pitchFamily="49" charset="0"/>
              </a:rPr>
              <a:t>:</a:t>
            </a:r>
            <a:r>
              <a:rPr lang="en-US" sz="1400" b="0" dirty="0">
                <a:solidFill>
                  <a:srgbClr val="B5CEA8"/>
                </a:solidFill>
                <a:effectLst/>
                <a:latin typeface="Consolas" panose="020B0609020204030204" pitchFamily="49" charset="0"/>
              </a:rPr>
              <a:t>5</a:t>
            </a:r>
            <a:r>
              <a:rPr lang="en-US" sz="1400" b="0" dirty="0">
                <a:solidFill>
                  <a:srgbClr val="D4D4D4"/>
                </a:solidFill>
                <a:effectLst/>
                <a:latin typeface="Consolas" panose="020B0609020204030204" pitchFamily="49" charset="0"/>
              </a:rPr>
              <a:t>} &lt;--</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x</a:t>
            </a:r>
            <a:r>
              <a:rPr lang="en-US" sz="1400" b="0" dirty="0">
                <a:solidFill>
                  <a:srgbClr val="D4D4D4"/>
                </a:solidFill>
                <a:effectLst/>
                <a:latin typeface="Consolas" panose="020B0609020204030204" pitchFamily="49" charset="0"/>
              </a:rPr>
              <a:t>  -&gt;  </a:t>
            </a:r>
            <a:r>
              <a:rPr lang="en-US" sz="1400" b="0" dirty="0">
                <a:solidFill>
                  <a:srgbClr val="DCDCAA"/>
                </a:solidFill>
                <a:effectLst/>
                <a:latin typeface="Consolas" panose="020B0609020204030204" pitchFamily="49" charset="0"/>
              </a:rPr>
              <a:t>f</a:t>
            </a:r>
            <a:r>
              <a:rPr lang="en-US" sz="1400" b="0" dirty="0">
                <a:solidFill>
                  <a:srgbClr val="D4D4D4"/>
                </a:solidFill>
                <a:effectLst/>
                <a:latin typeface="Consolas" panose="020B0609020204030204" pitchFamily="49" charset="0"/>
              </a:rPr>
              <a:t>(</a:t>
            </a:r>
            <a:r>
              <a:rPr lang="en-US" sz="1400" b="0" dirty="0">
                <a:solidFill>
                  <a:srgbClr val="9CDCFE"/>
                </a:solidFill>
                <a:effectLst/>
                <a:latin typeface="Consolas" panose="020B0609020204030204" pitchFamily="49" charset="0"/>
              </a:rPr>
              <a:t>x</a:t>
            </a:r>
            <a:r>
              <a:rPr lang="en-US" sz="1400" b="0" dirty="0">
                <a:solidFill>
                  <a:srgbClr val="D4D4D4"/>
                </a:solidFill>
                <a:effectLst/>
                <a:latin typeface="Consolas" panose="020B0609020204030204" pitchFamily="49" charset="0"/>
              </a:rPr>
              <a:t>)</a:t>
            </a:r>
            <a:br>
              <a:rPr lang="en-US" sz="1400" b="0" dirty="0">
                <a:solidFill>
                  <a:srgbClr val="D4D4D4"/>
                </a:solidFill>
                <a:effectLst/>
                <a:latin typeface="Consolas" panose="020B0609020204030204" pitchFamily="49" charset="0"/>
              </a:rPr>
            </a:b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569CD6"/>
                </a:solidFill>
                <a:effectLst/>
                <a:latin typeface="Consolas" panose="020B0609020204030204" pitchFamily="49" charset="0"/>
              </a:rPr>
              <a:t>const</a:t>
            </a:r>
            <a:r>
              <a:rPr lang="en-US" sz="1400" b="0" dirty="0">
                <a:solidFill>
                  <a:srgbClr val="D4D4D4"/>
                </a:solidFill>
                <a:effectLst/>
                <a:latin typeface="Consolas" panose="020B0609020204030204" pitchFamily="49" charset="0"/>
              </a:rPr>
              <a:t> </a:t>
            </a:r>
            <a:r>
              <a:rPr lang="en-US" sz="1400" b="0" dirty="0" err="1">
                <a:solidFill>
                  <a:srgbClr val="4FC1FF"/>
                </a:solidFill>
                <a:effectLst/>
                <a:latin typeface="Consolas" panose="020B0609020204030204" pitchFamily="49" charset="0"/>
              </a:rPr>
              <a:t>productsAfterOffer</a:t>
            </a:r>
            <a:r>
              <a:rPr lang="en-US" sz="1400" b="0" dirty="0">
                <a:solidFill>
                  <a:srgbClr val="D4D4D4"/>
                </a:solidFill>
                <a:effectLst/>
                <a:latin typeface="Consolas" panose="020B0609020204030204" pitchFamily="49" charset="0"/>
              </a:rPr>
              <a:t> = </a:t>
            </a:r>
            <a:r>
              <a:rPr lang="en-US" sz="1400" b="0" dirty="0" err="1">
                <a:solidFill>
                  <a:srgbClr val="9CDCFE"/>
                </a:solidFill>
                <a:effectLst/>
                <a:latin typeface="Consolas" panose="020B0609020204030204" pitchFamily="49" charset="0"/>
              </a:rPr>
              <a:t>products</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map</a:t>
            </a:r>
            <a:r>
              <a:rPr lang="en-US" sz="1400" b="0" dirty="0">
                <a:solidFill>
                  <a:srgbClr val="D4D4D4"/>
                </a:solidFill>
                <a:effectLst/>
                <a:latin typeface="Consolas" panose="020B0609020204030204" pitchFamily="49" charset="0"/>
              </a:rPr>
              <a:t>(</a:t>
            </a:r>
            <a:r>
              <a:rPr lang="en-US" sz="1400" b="0" dirty="0">
                <a:solidFill>
                  <a:srgbClr val="569CD6"/>
                </a:solidFill>
                <a:effectLst/>
                <a:latin typeface="Consolas" panose="020B0609020204030204" pitchFamily="49" charset="0"/>
              </a:rPr>
              <a:t>function</a:t>
            </a:r>
            <a:r>
              <a:rPr lang="en-US" sz="1400" b="0" dirty="0">
                <a:solidFill>
                  <a:srgbClr val="D4D4D4"/>
                </a:solidFill>
                <a:effectLst/>
                <a:latin typeface="Consolas" panose="020B0609020204030204" pitchFamily="49" charset="0"/>
              </a:rPr>
              <a:t>(</a:t>
            </a:r>
            <a:r>
              <a:rPr lang="en-US" sz="1400" b="0" dirty="0">
                <a:solidFill>
                  <a:srgbClr val="9CDCFE"/>
                </a:solidFill>
                <a:effectLst/>
                <a:latin typeface="Consolas" panose="020B0609020204030204" pitchFamily="49" charset="0"/>
              </a:rPr>
              <a:t>product</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C586C0"/>
                </a:solidFill>
                <a:effectLst/>
                <a:latin typeface="Consolas" panose="020B0609020204030204" pitchFamily="49" charset="0"/>
              </a:rPr>
              <a:t>return</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productId</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product</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productId</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quantityAfterOffer</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product</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quantity</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2</a:t>
            </a: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a:t>
            </a:r>
            <a:br>
              <a:rPr lang="en-US" sz="1400" b="0" dirty="0">
                <a:solidFill>
                  <a:srgbClr val="D4D4D4"/>
                </a:solidFill>
                <a:effectLst/>
                <a:latin typeface="Consolas" panose="020B0609020204030204" pitchFamily="49" charset="0"/>
              </a:rPr>
            </a:br>
            <a:endParaRPr lang="en-US" sz="1400" b="0" dirty="0">
              <a:solidFill>
                <a:srgbClr val="D4D4D4"/>
              </a:solidFill>
              <a:effectLst/>
              <a:latin typeface="Consolas" panose="020B0609020204030204" pitchFamily="49" charset="0"/>
            </a:endParaRPr>
          </a:p>
          <a:p>
            <a:pPr>
              <a:lnSpc>
                <a:spcPts val="1425"/>
              </a:lnSpc>
              <a:buNone/>
            </a:pPr>
            <a:r>
              <a:rPr lang="en-US" sz="1400" b="0" dirty="0" err="1">
                <a:solidFill>
                  <a:srgbClr val="9CDCFE"/>
                </a:solidFill>
                <a:effectLst/>
                <a:latin typeface="Consolas" panose="020B0609020204030204" pitchFamily="49" charset="0"/>
              </a:rPr>
              <a:t>mongodb</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$map</a:t>
            </a:r>
            <a:r>
              <a:rPr lang="en-US" sz="1400" b="0" dirty="0">
                <a:solidFill>
                  <a:srgbClr val="D4D4D4"/>
                </a:solidFill>
                <a:effectLst/>
                <a:latin typeface="Consolas" panose="020B0609020204030204" pitchFamily="49" charset="0"/>
              </a:rPr>
              <a:t> </a:t>
            </a:r>
            <a:r>
              <a:rPr lang="en-US" sz="1400" b="0" dirty="0">
                <a:solidFill>
                  <a:srgbClr val="C8C8C8"/>
                </a:solidFill>
                <a:effectLst/>
                <a:latin typeface="Consolas" panose="020B0609020204030204" pitchFamily="49" charset="0"/>
              </a:rPr>
              <a:t>example</a:t>
            </a:r>
            <a:r>
              <a:rPr lang="en-US" sz="1400" b="0" dirty="0">
                <a:solidFill>
                  <a:srgbClr val="D4D4D4"/>
                </a:solidFill>
                <a:effectLst/>
                <a:latin typeface="Consolas" panose="020B0609020204030204" pitchFamily="49" charset="0"/>
              </a:rPr>
              <a:t>:</a:t>
            </a:r>
          </a:p>
          <a:p>
            <a:pPr>
              <a:lnSpc>
                <a:spcPts val="1425"/>
              </a:lnSpc>
              <a:buNone/>
            </a:pPr>
            <a:endParaRPr lang="en-US" sz="1400" b="0" dirty="0">
              <a:solidFill>
                <a:srgbClr val="D4D4D4"/>
              </a:solidFill>
              <a:effectLst/>
              <a:latin typeface="Consolas" panose="020B0609020204030204" pitchFamily="49" charset="0"/>
            </a:endParaRPr>
          </a:p>
          <a:p>
            <a:pPr>
              <a:lnSpc>
                <a:spcPts val="1425"/>
              </a:lnSpc>
              <a:buNone/>
            </a:pPr>
            <a:r>
              <a:rPr lang="en-US" sz="1400" b="0" dirty="0" err="1">
                <a:solidFill>
                  <a:srgbClr val="9CDCFE"/>
                </a:solidFill>
                <a:effectLst/>
                <a:latin typeface="Consolas" panose="020B0609020204030204" pitchFamily="49" charset="0"/>
              </a:rPr>
              <a:t>db</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orders</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aggregate</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$project:</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productBeforeOffer</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"$products"</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err="1">
                <a:solidFill>
                  <a:srgbClr val="9CDCFE"/>
                </a:solidFill>
                <a:effectLst/>
                <a:latin typeface="Consolas" panose="020B0609020204030204" pitchFamily="49" charset="0"/>
              </a:rPr>
              <a:t>productsAfterOffer</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$map:</a:t>
            </a:r>
            <a:r>
              <a:rPr lang="en-US" sz="1400" b="0" dirty="0">
                <a:solidFill>
                  <a:srgbClr val="D4D4D4"/>
                </a:solidFill>
                <a:effectLst/>
                <a:latin typeface="Consolas" panose="020B0609020204030204" pitchFamily="49" charset="0"/>
              </a:rPr>
              <a:t> {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input: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"$products"</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as:</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"product"</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in:</a:t>
            </a:r>
            <a:r>
              <a:rPr lang="en-US" sz="1400" b="0" dirty="0">
                <a:solidFill>
                  <a:srgbClr val="D4D4D4"/>
                </a:solidFill>
                <a:effectLst/>
                <a:latin typeface="Consolas" panose="020B0609020204030204" pitchFamily="49" charset="0"/>
              </a:rPr>
              <a:t> { </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productId</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product.productId</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quantityAfterOffer</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t>
            </a:r>
            <a:r>
              <a:rPr lang="en-US" sz="1400" b="0" dirty="0">
                <a:solidFill>
                  <a:srgbClr val="D4D4D4"/>
                </a:solidFill>
                <a:effectLst/>
                <a:latin typeface="Consolas" panose="020B0609020204030204" pitchFamily="49" charset="0"/>
              </a:rPr>
              <a:t> { </a:t>
            </a:r>
            <a:r>
              <a:rPr lang="en-US" sz="1400" b="0" dirty="0">
                <a:solidFill>
                  <a:srgbClr val="9CDCFE"/>
                </a:solidFill>
                <a:effectLst/>
                <a:latin typeface="Consolas" panose="020B0609020204030204" pitchFamily="49" charset="0"/>
              </a:rPr>
              <a:t>$multiply :</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product.quantity</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2</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           } </a:t>
            </a:r>
          </a:p>
          <a:p>
            <a:pPr>
              <a:lnSpc>
                <a:spcPts val="1425"/>
              </a:lnSpc>
              <a:buNone/>
            </a:pPr>
            <a:r>
              <a:rPr lang="en-US" sz="1400" b="0" dirty="0">
                <a:solidFill>
                  <a:srgbClr val="D4D4D4"/>
                </a:solidFill>
                <a:effectLst/>
                <a:latin typeface="Consolas" panose="020B0609020204030204" pitchFamily="49" charset="0"/>
              </a:rPr>
              <a:t>        } </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635380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3FF0C-E747-CD69-BC49-9589CF3F39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668EEB-7B26-A383-922C-CCCE4FF6E5C4}"/>
              </a:ext>
            </a:extLst>
          </p:cNvPr>
          <p:cNvSpPr txBox="1"/>
          <p:nvPr/>
        </p:nvSpPr>
        <p:spPr>
          <a:xfrm>
            <a:off x="195942" y="209005"/>
            <a:ext cx="763799" cy="369332"/>
          </a:xfrm>
          <a:prstGeom prst="rect">
            <a:avLst/>
          </a:prstGeom>
          <a:noFill/>
        </p:spPr>
        <p:txBody>
          <a:bodyPr wrap="none" rtlCol="0">
            <a:spAutoFit/>
          </a:bodyPr>
          <a:lstStyle/>
          <a:p>
            <a:r>
              <a:rPr lang="en-US" dirty="0">
                <a:solidFill>
                  <a:srgbClr val="FFFF00"/>
                </a:solidFill>
              </a:rPr>
              <a:t>$filter</a:t>
            </a:r>
          </a:p>
        </p:txBody>
      </p:sp>
      <p:sp>
        <p:nvSpPr>
          <p:cNvPr id="4" name="TextBox 3">
            <a:extLst>
              <a:ext uri="{FF2B5EF4-FFF2-40B4-BE49-F238E27FC236}">
                <a16:creationId xmlns:a16="http://schemas.microsoft.com/office/drawing/2014/main" id="{530B0E55-F247-804E-F1C9-1658CC1F2603}"/>
              </a:ext>
            </a:extLst>
          </p:cNvPr>
          <p:cNvSpPr txBox="1"/>
          <p:nvPr/>
        </p:nvSpPr>
        <p:spPr>
          <a:xfrm>
            <a:off x="959741" y="0"/>
            <a:ext cx="9054965" cy="7108741"/>
          </a:xfrm>
          <a:prstGeom prst="rect">
            <a:avLst/>
          </a:prstGeom>
          <a:noFill/>
        </p:spPr>
        <p:txBody>
          <a:bodyPr wrap="square">
            <a:spAutoFit/>
          </a:bodyPr>
          <a:lstStyle/>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peak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only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considering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with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quantity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than</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Js</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example</a:t>
            </a:r>
            <a:r>
              <a:rPr lang="en-US" b="0" dirty="0">
                <a:solidFill>
                  <a:srgbClr val="D4D4D4"/>
                </a:solidFill>
                <a:effectLst/>
                <a:latin typeface="Consolas" panose="020B0609020204030204" pitchFamily="49" charset="0"/>
              </a:rPr>
              <a:t>:</a:t>
            </a: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productId</a:t>
            </a:r>
            <a:r>
              <a:rPr lang="en-US" b="0" dirty="0">
                <a:solidFill>
                  <a:srgbClr val="CE9178"/>
                </a:solidFill>
                <a:effectLst/>
                <a:latin typeface="Consolas" panose="020B0609020204030204" pitchFamily="49" charset="0"/>
              </a:rPr>
              <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1234324</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"quantity"</a:t>
            </a:r>
            <a:r>
              <a:rPr lang="en-US" b="0" dirty="0">
                <a:solidFill>
                  <a:srgbClr val="9CDCFE"/>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--&gt; </a:t>
            </a:r>
            <a:r>
              <a:rPr lang="en-US" b="0" dirty="0">
                <a:solidFill>
                  <a:srgbClr val="569CD6"/>
                </a:solidFill>
                <a:effectLst/>
                <a:latin typeface="Consolas" panose="020B0609020204030204" pitchFamily="49" charset="0"/>
              </a:rPr>
              <a:t>false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hence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removed</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productId</a:t>
            </a:r>
            <a:r>
              <a:rPr lang="en-US" b="0" dirty="0">
                <a:solidFill>
                  <a:srgbClr val="CE9178"/>
                </a:solidFill>
                <a:effectLst/>
                <a:latin typeface="Consolas" panose="020B0609020204030204" pitchFamily="49" charset="0"/>
              </a:rPr>
              <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3423423</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"quantity"</a:t>
            </a:r>
            <a:r>
              <a:rPr lang="en-US" b="0" dirty="0">
                <a:solidFill>
                  <a:srgbClr val="9CDCFE"/>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D4D4D4"/>
                </a:solidFill>
                <a:effectLst/>
                <a:latin typeface="Consolas" panose="020B0609020204030204" pitchFamily="49" charset="0"/>
              </a:rPr>
              <a:t>} --&gt; </a:t>
            </a:r>
            <a:r>
              <a:rPr lang="en-US" b="0" dirty="0">
                <a:solidFill>
                  <a:srgbClr val="569CD6"/>
                </a:solidFill>
                <a:effectLst/>
                <a:latin typeface="Consolas" panose="020B0609020204030204" pitchFamily="49" charset="0"/>
              </a:rPr>
              <a:t>true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const</a:t>
            </a:r>
            <a:r>
              <a:rPr lang="en-US" b="0" dirty="0">
                <a:solidFill>
                  <a:srgbClr val="D4D4D4"/>
                </a:solidFill>
                <a:effectLst/>
                <a:latin typeface="Consolas" panose="020B0609020204030204" pitchFamily="49" charset="0"/>
              </a:rPr>
              <a:t> </a:t>
            </a:r>
            <a:r>
              <a:rPr lang="en-US" b="0" dirty="0" err="1">
                <a:solidFill>
                  <a:srgbClr val="4FC1FF"/>
                </a:solidFill>
                <a:effectLst/>
                <a:latin typeface="Consolas" panose="020B0609020204030204" pitchFamily="49" charset="0"/>
              </a:rPr>
              <a:t>productsAfterFilter</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filter</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function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product</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quantity</a:t>
            </a:r>
            <a:r>
              <a:rPr lang="en-US" b="0" dirty="0">
                <a:solidFill>
                  <a:srgbClr val="D4D4D4"/>
                </a:solidFill>
                <a:effectLst/>
                <a:latin typeface="Consolas" panose="020B0609020204030204" pitchFamily="49" charset="0"/>
              </a:rPr>
              <a:t> &gt;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 </a:t>
            </a:r>
            <a:r>
              <a:rPr lang="en-US" b="0" dirty="0">
                <a:solidFill>
                  <a:srgbClr val="C586C0"/>
                </a:solidFill>
                <a:effectLst/>
                <a:latin typeface="Consolas" panose="020B0609020204030204" pitchFamily="49" charset="0"/>
              </a:rPr>
              <a:t>else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false</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console</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log</a:t>
            </a:r>
            <a:r>
              <a:rPr lang="en-US" b="0" dirty="0">
                <a:solidFill>
                  <a:srgbClr val="D4D4D4"/>
                </a:solidFill>
                <a:effectLst/>
                <a:latin typeface="Consolas" panose="020B0609020204030204" pitchFamily="49" charset="0"/>
              </a:rPr>
              <a:t>(</a:t>
            </a:r>
            <a:r>
              <a:rPr lang="en-US" b="0" dirty="0" err="1">
                <a:solidFill>
                  <a:srgbClr val="4FC1FF"/>
                </a:solidFill>
                <a:effectLst/>
                <a:latin typeface="Consolas" panose="020B0609020204030204" pitchFamily="49" charset="0"/>
              </a:rPr>
              <a:t>productsAfterFilter</a:t>
            </a:r>
            <a:r>
              <a:rPr lang="en-US" b="0" dirty="0">
                <a:solidFill>
                  <a:srgbClr val="D4D4D4"/>
                </a:solidFill>
                <a:effectLst/>
                <a:latin typeface="Consolas" panose="020B0609020204030204" pitchFamily="49" charset="0"/>
              </a:rPr>
              <a:t>)</a:t>
            </a: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mongodb</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example</a:t>
            </a:r>
            <a:r>
              <a:rPr lang="en-US" b="0" dirty="0">
                <a:solidFill>
                  <a:srgbClr val="D4D4D4"/>
                </a:solidFill>
                <a:effectLst/>
                <a:latin typeface="Consolas" panose="020B0609020204030204" pitchFamily="49" charset="0"/>
              </a:rPr>
              <a:t>:</a:t>
            </a: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$project: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productsBeforeFilter</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"$products"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productsAfterFilter</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$filter:</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input: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"$products"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"product"</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cond</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product.quantity</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076036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ABF94-22BF-6C3C-454F-6A6CB61B6A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FD68B5-6D41-EF0F-8ABE-4FD58332AC23}"/>
              </a:ext>
            </a:extLst>
          </p:cNvPr>
          <p:cNvSpPr txBox="1"/>
          <p:nvPr/>
        </p:nvSpPr>
        <p:spPr>
          <a:xfrm>
            <a:off x="195942" y="209005"/>
            <a:ext cx="1005468" cy="369332"/>
          </a:xfrm>
          <a:prstGeom prst="rect">
            <a:avLst/>
          </a:prstGeom>
          <a:noFill/>
        </p:spPr>
        <p:txBody>
          <a:bodyPr wrap="none" rtlCol="0">
            <a:spAutoFit/>
          </a:bodyPr>
          <a:lstStyle/>
          <a:p>
            <a:r>
              <a:rPr lang="en-US" dirty="0">
                <a:solidFill>
                  <a:srgbClr val="FFFF00"/>
                </a:solidFill>
              </a:rPr>
              <a:t>$reduce</a:t>
            </a:r>
          </a:p>
        </p:txBody>
      </p:sp>
      <p:sp>
        <p:nvSpPr>
          <p:cNvPr id="4" name="TextBox 3">
            <a:extLst>
              <a:ext uri="{FF2B5EF4-FFF2-40B4-BE49-F238E27FC236}">
                <a16:creationId xmlns:a16="http://schemas.microsoft.com/office/drawing/2014/main" id="{94C7449C-F76E-C62C-6575-3A6ABBD85B95}"/>
              </a:ext>
            </a:extLst>
          </p:cNvPr>
          <p:cNvSpPr txBox="1"/>
          <p:nvPr/>
        </p:nvSpPr>
        <p:spPr>
          <a:xfrm>
            <a:off x="282216" y="976545"/>
            <a:ext cx="9341568" cy="5672450"/>
          </a:xfrm>
          <a:prstGeom prst="rect">
            <a:avLst/>
          </a:prstGeom>
          <a:noFill/>
        </p:spPr>
        <p:txBody>
          <a:bodyPr wrap="square">
            <a:spAutoFit/>
          </a:bodyPr>
          <a:lstStyle/>
          <a:p>
            <a:pPr>
              <a:lnSpc>
                <a:spcPts val="1425"/>
              </a:lnSpc>
              <a:buNone/>
            </a:pP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Calculate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quantity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adding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all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quantity</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using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reduce</a:t>
            </a:r>
            <a:r>
              <a:rPr lang="en-US" b="0" dirty="0">
                <a:solidFill>
                  <a:srgbClr val="D4D4D4"/>
                </a:solidFill>
                <a:effectLst/>
                <a:latin typeface="Consolas" panose="020B0609020204030204" pitchFamily="49" charset="0"/>
              </a:rPr>
              <a:t>.</a:t>
            </a: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js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example</a:t>
            </a:r>
            <a:r>
              <a:rPr lang="en-US" b="0" dirty="0">
                <a:solidFill>
                  <a:srgbClr val="D4D4D4"/>
                </a:solidFill>
                <a:effectLst/>
                <a:latin typeface="Consolas" panose="020B0609020204030204" pitchFamily="49" charset="0"/>
              </a:rPr>
              <a:t>:</a:t>
            </a: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4EC9B0"/>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productId</a:t>
            </a:r>
            <a:r>
              <a:rPr lang="en-US" b="0" dirty="0">
                <a:solidFill>
                  <a:srgbClr val="CE9178"/>
                </a:solidFill>
                <a:effectLst/>
                <a:latin typeface="Consolas" panose="020B0609020204030204" pitchFamily="49" charset="0"/>
              </a:rPr>
              <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1234324</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"quantity"</a:t>
            </a:r>
            <a:r>
              <a:rPr lang="en-US" b="0" dirty="0">
                <a:solidFill>
                  <a:srgbClr val="9CDCFE"/>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productId</a:t>
            </a:r>
            <a:r>
              <a:rPr lang="en-US" b="0" dirty="0">
                <a:solidFill>
                  <a:srgbClr val="CE9178"/>
                </a:solidFill>
                <a:effectLst/>
                <a:latin typeface="Consolas" panose="020B0609020204030204" pitchFamily="49" charset="0"/>
              </a:rPr>
              <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3423423</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"quantity"</a:t>
            </a:r>
            <a:r>
              <a:rPr lang="en-US" b="0" dirty="0">
                <a:solidFill>
                  <a:srgbClr val="9CDCFE"/>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569CD6"/>
                </a:solidFill>
                <a:effectLst/>
                <a:latin typeface="Consolas" panose="020B0609020204030204" pitchFamily="49" charset="0"/>
              </a:rPr>
              <a:t>const</a:t>
            </a:r>
            <a:r>
              <a:rPr lang="en-US" b="0" dirty="0">
                <a:solidFill>
                  <a:srgbClr val="D4D4D4"/>
                </a:solidFill>
                <a:effectLst/>
                <a:latin typeface="Consolas" panose="020B0609020204030204" pitchFamily="49" charset="0"/>
              </a:rPr>
              <a:t> </a:t>
            </a:r>
            <a:r>
              <a:rPr lang="en-US" b="0" dirty="0" err="1">
                <a:solidFill>
                  <a:srgbClr val="4FC1FF"/>
                </a:solidFill>
                <a:effectLst/>
                <a:latin typeface="Consolas" panose="020B0609020204030204" pitchFamily="49" charset="0"/>
              </a:rPr>
              <a:t>totalQuantity</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reduce</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function</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prevReturnVal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prevReturnVal</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product</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quantity</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console</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log</a:t>
            </a:r>
            <a:r>
              <a:rPr lang="en-US" b="0" dirty="0">
                <a:solidFill>
                  <a:srgbClr val="D4D4D4"/>
                </a:solidFill>
                <a:effectLst/>
                <a:latin typeface="Consolas" panose="020B0609020204030204" pitchFamily="49" charset="0"/>
              </a:rPr>
              <a:t>(</a:t>
            </a:r>
            <a:r>
              <a:rPr lang="en-US" b="0" dirty="0" err="1">
                <a:solidFill>
                  <a:srgbClr val="4FC1FF"/>
                </a:solidFill>
                <a:effectLst/>
                <a:latin typeface="Consolas" panose="020B0609020204030204" pitchFamily="49" charset="0"/>
              </a:rPr>
              <a:t>totalQuantity</a:t>
            </a:r>
            <a:r>
              <a:rPr lang="en-US" b="0" dirty="0">
                <a:solidFill>
                  <a:srgbClr val="D4D4D4"/>
                </a:solidFill>
                <a:effectLst/>
                <a:latin typeface="Consolas" panose="020B0609020204030204" pitchFamily="49" charset="0"/>
              </a:rPr>
              <a:t>)</a:t>
            </a: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Mongo</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example</a:t>
            </a:r>
            <a:r>
              <a:rPr lang="en-US" b="0" dirty="0">
                <a:solidFill>
                  <a:srgbClr val="D4D4D4"/>
                </a:solidFill>
                <a:effectLst/>
                <a:latin typeface="Consolas" panose="020B0609020204030204" pitchFamily="49" charset="0"/>
              </a:rPr>
              <a:t>:</a:t>
            </a: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$project: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totalQuantity</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$reduce: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input: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"$products"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initialValue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$add:</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"$$value"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this.quantity</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122639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71B88-3029-6FD2-FDBF-D8F417B1D0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0B1A79-DCF9-9566-D4A3-3C94E7BC193A}"/>
              </a:ext>
            </a:extLst>
          </p:cNvPr>
          <p:cNvSpPr txBox="1"/>
          <p:nvPr/>
        </p:nvSpPr>
        <p:spPr>
          <a:xfrm>
            <a:off x="195942" y="209005"/>
            <a:ext cx="1152816" cy="369332"/>
          </a:xfrm>
          <a:prstGeom prst="rect">
            <a:avLst/>
          </a:prstGeom>
          <a:noFill/>
        </p:spPr>
        <p:txBody>
          <a:bodyPr wrap="none" rtlCol="0">
            <a:spAutoFit/>
          </a:bodyPr>
          <a:lstStyle/>
          <a:p>
            <a:r>
              <a:rPr lang="en-US" dirty="0">
                <a:solidFill>
                  <a:srgbClr val="FFFF00"/>
                </a:solidFill>
              </a:rPr>
              <a:t>$</a:t>
            </a:r>
            <a:r>
              <a:rPr lang="en-US" dirty="0" err="1">
                <a:solidFill>
                  <a:srgbClr val="FFFF00"/>
                </a:solidFill>
              </a:rPr>
              <a:t>geoNear</a:t>
            </a:r>
            <a:endParaRPr lang="en-US" dirty="0">
              <a:solidFill>
                <a:srgbClr val="FFFF00"/>
              </a:solidFill>
            </a:endParaRPr>
          </a:p>
        </p:txBody>
      </p:sp>
      <p:sp>
        <p:nvSpPr>
          <p:cNvPr id="4" name="TextBox 3">
            <a:extLst>
              <a:ext uri="{FF2B5EF4-FFF2-40B4-BE49-F238E27FC236}">
                <a16:creationId xmlns:a16="http://schemas.microsoft.com/office/drawing/2014/main" id="{019DCD01-B4DF-BD47-77E7-54D397C4F4EF}"/>
              </a:ext>
            </a:extLst>
          </p:cNvPr>
          <p:cNvSpPr txBox="1"/>
          <p:nvPr/>
        </p:nvSpPr>
        <p:spPr>
          <a:xfrm>
            <a:off x="382137" y="808667"/>
            <a:ext cx="6748817" cy="2620333"/>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near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York</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geoNear</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near:</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type: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"Point"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coordinates:</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95.3698</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29.7604</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distanceField</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"distance"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spherical:</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maxDistance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500000</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in meters (500 km)</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711206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2BBEB-AB38-B924-370A-C7C773250B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C584F7-C6CF-5548-E2A8-8C054BF61FCF}"/>
              </a:ext>
            </a:extLst>
          </p:cNvPr>
          <p:cNvSpPr txBox="1"/>
          <p:nvPr/>
        </p:nvSpPr>
        <p:spPr>
          <a:xfrm>
            <a:off x="195942" y="209005"/>
            <a:ext cx="1136850" cy="369332"/>
          </a:xfrm>
          <a:prstGeom prst="rect">
            <a:avLst/>
          </a:prstGeom>
          <a:noFill/>
        </p:spPr>
        <p:txBody>
          <a:bodyPr wrap="none" rtlCol="0">
            <a:spAutoFit/>
          </a:bodyPr>
          <a:lstStyle/>
          <a:p>
            <a:r>
              <a:rPr lang="en-US" dirty="0">
                <a:solidFill>
                  <a:srgbClr val="FFFF00"/>
                </a:solidFill>
              </a:rPr>
              <a:t>$function</a:t>
            </a:r>
          </a:p>
        </p:txBody>
      </p:sp>
      <p:sp>
        <p:nvSpPr>
          <p:cNvPr id="4" name="TextBox 3">
            <a:extLst>
              <a:ext uri="{FF2B5EF4-FFF2-40B4-BE49-F238E27FC236}">
                <a16:creationId xmlns:a16="http://schemas.microsoft.com/office/drawing/2014/main" id="{2F47826E-BC66-DFD4-AB63-F880CA6D28FC}"/>
              </a:ext>
            </a:extLst>
          </p:cNvPr>
          <p:cNvSpPr txBox="1"/>
          <p:nvPr/>
        </p:nvSpPr>
        <p:spPr>
          <a:xfrm>
            <a:off x="764366" y="1098084"/>
            <a:ext cx="6919323" cy="3697551"/>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Custom</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logic</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Flag</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stock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low</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addFields</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lowStock</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$function:</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body</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function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stock</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stock</a:t>
            </a:r>
            <a:r>
              <a:rPr lang="en-US" b="0" dirty="0">
                <a:solidFill>
                  <a:srgbClr val="D4D4D4"/>
                </a:solidFill>
                <a:effectLst/>
                <a:latin typeface="Consolas" panose="020B0609020204030204" pitchFamily="49" charset="0"/>
              </a:rPr>
              <a:t> &lt; </a:t>
            </a:r>
            <a:r>
              <a:rPr lang="en-US" b="0" dirty="0">
                <a:solidFill>
                  <a:srgbClr val="B5CEA8"/>
                </a:solidFill>
                <a:effectLst/>
                <a:latin typeface="Consolas" panose="020B0609020204030204" pitchFamily="49" charset="0"/>
              </a:rPr>
              <a:t>50</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args</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"$stock"</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lang:</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js</a:t>
            </a:r>
            <a:r>
              <a:rPr lang="en-US" b="0" dirty="0">
                <a:solidFill>
                  <a:srgbClr val="CE9178"/>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78368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85199A-1CBC-8F19-D93A-6CBC20A35A69}"/>
              </a:ext>
            </a:extLst>
          </p:cNvPr>
          <p:cNvSpPr txBox="1"/>
          <p:nvPr/>
        </p:nvSpPr>
        <p:spPr>
          <a:xfrm>
            <a:off x="812042" y="1475035"/>
            <a:ext cx="4954136" cy="2440796"/>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replaceRoot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stage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replaces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each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with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subdocument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found</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location</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replaceRoot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newRoot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"$location"</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
        <p:nvSpPr>
          <p:cNvPr id="5" name="TextBox 4">
            <a:extLst>
              <a:ext uri="{FF2B5EF4-FFF2-40B4-BE49-F238E27FC236}">
                <a16:creationId xmlns:a16="http://schemas.microsoft.com/office/drawing/2014/main" id="{8B52BA38-261D-939C-50F3-D5E1F4B9DB0B}"/>
              </a:ext>
            </a:extLst>
          </p:cNvPr>
          <p:cNvSpPr txBox="1"/>
          <p:nvPr/>
        </p:nvSpPr>
        <p:spPr>
          <a:xfrm>
            <a:off x="211541" y="204295"/>
            <a:ext cx="4954136" cy="369332"/>
          </a:xfrm>
          <a:prstGeom prst="rect">
            <a:avLst/>
          </a:prstGeom>
          <a:noFill/>
        </p:spPr>
        <p:txBody>
          <a:bodyPr wrap="square">
            <a:spAutoFit/>
          </a:bodyPr>
          <a:lstStyle/>
          <a:p>
            <a:r>
              <a:rPr lang="en-US" dirty="0">
                <a:solidFill>
                  <a:srgbClr val="FFFF00"/>
                </a:solidFill>
              </a:rPr>
              <a:t>$</a:t>
            </a:r>
            <a:r>
              <a:rPr lang="en-US" dirty="0" err="1">
                <a:solidFill>
                  <a:srgbClr val="FFFF00"/>
                </a:solidFill>
              </a:rPr>
              <a:t>replaceRoot</a:t>
            </a:r>
            <a:endParaRPr lang="en-US" dirty="0"/>
          </a:p>
        </p:txBody>
      </p:sp>
    </p:spTree>
    <p:extLst>
      <p:ext uri="{BB962C8B-B14F-4D97-AF65-F5344CB8AC3E}">
        <p14:creationId xmlns:p14="http://schemas.microsoft.com/office/powerpoint/2010/main" val="816851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D9A8AC-52E7-EE7A-8E4D-6248EB6EE2EA}"/>
              </a:ext>
            </a:extLst>
          </p:cNvPr>
          <p:cNvSpPr txBox="1"/>
          <p:nvPr/>
        </p:nvSpPr>
        <p:spPr>
          <a:xfrm>
            <a:off x="225188" y="204294"/>
            <a:ext cx="934872" cy="382559"/>
          </a:xfrm>
          <a:prstGeom prst="rect">
            <a:avLst/>
          </a:prstGeom>
          <a:noFill/>
        </p:spPr>
        <p:txBody>
          <a:bodyPr wrap="square">
            <a:spAutoFit/>
          </a:bodyPr>
          <a:lstStyle/>
          <a:p>
            <a:r>
              <a:rPr lang="en-US" dirty="0">
                <a:solidFill>
                  <a:srgbClr val="FFFF00"/>
                </a:solidFill>
              </a:rPr>
              <a:t>$merge</a:t>
            </a:r>
            <a:endParaRPr lang="en-US" dirty="0"/>
          </a:p>
        </p:txBody>
      </p:sp>
      <p:sp>
        <p:nvSpPr>
          <p:cNvPr id="5" name="TextBox 4">
            <a:extLst>
              <a:ext uri="{FF2B5EF4-FFF2-40B4-BE49-F238E27FC236}">
                <a16:creationId xmlns:a16="http://schemas.microsoft.com/office/drawing/2014/main" id="{028C918E-235A-ED98-F87D-CFF467338505}"/>
              </a:ext>
            </a:extLst>
          </p:cNvPr>
          <p:cNvSpPr txBox="1"/>
          <p:nvPr/>
        </p:nvSpPr>
        <p:spPr>
          <a:xfrm>
            <a:off x="692624" y="884531"/>
            <a:ext cx="4954136" cy="1902187"/>
          </a:xfrm>
          <a:prstGeom prst="rect">
            <a:avLst/>
          </a:prstGeom>
          <a:noFill/>
        </p:spPr>
        <p:txBody>
          <a:bodyPr wrap="square">
            <a:spAutoFit/>
          </a:bodyPr>
          <a:lstStyle/>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$match:</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"delivered"</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$merge: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alreadyDeliveredOrders</a:t>
            </a:r>
            <a:r>
              <a:rPr lang="en-US" b="0" dirty="0">
                <a:solidFill>
                  <a:srgbClr val="CE9178"/>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145761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7122-FD7F-88C8-DB9A-F495DD143B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1324D7-665F-798A-15DD-246169FE9BC8}"/>
              </a:ext>
            </a:extLst>
          </p:cNvPr>
          <p:cNvSpPr txBox="1"/>
          <p:nvPr/>
        </p:nvSpPr>
        <p:spPr>
          <a:xfrm>
            <a:off x="225187" y="204294"/>
            <a:ext cx="4510585" cy="369332"/>
          </a:xfrm>
          <a:prstGeom prst="rect">
            <a:avLst/>
          </a:prstGeom>
          <a:noFill/>
        </p:spPr>
        <p:txBody>
          <a:bodyPr wrap="square">
            <a:spAutoFit/>
          </a:bodyPr>
          <a:lstStyle/>
          <a:p>
            <a:r>
              <a:rPr lang="en-US" dirty="0">
                <a:solidFill>
                  <a:srgbClr val="FFFF00"/>
                </a:solidFill>
              </a:rPr>
              <a:t>$redact</a:t>
            </a:r>
            <a:endParaRPr lang="en-US" dirty="0"/>
          </a:p>
        </p:txBody>
      </p:sp>
      <p:sp>
        <p:nvSpPr>
          <p:cNvPr id="4" name="TextBox 3">
            <a:extLst>
              <a:ext uri="{FF2B5EF4-FFF2-40B4-BE49-F238E27FC236}">
                <a16:creationId xmlns:a16="http://schemas.microsoft.com/office/drawing/2014/main" id="{4BFF57F1-7714-7CC1-4562-E8FACC2795A5}"/>
              </a:ext>
            </a:extLst>
          </p:cNvPr>
          <p:cNvSpPr txBox="1"/>
          <p:nvPr/>
        </p:nvSpPr>
        <p:spPr>
          <a:xfrm>
            <a:off x="225186" y="955260"/>
            <a:ext cx="9246359" cy="4236160"/>
          </a:xfrm>
          <a:prstGeom prst="rect">
            <a:avLst/>
          </a:prstGeom>
          <a:noFill/>
        </p:spPr>
        <p:txBody>
          <a:bodyPr wrap="square">
            <a:spAutoFit/>
          </a:bodyPr>
          <a:lstStyle/>
          <a:p>
            <a:pPr>
              <a:lnSpc>
                <a:spcPts val="1425"/>
              </a:lnSpc>
              <a:buNone/>
            </a:pP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show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only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who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have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avg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rating</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above</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$redact: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cond</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if:</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gte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 </a:t>
            </a:r>
            <a:r>
              <a:rPr lang="en-US" b="0" dirty="0">
                <a:solidFill>
                  <a:srgbClr val="9CDCFE"/>
                </a:solidFill>
                <a:effectLst/>
                <a:latin typeface="Consolas" panose="020B0609020204030204" pitchFamily="49" charset="0"/>
              </a:rPr>
              <a:t>$avg:</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reviews.rating</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then:</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"$$KEEP"</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else: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"$$PRUNE"</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8C8C8"/>
                </a:solidFill>
                <a:effectLst/>
                <a:latin typeface="Consolas" panose="020B0609020204030204" pitchFamily="49" charset="0"/>
              </a:rPr>
              <a:t>Explanation</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average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rating</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a:t>
            </a:r>
            <a:r>
              <a:rPr lang="en-US" b="0" dirty="0">
                <a:solidFill>
                  <a:srgbClr val="CE9178"/>
                </a:solidFill>
                <a:effectLst/>
                <a:latin typeface="Consolas" panose="020B0609020204030204" pitchFamily="49" charset="0"/>
              </a:rPr>
              <a:t>'s reviews is 4 or more, we keep the whole product document</a:t>
            </a:r>
            <a:r>
              <a:rPr lang="en-US" b="0" dirty="0">
                <a:solidFill>
                  <a:srgbClr val="F44747"/>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Otherwise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we</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remove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prune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entirely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from</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result</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221189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C6906-632F-58C1-DA41-59779211AF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86B7CC-447F-4F0B-7F64-1E0072CF1055}"/>
              </a:ext>
            </a:extLst>
          </p:cNvPr>
          <p:cNvSpPr txBox="1"/>
          <p:nvPr/>
        </p:nvSpPr>
        <p:spPr>
          <a:xfrm>
            <a:off x="0" y="0"/>
            <a:ext cx="1999397" cy="369332"/>
          </a:xfrm>
          <a:prstGeom prst="rect">
            <a:avLst/>
          </a:prstGeom>
          <a:noFill/>
        </p:spPr>
        <p:txBody>
          <a:bodyPr wrap="square">
            <a:spAutoFit/>
          </a:bodyPr>
          <a:lstStyle/>
          <a:p>
            <a:r>
              <a:rPr lang="en-US" dirty="0">
                <a:solidFill>
                  <a:srgbClr val="FFFF00"/>
                </a:solidFill>
              </a:rPr>
              <a:t>$</a:t>
            </a:r>
            <a:r>
              <a:rPr lang="en-US" dirty="0" err="1">
                <a:solidFill>
                  <a:srgbClr val="FFFF00"/>
                </a:solidFill>
              </a:rPr>
              <a:t>mini_report</a:t>
            </a:r>
            <a:endParaRPr lang="en-US" dirty="0"/>
          </a:p>
        </p:txBody>
      </p:sp>
      <p:sp>
        <p:nvSpPr>
          <p:cNvPr id="4" name="TextBox 3">
            <a:extLst>
              <a:ext uri="{FF2B5EF4-FFF2-40B4-BE49-F238E27FC236}">
                <a16:creationId xmlns:a16="http://schemas.microsoft.com/office/drawing/2014/main" id="{27F12E80-9E70-3C73-C071-A790462C2DCF}"/>
              </a:ext>
            </a:extLst>
          </p:cNvPr>
          <p:cNvSpPr txBox="1"/>
          <p:nvPr/>
        </p:nvSpPr>
        <p:spPr>
          <a:xfrm>
            <a:off x="116005" y="375416"/>
            <a:ext cx="4954136" cy="6537174"/>
          </a:xfrm>
          <a:prstGeom prst="rect">
            <a:avLst/>
          </a:prstGeom>
          <a:noFill/>
        </p:spPr>
        <p:txBody>
          <a:bodyPr wrap="square">
            <a:spAutoFit/>
          </a:bodyPr>
          <a:lstStyle/>
          <a:p>
            <a:pPr>
              <a:lnSpc>
                <a:spcPts val="1425"/>
              </a:lnSpc>
              <a:buNone/>
            </a:pPr>
            <a:r>
              <a:rPr lang="en-US" sz="800" b="0" dirty="0">
                <a:solidFill>
                  <a:srgbClr val="9CDCFE"/>
                </a:solidFill>
                <a:effectLst/>
                <a:latin typeface="Consolas" panose="020B0609020204030204" pitchFamily="49" charset="0"/>
              </a:rPr>
              <a:t>Mini</a:t>
            </a:r>
            <a:r>
              <a:rPr lang="en-US" sz="800" b="0" dirty="0">
                <a:solidFill>
                  <a:srgbClr val="D4D4D4"/>
                </a:solidFill>
                <a:effectLst/>
                <a:latin typeface="Consolas" panose="020B0609020204030204" pitchFamily="49" charset="0"/>
              </a:rPr>
              <a:t> </a:t>
            </a:r>
            <a:r>
              <a:rPr lang="en-US" sz="800" b="0" dirty="0">
                <a:solidFill>
                  <a:srgbClr val="C8C8C8"/>
                </a:solidFill>
                <a:effectLst/>
                <a:latin typeface="Consolas" panose="020B0609020204030204" pitchFamily="49" charset="0"/>
              </a:rPr>
              <a:t>Report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Customer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Summary</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C8C8C8"/>
                </a:solidFill>
                <a:effectLst/>
                <a:latin typeface="Consolas" panose="020B0609020204030204" pitchFamily="49" charset="0"/>
              </a:rPr>
              <a:t>Goal</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each</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customer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show</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&amp; </a:t>
            </a:r>
            <a:r>
              <a:rPr lang="en-US" sz="800" b="0" dirty="0">
                <a:solidFill>
                  <a:srgbClr val="9CDCFE"/>
                </a:solidFill>
                <a:effectLst/>
                <a:latin typeface="Consolas" panose="020B0609020204030204" pitchFamily="49" charset="0"/>
              </a:rPr>
              <a:t>email</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$project</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Total</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orders</a:t>
            </a:r>
            <a:r>
              <a:rPr lang="en-US" sz="800" b="0" dirty="0">
                <a:solidFill>
                  <a:srgbClr val="D4D4D4"/>
                </a:solidFill>
                <a:effectLst/>
                <a:latin typeface="Consolas" panose="020B0609020204030204" pitchFamily="49" charset="0"/>
              </a:rPr>
              <a:t>   --&gt;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Total</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spent</a:t>
            </a:r>
            <a:r>
              <a:rPr lang="en-US" sz="800" b="0" dirty="0">
                <a:solidFill>
                  <a:srgbClr val="D4D4D4"/>
                </a:solidFill>
                <a:effectLst/>
                <a:latin typeface="Consolas" panose="020B0609020204030204" pitchFamily="49" charset="0"/>
              </a:rPr>
              <a:t>    --&gt;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Average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  --&gt;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Last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date</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Maximum</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orderDate</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VIP</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Level</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Create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field</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addField</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Gold</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$2000</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Silver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$1000</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Bronze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$500</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Regular</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$500</a:t>
            </a:r>
            <a:endParaRPr lang="en-US" sz="800" b="0" dirty="0">
              <a:solidFill>
                <a:srgbClr val="D4D4D4"/>
              </a:solidFill>
              <a:effectLst/>
              <a:latin typeface="Consolas" panose="020B0609020204030204" pitchFamily="49" charset="0"/>
            </a:endParaRPr>
          </a:p>
          <a:p>
            <a:pPr>
              <a:lnSpc>
                <a:spcPts val="1425"/>
              </a:lnSpc>
              <a:buNone/>
            </a:pPr>
            <a:r>
              <a:rPr lang="en-US" sz="800" b="0" dirty="0" err="1">
                <a:solidFill>
                  <a:srgbClr val="9CDCFE"/>
                </a:solidFill>
                <a:effectLst/>
                <a:latin typeface="Consolas" panose="020B0609020204030204" pitchFamily="49" charset="0"/>
              </a:rPr>
              <a:t>db</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customers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aggregate</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$lookup:</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from:</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"orders"</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localField</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"_id"</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foreignField</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customerId</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as:</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"orders"</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addFields</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totalOrders</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$size:</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"$orders"</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totalSpent</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orders.total</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avgOrderValue</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cond</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gt</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$size:</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"$orders"</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$divide: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orders.total</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 { </a:t>
            </a:r>
            <a:r>
              <a:rPr lang="en-US" sz="800" b="0" dirty="0">
                <a:solidFill>
                  <a:srgbClr val="9CDCFE"/>
                </a:solidFill>
                <a:effectLst/>
                <a:latin typeface="Consolas" panose="020B0609020204030204" pitchFamily="49" charset="0"/>
              </a:rPr>
              <a:t>$size:</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"$orders"</a:t>
            </a:r>
            <a:r>
              <a:rPr lang="en-US" sz="800" b="0" dirty="0">
                <a:solidFill>
                  <a:srgbClr val="D4D4D4"/>
                </a:solidFill>
                <a:effectLst/>
                <a:latin typeface="Consolas" panose="020B0609020204030204" pitchFamily="49" charset="0"/>
              </a:rPr>
              <a:t> }]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lastOrderDate</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$max:</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orders.orderDate</a:t>
            </a:r>
            <a:r>
              <a:rPr lang="en-US" sz="800" b="0" dirty="0">
                <a:solidFill>
                  <a:srgbClr val="CE9178"/>
                </a:solidFill>
                <a:effectLst/>
                <a:latin typeface="Consolas" panose="020B0609020204030204" pitchFamily="49" charset="0"/>
              </a:rPr>
              <a:t>"</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p:txBody>
      </p:sp>
      <p:sp>
        <p:nvSpPr>
          <p:cNvPr id="6" name="TextBox 5">
            <a:extLst>
              <a:ext uri="{FF2B5EF4-FFF2-40B4-BE49-F238E27FC236}">
                <a16:creationId xmlns:a16="http://schemas.microsoft.com/office/drawing/2014/main" id="{8E6D7110-3539-F445-904C-22FF35498164}"/>
              </a:ext>
            </a:extLst>
          </p:cNvPr>
          <p:cNvSpPr txBox="1"/>
          <p:nvPr/>
        </p:nvSpPr>
        <p:spPr>
          <a:xfrm>
            <a:off x="3116242" y="369332"/>
            <a:ext cx="4954136" cy="4382738"/>
          </a:xfrm>
          <a:prstGeom prst="rect">
            <a:avLst/>
          </a:prstGeom>
          <a:noFill/>
        </p:spPr>
        <p:txBody>
          <a:bodyPr wrap="square">
            <a:spAutoFit/>
          </a:bodyPr>
          <a:lstStyle/>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addFields</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vipLevel</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$switch:</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branches:</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case: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gte</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totalSpent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2000</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then:</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"Gold"</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case: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gte</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totalSpent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1000</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then:</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"Silver"</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case: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gte</a:t>
            </a:r>
            <a:r>
              <a:rPr lang="en-US" sz="800" b="0" dirty="0">
                <a:solidFill>
                  <a:srgbClr val="9CDCFE"/>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totalSpent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500</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then:</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"Bronze"</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default:</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"Regular"</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p:txBody>
      </p:sp>
      <p:sp>
        <p:nvSpPr>
          <p:cNvPr id="10" name="TextBox 9">
            <a:extLst>
              <a:ext uri="{FF2B5EF4-FFF2-40B4-BE49-F238E27FC236}">
                <a16:creationId xmlns:a16="http://schemas.microsoft.com/office/drawing/2014/main" id="{86E94F3F-224C-0654-54DF-86C057D3F6E7}"/>
              </a:ext>
            </a:extLst>
          </p:cNvPr>
          <p:cNvSpPr txBox="1"/>
          <p:nvPr/>
        </p:nvSpPr>
        <p:spPr>
          <a:xfrm>
            <a:off x="6089183" y="3429000"/>
            <a:ext cx="4981432" cy="2946448"/>
          </a:xfrm>
          <a:prstGeom prst="rect">
            <a:avLst/>
          </a:prstGeom>
          <a:noFill/>
        </p:spPr>
        <p:txBody>
          <a:bodyPr wrap="square">
            <a:spAutoFit/>
          </a:bodyPr>
          <a:lstStyle/>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$project: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_id:</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0</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name:</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email:</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totalOrders</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totalSpent</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$round:</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totalSpent</a:t>
            </a:r>
            <a:r>
              <a:rPr kumimoji="0" lang="en-US" sz="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avgOrderValue</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$round:</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avgOrderValue</a:t>
            </a:r>
            <a:r>
              <a:rPr kumimoji="0" lang="en-US" sz="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lastOrderDate</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vipLevel</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endPar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$sort: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 </a:t>
            </a:r>
            <a:r>
              <a:rPr kumimoji="0" lang="en-US" sz="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totalSpent</a:t>
            </a:r>
            <a:r>
              <a:rPr kumimoji="0" lang="en-US" sz="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US" sz="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ts val="1425"/>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1577217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8DF82-DD43-1D81-A18B-EEBC2F87EE2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491EB8-4402-605C-3AFF-C5FD26CADB47}"/>
              </a:ext>
            </a:extLst>
          </p:cNvPr>
          <p:cNvSpPr txBox="1"/>
          <p:nvPr/>
        </p:nvSpPr>
        <p:spPr>
          <a:xfrm>
            <a:off x="225188" y="204294"/>
            <a:ext cx="934872" cy="382559"/>
          </a:xfrm>
          <a:prstGeom prst="rect">
            <a:avLst/>
          </a:prstGeom>
          <a:noFill/>
        </p:spPr>
        <p:txBody>
          <a:bodyPr wrap="square">
            <a:spAutoFit/>
          </a:bodyPr>
          <a:lstStyle/>
          <a:p>
            <a:r>
              <a:rPr lang="en-US" dirty="0">
                <a:solidFill>
                  <a:srgbClr val="FFFF00"/>
                </a:solidFill>
              </a:rPr>
              <a:t>$out</a:t>
            </a:r>
            <a:endParaRPr lang="en-US" dirty="0"/>
          </a:p>
        </p:txBody>
      </p:sp>
      <p:sp>
        <p:nvSpPr>
          <p:cNvPr id="4" name="TextBox 3">
            <a:extLst>
              <a:ext uri="{FF2B5EF4-FFF2-40B4-BE49-F238E27FC236}">
                <a16:creationId xmlns:a16="http://schemas.microsoft.com/office/drawing/2014/main" id="{F58CE55B-ACCF-15C8-BB17-C14C279C1925}"/>
              </a:ext>
            </a:extLst>
          </p:cNvPr>
          <p:cNvSpPr txBox="1"/>
          <p:nvPr/>
        </p:nvSpPr>
        <p:spPr>
          <a:xfrm>
            <a:off x="812041" y="927589"/>
            <a:ext cx="7267433" cy="1363578"/>
          </a:xfrm>
          <a:prstGeom prst="rect">
            <a:avLst/>
          </a:prstGeom>
          <a:noFill/>
        </p:spPr>
        <p:txBody>
          <a:bodyPr wrap="square">
            <a:spAutoFit/>
          </a:bodyPr>
          <a:lstStyle/>
          <a:p>
            <a:pPr>
              <a:lnSpc>
                <a:spcPts val="1425"/>
              </a:lnSpc>
              <a:buNone/>
            </a:pPr>
            <a:r>
              <a:rPr lang="en-US" b="0" dirty="0">
                <a:solidFill>
                  <a:srgbClr val="C8C8C8"/>
                </a:solidFill>
                <a:effectLst/>
                <a:latin typeface="Consolas" panose="020B0609020204030204" pitchFamily="49" charset="0"/>
              </a:rPr>
              <a:t>Goal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delivered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collection</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aggregate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$match:</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"delivered"</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$out: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alreadyDeliveredOrders</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4489288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CB3F4-E082-9A41-836C-A242E75F04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78D0394-ED1E-CDD0-E94C-BCB58E6D6CE4}"/>
              </a:ext>
            </a:extLst>
          </p:cNvPr>
          <p:cNvSpPr txBox="1"/>
          <p:nvPr/>
        </p:nvSpPr>
        <p:spPr>
          <a:xfrm>
            <a:off x="225188" y="204294"/>
            <a:ext cx="9260006" cy="1754326"/>
          </a:xfrm>
          <a:prstGeom prst="rect">
            <a:avLst/>
          </a:prstGeom>
          <a:noFill/>
        </p:spPr>
        <p:txBody>
          <a:bodyPr wrap="square">
            <a:spAutoFit/>
          </a:bodyPr>
          <a:lstStyle/>
          <a:p>
            <a:pPr marL="342900" indent="-342900">
              <a:buFont typeface="+mj-lt"/>
              <a:buAutoNum type="arabicPeriod"/>
            </a:pPr>
            <a:r>
              <a:rPr lang="en-US" dirty="0">
                <a:solidFill>
                  <a:srgbClr val="FFFF00"/>
                </a:solidFill>
              </a:rPr>
              <a:t>What is find?</a:t>
            </a:r>
          </a:p>
          <a:p>
            <a:pPr marL="342900" indent="-342900">
              <a:buFont typeface="+mj-lt"/>
              <a:buAutoNum type="arabicPeriod"/>
            </a:pPr>
            <a:r>
              <a:rPr lang="en-US" dirty="0">
                <a:solidFill>
                  <a:srgbClr val="FFFF00"/>
                </a:solidFill>
              </a:rPr>
              <a:t>What is aggregation</a:t>
            </a:r>
          </a:p>
          <a:p>
            <a:pPr marL="342900" indent="-342900">
              <a:buFont typeface="+mj-lt"/>
              <a:buAutoNum type="arabicPeriod"/>
            </a:pPr>
            <a:r>
              <a:rPr lang="en-US" dirty="0">
                <a:solidFill>
                  <a:srgbClr val="FFFF00"/>
                </a:solidFill>
              </a:rPr>
              <a:t>How to connect data?</a:t>
            </a:r>
          </a:p>
          <a:p>
            <a:pPr marL="342900" indent="-342900">
              <a:buFont typeface="+mj-lt"/>
              <a:buAutoNum type="arabicPeriod"/>
            </a:pPr>
            <a:r>
              <a:rPr lang="en-US" dirty="0">
                <a:solidFill>
                  <a:srgbClr val="FFFF00"/>
                </a:solidFill>
              </a:rPr>
              <a:t>What is MongoDB?</a:t>
            </a:r>
          </a:p>
          <a:p>
            <a:pPr marL="342900" indent="-342900">
              <a:buFont typeface="+mj-lt"/>
              <a:buAutoNum type="arabicPeriod"/>
            </a:pPr>
            <a:endParaRPr lang="en-US" dirty="0">
              <a:solidFill>
                <a:srgbClr val="FFFF00"/>
              </a:solidFill>
            </a:endParaRPr>
          </a:p>
          <a:p>
            <a:pPr marL="342900" indent="-342900">
              <a:buFont typeface="+mj-lt"/>
              <a:buAutoNum type="arabicPeriod"/>
            </a:pPr>
            <a:endParaRPr lang="en-US" dirty="0"/>
          </a:p>
        </p:txBody>
      </p:sp>
    </p:spTree>
    <p:extLst>
      <p:ext uri="{BB962C8B-B14F-4D97-AF65-F5344CB8AC3E}">
        <p14:creationId xmlns:p14="http://schemas.microsoft.com/office/powerpoint/2010/main" val="3288568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4DEB9-46AA-1BA6-7E9E-BBAB94123A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3D0E83-1A8B-7039-4499-3B5F394390B3}"/>
              </a:ext>
            </a:extLst>
          </p:cNvPr>
          <p:cNvSpPr txBox="1"/>
          <p:nvPr/>
        </p:nvSpPr>
        <p:spPr>
          <a:xfrm>
            <a:off x="225188" y="204294"/>
            <a:ext cx="1153236" cy="369332"/>
          </a:xfrm>
          <a:prstGeom prst="rect">
            <a:avLst/>
          </a:prstGeom>
          <a:noFill/>
        </p:spPr>
        <p:txBody>
          <a:bodyPr wrap="square">
            <a:spAutoFit/>
          </a:bodyPr>
          <a:lstStyle/>
          <a:p>
            <a:r>
              <a:rPr lang="en-US" dirty="0">
                <a:solidFill>
                  <a:srgbClr val="FFFF00"/>
                </a:solidFill>
              </a:rPr>
              <a:t>Script.js</a:t>
            </a:r>
            <a:endParaRPr lang="en-US" dirty="0"/>
          </a:p>
        </p:txBody>
      </p:sp>
      <p:sp>
        <p:nvSpPr>
          <p:cNvPr id="6" name="TextBox 5">
            <a:extLst>
              <a:ext uri="{FF2B5EF4-FFF2-40B4-BE49-F238E27FC236}">
                <a16:creationId xmlns:a16="http://schemas.microsoft.com/office/drawing/2014/main" id="{9270BDFB-4523-A847-B526-D6E1B43060EC}"/>
              </a:ext>
            </a:extLst>
          </p:cNvPr>
          <p:cNvSpPr txBox="1"/>
          <p:nvPr/>
        </p:nvSpPr>
        <p:spPr>
          <a:xfrm>
            <a:off x="225188" y="726523"/>
            <a:ext cx="4954136" cy="2081724"/>
          </a:xfrm>
          <a:prstGeom prst="rect">
            <a:avLst/>
          </a:prstGeom>
          <a:noFill/>
        </p:spPr>
        <p:txBody>
          <a:bodyPr wrap="square">
            <a:spAutoFit/>
          </a:bodyPr>
          <a:lstStyle/>
          <a:p>
            <a:pPr>
              <a:lnSpc>
                <a:spcPts val="1425"/>
              </a:lnSpc>
              <a:buNone/>
            </a:pP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DATABASE</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a:solidFill>
                  <a:srgbClr val="D4D4D4"/>
                </a:solidFill>
                <a:effectLst/>
                <a:latin typeface="Consolas" panose="020B0609020204030204" pitchFamily="49" charset="0"/>
              </a:rPr>
              <a:t> = </a:t>
            </a: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getSiblingDB</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"ecommerce"</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Clean old data</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products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drop</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customers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drop</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orders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drop</a:t>
            </a: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9CDCFE"/>
                </a:solidFill>
                <a:effectLst/>
                <a:latin typeface="Consolas" panose="020B0609020204030204" pitchFamily="49" charset="0"/>
              </a:rPr>
              <a:t>db</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donations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drop</a:t>
            </a:r>
            <a:r>
              <a:rPr lang="en-US" sz="1200" b="0" dirty="0">
                <a:solidFill>
                  <a:srgbClr val="D4D4D4"/>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D8B9E453-B819-EA16-99A3-8A3E07117B5B}"/>
              </a:ext>
            </a:extLst>
          </p:cNvPr>
          <p:cNvSpPr txBox="1"/>
          <p:nvPr/>
        </p:nvSpPr>
        <p:spPr>
          <a:xfrm>
            <a:off x="0" y="3331986"/>
            <a:ext cx="4954136" cy="2964914"/>
          </a:xfrm>
          <a:prstGeom prst="rect">
            <a:avLst/>
          </a:prstGeom>
          <a:noFill/>
        </p:spPr>
        <p:txBody>
          <a:bodyPr wrap="square">
            <a:spAutoFit/>
          </a:bodyPr>
          <a:lstStyle/>
          <a:p>
            <a:pPr>
              <a:lnSpc>
                <a:spcPts val="1425"/>
              </a:lnSpc>
              <a:buNone/>
            </a:pP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HELPER FUNCTIONS</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function</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randomFrom</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arr</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arr</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Math</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floor</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Math</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random</a:t>
            </a:r>
            <a:r>
              <a:rPr lang="en-US" sz="1200" b="0" dirty="0">
                <a:solidFill>
                  <a:srgbClr val="D4D4D4"/>
                </a:solidFill>
                <a:effectLst/>
                <a:latin typeface="Consolas" panose="020B0609020204030204" pitchFamily="49" charset="0"/>
              </a:rPr>
              <a:t>() * </a:t>
            </a:r>
            <a:r>
              <a:rPr lang="en-US" sz="1200" b="0" dirty="0" err="1">
                <a:solidFill>
                  <a:srgbClr val="9CDCFE"/>
                </a:solidFill>
                <a:effectLst/>
                <a:latin typeface="Consolas" panose="020B0609020204030204" pitchFamily="49" charset="0"/>
              </a:rPr>
              <a:t>arr</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length</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function</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randomInt</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min</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max</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Math</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floor</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Math</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random</a:t>
            </a: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max</a:t>
            </a: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min</a:t>
            </a:r>
            <a:r>
              <a:rPr lang="en-US" sz="1200" b="0" dirty="0">
                <a:solidFill>
                  <a:srgbClr val="D4D4D4"/>
                </a:solidFill>
                <a:effectLst/>
                <a:latin typeface="Consolas" panose="020B0609020204030204" pitchFamily="49" charset="0"/>
              </a:rPr>
              <a:t> + </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 </a:t>
            </a:r>
            <a:r>
              <a:rPr lang="en-US" sz="1200" b="0" dirty="0">
                <a:solidFill>
                  <a:srgbClr val="9CDCFE"/>
                </a:solidFill>
                <a:effectLst/>
                <a:latin typeface="Consolas" panose="020B0609020204030204" pitchFamily="49" charset="0"/>
              </a:rPr>
              <a:t>min</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14FD3339-1A13-7549-9706-CFC539F0EFD6}"/>
              </a:ext>
            </a:extLst>
          </p:cNvPr>
          <p:cNvSpPr txBox="1"/>
          <p:nvPr/>
        </p:nvSpPr>
        <p:spPr>
          <a:xfrm>
            <a:off x="4726676" y="388960"/>
            <a:ext cx="5179324" cy="4580741"/>
          </a:xfrm>
          <a:prstGeom prst="rect">
            <a:avLst/>
          </a:prstGeom>
          <a:noFill/>
        </p:spPr>
        <p:txBody>
          <a:bodyPr wrap="square">
            <a:spAutoFit/>
          </a:bodyPr>
          <a:lstStyle/>
          <a:p>
            <a:pPr>
              <a:lnSpc>
                <a:spcPts val="1425"/>
              </a:lnSpc>
              <a:buNone/>
            </a:pP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MASTER DATA</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categories</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Electronics"</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"Books"</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"Clothing"</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"Home"</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"Toys</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brands</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Apple"</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"Samsung"</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"Sony"</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"Logitech"</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"Nike</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genders</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male"</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"female</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cities</a:t>
            </a:r>
            <a:r>
              <a:rPr lang="en-US" sz="1200" b="0" dirty="0">
                <a:solidFill>
                  <a:srgbClr val="D4D4D4"/>
                </a:solidFill>
                <a:effectLst/>
                <a:latin typeface="Consolas" panose="020B0609020204030204" pitchFamily="49" charset="0"/>
              </a:rPr>
              <a:t> = [</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city:</a:t>
            </a:r>
            <a:r>
              <a:rPr lang="en-US" sz="1200" b="0" dirty="0" err="1">
                <a:solidFill>
                  <a:srgbClr val="CE9178"/>
                </a:solidFill>
                <a:effectLst/>
                <a:latin typeface="Consolas" panose="020B0609020204030204" pitchFamily="49" charset="0"/>
              </a:rPr>
              <a:t>"New</a:t>
            </a:r>
            <a:r>
              <a:rPr lang="en-US" sz="1200" b="0" dirty="0">
                <a:solidFill>
                  <a:srgbClr val="CE9178"/>
                </a:solidFill>
                <a:effectLst/>
                <a:latin typeface="Consolas" panose="020B0609020204030204" pitchFamily="49" charset="0"/>
              </a:rPr>
              <a:t> York"</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coordinates:</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74.0060</a:t>
            </a:r>
            <a:r>
              <a:rPr lang="en-US" sz="1200" b="0" dirty="0">
                <a:solidFill>
                  <a:srgbClr val="D4D4D4"/>
                </a:solidFill>
                <a:effectLst/>
                <a:latin typeface="Consolas" panose="020B0609020204030204" pitchFamily="49" charset="0"/>
              </a:rPr>
              <a:t>, </a:t>
            </a:r>
            <a:r>
              <a:rPr lang="en-US" sz="1200" b="0" dirty="0">
                <a:solidFill>
                  <a:srgbClr val="B5CEA8"/>
                </a:solidFill>
                <a:effectLst/>
                <a:latin typeface="Consolas" panose="020B0609020204030204" pitchFamily="49" charset="0"/>
              </a:rPr>
              <a:t>40.7128</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city:</a:t>
            </a:r>
            <a:r>
              <a:rPr lang="en-US" sz="1200" b="0" dirty="0" err="1">
                <a:solidFill>
                  <a:srgbClr val="CE9178"/>
                </a:solidFill>
                <a:effectLst/>
                <a:latin typeface="Consolas" panose="020B0609020204030204" pitchFamily="49" charset="0"/>
              </a:rPr>
              <a:t>"Los</a:t>
            </a:r>
            <a:r>
              <a:rPr lang="en-US" sz="1200" b="0" dirty="0">
                <a:solidFill>
                  <a:srgbClr val="CE9178"/>
                </a:solidFill>
                <a:effectLst/>
                <a:latin typeface="Consolas" panose="020B0609020204030204" pitchFamily="49" charset="0"/>
              </a:rPr>
              <a:t> Angeles"</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coordinates:</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118.2437</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34.0522</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city:</a:t>
            </a:r>
            <a:r>
              <a:rPr lang="en-US" sz="1200" b="0" dirty="0" err="1">
                <a:solidFill>
                  <a:srgbClr val="CE9178"/>
                </a:solidFill>
                <a:effectLst/>
                <a:latin typeface="Consolas" panose="020B0609020204030204" pitchFamily="49" charset="0"/>
              </a:rPr>
              <a:t>"Chicago</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coordinates:</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87.6298</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41.8781</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city:</a:t>
            </a:r>
            <a:r>
              <a:rPr lang="en-US" sz="1200" b="0" dirty="0" err="1">
                <a:solidFill>
                  <a:srgbClr val="CE9178"/>
                </a:solidFill>
                <a:effectLst/>
                <a:latin typeface="Consolas" panose="020B0609020204030204" pitchFamily="49" charset="0"/>
              </a:rPr>
              <a:t>"Houston</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coordinates:</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95.3698</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29.7604</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city:</a:t>
            </a:r>
            <a:r>
              <a:rPr lang="en-US" sz="1200" b="0" dirty="0" err="1">
                <a:solidFill>
                  <a:srgbClr val="CE9178"/>
                </a:solidFill>
                <a:effectLst/>
                <a:latin typeface="Consolas" panose="020B0609020204030204" pitchFamily="49" charset="0"/>
              </a:rPr>
              <a:t>"Phoenix</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coordinates:</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112.0740</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33.4484</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reviewUsers</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vikram</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"john"</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emma</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raj"</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"sara</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orderStatuses</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pending"</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"shipped"</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"delivered"</a:t>
            </a:r>
            <a:r>
              <a:rPr lang="en-US" sz="1200" b="0" dirty="0" err="1">
                <a:solidFill>
                  <a:srgbClr val="D4D4D4"/>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"cancelled</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66662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E8DFD-F42A-AAD9-9ACC-994E5F1510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96C2CF-0DEE-B405-6AA1-FEECDA307649}"/>
              </a:ext>
            </a:extLst>
          </p:cNvPr>
          <p:cNvSpPr txBox="1"/>
          <p:nvPr/>
        </p:nvSpPr>
        <p:spPr>
          <a:xfrm>
            <a:off x="225188" y="204294"/>
            <a:ext cx="1153236" cy="369332"/>
          </a:xfrm>
          <a:prstGeom prst="rect">
            <a:avLst/>
          </a:prstGeom>
          <a:noFill/>
        </p:spPr>
        <p:txBody>
          <a:bodyPr wrap="square">
            <a:spAutoFit/>
          </a:bodyPr>
          <a:lstStyle/>
          <a:p>
            <a:r>
              <a:rPr lang="en-US" dirty="0">
                <a:solidFill>
                  <a:srgbClr val="FFFF00"/>
                </a:solidFill>
              </a:rPr>
              <a:t>Script.js</a:t>
            </a:r>
            <a:endParaRPr lang="en-US" dirty="0"/>
          </a:p>
        </p:txBody>
      </p:sp>
      <p:sp>
        <p:nvSpPr>
          <p:cNvPr id="6" name="TextBox 5">
            <a:extLst>
              <a:ext uri="{FF2B5EF4-FFF2-40B4-BE49-F238E27FC236}">
                <a16:creationId xmlns:a16="http://schemas.microsoft.com/office/drawing/2014/main" id="{310D8BD0-2896-3F91-FC2C-417BA2F2024B}"/>
              </a:ext>
            </a:extLst>
          </p:cNvPr>
          <p:cNvSpPr txBox="1"/>
          <p:nvPr/>
        </p:nvSpPr>
        <p:spPr>
          <a:xfrm>
            <a:off x="102358" y="573626"/>
            <a:ext cx="4954136" cy="4954305"/>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PRODUCTS COLLECTION</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&lt;=</a:t>
            </a:r>
            <a:r>
              <a:rPr lang="en-US" b="0" dirty="0">
                <a:solidFill>
                  <a:srgbClr val="B5CEA8"/>
                </a:solidFill>
                <a:effectLst/>
                <a:latin typeface="Consolas" panose="020B0609020204030204" pitchFamily="49" charset="0"/>
              </a:rPr>
              <a:t>200</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cityObj</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a:solidFill>
                  <a:srgbClr val="4FC1FF"/>
                </a:solidFill>
                <a:effectLst/>
                <a:latin typeface="Consolas" panose="020B0609020204030204" pitchFamily="49" charset="0"/>
              </a:rPr>
              <a:t>cities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reviews</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reviewCount</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6</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r</a:t>
            </a:r>
            <a:r>
              <a:rPr lang="en-US" b="0" dirty="0">
                <a:solidFill>
                  <a:srgbClr val="D4D4D4"/>
                </a:solidFill>
                <a:effectLst/>
                <a:latin typeface="Consolas" panose="020B0609020204030204" pitchFamily="49" charset="0"/>
              </a:rPr>
              <a:t>&lt;</a:t>
            </a:r>
            <a:r>
              <a:rPr lang="en-US" b="0" dirty="0" err="1">
                <a:solidFill>
                  <a:srgbClr val="9CDCFE"/>
                </a:solidFill>
                <a:effectLst/>
                <a:latin typeface="Consolas" panose="020B0609020204030204" pitchFamily="49" charset="0"/>
              </a:rPr>
              <a:t>reviewCount</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r</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reviews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push</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user:</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err="1">
                <a:solidFill>
                  <a:srgbClr val="4FC1FF"/>
                </a:solidFill>
                <a:effectLst/>
                <a:latin typeface="Consolas" panose="020B0609020204030204" pitchFamily="49" charset="0"/>
              </a:rPr>
              <a:t>reviewUsers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rating:</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comment: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"This is a great product"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p:txBody>
      </p:sp>
      <p:sp>
        <p:nvSpPr>
          <p:cNvPr id="8" name="TextBox 7">
            <a:extLst>
              <a:ext uri="{FF2B5EF4-FFF2-40B4-BE49-F238E27FC236}">
                <a16:creationId xmlns:a16="http://schemas.microsoft.com/office/drawing/2014/main" id="{8A4AF64B-DCF9-0969-B711-0BE0FCC7C53B}"/>
              </a:ext>
            </a:extLst>
          </p:cNvPr>
          <p:cNvSpPr txBox="1"/>
          <p:nvPr/>
        </p:nvSpPr>
        <p:spPr>
          <a:xfrm>
            <a:off x="4951864" y="932699"/>
            <a:ext cx="4954136" cy="5492914"/>
          </a:xfrm>
          <a:prstGeom prst="rect">
            <a:avLst/>
          </a:prstGeom>
          <a:noFill/>
        </p:spPr>
        <p:txBody>
          <a:bodyPr wrap="square">
            <a:spAutoFit/>
          </a:bodyPr>
          <a:lstStyle/>
          <a:p>
            <a:pPr>
              <a:lnSpc>
                <a:spcPts val="1425"/>
              </a:lnSpc>
              <a:buNone/>
            </a:pP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push</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"Product "</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description:</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"This is a great electronics product with premium quality"</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category:</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a:solidFill>
                  <a:srgbClr val="4FC1FF"/>
                </a:solidFill>
                <a:effectLst/>
                <a:latin typeface="Consolas" panose="020B0609020204030204" pitchFamily="49" charset="0"/>
              </a:rPr>
              <a:t>categories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brand:</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a:solidFill>
                  <a:srgbClr val="4FC1FF"/>
                </a:solidFill>
                <a:effectLst/>
                <a:latin typeface="Consolas" panose="020B0609020204030204" pitchFamily="49" charset="0"/>
              </a:rPr>
              <a:t>brands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20</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1000</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stock:</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10</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500</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location:</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city:</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cityObj</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city</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coordinates: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type:</a:t>
            </a:r>
            <a:r>
              <a:rPr lang="en-US" b="0" dirty="0" err="1">
                <a:solidFill>
                  <a:srgbClr val="CE9178"/>
                </a:solidFill>
                <a:effectLst/>
                <a:latin typeface="Consolas" panose="020B0609020204030204" pitchFamily="49" charset="0"/>
              </a:rPr>
              <a:t>"Point</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coordinates:</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cityObj</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coordinates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reviews: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reviews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insertMany</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a:t>
            </a:r>
          </a:p>
          <a:p>
            <a:pPr>
              <a:lnSpc>
                <a:spcPts val="1425"/>
              </a:lnSpc>
              <a:buNone/>
            </a:pPr>
            <a:endParaRPr lang="en-US" dirty="0">
              <a:solidFill>
                <a:srgbClr val="D4D4D4"/>
              </a:solidFill>
              <a:latin typeface="Consolas" panose="020B0609020204030204" pitchFamily="49" charset="0"/>
            </a:endParaRPr>
          </a:p>
          <a:p>
            <a:pPr>
              <a:lnSpc>
                <a:spcPts val="1425"/>
              </a:lnSpc>
              <a:buNone/>
            </a:pP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635804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3AC98-3E40-A9DC-DB2B-760FC866DF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BB9FC75-5DB3-E98C-5F17-17E87D994BD7}"/>
              </a:ext>
            </a:extLst>
          </p:cNvPr>
          <p:cNvSpPr txBox="1"/>
          <p:nvPr/>
        </p:nvSpPr>
        <p:spPr>
          <a:xfrm>
            <a:off x="225188" y="204294"/>
            <a:ext cx="1153236" cy="369332"/>
          </a:xfrm>
          <a:prstGeom prst="rect">
            <a:avLst/>
          </a:prstGeom>
          <a:noFill/>
        </p:spPr>
        <p:txBody>
          <a:bodyPr wrap="square">
            <a:spAutoFit/>
          </a:bodyPr>
          <a:lstStyle/>
          <a:p>
            <a:r>
              <a:rPr lang="en-US" dirty="0">
                <a:solidFill>
                  <a:srgbClr val="FFFF00"/>
                </a:solidFill>
              </a:rPr>
              <a:t>Script.js</a:t>
            </a:r>
            <a:endParaRPr lang="en-US" dirty="0"/>
          </a:p>
        </p:txBody>
      </p:sp>
      <p:sp>
        <p:nvSpPr>
          <p:cNvPr id="3" name="TextBox 2">
            <a:extLst>
              <a:ext uri="{FF2B5EF4-FFF2-40B4-BE49-F238E27FC236}">
                <a16:creationId xmlns:a16="http://schemas.microsoft.com/office/drawing/2014/main" id="{D273FCE0-F6C7-AE4C-B932-4C00A0A8A379}"/>
              </a:ext>
            </a:extLst>
          </p:cNvPr>
          <p:cNvSpPr txBox="1"/>
          <p:nvPr/>
        </p:nvSpPr>
        <p:spPr>
          <a:xfrm>
            <a:off x="0" y="592775"/>
            <a:ext cx="4954136" cy="5672450"/>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CUSTOMERS COLLECTION</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customers</a:t>
            </a:r>
            <a:r>
              <a:rPr lang="en-US" b="0" dirty="0">
                <a:solidFill>
                  <a:srgbClr val="D4D4D4"/>
                </a:solidFill>
                <a:effectLst/>
                <a:latin typeface="Consolas" panose="020B0609020204030204" pitchFamily="49" charset="0"/>
              </a:rPr>
              <a:t> =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&lt;=</a:t>
            </a:r>
            <a:r>
              <a:rPr lang="en-US" b="0" dirty="0">
                <a:solidFill>
                  <a:srgbClr val="B5CEA8"/>
                </a:solidFill>
                <a:effectLst/>
                <a:latin typeface="Consolas" panose="020B0609020204030204" pitchFamily="49" charset="0"/>
              </a:rPr>
              <a:t>100</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cityObj</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a:solidFill>
                  <a:srgbClr val="4FC1FF"/>
                </a:solidFill>
                <a:effectLst/>
                <a:latin typeface="Consolas" panose="020B0609020204030204" pitchFamily="49" charset="0"/>
              </a:rPr>
              <a:t>cities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push</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"Customer "</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email:</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"customer"</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"@mail.com"</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age:</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18</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65</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gender:</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a:solidFill>
                  <a:srgbClr val="4FC1FF"/>
                </a:solidFill>
                <a:effectLst/>
                <a:latin typeface="Consolas" panose="020B0609020204030204" pitchFamily="49" charset="0"/>
              </a:rPr>
              <a:t>genders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location:</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cityObj</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city</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registeredAt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2024</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11</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28</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insertMany</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customers</a:t>
            </a:r>
            <a:r>
              <a:rPr lang="en-US" b="0" dirty="0">
                <a:solidFill>
                  <a:srgbClr val="D4D4D4"/>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92D9961C-33E4-29C3-4738-0E40D3B73E8D}"/>
              </a:ext>
            </a:extLst>
          </p:cNvPr>
          <p:cNvSpPr txBox="1"/>
          <p:nvPr/>
        </p:nvSpPr>
        <p:spPr>
          <a:xfrm>
            <a:off x="4924568" y="1060790"/>
            <a:ext cx="4981432" cy="4415696"/>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DONATIONS COLLECTION</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donations</a:t>
            </a:r>
            <a:r>
              <a:rPr lang="en-US" b="0" dirty="0">
                <a:solidFill>
                  <a:srgbClr val="D4D4D4"/>
                </a:solidFill>
                <a:effectLst/>
                <a:latin typeface="Consolas" panose="020B0609020204030204" pitchFamily="49" charset="0"/>
              </a:rPr>
              <a:t> =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customerIds</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toArray</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map</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c</a:t>
            </a:r>
            <a:r>
              <a:rPr lang="en-US" b="0" dirty="0">
                <a:solidFill>
                  <a:srgbClr val="569CD6"/>
                </a:solidFill>
                <a:effectLst/>
                <a:latin typeface="Consolas" panose="020B0609020204030204" pitchFamily="49" charset="0"/>
              </a:rPr>
              <a:t>=&gt;</a:t>
            </a:r>
            <a:r>
              <a:rPr lang="en-US" b="0" dirty="0" err="1">
                <a:solidFill>
                  <a:srgbClr val="9CDCFE"/>
                </a:solidFill>
                <a:effectLst/>
                <a:latin typeface="Consolas" panose="020B0609020204030204" pitchFamily="49" charset="0"/>
              </a:rPr>
              <a:t>c</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&lt;</a:t>
            </a:r>
            <a:r>
              <a:rPr lang="en-US" b="0" dirty="0">
                <a:solidFill>
                  <a:srgbClr val="B5CEA8"/>
                </a:solidFill>
                <a:effectLst/>
                <a:latin typeface="Consolas" panose="020B0609020204030204" pitchFamily="49" charset="0"/>
              </a:rPr>
              <a:t>80</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donations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push</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customerId</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customerIds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amount: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10</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500</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donatedAt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donations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insertMany</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donations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865449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85F97-6087-0485-EE07-3B11B3DEF8B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B2FA07-23A0-E3D3-B717-F6FBE12CFB4A}"/>
              </a:ext>
            </a:extLst>
          </p:cNvPr>
          <p:cNvSpPr txBox="1"/>
          <p:nvPr/>
        </p:nvSpPr>
        <p:spPr>
          <a:xfrm>
            <a:off x="225188" y="204294"/>
            <a:ext cx="1153236" cy="369332"/>
          </a:xfrm>
          <a:prstGeom prst="rect">
            <a:avLst/>
          </a:prstGeom>
          <a:noFill/>
        </p:spPr>
        <p:txBody>
          <a:bodyPr wrap="square">
            <a:spAutoFit/>
          </a:bodyPr>
          <a:lstStyle/>
          <a:p>
            <a:r>
              <a:rPr lang="en-US" dirty="0">
                <a:solidFill>
                  <a:srgbClr val="FFFF00"/>
                </a:solidFill>
              </a:rPr>
              <a:t>Script.js</a:t>
            </a:r>
            <a:endParaRPr lang="en-US" dirty="0"/>
          </a:p>
        </p:txBody>
      </p:sp>
      <p:sp>
        <p:nvSpPr>
          <p:cNvPr id="3" name="TextBox 2">
            <a:extLst>
              <a:ext uri="{FF2B5EF4-FFF2-40B4-BE49-F238E27FC236}">
                <a16:creationId xmlns:a16="http://schemas.microsoft.com/office/drawing/2014/main" id="{37348E44-52AE-D7FF-8C5C-1DD9CB1DBCCA}"/>
              </a:ext>
            </a:extLst>
          </p:cNvPr>
          <p:cNvSpPr txBox="1"/>
          <p:nvPr/>
        </p:nvSpPr>
        <p:spPr>
          <a:xfrm>
            <a:off x="225188" y="573626"/>
            <a:ext cx="4954136" cy="6031523"/>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ORDERS COLLECTION</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 = []</a:t>
            </a:r>
          </a:p>
          <a:p>
            <a:pPr>
              <a:lnSpc>
                <a:spcPts val="1425"/>
              </a:lnSpc>
              <a:buNone/>
            </a:pP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productDocs</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toArray</a:t>
            </a:r>
            <a:r>
              <a:rPr lang="en-US" b="0" dirty="0">
                <a:solidFill>
                  <a:srgbClr val="D4D4D4"/>
                </a:solidFill>
                <a:effectLst/>
                <a:latin typeface="Consolas" panose="020B0609020204030204" pitchFamily="49" charset="0"/>
              </a:rPr>
              <a:t>()</a:t>
            </a: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&lt;</a:t>
            </a:r>
            <a:r>
              <a:rPr lang="en-US" b="0" dirty="0">
                <a:solidFill>
                  <a:srgbClr val="B5CEA8"/>
                </a:solidFill>
                <a:effectLst/>
                <a:latin typeface="Consolas" panose="020B0609020204030204" pitchFamily="49" charset="0"/>
              </a:rPr>
              <a:t>300</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selectedProducts</a:t>
            </a:r>
            <a:r>
              <a:rPr lang="en-US" b="0" dirty="0">
                <a:solidFill>
                  <a:srgbClr val="D4D4D4"/>
                </a:solidFill>
                <a:effectLst/>
                <a:latin typeface="Consolas" panose="020B0609020204030204" pitchFamily="49" charset="0"/>
              </a:rPr>
              <a:t> = []</a:t>
            </a: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itemsCount</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0</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j</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j</a:t>
            </a:r>
            <a:r>
              <a:rPr lang="en-US" b="0" dirty="0">
                <a:solidFill>
                  <a:srgbClr val="D4D4D4"/>
                </a:solidFill>
                <a:effectLst/>
                <a:latin typeface="Consolas" panose="020B0609020204030204" pitchFamily="49" charset="0"/>
              </a:rPr>
              <a:t>&lt;</a:t>
            </a:r>
            <a:r>
              <a:rPr lang="en-US" b="0" dirty="0" err="1">
                <a:solidFill>
                  <a:srgbClr val="9CDCFE"/>
                </a:solidFill>
                <a:effectLst/>
                <a:latin typeface="Consolas" panose="020B0609020204030204" pitchFamily="49" charset="0"/>
              </a:rPr>
              <a:t>itemsCount</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j</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productDocs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qty</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p</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qty</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selectedProducts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push</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productId</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p</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quantity: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qty</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p</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price</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p:txBody>
      </p:sp>
      <p:sp>
        <p:nvSpPr>
          <p:cNvPr id="6" name="TextBox 5">
            <a:extLst>
              <a:ext uri="{FF2B5EF4-FFF2-40B4-BE49-F238E27FC236}">
                <a16:creationId xmlns:a16="http://schemas.microsoft.com/office/drawing/2014/main" id="{7467F12E-E3B3-2AB2-8154-0C9584C7AEE9}"/>
              </a:ext>
            </a:extLst>
          </p:cNvPr>
          <p:cNvSpPr txBox="1"/>
          <p:nvPr/>
        </p:nvSpPr>
        <p:spPr>
          <a:xfrm>
            <a:off x="4953000" y="1320678"/>
            <a:ext cx="4954136" cy="3158942"/>
          </a:xfrm>
          <a:prstGeom prst="rect">
            <a:avLst/>
          </a:prstGeom>
          <a:noFill/>
        </p:spPr>
        <p:txBody>
          <a:bodyPr wrap="square">
            <a:spAutoFit/>
          </a:bodyPr>
          <a:lstStyle/>
          <a:p>
            <a:pPr>
              <a:lnSpc>
                <a:spcPts val="1425"/>
              </a:lnSpc>
              <a:buNone/>
            </a:pP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push</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customerId</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customerIds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randomFrom</a:t>
            </a:r>
            <a:r>
              <a:rPr lang="en-US" b="0" dirty="0">
                <a:solidFill>
                  <a:srgbClr val="D4D4D4"/>
                </a:solidFill>
                <a:effectLst/>
                <a:latin typeface="Consolas" panose="020B0609020204030204" pitchFamily="49" charset="0"/>
              </a:rPr>
              <a:t>(</a:t>
            </a:r>
            <a:r>
              <a:rPr lang="en-US" b="0" dirty="0" err="1">
                <a:solidFill>
                  <a:srgbClr val="4FC1FF"/>
                </a:solidFill>
                <a:effectLst/>
                <a:latin typeface="Consolas" panose="020B0609020204030204" pitchFamily="49" charset="0"/>
              </a:rPr>
              <a:t>orderStatuses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products:</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selectedProducts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orderDate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2025</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11</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randomInt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28</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insertMany</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27117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A889C-B635-331F-A9B2-1FDB888C7E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89CA1B-429D-4265-BE7A-A775DEEEAA92}"/>
              </a:ext>
            </a:extLst>
          </p:cNvPr>
          <p:cNvSpPr txBox="1"/>
          <p:nvPr/>
        </p:nvSpPr>
        <p:spPr>
          <a:xfrm>
            <a:off x="225188" y="204294"/>
            <a:ext cx="1153236" cy="369332"/>
          </a:xfrm>
          <a:prstGeom prst="rect">
            <a:avLst/>
          </a:prstGeom>
          <a:noFill/>
        </p:spPr>
        <p:txBody>
          <a:bodyPr wrap="square">
            <a:spAutoFit/>
          </a:bodyPr>
          <a:lstStyle/>
          <a:p>
            <a:r>
              <a:rPr lang="en-US" dirty="0">
                <a:solidFill>
                  <a:srgbClr val="FFFF00"/>
                </a:solidFill>
              </a:rPr>
              <a:t>Script.js</a:t>
            </a:r>
            <a:endParaRPr lang="en-US" dirty="0"/>
          </a:p>
        </p:txBody>
      </p:sp>
      <p:sp>
        <p:nvSpPr>
          <p:cNvPr id="3" name="TextBox 2">
            <a:extLst>
              <a:ext uri="{FF2B5EF4-FFF2-40B4-BE49-F238E27FC236}">
                <a16:creationId xmlns:a16="http://schemas.microsoft.com/office/drawing/2014/main" id="{6E98F2DE-F87C-8549-0676-4366D391A2C9}"/>
              </a:ext>
            </a:extLst>
          </p:cNvPr>
          <p:cNvSpPr txBox="1"/>
          <p:nvPr/>
        </p:nvSpPr>
        <p:spPr>
          <a:xfrm>
            <a:off x="225188" y="1041958"/>
            <a:ext cx="4954136" cy="2979405"/>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INDEXES (IMPORTANT)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Text Search</a:t>
            </a: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name:</a:t>
            </a:r>
            <a:r>
              <a:rPr lang="en-US" b="0" dirty="0" err="1">
                <a:solidFill>
                  <a:srgbClr val="CE9178"/>
                </a:solidFill>
                <a:effectLst/>
                <a:latin typeface="Consolas" panose="020B0609020204030204" pitchFamily="49" charset="0"/>
              </a:rPr>
              <a:t>"text</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description:</a:t>
            </a:r>
            <a:r>
              <a:rPr lang="en-US" b="0" dirty="0" err="1">
                <a:solidFill>
                  <a:srgbClr val="CE9178"/>
                </a:solidFill>
                <a:effectLst/>
                <a:latin typeface="Consolas" panose="020B0609020204030204" pitchFamily="49" charset="0"/>
              </a:rPr>
              <a:t>"text</a:t>
            </a:r>
            <a:r>
              <a:rPr lang="en-US" b="0" dirty="0">
                <a:solidFill>
                  <a:srgbClr val="CE9178"/>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Geo Index</a:t>
            </a: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"location.coordinates"</a:t>
            </a:r>
            <a:r>
              <a:rPr lang="en-US" b="0" dirty="0">
                <a:solidFill>
                  <a:srgbClr val="9CDCFE"/>
                </a:solidFill>
                <a:effectLst/>
                <a:latin typeface="Consolas" panose="020B0609020204030204" pitchFamily="49" charset="0"/>
              </a:rPr>
              <a:t>:</a:t>
            </a:r>
            <a:r>
              <a:rPr lang="en-US" b="0" dirty="0">
                <a:solidFill>
                  <a:srgbClr val="CE9178"/>
                </a:solidFill>
                <a:effectLst/>
                <a:latin typeface="Consolas" panose="020B0609020204030204" pitchFamily="49" charset="0"/>
              </a:rPr>
              <a:t>"2dsphere"</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DAE33643-7A29-A69A-E2F6-86501BF2C6E1}"/>
              </a:ext>
            </a:extLst>
          </p:cNvPr>
          <p:cNvSpPr txBox="1"/>
          <p:nvPr/>
        </p:nvSpPr>
        <p:spPr>
          <a:xfrm>
            <a:off x="4951864" y="1375851"/>
            <a:ext cx="4954136" cy="1902187"/>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DONE MESSAGE</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 Ecommerce Sample Database Ready!"</a:t>
            </a:r>
            <a:r>
              <a:rPr lang="en-US" b="0" dirty="0">
                <a:solidFill>
                  <a:srgbClr val="D4D4D4"/>
                </a:solidFill>
                <a:effectLst/>
                <a:latin typeface="Consolas" panose="020B0609020204030204" pitchFamily="49" charset="0"/>
              </a:rPr>
              <a:t>)</a:t>
            </a:r>
          </a:p>
          <a:p>
            <a:pPr>
              <a:lnSpc>
                <a:spcPts val="1425"/>
              </a:lnSpc>
              <a:buNone/>
            </a:pP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"Collections Created:"</a:t>
            </a:r>
            <a:r>
              <a:rPr lang="en-US" b="0" dirty="0">
                <a:solidFill>
                  <a:srgbClr val="D4D4D4"/>
                </a:solidFill>
                <a:effectLst/>
                <a:latin typeface="Consolas" panose="020B0609020204030204" pitchFamily="49" charset="0"/>
              </a:rPr>
              <a:t>)</a:t>
            </a:r>
          </a:p>
          <a:p>
            <a:pPr>
              <a:lnSpc>
                <a:spcPts val="1425"/>
              </a:lnSpc>
              <a:buNone/>
            </a:pP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 products"</a:t>
            </a:r>
            <a:r>
              <a:rPr lang="en-US" b="0" dirty="0">
                <a:solidFill>
                  <a:srgbClr val="D4D4D4"/>
                </a:solidFill>
                <a:effectLst/>
                <a:latin typeface="Consolas" panose="020B0609020204030204" pitchFamily="49" charset="0"/>
              </a:rPr>
              <a:t>)</a:t>
            </a:r>
          </a:p>
          <a:p>
            <a:pPr>
              <a:lnSpc>
                <a:spcPts val="1425"/>
              </a:lnSpc>
              <a:buNone/>
            </a:pP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 customers"</a:t>
            </a:r>
            <a:r>
              <a:rPr lang="en-US" b="0" dirty="0">
                <a:solidFill>
                  <a:srgbClr val="D4D4D4"/>
                </a:solidFill>
                <a:effectLst/>
                <a:latin typeface="Consolas" panose="020B0609020204030204" pitchFamily="49" charset="0"/>
              </a:rPr>
              <a:t>)</a:t>
            </a:r>
          </a:p>
          <a:p>
            <a:pPr>
              <a:lnSpc>
                <a:spcPts val="1425"/>
              </a:lnSpc>
              <a:buNone/>
            </a:pP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 orders"</a:t>
            </a:r>
            <a:r>
              <a:rPr lang="en-US" b="0" dirty="0">
                <a:solidFill>
                  <a:srgbClr val="D4D4D4"/>
                </a:solidFill>
                <a:effectLst/>
                <a:latin typeface="Consolas" panose="020B0609020204030204" pitchFamily="49" charset="0"/>
              </a:rPr>
              <a:t>)</a:t>
            </a:r>
          </a:p>
          <a:p>
            <a:pPr>
              <a:lnSpc>
                <a:spcPts val="1425"/>
              </a:lnSpc>
              <a:buNone/>
            </a:pP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 donations"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8862592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C655F7-9670-1058-6582-A5CE37C5D931}"/>
              </a:ext>
            </a:extLst>
          </p:cNvPr>
          <p:cNvSpPr txBox="1"/>
          <p:nvPr/>
        </p:nvSpPr>
        <p:spPr>
          <a:xfrm>
            <a:off x="822960" y="770709"/>
            <a:ext cx="1081258" cy="369332"/>
          </a:xfrm>
          <a:prstGeom prst="rect">
            <a:avLst/>
          </a:prstGeom>
          <a:noFill/>
        </p:spPr>
        <p:txBody>
          <a:bodyPr wrap="none" rtlCol="0">
            <a:spAutoFit/>
          </a:bodyPr>
          <a:lstStyle/>
          <a:p>
            <a:pPr algn="l">
              <a:spcBef>
                <a:spcPts val="1200"/>
              </a:spcBef>
              <a:spcAft>
                <a:spcPts val="1200"/>
              </a:spcAft>
              <a:buNone/>
            </a:pPr>
            <a:r>
              <a:rPr lang="en-US" b="1" i="0" dirty="0">
                <a:solidFill>
                  <a:srgbClr val="FFFF00"/>
                </a:solidFill>
                <a:effectLst/>
                <a:latin typeface="quote-cjk-patch"/>
              </a:rPr>
              <a:t>Indexes : </a:t>
            </a:r>
          </a:p>
        </p:txBody>
      </p:sp>
    </p:spTree>
    <p:extLst>
      <p:ext uri="{BB962C8B-B14F-4D97-AF65-F5344CB8AC3E}">
        <p14:creationId xmlns:p14="http://schemas.microsoft.com/office/powerpoint/2010/main" val="25550331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3934EA-9E8D-E49B-0B0D-F25F151E5B74}"/>
              </a:ext>
            </a:extLst>
          </p:cNvPr>
          <p:cNvSpPr txBox="1"/>
          <p:nvPr/>
        </p:nvSpPr>
        <p:spPr>
          <a:xfrm>
            <a:off x="163286" y="172468"/>
            <a:ext cx="6969034" cy="2620333"/>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Single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Ascending</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Descending</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Ascending index</a:t>
            </a:r>
            <a:br>
              <a:rPr lang="en-US" b="0" dirty="0">
                <a:solidFill>
                  <a:srgbClr val="6A9955"/>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Descending index</a:t>
            </a:r>
            <a:br>
              <a:rPr lang="en-US" b="0" dirty="0">
                <a:solidFill>
                  <a:srgbClr val="6A9955"/>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Use</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case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Fast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filtering</a:t>
            </a:r>
            <a:r>
              <a:rPr lang="en-US" b="0" dirty="0">
                <a:solidFill>
                  <a:srgbClr val="D4D4D4"/>
                </a:solidFill>
                <a:effectLst/>
                <a:latin typeface="Consolas" panose="020B0609020204030204" pitchFamily="49" charset="0"/>
              </a:rPr>
              <a:t> &amp; </a:t>
            </a:r>
            <a:r>
              <a:rPr lang="en-US" b="0" dirty="0">
                <a:solidFill>
                  <a:srgbClr val="9CDCFE"/>
                </a:solidFill>
                <a:effectLst/>
                <a:latin typeface="Consolas" panose="020B0609020204030204" pitchFamily="49" charset="0"/>
              </a:rPr>
              <a:t>sorting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column</a:t>
            </a:r>
            <a:endParaRPr lang="en-US" b="0" dirty="0">
              <a:solidFill>
                <a:srgbClr val="D4D4D4"/>
              </a:solidFill>
              <a:effectLst/>
              <a:latin typeface="Consolas" panose="020B0609020204030204" pitchFamily="49" charset="0"/>
            </a:endParaRPr>
          </a:p>
        </p:txBody>
      </p:sp>
      <p:sp>
        <p:nvSpPr>
          <p:cNvPr id="7" name="TextBox 6">
            <a:extLst>
              <a:ext uri="{FF2B5EF4-FFF2-40B4-BE49-F238E27FC236}">
                <a16:creationId xmlns:a16="http://schemas.microsoft.com/office/drawing/2014/main" id="{3274B8F1-46AD-86E5-16E2-6B6E98660C64}"/>
              </a:ext>
            </a:extLst>
          </p:cNvPr>
          <p:cNvSpPr txBox="1"/>
          <p:nvPr/>
        </p:nvSpPr>
        <p:spPr>
          <a:xfrm>
            <a:off x="163286" y="3173517"/>
            <a:ext cx="9285514" cy="2893100"/>
          </a:xfrm>
          <a:prstGeom prst="rect">
            <a:avLst/>
          </a:prstGeom>
          <a:noFill/>
        </p:spPr>
        <p:txBody>
          <a:bodyPr wrap="square">
            <a:spAutoFit/>
          </a:bodyPr>
          <a:lstStyle/>
          <a:p>
            <a:pPr algn="l">
              <a:spcBef>
                <a:spcPts val="1200"/>
              </a:spcBef>
              <a:spcAft>
                <a:spcPts val="1200"/>
              </a:spcAft>
              <a:buNone/>
            </a:pPr>
            <a:r>
              <a:rPr lang="en-US" b="1" i="0" dirty="0">
                <a:solidFill>
                  <a:srgbClr val="FFFF00"/>
                </a:solidFill>
                <a:effectLst/>
                <a:latin typeface="quote-cjk-patch"/>
              </a:rPr>
              <a:t>High cardinality</a:t>
            </a:r>
            <a:r>
              <a:rPr lang="en-US" b="0" i="0" dirty="0">
                <a:solidFill>
                  <a:srgbClr val="FFFF00"/>
                </a:solidFill>
                <a:effectLst/>
                <a:latin typeface="quote-cjk-patch"/>
              </a:rPr>
              <a:t> </a:t>
            </a:r>
            <a:r>
              <a:rPr lang="en-US" b="0" i="0" dirty="0">
                <a:solidFill>
                  <a:schemeClr val="accent4">
                    <a:lumMod val="20000"/>
                    <a:lumOff val="80000"/>
                  </a:schemeClr>
                </a:solidFill>
                <a:effectLst/>
                <a:latin typeface="quote-cjk-patch"/>
              </a:rPr>
              <a:t>means there are many unique values, almost like email addresses. If you indexed customer emails, almost every email would be unique—email1 points to one customer, email2 to another, and so on. It's like having a table of contents where almost every entry points to a different page. This makes searching very precise and efficient.</a:t>
            </a:r>
          </a:p>
          <a:p>
            <a:pPr algn="l">
              <a:spcBef>
                <a:spcPts val="1200"/>
              </a:spcBef>
              <a:buNone/>
            </a:pPr>
            <a:r>
              <a:rPr lang="en-US" b="1" i="0" dirty="0">
                <a:solidFill>
                  <a:srgbClr val="FFFF00"/>
                </a:solidFill>
                <a:effectLst/>
                <a:latin typeface="quote-cjk-patch"/>
              </a:rPr>
              <a:t>Low cardinality</a:t>
            </a:r>
            <a:r>
              <a:rPr lang="en-US" b="0" i="0" dirty="0">
                <a:solidFill>
                  <a:srgbClr val="FFFF00"/>
                </a:solidFill>
                <a:effectLst/>
                <a:latin typeface="quote-cjk-patch"/>
              </a:rPr>
              <a:t> </a:t>
            </a:r>
            <a:r>
              <a:rPr lang="en-US" b="0" i="0" dirty="0">
                <a:solidFill>
                  <a:schemeClr val="accent4">
                    <a:lumMod val="20000"/>
                    <a:lumOff val="80000"/>
                  </a:schemeClr>
                </a:solidFill>
                <a:effectLst/>
                <a:latin typeface="quote-cjk-patch"/>
              </a:rPr>
              <a:t>means there are only a few unique values with many repeats, like order statuses. If you indexed order status, "delivered" might point to thousands of orders, "pending" to hundreds, and "cancelled" to dozens. It's like having a table of contents with only a few sections, each pointing to many pages. This is less precise for finding specific items but still helpful for grouping related records together.</a:t>
            </a:r>
          </a:p>
        </p:txBody>
      </p:sp>
    </p:spTree>
    <p:extLst>
      <p:ext uri="{BB962C8B-B14F-4D97-AF65-F5344CB8AC3E}">
        <p14:creationId xmlns:p14="http://schemas.microsoft.com/office/powerpoint/2010/main" val="2168845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1BEF6D-DD31-F2C6-E8B6-85FA6D703998}"/>
              </a:ext>
            </a:extLst>
          </p:cNvPr>
          <p:cNvSpPr txBox="1"/>
          <p:nvPr/>
        </p:nvSpPr>
        <p:spPr>
          <a:xfrm>
            <a:off x="215538" y="234375"/>
            <a:ext cx="4950822" cy="646331"/>
          </a:xfrm>
          <a:prstGeom prst="rect">
            <a:avLst/>
          </a:prstGeom>
          <a:noFill/>
        </p:spPr>
        <p:txBody>
          <a:bodyPr wrap="square">
            <a:spAutoFit/>
          </a:bodyPr>
          <a:lstStyle/>
          <a:p>
            <a:pPr algn="l">
              <a:spcBef>
                <a:spcPts val="1200"/>
              </a:spcBef>
              <a:spcAft>
                <a:spcPts val="1200"/>
              </a:spcAft>
              <a:buNone/>
            </a:pPr>
            <a:r>
              <a:rPr lang="en-US" dirty="0">
                <a:solidFill>
                  <a:schemeClr val="accent4">
                    <a:lumMod val="20000"/>
                    <a:lumOff val="80000"/>
                  </a:schemeClr>
                </a:solidFill>
                <a:latin typeface="quote-cjk-patch"/>
              </a:rPr>
              <a:t>Binary Tree is the Data Structure that is used in Creating Indexes</a:t>
            </a:r>
            <a:endParaRPr lang="en-US" i="0" dirty="0">
              <a:solidFill>
                <a:schemeClr val="accent4">
                  <a:lumMod val="20000"/>
                  <a:lumOff val="80000"/>
                </a:schemeClr>
              </a:solidFill>
              <a:effectLst/>
              <a:latin typeface="quote-cjk-patch"/>
            </a:endParaRPr>
          </a:p>
        </p:txBody>
      </p:sp>
      <p:sp>
        <p:nvSpPr>
          <p:cNvPr id="5" name="TextBox 4">
            <a:extLst>
              <a:ext uri="{FF2B5EF4-FFF2-40B4-BE49-F238E27FC236}">
                <a16:creationId xmlns:a16="http://schemas.microsoft.com/office/drawing/2014/main" id="{3837BB20-F4E2-4EA1-CD38-03BAABE45282}"/>
              </a:ext>
            </a:extLst>
          </p:cNvPr>
          <p:cNvSpPr txBox="1"/>
          <p:nvPr/>
        </p:nvSpPr>
        <p:spPr>
          <a:xfrm>
            <a:off x="312254" y="880706"/>
            <a:ext cx="8295416" cy="4524315"/>
          </a:xfrm>
          <a:prstGeom prst="rect">
            <a:avLst/>
          </a:prstGeom>
          <a:noFill/>
        </p:spPr>
        <p:txBody>
          <a:bodyPr wrap="square">
            <a:spAutoFit/>
          </a:bodyPr>
          <a:lstStyle/>
          <a:p>
            <a:pPr algn="l">
              <a:buNone/>
            </a:pPr>
            <a:r>
              <a:rPr lang="en-US" sz="1200" b="0" i="0" dirty="0">
                <a:solidFill>
                  <a:schemeClr val="bg1"/>
                </a:solidFill>
                <a:effectLst/>
                <a:latin typeface="quote-cjk-patch"/>
              </a:rPr>
              <a:t>cardinality is often measured or described in a few specific ways:</a:t>
            </a:r>
          </a:p>
          <a:p>
            <a:pPr algn="l">
              <a:buNone/>
            </a:pPr>
            <a:endParaRPr lang="en-US" sz="1200" b="0" i="0" dirty="0">
              <a:solidFill>
                <a:schemeClr val="bg1"/>
              </a:solidFill>
              <a:effectLst/>
              <a:latin typeface="quote-cjk-patch"/>
            </a:endParaRPr>
          </a:p>
          <a:p>
            <a:pPr algn="l">
              <a:buNone/>
            </a:pPr>
            <a:r>
              <a:rPr lang="en-US" sz="1200" b="1" dirty="0">
                <a:solidFill>
                  <a:schemeClr val="bg1"/>
                </a:solidFill>
                <a:effectLst/>
                <a:latin typeface="quote-cjk-patch"/>
              </a:rPr>
              <a:t>1. Cardinality Ratio</a:t>
            </a:r>
          </a:p>
          <a:p>
            <a:pPr algn="l">
              <a:buNone/>
            </a:pPr>
            <a:r>
              <a:rPr lang="en-US" sz="1200" b="0" i="0" dirty="0">
                <a:solidFill>
                  <a:schemeClr val="bg1"/>
                </a:solidFill>
                <a:effectLst/>
                <a:latin typeface="quote-cjk-patch"/>
              </a:rPr>
              <a:t>The most common measurement is comparing the number of unique values to the total number of documents:</a:t>
            </a:r>
          </a:p>
          <a:p>
            <a:pPr algn="l">
              <a:buFont typeface="Arial" panose="020B0604020202020204" pitchFamily="34" charset="0"/>
              <a:buChar char="•"/>
            </a:pPr>
            <a:r>
              <a:rPr lang="en-US" sz="1200" b="1" i="0" dirty="0">
                <a:solidFill>
                  <a:schemeClr val="bg1"/>
                </a:solidFill>
                <a:effectLst/>
                <a:latin typeface="quote-cjk-patch"/>
              </a:rPr>
              <a:t>Formula:</a:t>
            </a:r>
            <a:r>
              <a:rPr lang="en-US" sz="1200" b="0" i="0" dirty="0">
                <a:solidFill>
                  <a:schemeClr val="bg1"/>
                </a:solidFill>
                <a:effectLst/>
                <a:latin typeface="quote-cjk-patch"/>
              </a:rPr>
              <a:t> </a:t>
            </a:r>
            <a:r>
              <a:rPr lang="en-US" sz="1200" b="0" i="0" dirty="0">
                <a:solidFill>
                  <a:schemeClr val="bg1"/>
                </a:solidFill>
                <a:effectLst/>
                <a:latin typeface="Menlo"/>
              </a:rPr>
              <a:t>Cardinality Ratio = Unique Values ÷ Total Documents</a:t>
            </a:r>
            <a:endParaRPr lang="en-US" sz="1200" b="0" i="0" dirty="0">
              <a:solidFill>
                <a:schemeClr val="bg1"/>
              </a:solidFill>
              <a:effectLst/>
              <a:latin typeface="quote-cjk-patch"/>
            </a:endParaRPr>
          </a:p>
          <a:p>
            <a:pPr algn="l">
              <a:buFont typeface="Arial" panose="020B0604020202020204" pitchFamily="34" charset="0"/>
              <a:buChar char="•"/>
            </a:pPr>
            <a:r>
              <a:rPr lang="en-US" sz="1200" b="1" i="0" dirty="0">
                <a:solidFill>
                  <a:schemeClr val="bg1"/>
                </a:solidFill>
                <a:effectLst/>
                <a:latin typeface="quote-cjk-patch"/>
              </a:rPr>
              <a:t>Example:</a:t>
            </a:r>
            <a:r>
              <a:rPr lang="en-US" sz="1200" b="0" i="0" dirty="0">
                <a:solidFill>
                  <a:schemeClr val="bg1"/>
                </a:solidFill>
                <a:effectLst/>
                <a:latin typeface="quote-cjk-patch"/>
              </a:rPr>
              <a:t> If you have 10,000 customers and 9,800 unique emails, the ratio is 0.98 (very high)</a:t>
            </a:r>
          </a:p>
          <a:p>
            <a:pPr algn="l">
              <a:buFont typeface="Arial" panose="020B0604020202020204" pitchFamily="34" charset="0"/>
              <a:buChar char="•"/>
            </a:pPr>
            <a:r>
              <a:rPr lang="en-US" sz="1200" b="0" i="0" dirty="0">
                <a:solidFill>
                  <a:schemeClr val="bg1"/>
                </a:solidFill>
                <a:effectLst/>
                <a:latin typeface="quote-cjk-patch"/>
              </a:rPr>
              <a:t>If you have 10,000 orders but only 3 unique statuses, the ratio is 0.0003 (very low)</a:t>
            </a:r>
          </a:p>
          <a:p>
            <a:pPr algn="l">
              <a:buFont typeface="Arial" panose="020B0604020202020204" pitchFamily="34" charset="0"/>
              <a:buChar char="•"/>
            </a:pPr>
            <a:endParaRPr lang="en-US" sz="1200" b="0" i="0" dirty="0">
              <a:solidFill>
                <a:schemeClr val="bg1"/>
              </a:solidFill>
              <a:effectLst/>
              <a:latin typeface="quote-cjk-patch"/>
            </a:endParaRPr>
          </a:p>
          <a:p>
            <a:pPr algn="l">
              <a:buNone/>
            </a:pPr>
            <a:r>
              <a:rPr lang="en-US" sz="1200" b="1" dirty="0">
                <a:solidFill>
                  <a:schemeClr val="bg1"/>
                </a:solidFill>
                <a:effectLst/>
                <a:latin typeface="quote-cjk-patch"/>
              </a:rPr>
              <a:t>2. Degree of Cardinality</a:t>
            </a:r>
          </a:p>
          <a:p>
            <a:pPr algn="l">
              <a:buNone/>
            </a:pPr>
            <a:r>
              <a:rPr lang="en-US" sz="1200" b="0" i="0" dirty="0">
                <a:solidFill>
                  <a:schemeClr val="bg1"/>
                </a:solidFill>
                <a:effectLst/>
                <a:latin typeface="quote-cjk-patch"/>
              </a:rPr>
              <a:t>Descriptive terms based on the ratio:</a:t>
            </a:r>
          </a:p>
          <a:p>
            <a:pPr algn="l">
              <a:buFont typeface="Arial" panose="020B0604020202020204" pitchFamily="34" charset="0"/>
              <a:buChar char="•"/>
            </a:pPr>
            <a:r>
              <a:rPr lang="en-US" sz="1200" b="1" i="0" dirty="0">
                <a:solidFill>
                  <a:schemeClr val="bg1"/>
                </a:solidFill>
                <a:effectLst/>
                <a:latin typeface="quote-cjk-patch"/>
              </a:rPr>
              <a:t>High cardinality:</a:t>
            </a:r>
            <a:r>
              <a:rPr lang="en-US" sz="1200" b="0" i="0" dirty="0">
                <a:solidFill>
                  <a:schemeClr val="bg1"/>
                </a:solidFill>
                <a:effectLst/>
                <a:latin typeface="quote-cjk-patch"/>
              </a:rPr>
              <a:t> Ratio close to 1 (0.8 - 1.0) - like IDs, emails, usernames</a:t>
            </a:r>
          </a:p>
          <a:p>
            <a:pPr algn="l">
              <a:buFont typeface="Arial" panose="020B0604020202020204" pitchFamily="34" charset="0"/>
              <a:buChar char="•"/>
            </a:pPr>
            <a:r>
              <a:rPr lang="en-US" sz="1200" b="1" i="0" dirty="0">
                <a:solidFill>
                  <a:schemeClr val="bg1"/>
                </a:solidFill>
                <a:effectLst/>
                <a:latin typeface="quote-cjk-patch"/>
              </a:rPr>
              <a:t>Medium cardinality:</a:t>
            </a:r>
            <a:r>
              <a:rPr lang="en-US" sz="1200" b="0" i="0" dirty="0">
                <a:solidFill>
                  <a:schemeClr val="bg1"/>
                </a:solidFill>
                <a:effectLst/>
                <a:latin typeface="quote-cjk-patch"/>
              </a:rPr>
              <a:t> Ratio in the middle (0.2 - 0.7) - like ages, product categories</a:t>
            </a:r>
          </a:p>
          <a:p>
            <a:pPr algn="l">
              <a:buFont typeface="Arial" panose="020B0604020202020204" pitchFamily="34" charset="0"/>
              <a:buChar char="•"/>
            </a:pPr>
            <a:r>
              <a:rPr lang="en-US" sz="1200" b="1" i="0" dirty="0">
                <a:solidFill>
                  <a:schemeClr val="bg1"/>
                </a:solidFill>
                <a:effectLst/>
                <a:latin typeface="quote-cjk-patch"/>
              </a:rPr>
              <a:t>Low cardinality:</a:t>
            </a:r>
            <a:r>
              <a:rPr lang="en-US" sz="1200" b="0" i="0" dirty="0">
                <a:solidFill>
                  <a:schemeClr val="bg1"/>
                </a:solidFill>
                <a:effectLst/>
                <a:latin typeface="quote-cjk-patch"/>
              </a:rPr>
              <a:t> Ratio close to 0 (0.0 - 0.1) - like gender, status, </a:t>
            </a:r>
            <a:r>
              <a:rPr lang="en-US" sz="1200" b="0" i="0" dirty="0" err="1">
                <a:solidFill>
                  <a:schemeClr val="bg1"/>
                </a:solidFill>
                <a:effectLst/>
                <a:latin typeface="quote-cjk-patch"/>
              </a:rPr>
              <a:t>boolean</a:t>
            </a:r>
            <a:r>
              <a:rPr lang="en-US" sz="1200" b="0" i="0" dirty="0">
                <a:solidFill>
                  <a:schemeClr val="bg1"/>
                </a:solidFill>
                <a:effectLst/>
                <a:latin typeface="quote-cjk-patch"/>
              </a:rPr>
              <a:t> flags</a:t>
            </a:r>
          </a:p>
          <a:p>
            <a:pPr algn="l">
              <a:buFont typeface="Arial" panose="020B0604020202020204" pitchFamily="34" charset="0"/>
              <a:buChar char="•"/>
            </a:pPr>
            <a:endParaRPr lang="en-US" sz="1200" b="0" i="0" dirty="0">
              <a:solidFill>
                <a:schemeClr val="bg1"/>
              </a:solidFill>
              <a:effectLst/>
              <a:latin typeface="quote-cjk-patch"/>
            </a:endParaRPr>
          </a:p>
          <a:p>
            <a:pPr algn="l">
              <a:buNone/>
            </a:pPr>
            <a:r>
              <a:rPr lang="en-US" sz="1200" b="1" dirty="0">
                <a:solidFill>
                  <a:schemeClr val="bg1"/>
                </a:solidFill>
                <a:effectLst/>
                <a:latin typeface="quote-cjk-patch"/>
              </a:rPr>
              <a:t>3. Actual Count</a:t>
            </a:r>
          </a:p>
          <a:p>
            <a:pPr algn="l">
              <a:buNone/>
            </a:pPr>
            <a:r>
              <a:rPr lang="en-US" sz="1200" b="0" i="0" dirty="0">
                <a:solidFill>
                  <a:schemeClr val="bg1"/>
                </a:solidFill>
                <a:effectLst/>
                <a:latin typeface="quote-cjk-patch"/>
              </a:rPr>
              <a:t>Sometimes it's just described by the actual number of unique values:</a:t>
            </a:r>
          </a:p>
          <a:p>
            <a:pPr algn="l">
              <a:buFont typeface="Arial" panose="020B0604020202020204" pitchFamily="34" charset="0"/>
              <a:buChar char="•"/>
            </a:pPr>
            <a:r>
              <a:rPr lang="en-US" sz="1200" b="0" i="0" dirty="0">
                <a:solidFill>
                  <a:schemeClr val="bg1"/>
                </a:solidFill>
                <a:effectLst/>
                <a:latin typeface="quote-cjk-patch"/>
              </a:rPr>
              <a:t>"This column has cardinality of 12" (meaning 12 unique values)</a:t>
            </a:r>
          </a:p>
          <a:p>
            <a:pPr algn="l">
              <a:buFont typeface="Arial" panose="020B0604020202020204" pitchFamily="34" charset="0"/>
              <a:buChar char="•"/>
            </a:pPr>
            <a:r>
              <a:rPr lang="en-US" sz="1200" b="0" i="0" dirty="0">
                <a:solidFill>
                  <a:schemeClr val="bg1"/>
                </a:solidFill>
                <a:effectLst/>
                <a:latin typeface="quote-cjk-patch"/>
              </a:rPr>
              <a:t>"High cardinality field with 50,000 unique values“</a:t>
            </a:r>
          </a:p>
          <a:p>
            <a:pPr algn="l">
              <a:buFont typeface="Arial" panose="020B0604020202020204" pitchFamily="34" charset="0"/>
              <a:buChar char="•"/>
            </a:pPr>
            <a:endParaRPr lang="en-US" sz="1200" b="0" i="0" dirty="0">
              <a:solidFill>
                <a:schemeClr val="bg1"/>
              </a:solidFill>
              <a:effectLst/>
              <a:latin typeface="quote-cjk-patch"/>
            </a:endParaRPr>
          </a:p>
          <a:p>
            <a:pPr algn="l">
              <a:buNone/>
            </a:pPr>
            <a:r>
              <a:rPr lang="en-US" sz="1200" b="1" dirty="0">
                <a:solidFill>
                  <a:schemeClr val="bg1"/>
                </a:solidFill>
                <a:effectLst/>
                <a:latin typeface="quote-cjk-patch"/>
              </a:rPr>
              <a:t>4. Database Statistics</a:t>
            </a:r>
          </a:p>
          <a:p>
            <a:pPr algn="l">
              <a:buNone/>
            </a:pPr>
            <a:r>
              <a:rPr lang="en-US" sz="1200" b="0" i="0" dirty="0">
                <a:solidFill>
                  <a:schemeClr val="bg1"/>
                </a:solidFill>
                <a:effectLst/>
                <a:latin typeface="quote-cjk-patch"/>
              </a:rPr>
              <a:t>Most databases provide cardinality statistics in their query planners:</a:t>
            </a:r>
          </a:p>
          <a:p>
            <a:pPr algn="l">
              <a:buFont typeface="Arial" panose="020B0604020202020204" pitchFamily="34" charset="0"/>
              <a:buChar char="•"/>
            </a:pPr>
            <a:r>
              <a:rPr lang="en-US" sz="1200" b="0" i="0" dirty="0">
                <a:solidFill>
                  <a:schemeClr val="bg1"/>
                </a:solidFill>
                <a:effectLst/>
                <a:latin typeface="quote-cjk-patch"/>
              </a:rPr>
              <a:t>MongoDB: </a:t>
            </a:r>
            <a:r>
              <a:rPr lang="en-US" sz="1200" b="0" i="0" dirty="0" err="1">
                <a:solidFill>
                  <a:schemeClr val="bg1"/>
                </a:solidFill>
                <a:effectLst/>
                <a:latin typeface="Menlo"/>
              </a:rPr>
              <a:t>db.collection.stats</a:t>
            </a:r>
            <a:r>
              <a:rPr lang="en-US" sz="1200" b="0" i="0" dirty="0">
                <a:solidFill>
                  <a:schemeClr val="bg1"/>
                </a:solidFill>
                <a:effectLst/>
                <a:latin typeface="Menlo"/>
              </a:rPr>
              <a:t>()</a:t>
            </a:r>
            <a:r>
              <a:rPr lang="en-US" sz="1200" b="0" i="0" dirty="0">
                <a:solidFill>
                  <a:schemeClr val="bg1"/>
                </a:solidFill>
                <a:effectLst/>
                <a:latin typeface="quote-cjk-patch"/>
              </a:rPr>
              <a:t> shows index cardinality</a:t>
            </a:r>
          </a:p>
          <a:p>
            <a:pPr algn="l">
              <a:buFont typeface="Arial" panose="020B0604020202020204" pitchFamily="34" charset="0"/>
              <a:buChar char="•"/>
            </a:pPr>
            <a:r>
              <a:rPr lang="en-US" sz="1200" b="0" i="0" dirty="0">
                <a:solidFill>
                  <a:schemeClr val="bg1"/>
                </a:solidFill>
                <a:effectLst/>
                <a:latin typeface="quote-cjk-patch"/>
              </a:rPr>
              <a:t>MySQL: </a:t>
            </a:r>
            <a:r>
              <a:rPr lang="en-US" sz="1200" b="0" i="0" dirty="0">
                <a:solidFill>
                  <a:schemeClr val="bg1"/>
                </a:solidFill>
                <a:effectLst/>
                <a:latin typeface="Menlo"/>
              </a:rPr>
              <a:t>SHOW INDEX FROM table</a:t>
            </a:r>
            <a:r>
              <a:rPr lang="en-US" sz="1200" b="0" i="0" dirty="0">
                <a:solidFill>
                  <a:schemeClr val="bg1"/>
                </a:solidFill>
                <a:effectLst/>
                <a:latin typeface="quote-cjk-patch"/>
              </a:rPr>
              <a:t> shows "Cardinality" column</a:t>
            </a:r>
          </a:p>
          <a:p>
            <a:pPr algn="l">
              <a:buFont typeface="Arial" panose="020B0604020202020204" pitchFamily="34" charset="0"/>
              <a:buChar char="•"/>
            </a:pPr>
            <a:r>
              <a:rPr lang="en-US" sz="1200" b="0" i="0" dirty="0">
                <a:solidFill>
                  <a:schemeClr val="bg1"/>
                </a:solidFill>
                <a:effectLst/>
                <a:latin typeface="quote-cjk-patch"/>
              </a:rPr>
              <a:t>PostgreSQL: </a:t>
            </a:r>
            <a:r>
              <a:rPr lang="en-US" sz="1200" b="0" i="0" dirty="0" err="1">
                <a:solidFill>
                  <a:schemeClr val="bg1"/>
                </a:solidFill>
                <a:effectLst/>
                <a:latin typeface="Menlo"/>
              </a:rPr>
              <a:t>pg_stats</a:t>
            </a:r>
            <a:r>
              <a:rPr lang="en-US" sz="1200" b="0" i="0" dirty="0">
                <a:solidFill>
                  <a:schemeClr val="bg1"/>
                </a:solidFill>
                <a:effectLst/>
                <a:latin typeface="quote-cjk-patch"/>
              </a:rPr>
              <a:t> table shows </a:t>
            </a:r>
            <a:r>
              <a:rPr lang="en-US" sz="1200" b="0" i="0" dirty="0" err="1">
                <a:solidFill>
                  <a:schemeClr val="bg1"/>
                </a:solidFill>
                <a:effectLst/>
                <a:latin typeface="Menlo"/>
              </a:rPr>
              <a:t>n_distinct</a:t>
            </a:r>
            <a:r>
              <a:rPr lang="en-US" sz="1200" b="0" i="0" dirty="0">
                <a:solidFill>
                  <a:schemeClr val="bg1"/>
                </a:solidFill>
                <a:effectLst/>
                <a:latin typeface="quote-cjk-patch"/>
              </a:rPr>
              <a:t> values</a:t>
            </a:r>
          </a:p>
        </p:txBody>
      </p:sp>
    </p:spTree>
    <p:extLst>
      <p:ext uri="{BB962C8B-B14F-4D97-AF65-F5344CB8AC3E}">
        <p14:creationId xmlns:p14="http://schemas.microsoft.com/office/powerpoint/2010/main" val="20263430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0EB7F8-1973-65D2-E5BC-7F63CD92B3F0}"/>
              </a:ext>
            </a:extLst>
          </p:cNvPr>
          <p:cNvSpPr txBox="1"/>
          <p:nvPr/>
        </p:nvSpPr>
        <p:spPr>
          <a:xfrm>
            <a:off x="375314" y="482980"/>
            <a:ext cx="4954136" cy="1722651"/>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Compound</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Multi</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field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Index</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Category + Price (very common in ecommerce filters)</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category:</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price: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p:txBody>
      </p:sp>
    </p:spTree>
    <p:extLst>
      <p:ext uri="{BB962C8B-B14F-4D97-AF65-F5344CB8AC3E}">
        <p14:creationId xmlns:p14="http://schemas.microsoft.com/office/powerpoint/2010/main" val="42493771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CE082A-0188-BBFA-9D80-1C68CC39C4C2}"/>
              </a:ext>
            </a:extLst>
          </p:cNvPr>
          <p:cNvSpPr txBox="1"/>
          <p:nvPr/>
        </p:nvSpPr>
        <p:spPr>
          <a:xfrm>
            <a:off x="293427" y="270058"/>
            <a:ext cx="4954136" cy="3158942"/>
          </a:xfrm>
          <a:prstGeom prst="rect">
            <a:avLst/>
          </a:prstGeom>
          <a:noFill/>
        </p:spPr>
        <p:txBody>
          <a:bodyPr wrap="square">
            <a:spAutoFit/>
          </a:bodyPr>
          <a:lstStyle/>
          <a:p>
            <a:pPr>
              <a:lnSpc>
                <a:spcPts val="1425"/>
              </a:lnSpc>
              <a:buNone/>
            </a:pPr>
            <a:r>
              <a:rPr lang="en-US" b="0" dirty="0">
                <a:solidFill>
                  <a:srgbClr val="4EC9B0"/>
                </a:solidFill>
                <a:effectLst/>
                <a:latin typeface="Consolas" panose="020B0609020204030204" pitchFamily="49" charset="0"/>
              </a:rPr>
              <a:t>Text</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Full</a:t>
            </a:r>
            <a:r>
              <a:rPr lang="en-US" b="0" dirty="0">
                <a:solidFill>
                  <a:srgbClr val="D4D4D4"/>
                </a:solidFill>
                <a:effectLst/>
                <a:latin typeface="Consolas" panose="020B0609020204030204" pitchFamily="49" charset="0"/>
              </a:rPr>
              <a:t>-</a:t>
            </a:r>
            <a:r>
              <a:rPr lang="en-US" b="0" dirty="0">
                <a:solidFill>
                  <a:srgbClr val="4EC9B0"/>
                </a:solidFill>
                <a:effectLst/>
                <a:latin typeface="Consolas" panose="020B0609020204030204" pitchFamily="49" charset="0"/>
              </a:rPr>
              <a:t>Text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Search</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name:</a:t>
            </a:r>
            <a:r>
              <a:rPr lang="en-US" b="0" dirty="0" err="1">
                <a:solidFill>
                  <a:srgbClr val="CE9178"/>
                </a:solidFill>
                <a:effectLst/>
                <a:latin typeface="Consolas" panose="020B0609020204030204" pitchFamily="49" charset="0"/>
              </a:rPr>
              <a:t>"text</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description:</a:t>
            </a:r>
            <a:r>
              <a:rPr lang="en-US" b="0" dirty="0" err="1">
                <a:solidFill>
                  <a:srgbClr val="CE9178"/>
                </a:solidFill>
                <a:effectLst/>
                <a:latin typeface="Consolas" panose="020B0609020204030204" pitchFamily="49" charset="0"/>
              </a:rPr>
              <a:t>"text</a:t>
            </a:r>
            <a:r>
              <a:rPr lang="en-US" b="0" dirty="0">
                <a:solidFill>
                  <a:srgbClr val="CE9178"/>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$text: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$search:</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"electronics premium"</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2279331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B2CE90-A382-4DFA-BDC0-ADD2AFF14BDC}"/>
              </a:ext>
            </a:extLst>
          </p:cNvPr>
          <p:cNvSpPr txBox="1"/>
          <p:nvPr/>
        </p:nvSpPr>
        <p:spPr>
          <a:xfrm>
            <a:off x="511792" y="312281"/>
            <a:ext cx="4954136" cy="4056623"/>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Geospatial</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Index</a:t>
            </a:r>
            <a:r>
              <a:rPr lang="en-US" b="0" dirty="0">
                <a:solidFill>
                  <a:srgbClr val="D4D4D4"/>
                </a:solidFill>
                <a:effectLst/>
                <a:latin typeface="Consolas" panose="020B0609020204030204" pitchFamily="49" charset="0"/>
              </a:rPr>
              <a:t> (2</a:t>
            </a:r>
            <a:r>
              <a:rPr lang="en-US" b="0" dirty="0">
                <a:solidFill>
                  <a:srgbClr val="9CDCFE"/>
                </a:solidFill>
                <a:effectLst/>
                <a:latin typeface="Consolas" panose="020B0609020204030204" pitchFamily="49" charset="0"/>
              </a:rPr>
              <a:t>dsphere</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"location.coordinates"</a:t>
            </a:r>
            <a:r>
              <a:rPr lang="en-US" b="0" dirty="0">
                <a:solidFill>
                  <a:srgbClr val="9CDCFE"/>
                </a:solidFill>
                <a:effectLst/>
                <a:latin typeface="Consolas" panose="020B0609020204030204" pitchFamily="49" charset="0"/>
              </a:rPr>
              <a:t>:</a:t>
            </a:r>
            <a:r>
              <a:rPr lang="en-US" b="0" dirty="0">
                <a:solidFill>
                  <a:srgbClr val="CE9178"/>
                </a:solidFill>
                <a:effectLst/>
                <a:latin typeface="Consolas" panose="020B0609020204030204" pitchFamily="49" charset="0"/>
              </a:rPr>
              <a:t>"2dsphere"</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location:</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$near:</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$geometry:</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"Point"</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coordinates:</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74.0060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40.7128</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maxDistance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5000000</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48224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56E165-D486-45B5-1E83-6E3F34C2A268}"/>
              </a:ext>
            </a:extLst>
          </p:cNvPr>
          <p:cNvSpPr txBox="1"/>
          <p:nvPr/>
        </p:nvSpPr>
        <p:spPr>
          <a:xfrm>
            <a:off x="402610" y="485094"/>
            <a:ext cx="4954136" cy="1363578"/>
          </a:xfrm>
          <a:prstGeom prst="rect">
            <a:avLst/>
          </a:prstGeom>
          <a:noFill/>
        </p:spPr>
        <p:txBody>
          <a:bodyPr wrap="square">
            <a:spAutoFit/>
          </a:bodyPr>
          <a:lstStyle/>
          <a:p>
            <a:pPr>
              <a:lnSpc>
                <a:spcPts val="1425"/>
              </a:lnSpc>
              <a:buNone/>
            </a:pPr>
            <a:r>
              <a:rPr lang="en-US" b="0" dirty="0">
                <a:solidFill>
                  <a:srgbClr val="C8C8C8"/>
                </a:solidFill>
                <a:effectLst/>
                <a:latin typeface="Consolas" panose="020B0609020204030204" pitchFamily="49" charset="0"/>
              </a:rPr>
              <a:t>Concept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Prevent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duplicate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values</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email:</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unique: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9824342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EDA87C-154F-3B47-79F3-7E7AA1892E37}"/>
              </a:ext>
            </a:extLst>
          </p:cNvPr>
          <p:cNvSpPr txBox="1"/>
          <p:nvPr/>
        </p:nvSpPr>
        <p:spPr>
          <a:xfrm>
            <a:off x="293428" y="262499"/>
            <a:ext cx="4954136" cy="2081724"/>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Sparse</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Index</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brand:</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sparse: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Useful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when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some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not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have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field</a:t>
            </a: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211495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FCCA0C-9415-1885-E61E-08A01D3600AE}"/>
              </a:ext>
            </a:extLst>
          </p:cNvPr>
          <p:cNvSpPr txBox="1"/>
          <p:nvPr/>
        </p:nvSpPr>
        <p:spPr>
          <a:xfrm>
            <a:off x="191067" y="279594"/>
            <a:ext cx="9348717" cy="6390596"/>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Partial</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Index</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8C8C8"/>
                </a:solidFill>
                <a:effectLst/>
                <a:latin typeface="Consolas" panose="020B0609020204030204" pitchFamily="49" charset="0"/>
              </a:rPr>
              <a:t>Concept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only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filtered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documents</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partialFilterExpression</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"delivered"</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Only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where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"delivered"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will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stored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inside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index</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So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instead</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indexing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all</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300</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MongoDB</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might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only</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80</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delivered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orders</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This</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saves</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Memory</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Disk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space</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Faster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scans</a:t>
            </a:r>
            <a:endParaRPr lang="en-US" b="0" dirty="0">
              <a:solidFill>
                <a:srgbClr val="D4D4D4"/>
              </a:solidFill>
              <a:effectLst/>
              <a:latin typeface="Consolas" panose="020B0609020204030204" pitchFamily="49" charset="0"/>
            </a:endParaRP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"delivered"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500</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2966014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604DDF-00F7-293E-B0F4-61B127506A57}"/>
              </a:ext>
            </a:extLst>
          </p:cNvPr>
          <p:cNvSpPr txBox="1"/>
          <p:nvPr/>
        </p:nvSpPr>
        <p:spPr>
          <a:xfrm>
            <a:off x="375313" y="398977"/>
            <a:ext cx="4954136" cy="2081724"/>
          </a:xfrm>
          <a:prstGeom prst="rect">
            <a:avLst/>
          </a:prstGeom>
          <a:noFill/>
        </p:spPr>
        <p:txBody>
          <a:bodyPr wrap="square">
            <a:spAutoFit/>
          </a:bodyPr>
          <a:lstStyle/>
          <a:p>
            <a:pPr>
              <a:lnSpc>
                <a:spcPts val="1425"/>
              </a:lnSpc>
              <a:buNone/>
            </a:pPr>
            <a:r>
              <a:rPr lang="en-US" b="0" dirty="0">
                <a:solidFill>
                  <a:srgbClr val="4FC1FF"/>
                </a:solidFill>
                <a:effectLst/>
                <a:latin typeface="Consolas" panose="020B0609020204030204" pitchFamily="49" charset="0"/>
              </a:rPr>
              <a:t>TTL</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Live</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Auto</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delete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after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donations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donatedAt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expireAfterSeconds</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31536000</a:t>
            </a:r>
            <a:r>
              <a:rPr lang="en-US" b="0" dirty="0">
                <a:solidFill>
                  <a:srgbClr val="D4D4D4"/>
                </a:solidFill>
                <a:effectLst/>
                <a:latin typeface="Consolas" panose="020B0609020204030204" pitchFamily="49" charset="0"/>
              </a:rPr>
              <a:t> } </a:t>
            </a:r>
            <a:r>
              <a:rPr lang="en-US" b="0" dirty="0">
                <a:solidFill>
                  <a:srgbClr val="6A9955"/>
                </a:solidFill>
                <a:effectLst/>
                <a:latin typeface="Consolas" panose="020B0609020204030204" pitchFamily="49" charset="0"/>
              </a:rPr>
              <a:t>// 1 year</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894340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8CCC94-F282-BDA7-51B8-954881F7BA07}"/>
              </a:ext>
            </a:extLst>
          </p:cNvPr>
          <p:cNvSpPr txBox="1"/>
          <p:nvPr/>
        </p:nvSpPr>
        <p:spPr>
          <a:xfrm>
            <a:off x="511791" y="539685"/>
            <a:ext cx="4954136" cy="1363578"/>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Best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equality</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search</a:t>
            </a:r>
            <a:r>
              <a:rPr lang="en-US" b="0" dirty="0">
                <a:solidFill>
                  <a:srgbClr val="D4D4D4"/>
                </a:solidFill>
                <a:effectLst/>
                <a:latin typeface="Consolas" panose="020B0609020204030204" pitchFamily="49" charset="0"/>
              </a:rPr>
              <a:t> (</a:t>
            </a:r>
            <a:r>
              <a:rPr lang="en-US" b="0" dirty="0">
                <a:solidFill>
                  <a:srgbClr val="4FC1FF"/>
                </a:solidFill>
                <a:effectLst/>
                <a:latin typeface="Consolas" panose="020B0609020204030204" pitchFamily="49" charset="0"/>
              </a:rPr>
              <a:t>NOT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range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queries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customerId</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"hashed"</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1643242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A1015F-F6DE-53FE-6526-CCA935AE7A40}"/>
              </a:ext>
            </a:extLst>
          </p:cNvPr>
          <p:cNvSpPr txBox="1"/>
          <p:nvPr/>
        </p:nvSpPr>
        <p:spPr>
          <a:xfrm>
            <a:off x="402609" y="408394"/>
            <a:ext cx="4954136" cy="2799869"/>
          </a:xfrm>
          <a:prstGeom prst="rect">
            <a:avLst/>
          </a:prstGeom>
          <a:noFill/>
        </p:spPr>
        <p:txBody>
          <a:bodyPr wrap="square">
            <a:spAutoFit/>
          </a:bodyPr>
          <a:lstStyle/>
          <a:p>
            <a:pPr>
              <a:lnSpc>
                <a:spcPts val="1425"/>
              </a:lnSpc>
              <a:buNone/>
            </a:pPr>
            <a:r>
              <a:rPr lang="en-US" b="0" dirty="0">
                <a:solidFill>
                  <a:srgbClr val="4EC9B0"/>
                </a:solidFill>
                <a:effectLst/>
                <a:latin typeface="Consolas" panose="020B0609020204030204" pitchFamily="49" charset="0"/>
              </a:rPr>
              <a:t>Array</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Index</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reviews.rating</a:t>
            </a:r>
            <a:r>
              <a:rPr lang="en-US" b="0" dirty="0">
                <a:solidFill>
                  <a:srgbClr val="CE9178"/>
                </a:solidFill>
                <a:effectLst/>
                <a:latin typeface="Consolas" panose="020B0609020204030204" pitchFamily="49" charset="0"/>
              </a:rPr>
              <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reviews.rating</a:t>
            </a:r>
            <a:r>
              <a:rPr lang="en-US" b="0" dirty="0">
                <a:solidFill>
                  <a:srgbClr val="CE9178"/>
                </a:solidFill>
                <a:effectLst/>
                <a:latin typeface="Consolas" panose="020B0609020204030204" pitchFamily="49" charset="0"/>
              </a:rPr>
              <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gte</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9809076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70839CD-A8D6-659E-CE06-AA1A94CE55F5}"/>
              </a:ext>
            </a:extLst>
          </p:cNvPr>
          <p:cNvSpPr txBox="1"/>
          <p:nvPr/>
        </p:nvSpPr>
        <p:spPr>
          <a:xfrm>
            <a:off x="348018" y="447802"/>
            <a:ext cx="4954136" cy="1902187"/>
          </a:xfrm>
          <a:prstGeom prst="rect">
            <a:avLst/>
          </a:prstGeom>
          <a:noFill/>
        </p:spPr>
        <p:txBody>
          <a:bodyPr wrap="square">
            <a:spAutoFit/>
          </a:bodyPr>
          <a:lstStyle/>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"delivered"</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explain</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executionStats</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Before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index</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COLLSCAN</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After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index</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IXSCAN</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products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getIndexes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0298206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927CF1-44A4-7F9C-B896-E3AE8DE04105}"/>
              </a:ext>
            </a:extLst>
          </p:cNvPr>
          <p:cNvSpPr txBox="1"/>
          <p:nvPr/>
        </p:nvSpPr>
        <p:spPr>
          <a:xfrm>
            <a:off x="342333" y="732255"/>
            <a:ext cx="5621740" cy="5672450"/>
          </a:xfrm>
          <a:prstGeom prst="rect">
            <a:avLst/>
          </a:prstGeom>
          <a:noFill/>
        </p:spPr>
        <p:txBody>
          <a:bodyPr wrap="square">
            <a:spAutoFit/>
          </a:bodyPr>
          <a:lstStyle/>
          <a:p>
            <a:pPr>
              <a:lnSpc>
                <a:spcPts val="1425"/>
              </a:lnSpc>
              <a:buNone/>
            </a:pPr>
            <a:r>
              <a:rPr lang="en-US" b="0" dirty="0">
                <a:solidFill>
                  <a:srgbClr val="569CD6"/>
                </a:solidFill>
                <a:effectLst/>
                <a:latin typeface="Consolas" panose="020B0609020204030204" pitchFamily="49" charset="0"/>
              </a:rPr>
              <a:t>const</a:t>
            </a:r>
            <a:r>
              <a:rPr lang="en-US" b="0" dirty="0">
                <a:solidFill>
                  <a:srgbClr val="D4D4D4"/>
                </a:solidFill>
                <a:effectLst/>
                <a:latin typeface="Consolas" panose="020B0609020204030204" pitchFamily="49" charset="0"/>
              </a:rPr>
              <a:t> { </a:t>
            </a:r>
            <a:r>
              <a:rPr lang="en-US" b="0" dirty="0" err="1">
                <a:solidFill>
                  <a:srgbClr val="4EC9B0"/>
                </a:solidFill>
                <a:effectLst/>
                <a:latin typeface="Consolas" panose="020B0609020204030204" pitchFamily="49" charset="0"/>
              </a:rPr>
              <a:t>PureComponent</a:t>
            </a:r>
            <a:r>
              <a:rPr lang="en-US" b="0" dirty="0">
                <a:solidFill>
                  <a:srgbClr val="D4D4D4"/>
                </a:solidFill>
                <a:effectLst/>
                <a:latin typeface="Consolas" panose="020B0609020204030204" pitchFamily="49" charset="0"/>
              </a:rPr>
              <a:t> } = </a:t>
            </a:r>
            <a:r>
              <a:rPr lang="en-US" b="0" dirty="0">
                <a:solidFill>
                  <a:srgbClr val="DCDCAA"/>
                </a:solidFill>
                <a:effectLst/>
                <a:latin typeface="Consolas" panose="020B0609020204030204" pitchFamily="49" charset="0"/>
              </a:rPr>
              <a:t>require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"react"</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C8C8C8"/>
                </a:solidFill>
                <a:effectLst/>
                <a:latin typeface="Consolas" panose="020B0609020204030204" pitchFamily="49" charset="0"/>
              </a:rPr>
              <a:t>Cardinality</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High</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Cardinality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email</a:t>
            </a:r>
            <a:r>
              <a:rPr lang="en-US" b="0" dirty="0">
                <a:solidFill>
                  <a:srgbClr val="D4D4D4"/>
                </a:solidFill>
                <a:effectLst/>
                <a:latin typeface="Consolas" panose="020B0609020204030204" pitchFamily="49" charset="0"/>
              </a:rPr>
              <a:t>):</a:t>
            </a: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customers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email:</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email1</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Address1</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email2</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Address2</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email3</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Address3</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email4</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Address4</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Many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keys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almost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duplicates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Low</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Cardinality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orders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createIndex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delivered</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A1</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A3</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A8</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A15</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pending</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A2</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A9</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cancelled</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A4</a:t>
            </a:r>
            <a:r>
              <a:rPr lang="en-US" b="0" dirty="0">
                <a:solidFill>
                  <a:srgbClr val="D4D4D4"/>
                </a:solidFill>
                <a:effectLst/>
                <a:latin typeface="Consolas" panose="020B0609020204030204" pitchFamily="49" charset="0"/>
              </a:rPr>
              <a:t> → </a:t>
            </a:r>
            <a:r>
              <a:rPr lang="en-US" b="0" dirty="0">
                <a:solidFill>
                  <a:srgbClr val="4FC1FF"/>
                </a:solidFill>
                <a:effectLst/>
                <a:latin typeface="Consolas" panose="020B0609020204030204" pitchFamily="49" charset="0"/>
              </a:rPr>
              <a:t>A10</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
        <p:nvSpPr>
          <p:cNvPr id="5" name="TextBox 4">
            <a:extLst>
              <a:ext uri="{FF2B5EF4-FFF2-40B4-BE49-F238E27FC236}">
                <a16:creationId xmlns:a16="http://schemas.microsoft.com/office/drawing/2014/main" id="{B5E4A755-AA26-395F-1599-273DFF93D6AF}"/>
              </a:ext>
            </a:extLst>
          </p:cNvPr>
          <p:cNvSpPr txBox="1"/>
          <p:nvPr/>
        </p:nvSpPr>
        <p:spPr>
          <a:xfrm>
            <a:off x="6465627" y="2075127"/>
            <a:ext cx="5124734" cy="4056623"/>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 Abhishek, 36, Mumbai</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Sonu, 23, Delhi</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Vikas, 44, Pune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Mohit, 56, Mumbai</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Amit, 12, Delhi </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Abhishek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Amit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Sonu</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Vikas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Mohit</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Delhi, 12  = Address 1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Delhi, 23  = Address 2</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Mumbai, 36 = Address 3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Mumbai, 56 = Address 4</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Pune, 44   = Address 5</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537445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66BA1C-F296-0B2E-19F5-1041966DA9CF}"/>
              </a:ext>
            </a:extLst>
          </p:cNvPr>
          <p:cNvSpPr txBox="1"/>
          <p:nvPr/>
        </p:nvSpPr>
        <p:spPr>
          <a:xfrm>
            <a:off x="300250" y="286603"/>
            <a:ext cx="2002471" cy="369332"/>
          </a:xfrm>
          <a:prstGeom prst="rect">
            <a:avLst/>
          </a:prstGeom>
          <a:noFill/>
        </p:spPr>
        <p:txBody>
          <a:bodyPr wrap="none" rtlCol="0">
            <a:spAutoFit/>
          </a:bodyPr>
          <a:lstStyle/>
          <a:p>
            <a:pPr algn="l">
              <a:spcBef>
                <a:spcPts val="1200"/>
              </a:spcBef>
              <a:spcAft>
                <a:spcPts val="1200"/>
              </a:spcAft>
              <a:buNone/>
            </a:pPr>
            <a:r>
              <a:rPr lang="en-US" b="1" i="0" dirty="0">
                <a:solidFill>
                  <a:srgbClr val="FFFF00"/>
                </a:solidFill>
                <a:effectLst/>
                <a:latin typeface="quote-cjk-patch"/>
              </a:rPr>
              <a:t>Capped Collections</a:t>
            </a:r>
          </a:p>
        </p:txBody>
      </p:sp>
    </p:spTree>
    <p:extLst>
      <p:ext uri="{BB962C8B-B14F-4D97-AF65-F5344CB8AC3E}">
        <p14:creationId xmlns:p14="http://schemas.microsoft.com/office/powerpoint/2010/main" val="42684021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8EEF61-B36D-6189-0AB7-2A49A1CD5DF1}"/>
              </a:ext>
            </a:extLst>
          </p:cNvPr>
          <p:cNvSpPr txBox="1"/>
          <p:nvPr/>
        </p:nvSpPr>
        <p:spPr>
          <a:xfrm>
            <a:off x="173484" y="174546"/>
            <a:ext cx="5937170" cy="3693319"/>
          </a:xfrm>
          <a:prstGeom prst="rect">
            <a:avLst/>
          </a:prstGeom>
          <a:noFill/>
        </p:spPr>
        <p:txBody>
          <a:bodyPr wrap="square">
            <a:spAutoFit/>
          </a:bodyPr>
          <a:lstStyle/>
          <a:p>
            <a:r>
              <a:rPr lang="en-US" dirty="0">
                <a:solidFill>
                  <a:schemeClr val="bg1"/>
                </a:solidFill>
              </a:rPr>
              <a:t>1) A capped collection is a fixed-size collection that automatically overwrites the oldest documents when it reaches the maximum size.</a:t>
            </a:r>
          </a:p>
          <a:p>
            <a:endParaRPr lang="en-US" dirty="0">
              <a:solidFill>
                <a:schemeClr val="bg1"/>
              </a:solidFill>
            </a:endParaRPr>
          </a:p>
          <a:p>
            <a:r>
              <a:rPr lang="en-US" dirty="0">
                <a:solidFill>
                  <a:schemeClr val="bg1"/>
                </a:solidFill>
              </a:rPr>
              <a:t>2) Insertion order is preserved (first-in-first-out, FIFO).</a:t>
            </a:r>
          </a:p>
          <a:p>
            <a:endParaRPr lang="en-US" dirty="0">
              <a:solidFill>
                <a:schemeClr val="bg1"/>
              </a:solidFill>
            </a:endParaRPr>
          </a:p>
          <a:p>
            <a:r>
              <a:rPr lang="en-US" dirty="0">
                <a:solidFill>
                  <a:schemeClr val="bg1"/>
                </a:solidFill>
              </a:rPr>
              <a:t>3) It's very fast because MongoDB allocates a fixed amount of space at creation — no reallocations needed.</a:t>
            </a:r>
          </a:p>
          <a:p>
            <a:endParaRPr lang="en-US" dirty="0">
              <a:solidFill>
                <a:schemeClr val="bg1"/>
              </a:solidFill>
            </a:endParaRPr>
          </a:p>
          <a:p>
            <a:r>
              <a:rPr lang="en-US" dirty="0">
                <a:solidFill>
                  <a:schemeClr val="bg1"/>
                </a:solidFill>
              </a:rPr>
              <a:t>4) No document deletion allowed manually (unless the whole collection is dropped).</a:t>
            </a:r>
          </a:p>
          <a:p>
            <a:endParaRPr lang="en-US" dirty="0">
              <a:solidFill>
                <a:schemeClr val="bg1"/>
              </a:solidFill>
            </a:endParaRPr>
          </a:p>
          <a:p>
            <a:r>
              <a:rPr lang="en-US" dirty="0">
                <a:solidFill>
                  <a:schemeClr val="bg1"/>
                </a:solidFill>
              </a:rPr>
              <a:t>5) Use case: Ideal for things like logs</a:t>
            </a:r>
          </a:p>
        </p:txBody>
      </p:sp>
    </p:spTree>
    <p:extLst>
      <p:ext uri="{BB962C8B-B14F-4D97-AF65-F5344CB8AC3E}">
        <p14:creationId xmlns:p14="http://schemas.microsoft.com/office/powerpoint/2010/main" val="40776458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93CB9E-0278-6933-234A-7C520880BF52}"/>
              </a:ext>
            </a:extLst>
          </p:cNvPr>
          <p:cNvSpPr txBox="1"/>
          <p:nvPr/>
        </p:nvSpPr>
        <p:spPr>
          <a:xfrm>
            <a:off x="464024" y="323470"/>
            <a:ext cx="6735169" cy="6211059"/>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Creating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capped</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createCollection</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eventLogs</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capped:</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size:</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1024</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1024</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1 MB</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max:</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optional: max 5 documents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CDCAA"/>
                </a:solidFill>
                <a:effectLst/>
                <a:latin typeface="Consolas" panose="020B0609020204030204" pitchFamily="49" charset="0"/>
              </a:rPr>
              <a:t>max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optional</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=&gt;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maximum</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number</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documents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Mongo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will</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stop</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inserting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size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max</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both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reached</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Real</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Life</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Example</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Imagine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you</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building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server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monitoring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app</a:t>
            </a:r>
            <a:r>
              <a:rPr lang="en-US" b="0" dirty="0">
                <a:solidFill>
                  <a:srgbClr val="D4D4D4"/>
                </a:solidFill>
                <a:effectLst/>
                <a:latin typeface="Consolas" panose="020B0609020204030204" pitchFamily="49" charset="0"/>
              </a:rPr>
              <a:t>. </a:t>
            </a:r>
          </a:p>
          <a:p>
            <a:pPr>
              <a:lnSpc>
                <a:spcPts val="1425"/>
              </a:lnSpc>
              <a:buNone/>
            </a:pPr>
            <a:r>
              <a:rPr lang="en-US" b="0" dirty="0">
                <a:solidFill>
                  <a:srgbClr val="9CDCFE"/>
                </a:solidFill>
                <a:effectLst/>
                <a:latin typeface="Consolas" panose="020B0609020204030204" pitchFamily="49" charset="0"/>
              </a:rPr>
              <a:t>You</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want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store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only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latest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1000</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server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events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save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disk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space</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Important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Notes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No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deletion</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specific</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documents</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No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resizing</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documents</a:t>
            </a:r>
            <a:r>
              <a:rPr lang="en-US" b="0" dirty="0">
                <a:solidFill>
                  <a:srgbClr val="D4D4D4"/>
                </a:solidFill>
                <a:effectLst/>
                <a:latin typeface="Consolas" panose="020B0609020204030204" pitchFamily="49" charset="0"/>
              </a:rPr>
              <a:t>.</a:t>
            </a:r>
          </a:p>
          <a:p>
            <a:pPr>
              <a:lnSpc>
                <a:spcPts val="1425"/>
              </a:lnSpc>
              <a:buNone/>
            </a:pPr>
            <a:r>
              <a:rPr lang="en-US" b="0" dirty="0">
                <a:solidFill>
                  <a:srgbClr val="9CDCFE"/>
                </a:solidFill>
                <a:effectLst/>
                <a:latin typeface="Consolas" panose="020B0609020204030204" pitchFamily="49" charset="0"/>
              </a:rPr>
              <a:t>Good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logging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real</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data</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5282200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A15A4C-FC13-73E1-7350-5D147866CD1B}"/>
              </a:ext>
            </a:extLst>
          </p:cNvPr>
          <p:cNvSpPr txBox="1"/>
          <p:nvPr/>
        </p:nvSpPr>
        <p:spPr>
          <a:xfrm>
            <a:off x="368490" y="1314332"/>
            <a:ext cx="7062715" cy="3158942"/>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Insert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Capped</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eventLogs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insertMany</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event: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user_login</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event: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user_logout</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event: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user_session_expired</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event: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user_session_renewed</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event: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user_access_denied</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eventLogs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insertOne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event: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login_error</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new</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250078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1DE769-FA0C-D474-F2FB-3897601FBB5B}"/>
              </a:ext>
            </a:extLst>
          </p:cNvPr>
          <p:cNvSpPr txBox="1"/>
          <p:nvPr/>
        </p:nvSpPr>
        <p:spPr>
          <a:xfrm>
            <a:off x="470848" y="590626"/>
            <a:ext cx="4954136" cy="824969"/>
          </a:xfrm>
          <a:prstGeom prst="rect">
            <a:avLst/>
          </a:prstGeom>
          <a:noFill/>
        </p:spPr>
        <p:txBody>
          <a:bodyPr wrap="square">
            <a:spAutoFit/>
          </a:bodyPr>
          <a:lstStyle/>
          <a:p>
            <a:pPr>
              <a:lnSpc>
                <a:spcPts val="1425"/>
              </a:lnSpc>
              <a:buNone/>
            </a:pPr>
            <a:r>
              <a:rPr lang="en-US" b="0" dirty="0">
                <a:solidFill>
                  <a:srgbClr val="9CDCFE"/>
                </a:solidFill>
                <a:effectLst/>
                <a:latin typeface="Consolas" panose="020B0609020204030204" pitchFamily="49" charset="0"/>
              </a:rPr>
              <a:t>Checking</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is</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Capped</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eventLogs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isCapped</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7630640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BB39B0-33AD-4AA7-C493-2367CE8D0317}"/>
              </a:ext>
            </a:extLst>
          </p:cNvPr>
          <p:cNvSpPr txBox="1"/>
          <p:nvPr/>
        </p:nvSpPr>
        <p:spPr>
          <a:xfrm>
            <a:off x="375313" y="279218"/>
            <a:ext cx="9055289" cy="1696234"/>
          </a:xfrm>
          <a:prstGeom prst="rect">
            <a:avLst/>
          </a:prstGeom>
          <a:noFill/>
        </p:spPr>
        <p:txBody>
          <a:bodyPr wrap="square">
            <a:spAutoFit/>
          </a:bodyPr>
          <a:lstStyle/>
          <a:p>
            <a:pPr>
              <a:lnSpc>
                <a:spcPts val="1425"/>
              </a:lnSpc>
              <a:buNone/>
            </a:pPr>
            <a:r>
              <a:rPr lang="en-US" sz="1000" b="0" dirty="0">
                <a:solidFill>
                  <a:srgbClr val="D4D4D4"/>
                </a:solidFill>
                <a:effectLst/>
                <a:latin typeface="Consolas" panose="020B0609020204030204" pitchFamily="49" charset="0"/>
              </a:rPr>
              <a:t>Compare </a:t>
            </a:r>
            <a:r>
              <a:rPr lang="en-US" sz="1000" b="0" dirty="0">
                <a:solidFill>
                  <a:srgbClr val="C586C0"/>
                </a:solidFill>
                <a:effectLst/>
                <a:latin typeface="Consolas" panose="020B0609020204030204" pitchFamily="49" charset="0"/>
              </a:rPr>
              <a:t>with</a:t>
            </a:r>
            <a:r>
              <a:rPr lang="en-US" sz="1000" b="0" dirty="0">
                <a:solidFill>
                  <a:srgbClr val="D4D4D4"/>
                </a:solidFill>
                <a:effectLst/>
                <a:latin typeface="Consolas" panose="020B0609020204030204" pitchFamily="49" charset="0"/>
              </a:rPr>
              <a:t> a Normal Collection</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D4D4D4"/>
                </a:solidFill>
                <a:effectLst/>
                <a:latin typeface="Consolas" panose="020B0609020204030204" pitchFamily="49" charset="0"/>
              </a:rPr>
              <a:t>Normal Collection                                     </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Capped Collection</a:t>
            </a:r>
          </a:p>
          <a:p>
            <a:pPr>
              <a:lnSpc>
                <a:spcPts val="1425"/>
              </a:lnSpc>
              <a:buNone/>
            </a:pP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pPr>
              <a:lnSpc>
                <a:spcPts val="1425"/>
              </a:lnSpc>
              <a:buNone/>
            </a:pPr>
            <a:r>
              <a:rPr lang="en-US" sz="1000" b="0" dirty="0">
                <a:solidFill>
                  <a:srgbClr val="B5CEA8"/>
                </a:solidFill>
                <a:effectLst/>
                <a:latin typeface="Consolas" panose="020B0609020204030204" pitchFamily="49" charset="0"/>
              </a:rPr>
              <a:t>1</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Needs </a:t>
            </a:r>
            <a:r>
              <a:rPr lang="en-US" sz="1000" b="0" dirty="0">
                <a:solidFill>
                  <a:srgbClr val="569CD6"/>
                </a:solidFill>
                <a:effectLst/>
                <a:latin typeface="Consolas" panose="020B0609020204030204" pitchFamily="49" charset="0"/>
              </a:rPr>
              <a:t>to</a:t>
            </a:r>
            <a:r>
              <a:rPr lang="en-US" sz="1000" b="0" dirty="0">
                <a:solidFill>
                  <a:srgbClr val="D4D4D4"/>
                </a:solidFill>
                <a:effectLst/>
                <a:latin typeface="Consolas" panose="020B0609020204030204" pitchFamily="49" charset="0"/>
              </a:rPr>
              <a:t> find free space </a:t>
            </a:r>
            <a:r>
              <a:rPr lang="en-US" sz="1000" b="0" dirty="0">
                <a:solidFill>
                  <a:srgbClr val="C586C0"/>
                </a:solidFill>
                <a:effectLst/>
                <a:latin typeface="Consolas" panose="020B0609020204030204" pitchFamily="49" charset="0"/>
              </a:rPr>
              <a:t>for</a:t>
            </a:r>
            <a:r>
              <a:rPr lang="en-US" sz="1000" b="0" dirty="0">
                <a:solidFill>
                  <a:srgbClr val="D4D4D4"/>
                </a:solidFill>
                <a:effectLst/>
                <a:latin typeface="Consolas" panose="020B0609020204030204" pitchFamily="49" charset="0"/>
              </a:rPr>
              <a:t> insert                </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Already has reserved space</a:t>
            </a:r>
          </a:p>
          <a:p>
            <a:pPr>
              <a:lnSpc>
                <a:spcPts val="1425"/>
              </a:lnSpc>
              <a:buNone/>
            </a:pPr>
            <a:r>
              <a:rPr lang="en-US" sz="1000" b="0" dirty="0">
                <a:solidFill>
                  <a:srgbClr val="B5CEA8"/>
                </a:solidFill>
                <a:effectLst/>
                <a:latin typeface="Consolas" panose="020B0609020204030204" pitchFamily="49" charset="0"/>
              </a:rPr>
              <a:t>2</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May need </a:t>
            </a:r>
            <a:r>
              <a:rPr lang="en-US" sz="1000" b="0" dirty="0">
                <a:solidFill>
                  <a:srgbClr val="569CD6"/>
                </a:solidFill>
                <a:effectLst/>
                <a:latin typeface="Consolas" panose="020B0609020204030204" pitchFamily="49" charset="0"/>
              </a:rPr>
              <a:t>to</a:t>
            </a:r>
            <a:r>
              <a:rPr lang="en-US" sz="1000" b="0" dirty="0">
                <a:solidFill>
                  <a:srgbClr val="D4D4D4"/>
                </a:solidFill>
                <a:effectLst/>
                <a:latin typeface="Consolas" panose="020B0609020204030204" pitchFamily="49" charset="0"/>
              </a:rPr>
              <a:t> rearrange </a:t>
            </a:r>
            <a:r>
              <a:rPr lang="en-US" sz="1000" b="0" dirty="0">
                <a:solidFill>
                  <a:srgbClr val="569CD6"/>
                </a:solidFill>
                <a:effectLst/>
                <a:latin typeface="Consolas" panose="020B0609020204030204" pitchFamily="49" charset="0"/>
              </a:rPr>
              <a:t>or</a:t>
            </a:r>
            <a:r>
              <a:rPr lang="en-US" sz="1000" b="0" dirty="0">
                <a:solidFill>
                  <a:srgbClr val="D4D4D4"/>
                </a:solidFill>
                <a:effectLst/>
                <a:latin typeface="Consolas" panose="020B0609020204030204" pitchFamily="49" charset="0"/>
              </a:rPr>
              <a:t> allocate                  </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Just writes </a:t>
            </a:r>
            <a:r>
              <a:rPr lang="en-US" sz="1000" b="0" dirty="0">
                <a:solidFill>
                  <a:srgbClr val="569CD6"/>
                </a:solidFill>
                <a:effectLst/>
                <a:latin typeface="Consolas" panose="020B0609020204030204" pitchFamily="49" charset="0"/>
              </a:rPr>
              <a:t>to</a:t>
            </a:r>
            <a:r>
              <a:rPr lang="en-US" sz="1000" b="0" dirty="0">
                <a:solidFill>
                  <a:srgbClr val="D4D4D4"/>
                </a:solidFill>
                <a:effectLst/>
                <a:latin typeface="Consolas" panose="020B0609020204030204" pitchFamily="49" charset="0"/>
              </a:rPr>
              <a:t> next available spot</a:t>
            </a:r>
          </a:p>
          <a:p>
            <a:pPr>
              <a:lnSpc>
                <a:spcPts val="1425"/>
              </a:lnSpc>
              <a:buNone/>
            </a:pPr>
            <a:r>
              <a:rPr lang="en-US" sz="1000" b="0" dirty="0">
                <a:solidFill>
                  <a:srgbClr val="B5CEA8"/>
                </a:solidFill>
                <a:effectLst/>
                <a:latin typeface="Consolas" panose="020B0609020204030204" pitchFamily="49" charset="0"/>
              </a:rPr>
              <a:t>3</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Disk fragmentation can happen                      </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No fragmentation</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sequential writes</a:t>
            </a:r>
          </a:p>
          <a:p>
            <a:pPr>
              <a:lnSpc>
                <a:spcPts val="1425"/>
              </a:lnSpc>
              <a:buNone/>
            </a:pPr>
            <a:r>
              <a:rPr lang="en-US" sz="1000" b="0" dirty="0">
                <a:solidFill>
                  <a:srgbClr val="B5CEA8"/>
                </a:solidFill>
                <a:effectLst/>
                <a:latin typeface="Consolas" panose="020B0609020204030204" pitchFamily="49" charset="0"/>
              </a:rPr>
              <a:t>4</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Slower </a:t>
            </a:r>
            <a:r>
              <a:rPr lang="en-US" sz="1000" b="0" dirty="0">
                <a:solidFill>
                  <a:srgbClr val="569CD6"/>
                </a:solidFill>
                <a:effectLst/>
                <a:latin typeface="Consolas" panose="020B0609020204030204" pitchFamily="49" charset="0"/>
              </a:rPr>
              <a:t>when</a:t>
            </a:r>
            <a:r>
              <a:rPr lang="en-US" sz="1000" b="0" dirty="0">
                <a:solidFill>
                  <a:srgbClr val="D4D4D4"/>
                </a:solidFill>
                <a:effectLst/>
                <a:latin typeface="Consolas" panose="020B0609020204030204" pitchFamily="49" charset="0"/>
              </a:rPr>
              <a:t> lots </a:t>
            </a:r>
            <a:r>
              <a:rPr lang="en-US" sz="1000" b="0" dirty="0">
                <a:solidFill>
                  <a:srgbClr val="569CD6"/>
                </a:solidFill>
                <a:effectLst/>
                <a:latin typeface="Consolas" panose="020B0609020204030204" pitchFamily="49" charset="0"/>
              </a:rPr>
              <a:t>of</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inserts</a:t>
            </a:r>
            <a:r>
              <a:rPr lang="en-US" sz="1000" b="0" dirty="0">
                <a:solidFill>
                  <a:srgbClr val="D4D4D4"/>
                </a:solidFill>
                <a:effectLst/>
                <a:latin typeface="Consolas" panose="020B0609020204030204" pitchFamily="49" charset="0"/>
              </a:rPr>
              <a:t> </a:t>
            </a:r>
            <a:r>
              <a:rPr lang="en-US" sz="1000" b="0" dirty="0">
                <a:solidFill>
                  <a:srgbClr val="4EC9B0"/>
                </a:solidFill>
                <a:effectLst/>
                <a:latin typeface="Consolas" panose="020B0609020204030204" pitchFamily="49" charset="0"/>
              </a:rPr>
              <a:t>happen</a:t>
            </a:r>
            <a:r>
              <a:rPr lang="en-US" sz="1000" b="0" dirty="0">
                <a:solidFill>
                  <a:srgbClr val="D4D4D4"/>
                </a:solidFill>
                <a:effectLst/>
                <a:latin typeface="Consolas" panose="020B0609020204030204" pitchFamily="49" charset="0"/>
              </a:rPr>
              <a:t>                 |</a:t>
            </a:r>
          </a:p>
        </p:txBody>
      </p:sp>
    </p:spTree>
    <p:extLst>
      <p:ext uri="{BB962C8B-B14F-4D97-AF65-F5344CB8AC3E}">
        <p14:creationId xmlns:p14="http://schemas.microsoft.com/office/powerpoint/2010/main" val="216510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3C4DA9-650F-7051-94F1-99407C850D98}"/>
              </a:ext>
            </a:extLst>
          </p:cNvPr>
          <p:cNvSpPr txBox="1"/>
          <p:nvPr/>
        </p:nvSpPr>
        <p:spPr>
          <a:xfrm>
            <a:off x="641445" y="327546"/>
            <a:ext cx="1682961" cy="369332"/>
          </a:xfrm>
          <a:prstGeom prst="rect">
            <a:avLst/>
          </a:prstGeom>
          <a:noFill/>
        </p:spPr>
        <p:txBody>
          <a:bodyPr wrap="none" rtlCol="0">
            <a:spAutoFit/>
          </a:bodyPr>
          <a:lstStyle/>
          <a:p>
            <a:pPr algn="l">
              <a:spcBef>
                <a:spcPts val="1200"/>
              </a:spcBef>
              <a:spcAft>
                <a:spcPts val="1200"/>
              </a:spcAft>
              <a:buNone/>
            </a:pPr>
            <a:r>
              <a:rPr lang="en-US" b="1" i="0" dirty="0">
                <a:solidFill>
                  <a:srgbClr val="FFFF00"/>
                </a:solidFill>
                <a:effectLst/>
                <a:latin typeface="quote-cjk-patch"/>
              </a:rPr>
              <a:t>Grid file System</a:t>
            </a:r>
          </a:p>
        </p:txBody>
      </p:sp>
      <p:sp>
        <p:nvSpPr>
          <p:cNvPr id="4" name="TextBox 3">
            <a:extLst>
              <a:ext uri="{FF2B5EF4-FFF2-40B4-BE49-F238E27FC236}">
                <a16:creationId xmlns:a16="http://schemas.microsoft.com/office/drawing/2014/main" id="{EA5539A8-6F3F-0628-8DA9-59E88406B88F}"/>
              </a:ext>
            </a:extLst>
          </p:cNvPr>
          <p:cNvSpPr txBox="1"/>
          <p:nvPr/>
        </p:nvSpPr>
        <p:spPr>
          <a:xfrm>
            <a:off x="279778" y="696878"/>
            <a:ext cx="6148317" cy="3416320"/>
          </a:xfrm>
          <a:prstGeom prst="rect">
            <a:avLst/>
          </a:prstGeom>
          <a:noFill/>
        </p:spPr>
        <p:txBody>
          <a:bodyPr wrap="square">
            <a:spAutoFit/>
          </a:bodyPr>
          <a:lstStyle/>
          <a:p>
            <a:r>
              <a:rPr lang="en-US" dirty="0" err="1">
                <a:solidFill>
                  <a:schemeClr val="bg1"/>
                </a:solidFill>
              </a:rPr>
              <a:t>GridFS</a:t>
            </a:r>
            <a:r>
              <a:rPr lang="en-US" dirty="0">
                <a:solidFill>
                  <a:schemeClr val="bg1"/>
                </a:solidFill>
              </a:rPr>
              <a:t>: Storing Large Files</a:t>
            </a:r>
          </a:p>
          <a:p>
            <a:endParaRPr lang="en-US" dirty="0">
              <a:solidFill>
                <a:schemeClr val="bg1"/>
              </a:solidFill>
            </a:endParaRPr>
          </a:p>
          <a:p>
            <a:r>
              <a:rPr lang="en-US" dirty="0">
                <a:solidFill>
                  <a:schemeClr val="bg1"/>
                </a:solidFill>
              </a:rPr>
              <a:t>Concept: </a:t>
            </a:r>
          </a:p>
          <a:p>
            <a:r>
              <a:rPr lang="en-US" dirty="0" err="1">
                <a:solidFill>
                  <a:schemeClr val="bg1"/>
                </a:solidFill>
              </a:rPr>
              <a:t>GridFS</a:t>
            </a:r>
            <a:r>
              <a:rPr lang="en-US" dirty="0">
                <a:solidFill>
                  <a:schemeClr val="bg1"/>
                </a:solidFill>
              </a:rPr>
              <a:t> is a specification for storing and retrieving files that exceed the BSON document size limit (currently 16MB). </a:t>
            </a:r>
          </a:p>
          <a:p>
            <a:r>
              <a:rPr lang="en-US" dirty="0">
                <a:solidFill>
                  <a:schemeClr val="bg1"/>
                </a:solidFill>
              </a:rPr>
              <a:t>Instead of storing the entire file in a single document,</a:t>
            </a:r>
          </a:p>
          <a:p>
            <a:r>
              <a:rPr lang="en-US" dirty="0">
                <a:solidFill>
                  <a:schemeClr val="bg1"/>
                </a:solidFill>
              </a:rPr>
              <a:t> </a:t>
            </a:r>
          </a:p>
          <a:p>
            <a:r>
              <a:rPr lang="en-US" dirty="0" err="1">
                <a:solidFill>
                  <a:schemeClr val="bg1"/>
                </a:solidFill>
              </a:rPr>
              <a:t>GridFS</a:t>
            </a:r>
            <a:r>
              <a:rPr lang="en-US" dirty="0">
                <a:solidFill>
                  <a:schemeClr val="bg1"/>
                </a:solidFill>
              </a:rPr>
              <a:t> divides the file into smaller chunks (typically 255KB) </a:t>
            </a:r>
          </a:p>
          <a:p>
            <a:r>
              <a:rPr lang="en-US" dirty="0">
                <a:solidFill>
                  <a:schemeClr val="bg1"/>
                </a:solidFill>
              </a:rPr>
              <a:t>and stores each chunk as a separate document in a "chunks" collection. </a:t>
            </a:r>
          </a:p>
          <a:p>
            <a:r>
              <a:rPr lang="en-US" dirty="0">
                <a:solidFill>
                  <a:schemeClr val="bg1"/>
                </a:solidFill>
              </a:rPr>
              <a:t>Metadata about the file (filename, content type, upload date, etc.) is stored in a separate "files" collection.</a:t>
            </a:r>
          </a:p>
        </p:txBody>
      </p:sp>
    </p:spTree>
    <p:extLst>
      <p:ext uri="{BB962C8B-B14F-4D97-AF65-F5344CB8AC3E}">
        <p14:creationId xmlns:p14="http://schemas.microsoft.com/office/powerpoint/2010/main" val="26236135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135330-930F-1768-B241-FA1FCB8912C9}"/>
              </a:ext>
            </a:extLst>
          </p:cNvPr>
          <p:cNvSpPr txBox="1"/>
          <p:nvPr/>
        </p:nvSpPr>
        <p:spPr>
          <a:xfrm>
            <a:off x="4951864" y="151179"/>
            <a:ext cx="4954136" cy="6555641"/>
          </a:xfrm>
          <a:prstGeom prst="rect">
            <a:avLst/>
          </a:prstGeom>
          <a:noFill/>
        </p:spPr>
        <p:txBody>
          <a:bodyPr wrap="square">
            <a:spAutoFit/>
          </a:bodyPr>
          <a:lstStyle/>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 </a:t>
            </a:r>
            <a:r>
              <a:rPr lang="en-US" sz="1200" b="0" dirty="0" err="1">
                <a:solidFill>
                  <a:srgbClr val="4FC1FF"/>
                </a:solidFill>
                <a:effectLst/>
                <a:latin typeface="Consolas" panose="020B0609020204030204" pitchFamily="49" charset="0"/>
              </a:rPr>
              <a:t>GridFSBucket</a:t>
            </a:r>
            <a:r>
              <a:rPr lang="en-US" sz="1200" b="0" dirty="0">
                <a:solidFill>
                  <a:srgbClr val="D4D4D4"/>
                </a:solidFill>
                <a:effectLst/>
                <a:latin typeface="Consolas" panose="020B0609020204030204" pitchFamily="49" charset="0"/>
              </a:rPr>
              <a:t> } = </a:t>
            </a:r>
            <a:r>
              <a:rPr lang="en-US" sz="1200" b="0" dirty="0">
                <a:solidFill>
                  <a:srgbClr val="DCDCAA"/>
                </a:solidFill>
                <a:effectLst/>
                <a:latin typeface="Consolas" panose="020B0609020204030204" pitchFamily="49" charset="0"/>
              </a:rPr>
              <a:t>require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mongodb</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EC9B0"/>
                </a:solidFill>
                <a:effectLst/>
                <a:latin typeface="Consolas" panose="020B0609020204030204" pitchFamily="49" charset="0"/>
              </a:rPr>
              <a:t>fs</a:t>
            </a:r>
            <a:r>
              <a:rPr lang="en-US" sz="1200" b="0" dirty="0">
                <a:solidFill>
                  <a:srgbClr val="D4D4D4"/>
                </a:solidFill>
                <a:effectLst/>
                <a:latin typeface="Consolas" panose="020B0609020204030204" pitchFamily="49" charset="0"/>
              </a:rPr>
              <a:t> = </a:t>
            </a:r>
            <a:r>
              <a:rPr lang="en-US" sz="1200" b="0" dirty="0">
                <a:solidFill>
                  <a:srgbClr val="DCDCAA"/>
                </a:solidFill>
                <a:effectLst/>
                <a:latin typeface="Consolas" panose="020B0609020204030204" pitchFamily="49" charset="0"/>
              </a:rPr>
              <a:t>require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node:fs</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 </a:t>
            </a:r>
            <a:r>
              <a:rPr lang="en-US" sz="1200" b="0" dirty="0" err="1">
                <a:solidFill>
                  <a:srgbClr val="4FC1FF"/>
                </a:solidFill>
                <a:effectLst/>
                <a:latin typeface="Consolas" panose="020B0609020204030204" pitchFamily="49" charset="0"/>
              </a:rPr>
              <a:t>MongoClient</a:t>
            </a:r>
            <a:r>
              <a:rPr lang="en-US" sz="1200" b="0" dirty="0">
                <a:solidFill>
                  <a:srgbClr val="D4D4D4"/>
                </a:solidFill>
                <a:effectLst/>
                <a:latin typeface="Consolas" panose="020B0609020204030204" pitchFamily="49" charset="0"/>
              </a:rPr>
              <a:t> } = </a:t>
            </a:r>
            <a:r>
              <a:rPr lang="en-US" sz="1200" b="0" dirty="0">
                <a:solidFill>
                  <a:srgbClr val="DCDCAA"/>
                </a:solidFill>
                <a:effectLst/>
                <a:latin typeface="Consolas" panose="020B0609020204030204" pitchFamily="49" charset="0"/>
              </a:rPr>
              <a:t>require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mongodb</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async</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storeVideo</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uri</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mongodb</a:t>
            </a:r>
            <a:r>
              <a:rPr lang="en-US" sz="1200" b="0" dirty="0">
                <a:solidFill>
                  <a:srgbClr val="CE9178"/>
                </a:solidFill>
                <a:effectLst/>
                <a:latin typeface="Consolas" panose="020B0609020204030204" pitchFamily="49" charset="0"/>
              </a:rPr>
              <a:t>://localhost:27017/</a:t>
            </a:r>
            <a:r>
              <a:rPr lang="en-US" sz="1200" b="0" dirty="0" err="1">
                <a:solidFill>
                  <a:srgbClr val="CE9178"/>
                </a:solidFill>
                <a:effectLst/>
                <a:latin typeface="Consolas" panose="020B0609020204030204" pitchFamily="49" charset="0"/>
              </a:rPr>
              <a:t>mydatabase</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client</a:t>
            </a: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new</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MongoClient</a:t>
            </a:r>
            <a:r>
              <a:rPr lang="en-US" sz="1200" b="0" dirty="0">
                <a:solidFill>
                  <a:srgbClr val="D4D4D4"/>
                </a:solidFill>
                <a:effectLst/>
                <a:latin typeface="Consolas" panose="020B0609020204030204" pitchFamily="49" charset="0"/>
              </a:rPr>
              <a:t>(</a:t>
            </a:r>
            <a:r>
              <a:rPr lang="en-US" sz="1200" b="0" dirty="0" err="1">
                <a:solidFill>
                  <a:srgbClr val="4FC1FF"/>
                </a:solidFill>
                <a:effectLst/>
                <a:latin typeface="Consolas" panose="020B0609020204030204" pitchFamily="49" charset="0"/>
              </a:rPr>
              <a:t>uri</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await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connect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db</a:t>
            </a:r>
            <a:r>
              <a:rPr lang="en-US" sz="1200" b="0" dirty="0">
                <a:solidFill>
                  <a:srgbClr val="D4D4D4"/>
                </a:solidFill>
                <a:effectLst/>
                <a:latin typeface="Consolas" panose="020B0609020204030204" pitchFamily="49" charset="0"/>
              </a:rPr>
              <a:t> =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db</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readStream</a:t>
            </a:r>
            <a:r>
              <a:rPr lang="en-US" sz="1200" b="0" dirty="0">
                <a:solidFill>
                  <a:srgbClr val="D4D4D4"/>
                </a:solidFill>
                <a:effectLst/>
                <a:latin typeface="Consolas" panose="020B0609020204030204" pitchFamily="49" charset="0"/>
              </a:rPr>
              <a:t> = </a:t>
            </a:r>
            <a:r>
              <a:rPr lang="en-US" sz="1200" b="0" dirty="0" err="1">
                <a:solidFill>
                  <a:srgbClr val="4EC9B0"/>
                </a:solidFill>
                <a:effectLst/>
                <a:latin typeface="Consolas" panose="020B0609020204030204" pitchFamily="49" charset="0"/>
              </a:rPr>
              <a:t>fs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createReadStream</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'./my_large_video.mp4'</a:t>
            </a:r>
            <a:r>
              <a:rPr lang="en-US" sz="1200" b="0" dirty="0">
                <a:solidFill>
                  <a:srgbClr val="D4D4D4"/>
                </a:solidFill>
                <a:effectLst/>
                <a:latin typeface="Consolas" panose="020B0609020204030204" pitchFamily="49" charset="0"/>
              </a:rPr>
              <a:t>); </a:t>
            </a:r>
            <a:r>
              <a:rPr lang="en-US" sz="1200" b="0" dirty="0">
                <a:solidFill>
                  <a:srgbClr val="6A9955"/>
                </a:solidFill>
                <a:effectLst/>
                <a:latin typeface="Consolas" panose="020B0609020204030204" pitchFamily="49" charset="0"/>
              </a:rPr>
              <a:t>// Assuming you have this file</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bucket</a:t>
            </a: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new</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GridFSBucket</a:t>
            </a:r>
            <a:r>
              <a:rPr lang="en-US" sz="1200" b="0" dirty="0">
                <a:solidFill>
                  <a:srgbClr val="D4D4D4"/>
                </a:solidFill>
                <a:effectLst/>
                <a:latin typeface="Consolas" panose="020B0609020204030204" pitchFamily="49" charset="0"/>
              </a:rPr>
              <a:t>(</a:t>
            </a:r>
            <a:r>
              <a:rPr lang="en-US" sz="1200" b="0" dirty="0" err="1">
                <a:solidFill>
                  <a:srgbClr val="4FC1FF"/>
                </a:solidFill>
                <a:effectLst/>
                <a:latin typeface="Consolas" panose="020B0609020204030204" pitchFamily="49" charset="0"/>
              </a:rPr>
              <a:t>db</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writeStream</a:t>
            </a:r>
            <a:r>
              <a:rPr lang="en-US" sz="1200" b="0" dirty="0">
                <a:solidFill>
                  <a:srgbClr val="D4D4D4"/>
                </a:solidFill>
                <a:effectLst/>
                <a:latin typeface="Consolas" panose="020B0609020204030204" pitchFamily="49" charset="0"/>
              </a:rPr>
              <a:t> = </a:t>
            </a:r>
            <a:r>
              <a:rPr lang="en-US" sz="1200" b="0" dirty="0" err="1">
                <a:solidFill>
                  <a:srgbClr val="4FC1FF"/>
                </a:solidFill>
                <a:effectLst/>
                <a:latin typeface="Consolas" panose="020B0609020204030204" pitchFamily="49" charset="0"/>
              </a:rPr>
              <a:t>bucket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openUploadStream</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'my_large_video.mp4'</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readStream</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pipe</a:t>
            </a:r>
            <a:r>
              <a:rPr lang="en-US" sz="1200" b="0" dirty="0">
                <a:solidFill>
                  <a:srgbClr val="D4D4D4"/>
                </a:solidFill>
                <a:effectLst/>
                <a:latin typeface="Consolas" panose="020B0609020204030204" pitchFamily="49" charset="0"/>
              </a:rPr>
              <a:t>(</a:t>
            </a:r>
            <a:r>
              <a:rPr lang="en-US" sz="1200" b="0" dirty="0" err="1">
                <a:solidFill>
                  <a:srgbClr val="4FC1FF"/>
                </a:solidFill>
                <a:effectLst/>
                <a:latin typeface="Consolas" panose="020B0609020204030204" pitchFamily="49" charset="0"/>
              </a:rPr>
              <a:t>writeStream</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DCDCAA"/>
                </a:solidFill>
                <a:effectLst/>
                <a:latin typeface="Consolas" panose="020B0609020204030204" pitchFamily="49" charset="0"/>
              </a:rPr>
              <a:t>on</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'finish'</a:t>
            </a: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=&gt;</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console</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log</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'Video uploaded successfully!'</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close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DCDCAA"/>
                </a:solidFill>
                <a:effectLst/>
                <a:latin typeface="Consolas" panose="020B0609020204030204" pitchFamily="49" charset="0"/>
              </a:rPr>
              <a:t>on</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=&gt;</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console</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'Error uploading video:'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close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 </a:t>
            </a:r>
            <a:r>
              <a:rPr lang="en-US" sz="1200" b="0" dirty="0">
                <a:solidFill>
                  <a:srgbClr val="C586C0"/>
                </a:solidFill>
                <a:effectLst/>
                <a:latin typeface="Consolas" panose="020B0609020204030204" pitchFamily="49" charset="0"/>
              </a:rPr>
              <a:t>catch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console</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'Error connecting to MongoDB:'</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r>
              <a:rPr lang="en-US" sz="1200" b="0" dirty="0" err="1">
                <a:solidFill>
                  <a:srgbClr val="DCDCAA"/>
                </a:solidFill>
                <a:effectLst/>
                <a:latin typeface="Consolas" panose="020B0609020204030204" pitchFamily="49" charset="0"/>
              </a:rPr>
              <a:t>storeVideo</a:t>
            </a:r>
            <a:r>
              <a:rPr lang="en-US" sz="1200" b="0" dirty="0">
                <a:solidFill>
                  <a:srgbClr val="D4D4D4"/>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28966F9B-333F-49F4-5745-5CC78E00409A}"/>
              </a:ext>
            </a:extLst>
          </p:cNvPr>
          <p:cNvSpPr txBox="1"/>
          <p:nvPr/>
        </p:nvSpPr>
        <p:spPr>
          <a:xfrm>
            <a:off x="0" y="628377"/>
            <a:ext cx="4954136" cy="5298886"/>
          </a:xfrm>
          <a:prstGeom prst="rect">
            <a:avLst/>
          </a:prstGeom>
          <a:noFill/>
        </p:spPr>
        <p:txBody>
          <a:bodyPr wrap="square">
            <a:spAutoFit/>
          </a:bodyPr>
          <a:lstStyle/>
          <a:p>
            <a:pPr>
              <a:lnSpc>
                <a:spcPts val="1425"/>
              </a:lnSpc>
              <a:buNone/>
            </a:pPr>
            <a:r>
              <a:rPr lang="en-US" sz="1200" b="0" dirty="0">
                <a:solidFill>
                  <a:srgbClr val="6A9955"/>
                </a:solidFill>
                <a:effectLst/>
                <a:latin typeface="Consolas" panose="020B0609020204030204" pitchFamily="49" charset="0"/>
              </a:rPr>
              <a:t>/*</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Example: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Imagine you want to store a large video file (say, 50MB) in your MongoDB database.</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Writing the file: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When you save the video using </a:t>
            </a:r>
            <a:r>
              <a:rPr lang="en-US" sz="1200" b="0" dirty="0" err="1">
                <a:solidFill>
                  <a:srgbClr val="6A9955"/>
                </a:solidFill>
                <a:effectLst/>
                <a:latin typeface="Consolas" panose="020B0609020204030204" pitchFamily="49" charset="0"/>
              </a:rPr>
              <a:t>GridFS</a:t>
            </a: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1) video will be split into multiple 255KB chunks (plus one smaller final chunk).</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2) Each chunk will be a document in the </a:t>
            </a:r>
            <a:r>
              <a:rPr lang="en-US" sz="1200" b="0" dirty="0" err="1">
                <a:solidFill>
                  <a:srgbClr val="6A9955"/>
                </a:solidFill>
                <a:effectLst/>
                <a:latin typeface="Consolas" panose="020B0609020204030204" pitchFamily="49" charset="0"/>
              </a:rPr>
              <a:t>fs.chunks</a:t>
            </a:r>
            <a:r>
              <a:rPr lang="en-US" sz="1200" b="0" dirty="0">
                <a:solidFill>
                  <a:srgbClr val="6A9955"/>
                </a:solidFill>
                <a:effectLst/>
                <a:latin typeface="Consolas" panose="020B0609020204030204" pitchFamily="49" charset="0"/>
              </a:rPr>
              <a:t> collection,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containing the chunk's data,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its sequence number (n), and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a </a:t>
            </a:r>
            <a:r>
              <a:rPr lang="en-US" sz="1200" b="0" dirty="0" err="1">
                <a:solidFill>
                  <a:srgbClr val="6A9955"/>
                </a:solidFill>
                <a:effectLst/>
                <a:latin typeface="Consolas" panose="020B0609020204030204" pitchFamily="49" charset="0"/>
              </a:rPr>
              <a:t>files_id</a:t>
            </a:r>
            <a:r>
              <a:rPr lang="en-US" sz="1200" b="0" dirty="0">
                <a:solidFill>
                  <a:srgbClr val="6A9955"/>
                </a:solidFill>
                <a:effectLst/>
                <a:latin typeface="Consolas" panose="020B0609020204030204" pitchFamily="49" charset="0"/>
              </a:rPr>
              <a:t> linking it back to the original file's metadata. </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3) A document will also be created in the </a:t>
            </a:r>
            <a:r>
              <a:rPr lang="en-US" sz="1200" b="0" dirty="0" err="1">
                <a:solidFill>
                  <a:srgbClr val="6A9955"/>
                </a:solidFill>
                <a:effectLst/>
                <a:latin typeface="Consolas" panose="020B0609020204030204" pitchFamily="49" charset="0"/>
              </a:rPr>
              <a:t>fs.files</a:t>
            </a:r>
            <a:r>
              <a:rPr lang="en-US" sz="1200" b="0" dirty="0">
                <a:solidFill>
                  <a:srgbClr val="6A9955"/>
                </a:solidFill>
                <a:effectLst/>
                <a:latin typeface="Consolas" panose="020B0609020204030204" pitchFamily="49" charset="0"/>
              </a:rPr>
              <a:t> collection,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storing the video's filename,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content type ("video/mp4"),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length (50 * 1024 * 1024 bytes),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and other relevant details.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a:t>
            </a:r>
            <a:endParaRPr lang="en-US" sz="12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0081883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788671-27AC-72A1-3907-A81C2341B6AB}"/>
              </a:ext>
            </a:extLst>
          </p:cNvPr>
          <p:cNvSpPr txBox="1"/>
          <p:nvPr/>
        </p:nvSpPr>
        <p:spPr>
          <a:xfrm>
            <a:off x="374176" y="0"/>
            <a:ext cx="9157647" cy="6555641"/>
          </a:xfrm>
          <a:prstGeom prst="rect">
            <a:avLst/>
          </a:prstGeom>
          <a:noFill/>
        </p:spPr>
        <p:txBody>
          <a:bodyPr wrap="square">
            <a:spAutoFit/>
          </a:bodyPr>
          <a:lstStyle/>
          <a:p>
            <a:pPr>
              <a:lnSpc>
                <a:spcPts val="1425"/>
              </a:lnSpc>
              <a:buNone/>
            </a:pP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When you want to retrieve the video,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a:t>
            </a:r>
            <a:r>
              <a:rPr lang="en-US" sz="1200" b="0" dirty="0" err="1">
                <a:solidFill>
                  <a:srgbClr val="6A9955"/>
                </a:solidFill>
                <a:effectLst/>
                <a:latin typeface="Consolas" panose="020B0609020204030204" pitchFamily="49" charset="0"/>
              </a:rPr>
              <a:t>GridFS</a:t>
            </a:r>
            <a:r>
              <a:rPr lang="en-US" sz="1200" b="0" dirty="0">
                <a:solidFill>
                  <a:srgbClr val="6A9955"/>
                </a:solidFill>
                <a:effectLst/>
                <a:latin typeface="Consolas" panose="020B0609020204030204" pitchFamily="49" charset="0"/>
              </a:rPr>
              <a:t> will query the </a:t>
            </a:r>
            <a:r>
              <a:rPr lang="en-US" sz="1200" b="0" dirty="0" err="1">
                <a:solidFill>
                  <a:srgbClr val="6A9955"/>
                </a:solidFill>
                <a:effectLst/>
                <a:latin typeface="Consolas" panose="020B0609020204030204" pitchFamily="49" charset="0"/>
              </a:rPr>
              <a:t>fs.chunks</a:t>
            </a:r>
            <a:r>
              <a:rPr lang="en-US" sz="1200" b="0" dirty="0">
                <a:solidFill>
                  <a:srgbClr val="6A9955"/>
                </a:solidFill>
                <a:effectLst/>
                <a:latin typeface="Consolas" panose="020B0609020204030204" pitchFamily="49" charset="0"/>
              </a:rPr>
              <a:t> collection based on the </a:t>
            </a:r>
            <a:r>
              <a:rPr lang="en-US" sz="1200" b="0" dirty="0" err="1">
                <a:solidFill>
                  <a:srgbClr val="6A9955"/>
                </a:solidFill>
                <a:effectLst/>
                <a:latin typeface="Consolas" panose="020B0609020204030204" pitchFamily="49" charset="0"/>
              </a:rPr>
              <a:t>files_id</a:t>
            </a: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order the chunks by their sequence number (n),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and then stream the data from each chunk to reconstruct the original video file.</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 </a:t>
            </a:r>
            <a:r>
              <a:rPr lang="en-US" sz="1200" b="0" dirty="0" err="1">
                <a:solidFill>
                  <a:srgbClr val="4EC9B0"/>
                </a:solidFill>
                <a:effectLst/>
                <a:latin typeface="Consolas" panose="020B0609020204030204" pitchFamily="49" charset="0"/>
              </a:rPr>
              <a:t>GridFSBucket</a:t>
            </a:r>
            <a:r>
              <a:rPr lang="en-US" sz="1200" b="0" dirty="0">
                <a:solidFill>
                  <a:srgbClr val="D4D4D4"/>
                </a:solidFill>
                <a:effectLst/>
                <a:latin typeface="Consolas" panose="020B0609020204030204" pitchFamily="49" charset="0"/>
              </a:rPr>
              <a:t> } = </a:t>
            </a:r>
            <a:r>
              <a:rPr lang="en-US" sz="1200" b="0" dirty="0">
                <a:solidFill>
                  <a:srgbClr val="DCDCAA"/>
                </a:solidFill>
                <a:effectLst/>
                <a:latin typeface="Consolas" panose="020B0609020204030204" pitchFamily="49" charset="0"/>
              </a:rPr>
              <a:t>require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mongodb</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EC9B0"/>
                </a:solidFill>
                <a:effectLst/>
                <a:latin typeface="Consolas" panose="020B0609020204030204" pitchFamily="49" charset="0"/>
              </a:rPr>
              <a:t>fs</a:t>
            </a:r>
            <a:r>
              <a:rPr lang="en-US" sz="1200" b="0" dirty="0">
                <a:solidFill>
                  <a:srgbClr val="D4D4D4"/>
                </a:solidFill>
                <a:effectLst/>
                <a:latin typeface="Consolas" panose="020B0609020204030204" pitchFamily="49" charset="0"/>
              </a:rPr>
              <a:t> = </a:t>
            </a:r>
            <a:r>
              <a:rPr lang="en-US" sz="1200" b="0" dirty="0">
                <a:solidFill>
                  <a:srgbClr val="DCDCAA"/>
                </a:solidFill>
                <a:effectLst/>
                <a:latin typeface="Consolas" panose="020B0609020204030204" pitchFamily="49" charset="0"/>
              </a:rPr>
              <a:t>require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node:fs</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 </a:t>
            </a:r>
            <a:r>
              <a:rPr lang="en-US" sz="1200" b="0" dirty="0" err="1">
                <a:solidFill>
                  <a:srgbClr val="4EC9B0"/>
                </a:solidFill>
                <a:effectLst/>
                <a:latin typeface="Consolas" panose="020B0609020204030204" pitchFamily="49" charset="0"/>
              </a:rPr>
              <a:t>MongoClient</a:t>
            </a:r>
            <a:r>
              <a:rPr lang="en-US" sz="1200" b="0" dirty="0">
                <a:solidFill>
                  <a:srgbClr val="D4D4D4"/>
                </a:solidFill>
                <a:effectLst/>
                <a:latin typeface="Consolas" panose="020B0609020204030204" pitchFamily="49" charset="0"/>
              </a:rPr>
              <a:t> } = </a:t>
            </a:r>
            <a:r>
              <a:rPr lang="en-US" sz="1200" b="0" dirty="0">
                <a:solidFill>
                  <a:srgbClr val="DCDCAA"/>
                </a:solidFill>
                <a:effectLst/>
                <a:latin typeface="Consolas" panose="020B0609020204030204" pitchFamily="49" charset="0"/>
              </a:rPr>
              <a:t>require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mongodb</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async</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retrieveVideo</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uri</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mongodb</a:t>
            </a:r>
            <a:r>
              <a:rPr lang="en-US" sz="1200" b="0" dirty="0">
                <a:solidFill>
                  <a:srgbClr val="CE9178"/>
                </a:solidFill>
                <a:effectLst/>
                <a:latin typeface="Consolas" panose="020B0609020204030204" pitchFamily="49" charset="0"/>
              </a:rPr>
              <a:t>://localhost:27017/ecommerce"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client</a:t>
            </a: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new</a:t>
            </a:r>
            <a:r>
              <a:rPr lang="en-US" sz="1200" b="0" dirty="0">
                <a:solidFill>
                  <a:srgbClr val="D4D4D4"/>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MongoClient</a:t>
            </a:r>
            <a:r>
              <a:rPr lang="en-US" sz="1200" b="0" dirty="0">
                <a:solidFill>
                  <a:srgbClr val="D4D4D4"/>
                </a:solidFill>
                <a:effectLst/>
                <a:latin typeface="Consolas" panose="020B0609020204030204" pitchFamily="49" charset="0"/>
              </a:rPr>
              <a:t>(</a:t>
            </a:r>
            <a:r>
              <a:rPr lang="en-US" sz="1200" b="0" dirty="0" err="1">
                <a:solidFill>
                  <a:srgbClr val="4FC1FF"/>
                </a:solidFill>
                <a:effectLst/>
                <a:latin typeface="Consolas" panose="020B0609020204030204" pitchFamily="49" charset="0"/>
              </a:rPr>
              <a:t>uri</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await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connect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db</a:t>
            </a:r>
            <a:r>
              <a:rPr lang="en-US" sz="1200" b="0" dirty="0">
                <a:solidFill>
                  <a:srgbClr val="D4D4D4"/>
                </a:solidFill>
                <a:effectLst/>
                <a:latin typeface="Consolas" panose="020B0609020204030204" pitchFamily="49" charset="0"/>
              </a:rPr>
              <a:t> =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db</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bucket</a:t>
            </a: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new</a:t>
            </a:r>
            <a:r>
              <a:rPr lang="en-US" sz="1200" b="0" dirty="0">
                <a:solidFill>
                  <a:srgbClr val="D4D4D4"/>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GridFSBucket</a:t>
            </a:r>
            <a:r>
              <a:rPr lang="en-US" sz="1200" b="0" dirty="0">
                <a:solidFill>
                  <a:srgbClr val="D4D4D4"/>
                </a:solidFill>
                <a:effectLst/>
                <a:latin typeface="Consolas" panose="020B0609020204030204" pitchFamily="49" charset="0"/>
              </a:rPr>
              <a:t>(</a:t>
            </a:r>
            <a:r>
              <a:rPr lang="en-US" sz="1200" b="0" dirty="0" err="1">
                <a:solidFill>
                  <a:srgbClr val="4FC1FF"/>
                </a:solidFill>
                <a:effectLst/>
                <a:latin typeface="Consolas" panose="020B0609020204030204" pitchFamily="49" charset="0"/>
              </a:rPr>
              <a:t>db</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readStream</a:t>
            </a:r>
            <a:r>
              <a:rPr lang="en-US" sz="1200" b="0" dirty="0">
                <a:solidFill>
                  <a:srgbClr val="D4D4D4"/>
                </a:solidFill>
                <a:effectLst/>
                <a:latin typeface="Consolas" panose="020B0609020204030204" pitchFamily="49" charset="0"/>
              </a:rPr>
              <a:t> = </a:t>
            </a:r>
            <a:r>
              <a:rPr lang="en-US" sz="1200" b="0" dirty="0" err="1">
                <a:solidFill>
                  <a:srgbClr val="4FC1FF"/>
                </a:solidFill>
                <a:effectLst/>
                <a:latin typeface="Consolas" panose="020B0609020204030204" pitchFamily="49" charset="0"/>
              </a:rPr>
              <a:t>bucket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openDownloadStreamByName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'my_large_video.mp4'</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writeStream</a:t>
            </a:r>
            <a:r>
              <a:rPr lang="en-US" sz="1200" b="0" dirty="0">
                <a:solidFill>
                  <a:srgbClr val="D4D4D4"/>
                </a:solidFill>
                <a:effectLst/>
                <a:latin typeface="Consolas" panose="020B0609020204030204" pitchFamily="49" charset="0"/>
              </a:rPr>
              <a:t> = </a:t>
            </a:r>
            <a:r>
              <a:rPr lang="en-US" sz="1200" b="0" dirty="0" err="1">
                <a:solidFill>
                  <a:srgbClr val="4EC9B0"/>
                </a:solidFill>
                <a:effectLst/>
                <a:latin typeface="Consolas" panose="020B0609020204030204" pitchFamily="49" charset="0"/>
              </a:rPr>
              <a:t>fs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createWriteStream</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'./downloaded_video.mp4'</a:t>
            </a:r>
            <a:r>
              <a:rPr lang="en-US" sz="1200" b="0" dirty="0">
                <a:solidFill>
                  <a:srgbClr val="D4D4D4"/>
                </a:solidFill>
                <a:effectLst/>
                <a:latin typeface="Consolas" panose="020B0609020204030204" pitchFamily="49" charset="0"/>
              </a:rPr>
              <a:t>);</a:t>
            </a: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readStream</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pipe</a:t>
            </a:r>
            <a:r>
              <a:rPr lang="en-US" sz="1200" b="0" dirty="0">
                <a:solidFill>
                  <a:srgbClr val="D4D4D4"/>
                </a:solidFill>
                <a:effectLst/>
                <a:latin typeface="Consolas" panose="020B0609020204030204" pitchFamily="49" charset="0"/>
              </a:rPr>
              <a:t>(</a:t>
            </a:r>
            <a:r>
              <a:rPr lang="en-US" sz="1200" b="0" dirty="0" err="1">
                <a:solidFill>
                  <a:srgbClr val="4FC1FF"/>
                </a:solidFill>
                <a:effectLst/>
                <a:latin typeface="Consolas" panose="020B0609020204030204" pitchFamily="49" charset="0"/>
              </a:rPr>
              <a:t>writeStream</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DCDCAA"/>
                </a:solidFill>
                <a:effectLst/>
                <a:latin typeface="Consolas" panose="020B0609020204030204" pitchFamily="49" charset="0"/>
              </a:rPr>
              <a:t>on</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'finish'</a:t>
            </a: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=&gt;</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console</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log</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'Video downloaded successfully!'</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close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DCDCAA"/>
                </a:solidFill>
                <a:effectLst/>
                <a:latin typeface="Consolas" panose="020B0609020204030204" pitchFamily="49" charset="0"/>
              </a:rPr>
              <a:t>on</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=&gt;</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console</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'Error downloading video:'</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close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 </a:t>
            </a:r>
            <a:r>
              <a:rPr lang="en-US" sz="1200" b="0" dirty="0">
                <a:solidFill>
                  <a:srgbClr val="C586C0"/>
                </a:solidFill>
                <a:effectLst/>
                <a:latin typeface="Consolas" panose="020B0609020204030204" pitchFamily="49" charset="0"/>
              </a:rPr>
              <a:t>catch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console</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'Error connecting to MongoDB:'</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DCDCAA"/>
                </a:solidFill>
                <a:effectLst/>
                <a:latin typeface="Consolas" panose="020B0609020204030204" pitchFamily="49" charset="0"/>
              </a:rPr>
              <a:t>retrieveVideo</a:t>
            </a:r>
            <a:r>
              <a:rPr lang="en-US"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3357814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42A769-0DCF-D9C4-DCF3-32E8C43F099A}"/>
              </a:ext>
            </a:extLst>
          </p:cNvPr>
          <p:cNvSpPr txBox="1"/>
          <p:nvPr/>
        </p:nvSpPr>
        <p:spPr>
          <a:xfrm>
            <a:off x="150125" y="97361"/>
            <a:ext cx="10031105" cy="6390596"/>
          </a:xfrm>
          <a:prstGeom prst="rect">
            <a:avLst/>
          </a:prstGeom>
          <a:noFill/>
        </p:spPr>
        <p:txBody>
          <a:bodyPr wrap="square">
            <a:spAutoFit/>
          </a:bodyPr>
          <a:lstStyle/>
          <a:p>
            <a:pPr>
              <a:lnSpc>
                <a:spcPts val="1425"/>
              </a:lnSpc>
              <a:buNone/>
            </a:pP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files</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File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Metadata</a:t>
            </a:r>
            <a:endParaRPr lang="en-US" b="0" dirty="0">
              <a:solidFill>
                <a:srgbClr val="D4D4D4"/>
              </a:solidFill>
              <a:effectLst/>
              <a:latin typeface="Consolas" panose="020B0609020204030204" pitchFamily="49" charset="0"/>
            </a:endParaRPr>
          </a:p>
          <a:p>
            <a:pPr>
              <a:lnSpc>
                <a:spcPts val="1425"/>
              </a:lnSpc>
              <a:buNone/>
            </a:pPr>
            <a:r>
              <a:rPr lang="en-US" b="0" dirty="0">
                <a:solidFill>
                  <a:srgbClr val="C8C8C8"/>
                </a:solidFill>
                <a:effectLst/>
                <a:latin typeface="Consolas" panose="020B0609020204030204" pitchFamily="49" charset="0"/>
              </a:rPr>
              <a:t>Concept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This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stores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metadata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about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stored</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GridFS</a:t>
            </a:r>
            <a:r>
              <a:rPr lang="en-US" b="0" dirty="0">
                <a:solidFill>
                  <a:srgbClr val="D4D4D4"/>
                </a:solidFill>
                <a:effectLst/>
                <a:latin typeface="Consolas" panose="020B0609020204030204" pitchFamily="49" charset="0"/>
              </a:rPr>
              <a:t>. </a:t>
            </a:r>
          </a:p>
          <a:p>
            <a:pPr>
              <a:lnSpc>
                <a:spcPts val="1425"/>
              </a:lnSpc>
              <a:buNone/>
            </a:pPr>
            <a:r>
              <a:rPr lang="en-US" b="0" dirty="0">
                <a:solidFill>
                  <a:srgbClr val="9CDCFE"/>
                </a:solidFill>
                <a:effectLst/>
                <a:latin typeface="Consolas" panose="020B0609020204030204" pitchFamily="49" charset="0"/>
              </a:rPr>
              <a:t>Each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files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represents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single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contains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information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such</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as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unique</a:t>
            </a:r>
            <a:r>
              <a:rPr lang="en-US" b="0" dirty="0">
                <a:solidFill>
                  <a:srgbClr val="D4D4D4"/>
                </a:solidFill>
                <a:effectLst/>
                <a:latin typeface="Consolas" panose="020B0609020204030204" pitchFamily="49" charset="0"/>
              </a:rPr>
              <a:t> </a:t>
            </a:r>
            <a:r>
              <a:rPr lang="en-US" b="0" dirty="0">
                <a:solidFill>
                  <a:srgbClr val="4FC1FF"/>
                </a:solidFill>
                <a:effectLst/>
                <a:latin typeface="Consolas" panose="020B0609020204030204" pitchFamily="49" charset="0"/>
              </a:rPr>
              <a:t>ID</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length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total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size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bytes</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C8C8C8"/>
                </a:solidFill>
                <a:effectLst/>
                <a:latin typeface="Consolas" panose="020B0609020204030204" pitchFamily="49" charset="0"/>
              </a:rPr>
              <a:t>chunkSize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size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each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chunk</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bytes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typically</a:t>
            </a:r>
            <a:r>
              <a:rPr lang="en-US" b="0" dirty="0">
                <a:solidFill>
                  <a:srgbClr val="D4D4D4"/>
                </a:solidFill>
                <a:effectLst/>
                <a:latin typeface="Consolas" panose="020B0609020204030204" pitchFamily="49" charset="0"/>
              </a:rPr>
              <a:t> 255</a:t>
            </a:r>
            <a:r>
              <a:rPr lang="en-US" b="0" dirty="0">
                <a:solidFill>
                  <a:srgbClr val="4FC1FF"/>
                </a:solidFill>
                <a:effectLst/>
                <a:latin typeface="Consolas" panose="020B0609020204030204" pitchFamily="49" charset="0"/>
              </a:rPr>
              <a:t>KB</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C8C8C8"/>
                </a:solidFill>
                <a:effectLst/>
                <a:latin typeface="Consolas" panose="020B0609020204030204" pitchFamily="49" charset="0"/>
              </a:rPr>
              <a:t>uploadDate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date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and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time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when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was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uploaded</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filename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original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md5</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4FC1FF"/>
                </a:solidFill>
                <a:effectLst/>
                <a:latin typeface="Consolas" panose="020B0609020204030204" pitchFamily="49" charset="0"/>
              </a:rPr>
              <a:t>MD5</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hash</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CE9178"/>
                </a:solidFill>
                <a:effectLst/>
                <a:latin typeface="Consolas" panose="020B0609020204030204" pitchFamily="49" charset="0"/>
              </a:rPr>
              <a:t>'s content for integrity verification</a:t>
            </a:r>
            <a:r>
              <a:rPr lang="en-US" b="0" dirty="0">
                <a:solidFill>
                  <a:srgbClr val="F44747"/>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err="1">
                <a:solidFill>
                  <a:srgbClr val="C8C8C8"/>
                </a:solidFill>
                <a:effectLst/>
                <a:latin typeface="Consolas" panose="020B0609020204030204" pitchFamily="49" charset="0"/>
              </a:rPr>
              <a:t>contentType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4FC1FF"/>
                </a:solidFill>
                <a:effectLst/>
                <a:latin typeface="Consolas" panose="020B0609020204030204" pitchFamily="49" charset="0"/>
              </a:rPr>
              <a:t>MIME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type</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the</a:t>
            </a:r>
            <a:r>
              <a:rPr lang="en-US" b="0" dirty="0">
                <a:solidFill>
                  <a:srgbClr val="D4D4D4"/>
                </a:solidFill>
                <a:effectLst/>
                <a:latin typeface="Consolas" panose="020B0609020204030204" pitchFamily="49" charset="0"/>
              </a:rPr>
              <a:t> file (e.g., "image/jpeg", "application/pdf").</a:t>
            </a:r>
          </a:p>
          <a:p>
            <a:pPr>
              <a:lnSpc>
                <a:spcPts val="1425"/>
              </a:lnSpc>
              <a:buNone/>
            </a:pPr>
            <a:r>
              <a:rPr lang="en-US" b="0" dirty="0">
                <a:solidFill>
                  <a:srgbClr val="D4D4D4"/>
                </a:solidFill>
                <a:effectLst/>
                <a:latin typeface="Consolas" panose="020B0609020204030204" pitchFamily="49" charset="0"/>
              </a:rPr>
              <a:t>    aliases: An array of alias names for the file.</a:t>
            </a:r>
          </a:p>
          <a:p>
            <a:pPr>
              <a:lnSpc>
                <a:spcPts val="1425"/>
              </a:lnSpc>
              <a:buNone/>
            </a:pPr>
            <a:r>
              <a:rPr lang="en-US" b="0" dirty="0">
                <a:solidFill>
                  <a:srgbClr val="D4D4D4"/>
                </a:solidFill>
                <a:effectLst/>
                <a:latin typeface="Consolas" panose="020B0609020204030204" pitchFamily="49" charset="0"/>
              </a:rPr>
              <a:t>    metadata: A user-defined </a:t>
            </a:r>
            <a:r>
              <a:rPr lang="en-US" b="0" dirty="0">
                <a:solidFill>
                  <a:srgbClr val="9CDCFE"/>
                </a:solidFill>
                <a:effectLst/>
                <a:latin typeface="Consolas" panose="020B0609020204030204" pitchFamily="49" charset="0"/>
              </a:rPr>
              <a:t>document</a:t>
            </a:r>
            <a:r>
              <a:rPr lang="en-US" b="0" dirty="0">
                <a:solidFill>
                  <a:srgbClr val="D4D4D4"/>
                </a:solidFill>
                <a:effectLst/>
                <a:latin typeface="Consolas" panose="020B0609020204030204" pitchFamily="49" charset="0"/>
              </a:rPr>
              <a:t> to store additional metadata.</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After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uploading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my_large_video</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mp4</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 </a:t>
            </a:r>
          </a:p>
          <a:p>
            <a:pPr>
              <a:lnSpc>
                <a:spcPts val="1425"/>
              </a:lnSpc>
              <a:buNone/>
            </a:pP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similar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this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would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exist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files</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ObjectId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"662d4f8a7e9a3b2c1d000001"</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"length"</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52428800</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chunkSize</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261120</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uploadDate</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ISODate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"2025-04-27T02:41:46.123Z"</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"filename"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"my_large_video.mp4"</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"md5"</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"a1b2c3d4e5f67890abcdef1234567890"</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contentType</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"video/mp4"</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"aliases"</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"metadata"</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"description"</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"My awesome video"</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7264838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C7712D6-CDF7-F0C8-815E-EE8998197E0E}"/>
              </a:ext>
            </a:extLst>
          </p:cNvPr>
          <p:cNvSpPr txBox="1"/>
          <p:nvPr/>
        </p:nvSpPr>
        <p:spPr>
          <a:xfrm>
            <a:off x="122830" y="233702"/>
            <a:ext cx="9906000" cy="6390596"/>
          </a:xfrm>
          <a:prstGeom prst="rect">
            <a:avLst/>
          </a:prstGeom>
          <a:noFill/>
        </p:spPr>
        <p:txBody>
          <a:bodyPr wrap="square">
            <a:spAutoFit/>
          </a:bodyPr>
          <a:lstStyle/>
          <a:p>
            <a:pPr>
              <a:lnSpc>
                <a:spcPts val="1425"/>
              </a:lnSpc>
              <a:buNone/>
            </a:pP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chunks</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File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Chunks</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stores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actual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binary</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data</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broken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down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chunks</a:t>
            </a: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Each</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chunks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represents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single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chunk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and</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contains</a:t>
            </a:r>
            <a:r>
              <a:rPr lang="en-US" b="0" dirty="0">
                <a:solidFill>
                  <a:srgbClr val="D4D4D4"/>
                </a:solidFill>
                <a:effectLst/>
                <a:latin typeface="Consolas" panose="020B0609020204030204" pitchFamily="49" charset="0"/>
              </a:rPr>
              <a:t>:</a:t>
            </a: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unique</a:t>
            </a:r>
            <a:r>
              <a:rPr lang="en-US" b="0" dirty="0">
                <a:solidFill>
                  <a:srgbClr val="D4D4D4"/>
                </a:solidFill>
                <a:effectLst/>
                <a:latin typeface="Consolas" panose="020B0609020204030204" pitchFamily="49" charset="0"/>
              </a:rPr>
              <a:t> </a:t>
            </a:r>
            <a:r>
              <a:rPr lang="en-US" b="0" dirty="0">
                <a:solidFill>
                  <a:srgbClr val="4FC1FF"/>
                </a:solidFill>
                <a:effectLst/>
                <a:latin typeface="Consolas" panose="020B0609020204030204" pitchFamily="49" charset="0"/>
              </a:rPr>
              <a:t>ID</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chunk</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err="1">
                <a:solidFill>
                  <a:srgbClr val="C8C8C8"/>
                </a:solidFill>
                <a:effectLst/>
                <a:latin typeface="Consolas" panose="020B0609020204030204" pitchFamily="49" charset="0"/>
              </a:rPr>
              <a:t>files_id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corresponding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files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This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links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chunk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back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original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zero</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based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index</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chunk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within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indicating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its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order</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data</a:t>
            </a:r>
            <a:r>
              <a:rPr lang="en-US" b="0" dirty="0">
                <a:solidFill>
                  <a:srgbClr val="D4D4D4"/>
                </a:solidFill>
                <a:effectLst/>
                <a:latin typeface="Consolas" panose="020B0609020204030204" pitchFamily="49" charset="0"/>
              </a:rPr>
              <a:t>: </a:t>
            </a:r>
            <a:r>
              <a:rPr lang="en-US" b="0" dirty="0">
                <a:solidFill>
                  <a:srgbClr val="4FC1FF"/>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binary</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object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BinData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containing</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actual</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data</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of</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chunk</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my_large_video</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mp4</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a:t>
            </a:r>
            <a:r>
              <a:rPr lang="en-US" b="0" dirty="0">
                <a:solidFill>
                  <a:srgbClr val="D4D4D4"/>
                </a:solidFill>
                <a:effectLst/>
                <a:latin typeface="Consolas" panose="020B0609020204030204" pitchFamily="49" charset="0"/>
              </a:rPr>
              <a:t>, </a:t>
            </a:r>
          </a:p>
          <a:p>
            <a:pPr>
              <a:lnSpc>
                <a:spcPts val="1425"/>
              </a:lnSpc>
              <a:buNone/>
            </a:pPr>
            <a:r>
              <a:rPr lang="en-US" b="0" dirty="0">
                <a:solidFill>
                  <a:srgbClr val="9CDCFE"/>
                </a:solidFill>
                <a:effectLst/>
                <a:latin typeface="Consolas" panose="020B0609020204030204" pitchFamily="49" charset="0"/>
              </a:rPr>
              <a:t>the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chunks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collection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would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contain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multiple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documents</a:t>
            </a:r>
            <a:r>
              <a:rPr lang="en-US" b="0" dirty="0">
                <a:solidFill>
                  <a:srgbClr val="D4D4D4"/>
                </a:solidFill>
                <a:effectLst/>
                <a:latin typeface="Consolas" panose="020B0609020204030204" pitchFamily="49" charset="0"/>
              </a:rPr>
              <a:t>. </a:t>
            </a: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a:solidFill>
                  <a:srgbClr val="4FC1FF"/>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few</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example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chunks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might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look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like</a:t>
            </a:r>
            <a:r>
              <a:rPr lang="en-US" b="0" dirty="0">
                <a:solidFill>
                  <a:srgbClr val="D4D4D4"/>
                </a:solidFill>
                <a:effectLst/>
                <a:latin typeface="Consolas" panose="020B0609020204030204" pitchFamily="49" charset="0"/>
              </a:rPr>
              <a:t> </a:t>
            </a:r>
            <a:r>
              <a:rPr lang="en-US" b="0" dirty="0">
                <a:solidFill>
                  <a:srgbClr val="C8C8C8"/>
                </a:solidFill>
                <a:effectLst/>
                <a:latin typeface="Consolas" panose="020B0609020204030204" pitchFamily="49" charset="0"/>
              </a:rPr>
              <a:t>this</a:t>
            </a:r>
            <a:r>
              <a:rPr lang="en-US" b="0" dirty="0">
                <a:solidFill>
                  <a:srgbClr val="D4D4D4"/>
                </a:solidFill>
                <a:effectLst/>
                <a:latin typeface="Consolas" panose="020B0609020204030204" pitchFamily="49" charset="0"/>
              </a:rPr>
              <a:t>:</a:t>
            </a: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ObjectId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"662d4f8a7e9a3b2c1d000002"</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files_id</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ObjectId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"662d4f8a7e9a3b2c1d000001"</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"n"</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"data"</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BinData</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First 255KB of video data</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"_id"</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ObjectId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"662d4f8a7e9a3b2c1d000002"</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files_id</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ObjectId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"662d4f8a7e9a3b2c1d000001"</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"n"</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"data"</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BinData</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First 255KB of video data</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5516141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D41037-528C-CA5F-7E51-9D38CBC79197}"/>
              </a:ext>
            </a:extLst>
          </p:cNvPr>
          <p:cNvSpPr txBox="1"/>
          <p:nvPr/>
        </p:nvSpPr>
        <p:spPr>
          <a:xfrm>
            <a:off x="116006" y="245576"/>
            <a:ext cx="4954136" cy="4954305"/>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On the </a:t>
            </a:r>
            <a:r>
              <a:rPr lang="en-US" b="0" dirty="0" err="1">
                <a:solidFill>
                  <a:srgbClr val="6A9955"/>
                </a:solidFill>
                <a:effectLst/>
                <a:latin typeface="Consolas" panose="020B0609020204030204" pitchFamily="49" charset="0"/>
              </a:rPr>
              <a:t>fs.chunks</a:t>
            </a:r>
            <a:r>
              <a:rPr lang="en-US" b="0" dirty="0">
                <a:solidFill>
                  <a:srgbClr val="6A9955"/>
                </a:solidFill>
                <a:effectLst/>
                <a:latin typeface="Consolas" panose="020B0609020204030204" pitchFamily="49" charset="0"/>
              </a:rPr>
              <a:t> collection,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an index on { </a:t>
            </a:r>
            <a:r>
              <a:rPr lang="en-US" b="0" dirty="0" err="1">
                <a:solidFill>
                  <a:srgbClr val="6A9955"/>
                </a:solidFill>
                <a:effectLst/>
                <a:latin typeface="Consolas" panose="020B0609020204030204" pitchFamily="49" charset="0"/>
              </a:rPr>
              <a:t>files_id</a:t>
            </a:r>
            <a:r>
              <a:rPr lang="en-US" b="0" dirty="0">
                <a:solidFill>
                  <a:srgbClr val="6A9955"/>
                </a:solidFill>
                <a:effectLst/>
                <a:latin typeface="Consolas" panose="020B0609020204030204" pitchFamily="49" charset="0"/>
              </a:rPr>
              <a:t>: 1, n: 1 } is essential.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This index allows MongoDB to quickly locate all the chunks belonging to a specific file (</a:t>
            </a:r>
            <a:r>
              <a:rPr lang="en-US" b="0" dirty="0" err="1">
                <a:solidFill>
                  <a:srgbClr val="6A9955"/>
                </a:solidFill>
                <a:effectLst/>
                <a:latin typeface="Consolas" panose="020B0609020204030204" pitchFamily="49" charset="0"/>
              </a:rPr>
              <a:t>files_id</a:t>
            </a:r>
            <a:r>
              <a:rPr lang="en-US" b="0" dirty="0">
                <a:solidFill>
                  <a:srgbClr val="6A9955"/>
                </a:solidFill>
                <a:effectLst/>
                <a:latin typeface="Consolas" panose="020B0609020204030204" pitchFamily="49" charset="0"/>
              </a:rPr>
              <a:t>)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and retrieve them in the correct order (n) for reconstruction.</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On the </a:t>
            </a:r>
            <a:r>
              <a:rPr lang="en-US" b="0" dirty="0" err="1">
                <a:solidFill>
                  <a:srgbClr val="6A9955"/>
                </a:solidFill>
                <a:effectLst/>
                <a:latin typeface="Consolas" panose="020B0609020204030204" pitchFamily="49" charset="0"/>
              </a:rPr>
              <a:t>fs.files</a:t>
            </a:r>
            <a:r>
              <a:rPr lang="en-US" b="0" dirty="0">
                <a:solidFill>
                  <a:srgbClr val="6A9955"/>
                </a:solidFill>
                <a:effectLst/>
                <a:latin typeface="Consolas" panose="020B0609020204030204" pitchFamily="49" charset="0"/>
              </a:rPr>
              <a:t> collection, </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an index on { filename: 1, </a:t>
            </a:r>
            <a:r>
              <a:rPr lang="en-US" b="0" dirty="0" err="1">
                <a:solidFill>
                  <a:srgbClr val="6A9955"/>
                </a:solidFill>
                <a:effectLst/>
                <a:latin typeface="Consolas" panose="020B0609020204030204" pitchFamily="49" charset="0"/>
              </a:rPr>
              <a:t>uploadDate</a:t>
            </a:r>
            <a:r>
              <a:rPr lang="en-US" b="0" dirty="0">
                <a:solidFill>
                  <a:srgbClr val="6A9955"/>
                </a:solidFill>
                <a:effectLst/>
                <a:latin typeface="Consolas" panose="020B0609020204030204" pitchFamily="49" charset="0"/>
              </a:rPr>
              <a:t>: 1 } is often useful for querying files by their name and upload date.</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An index on { md5: 1 } can be helpful for checking file integrity or identifying duplicate files.</a:t>
            </a: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chunks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getIndexes</a:t>
            </a:r>
            <a:r>
              <a:rPr lang="en-US" b="0" dirty="0">
                <a:solidFill>
                  <a:srgbClr val="D4D4D4"/>
                </a:solidFill>
                <a:effectLst/>
                <a:latin typeface="Consolas" panose="020B0609020204030204" pitchFamily="49" charset="0"/>
              </a:rPr>
              <a:t>()</a:t>
            </a: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files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getIndexes</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7508049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86873B-A7D2-8F05-572A-60ED853142E0}"/>
              </a:ext>
            </a:extLst>
          </p:cNvPr>
          <p:cNvSpPr txBox="1"/>
          <p:nvPr/>
        </p:nvSpPr>
        <p:spPr>
          <a:xfrm>
            <a:off x="580030" y="1167740"/>
            <a:ext cx="4954136" cy="2261260"/>
          </a:xfrm>
          <a:prstGeom prst="rect">
            <a:avLst/>
          </a:prstGeom>
          <a:noFill/>
        </p:spPr>
        <p:txBody>
          <a:bodyPr wrap="square">
            <a:spAutoFit/>
          </a:bodyPr>
          <a:lstStyle/>
          <a:p>
            <a:pPr>
              <a:lnSpc>
                <a:spcPts val="1425"/>
              </a:lnSpc>
              <a:buNone/>
            </a:pPr>
            <a:r>
              <a:rPr lang="en-US" b="0" dirty="0">
                <a:solidFill>
                  <a:srgbClr val="6A9955"/>
                </a:solidFill>
                <a:effectLst/>
                <a:latin typeface="Consolas" panose="020B0609020204030204" pitchFamily="49" charset="0"/>
              </a:rPr>
              <a:t>// List all files</a:t>
            </a: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files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Find a file by filename</a:t>
            </a: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files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findOne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filename:</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'my_large_video.mp4'</a:t>
            </a:r>
            <a:r>
              <a:rPr lang="en-US" b="0" dirty="0">
                <a:solidFill>
                  <a:srgbClr val="D4D4D4"/>
                </a:solidFill>
                <a:effectLst/>
                <a:latin typeface="Consolas" panose="020B0609020204030204" pitchFamily="49" charset="0"/>
              </a:rPr>
              <a:t> })</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Find files with specific metadata</a:t>
            </a:r>
            <a:endParaRPr lang="en-US" b="0" dirty="0">
              <a:solidFill>
                <a:srgbClr val="D4D4D4"/>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db</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files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metadata.category</a:t>
            </a:r>
            <a:r>
              <a:rPr lang="en-US" b="0" dirty="0">
                <a:solidFill>
                  <a:srgbClr val="CE9178"/>
                </a:solidFill>
                <a:effectLst/>
                <a:latin typeface="Consolas" panose="020B0609020204030204" pitchFamily="49" charset="0"/>
              </a:rPr>
              <a:t>'</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'images'</a:t>
            </a:r>
            <a:r>
              <a:rPr lang="en-US" b="0" dirty="0">
                <a:solidFill>
                  <a:srgbClr val="D4D4D4"/>
                </a:solidFill>
                <a:effectLst/>
                <a:latin typeface="Consolas" panose="020B0609020204030204" pitchFamily="49" charset="0"/>
              </a:rPr>
              <a:t> })</a:t>
            </a:r>
          </a:p>
        </p:txBody>
      </p:sp>
    </p:spTree>
    <p:extLst>
      <p:ext uri="{BB962C8B-B14F-4D97-AF65-F5344CB8AC3E}">
        <p14:creationId xmlns:p14="http://schemas.microsoft.com/office/powerpoint/2010/main" val="41301174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DB7AD9-6B24-4E9D-710C-3BC5A712FF85}"/>
              </a:ext>
            </a:extLst>
          </p:cNvPr>
          <p:cNvSpPr txBox="1"/>
          <p:nvPr/>
        </p:nvSpPr>
        <p:spPr>
          <a:xfrm>
            <a:off x="354842" y="420096"/>
            <a:ext cx="4954136" cy="2785378"/>
          </a:xfrm>
          <a:prstGeom prst="rect">
            <a:avLst/>
          </a:prstGeom>
          <a:noFill/>
        </p:spPr>
        <p:txBody>
          <a:bodyPr wrap="square">
            <a:spAutoFit/>
          </a:bodyPr>
          <a:lstStyle/>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 </a:t>
            </a:r>
            <a:r>
              <a:rPr lang="en-US" sz="1200" b="0" dirty="0" err="1">
                <a:solidFill>
                  <a:srgbClr val="4EC9B0"/>
                </a:solidFill>
                <a:effectLst/>
                <a:latin typeface="Consolas" panose="020B0609020204030204" pitchFamily="49" charset="0"/>
              </a:rPr>
              <a:t>GridFSBucket</a:t>
            </a:r>
            <a:r>
              <a:rPr lang="en-US" sz="1200" b="0" dirty="0">
                <a:solidFill>
                  <a:srgbClr val="D4D4D4"/>
                </a:solidFill>
                <a:effectLst/>
                <a:latin typeface="Consolas" panose="020B0609020204030204" pitchFamily="49" charset="0"/>
              </a:rPr>
              <a:t> } = </a:t>
            </a:r>
            <a:r>
              <a:rPr lang="en-US" sz="1200" b="0" dirty="0">
                <a:solidFill>
                  <a:srgbClr val="DCDCAA"/>
                </a:solidFill>
                <a:effectLst/>
                <a:latin typeface="Consolas" panose="020B0609020204030204" pitchFamily="49" charset="0"/>
              </a:rPr>
              <a:t>require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mongodb</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 </a:t>
            </a:r>
            <a:r>
              <a:rPr lang="en-US" sz="1200" b="0" dirty="0" err="1">
                <a:solidFill>
                  <a:srgbClr val="4EC9B0"/>
                </a:solidFill>
                <a:effectLst/>
                <a:latin typeface="Consolas" panose="020B0609020204030204" pitchFamily="49" charset="0"/>
              </a:rPr>
              <a:t>MongoClient</a:t>
            </a:r>
            <a:r>
              <a:rPr lang="en-US" sz="1200" b="0" dirty="0">
                <a:solidFill>
                  <a:srgbClr val="D4D4D4"/>
                </a:solidFill>
                <a:effectLst/>
                <a:latin typeface="Consolas" panose="020B0609020204030204" pitchFamily="49" charset="0"/>
              </a:rPr>
              <a:t> } = </a:t>
            </a:r>
            <a:r>
              <a:rPr lang="en-US" sz="1200" b="0" dirty="0">
                <a:solidFill>
                  <a:srgbClr val="DCDCAA"/>
                </a:solidFill>
                <a:effectLst/>
                <a:latin typeface="Consolas" panose="020B0609020204030204" pitchFamily="49" charset="0"/>
              </a:rPr>
              <a:t>require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mongodb</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async</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deleteFile</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filename</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uri</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mongodb</a:t>
            </a:r>
            <a:r>
              <a:rPr lang="en-US" sz="1200" b="0" dirty="0">
                <a:solidFill>
                  <a:srgbClr val="CE9178"/>
                </a:solidFill>
                <a:effectLst/>
                <a:latin typeface="Consolas" panose="020B0609020204030204" pitchFamily="49" charset="0"/>
              </a:rPr>
              <a:t>://localhost:27017/</a:t>
            </a:r>
            <a:r>
              <a:rPr lang="en-US" sz="1200" b="0" dirty="0" err="1">
                <a:solidFill>
                  <a:srgbClr val="CE9178"/>
                </a:solidFill>
                <a:effectLst/>
                <a:latin typeface="Consolas" panose="020B0609020204030204" pitchFamily="49" charset="0"/>
              </a:rPr>
              <a:t>mydatabase</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client</a:t>
            </a: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new</a:t>
            </a:r>
            <a:r>
              <a:rPr lang="en-US" sz="1200" b="0" dirty="0">
                <a:solidFill>
                  <a:srgbClr val="D4D4D4"/>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MongoClient</a:t>
            </a:r>
            <a:r>
              <a:rPr lang="en-US" sz="1200" b="0" dirty="0">
                <a:solidFill>
                  <a:srgbClr val="D4D4D4"/>
                </a:solidFill>
                <a:effectLst/>
                <a:latin typeface="Consolas" panose="020B0609020204030204" pitchFamily="49" charset="0"/>
              </a:rPr>
              <a:t>(</a:t>
            </a:r>
            <a:r>
              <a:rPr lang="en-US" sz="1200" b="0" dirty="0" err="1">
                <a:solidFill>
                  <a:srgbClr val="4FC1FF"/>
                </a:solidFill>
                <a:effectLst/>
                <a:latin typeface="Consolas" panose="020B0609020204030204" pitchFamily="49" charset="0"/>
              </a:rPr>
              <a:t>uri</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await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connect</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db</a:t>
            </a:r>
            <a:r>
              <a:rPr lang="en-US" sz="1200" b="0" dirty="0">
                <a:solidFill>
                  <a:srgbClr val="D4D4D4"/>
                </a:solidFill>
                <a:effectLst/>
                <a:latin typeface="Consolas" panose="020B0609020204030204" pitchFamily="49" charset="0"/>
              </a:rPr>
              <a:t> =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db</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bucket</a:t>
            </a: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new</a:t>
            </a:r>
            <a:r>
              <a:rPr lang="en-US" sz="1200" b="0" dirty="0">
                <a:solidFill>
                  <a:srgbClr val="D4D4D4"/>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GridFSBucket</a:t>
            </a:r>
            <a:r>
              <a:rPr lang="en-US" sz="1200" b="0" dirty="0">
                <a:solidFill>
                  <a:srgbClr val="D4D4D4"/>
                </a:solidFill>
                <a:effectLst/>
                <a:latin typeface="Consolas" panose="020B0609020204030204" pitchFamily="49" charset="0"/>
              </a:rPr>
              <a:t>(</a:t>
            </a:r>
            <a:r>
              <a:rPr lang="en-US" sz="1200" b="0" dirty="0" err="1">
                <a:solidFill>
                  <a:srgbClr val="4FC1FF"/>
                </a:solidFill>
                <a:effectLst/>
                <a:latin typeface="Consolas" panose="020B0609020204030204" pitchFamily="49" charset="0"/>
              </a:rPr>
              <a:t>db</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p:txBody>
      </p:sp>
      <p:sp>
        <p:nvSpPr>
          <p:cNvPr id="5" name="TextBox 4">
            <a:extLst>
              <a:ext uri="{FF2B5EF4-FFF2-40B4-BE49-F238E27FC236}">
                <a16:creationId xmlns:a16="http://schemas.microsoft.com/office/drawing/2014/main" id="{7064C1E7-D1C2-7E92-997A-4D5BF1B2DE4D}"/>
              </a:ext>
            </a:extLst>
          </p:cNvPr>
          <p:cNvSpPr txBox="1"/>
          <p:nvPr/>
        </p:nvSpPr>
        <p:spPr>
          <a:xfrm>
            <a:off x="5083792" y="151179"/>
            <a:ext cx="4954136" cy="6555641"/>
          </a:xfrm>
          <a:prstGeom prst="rect">
            <a:avLst/>
          </a:prstGeom>
          <a:noFill/>
        </p:spPr>
        <p:txBody>
          <a:bodyPr wrap="square">
            <a:spAutoFit/>
          </a:bodyPr>
          <a:lstStyle/>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FC1FF"/>
                </a:solidFill>
                <a:effectLst/>
                <a:latin typeface="Consolas" panose="020B0609020204030204" pitchFamily="49" charset="0"/>
              </a:rPr>
              <a:t>files</a:t>
            </a:r>
            <a:r>
              <a:rPr lang="en-US" sz="1200" b="0" dirty="0">
                <a:solidFill>
                  <a:srgbClr val="D4D4D4"/>
                </a:solidFill>
                <a:effectLst/>
                <a:latin typeface="Consolas" panose="020B0609020204030204" pitchFamily="49" charset="0"/>
              </a:rPr>
              <a:t> = </a:t>
            </a:r>
            <a:r>
              <a:rPr lang="en-US" sz="1200" b="0" dirty="0">
                <a:solidFill>
                  <a:srgbClr val="C586C0"/>
                </a:solidFill>
                <a:effectLst/>
                <a:latin typeface="Consolas" panose="020B0609020204030204" pitchFamily="49" charset="0"/>
              </a:rPr>
              <a:t>await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bucket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find</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filename: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filename</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toArray</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files</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length</a:t>
            </a:r>
            <a:r>
              <a:rPr lang="en-US" sz="1200" b="0" dirty="0">
                <a:solidFill>
                  <a:srgbClr val="D4D4D4"/>
                </a:solidFill>
                <a:effectLst/>
                <a:latin typeface="Consolas" panose="020B0609020204030204" pitchFamily="49" charset="0"/>
              </a:rPr>
              <a:t> &gt; </a:t>
            </a:r>
            <a:r>
              <a:rPr lang="en-US" sz="1200" b="0" dirty="0">
                <a:solidFill>
                  <a:srgbClr val="B5CEA8"/>
                </a:solidFill>
                <a:effectLst/>
                <a:latin typeface="Consolas" panose="020B0609020204030204" pitchFamily="49" charset="0"/>
              </a:rPr>
              <a:t>0</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fileId</a:t>
            </a:r>
            <a:r>
              <a:rPr lang="en-US" sz="1200" b="0" dirty="0">
                <a:solidFill>
                  <a:srgbClr val="D4D4D4"/>
                </a:solidFill>
                <a:effectLst/>
                <a:latin typeface="Consolas" panose="020B0609020204030204" pitchFamily="49" charset="0"/>
              </a:rPr>
              <a:t> = </a:t>
            </a:r>
            <a:r>
              <a:rPr lang="en-US" sz="1200" b="0" dirty="0">
                <a:solidFill>
                  <a:srgbClr val="4FC1FF"/>
                </a:solidFill>
                <a:effectLst/>
                <a:latin typeface="Consolas" panose="020B0609020204030204" pitchFamily="49" charset="0"/>
              </a:rPr>
              <a:t>files</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_id</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await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bucket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delete</a:t>
            </a:r>
            <a:r>
              <a:rPr lang="en-US" sz="1200" b="0" dirty="0">
                <a:solidFill>
                  <a:srgbClr val="D4D4D4"/>
                </a:solidFill>
                <a:effectLst/>
                <a:latin typeface="Consolas" panose="020B0609020204030204" pitchFamily="49" charset="0"/>
              </a:rPr>
              <a:t>(</a:t>
            </a:r>
            <a:r>
              <a:rPr lang="en-US" sz="1200" b="0" dirty="0" err="1">
                <a:solidFill>
                  <a:srgbClr val="4FC1FF"/>
                </a:solidFill>
                <a:effectLst/>
                <a:latin typeface="Consolas" panose="020B0609020204030204" pitchFamily="49" charset="0"/>
              </a:rPr>
              <a:t>fileId</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console</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log</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`File "</a:t>
            </a:r>
            <a:r>
              <a:rPr lang="en-US" sz="1200" b="0" dirty="0">
                <a:solidFill>
                  <a:srgbClr val="569CD6"/>
                </a:solidFill>
                <a:effectLst/>
                <a:latin typeface="Consolas" panose="020B0609020204030204" pitchFamily="49" charset="0"/>
              </a:rPr>
              <a:t>${</a:t>
            </a:r>
            <a:r>
              <a:rPr lang="en-US" sz="1200" b="0" dirty="0">
                <a:solidFill>
                  <a:srgbClr val="9CDCFE"/>
                </a:solidFill>
                <a:effectLst/>
                <a:latin typeface="Consolas" panose="020B0609020204030204" pitchFamily="49" charset="0"/>
              </a:rPr>
              <a:t>filename</a:t>
            </a:r>
            <a:r>
              <a:rPr lang="en-US" sz="1200" b="0" dirty="0">
                <a:solidFill>
                  <a:srgbClr val="569CD6"/>
                </a:solidFill>
                <a:effectLst/>
                <a:latin typeface="Consolas" panose="020B0609020204030204" pitchFamily="49" charset="0"/>
              </a:rPr>
              <a:t>}</a:t>
            </a:r>
            <a:r>
              <a:rPr lang="en-US" sz="1200" b="0" dirty="0">
                <a:solidFill>
                  <a:srgbClr val="CE9178"/>
                </a:solidFill>
                <a:effectLst/>
                <a:latin typeface="Consolas" panose="020B0609020204030204" pitchFamily="49" charset="0"/>
              </a:rPr>
              <a:t>" and its chunks deleted successfully.`</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 </a:t>
            </a:r>
            <a:r>
              <a:rPr lang="en-US" sz="1200" b="0" dirty="0">
                <a:solidFill>
                  <a:srgbClr val="C586C0"/>
                </a:solidFill>
                <a:effectLst/>
                <a:latin typeface="Consolas" panose="020B0609020204030204" pitchFamily="49" charset="0"/>
              </a:rPr>
              <a:t>else</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console</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log</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`File "</a:t>
            </a:r>
            <a:r>
              <a:rPr lang="en-US" sz="1200" b="0" dirty="0">
                <a:solidFill>
                  <a:srgbClr val="569CD6"/>
                </a:solidFill>
                <a:effectLst/>
                <a:latin typeface="Consolas" panose="020B0609020204030204" pitchFamily="49" charset="0"/>
              </a:rPr>
              <a:t>${</a:t>
            </a:r>
            <a:r>
              <a:rPr lang="en-US" sz="1200" b="0" dirty="0">
                <a:solidFill>
                  <a:srgbClr val="9CDCFE"/>
                </a:solidFill>
                <a:effectLst/>
                <a:latin typeface="Consolas" panose="020B0609020204030204" pitchFamily="49" charset="0"/>
              </a:rPr>
              <a:t>filename</a:t>
            </a:r>
            <a:r>
              <a:rPr lang="en-US" sz="1200" b="0" dirty="0">
                <a:solidFill>
                  <a:srgbClr val="569CD6"/>
                </a:solidFill>
                <a:effectLst/>
                <a:latin typeface="Consolas" panose="020B0609020204030204" pitchFamily="49" charset="0"/>
              </a:rPr>
              <a:t>}</a:t>
            </a:r>
            <a:r>
              <a:rPr lang="en-US" sz="1200" b="0" dirty="0">
                <a:solidFill>
                  <a:srgbClr val="CE9178"/>
                </a:solidFill>
                <a:effectLst/>
                <a:latin typeface="Consolas" panose="020B0609020204030204" pitchFamily="49" charset="0"/>
              </a:rPr>
              <a:t>" not found.`</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 </a:t>
            </a:r>
            <a:r>
              <a:rPr lang="en-US" sz="1200" b="0" dirty="0">
                <a:solidFill>
                  <a:srgbClr val="C586C0"/>
                </a:solidFill>
                <a:effectLst/>
                <a:latin typeface="Consolas" panose="020B0609020204030204" pitchFamily="49" charset="0"/>
              </a:rPr>
              <a:t>catch</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console</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error</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'Error deleting file:'</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err</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 </a:t>
            </a:r>
            <a:r>
              <a:rPr lang="en-US" sz="1200" b="0" dirty="0">
                <a:solidFill>
                  <a:srgbClr val="C586C0"/>
                </a:solidFill>
                <a:effectLst/>
                <a:latin typeface="Consolas" panose="020B0609020204030204" pitchFamily="49" charset="0"/>
              </a:rPr>
              <a:t>finally</a:t>
            </a: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await</a:t>
            </a:r>
            <a:r>
              <a:rPr lang="en-US" sz="1200" b="0" dirty="0">
                <a:solidFill>
                  <a:srgbClr val="D4D4D4"/>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client</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close</a:t>
            </a:r>
            <a:r>
              <a:rPr lang="en-US" sz="1200" b="0" dirty="0">
                <a:solidFill>
                  <a:srgbClr val="D4D4D4"/>
                </a:solidFill>
                <a:effectLst/>
                <a:latin typeface="Consolas" panose="020B0609020204030204" pitchFamily="49" charset="0"/>
              </a:rPr>
              <a:t>();</a:t>
            </a:r>
          </a:p>
          <a:p>
            <a:pPr>
              <a:lnSpc>
                <a:spcPts val="1425"/>
              </a:lnSpc>
              <a:buNone/>
            </a:pPr>
            <a:r>
              <a:rPr lang="en-US" sz="1200" b="0" dirty="0">
                <a:solidFill>
                  <a:srgbClr val="D4D4D4"/>
                </a:solidFill>
                <a:effectLst/>
                <a:latin typeface="Consolas" panose="020B0609020204030204" pitchFamily="49" charset="0"/>
              </a:rPr>
              <a:t>  }</a:t>
            </a:r>
          </a:p>
          <a:p>
            <a:pPr>
              <a:lnSpc>
                <a:spcPts val="1425"/>
              </a:lnSpc>
              <a:buNone/>
            </a:pP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DCDCAA"/>
                </a:solidFill>
                <a:effectLst/>
                <a:latin typeface="Consolas" panose="020B0609020204030204" pitchFamily="49" charset="0"/>
              </a:rPr>
              <a:t>deleteFile</a:t>
            </a:r>
            <a:r>
              <a:rPr lang="en-US" sz="1200" b="0" dirty="0">
                <a:solidFill>
                  <a:srgbClr val="D4D4D4"/>
                </a:solidFill>
                <a:effectLst/>
                <a:latin typeface="Consolas" panose="020B0609020204030204" pitchFamily="49" charset="0"/>
              </a:rPr>
              <a:t>(</a:t>
            </a:r>
            <a:r>
              <a:rPr lang="en-US" sz="1200" b="0" dirty="0">
                <a:solidFill>
                  <a:srgbClr val="CE9178"/>
                </a:solidFill>
                <a:effectLst/>
                <a:latin typeface="Consolas" panose="020B0609020204030204" pitchFamily="49" charset="0"/>
              </a:rPr>
              <a:t>'my_large_video.mp4'</a:t>
            </a:r>
            <a:r>
              <a:rPr lang="en-US" sz="1200" b="0" dirty="0">
                <a:solidFill>
                  <a:srgbClr val="D4D4D4"/>
                </a:solidFill>
                <a:effectLst/>
                <a:latin typeface="Consolas" panose="020B0609020204030204" pitchFamily="49" charset="0"/>
              </a:rPr>
              <a:t>);</a:t>
            </a:r>
          </a:p>
          <a:p>
            <a:pPr>
              <a:lnSpc>
                <a:spcPts val="1425"/>
              </a:lnSpc>
              <a:buNone/>
            </a:pPr>
            <a:br>
              <a:rPr lang="en-US" sz="1200" b="0" dirty="0">
                <a:solidFill>
                  <a:srgbClr val="D4D4D4"/>
                </a:solidFill>
                <a:effectLst/>
                <a:latin typeface="Consolas" panose="020B0609020204030204" pitchFamily="49" charset="0"/>
              </a:rPr>
            </a:b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Not Recommended:</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Find the _id of the file</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const </a:t>
            </a:r>
            <a:r>
              <a:rPr lang="en-US" sz="1200" b="0" dirty="0" err="1">
                <a:solidFill>
                  <a:srgbClr val="6A9955"/>
                </a:solidFill>
                <a:effectLst/>
                <a:latin typeface="Consolas" panose="020B0609020204030204" pitchFamily="49" charset="0"/>
              </a:rPr>
              <a:t>fileToDelete</a:t>
            </a:r>
            <a:r>
              <a:rPr lang="en-US" sz="1200" b="0" dirty="0">
                <a:solidFill>
                  <a:srgbClr val="6A9955"/>
                </a:solidFill>
                <a:effectLst/>
                <a:latin typeface="Consolas" panose="020B0609020204030204" pitchFamily="49" charset="0"/>
              </a:rPr>
              <a:t> = </a:t>
            </a:r>
            <a:r>
              <a:rPr lang="en-US" sz="1200" b="0" dirty="0" err="1">
                <a:solidFill>
                  <a:srgbClr val="6A9955"/>
                </a:solidFill>
                <a:effectLst/>
                <a:latin typeface="Consolas" panose="020B0609020204030204" pitchFamily="49" charset="0"/>
              </a:rPr>
              <a:t>db.fs.files.findOne</a:t>
            </a:r>
            <a:r>
              <a:rPr lang="en-US" sz="1200" b="0" dirty="0">
                <a:solidFill>
                  <a:srgbClr val="6A9955"/>
                </a:solidFill>
                <a:effectLst/>
                <a:latin typeface="Consolas" panose="020B0609020204030204" pitchFamily="49" charset="0"/>
              </a:rPr>
              <a:t>({ filename: 'my_large_video.mp4' });</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Then delete the metadata</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6A9955"/>
                </a:solidFill>
                <a:effectLst/>
                <a:latin typeface="Consolas" panose="020B0609020204030204" pitchFamily="49" charset="0"/>
              </a:rPr>
              <a:t>db.fs.files.deleteOne</a:t>
            </a:r>
            <a:r>
              <a:rPr lang="en-US" sz="1200" b="0" dirty="0">
                <a:solidFill>
                  <a:srgbClr val="6A9955"/>
                </a:solidFill>
                <a:effectLst/>
                <a:latin typeface="Consolas" panose="020B0609020204030204" pitchFamily="49" charset="0"/>
              </a:rPr>
              <a:t>({ _id: </a:t>
            </a:r>
            <a:r>
              <a:rPr lang="en-US" sz="1200" b="0" dirty="0" err="1">
                <a:solidFill>
                  <a:srgbClr val="6A9955"/>
                </a:solidFill>
                <a:effectLst/>
                <a:latin typeface="Consolas" panose="020B0609020204030204" pitchFamily="49" charset="0"/>
              </a:rPr>
              <a:t>fileToDelete</a:t>
            </a:r>
            <a:r>
              <a:rPr lang="en-US" sz="1200" b="0" dirty="0">
                <a:solidFill>
                  <a:srgbClr val="6A9955"/>
                </a:solidFill>
                <a:effectLst/>
                <a:latin typeface="Consolas" panose="020B0609020204030204" pitchFamily="49" charset="0"/>
              </a:rPr>
              <a:t>._id })</a:t>
            </a:r>
            <a:endParaRPr lang="en-US" sz="1200" b="0" dirty="0">
              <a:solidFill>
                <a:srgbClr val="D4D4D4"/>
              </a:solidFill>
              <a:effectLst/>
              <a:latin typeface="Consolas" panose="020B0609020204030204" pitchFamily="49" charset="0"/>
            </a:endParaRPr>
          </a:p>
          <a:p>
            <a:pPr>
              <a:lnSpc>
                <a:spcPts val="1425"/>
              </a:lnSpc>
              <a:buNone/>
            </a:pPr>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And delete all associated chunks</a:t>
            </a:r>
            <a:endParaRPr lang="en-US" sz="1200" b="0" dirty="0">
              <a:solidFill>
                <a:srgbClr val="D4D4D4"/>
              </a:solidFill>
              <a:effectLst/>
              <a:latin typeface="Consolas" panose="020B0609020204030204" pitchFamily="49" charset="0"/>
            </a:endParaRPr>
          </a:p>
          <a:p>
            <a:pPr>
              <a:lnSpc>
                <a:spcPts val="1425"/>
              </a:lnSpc>
              <a:buNone/>
            </a:pPr>
            <a:r>
              <a:rPr lang="en-US" sz="1200" b="0" dirty="0" err="1">
                <a:solidFill>
                  <a:srgbClr val="6A9955"/>
                </a:solidFill>
                <a:effectLst/>
                <a:latin typeface="Consolas" panose="020B0609020204030204" pitchFamily="49" charset="0"/>
              </a:rPr>
              <a:t>db.fs.chunks.deleteMany</a:t>
            </a:r>
            <a:r>
              <a:rPr lang="en-US" sz="1200" b="0" dirty="0">
                <a:solidFill>
                  <a:srgbClr val="6A9955"/>
                </a:solidFill>
                <a:effectLst/>
                <a:latin typeface="Consolas" panose="020B0609020204030204" pitchFamily="49" charset="0"/>
              </a:rPr>
              <a:t>({ </a:t>
            </a:r>
            <a:r>
              <a:rPr lang="en-US" sz="1200" b="0" dirty="0" err="1">
                <a:solidFill>
                  <a:srgbClr val="6A9955"/>
                </a:solidFill>
                <a:effectLst/>
                <a:latin typeface="Consolas" panose="020B0609020204030204" pitchFamily="49" charset="0"/>
              </a:rPr>
              <a:t>files_id</a:t>
            </a:r>
            <a:r>
              <a:rPr lang="en-US" sz="1200" b="0" dirty="0">
                <a:solidFill>
                  <a:srgbClr val="6A9955"/>
                </a:solidFill>
                <a:effectLst/>
                <a:latin typeface="Consolas" panose="020B0609020204030204" pitchFamily="49" charset="0"/>
              </a:rPr>
              <a:t>: </a:t>
            </a:r>
            <a:r>
              <a:rPr lang="en-US" sz="1200" b="0" dirty="0" err="1">
                <a:solidFill>
                  <a:srgbClr val="6A9955"/>
                </a:solidFill>
                <a:effectLst/>
                <a:latin typeface="Consolas" panose="020B0609020204030204" pitchFamily="49" charset="0"/>
              </a:rPr>
              <a:t>fileToDelete</a:t>
            </a:r>
            <a:r>
              <a:rPr lang="en-US" sz="1200" b="0" dirty="0">
                <a:solidFill>
                  <a:srgbClr val="6A9955"/>
                </a:solidFill>
                <a:effectLst/>
                <a:latin typeface="Consolas" panose="020B0609020204030204" pitchFamily="49" charset="0"/>
              </a:rPr>
              <a:t>._id })</a:t>
            </a:r>
            <a:endParaRPr lang="en-US" sz="1200" b="0" dirty="0">
              <a:solidFill>
                <a:srgbClr val="D4D4D4"/>
              </a:solidFill>
              <a:effectLst/>
              <a:latin typeface="Consolas" panose="020B0609020204030204" pitchFamily="49" charset="0"/>
            </a:endParaRPr>
          </a:p>
          <a:p>
            <a:pPr>
              <a:lnSpc>
                <a:spcPts val="1425"/>
              </a:lnSpc>
              <a:buNone/>
            </a:pPr>
            <a:r>
              <a:rPr lang="en-US" sz="1200" b="0" dirty="0">
                <a:solidFill>
                  <a:srgbClr val="6A9955"/>
                </a:solidFill>
                <a:effectLst/>
                <a:latin typeface="Consolas" panose="020B0609020204030204" pitchFamily="49" charset="0"/>
              </a:rPr>
              <a:t>*/</a:t>
            </a:r>
            <a:endParaRPr lang="en-US" sz="12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5231954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FD7D75-8DB9-22A9-E8CA-318C4315D0C5}"/>
              </a:ext>
            </a:extLst>
          </p:cNvPr>
          <p:cNvSpPr txBox="1"/>
          <p:nvPr/>
        </p:nvSpPr>
        <p:spPr>
          <a:xfrm>
            <a:off x="511791" y="648868"/>
            <a:ext cx="4954136" cy="1722651"/>
          </a:xfrm>
          <a:prstGeom prst="rect">
            <a:avLst/>
          </a:prstGeom>
          <a:noFill/>
        </p:spPr>
        <p:txBody>
          <a:bodyPr wrap="square">
            <a:spAutoFit/>
          </a:bodyPr>
          <a:lstStyle/>
          <a:p>
            <a:pPr>
              <a:lnSpc>
                <a:spcPts val="1425"/>
              </a:lnSpc>
              <a:buNone/>
            </a:pPr>
            <a:r>
              <a:rPr lang="en-US" b="0" dirty="0" err="1">
                <a:solidFill>
                  <a:srgbClr val="D4D4D4"/>
                </a:solidFill>
                <a:effectLst/>
                <a:latin typeface="Consolas" panose="020B0609020204030204" pitchFamily="49" charset="0"/>
              </a:rPr>
              <a:t>Package.json</a:t>
            </a:r>
            <a:br>
              <a:rPr lang="en-US"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r>
              <a:rPr lang="en-US" b="0" dirty="0">
                <a:solidFill>
                  <a:srgbClr val="D4D4D4"/>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"dependencies"</a:t>
            </a: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mongodb</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"^6.16.0"</a:t>
            </a:r>
            <a:endParaRPr lang="en-US" b="0" dirty="0">
              <a:solidFill>
                <a:srgbClr val="D4D4D4"/>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p>
          <a:p>
            <a:pPr>
              <a:lnSpc>
                <a:spcPts val="1425"/>
              </a:lnSpc>
              <a:buNone/>
            </a:pPr>
            <a:r>
              <a:rPr lang="en-US" b="0" dirty="0">
                <a:solidFill>
                  <a:srgbClr val="D4D4D4"/>
                </a:solidFill>
                <a:effectLst/>
                <a:latin typeface="Consolas" panose="020B0609020204030204" pitchFamily="49" charset="0"/>
              </a:rPr>
              <a:t>}</a:t>
            </a:r>
          </a:p>
          <a:p>
            <a:pPr>
              <a:lnSpc>
                <a:spcPts val="1425"/>
              </a:lnSpc>
              <a:buNone/>
            </a:pPr>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9585885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Tree>
    <p:extLst>
      <p:ext uri="{BB962C8B-B14F-4D97-AF65-F5344CB8AC3E}">
        <p14:creationId xmlns:p14="http://schemas.microsoft.com/office/powerpoint/2010/main" val="31339317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Tree>
    <p:extLst>
      <p:ext uri="{BB962C8B-B14F-4D97-AF65-F5344CB8AC3E}">
        <p14:creationId xmlns:p14="http://schemas.microsoft.com/office/powerpoint/2010/main" val="28480790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Tree>
    <p:extLst>
      <p:ext uri="{BB962C8B-B14F-4D97-AF65-F5344CB8AC3E}">
        <p14:creationId xmlns:p14="http://schemas.microsoft.com/office/powerpoint/2010/main" val="23667029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Tree>
    <p:extLst>
      <p:ext uri="{BB962C8B-B14F-4D97-AF65-F5344CB8AC3E}">
        <p14:creationId xmlns:p14="http://schemas.microsoft.com/office/powerpoint/2010/main" val="24405599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Tree>
    <p:extLst>
      <p:ext uri="{BB962C8B-B14F-4D97-AF65-F5344CB8AC3E}">
        <p14:creationId xmlns:p14="http://schemas.microsoft.com/office/powerpoint/2010/main" val="4701438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Tree>
    <p:extLst>
      <p:ext uri="{BB962C8B-B14F-4D97-AF65-F5344CB8AC3E}">
        <p14:creationId xmlns:p14="http://schemas.microsoft.com/office/powerpoint/2010/main" val="41036620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Tree>
    <p:extLst>
      <p:ext uri="{BB962C8B-B14F-4D97-AF65-F5344CB8AC3E}">
        <p14:creationId xmlns:p14="http://schemas.microsoft.com/office/powerpoint/2010/main" val="23931530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Tree>
    <p:extLst>
      <p:ext uri="{BB962C8B-B14F-4D97-AF65-F5344CB8AC3E}">
        <p14:creationId xmlns:p14="http://schemas.microsoft.com/office/powerpoint/2010/main" val="20796822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Tree>
    <p:extLst>
      <p:ext uri="{BB962C8B-B14F-4D97-AF65-F5344CB8AC3E}">
        <p14:creationId xmlns:p14="http://schemas.microsoft.com/office/powerpoint/2010/main" val="1291932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Tree>
    <p:extLst>
      <p:ext uri="{BB962C8B-B14F-4D97-AF65-F5344CB8AC3E}">
        <p14:creationId xmlns:p14="http://schemas.microsoft.com/office/powerpoint/2010/main" val="8707807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Tree>
    <p:extLst>
      <p:ext uri="{BB962C8B-B14F-4D97-AF65-F5344CB8AC3E}">
        <p14:creationId xmlns:p14="http://schemas.microsoft.com/office/powerpoint/2010/main" val="39548803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Tree>
    <p:extLst>
      <p:ext uri="{BB962C8B-B14F-4D97-AF65-F5344CB8AC3E}">
        <p14:creationId xmlns:p14="http://schemas.microsoft.com/office/powerpoint/2010/main" val="14352370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Tree>
    <p:extLst>
      <p:ext uri="{BB962C8B-B14F-4D97-AF65-F5344CB8AC3E}">
        <p14:creationId xmlns:p14="http://schemas.microsoft.com/office/powerpoint/2010/main" val="243527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Tree>
    <p:extLst>
      <p:ext uri="{BB962C8B-B14F-4D97-AF65-F5344CB8AC3E}">
        <p14:creationId xmlns:p14="http://schemas.microsoft.com/office/powerpoint/2010/main" val="26230847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Tree>
    <p:extLst>
      <p:ext uri="{BB962C8B-B14F-4D97-AF65-F5344CB8AC3E}">
        <p14:creationId xmlns:p14="http://schemas.microsoft.com/office/powerpoint/2010/main" val="281360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Tree>
    <p:extLst>
      <p:ext uri="{BB962C8B-B14F-4D97-AF65-F5344CB8AC3E}">
        <p14:creationId xmlns:p14="http://schemas.microsoft.com/office/powerpoint/2010/main" val="32548526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Tree>
    <p:extLst>
      <p:ext uri="{BB962C8B-B14F-4D97-AF65-F5344CB8AC3E}">
        <p14:creationId xmlns:p14="http://schemas.microsoft.com/office/powerpoint/2010/main" val="7415128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Tree>
    <p:extLst>
      <p:ext uri="{BB962C8B-B14F-4D97-AF65-F5344CB8AC3E}">
        <p14:creationId xmlns:p14="http://schemas.microsoft.com/office/powerpoint/2010/main" val="26190612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Tree>
    <p:extLst>
      <p:ext uri="{BB962C8B-B14F-4D97-AF65-F5344CB8AC3E}">
        <p14:creationId xmlns:p14="http://schemas.microsoft.com/office/powerpoint/2010/main" val="22578588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Tree>
    <p:extLst>
      <p:ext uri="{BB962C8B-B14F-4D97-AF65-F5344CB8AC3E}">
        <p14:creationId xmlns:p14="http://schemas.microsoft.com/office/powerpoint/2010/main" val="15510496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Tree>
    <p:extLst>
      <p:ext uri="{BB962C8B-B14F-4D97-AF65-F5344CB8AC3E}">
        <p14:creationId xmlns:p14="http://schemas.microsoft.com/office/powerpoint/2010/main" val="30713279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Tree>
    <p:extLst>
      <p:ext uri="{BB962C8B-B14F-4D97-AF65-F5344CB8AC3E}">
        <p14:creationId xmlns:p14="http://schemas.microsoft.com/office/powerpoint/2010/main" val="1570452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Tree>
    <p:extLst>
      <p:ext uri="{BB962C8B-B14F-4D97-AF65-F5344CB8AC3E}">
        <p14:creationId xmlns:p14="http://schemas.microsoft.com/office/powerpoint/2010/main" val="108842440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Tree>
    <p:extLst>
      <p:ext uri="{BB962C8B-B14F-4D97-AF65-F5344CB8AC3E}">
        <p14:creationId xmlns:p14="http://schemas.microsoft.com/office/powerpoint/2010/main" val="39775751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Tree>
    <p:extLst>
      <p:ext uri="{BB962C8B-B14F-4D97-AF65-F5344CB8AC3E}">
        <p14:creationId xmlns:p14="http://schemas.microsoft.com/office/powerpoint/2010/main" val="18625177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Tree>
    <p:extLst>
      <p:ext uri="{BB962C8B-B14F-4D97-AF65-F5344CB8AC3E}">
        <p14:creationId xmlns:p14="http://schemas.microsoft.com/office/powerpoint/2010/main" val="201991277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Tree>
    <p:extLst>
      <p:ext uri="{BB962C8B-B14F-4D97-AF65-F5344CB8AC3E}">
        <p14:creationId xmlns:p14="http://schemas.microsoft.com/office/powerpoint/2010/main" val="16776248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Tree>
    <p:extLst>
      <p:ext uri="{BB962C8B-B14F-4D97-AF65-F5344CB8AC3E}">
        <p14:creationId xmlns:p14="http://schemas.microsoft.com/office/powerpoint/2010/main" val="29966819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Tree>
    <p:extLst>
      <p:ext uri="{BB962C8B-B14F-4D97-AF65-F5344CB8AC3E}">
        <p14:creationId xmlns:p14="http://schemas.microsoft.com/office/powerpoint/2010/main" val="29060760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Tree>
    <p:extLst>
      <p:ext uri="{BB962C8B-B14F-4D97-AF65-F5344CB8AC3E}">
        <p14:creationId xmlns:p14="http://schemas.microsoft.com/office/powerpoint/2010/main" val="40264529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Tree>
    <p:extLst>
      <p:ext uri="{BB962C8B-B14F-4D97-AF65-F5344CB8AC3E}">
        <p14:creationId xmlns:p14="http://schemas.microsoft.com/office/powerpoint/2010/main" val="23174730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Tree>
    <p:extLst>
      <p:ext uri="{BB962C8B-B14F-4D97-AF65-F5344CB8AC3E}">
        <p14:creationId xmlns:p14="http://schemas.microsoft.com/office/powerpoint/2010/main" val="5201467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Tree>
    <p:extLst>
      <p:ext uri="{BB962C8B-B14F-4D97-AF65-F5344CB8AC3E}">
        <p14:creationId xmlns:p14="http://schemas.microsoft.com/office/powerpoint/2010/main" val="7537654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Tree>
    <p:extLst>
      <p:ext uri="{BB962C8B-B14F-4D97-AF65-F5344CB8AC3E}">
        <p14:creationId xmlns:p14="http://schemas.microsoft.com/office/powerpoint/2010/main" val="408203408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spcBef>
            <a:spcPts val="1200"/>
          </a:spcBef>
          <a:spcAft>
            <a:spcPts val="1200"/>
          </a:spcAft>
          <a:buNone/>
          <a:defRPr b="1" i="0" dirty="0">
            <a:solidFill>
              <a:srgbClr val="FFFF00"/>
            </a:solidFill>
            <a:effectLst/>
            <a:latin typeface="quote-cjk-patch"/>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943</TotalTime>
  <Words>9069</Words>
  <Application>Microsoft Office PowerPoint</Application>
  <PresentationFormat>A4 Paper (210x297 mm)</PresentationFormat>
  <Paragraphs>1479</Paragraphs>
  <Slides>135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135</vt:i4>
      </vt:variant>
    </vt:vector>
  </HeadingPairs>
  <TitlesOfParts>
    <vt:vector size="142" baseType="lpstr">
      <vt:lpstr>Aptos</vt:lpstr>
      <vt:lpstr>Aptos Display</vt:lpstr>
      <vt:lpstr>Arial</vt:lpstr>
      <vt:lpstr>Consolas</vt:lpstr>
      <vt:lpstr>Menlo</vt:lpstr>
      <vt:lpstr>quote-cjk-patch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91</cp:revision>
  <dcterms:created xsi:type="dcterms:W3CDTF">2026-02-06T21:19:28Z</dcterms:created>
  <dcterms:modified xsi:type="dcterms:W3CDTF">2026-02-22T17:50:50Z</dcterms:modified>
</cp:coreProperties>
</file>