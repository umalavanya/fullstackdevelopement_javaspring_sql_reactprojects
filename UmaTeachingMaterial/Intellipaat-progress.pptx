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7" r:id="rId2"/>
    <p:sldId id="361" r:id="rId3"/>
    <p:sldId id="256" r:id="rId4"/>
    <p:sldId id="362" r:id="rId5"/>
    <p:sldId id="360" r:id="rId6"/>
    <p:sldId id="363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51" d="100"/>
          <a:sy n="51" d="100"/>
        </p:scale>
        <p:origin x="43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D9AA9-9470-391A-9B16-2A82F597D5A1}"/>
              </a:ext>
            </a:extLst>
          </p:cNvPr>
          <p:cNvSpPr txBox="1"/>
          <p:nvPr/>
        </p:nvSpPr>
        <p:spPr>
          <a:xfrm>
            <a:off x="147436" y="4037727"/>
            <a:ext cx="386092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Ethical Hacking CEH Certification Training (V12)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A6EEF-FE72-8471-57DE-CE29A44FC40F}"/>
              </a:ext>
            </a:extLst>
          </p:cNvPr>
          <p:cNvSpPr txBox="1"/>
          <p:nvPr/>
        </p:nvSpPr>
        <p:spPr>
          <a:xfrm>
            <a:off x="147436" y="2541012"/>
            <a:ext cx="210403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React JS Course Material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78B77-71E5-3922-59C5-82B88FDE6394}"/>
              </a:ext>
            </a:extLst>
          </p:cNvPr>
          <p:cNvSpPr txBox="1"/>
          <p:nvPr/>
        </p:nvSpPr>
        <p:spPr>
          <a:xfrm>
            <a:off x="147436" y="3039917"/>
            <a:ext cx="202779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Full Stack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39584-416E-A4E2-0422-EA301CD54EB0}"/>
              </a:ext>
            </a:extLst>
          </p:cNvPr>
          <p:cNvSpPr txBox="1"/>
          <p:nvPr/>
        </p:nvSpPr>
        <p:spPr>
          <a:xfrm>
            <a:off x="147436" y="4545829"/>
            <a:ext cx="308770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EPGC in Full Stack Web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C8910-2C8A-B215-103E-816A41A789EF}"/>
              </a:ext>
            </a:extLst>
          </p:cNvPr>
          <p:cNvSpPr txBox="1"/>
          <p:nvPr/>
        </p:nvSpPr>
        <p:spPr>
          <a:xfrm>
            <a:off x="147436" y="3538822"/>
            <a:ext cx="147008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Sample SQL PRT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E156D-7864-3734-7497-F63884F8C8DA}"/>
              </a:ext>
            </a:extLst>
          </p:cNvPr>
          <p:cNvSpPr txBox="1"/>
          <p:nvPr/>
        </p:nvSpPr>
        <p:spPr>
          <a:xfrm>
            <a:off x="7055172" y="6335299"/>
            <a:ext cx="274267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SQL Assessment February - 2026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105AF7-1F55-CD80-DAFA-5713E3A771B0}"/>
              </a:ext>
            </a:extLst>
          </p:cNvPr>
          <p:cNvSpPr txBox="1"/>
          <p:nvPr/>
        </p:nvSpPr>
        <p:spPr>
          <a:xfrm>
            <a:off x="5449074" y="2541012"/>
            <a:ext cx="364003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Online Session EPGC BC 251312 Orientation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DB873-8C68-425F-BD4D-546F9BD31325}"/>
              </a:ext>
            </a:extLst>
          </p:cNvPr>
          <p:cNvSpPr txBox="1"/>
          <p:nvPr/>
        </p:nvSpPr>
        <p:spPr>
          <a:xfrm>
            <a:off x="5222697" y="3384933"/>
            <a:ext cx="40927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Online Session EPGC DS and AI-BC= 251312 (SQL)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FD854A-6AC9-768C-14F2-88451E17B5FD}"/>
              </a:ext>
            </a:extLst>
          </p:cNvPr>
          <p:cNvSpPr txBox="1"/>
          <p:nvPr/>
        </p:nvSpPr>
        <p:spPr>
          <a:xfrm>
            <a:off x="5222697" y="852555"/>
            <a:ext cx="407194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Online Session Full Stack BC 261701 HTML CSS JS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38F4B-342F-B09D-08EE-CB69B374E4EB}"/>
              </a:ext>
            </a:extLst>
          </p:cNvPr>
          <p:cNvSpPr txBox="1"/>
          <p:nvPr/>
        </p:nvSpPr>
        <p:spPr>
          <a:xfrm>
            <a:off x="5568320" y="1729235"/>
            <a:ext cx="323543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Online Full Stack BC=263101 MongoDB</a:t>
            </a:r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07C98-2E2B-CD3C-E431-6D5014AD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F3A3E-41F0-CF4A-57CD-7D6AA32327FF}"/>
              </a:ext>
            </a:extLst>
          </p:cNvPr>
          <p:cNvSpPr txBox="1"/>
          <p:nvPr/>
        </p:nvSpPr>
        <p:spPr>
          <a:xfrm>
            <a:off x="354705" y="141416"/>
            <a:ext cx="46038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EF85C-BA5C-A757-EA2F-E237099F28A5}"/>
              </a:ext>
            </a:extLst>
          </p:cNvPr>
          <p:cNvSpPr txBox="1"/>
          <p:nvPr/>
        </p:nvSpPr>
        <p:spPr>
          <a:xfrm>
            <a:off x="892159" y="151702"/>
            <a:ext cx="888385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Self paced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D3E85E-B47B-1947-4F3D-ED87DB9ACDDD}"/>
              </a:ext>
            </a:extLst>
          </p:cNvPr>
          <p:cNvSpPr txBox="1"/>
          <p:nvPr/>
        </p:nvSpPr>
        <p:spPr>
          <a:xfrm>
            <a:off x="150129" y="497099"/>
            <a:ext cx="257583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Module1: Introduction to SQL</a:t>
            </a:r>
          </a:p>
          <a:p>
            <a:r>
              <a:rPr lang="en-US" sz="1200" dirty="0"/>
              <a:t>Lecture1-Introduction to Databases</a:t>
            </a:r>
          </a:p>
          <a:p>
            <a:r>
              <a:rPr lang="en-US" sz="1200" dirty="0"/>
              <a:t>Lecture2-MS SQL Server Installation</a:t>
            </a:r>
          </a:p>
          <a:p>
            <a:r>
              <a:rPr lang="en-US" sz="1200" dirty="0"/>
              <a:t>Lecture3-Tables in SQL</a:t>
            </a:r>
          </a:p>
          <a:p>
            <a:r>
              <a:rPr lang="en-US" sz="1200" dirty="0"/>
              <a:t>Quiz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EF839A-3BCE-6A9B-0E7B-95B8F0646682}"/>
              </a:ext>
            </a:extLst>
          </p:cNvPr>
          <p:cNvSpPr txBox="1"/>
          <p:nvPr/>
        </p:nvSpPr>
        <p:spPr>
          <a:xfrm>
            <a:off x="150129" y="1512762"/>
            <a:ext cx="298703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Module2: Data Types and Constraints</a:t>
            </a:r>
          </a:p>
          <a:p>
            <a:r>
              <a:rPr lang="en-US" sz="1200" dirty="0"/>
              <a:t>Lecture1- Create, Use and Drop Database</a:t>
            </a:r>
          </a:p>
          <a:p>
            <a:r>
              <a:rPr lang="en-US" sz="1200" dirty="0"/>
              <a:t>Lecture2-Data types in SQL</a:t>
            </a:r>
          </a:p>
          <a:p>
            <a:r>
              <a:rPr lang="en-US" sz="1200" dirty="0"/>
              <a:t>Lecture3-Constraints in SQL</a:t>
            </a:r>
          </a:p>
          <a:p>
            <a:r>
              <a:rPr lang="en-US" sz="1200" dirty="0"/>
              <a:t>Quiz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DA6BBF-07AC-9F91-A6A6-719946B97668}"/>
              </a:ext>
            </a:extLst>
          </p:cNvPr>
          <p:cNvSpPr txBox="1"/>
          <p:nvPr/>
        </p:nvSpPr>
        <p:spPr>
          <a:xfrm>
            <a:off x="150129" y="2530593"/>
            <a:ext cx="269118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Module3:  Operators</a:t>
            </a:r>
          </a:p>
          <a:p>
            <a:r>
              <a:rPr lang="en-US" sz="1200" dirty="0"/>
              <a:t>Lecture1-Create Table Statement</a:t>
            </a:r>
          </a:p>
          <a:p>
            <a:r>
              <a:rPr lang="en-US" sz="1200" dirty="0"/>
              <a:t>Lecture2-Insert into statement</a:t>
            </a:r>
          </a:p>
          <a:p>
            <a:r>
              <a:rPr lang="en-US" sz="1200" dirty="0"/>
              <a:t>Lecture3-Select statement</a:t>
            </a:r>
          </a:p>
          <a:p>
            <a:r>
              <a:rPr lang="en-US" sz="1200" dirty="0"/>
              <a:t>Lecture4-Where Clause</a:t>
            </a:r>
          </a:p>
          <a:p>
            <a:r>
              <a:rPr lang="en-US" sz="1200" dirty="0"/>
              <a:t>Lecture5-And, or and Not Operators</a:t>
            </a:r>
          </a:p>
          <a:p>
            <a:r>
              <a:rPr lang="en-US" sz="1200" dirty="0"/>
              <a:t>Lecture6-Like and Between Operators</a:t>
            </a:r>
          </a:p>
          <a:p>
            <a:r>
              <a:rPr lang="en-US" sz="1200" dirty="0"/>
              <a:t>Quiz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AB41B-0443-0E6E-4FE5-DB4E31EF8AD4}"/>
              </a:ext>
            </a:extLst>
          </p:cNvPr>
          <p:cNvSpPr txBox="1"/>
          <p:nvPr/>
        </p:nvSpPr>
        <p:spPr>
          <a:xfrm>
            <a:off x="6250992" y="270088"/>
            <a:ext cx="365587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Module8: Advanced SQL Concepts</a:t>
            </a:r>
          </a:p>
          <a:p>
            <a:r>
              <a:rPr lang="en-US" sz="1200" dirty="0"/>
              <a:t>L1: Indexes, Index structure and Types of Indexes</a:t>
            </a:r>
          </a:p>
          <a:p>
            <a:r>
              <a:rPr lang="en-US" sz="1200" dirty="0"/>
              <a:t>L2: Stored Procedures and Views</a:t>
            </a:r>
          </a:p>
          <a:p>
            <a:r>
              <a:rPr lang="en-US" sz="1200" dirty="0"/>
              <a:t>L3: Transactions and Types of Transactions</a:t>
            </a:r>
          </a:p>
          <a:p>
            <a:r>
              <a:rPr lang="en-US" sz="1200" dirty="0"/>
              <a:t>L4: Aggregate Functions and User Defined Functions</a:t>
            </a:r>
          </a:p>
          <a:p>
            <a:r>
              <a:rPr lang="en-US" sz="1200" dirty="0"/>
              <a:t>L5: Order By, Group By, Having, Union vs Union All</a:t>
            </a:r>
          </a:p>
          <a:p>
            <a:r>
              <a:rPr lang="en-US" sz="1200" dirty="0"/>
              <a:t>L6: Indexes</a:t>
            </a:r>
          </a:p>
          <a:p>
            <a:r>
              <a:rPr lang="en-US" sz="1200" dirty="0"/>
              <a:t>L7: Stored Procedure</a:t>
            </a:r>
          </a:p>
          <a:p>
            <a:r>
              <a:rPr lang="en-US" sz="1200" dirty="0"/>
              <a:t>L8: Views</a:t>
            </a:r>
          </a:p>
          <a:p>
            <a:r>
              <a:rPr lang="en-US" sz="1200" dirty="0"/>
              <a:t>L9: DML Operation on a view and Transaction</a:t>
            </a:r>
          </a:p>
          <a:p>
            <a:r>
              <a:rPr lang="en-US" sz="1200" dirty="0"/>
              <a:t>L10: Error/Exception Handling</a:t>
            </a:r>
          </a:p>
          <a:p>
            <a:r>
              <a:rPr lang="en-US" sz="1200" dirty="0"/>
              <a:t>Quiz-SQL performance optimization </a:t>
            </a:r>
          </a:p>
          <a:p>
            <a:r>
              <a:rPr lang="en-US" sz="1200" dirty="0"/>
              <a:t>Quiz-Implementing Programming Objects</a:t>
            </a:r>
          </a:p>
          <a:p>
            <a:r>
              <a:rPr lang="en-US" sz="1200" dirty="0"/>
              <a:t>Quiz-SQL Server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3A537-E663-374C-893A-40FDB94E19A4}"/>
              </a:ext>
            </a:extLst>
          </p:cNvPr>
          <p:cNvSpPr txBox="1"/>
          <p:nvPr/>
        </p:nvSpPr>
        <p:spPr>
          <a:xfrm>
            <a:off x="3263956" y="3352264"/>
            <a:ext cx="173156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Module5:Clauses</a:t>
            </a:r>
          </a:p>
          <a:p>
            <a:r>
              <a:rPr lang="en-US" sz="1200" dirty="0"/>
              <a:t>L1: Order By Clause</a:t>
            </a:r>
          </a:p>
          <a:p>
            <a:r>
              <a:rPr lang="en-US" sz="1200" dirty="0"/>
              <a:t>L2: Group By Clause</a:t>
            </a:r>
          </a:p>
          <a:p>
            <a:r>
              <a:rPr lang="en-US" sz="1200" dirty="0"/>
              <a:t>L3: Having Clause</a:t>
            </a:r>
          </a:p>
          <a:p>
            <a:r>
              <a:rPr lang="en-US" sz="1200" dirty="0"/>
              <a:t>L4: Union and Union All</a:t>
            </a:r>
          </a:p>
          <a:p>
            <a:r>
              <a:rPr lang="en-US" sz="1200" dirty="0"/>
              <a:t>L5: Except Operator</a:t>
            </a:r>
          </a:p>
          <a:p>
            <a:r>
              <a:rPr lang="en-US" sz="1200" dirty="0"/>
              <a:t>L6: Intersect Operator</a:t>
            </a:r>
          </a:p>
          <a:p>
            <a:r>
              <a:rPr lang="en-US" sz="1200" dirty="0"/>
              <a:t>Quiz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F8B85-9D40-43B2-F52B-1600ABBCE94C}"/>
              </a:ext>
            </a:extLst>
          </p:cNvPr>
          <p:cNvSpPr txBox="1"/>
          <p:nvPr/>
        </p:nvSpPr>
        <p:spPr>
          <a:xfrm>
            <a:off x="3263956" y="4921924"/>
            <a:ext cx="277409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Module6: Views and stored procedures</a:t>
            </a:r>
          </a:p>
          <a:p>
            <a:r>
              <a:rPr lang="en-US" sz="1200" dirty="0"/>
              <a:t>L1: stored procedure in SQL</a:t>
            </a:r>
          </a:p>
          <a:p>
            <a:r>
              <a:rPr lang="en-US" sz="1200" dirty="0"/>
              <a:t>L2: Views in SQL</a:t>
            </a:r>
          </a:p>
          <a:p>
            <a:r>
              <a:rPr lang="en-US" sz="1200" dirty="0"/>
              <a:t>Quiz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FB503-AC03-56EB-A177-A17CA5D9284F}"/>
              </a:ext>
            </a:extLst>
          </p:cNvPr>
          <p:cNvSpPr txBox="1"/>
          <p:nvPr/>
        </p:nvSpPr>
        <p:spPr>
          <a:xfrm>
            <a:off x="144596" y="4107552"/>
            <a:ext cx="216668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Module7: Exception Handling</a:t>
            </a:r>
          </a:p>
          <a:p>
            <a:r>
              <a:rPr lang="en-US" sz="1200" dirty="0"/>
              <a:t>L1: Transactions in SQL</a:t>
            </a:r>
          </a:p>
          <a:p>
            <a:r>
              <a:rPr lang="en-US" sz="1200" dirty="0"/>
              <a:t>L2: Exception Handling in SQL</a:t>
            </a:r>
          </a:p>
          <a:p>
            <a:r>
              <a:rPr lang="en-US" sz="1200" dirty="0"/>
              <a:t>Quiz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DECDD-63F7-B163-9686-C9D1E166D59E}"/>
              </a:ext>
            </a:extLst>
          </p:cNvPr>
          <p:cNvSpPr txBox="1"/>
          <p:nvPr/>
        </p:nvSpPr>
        <p:spPr>
          <a:xfrm>
            <a:off x="3157484" y="14284"/>
            <a:ext cx="2987036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Module4: Joins and Functions</a:t>
            </a:r>
          </a:p>
          <a:p>
            <a:r>
              <a:rPr lang="en-US" sz="1200" dirty="0"/>
              <a:t>Lecture1: Inner join</a:t>
            </a:r>
          </a:p>
          <a:p>
            <a:r>
              <a:rPr lang="en-US" sz="1200" dirty="0"/>
              <a:t>Lecture2: Left Join</a:t>
            </a:r>
          </a:p>
          <a:p>
            <a:r>
              <a:rPr lang="en-US" sz="1200" dirty="0"/>
              <a:t>Lecture3: Right Join</a:t>
            </a:r>
          </a:p>
          <a:p>
            <a:r>
              <a:rPr lang="en-US" sz="1200" dirty="0"/>
              <a:t>Lecture4: Full join</a:t>
            </a:r>
          </a:p>
          <a:p>
            <a:r>
              <a:rPr lang="en-US" sz="1200" dirty="0"/>
              <a:t>Lecture5: Delete and Truncate Statements</a:t>
            </a:r>
          </a:p>
          <a:p>
            <a:r>
              <a:rPr lang="en-US" sz="1200" dirty="0"/>
              <a:t>L6: Update Statement</a:t>
            </a:r>
          </a:p>
          <a:p>
            <a:r>
              <a:rPr lang="en-US" sz="1200" dirty="0"/>
              <a:t>L7: Update and Delete using Join</a:t>
            </a:r>
          </a:p>
          <a:p>
            <a:r>
              <a:rPr lang="en-US" sz="1200" dirty="0"/>
              <a:t>L8: Merge in SQL</a:t>
            </a:r>
          </a:p>
          <a:p>
            <a:r>
              <a:rPr lang="en-US" sz="1200" dirty="0"/>
              <a:t>L9:Alter Table Statement</a:t>
            </a:r>
            <a:br>
              <a:rPr lang="en-US" sz="1200" dirty="0"/>
            </a:br>
            <a:r>
              <a:rPr lang="en-US" sz="1200" dirty="0"/>
              <a:t>L10: Temporary Table in SQL</a:t>
            </a:r>
          </a:p>
          <a:p>
            <a:r>
              <a:rPr lang="en-US" sz="1200" dirty="0"/>
              <a:t>L11: Basic Functions in SQL</a:t>
            </a:r>
          </a:p>
          <a:p>
            <a:r>
              <a:rPr lang="en-US" sz="1200" dirty="0"/>
              <a:t>L12: String Functions in SQL</a:t>
            </a:r>
          </a:p>
          <a:p>
            <a:r>
              <a:rPr lang="en-US" sz="1200" dirty="0"/>
              <a:t>L13: Case Statement</a:t>
            </a:r>
          </a:p>
          <a:p>
            <a:r>
              <a:rPr lang="en-US" sz="1200" dirty="0"/>
              <a:t>L14: IIF Function</a:t>
            </a:r>
          </a:p>
          <a:p>
            <a:r>
              <a:rPr lang="en-US" sz="1200" dirty="0"/>
              <a:t>L15: User Defined Functions</a:t>
            </a:r>
          </a:p>
          <a:p>
            <a:r>
              <a:rPr lang="en-US" sz="1200" dirty="0"/>
              <a:t>Quiz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F46E6F-87E8-BAFB-D4BD-86F8B9A67A7A}"/>
              </a:ext>
            </a:extLst>
          </p:cNvPr>
          <p:cNvSpPr txBox="1"/>
          <p:nvPr/>
        </p:nvSpPr>
        <p:spPr>
          <a:xfrm>
            <a:off x="7823352" y="4096919"/>
            <a:ext cx="124636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Additional Topic</a:t>
            </a:r>
          </a:p>
          <a:p>
            <a:r>
              <a:rPr lang="en-US" sz="1200" dirty="0"/>
              <a:t>Normalization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8342F-1EC3-7E84-154B-D144AE7080B4}"/>
              </a:ext>
            </a:extLst>
          </p:cNvPr>
          <p:cNvSpPr txBox="1"/>
          <p:nvPr/>
        </p:nvSpPr>
        <p:spPr>
          <a:xfrm>
            <a:off x="7330268" y="5041485"/>
            <a:ext cx="229524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AI Powered Course Assessment</a:t>
            </a:r>
          </a:p>
        </p:txBody>
      </p:sp>
    </p:spTree>
    <p:extLst>
      <p:ext uri="{BB962C8B-B14F-4D97-AF65-F5344CB8AC3E}">
        <p14:creationId xmlns:p14="http://schemas.microsoft.com/office/powerpoint/2010/main" val="3298031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B3D082-43D3-1E1D-D811-E7F55F046DB7}"/>
              </a:ext>
            </a:extLst>
          </p:cNvPr>
          <p:cNvSpPr txBox="1"/>
          <p:nvPr/>
        </p:nvSpPr>
        <p:spPr>
          <a:xfrm>
            <a:off x="385322" y="24894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CAEEA-71A3-DDC1-8D64-A94E5986C465}"/>
              </a:ext>
            </a:extLst>
          </p:cNvPr>
          <p:cNvSpPr txBox="1"/>
          <p:nvPr/>
        </p:nvSpPr>
        <p:spPr>
          <a:xfrm>
            <a:off x="467614" y="798916"/>
            <a:ext cx="138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Live classes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39B6D-2BDD-00EC-E149-D816C6EC3605}"/>
              </a:ext>
            </a:extLst>
          </p:cNvPr>
          <p:cNvSpPr txBox="1"/>
          <p:nvPr/>
        </p:nvSpPr>
        <p:spPr>
          <a:xfrm>
            <a:off x="5703084" y="842589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Study Material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F38B0D-1A3D-4029-8F1E-2AF08AC370E5}"/>
              </a:ext>
            </a:extLst>
          </p:cNvPr>
          <p:cNvSpPr txBox="1"/>
          <p:nvPr/>
        </p:nvSpPr>
        <p:spPr>
          <a:xfrm>
            <a:off x="213160" y="1433503"/>
            <a:ext cx="153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Installation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841E4C-D68D-4AFD-E7DB-B5DF32AD21C3}"/>
              </a:ext>
            </a:extLst>
          </p:cNvPr>
          <p:cNvSpPr txBox="1"/>
          <p:nvPr/>
        </p:nvSpPr>
        <p:spPr>
          <a:xfrm>
            <a:off x="213159" y="1983474"/>
            <a:ext cx="194316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Class1: </a:t>
            </a:r>
          </a:p>
          <a:p>
            <a:r>
              <a:rPr lang="en-US" dirty="0"/>
              <a:t>Class2:</a:t>
            </a:r>
          </a:p>
          <a:p>
            <a:r>
              <a:rPr lang="en-US" dirty="0"/>
              <a:t>Class3:</a:t>
            </a:r>
          </a:p>
          <a:p>
            <a:r>
              <a:rPr lang="en-US" dirty="0"/>
              <a:t>Class4:</a:t>
            </a:r>
          </a:p>
          <a:p>
            <a:r>
              <a:rPr lang="en-US" dirty="0"/>
              <a:t>Class5:</a:t>
            </a:r>
          </a:p>
          <a:p>
            <a:r>
              <a:rPr lang="en-US" dirty="0"/>
              <a:t>Class6:</a:t>
            </a:r>
          </a:p>
          <a:p>
            <a:r>
              <a:rPr lang="en-US" dirty="0"/>
              <a:t>Class7:</a:t>
            </a:r>
          </a:p>
          <a:p>
            <a:r>
              <a:rPr lang="en-US" dirty="0"/>
              <a:t>Class8:</a:t>
            </a:r>
          </a:p>
          <a:p>
            <a:r>
              <a:rPr lang="en-US" dirty="0"/>
              <a:t>Class9: Hands 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0F36F6-A5A5-1E93-F8EB-D48589956452}"/>
              </a:ext>
            </a:extLst>
          </p:cNvPr>
          <p:cNvSpPr txBox="1"/>
          <p:nvPr/>
        </p:nvSpPr>
        <p:spPr>
          <a:xfrm>
            <a:off x="317381" y="5014691"/>
            <a:ext cx="1532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Assignment 1</a:t>
            </a:r>
          </a:p>
          <a:p>
            <a:r>
              <a:rPr lang="en-US" dirty="0"/>
              <a:t>Assignment 2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9883-7B42-5CF6-6974-356917A8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BCC452-8183-A79C-8082-CC478CA6986F}"/>
              </a:ext>
            </a:extLst>
          </p:cNvPr>
          <p:cNvSpPr txBox="1"/>
          <p:nvPr/>
        </p:nvSpPr>
        <p:spPr>
          <a:xfrm>
            <a:off x="385322" y="248945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SQL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328B68-3F09-B156-EB17-B828F42CE628}"/>
              </a:ext>
            </a:extLst>
          </p:cNvPr>
          <p:cNvSpPr txBox="1"/>
          <p:nvPr/>
        </p:nvSpPr>
        <p:spPr>
          <a:xfrm>
            <a:off x="385322" y="618277"/>
            <a:ext cx="1213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Study Materials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402760-F7FF-9F63-F191-E421C93083D3}"/>
              </a:ext>
            </a:extLst>
          </p:cNvPr>
          <p:cNvSpPr txBox="1"/>
          <p:nvPr/>
        </p:nvSpPr>
        <p:spPr>
          <a:xfrm>
            <a:off x="3533280" y="194264"/>
            <a:ext cx="1799595" cy="2835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Assignments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Mandatory Assignment1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Mandatory Assignment2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Mandatory Assignment3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Assignment1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Assignment2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Assignment3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Assignment4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Assignment5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Assignment6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FB405-1E16-FB8A-6674-3616E191F6AB}"/>
              </a:ext>
            </a:extLst>
          </p:cNvPr>
          <p:cNvSpPr txBox="1"/>
          <p:nvPr/>
        </p:nvSpPr>
        <p:spPr>
          <a:xfrm>
            <a:off x="413073" y="1656259"/>
            <a:ext cx="2374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Module2: Operators and Clauses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D66CE-6DAA-A0DE-3A8A-3058AC6BF761}"/>
              </a:ext>
            </a:extLst>
          </p:cNvPr>
          <p:cNvSpPr txBox="1"/>
          <p:nvPr/>
        </p:nvSpPr>
        <p:spPr>
          <a:xfrm>
            <a:off x="358482" y="2183299"/>
            <a:ext cx="1176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Module3: Joins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AC7BA-08EC-10CD-6DAB-F80B29A8F92E}"/>
              </a:ext>
            </a:extLst>
          </p:cNvPr>
          <p:cNvSpPr txBox="1"/>
          <p:nvPr/>
        </p:nvSpPr>
        <p:spPr>
          <a:xfrm>
            <a:off x="358482" y="2751324"/>
            <a:ext cx="1506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Module4: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3D0A5-F450-A6D9-0D3F-35C4391560D9}"/>
              </a:ext>
            </a:extLst>
          </p:cNvPr>
          <p:cNvSpPr txBox="1"/>
          <p:nvPr/>
        </p:nvSpPr>
        <p:spPr>
          <a:xfrm>
            <a:off x="358482" y="3252754"/>
            <a:ext cx="2874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Module5: Optimization and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0556B-FB5D-AE8E-05B8-885DFFE5F4C0}"/>
              </a:ext>
            </a:extLst>
          </p:cNvPr>
          <p:cNvSpPr txBox="1"/>
          <p:nvPr/>
        </p:nvSpPr>
        <p:spPr>
          <a:xfrm>
            <a:off x="413073" y="3779794"/>
            <a:ext cx="1603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Module6: Subqueries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7AA51-E8C8-81F9-B873-65EAA8ACC84E}"/>
              </a:ext>
            </a:extLst>
          </p:cNvPr>
          <p:cNvSpPr txBox="1"/>
          <p:nvPr/>
        </p:nvSpPr>
        <p:spPr>
          <a:xfrm>
            <a:off x="550553" y="4308774"/>
            <a:ext cx="24902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Additional Learning Resources PPT</a:t>
            </a:r>
          </a:p>
          <a:p>
            <a:r>
              <a:rPr lang="en-US" sz="1200" dirty="0"/>
              <a:t>Introduction to SQL</a:t>
            </a:r>
          </a:p>
          <a:p>
            <a:r>
              <a:rPr lang="en-US" sz="1200" dirty="0"/>
              <a:t>Different Data types in SQL</a:t>
            </a:r>
          </a:p>
          <a:p>
            <a:r>
              <a:rPr lang="en-US" sz="1200" dirty="0"/>
              <a:t>Different types of Tables</a:t>
            </a:r>
          </a:p>
          <a:p>
            <a:r>
              <a:rPr lang="en-US" sz="1200" dirty="0"/>
              <a:t>Different types of Orders</a:t>
            </a:r>
          </a:p>
          <a:p>
            <a:r>
              <a:rPr lang="en-US" sz="1200" dirty="0"/>
              <a:t>Stored procedure in SQL</a:t>
            </a:r>
          </a:p>
          <a:p>
            <a:r>
              <a:rPr lang="en-US" sz="1200" dirty="0"/>
              <a:t>Ranks</a:t>
            </a:r>
          </a:p>
          <a:p>
            <a:r>
              <a:rPr lang="en-US" sz="1200" dirty="0"/>
              <a:t>Correlated Subquery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055140-0610-5208-6843-9D4CE06310D3}"/>
              </a:ext>
            </a:extLst>
          </p:cNvPr>
          <p:cNvSpPr txBox="1"/>
          <p:nvPr/>
        </p:nvSpPr>
        <p:spPr>
          <a:xfrm>
            <a:off x="413073" y="1200997"/>
            <a:ext cx="15937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Module1: SQL Basics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B1CB7B-90F8-2192-102A-F96E74BAEE0D}"/>
              </a:ext>
            </a:extLst>
          </p:cNvPr>
          <p:cNvSpPr txBox="1"/>
          <p:nvPr/>
        </p:nvSpPr>
        <p:spPr>
          <a:xfrm>
            <a:off x="3635073" y="4547316"/>
            <a:ext cx="1066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Test Your Self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5E483-926D-6AE6-CADC-BE5BFD3B6414}"/>
              </a:ext>
            </a:extLst>
          </p:cNvPr>
          <p:cNvSpPr txBox="1"/>
          <p:nvPr/>
        </p:nvSpPr>
        <p:spPr>
          <a:xfrm>
            <a:off x="3605127" y="4181484"/>
            <a:ext cx="943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Try Yourself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38E02F-F0FA-D5DC-E0AC-FE4034207C61}"/>
              </a:ext>
            </a:extLst>
          </p:cNvPr>
          <p:cNvSpPr txBox="1"/>
          <p:nvPr/>
        </p:nvSpPr>
        <p:spPr>
          <a:xfrm>
            <a:off x="3550367" y="3307820"/>
            <a:ext cx="1765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Case Study1 Mandatory</a:t>
            </a:r>
          </a:p>
          <a:p>
            <a:r>
              <a:rPr lang="en-US" sz="1200" dirty="0"/>
              <a:t>Case Study2</a:t>
            </a:r>
          </a:p>
          <a:p>
            <a:r>
              <a:rPr lang="en-US" sz="1200" dirty="0"/>
              <a:t>Case Study3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752F5-8047-9D0B-72A2-CDD7D2DE0A6F}"/>
              </a:ext>
            </a:extLst>
          </p:cNvPr>
          <p:cNvSpPr txBox="1"/>
          <p:nvPr/>
        </p:nvSpPr>
        <p:spPr>
          <a:xfrm>
            <a:off x="6131131" y="1434392"/>
            <a:ext cx="735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Project1</a:t>
            </a:r>
          </a:p>
          <a:p>
            <a:r>
              <a:rPr lang="en-US" sz="1200" dirty="0"/>
              <a:t>Project2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5503E9-4446-66B3-AF60-911039321E63}"/>
              </a:ext>
            </a:extLst>
          </p:cNvPr>
          <p:cNvSpPr txBox="1"/>
          <p:nvPr/>
        </p:nvSpPr>
        <p:spPr>
          <a:xfrm>
            <a:off x="5920499" y="341278"/>
            <a:ext cx="1715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Advanced Case Study1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019D9-D888-39E0-224E-D7B8A573EA52}"/>
              </a:ext>
            </a:extLst>
          </p:cNvPr>
          <p:cNvSpPr txBox="1"/>
          <p:nvPr/>
        </p:nvSpPr>
        <p:spPr>
          <a:xfrm>
            <a:off x="5920498" y="836821"/>
            <a:ext cx="1715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Advanced Case Study2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12E128-F6E3-5B66-C07E-CF5B7850B578}"/>
              </a:ext>
            </a:extLst>
          </p:cNvPr>
          <p:cNvSpPr txBox="1"/>
          <p:nvPr/>
        </p:nvSpPr>
        <p:spPr>
          <a:xfrm>
            <a:off x="6760427" y="3293417"/>
            <a:ext cx="1344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Certification Quiz</a:t>
            </a:r>
          </a:p>
        </p:txBody>
      </p:sp>
    </p:spTree>
    <p:extLst>
      <p:ext uri="{BB962C8B-B14F-4D97-AF65-F5344CB8AC3E}">
        <p14:creationId xmlns:p14="http://schemas.microsoft.com/office/powerpoint/2010/main" val="277673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1D8B-0EA5-1A59-16A5-5835BFCB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A9503E-0A1B-B68E-7F31-DF04539DC5A8}"/>
              </a:ext>
            </a:extLst>
          </p:cNvPr>
          <p:cNvSpPr txBox="1"/>
          <p:nvPr/>
        </p:nvSpPr>
        <p:spPr>
          <a:xfrm>
            <a:off x="147437" y="165632"/>
            <a:ext cx="7569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FF199-E603-0F6E-CBF1-7436E04D6E3B}"/>
              </a:ext>
            </a:extLst>
          </p:cNvPr>
          <p:cNvSpPr txBox="1"/>
          <p:nvPr/>
        </p:nvSpPr>
        <p:spPr>
          <a:xfrm>
            <a:off x="1045492" y="165632"/>
            <a:ext cx="6046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106A1-55A1-16C7-DFB9-53425D352875}"/>
              </a:ext>
            </a:extLst>
          </p:cNvPr>
          <p:cNvSpPr txBox="1"/>
          <p:nvPr/>
        </p:nvSpPr>
        <p:spPr>
          <a:xfrm>
            <a:off x="7472628" y="165632"/>
            <a:ext cx="13878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Live classes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047BD-16A8-536B-7DD5-BD037EDF865F}"/>
              </a:ext>
            </a:extLst>
          </p:cNvPr>
          <p:cNvSpPr txBox="1"/>
          <p:nvPr/>
        </p:nvSpPr>
        <p:spPr>
          <a:xfrm>
            <a:off x="147437" y="664118"/>
            <a:ext cx="12682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Self-paced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EACBC-730D-4D91-1A9B-5C5D5B04DEBB}"/>
              </a:ext>
            </a:extLst>
          </p:cNvPr>
          <p:cNvSpPr txBox="1"/>
          <p:nvPr/>
        </p:nvSpPr>
        <p:spPr>
          <a:xfrm>
            <a:off x="236106" y="1330754"/>
            <a:ext cx="269407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HTML</a:t>
            </a:r>
          </a:p>
          <a:p>
            <a:r>
              <a:rPr lang="en-US" dirty="0"/>
              <a:t>L1: HTML Fundamentals</a:t>
            </a:r>
          </a:p>
          <a:p>
            <a:r>
              <a:rPr lang="en-US" dirty="0"/>
              <a:t>L2: HTML Basic Elements</a:t>
            </a:r>
          </a:p>
          <a:p>
            <a:r>
              <a:rPr lang="en-US" dirty="0"/>
              <a:t>L3: HTML Tables</a:t>
            </a:r>
          </a:p>
          <a:p>
            <a:r>
              <a:rPr lang="en-US" dirty="0"/>
              <a:t>L4: HTML Forms</a:t>
            </a:r>
          </a:p>
          <a:p>
            <a:r>
              <a:rPr lang="en-US" dirty="0"/>
              <a:t>L5: HTML5Forms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783F-711A-96CF-8392-4CF202791679}"/>
              </a:ext>
            </a:extLst>
          </p:cNvPr>
          <p:cNvSpPr txBox="1"/>
          <p:nvPr/>
        </p:nvSpPr>
        <p:spPr>
          <a:xfrm>
            <a:off x="236106" y="3695049"/>
            <a:ext cx="382579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CSS</a:t>
            </a:r>
          </a:p>
          <a:p>
            <a:r>
              <a:rPr lang="en-US" dirty="0"/>
              <a:t>L1: Intro to CSS</a:t>
            </a:r>
          </a:p>
          <a:p>
            <a:r>
              <a:rPr lang="en-US" dirty="0"/>
              <a:t>L2: Intro to CSS3</a:t>
            </a:r>
          </a:p>
          <a:p>
            <a:r>
              <a:rPr lang="en-US" dirty="0"/>
              <a:t>L3: CSS3 Border-Radius and Shadow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92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FB53D-B3F4-7063-1A1A-E0AB094E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40FF7B-F4E0-0EBF-0517-4C92C77868C3}"/>
              </a:ext>
            </a:extLst>
          </p:cNvPr>
          <p:cNvSpPr txBox="1"/>
          <p:nvPr/>
        </p:nvSpPr>
        <p:spPr>
          <a:xfrm>
            <a:off x="94273" y="87345"/>
            <a:ext cx="1156022" cy="36933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MongoDB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B72AD6-6449-2A0E-4CEA-43692A09455C}"/>
              </a:ext>
            </a:extLst>
          </p:cNvPr>
          <p:cNvSpPr txBox="1"/>
          <p:nvPr/>
        </p:nvSpPr>
        <p:spPr>
          <a:xfrm>
            <a:off x="167102" y="908896"/>
            <a:ext cx="4067011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L1: RDBMS</a:t>
            </a:r>
          </a:p>
          <a:p>
            <a:r>
              <a:rPr lang="en-US" dirty="0"/>
              <a:t>L2: Finding Specified Data</a:t>
            </a:r>
          </a:p>
          <a:p>
            <a:r>
              <a:rPr lang="en-US" dirty="0"/>
              <a:t>L3: Data Models</a:t>
            </a:r>
          </a:p>
          <a:p>
            <a:r>
              <a:rPr lang="en-US" dirty="0"/>
              <a:t>L4: Multi Key Index</a:t>
            </a:r>
          </a:p>
          <a:p>
            <a:r>
              <a:rPr lang="en-US" dirty="0"/>
              <a:t>L5: Taking Backup</a:t>
            </a:r>
          </a:p>
          <a:p>
            <a:r>
              <a:rPr lang="en-US" dirty="0"/>
              <a:t>L6: Sharding</a:t>
            </a:r>
          </a:p>
          <a:p>
            <a:r>
              <a:rPr lang="en-US" dirty="0"/>
              <a:t>L7:Application in Java</a:t>
            </a:r>
          </a:p>
          <a:p>
            <a:r>
              <a:rPr lang="en-US" dirty="0"/>
              <a:t>MongoDB Certification and Preparation</a:t>
            </a:r>
          </a:p>
          <a:p>
            <a:r>
              <a:rPr lang="en-US" dirty="0"/>
              <a:t>Assignment</a:t>
            </a:r>
          </a:p>
          <a:p>
            <a:r>
              <a:rPr lang="en-US" dirty="0"/>
              <a:t>Quiz</a:t>
            </a:r>
          </a:p>
          <a:p>
            <a:r>
              <a:rPr lang="en-US" dirty="0"/>
              <a:t>Previous version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14781D-D179-C9EF-DFE7-115EBB7C8CE9}"/>
              </a:ext>
            </a:extLst>
          </p:cNvPr>
          <p:cNvSpPr txBox="1"/>
          <p:nvPr/>
        </p:nvSpPr>
        <p:spPr>
          <a:xfrm>
            <a:off x="4346365" y="908896"/>
            <a:ext cx="1426353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Live Classes</a:t>
            </a:r>
          </a:p>
          <a:p>
            <a:r>
              <a:rPr lang="en-US" dirty="0"/>
              <a:t>Class1:</a:t>
            </a:r>
          </a:p>
          <a:p>
            <a:r>
              <a:rPr lang="en-US" dirty="0"/>
              <a:t>Class2:</a:t>
            </a:r>
          </a:p>
          <a:p>
            <a:r>
              <a:rPr lang="en-US" dirty="0"/>
              <a:t>Class3:</a:t>
            </a:r>
          </a:p>
          <a:p>
            <a:r>
              <a:rPr lang="en-US" dirty="0"/>
              <a:t>Class4: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37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AC6D6B-1D15-A01C-A14C-9EA8EB2D86EE}"/>
              </a:ext>
            </a:extLst>
          </p:cNvPr>
          <p:cNvSpPr txBox="1"/>
          <p:nvPr/>
        </p:nvSpPr>
        <p:spPr>
          <a:xfrm>
            <a:off x="147436" y="160239"/>
            <a:ext cx="202779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Full Stack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05152-3A87-5ADF-757F-CC8CACEBD319}"/>
              </a:ext>
            </a:extLst>
          </p:cNvPr>
          <p:cNvSpPr txBox="1"/>
          <p:nvPr/>
        </p:nvSpPr>
        <p:spPr>
          <a:xfrm>
            <a:off x="147436" y="610615"/>
            <a:ext cx="450645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Module1: Programming Fundamentals</a:t>
            </a:r>
            <a:br>
              <a:rPr lang="en-US" sz="1400" dirty="0"/>
            </a:br>
            <a:r>
              <a:rPr lang="en-US" sz="1400" dirty="0"/>
              <a:t>Java Fundamentals</a:t>
            </a:r>
          </a:p>
          <a:p>
            <a:r>
              <a:rPr lang="en-US" sz="1400" dirty="0"/>
              <a:t>Java Control Flow Statements</a:t>
            </a:r>
          </a:p>
          <a:p>
            <a:r>
              <a:rPr lang="en-US" sz="1400" dirty="0"/>
              <a:t>Java Functions, Exception Handling and Threads</a:t>
            </a:r>
          </a:p>
          <a:p>
            <a:r>
              <a:rPr lang="en-US" sz="1400" dirty="0"/>
              <a:t>Assignment 1</a:t>
            </a:r>
          </a:p>
          <a:p>
            <a:r>
              <a:rPr lang="en-US" sz="1400" dirty="0"/>
              <a:t>Assignment 2</a:t>
            </a:r>
          </a:p>
          <a:p>
            <a:r>
              <a:rPr lang="en-US" sz="1400" dirty="0"/>
              <a:t>Assignment 3</a:t>
            </a:r>
          </a:p>
          <a:p>
            <a:r>
              <a:rPr lang="en-US" sz="1400" dirty="0"/>
              <a:t>Assignment 4</a:t>
            </a:r>
          </a:p>
          <a:p>
            <a:r>
              <a:rPr lang="en-US" sz="1400" dirty="0"/>
              <a:t>Assignment 5</a:t>
            </a:r>
          </a:p>
          <a:p>
            <a:r>
              <a:rPr lang="en-US" sz="1400" dirty="0"/>
              <a:t>Quiz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EB90D-4F9A-3B9B-8430-4B99C3318F02}"/>
              </a:ext>
            </a:extLst>
          </p:cNvPr>
          <p:cNvSpPr txBox="1"/>
          <p:nvPr/>
        </p:nvSpPr>
        <p:spPr>
          <a:xfrm>
            <a:off x="147436" y="3039917"/>
            <a:ext cx="1681358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Module2- OOPs</a:t>
            </a:r>
          </a:p>
          <a:p>
            <a:r>
              <a:rPr lang="en-US" sz="1400" dirty="0"/>
              <a:t>Java OOPs concept</a:t>
            </a:r>
          </a:p>
          <a:p>
            <a:r>
              <a:rPr lang="en-US" sz="1400" dirty="0"/>
              <a:t>Assignment-1</a:t>
            </a:r>
          </a:p>
          <a:p>
            <a:r>
              <a:rPr lang="en-US" sz="1400" dirty="0"/>
              <a:t>Assignment-2</a:t>
            </a:r>
          </a:p>
          <a:p>
            <a:r>
              <a:rPr lang="en-US" sz="1400" dirty="0"/>
              <a:t>Assignment-3</a:t>
            </a:r>
          </a:p>
          <a:p>
            <a:r>
              <a:rPr lang="en-US" sz="1400" dirty="0"/>
              <a:t>Assignment-4</a:t>
            </a:r>
          </a:p>
          <a:p>
            <a:r>
              <a:rPr lang="en-US" sz="1400" dirty="0"/>
              <a:t>Assignment-5</a:t>
            </a:r>
          </a:p>
          <a:p>
            <a:r>
              <a:rPr lang="en-US" sz="1400" dirty="0"/>
              <a:t>Quiz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AF1B4-7A53-44F4-B9B3-02C320AD385E}"/>
              </a:ext>
            </a:extLst>
          </p:cNvPr>
          <p:cNvSpPr txBox="1"/>
          <p:nvPr/>
        </p:nvSpPr>
        <p:spPr>
          <a:xfrm>
            <a:off x="4809376" y="0"/>
            <a:ext cx="3648948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Module3: Data Structures</a:t>
            </a:r>
          </a:p>
          <a:p>
            <a:r>
              <a:rPr lang="en-US" sz="1400" dirty="0"/>
              <a:t>Introduction to Data structures</a:t>
            </a:r>
          </a:p>
          <a:p>
            <a:r>
              <a:rPr lang="en-US" sz="1400" dirty="0"/>
              <a:t>Arrays and Linked Lists</a:t>
            </a:r>
          </a:p>
          <a:p>
            <a:r>
              <a:rPr lang="en-US" sz="1400" dirty="0"/>
              <a:t>Stacks and Queues</a:t>
            </a:r>
          </a:p>
          <a:p>
            <a:r>
              <a:rPr lang="en-US" sz="1400" dirty="0"/>
              <a:t>Trees Data Structures</a:t>
            </a:r>
          </a:p>
          <a:p>
            <a:r>
              <a:rPr lang="en-US" sz="1400" dirty="0"/>
              <a:t>Graph Data structures</a:t>
            </a:r>
          </a:p>
          <a:p>
            <a:r>
              <a:rPr lang="en-US" sz="1400" dirty="0"/>
              <a:t>Searching and Sorting algorithms</a:t>
            </a:r>
          </a:p>
          <a:p>
            <a:r>
              <a:rPr lang="en-US" sz="1400" dirty="0"/>
              <a:t>Greedy Algorithms, Heap and priority queues</a:t>
            </a:r>
          </a:p>
          <a:p>
            <a:r>
              <a:rPr lang="en-US" sz="1400" dirty="0"/>
              <a:t>Graph Algorithms and Advanced DSA</a:t>
            </a:r>
          </a:p>
          <a:p>
            <a:r>
              <a:rPr lang="en-US" sz="1400" dirty="0"/>
              <a:t>Time and space complexity Assignment 1</a:t>
            </a:r>
          </a:p>
          <a:p>
            <a:r>
              <a:rPr lang="en-US" sz="1400" dirty="0"/>
              <a:t>Arrays and linked lists Assignment 1</a:t>
            </a:r>
          </a:p>
          <a:p>
            <a:r>
              <a:rPr lang="en-US" sz="1400" dirty="0"/>
              <a:t>Assignment 2</a:t>
            </a:r>
          </a:p>
          <a:p>
            <a:r>
              <a:rPr lang="en-US" sz="1400" dirty="0"/>
              <a:t>Assignment 3</a:t>
            </a:r>
          </a:p>
          <a:p>
            <a:r>
              <a:rPr lang="en-US" sz="1400" dirty="0"/>
              <a:t>Stacks and Queues Assignment 1</a:t>
            </a:r>
          </a:p>
          <a:p>
            <a:r>
              <a:rPr lang="en-US" sz="1400" dirty="0"/>
              <a:t>Assignment 2</a:t>
            </a:r>
          </a:p>
          <a:p>
            <a:r>
              <a:rPr lang="en-US" sz="1400" dirty="0"/>
              <a:t>Assignment 3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076E9-A525-D830-FD04-2AC509BCA2D8}"/>
              </a:ext>
            </a:extLst>
          </p:cNvPr>
          <p:cNvSpPr txBox="1"/>
          <p:nvPr/>
        </p:nvSpPr>
        <p:spPr>
          <a:xfrm>
            <a:off x="147436" y="3039917"/>
            <a:ext cx="5118389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Module Front-End</a:t>
            </a:r>
          </a:p>
          <a:p>
            <a:r>
              <a:rPr lang="en-US" sz="1400" dirty="0"/>
              <a:t>HTML</a:t>
            </a:r>
          </a:p>
          <a:p>
            <a:r>
              <a:rPr lang="en-US" sz="1400" dirty="0"/>
              <a:t>CSS</a:t>
            </a:r>
            <a:br>
              <a:rPr lang="en-US" sz="1400" dirty="0"/>
            </a:br>
            <a:r>
              <a:rPr lang="en-US" sz="1400" dirty="0"/>
              <a:t>Introduction to JavaScript Programming</a:t>
            </a:r>
          </a:p>
          <a:p>
            <a:r>
              <a:rPr lang="en-US" sz="1400" dirty="0"/>
              <a:t>DOM Manipulation, Asynchronous JS and </a:t>
            </a:r>
            <a:r>
              <a:rPr lang="en-US" sz="1400"/>
              <a:t>Modular programming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</TotalTime>
  <Words>696</Words>
  <Application>Microsoft Office PowerPoint</Application>
  <PresentationFormat>A4 Paper (210x297 mm)</PresentationFormat>
  <Paragraphs>199</Paragraphs>
  <Slides>108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57</cp:revision>
  <dcterms:created xsi:type="dcterms:W3CDTF">2026-02-06T21:19:28Z</dcterms:created>
  <dcterms:modified xsi:type="dcterms:W3CDTF">2026-02-14T14:25:15Z</dcterms:modified>
</cp:coreProperties>
</file>