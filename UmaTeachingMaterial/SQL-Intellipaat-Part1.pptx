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9" d="100"/>
          <a:sy n="59" d="100"/>
        </p:scale>
        <p:origin x="6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2/16/2026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AE7050-5FE7-32B8-9740-14B5EB5F21D1}"/>
              </a:ext>
            </a:extLst>
          </p:cNvPr>
          <p:cNvSpPr txBox="1"/>
          <p:nvPr/>
        </p:nvSpPr>
        <p:spPr>
          <a:xfrm>
            <a:off x="149903" y="134911"/>
            <a:ext cx="2193229" cy="246221"/>
          </a:xfrm>
          <a:prstGeom prst="rect">
            <a:avLst/>
          </a:prstGeom>
          <a:noFill/>
          <a:ln>
            <a:solidFill>
              <a:schemeClr val="tx1">
                <a:lumMod val="50000"/>
                <a:lumOff val="50000"/>
              </a:schemeClr>
            </a:solidFill>
          </a:ln>
        </p:spPr>
        <p:txBody>
          <a:bodyPr wrap="none" rtlCol="0">
            <a:spAutoFit/>
          </a:bodyPr>
          <a:lstStyle/>
          <a:p>
            <a:r>
              <a:rPr lang="en-US" sz="1000" dirty="0"/>
              <a:t>CREATE DATABASE </a:t>
            </a:r>
            <a:r>
              <a:rPr lang="en-US" sz="1000" dirty="0" err="1"/>
              <a:t>databaseName</a:t>
            </a:r>
            <a:r>
              <a:rPr lang="en-US" sz="1000" dirty="0"/>
              <a:t> ;</a:t>
            </a:r>
          </a:p>
        </p:txBody>
      </p:sp>
      <p:sp>
        <p:nvSpPr>
          <p:cNvPr id="3" name="TextBox 2">
            <a:extLst>
              <a:ext uri="{FF2B5EF4-FFF2-40B4-BE49-F238E27FC236}">
                <a16:creationId xmlns:a16="http://schemas.microsoft.com/office/drawing/2014/main" id="{2402922B-60F6-0C95-2447-E069E628142E}"/>
              </a:ext>
            </a:extLst>
          </p:cNvPr>
          <p:cNvSpPr txBox="1"/>
          <p:nvPr/>
        </p:nvSpPr>
        <p:spPr>
          <a:xfrm>
            <a:off x="149903" y="524017"/>
            <a:ext cx="1457450" cy="246221"/>
          </a:xfrm>
          <a:prstGeom prst="rect">
            <a:avLst/>
          </a:prstGeom>
          <a:noFill/>
          <a:ln>
            <a:solidFill>
              <a:schemeClr val="tx1">
                <a:lumMod val="50000"/>
                <a:lumOff val="50000"/>
              </a:schemeClr>
            </a:solidFill>
          </a:ln>
        </p:spPr>
        <p:txBody>
          <a:bodyPr wrap="none" rtlCol="0">
            <a:spAutoFit/>
          </a:bodyPr>
          <a:lstStyle/>
          <a:p>
            <a:r>
              <a:rPr lang="en-US" sz="1000" dirty="0"/>
              <a:t>USE [</a:t>
            </a:r>
            <a:r>
              <a:rPr lang="en-US" sz="1000" dirty="0" err="1"/>
              <a:t>DataBaseName</a:t>
            </a:r>
            <a:r>
              <a:rPr lang="en-US" sz="1000" dirty="0"/>
              <a:t>] ;</a:t>
            </a:r>
          </a:p>
        </p:txBody>
      </p:sp>
      <p:sp>
        <p:nvSpPr>
          <p:cNvPr id="4" name="TextBox 3">
            <a:extLst>
              <a:ext uri="{FF2B5EF4-FFF2-40B4-BE49-F238E27FC236}">
                <a16:creationId xmlns:a16="http://schemas.microsoft.com/office/drawing/2014/main" id="{7464A580-FB78-8B36-E16A-481D876BDE7E}"/>
              </a:ext>
            </a:extLst>
          </p:cNvPr>
          <p:cNvSpPr txBox="1"/>
          <p:nvPr/>
        </p:nvSpPr>
        <p:spPr>
          <a:xfrm>
            <a:off x="149903" y="1081790"/>
            <a:ext cx="2064989" cy="246221"/>
          </a:xfrm>
          <a:prstGeom prst="rect">
            <a:avLst/>
          </a:prstGeom>
          <a:noFill/>
          <a:ln>
            <a:solidFill>
              <a:schemeClr val="tx1">
                <a:lumMod val="50000"/>
                <a:lumOff val="50000"/>
              </a:schemeClr>
            </a:solidFill>
          </a:ln>
        </p:spPr>
        <p:txBody>
          <a:bodyPr wrap="none" rtlCol="0">
            <a:spAutoFit/>
          </a:bodyPr>
          <a:lstStyle/>
          <a:p>
            <a:r>
              <a:rPr lang="en-US" sz="1000" dirty="0"/>
              <a:t>DROP DATABASE </a:t>
            </a:r>
            <a:r>
              <a:rPr lang="en-US" sz="1000" dirty="0" err="1"/>
              <a:t>databasename</a:t>
            </a:r>
            <a:r>
              <a:rPr lang="en-US" sz="1000" dirty="0"/>
              <a:t> ;</a:t>
            </a:r>
          </a:p>
        </p:txBody>
      </p:sp>
      <p:sp>
        <p:nvSpPr>
          <p:cNvPr id="5" name="TextBox 4">
            <a:extLst>
              <a:ext uri="{FF2B5EF4-FFF2-40B4-BE49-F238E27FC236}">
                <a16:creationId xmlns:a16="http://schemas.microsoft.com/office/drawing/2014/main" id="{C1CB5976-3CF5-42B5-D276-4DB89AC400EE}"/>
              </a:ext>
            </a:extLst>
          </p:cNvPr>
          <p:cNvSpPr txBox="1"/>
          <p:nvPr/>
        </p:nvSpPr>
        <p:spPr>
          <a:xfrm>
            <a:off x="1784386" y="2353957"/>
            <a:ext cx="3311456" cy="1015663"/>
          </a:xfrm>
          <a:prstGeom prst="rect">
            <a:avLst/>
          </a:prstGeom>
          <a:noFill/>
          <a:ln>
            <a:solidFill>
              <a:schemeClr val="tx1">
                <a:lumMod val="50000"/>
                <a:lumOff val="50000"/>
              </a:schemeClr>
            </a:solidFill>
          </a:ln>
        </p:spPr>
        <p:txBody>
          <a:bodyPr wrap="square" rtlCol="0">
            <a:spAutoFit/>
          </a:bodyPr>
          <a:lstStyle/>
          <a:p>
            <a:r>
              <a:rPr lang="en-US" sz="1000" dirty="0"/>
              <a:t>The foreign key constraint is used to prevent actions that would destroy links between tables.</a:t>
            </a:r>
          </a:p>
          <a:p>
            <a:r>
              <a:rPr lang="en-US" sz="1000" dirty="0"/>
              <a:t>The foreign key constraint also prevents invalid data from being inserted into the foreign key column, because it has to be one of the values contained in the table it points to.</a:t>
            </a:r>
          </a:p>
        </p:txBody>
      </p:sp>
      <p:sp>
        <p:nvSpPr>
          <p:cNvPr id="6" name="TextBox 5">
            <a:extLst>
              <a:ext uri="{FF2B5EF4-FFF2-40B4-BE49-F238E27FC236}">
                <a16:creationId xmlns:a16="http://schemas.microsoft.com/office/drawing/2014/main" id="{4CE60813-2282-73A0-308C-40736DDA5DFB}"/>
              </a:ext>
            </a:extLst>
          </p:cNvPr>
          <p:cNvSpPr txBox="1"/>
          <p:nvPr/>
        </p:nvSpPr>
        <p:spPr>
          <a:xfrm>
            <a:off x="128658" y="2377215"/>
            <a:ext cx="1603946" cy="1015663"/>
          </a:xfrm>
          <a:prstGeom prst="rect">
            <a:avLst/>
          </a:prstGeom>
          <a:noFill/>
          <a:ln>
            <a:solidFill>
              <a:schemeClr val="tx1">
                <a:lumMod val="50000"/>
                <a:lumOff val="50000"/>
              </a:schemeClr>
            </a:solidFill>
          </a:ln>
        </p:spPr>
        <p:txBody>
          <a:bodyPr wrap="square" rtlCol="0">
            <a:spAutoFit/>
          </a:bodyPr>
          <a:lstStyle/>
          <a:p>
            <a:r>
              <a:rPr lang="en-US" sz="1000" dirty="0"/>
              <a:t>NOT NULL</a:t>
            </a:r>
          </a:p>
          <a:p>
            <a:r>
              <a:rPr lang="en-US" sz="1000" dirty="0"/>
              <a:t>UNIQUE</a:t>
            </a:r>
          </a:p>
          <a:p>
            <a:r>
              <a:rPr lang="en-US" sz="1000" dirty="0"/>
              <a:t>PRIMARY KEY</a:t>
            </a:r>
          </a:p>
          <a:p>
            <a:r>
              <a:rPr lang="en-US" sz="1000" dirty="0"/>
              <a:t>FOREIGN KEY</a:t>
            </a:r>
          </a:p>
          <a:p>
            <a:r>
              <a:rPr lang="en-US" sz="1000" dirty="0"/>
              <a:t>CHECK</a:t>
            </a:r>
          </a:p>
          <a:p>
            <a:r>
              <a:rPr lang="en-US" sz="1000" dirty="0"/>
              <a:t>DEFAULT</a:t>
            </a:r>
          </a:p>
        </p:txBody>
      </p:sp>
      <p:sp>
        <p:nvSpPr>
          <p:cNvPr id="7" name="TextBox 6">
            <a:extLst>
              <a:ext uri="{FF2B5EF4-FFF2-40B4-BE49-F238E27FC236}">
                <a16:creationId xmlns:a16="http://schemas.microsoft.com/office/drawing/2014/main" id="{C120B344-6076-5FDB-FBF1-F60EB7E128B5}"/>
              </a:ext>
            </a:extLst>
          </p:cNvPr>
          <p:cNvSpPr txBox="1"/>
          <p:nvPr/>
        </p:nvSpPr>
        <p:spPr>
          <a:xfrm>
            <a:off x="128658" y="1430336"/>
            <a:ext cx="3311456" cy="861774"/>
          </a:xfrm>
          <a:prstGeom prst="rect">
            <a:avLst/>
          </a:prstGeom>
          <a:noFill/>
          <a:ln>
            <a:solidFill>
              <a:schemeClr val="tx1">
                <a:lumMod val="50000"/>
                <a:lumOff val="50000"/>
              </a:schemeClr>
            </a:solidFill>
          </a:ln>
        </p:spPr>
        <p:txBody>
          <a:bodyPr wrap="square" rtlCol="0">
            <a:spAutoFit/>
          </a:bodyPr>
          <a:lstStyle/>
          <a:p>
            <a:r>
              <a:rPr lang="en-US" sz="1000" dirty="0"/>
              <a:t>Constraints: Rules for the data in a table can be specified using SQL constraints. The kinds of data that can be entered into a table are restricted by constraints. This validates the reliability and accuracy of the data in the table</a:t>
            </a:r>
          </a:p>
        </p:txBody>
      </p:sp>
      <p:sp>
        <p:nvSpPr>
          <p:cNvPr id="8" name="TextBox 7">
            <a:extLst>
              <a:ext uri="{FF2B5EF4-FFF2-40B4-BE49-F238E27FC236}">
                <a16:creationId xmlns:a16="http://schemas.microsoft.com/office/drawing/2014/main" id="{0F16677B-B001-6381-3A42-A5BBB7C8F3DE}"/>
              </a:ext>
            </a:extLst>
          </p:cNvPr>
          <p:cNvSpPr txBox="1"/>
          <p:nvPr/>
        </p:nvSpPr>
        <p:spPr>
          <a:xfrm>
            <a:off x="180440" y="3550228"/>
            <a:ext cx="1603946" cy="861774"/>
          </a:xfrm>
          <a:prstGeom prst="rect">
            <a:avLst/>
          </a:prstGeom>
          <a:noFill/>
          <a:ln>
            <a:solidFill>
              <a:schemeClr val="tx1">
                <a:lumMod val="50000"/>
                <a:lumOff val="50000"/>
              </a:schemeClr>
            </a:solidFill>
          </a:ln>
        </p:spPr>
        <p:txBody>
          <a:bodyPr wrap="square" rtlCol="0">
            <a:spAutoFit/>
          </a:bodyPr>
          <a:lstStyle/>
          <a:p>
            <a:r>
              <a:rPr lang="en-US" sz="1000" dirty="0" err="1"/>
              <a:t>Bigint</a:t>
            </a:r>
            <a:endParaRPr lang="en-US" sz="1000" dirty="0"/>
          </a:p>
          <a:p>
            <a:r>
              <a:rPr lang="en-US" sz="1000" dirty="0"/>
              <a:t>Int</a:t>
            </a:r>
          </a:p>
          <a:p>
            <a:r>
              <a:rPr lang="en-US" sz="1000" dirty="0" err="1"/>
              <a:t>Smallint</a:t>
            </a:r>
            <a:endParaRPr lang="en-US" sz="1000" dirty="0"/>
          </a:p>
          <a:p>
            <a:r>
              <a:rPr lang="en-US" sz="1000" dirty="0" err="1"/>
              <a:t>Tinyint</a:t>
            </a:r>
            <a:endParaRPr lang="en-US" sz="1000" dirty="0"/>
          </a:p>
          <a:p>
            <a:r>
              <a:rPr lang="en-US" sz="1000" dirty="0"/>
              <a:t>Decimal(</a:t>
            </a:r>
            <a:r>
              <a:rPr lang="en-US" sz="1000" dirty="0" err="1"/>
              <a:t>s,d</a:t>
            </a:r>
            <a:r>
              <a:rPr lang="en-US" sz="1000" dirty="0"/>
              <a:t>)</a:t>
            </a:r>
          </a:p>
        </p:txBody>
      </p:sp>
      <p:sp>
        <p:nvSpPr>
          <p:cNvPr id="9" name="TextBox 8">
            <a:extLst>
              <a:ext uri="{FF2B5EF4-FFF2-40B4-BE49-F238E27FC236}">
                <a16:creationId xmlns:a16="http://schemas.microsoft.com/office/drawing/2014/main" id="{8E35EE8A-66EC-AED3-E3A0-BB7C595964E9}"/>
              </a:ext>
            </a:extLst>
          </p:cNvPr>
          <p:cNvSpPr txBox="1"/>
          <p:nvPr/>
        </p:nvSpPr>
        <p:spPr>
          <a:xfrm>
            <a:off x="1836790" y="3550228"/>
            <a:ext cx="1603946" cy="553998"/>
          </a:xfrm>
          <a:prstGeom prst="rect">
            <a:avLst/>
          </a:prstGeom>
          <a:noFill/>
          <a:ln>
            <a:solidFill>
              <a:schemeClr val="tx1">
                <a:lumMod val="50000"/>
                <a:lumOff val="50000"/>
              </a:schemeClr>
            </a:solidFill>
          </a:ln>
        </p:spPr>
        <p:txBody>
          <a:bodyPr wrap="square" rtlCol="0">
            <a:spAutoFit/>
          </a:bodyPr>
          <a:lstStyle/>
          <a:p>
            <a:r>
              <a:rPr lang="en-US" sz="1000" dirty="0"/>
              <a:t>Char(s)</a:t>
            </a:r>
          </a:p>
          <a:p>
            <a:r>
              <a:rPr lang="en-US" sz="1000" dirty="0"/>
              <a:t>Varchar(s)</a:t>
            </a:r>
          </a:p>
          <a:p>
            <a:r>
              <a:rPr lang="en-US" sz="1000" dirty="0"/>
              <a:t>text</a:t>
            </a:r>
          </a:p>
        </p:txBody>
      </p:sp>
      <p:sp>
        <p:nvSpPr>
          <p:cNvPr id="10" name="TextBox 9">
            <a:extLst>
              <a:ext uri="{FF2B5EF4-FFF2-40B4-BE49-F238E27FC236}">
                <a16:creationId xmlns:a16="http://schemas.microsoft.com/office/drawing/2014/main" id="{716B35FB-920E-F56F-8BF1-23390A6C3A38}"/>
              </a:ext>
            </a:extLst>
          </p:cNvPr>
          <p:cNvSpPr txBox="1"/>
          <p:nvPr/>
        </p:nvSpPr>
        <p:spPr>
          <a:xfrm>
            <a:off x="3493140" y="3550228"/>
            <a:ext cx="1603946" cy="553998"/>
          </a:xfrm>
          <a:prstGeom prst="rect">
            <a:avLst/>
          </a:prstGeom>
          <a:noFill/>
          <a:ln>
            <a:solidFill>
              <a:schemeClr val="tx1">
                <a:lumMod val="50000"/>
                <a:lumOff val="50000"/>
              </a:schemeClr>
            </a:solidFill>
          </a:ln>
        </p:spPr>
        <p:txBody>
          <a:bodyPr wrap="square" rtlCol="0">
            <a:spAutoFit/>
          </a:bodyPr>
          <a:lstStyle/>
          <a:p>
            <a:r>
              <a:rPr lang="en-US" sz="1000" dirty="0"/>
              <a:t>Date</a:t>
            </a:r>
          </a:p>
          <a:p>
            <a:r>
              <a:rPr lang="en-US" sz="1000" dirty="0"/>
              <a:t>Time</a:t>
            </a:r>
          </a:p>
          <a:p>
            <a:r>
              <a:rPr lang="en-US" sz="1000" dirty="0"/>
              <a:t>Year</a:t>
            </a:r>
          </a:p>
        </p:txBody>
      </p:sp>
      <p:sp>
        <p:nvSpPr>
          <p:cNvPr id="11" name="TextBox 10">
            <a:extLst>
              <a:ext uri="{FF2B5EF4-FFF2-40B4-BE49-F238E27FC236}">
                <a16:creationId xmlns:a16="http://schemas.microsoft.com/office/drawing/2014/main" id="{CD9BFD9D-BBF2-6A8B-97A8-0482EEFED039}"/>
              </a:ext>
            </a:extLst>
          </p:cNvPr>
          <p:cNvSpPr txBox="1"/>
          <p:nvPr/>
        </p:nvSpPr>
        <p:spPr>
          <a:xfrm>
            <a:off x="180440" y="4469499"/>
            <a:ext cx="4772560" cy="246221"/>
          </a:xfrm>
          <a:prstGeom prst="rect">
            <a:avLst/>
          </a:prstGeom>
          <a:noFill/>
          <a:ln>
            <a:solidFill>
              <a:schemeClr val="tx1">
                <a:lumMod val="50000"/>
                <a:lumOff val="50000"/>
              </a:schemeClr>
            </a:solidFill>
          </a:ln>
        </p:spPr>
        <p:txBody>
          <a:bodyPr wrap="square" rtlCol="0">
            <a:spAutoFit/>
          </a:bodyPr>
          <a:lstStyle/>
          <a:p>
            <a:r>
              <a:rPr lang="en-US" sz="1000" dirty="0"/>
              <a:t>Name of the table -&gt; define the columns -&gt; Assign data types to columns</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320</TotalTime>
  <Words>152</Words>
  <Application>Microsoft Office PowerPoint</Application>
  <PresentationFormat>A4 Paper (210x297 mm)</PresentationFormat>
  <Paragraphs>24</Paragraphs>
  <Slides>104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104</vt:i4>
      </vt:variant>
    </vt:vector>
  </HeadingPairs>
  <TitlesOfParts>
    <vt:vector size="10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48</cp:revision>
  <dcterms:created xsi:type="dcterms:W3CDTF">2026-02-06T21:19:28Z</dcterms:created>
  <dcterms:modified xsi:type="dcterms:W3CDTF">2026-02-16T19:59:03Z</dcterms:modified>
</cp:coreProperties>
</file>