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p:scale>
          <a:sx n="50" d="100"/>
          <a:sy n="50" d="100"/>
        </p:scale>
        <p:origin x="307" y="5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2/6/2026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hyperlink" Target="https://docs.oracle.com/javase/8/docs/technotes/guides/collections/index.html" TargetMode="External"/><Relationship Id="rId3" Type="http://schemas.openxmlformats.org/officeDocument/2006/relationships/hyperlink" Target="https://docs.oracle.com/javase/8/docs/api/java/util/Collection.html#addAll-java.util.Collection-" TargetMode="External"/><Relationship Id="rId7" Type="http://schemas.openxmlformats.org/officeDocument/2006/relationships/hyperlink" Target="https://docs.oracle.com/javase/8/docs/api/java/lang/Object.html" TargetMode="External"/><Relationship Id="rId2" Type="http://schemas.openxmlformats.org/officeDocument/2006/relationships/hyperlink" Target="https://docs.oracle.com/javase/8/docs/api/java/lang/Iterable.html" TargetMode="External"/><Relationship Id="rId1" Type="http://schemas.openxmlformats.org/officeDocument/2006/relationships/slideLayout" Target="../slideLayouts/slideLayout1.xml"/><Relationship Id="rId6" Type="http://schemas.openxmlformats.org/officeDocument/2006/relationships/hyperlink" Target="https://docs.oracle.com/javase/8/docs/api/java/lang/Object.html#hashCode--" TargetMode="External"/><Relationship Id="rId5" Type="http://schemas.openxmlformats.org/officeDocument/2006/relationships/hyperlink" Target="https://docs.oracle.com/javase/8/docs/api/java/util/Collection.html#contains-java.lang.Object-" TargetMode="External"/><Relationship Id="rId4" Type="http://schemas.openxmlformats.org/officeDocument/2006/relationships/hyperlink" Target="https://docs.oracle.com/javase/8/docs/api/java/lang/Object.html#equals-java.lang.Object-"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docs.oracle.com/javase/8/docs/api/java/util/Collection.html#containsAll-java.util.Collection-" TargetMode="External"/><Relationship Id="rId13" Type="http://schemas.openxmlformats.org/officeDocument/2006/relationships/hyperlink" Target="https://docs.oracle.com/javase/8/docs/api/java/util/Collection.html#iterator--" TargetMode="External"/><Relationship Id="rId18" Type="http://schemas.openxmlformats.org/officeDocument/2006/relationships/hyperlink" Target="https://docs.oracle.com/javase/8/docs/api/java/util/Collection.html#removeIf-java.util.function.Predicate-" TargetMode="External"/><Relationship Id="rId26" Type="http://schemas.openxmlformats.org/officeDocument/2006/relationships/hyperlink" Target="https://docs.oracle.com/javase/8/docs/api/java/util/Collection.html#toArray-T:A-" TargetMode="External"/><Relationship Id="rId3" Type="http://schemas.openxmlformats.org/officeDocument/2006/relationships/hyperlink" Target="https://docs.oracle.com/javase/8/docs/api/java/util/Collection.html" TargetMode="External"/><Relationship Id="rId21" Type="http://schemas.openxmlformats.org/officeDocument/2006/relationships/hyperlink" Target="https://docs.oracle.com/javase/8/docs/api/java/util/Collection.html#size--" TargetMode="External"/><Relationship Id="rId7" Type="http://schemas.openxmlformats.org/officeDocument/2006/relationships/hyperlink" Target="https://docs.oracle.com/javase/8/docs/api/java/lang/Object.html" TargetMode="External"/><Relationship Id="rId12" Type="http://schemas.openxmlformats.org/officeDocument/2006/relationships/hyperlink" Target="https://docs.oracle.com/javase/8/docs/api/java/util/Iterator.html" TargetMode="External"/><Relationship Id="rId17" Type="http://schemas.openxmlformats.org/officeDocument/2006/relationships/hyperlink" Target="https://docs.oracle.com/javase/8/docs/api/java/util/Collection.html#removeAll-java.util.Collection-" TargetMode="External"/><Relationship Id="rId25" Type="http://schemas.openxmlformats.org/officeDocument/2006/relationships/hyperlink" Target="https://docs.oracle.com/javase/8/docs/api/java/util/Collection.html#toArray--" TargetMode="External"/><Relationship Id="rId2" Type="http://schemas.openxmlformats.org/officeDocument/2006/relationships/hyperlink" Target="https://docs.oracle.com/javase/8/docs/api/java/util/Collection.html#add-E-" TargetMode="External"/><Relationship Id="rId16" Type="http://schemas.openxmlformats.org/officeDocument/2006/relationships/hyperlink" Target="https://docs.oracle.com/javase/8/docs/api/java/util/Collection.html#remove-java.lang.Object-" TargetMode="External"/><Relationship Id="rId20" Type="http://schemas.openxmlformats.org/officeDocument/2006/relationships/hyperlink" Target="https://docs.oracle.com/javase/8/docs/api/java/util/Collection.html#retainAll-java.util.Collection-"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contains-java.lang.Object-" TargetMode="External"/><Relationship Id="rId11" Type="http://schemas.openxmlformats.org/officeDocument/2006/relationships/hyperlink" Target="https://docs.oracle.com/javase/8/docs/api/java/util/Collection.html#isEmpty--" TargetMode="External"/><Relationship Id="rId24" Type="http://schemas.openxmlformats.org/officeDocument/2006/relationships/hyperlink" Target="https://docs.oracle.com/javase/8/docs/api/java/util/Collection.html#stream--" TargetMode="External"/><Relationship Id="rId5" Type="http://schemas.openxmlformats.org/officeDocument/2006/relationships/hyperlink" Target="https://docs.oracle.com/javase/8/docs/api/java/util/Collection.html#clear--" TargetMode="External"/><Relationship Id="rId15" Type="http://schemas.openxmlformats.org/officeDocument/2006/relationships/hyperlink" Target="https://docs.oracle.com/javase/8/docs/api/java/util/Collection.html#parallelStream--" TargetMode="External"/><Relationship Id="rId23" Type="http://schemas.openxmlformats.org/officeDocument/2006/relationships/hyperlink" Target="https://docs.oracle.com/javase/8/docs/api/java/util/Collection.html#spliterator--" TargetMode="External"/><Relationship Id="rId28" Type="http://schemas.openxmlformats.org/officeDocument/2006/relationships/hyperlink" Target="https://docs.oracle.com/javase/8/docs/api/java/lang/Iterable.html#forEach-java.util.function.Consumer-" TargetMode="External"/><Relationship Id="rId10" Type="http://schemas.openxmlformats.org/officeDocument/2006/relationships/hyperlink" Target="https://docs.oracle.com/javase/8/docs/api/java/util/Collection.html#hashCode--" TargetMode="External"/><Relationship Id="rId19" Type="http://schemas.openxmlformats.org/officeDocument/2006/relationships/hyperlink" Target="https://docs.oracle.com/javase/8/docs/api/java/util/function/Predicate.html" TargetMode="External"/><Relationship Id="rId4" Type="http://schemas.openxmlformats.org/officeDocument/2006/relationships/hyperlink" Target="https://docs.oracle.com/javase/8/docs/api/java/util/Collection.html#addAll-java.util.Collection-" TargetMode="External"/><Relationship Id="rId9" Type="http://schemas.openxmlformats.org/officeDocument/2006/relationships/hyperlink" Target="https://docs.oracle.com/javase/8/docs/api/java/util/Collection.html#equals-java.lang.Object-" TargetMode="External"/><Relationship Id="rId14" Type="http://schemas.openxmlformats.org/officeDocument/2006/relationships/hyperlink" Target="https://docs.oracle.com/javase/8/docs/api/java/util/stream/Stream.html" TargetMode="External"/><Relationship Id="rId22" Type="http://schemas.openxmlformats.org/officeDocument/2006/relationships/hyperlink" Target="https://docs.oracle.com/javase/8/docs/api/java/util/Spliterator.html" TargetMode="External"/><Relationship Id="rId27" Type="http://schemas.openxmlformats.org/officeDocument/2006/relationships/hyperlink" Target="https://docs.oracle.com/javase/8/docs/api/java/lang/Iterable.html"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docs.oracle.com/javase/8/docs/api/java/util/Collection.html#containsAll-java.util.Collection-" TargetMode="External"/><Relationship Id="rId13" Type="http://schemas.openxmlformats.org/officeDocument/2006/relationships/hyperlink" Target="https://docs.oracle.com/javase/8/docs/api/java/util/Collection.html#iterator--" TargetMode="External"/><Relationship Id="rId18" Type="http://schemas.openxmlformats.org/officeDocument/2006/relationships/hyperlink" Target="https://docs.oracle.com/javase/8/docs/api/java/util/Collection.html#toArray--" TargetMode="External"/><Relationship Id="rId3" Type="http://schemas.openxmlformats.org/officeDocument/2006/relationships/hyperlink" Target="https://docs.oracle.com/javase/8/docs/api/java/util/Collection.html" TargetMode="External"/><Relationship Id="rId7" Type="http://schemas.openxmlformats.org/officeDocument/2006/relationships/hyperlink" Target="https://docs.oracle.com/javase/8/docs/api/java/lang/Object.html" TargetMode="External"/><Relationship Id="rId12" Type="http://schemas.openxmlformats.org/officeDocument/2006/relationships/hyperlink" Target="https://docs.oracle.com/javase/8/docs/api/java/util/Iterator.html" TargetMode="External"/><Relationship Id="rId17" Type="http://schemas.openxmlformats.org/officeDocument/2006/relationships/hyperlink" Target="https://docs.oracle.com/javase/8/docs/api/java/util/Collection.html#size--" TargetMode="External"/><Relationship Id="rId2" Type="http://schemas.openxmlformats.org/officeDocument/2006/relationships/hyperlink" Target="https://docs.oracle.com/javase/8/docs/api/java/util/Collection.html#add-E-" TargetMode="External"/><Relationship Id="rId16" Type="http://schemas.openxmlformats.org/officeDocument/2006/relationships/hyperlink" Target="https://docs.oracle.com/javase/8/docs/api/java/util/Collection.html#retainAll-java.util.Collection-"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contains-java.lang.Object-" TargetMode="External"/><Relationship Id="rId11" Type="http://schemas.openxmlformats.org/officeDocument/2006/relationships/hyperlink" Target="https://docs.oracle.com/javase/8/docs/api/java/util/Collection.html#isEmpty--" TargetMode="External"/><Relationship Id="rId5" Type="http://schemas.openxmlformats.org/officeDocument/2006/relationships/hyperlink" Target="https://docs.oracle.com/javase/8/docs/api/java/util/Collection.html#clear--" TargetMode="External"/><Relationship Id="rId15" Type="http://schemas.openxmlformats.org/officeDocument/2006/relationships/hyperlink" Target="https://docs.oracle.com/javase/8/docs/api/java/util/Collection.html#removeAll-java.util.Collection-" TargetMode="External"/><Relationship Id="rId10" Type="http://schemas.openxmlformats.org/officeDocument/2006/relationships/hyperlink" Target="https://docs.oracle.com/javase/8/docs/api/java/util/Collection.html#hashCode--" TargetMode="External"/><Relationship Id="rId19" Type="http://schemas.openxmlformats.org/officeDocument/2006/relationships/hyperlink" Target="https://docs.oracle.com/javase/8/docs/api/java/util/Collection.html#toArray-T:A-" TargetMode="External"/><Relationship Id="rId4" Type="http://schemas.openxmlformats.org/officeDocument/2006/relationships/hyperlink" Target="https://docs.oracle.com/javase/8/docs/api/java/util/Collection.html#addAll-java.util.Collection-" TargetMode="External"/><Relationship Id="rId9" Type="http://schemas.openxmlformats.org/officeDocument/2006/relationships/hyperlink" Target="https://docs.oracle.com/javase/8/docs/api/java/util/Collection.html#equals-java.lang.Object-" TargetMode="External"/><Relationship Id="rId14" Type="http://schemas.openxmlformats.org/officeDocument/2006/relationships/hyperlink" Target="https://docs.oracle.com/javase/8/docs/api/java/util/Collection.html#remove-java.lang.Object-"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docs.oracle.com/javase/8/docs/api/java/util/Collection.html#spliterator--" TargetMode="External"/><Relationship Id="rId3" Type="http://schemas.openxmlformats.org/officeDocument/2006/relationships/hyperlink" Target="https://docs.oracle.com/javase/8/docs/api/java/util/Collection.html" TargetMode="External"/><Relationship Id="rId7" Type="http://schemas.openxmlformats.org/officeDocument/2006/relationships/hyperlink" Target="https://docs.oracle.com/javase/8/docs/api/java/util/Spliterator.html" TargetMode="External"/><Relationship Id="rId2" Type="http://schemas.openxmlformats.org/officeDocument/2006/relationships/hyperlink" Target="https://docs.oracle.com/javase/8/docs/api/java/util/stream/Stream.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function/Predicate.html" TargetMode="External"/><Relationship Id="rId5" Type="http://schemas.openxmlformats.org/officeDocument/2006/relationships/hyperlink" Target="https://docs.oracle.com/javase/8/docs/api/java/util/Collection.html#removeIf-java.util.function.Predicate-" TargetMode="External"/><Relationship Id="rId4" Type="http://schemas.openxmlformats.org/officeDocument/2006/relationships/hyperlink" Target="https://docs.oracle.com/javase/8/docs/api/java/util/Collection.html#parallelStream--" TargetMode="External"/><Relationship Id="rId9" Type="http://schemas.openxmlformats.org/officeDocument/2006/relationships/hyperlink" Target="https://docs.oracle.com/javase/8/docs/api/java/util/Collection.html#strea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cs.oracle.com/javase/8/docs/api/java/lang/ClassCastException.html" TargetMode="External"/><Relationship Id="rId2" Type="http://schemas.openxmlformats.org/officeDocument/2006/relationships/hyperlink" Target="https://docs.oracle.com/javase/8/docs/api/java/lang/Object.html" TargetMode="External"/><Relationship Id="rId1" Type="http://schemas.openxmlformats.org/officeDocument/2006/relationships/slideLayout" Target="../slideLayouts/slideLayout2.xml"/><Relationship Id="rId5"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util/Collection.html#optional-restrictions"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docs.oracle.com/javase/8/docs/api/java/lang/ArrayStoreException.html" TargetMode="External"/><Relationship Id="rId3" Type="http://schemas.openxmlformats.org/officeDocument/2006/relationships/hyperlink" Target="https://docs.oracle.com/javase/8/docs/api/java/util/Collection.html" TargetMode="External"/><Relationship Id="rId7" Type="http://schemas.openxmlformats.org/officeDocument/2006/relationships/hyperlink" Target="https://docs.oracle.com/javase/8/docs/api/java/util/Collection.html#toArray--" TargetMode="External"/><Relationship Id="rId2" Type="http://schemas.openxmlformats.org/officeDocument/2006/relationships/hyperlink" Target="https://docs.oracle.com/javase/8/docs/api/java/util/Iterator.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Object.html" TargetMode="External"/><Relationship Id="rId5" Type="http://schemas.openxmlformats.org/officeDocument/2006/relationships/hyperlink" Target="https://docs.oracle.com/javase/8/docs/api/java/lang/Iterable.html" TargetMode="External"/><Relationship Id="rId4" Type="http://schemas.openxmlformats.org/officeDocument/2006/relationships/hyperlink" Target="https://docs.oracle.com/javase/8/docs/api/java/lang/Iterable.html#iterator--" TargetMode="External"/><Relationship Id="rId9" Type="http://schemas.openxmlformats.org/officeDocument/2006/relationships/hyperlink" Target="https://docs.oracle.com/javase/8/docs/api/java/lang/NullPointerException.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ocs.oracle.com/javase/8/docs/api/java/lang/UnsupportedOperationException.html" TargetMode="External"/><Relationship Id="rId7" Type="http://schemas.openxmlformats.org/officeDocument/2006/relationships/hyperlink" Target="https://docs.oracle.com/javase/8/docs/api/java/lang/IllegalStateException.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llegalArgumentException.html" TargetMode="External"/><Relationship Id="rId5"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lang/ClassCastException.html"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docs.oracle.com/javase/8/docs/api/java/util/Collection.html#contains-java.lang.Object-" TargetMode="External"/><Relationship Id="rId3" Type="http://schemas.openxmlformats.org/officeDocument/2006/relationships/hyperlink" Target="https://docs.oracle.com/javase/8/docs/api/java/lang/ClassCastException.html" TargetMode="External"/><Relationship Id="rId7" Type="http://schemas.openxmlformats.org/officeDocument/2006/relationships/hyperlink" Target="https://docs.oracle.com/javase/8/docs/api/java/util/Collection.html" TargetMode="External"/><Relationship Id="rId2" Type="http://schemas.openxmlformats.org/officeDocument/2006/relationships/hyperlink" Target="https://docs.oracle.com/javase/8/docs/api/java/lang/Object.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UnsupportedOperationException.html" TargetMode="External"/><Relationship Id="rId5"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util/Collection.html#optional-restrictions"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docs.oracle.com/javase/8/docs/api/java/util/Collection.html#add-E-" TargetMode="External"/><Relationship Id="rId3" Type="http://schemas.openxmlformats.org/officeDocument/2006/relationships/hyperlink" Target="https://docs.oracle.com/javase/8/docs/api/java/lang/UnsupportedOperationException.html" TargetMode="External"/><Relationship Id="rId7" Type="http://schemas.openxmlformats.org/officeDocument/2006/relationships/hyperlink" Target="https://docs.oracle.com/javase/8/docs/api/java/lang/IllegalStateException.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llegalArgumentException.html" TargetMode="External"/><Relationship Id="rId5"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lang/ClassCastException.html"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docs.oracle.com/javase/8/docs/api/java/util/Collection.html#contains-java.lang.Object-" TargetMode="External"/><Relationship Id="rId3" Type="http://schemas.openxmlformats.org/officeDocument/2006/relationships/hyperlink" Target="https://docs.oracle.com/javase/8/docs/api/java/lang/UnsupportedOperationException.html" TargetMode="External"/><Relationship Id="rId7" Type="http://schemas.openxmlformats.org/officeDocument/2006/relationships/hyperlink" Target="https://docs.oracle.com/javase/8/docs/api/java/util/Collection.html#remove-java.lang.Object-"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NullPointerException.html" TargetMode="External"/><Relationship Id="rId11" Type="http://schemas.openxmlformats.org/officeDocument/2006/relationships/hyperlink" Target="https://docs.oracle.com/javase/8/docs/api/java/util/Iterator.html#remove--" TargetMode="External"/><Relationship Id="rId5" Type="http://schemas.openxmlformats.org/officeDocument/2006/relationships/hyperlink" Target="https://docs.oracle.com/javase/8/docs/api/java/util/Collection.html#optional-restrictions" TargetMode="External"/><Relationship Id="rId10" Type="http://schemas.openxmlformats.org/officeDocument/2006/relationships/hyperlink" Target="https://docs.oracle.com/javase/8/docs/api/java/util/Collection.html#iterator--" TargetMode="External"/><Relationship Id="rId4" Type="http://schemas.openxmlformats.org/officeDocument/2006/relationships/hyperlink" Target="https://docs.oracle.com/javase/8/docs/api/java/lang/ClassCastException.html" TargetMode="External"/><Relationship Id="rId9" Type="http://schemas.openxmlformats.org/officeDocument/2006/relationships/hyperlink" Target="https://docs.oracle.com/javase/8/docs/api/java/util/function/Predicate.html"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docs.oracle.com/javase/8/docs/api/java/util/Collection.html#contains-java.lang.Object-" TargetMode="External"/><Relationship Id="rId3" Type="http://schemas.openxmlformats.org/officeDocument/2006/relationships/hyperlink" Target="https://docs.oracle.com/javase/8/docs/api/java/lang/UnsupportedOperationException.html" TargetMode="External"/><Relationship Id="rId7" Type="http://schemas.openxmlformats.org/officeDocument/2006/relationships/hyperlink" Target="https://docs.oracle.com/javase/8/docs/api/java/util/Collection.html#remove-java.lang.Object-"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NullPointerException.html" TargetMode="External"/><Relationship Id="rId5" Type="http://schemas.openxmlformats.org/officeDocument/2006/relationships/hyperlink" Target="https://docs.oracle.com/javase/8/docs/api/java/util/Collection.html#optional-restrictions" TargetMode="External"/><Relationship Id="rId4" Type="http://schemas.openxmlformats.org/officeDocument/2006/relationships/hyperlink" Target="https://docs.oracle.com/javase/8/docs/api/java/lang/ClassCastException.htm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cs.oracle.com/javase/8/docs/api/java/lang/Object.html#equals-java.lang.Object-" TargetMode="External"/><Relationship Id="rId2" Type="http://schemas.openxmlformats.org/officeDocument/2006/relationships/hyperlink" Target="https://docs.oracle.com/javase/8/docs/api/java/lang/Object.html" TargetMode="External"/><Relationship Id="rId1" Type="http://schemas.openxmlformats.org/officeDocument/2006/relationships/slideLayout" Target="../slideLayouts/slideLayout2.xml"/><Relationship Id="rId5" Type="http://schemas.openxmlformats.org/officeDocument/2006/relationships/hyperlink" Target="https://docs.oracle.com/javase/8/docs/api/java/util/List.html#equals-java.lang.Object-" TargetMode="External"/><Relationship Id="rId4" Type="http://schemas.openxmlformats.org/officeDocument/2006/relationships/hyperlink" Target="https://docs.oracle.com/javase/8/docs/api/java/util/Set.html#equals-java.lang.Objec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cs.oracle.com/javase/8/docs/api/java/lang/Object.html" TargetMode="External"/><Relationship Id="rId2" Type="http://schemas.openxmlformats.org/officeDocument/2006/relationships/hyperlink" Target="https://docs.oracle.com/javase/8/docs/api/java/lang/Object.html#hashCode--" TargetMode="External"/><Relationship Id="rId1" Type="http://schemas.openxmlformats.org/officeDocument/2006/relationships/slideLayout" Target="../slideLayouts/slideLayout2.xml"/><Relationship Id="rId4" Type="http://schemas.openxmlformats.org/officeDocument/2006/relationships/hyperlink" Target="https://docs.oracle.com/javase/8/docs/api/java/lang/Object.html#equals-java.lang.Object-"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docs.oracle.com/javase/8/docs/api/java/lang/Iterable.html#spliterator--" TargetMode="External"/><Relationship Id="rId13" Type="http://schemas.openxmlformats.org/officeDocument/2006/relationships/hyperlink" Target="https://docs.oracle.com/javase/8/docs/api/java/util/Collection.html#spliterator--" TargetMode="External"/><Relationship Id="rId3" Type="http://schemas.openxmlformats.org/officeDocument/2006/relationships/hyperlink" Target="https://docs.oracle.com/javase/8/docs/api/java/util/Collection.html" TargetMode="External"/><Relationship Id="rId7" Type="http://schemas.openxmlformats.org/officeDocument/2006/relationships/hyperlink" Target="https://docs.oracle.com/javase/8/docs/api/java/util/Spliterator.html#binding" TargetMode="External"/><Relationship Id="rId12" Type="http://schemas.openxmlformats.org/officeDocument/2006/relationships/hyperlink" Target="https://docs.oracle.com/javase/8/docs/api/java/util/stream/Stream.html" TargetMode="External"/><Relationship Id="rId2" Type="http://schemas.openxmlformats.org/officeDocument/2006/relationships/hyperlink" Target="https://docs.oracle.com/javase/8/docs/api/java/util/Spliterator.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parallelStream--" TargetMode="External"/><Relationship Id="rId11" Type="http://schemas.openxmlformats.org/officeDocument/2006/relationships/hyperlink" Target="https://docs.oracle.com/javase/8/docs/api/java/util/Spliterators.html#emptySpliterator--" TargetMode="External"/><Relationship Id="rId5" Type="http://schemas.openxmlformats.org/officeDocument/2006/relationships/hyperlink" Target="https://docs.oracle.com/javase/8/docs/api/java/util/Collection.html#stream--" TargetMode="External"/><Relationship Id="rId10" Type="http://schemas.openxmlformats.org/officeDocument/2006/relationships/hyperlink" Target="https://docs.oracle.com/javase/8/docs/api/java/util/Spliterator.html#SUBSIZED" TargetMode="External"/><Relationship Id="rId4" Type="http://schemas.openxmlformats.org/officeDocument/2006/relationships/hyperlink" Target="https://docs.oracle.com/javase/8/docs/api/java/util/Spliterator.html#SIZED" TargetMode="External"/><Relationship Id="rId9" Type="http://schemas.openxmlformats.org/officeDocument/2006/relationships/hyperlink" Target="https://docs.oracle.com/javase/8/docs/api/java/lang/Iterable.html"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docs.oracle.com/javase/8/docs/api/java/util/Collection.html" TargetMode="External"/><Relationship Id="rId2" Type="http://schemas.openxmlformats.org/officeDocument/2006/relationships/hyperlink" Target="https://docs.oracle.com/javase/8/docs/api/java/util/stream/Stream.html" TargetMode="External"/><Relationship Id="rId1" Type="http://schemas.openxmlformats.org/officeDocument/2006/relationships/slideLayout" Target="../slideLayouts/slideLayout2.xml"/><Relationship Id="rId4" Type="http://schemas.openxmlformats.org/officeDocument/2006/relationships/hyperlink" Target="https://docs.oracle.com/javase/8/docs/api/java/util/Collection.html#spliterator--"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docs.oracle.com/javase/8/docs/api/java/util/ArrayDeque.html" TargetMode="External"/><Relationship Id="rId13" Type="http://schemas.openxmlformats.org/officeDocument/2006/relationships/hyperlink" Target="https://docs.oracle.com/javase/8/docs/api/java/util/LinkedList.html" TargetMode="External"/><Relationship Id="rId3" Type="http://schemas.openxmlformats.org/officeDocument/2006/relationships/hyperlink" Target="https://docs.oracle.com/javase/8/docs/api/java/util/Deque.html" TargetMode="External"/><Relationship Id="rId7" Type="http://schemas.openxmlformats.org/officeDocument/2006/relationships/hyperlink" Target="https://docs.oracle.com/javase/8/docs/api/java/util/SortedSet.html" TargetMode="External"/><Relationship Id="rId12" Type="http://schemas.openxmlformats.org/officeDocument/2006/relationships/hyperlink" Target="https://docs.oracle.com/javase/8/docs/api/java/util/LinkedHashSet.html" TargetMode="External"/><Relationship Id="rId17" Type="http://schemas.openxmlformats.org/officeDocument/2006/relationships/hyperlink" Target="https://docs.oracle.com/javase/8/docs/api/java/util/Vector.html" TargetMode="External"/><Relationship Id="rId2" Type="http://schemas.openxmlformats.org/officeDocument/2006/relationships/hyperlink" Target="https://docs.oracle.com/javase/8/docs/api/java/lang/Iterable.html" TargetMode="External"/><Relationship Id="rId16" Type="http://schemas.openxmlformats.org/officeDocument/2006/relationships/hyperlink" Target="https://docs.oracle.com/javase/8/docs/api/java/util/TreeSet.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Set.html" TargetMode="External"/><Relationship Id="rId11" Type="http://schemas.openxmlformats.org/officeDocument/2006/relationships/hyperlink" Target="https://docs.oracle.com/javase/8/docs/api/java/util/HashSet.html" TargetMode="External"/><Relationship Id="rId5" Type="http://schemas.openxmlformats.org/officeDocument/2006/relationships/hyperlink" Target="https://docs.oracle.com/javase/8/docs/api/java/util/Queue.html" TargetMode="External"/><Relationship Id="rId15" Type="http://schemas.openxmlformats.org/officeDocument/2006/relationships/hyperlink" Target="https://docs.oracle.com/javase/8/docs/api/java/util/Stack.html" TargetMode="External"/><Relationship Id="rId10" Type="http://schemas.openxmlformats.org/officeDocument/2006/relationships/hyperlink" Target="https://docs.oracle.com/javase/8/docs/api/java/util/EnumSet.html" TargetMode="External"/><Relationship Id="rId4" Type="http://schemas.openxmlformats.org/officeDocument/2006/relationships/hyperlink" Target="https://docs.oracle.com/javase/8/docs/api/java/util/List.html" TargetMode="External"/><Relationship Id="rId9" Type="http://schemas.openxmlformats.org/officeDocument/2006/relationships/hyperlink" Target="https://docs.oracle.com/javase/8/docs/api/java/util/ArrayList.html" TargetMode="External"/><Relationship Id="rId14" Type="http://schemas.openxmlformats.org/officeDocument/2006/relationships/hyperlink" Target="https://docs.oracle.com/javase/8/docs/api/java/util/PriorityQueue.html" TargetMode="External"/></Relationships>
</file>

<file path=ppt/slides/_rels/slide19.xml.rels><?xml version="1.0" encoding="UTF-8" standalone="yes"?>
<Relationships xmlns="http://schemas.openxmlformats.org/package/2006/relationships"><Relationship Id="rId26" Type="http://schemas.openxmlformats.org/officeDocument/2006/relationships/hyperlink" Target="https://docs.oracle.com/javase/8/docs/api/java/sql/BatchUpdateException.html" TargetMode="External"/><Relationship Id="rId21" Type="http://schemas.openxmlformats.org/officeDocument/2006/relationships/hyperlink" Target="https://docs.oracle.com/javase/8/docs/api/java/util/AbstractSet.html" TargetMode="External"/><Relationship Id="rId42" Type="http://schemas.openxmlformats.org/officeDocument/2006/relationships/hyperlink" Target="https://docs.oracle.com/javase/8/docs/api/java/util/LinkedHashSet.html" TargetMode="External"/><Relationship Id="rId47" Type="http://schemas.openxmlformats.org/officeDocument/2006/relationships/hyperlink" Target="https://docs.oracle.com/javase/8/docs/api/javax/management/relation/RoleList.html" TargetMode="External"/><Relationship Id="rId63" Type="http://schemas.openxmlformats.org/officeDocument/2006/relationships/hyperlink" Target="https://docs.oracle.com/javase/8/docs/api/java/sql/SQLTransactionRollbackException.html" TargetMode="External"/><Relationship Id="rId68" Type="http://schemas.openxmlformats.org/officeDocument/2006/relationships/hyperlink" Target="https://docs.oracle.com/javase/8/docs/api/javax/sql/rowset/spi/SyncFactoryException.html" TargetMode="External"/><Relationship Id="rId7" Type="http://schemas.openxmlformats.org/officeDocument/2006/relationships/hyperlink" Target="https://docs.oracle.com/javase/8/docs/api/java/util/Deque.html" TargetMode="External"/><Relationship Id="rId71" Type="http://schemas.openxmlformats.org/officeDocument/2006/relationships/hyperlink" Target="https://docs.oracle.com/javase/8/docs/api/java/util/TreeSet.html" TargetMode="External"/><Relationship Id="rId2" Type="http://schemas.openxmlformats.org/officeDocument/2006/relationships/hyperlink" Target="https://docs.oracle.com/javase/8/docs/api/java/beans/beancontext/BeanContext.html" TargetMode="External"/><Relationship Id="rId16" Type="http://schemas.openxmlformats.org/officeDocument/2006/relationships/hyperlink" Target="https://docs.oracle.com/javase/8/docs/api/java/util/concurrent/TransferQueue.html" TargetMode="External"/><Relationship Id="rId29" Type="http://schemas.openxmlformats.org/officeDocument/2006/relationships/hyperlink" Target="https://docs.oracle.com/javase/8/docs/api/java/util/concurrent/ConcurrentHashMap.KeySetView.html" TargetMode="External"/><Relationship Id="rId11" Type="http://schemas.openxmlformats.org/officeDocument/2006/relationships/hyperlink" Target="https://docs.oracle.com/javase/8/docs/api/java/nio/file/Path.html" TargetMode="External"/><Relationship Id="rId24" Type="http://schemas.openxmlformats.org/officeDocument/2006/relationships/hyperlink" Target="https://docs.oracle.com/javase/8/docs/api/java/util/ArrayList.html" TargetMode="External"/><Relationship Id="rId32" Type="http://schemas.openxmlformats.org/officeDocument/2006/relationships/hyperlink" Target="https://docs.oracle.com/javase/8/docs/api/java/util/concurrent/ConcurrentSkipListSet.html" TargetMode="External"/><Relationship Id="rId37" Type="http://schemas.openxmlformats.org/officeDocument/2006/relationships/hyperlink" Target="https://docs.oracle.com/javase/8/docs/api/java/util/EnumSet.html" TargetMode="External"/><Relationship Id="rId40" Type="http://schemas.openxmlformats.org/officeDocument/2006/relationships/hyperlink" Target="https://docs.oracle.com/javase/8/docs/api/java/util/concurrent/LinkedBlockingDeque.html" TargetMode="External"/><Relationship Id="rId45" Type="http://schemas.openxmlformats.org/officeDocument/2006/relationships/hyperlink" Target="https://docs.oracle.com/javase/8/docs/api/java/util/concurrent/PriorityBlockingQueue.html" TargetMode="External"/><Relationship Id="rId53" Type="http://schemas.openxmlformats.org/officeDocument/2006/relationships/hyperlink" Target="https://docs.oracle.com/javase/8/docs/api/java/sql/SQLDataException.html" TargetMode="External"/><Relationship Id="rId58" Type="http://schemas.openxmlformats.org/officeDocument/2006/relationships/hyperlink" Target="https://docs.oracle.com/javase/8/docs/api/java/sql/SQLNonTransientConnectionException.html" TargetMode="External"/><Relationship Id="rId66" Type="http://schemas.openxmlformats.org/officeDocument/2006/relationships/hyperlink" Target="https://docs.oracle.com/javase/8/docs/api/java/sql/SQLWarning.html" TargetMode="External"/><Relationship Id="rId5" Type="http://schemas.openxmlformats.org/officeDocument/2006/relationships/hyperlink" Target="https://docs.oracle.com/javase/8/docs/api/java/util/concurrent/BlockingQueue.html" TargetMode="External"/><Relationship Id="rId61" Type="http://schemas.openxmlformats.org/officeDocument/2006/relationships/hyperlink" Target="https://docs.oracle.com/javase/8/docs/api/java/sql/SQLSyntaxErrorException.html" TargetMode="External"/><Relationship Id="rId19" Type="http://schemas.openxmlformats.org/officeDocument/2006/relationships/hyperlink" Target="https://docs.oracle.com/javase/8/docs/api/java/util/AbstractQueue.html" TargetMode="External"/><Relationship Id="rId14" Type="http://schemas.openxmlformats.org/officeDocument/2006/relationships/hyperlink" Target="https://docs.oracle.com/javase/8/docs/api/java/util/Set.html" TargetMode="External"/><Relationship Id="rId22" Type="http://schemas.openxmlformats.org/officeDocument/2006/relationships/hyperlink" Target="https://docs.oracle.com/javase/8/docs/api/java/util/concurrent/ArrayBlockingQueue.html" TargetMode="External"/><Relationship Id="rId27" Type="http://schemas.openxmlformats.org/officeDocument/2006/relationships/hyperlink" Target="https://docs.oracle.com/javase/8/docs/api/java/beans/beancontext/BeanContextServicesSupport.html" TargetMode="External"/><Relationship Id="rId30" Type="http://schemas.openxmlformats.org/officeDocument/2006/relationships/hyperlink" Target="https://docs.oracle.com/javase/8/docs/api/java/util/concurrent/ConcurrentLinkedDeque.html" TargetMode="External"/><Relationship Id="rId35" Type="http://schemas.openxmlformats.org/officeDocument/2006/relationships/hyperlink" Target="https://docs.oracle.com/javase/8/docs/api/java/sql/DataTruncation.html" TargetMode="External"/><Relationship Id="rId43" Type="http://schemas.openxmlformats.org/officeDocument/2006/relationships/hyperlink" Target="https://docs.oracle.com/javase/8/docs/api/java/util/LinkedList.html" TargetMode="External"/><Relationship Id="rId48" Type="http://schemas.openxmlformats.org/officeDocument/2006/relationships/hyperlink" Target="https://docs.oracle.com/javase/8/docs/api/javax/management/relation/RoleUnresolvedList.html" TargetMode="External"/><Relationship Id="rId56" Type="http://schemas.openxmlformats.org/officeDocument/2006/relationships/hyperlink" Target="https://docs.oracle.com/javase/8/docs/api/java/sql/SQLIntegrityConstraintViolationException.html" TargetMode="External"/><Relationship Id="rId64" Type="http://schemas.openxmlformats.org/officeDocument/2006/relationships/hyperlink" Target="https://docs.oracle.com/javase/8/docs/api/java/sql/SQLTransientConnectionException.html" TargetMode="External"/><Relationship Id="rId69" Type="http://schemas.openxmlformats.org/officeDocument/2006/relationships/hyperlink" Target="https://docs.oracle.com/javase/8/docs/api/java/util/concurrent/SynchronousQueue.html" TargetMode="External"/><Relationship Id="rId8" Type="http://schemas.openxmlformats.org/officeDocument/2006/relationships/hyperlink" Target="https://docs.oracle.com/javase/8/docs/api/java/nio/file/DirectoryStream.html" TargetMode="External"/><Relationship Id="rId51" Type="http://schemas.openxmlformats.org/officeDocument/2006/relationships/hyperlink" Target="https://docs.oracle.com/javase/8/docs/api/java/util/ServiceLoader.html" TargetMode="External"/><Relationship Id="rId72" Type="http://schemas.openxmlformats.org/officeDocument/2006/relationships/hyperlink" Target="https://docs.oracle.com/javase/8/docs/api/java/util/Vector.html" TargetMode="External"/><Relationship Id="rId3" Type="http://schemas.openxmlformats.org/officeDocument/2006/relationships/hyperlink" Target="https://docs.oracle.com/javase/8/docs/api/java/beans/beancontext/BeanContextServices.html" TargetMode="External"/><Relationship Id="rId12" Type="http://schemas.openxmlformats.org/officeDocument/2006/relationships/hyperlink" Target="https://docs.oracle.com/javase/8/docs/api/java/util/Queue.html" TargetMode="External"/><Relationship Id="rId17" Type="http://schemas.openxmlformats.org/officeDocument/2006/relationships/hyperlink" Target="https://docs.oracle.com/javase/8/docs/api/java/util/AbstractCollection.html" TargetMode="External"/><Relationship Id="rId25" Type="http://schemas.openxmlformats.org/officeDocument/2006/relationships/hyperlink" Target="https://docs.oracle.com/javase/8/docs/api/javax/management/AttributeList.html" TargetMode="External"/><Relationship Id="rId33" Type="http://schemas.openxmlformats.org/officeDocument/2006/relationships/hyperlink" Target="https://docs.oracle.com/javase/8/docs/api/java/util/concurrent/CopyOnWriteArrayList.html" TargetMode="External"/><Relationship Id="rId38" Type="http://schemas.openxmlformats.org/officeDocument/2006/relationships/hyperlink" Target="https://docs.oracle.com/javase/8/docs/api/java/util/HashSet.html" TargetMode="External"/><Relationship Id="rId46" Type="http://schemas.openxmlformats.org/officeDocument/2006/relationships/hyperlink" Target="https://docs.oracle.com/javase/8/docs/api/java/util/PriorityQueue.html" TargetMode="External"/><Relationship Id="rId59" Type="http://schemas.openxmlformats.org/officeDocument/2006/relationships/hyperlink" Target="https://docs.oracle.com/javase/8/docs/api/java/sql/SQLNonTransientException.html" TargetMode="External"/><Relationship Id="rId67" Type="http://schemas.openxmlformats.org/officeDocument/2006/relationships/hyperlink" Target="https://docs.oracle.com/javase/8/docs/api/java/util/Stack.html" TargetMode="External"/><Relationship Id="rId20" Type="http://schemas.openxmlformats.org/officeDocument/2006/relationships/hyperlink" Target="https://docs.oracle.com/javase/8/docs/api/java/util/AbstractSequentialList.html" TargetMode="External"/><Relationship Id="rId41" Type="http://schemas.openxmlformats.org/officeDocument/2006/relationships/hyperlink" Target="https://docs.oracle.com/javase/8/docs/api/java/util/concurrent/LinkedBlockingQueue.html" TargetMode="External"/><Relationship Id="rId54" Type="http://schemas.openxmlformats.org/officeDocument/2006/relationships/hyperlink" Target="https://docs.oracle.com/javase/8/docs/api/java/sql/SQLException.html" TargetMode="External"/><Relationship Id="rId62" Type="http://schemas.openxmlformats.org/officeDocument/2006/relationships/hyperlink" Target="https://docs.oracle.com/javase/8/docs/api/java/sql/SQLTimeoutException.html" TargetMode="External"/><Relationship Id="rId70" Type="http://schemas.openxmlformats.org/officeDocument/2006/relationships/hyperlink" Target="https://docs.oracle.com/javase/8/docs/api/javax/sql/rowset/spi/SyncProviderExcep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 TargetMode="External"/><Relationship Id="rId15" Type="http://schemas.openxmlformats.org/officeDocument/2006/relationships/hyperlink" Target="https://docs.oracle.com/javase/8/docs/api/java/util/SortedSet.html" TargetMode="External"/><Relationship Id="rId23" Type="http://schemas.openxmlformats.org/officeDocument/2006/relationships/hyperlink" Target="https://docs.oracle.com/javase/8/docs/api/java/util/ArrayDeque.html" TargetMode="External"/><Relationship Id="rId28" Type="http://schemas.openxmlformats.org/officeDocument/2006/relationships/hyperlink" Target="https://docs.oracle.com/javase/8/docs/api/java/beans/beancontext/BeanContextSupport.html" TargetMode="External"/><Relationship Id="rId36" Type="http://schemas.openxmlformats.org/officeDocument/2006/relationships/hyperlink" Target="https://docs.oracle.com/javase/8/docs/api/java/util/concurrent/DelayQueue.html" TargetMode="External"/><Relationship Id="rId49" Type="http://schemas.openxmlformats.org/officeDocument/2006/relationships/hyperlink" Target="https://docs.oracle.com/javase/8/docs/api/javax/sql/rowset/RowSetWarning.html" TargetMode="External"/><Relationship Id="rId57" Type="http://schemas.openxmlformats.org/officeDocument/2006/relationships/hyperlink" Target="https://docs.oracle.com/javase/8/docs/api/java/sql/SQLInvalidAuthorizationSpecException.html" TargetMode="External"/><Relationship Id="rId10" Type="http://schemas.openxmlformats.org/officeDocument/2006/relationships/hyperlink" Target="https://docs.oracle.com/javase/8/docs/api/java/util/NavigableSet.html" TargetMode="External"/><Relationship Id="rId31" Type="http://schemas.openxmlformats.org/officeDocument/2006/relationships/hyperlink" Target="https://docs.oracle.com/javase/8/docs/api/java/util/concurrent/ConcurrentLinkedQueue.html" TargetMode="External"/><Relationship Id="rId44" Type="http://schemas.openxmlformats.org/officeDocument/2006/relationships/hyperlink" Target="https://docs.oracle.com/javase/8/docs/api/java/util/concurrent/LinkedTransferQueue.html" TargetMode="External"/><Relationship Id="rId52" Type="http://schemas.openxmlformats.org/officeDocument/2006/relationships/hyperlink" Target="https://docs.oracle.com/javase/8/docs/api/java/sql/SQLClientInfoException.html" TargetMode="External"/><Relationship Id="rId60" Type="http://schemas.openxmlformats.org/officeDocument/2006/relationships/hyperlink" Target="https://docs.oracle.com/javase/8/docs/api/java/sql/SQLRecoverableException.html" TargetMode="External"/><Relationship Id="rId65" Type="http://schemas.openxmlformats.org/officeDocument/2006/relationships/hyperlink" Target="https://docs.oracle.com/javase/8/docs/api/java/sql/SQLTransientException.html" TargetMode="External"/><Relationship Id="rId4" Type="http://schemas.openxmlformats.org/officeDocument/2006/relationships/hyperlink" Target="https://docs.oracle.com/javase/8/docs/api/java/util/concurrent/BlockingDeque.html" TargetMode="External"/><Relationship Id="rId9" Type="http://schemas.openxmlformats.org/officeDocument/2006/relationships/hyperlink" Target="https://docs.oracle.com/javase/8/docs/api/java/util/List.html" TargetMode="External"/><Relationship Id="rId13" Type="http://schemas.openxmlformats.org/officeDocument/2006/relationships/hyperlink" Target="https://docs.oracle.com/javase/8/docs/api/java/nio/file/SecureDirectoryStream.html" TargetMode="External"/><Relationship Id="rId18" Type="http://schemas.openxmlformats.org/officeDocument/2006/relationships/hyperlink" Target="https://docs.oracle.com/javase/8/docs/api/java/util/AbstractList.html" TargetMode="External"/><Relationship Id="rId39" Type="http://schemas.openxmlformats.org/officeDocument/2006/relationships/hyperlink" Target="https://docs.oracle.com/javase/8/docs/api/javax/print/attribute/standard/JobStateReasons.html" TargetMode="External"/><Relationship Id="rId34" Type="http://schemas.openxmlformats.org/officeDocument/2006/relationships/hyperlink" Target="https://docs.oracle.com/javase/8/docs/api/java/util/concurrent/CopyOnWriteArraySet.html" TargetMode="External"/><Relationship Id="rId50" Type="http://schemas.openxmlformats.org/officeDocument/2006/relationships/hyperlink" Target="https://docs.oracle.com/javase/8/docs/api/javax/sql/rowset/serial/SerialException.html" TargetMode="External"/><Relationship Id="rId55" Type="http://schemas.openxmlformats.org/officeDocument/2006/relationships/hyperlink" Target="https://docs.oracle.com/javase/8/docs/api/java/sql/SQLFeatureNotSupportedException.html"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docs.oracle.com/javase/8/docs/api/java/lang/Iterable.html#spliterator--" TargetMode="External"/><Relationship Id="rId3" Type="http://schemas.openxmlformats.org/officeDocument/2006/relationships/hyperlink" Target="https://docs.oracle.com/javase/8/docs/api/java/util/function/Consumer.html" TargetMode="External"/><Relationship Id="rId7" Type="http://schemas.openxmlformats.org/officeDocument/2006/relationships/hyperlink" Target="https://docs.oracle.com/javase/8/docs/api/java/util/Spliterator.html" TargetMode="External"/><Relationship Id="rId2" Type="http://schemas.openxmlformats.org/officeDocument/2006/relationships/hyperlink" Target="https://docs.oracle.com/javase/8/docs/api/java/lang/Iterable.html#forEach-java.util.function.Consumer-"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terable.html#iterator--" TargetMode="External"/><Relationship Id="rId5" Type="http://schemas.openxmlformats.org/officeDocument/2006/relationships/hyperlink" Target="https://docs.oracle.com/javase/8/docs/api/java/util/Iterator.html" TargetMode="External"/><Relationship Id="rId4" Type="http://schemas.openxmlformats.org/officeDocument/2006/relationships/hyperlink" Target="https://docs.oracle.com/javase/8/docs/api/java/lang/Iterable.html" TargetMode="External"/><Relationship Id="rId9" Type="http://schemas.openxmlformats.org/officeDocument/2006/relationships/hyperlink" Target="https://docs.oracle.com/javase/8/docs/technotes/guides/language/foreach.html"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ocs.oracle.com/javase/8/docs/api/java/lang/Iterable.html" TargetMode="External"/><Relationship Id="rId2" Type="http://schemas.openxmlformats.org/officeDocument/2006/relationships/hyperlink" Target="https://docs.oracle.com/javase/8/docs/api/java/util/Iterator.html" TargetMode="External"/><Relationship Id="rId1" Type="http://schemas.openxmlformats.org/officeDocument/2006/relationships/slideLayout" Target="../slideLayouts/slideLayout2.xml"/><Relationship Id="rId4" Type="http://schemas.openxmlformats.org/officeDocument/2006/relationships/hyperlink" Target="https://docs.oracle.com/javase/8/docs/api/java/lang/Iterable.html#iterator--"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docs.oracle.com/javase/8/docs/api/java/util/function/Consumer.html" TargetMode="External"/><Relationship Id="rId2" Type="http://schemas.openxmlformats.org/officeDocument/2006/relationships/hyperlink" Target="https://docs.oracle.com/javase/8/docs/api/java/lang/Iterable.html#forEach-java.util.function.Consumer-"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terable.html#spliterator--" TargetMode="External"/><Relationship Id="rId5" Type="http://schemas.openxmlformats.org/officeDocument/2006/relationships/hyperlink" Target="https://docs.oracle.com/javase/8/docs/api/java/util/Spliterator.html" TargetMode="External"/><Relationship Id="rId4" Type="http://schemas.openxmlformats.org/officeDocument/2006/relationships/hyperlink" Target="https://docs.oracle.com/javase/8/docs/api/java/lang/Iterable.html"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ocs.oracle.com/javase/8/docs/api/java/lang/Iterable.html" TargetMode="External"/><Relationship Id="rId7" Type="http://schemas.openxmlformats.org/officeDocument/2006/relationships/hyperlink" Target="https://docs.oracle.com/javase/8/docs/api/java/lang/Spliterator.html#binding" TargetMode="External"/><Relationship Id="rId2" Type="http://schemas.openxmlformats.org/officeDocument/2006/relationships/hyperlink" Target="https://docs.oracle.com/javase/8/docs/api/java/util/Iterator.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Spliterator.html" TargetMode="External"/><Relationship Id="rId5"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util/function/Consumer.html"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docs.oracle.com/javase/8/docs/api/java/util/concurrent/LinkedBlockingDeque.html" TargetMode="External"/><Relationship Id="rId3" Type="http://schemas.openxmlformats.org/officeDocument/2006/relationships/hyperlink" Target="https://docs.oracle.com/javase/8/docs/api/java/lang/Iterable.html" TargetMode="External"/><Relationship Id="rId7" Type="http://schemas.openxmlformats.org/officeDocument/2006/relationships/hyperlink" Target="https://docs.oracle.com/javase/8/docs/api/java/util/concurrent/ConcurrentLinkedDeque.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ArrayDeque.html" TargetMode="External"/><Relationship Id="rId5" Type="http://schemas.openxmlformats.org/officeDocument/2006/relationships/hyperlink" Target="https://docs.oracle.com/javase/8/docs/api/java/util/concurrent/BlockingDeque.html" TargetMode="External"/><Relationship Id="rId4" Type="http://schemas.openxmlformats.org/officeDocument/2006/relationships/hyperlink" Target="https://docs.oracle.com/javase/8/docs/api/java/util/Queue.html" TargetMode="External"/><Relationship Id="rId9" Type="http://schemas.openxmlformats.org/officeDocument/2006/relationships/hyperlink" Target="https://docs.oracle.com/javase/8/docs/api/java/util/LinkedList.html"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docs.oracle.com/javase/8/docs/api/java/util/Deque.html#removeLast--" TargetMode="External"/><Relationship Id="rId13" Type="http://schemas.openxmlformats.org/officeDocument/2006/relationships/hyperlink" Target="https://docs.oracle.com/javase/8/docs/api/java/util/Deque.html#peekLast--" TargetMode="External"/><Relationship Id="rId18" Type="http://schemas.openxmlformats.org/officeDocument/2006/relationships/hyperlink" Target="https://docs.oracle.com/javase/8/docs/api/java/util/Queue.html#element--" TargetMode="External"/><Relationship Id="rId3" Type="http://schemas.openxmlformats.org/officeDocument/2006/relationships/hyperlink" Target="https://docs.oracle.com/javase/8/docs/api/java/util/Deque.html#offerFirst-E-" TargetMode="External"/><Relationship Id="rId21" Type="http://schemas.openxmlformats.org/officeDocument/2006/relationships/hyperlink" Target="https://docs.oracle.com/javase/8/docs/api/java/util/Queue.html" TargetMode="External"/><Relationship Id="rId7" Type="http://schemas.openxmlformats.org/officeDocument/2006/relationships/hyperlink" Target="https://docs.oracle.com/javase/8/docs/api/java/util/Deque.html#pollFirst--" TargetMode="External"/><Relationship Id="rId12" Type="http://schemas.openxmlformats.org/officeDocument/2006/relationships/hyperlink" Target="https://docs.oracle.com/javase/8/docs/api/java/util/Deque.html#getLast--" TargetMode="External"/><Relationship Id="rId17" Type="http://schemas.openxmlformats.org/officeDocument/2006/relationships/hyperlink" Target="https://docs.oracle.com/javase/8/docs/api/java/util/Queue.html#poll--" TargetMode="External"/><Relationship Id="rId2" Type="http://schemas.openxmlformats.org/officeDocument/2006/relationships/hyperlink" Target="https://docs.oracle.com/javase/8/docs/api/java/util/Deque.html#addFirst-E-" TargetMode="External"/><Relationship Id="rId16" Type="http://schemas.openxmlformats.org/officeDocument/2006/relationships/hyperlink" Target="https://docs.oracle.com/javase/8/docs/api/java/util/Queue.html#remove--" TargetMode="External"/><Relationship Id="rId20" Type="http://schemas.openxmlformats.org/officeDocument/2006/relationships/hyperlink" Target="https://docs.oracle.com/javase/8/docs/api/java/util/Deque.html#peek--"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removeFirst--" TargetMode="External"/><Relationship Id="rId11" Type="http://schemas.openxmlformats.org/officeDocument/2006/relationships/hyperlink" Target="https://docs.oracle.com/javase/8/docs/api/java/util/Deque.html#peekFirst--" TargetMode="External"/><Relationship Id="rId5" Type="http://schemas.openxmlformats.org/officeDocument/2006/relationships/hyperlink" Target="https://docs.oracle.com/javase/8/docs/api/java/util/Deque.html#offerLast-E-" TargetMode="External"/><Relationship Id="rId15" Type="http://schemas.openxmlformats.org/officeDocument/2006/relationships/hyperlink" Target="https://docs.oracle.com/javase/8/docs/api/java/util/Queue.html#offer-E-" TargetMode="External"/><Relationship Id="rId10" Type="http://schemas.openxmlformats.org/officeDocument/2006/relationships/hyperlink" Target="https://docs.oracle.com/javase/8/docs/api/java/util/Deque.html#getFirst--" TargetMode="External"/><Relationship Id="rId19" Type="http://schemas.openxmlformats.org/officeDocument/2006/relationships/hyperlink" Target="https://docs.oracle.com/javase/8/docs/api/java/util/Queue.html#peek--" TargetMode="External"/><Relationship Id="rId4" Type="http://schemas.openxmlformats.org/officeDocument/2006/relationships/hyperlink" Target="https://docs.oracle.com/javase/8/docs/api/java/util/Deque.html#addLast-E-" TargetMode="External"/><Relationship Id="rId9" Type="http://schemas.openxmlformats.org/officeDocument/2006/relationships/hyperlink" Target="https://docs.oracle.com/javase/8/docs/api/java/util/Deque.html#pollLast--" TargetMode="External"/><Relationship Id="rId14" Type="http://schemas.openxmlformats.org/officeDocument/2006/relationships/hyperlink" Target="https://docs.oracle.com/javase/8/docs/api/java/util/Queue.html#add-E-" TargetMode="External"/></Relationships>
</file>

<file path=ppt/slides/_rels/slide26.xml.rels><?xml version="1.0" encoding="UTF-8" standalone="yes"?>
<Relationships xmlns="http://schemas.openxmlformats.org/package/2006/relationships"><Relationship Id="rId8" Type="http://schemas.openxmlformats.org/officeDocument/2006/relationships/hyperlink" Target="https://docs.oracle.com/javase/8/docs/api/java/util/Deque.html#peekFirst--" TargetMode="External"/><Relationship Id="rId3" Type="http://schemas.openxmlformats.org/officeDocument/2006/relationships/hyperlink" Target="https://docs.oracle.com/javase/8/docs/api/java/util/Deque.html#push-E-" TargetMode="External"/><Relationship Id="rId7" Type="http://schemas.openxmlformats.org/officeDocument/2006/relationships/hyperlink" Target="https://docs.oracle.com/javase/8/docs/api/java/util/Deque.html#peek--" TargetMode="External"/><Relationship Id="rId12" Type="http://schemas.openxmlformats.org/officeDocument/2006/relationships/hyperlink" Target="https://docs.oracle.com/javase/8/docs/technotes/guides/collections/index.html" TargetMode="External"/><Relationship Id="rId2" Type="http://schemas.openxmlformats.org/officeDocument/2006/relationships/hyperlink" Target="https://docs.oracle.com/javase/8/docs/api/java/util/Stack.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removeFirst--" TargetMode="External"/><Relationship Id="rId11" Type="http://schemas.openxmlformats.org/officeDocument/2006/relationships/hyperlink" Target="https://docs.oracle.com/javase/8/docs/api/java/util/List.html" TargetMode="External"/><Relationship Id="rId5" Type="http://schemas.openxmlformats.org/officeDocument/2006/relationships/hyperlink" Target="https://docs.oracle.com/javase/8/docs/api/java/util/Deque.html#pop--" TargetMode="External"/><Relationship Id="rId10" Type="http://schemas.openxmlformats.org/officeDocument/2006/relationships/hyperlink" Target="https://docs.oracle.com/javase/8/docs/api/java/util/Deque.html#removeLastOccurrence-java.lang.Object-" TargetMode="External"/><Relationship Id="rId4" Type="http://schemas.openxmlformats.org/officeDocument/2006/relationships/hyperlink" Target="https://docs.oracle.com/javase/8/docs/api/java/util/Deque.html#addFirst-E-" TargetMode="External"/><Relationship Id="rId9" Type="http://schemas.openxmlformats.org/officeDocument/2006/relationships/hyperlink" Target="https://docs.oracle.com/javase/8/docs/api/java/util/Deque.html#removeFirstOccurrence-java.lang.Object-"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docs.oracle.com/javase/8/docs/api/java/util/Iterator.html" TargetMode="External"/><Relationship Id="rId13" Type="http://schemas.openxmlformats.org/officeDocument/2006/relationships/hyperlink" Target="https://docs.oracle.com/javase/8/docs/api/java/util/Deque.html#iterator--" TargetMode="External"/><Relationship Id="rId18" Type="http://schemas.openxmlformats.org/officeDocument/2006/relationships/hyperlink" Target="https://docs.oracle.com/javase/8/docs/api/java/util/Deque.html#peekFirst--" TargetMode="External"/><Relationship Id="rId26" Type="http://schemas.openxmlformats.org/officeDocument/2006/relationships/hyperlink" Target="https://docs.oracle.com/javase/8/docs/api/java/util/Deque.html#remove-java.lang.Object-" TargetMode="External"/><Relationship Id="rId3" Type="http://schemas.openxmlformats.org/officeDocument/2006/relationships/hyperlink" Target="https://docs.oracle.com/javase/8/docs/api/java/util/Deque.html" TargetMode="External"/><Relationship Id="rId21" Type="http://schemas.openxmlformats.org/officeDocument/2006/relationships/hyperlink" Target="https://docs.oracle.com/javase/8/docs/api/java/util/Deque.html#pollFirst--" TargetMode="External"/><Relationship Id="rId7" Type="http://schemas.openxmlformats.org/officeDocument/2006/relationships/hyperlink" Target="https://docs.oracle.com/javase/8/docs/api/java/lang/Object.html" TargetMode="External"/><Relationship Id="rId12" Type="http://schemas.openxmlformats.org/officeDocument/2006/relationships/hyperlink" Target="https://docs.oracle.com/javase/8/docs/api/java/util/Deque.html#getLast--" TargetMode="External"/><Relationship Id="rId17" Type="http://schemas.openxmlformats.org/officeDocument/2006/relationships/hyperlink" Target="https://docs.oracle.com/javase/8/docs/api/java/util/Deque.html#peek--" TargetMode="External"/><Relationship Id="rId25" Type="http://schemas.openxmlformats.org/officeDocument/2006/relationships/hyperlink" Target="https://docs.oracle.com/javase/8/docs/api/java/util/Deque.html#remove--" TargetMode="External"/><Relationship Id="rId2" Type="http://schemas.openxmlformats.org/officeDocument/2006/relationships/hyperlink" Target="https://docs.oracle.com/javase/8/docs/api/java/util/Deque.html#add-E-" TargetMode="External"/><Relationship Id="rId16" Type="http://schemas.openxmlformats.org/officeDocument/2006/relationships/hyperlink" Target="https://docs.oracle.com/javase/8/docs/api/java/util/Deque.html#offerLast-E-" TargetMode="External"/><Relationship Id="rId20" Type="http://schemas.openxmlformats.org/officeDocument/2006/relationships/hyperlink" Target="https://docs.oracle.com/javase/8/docs/api/java/util/Deque.html#poll--" TargetMode="External"/><Relationship Id="rId29" Type="http://schemas.openxmlformats.org/officeDocument/2006/relationships/hyperlink" Target="https://docs.oracle.com/javase/8/docs/api/java/util/Deque.html#removeLast--"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contains-java.lang.Object-" TargetMode="External"/><Relationship Id="rId11" Type="http://schemas.openxmlformats.org/officeDocument/2006/relationships/hyperlink" Target="https://docs.oracle.com/javase/8/docs/api/java/util/Deque.html#getFirst--" TargetMode="External"/><Relationship Id="rId24" Type="http://schemas.openxmlformats.org/officeDocument/2006/relationships/hyperlink" Target="https://docs.oracle.com/javase/8/docs/api/java/util/Deque.html#push-E-" TargetMode="External"/><Relationship Id="rId5" Type="http://schemas.openxmlformats.org/officeDocument/2006/relationships/hyperlink" Target="https://docs.oracle.com/javase/8/docs/api/java/util/Deque.html#addLast-E-" TargetMode="External"/><Relationship Id="rId15" Type="http://schemas.openxmlformats.org/officeDocument/2006/relationships/hyperlink" Target="https://docs.oracle.com/javase/8/docs/api/java/util/Deque.html#offerFirst-E-" TargetMode="External"/><Relationship Id="rId23" Type="http://schemas.openxmlformats.org/officeDocument/2006/relationships/hyperlink" Target="https://docs.oracle.com/javase/8/docs/api/java/util/Deque.html#pop--" TargetMode="External"/><Relationship Id="rId28" Type="http://schemas.openxmlformats.org/officeDocument/2006/relationships/hyperlink" Target="https://docs.oracle.com/javase/8/docs/api/java/util/Deque.html#removeFirstOccurrence-java.lang.Object-" TargetMode="External"/><Relationship Id="rId10" Type="http://schemas.openxmlformats.org/officeDocument/2006/relationships/hyperlink" Target="https://docs.oracle.com/javase/8/docs/api/java/util/Deque.html#element--" TargetMode="External"/><Relationship Id="rId19" Type="http://schemas.openxmlformats.org/officeDocument/2006/relationships/hyperlink" Target="https://docs.oracle.com/javase/8/docs/api/java/util/Deque.html#peekLast--" TargetMode="External"/><Relationship Id="rId31" Type="http://schemas.openxmlformats.org/officeDocument/2006/relationships/hyperlink" Target="https://docs.oracle.com/javase/8/docs/api/java/util/Deque.html#size--" TargetMode="External"/><Relationship Id="rId4" Type="http://schemas.openxmlformats.org/officeDocument/2006/relationships/hyperlink" Target="https://docs.oracle.com/javase/8/docs/api/java/util/Deque.html#addFirst-E-" TargetMode="External"/><Relationship Id="rId9" Type="http://schemas.openxmlformats.org/officeDocument/2006/relationships/hyperlink" Target="https://docs.oracle.com/javase/8/docs/api/java/util/Deque.html#descendingIterator--" TargetMode="External"/><Relationship Id="rId14" Type="http://schemas.openxmlformats.org/officeDocument/2006/relationships/hyperlink" Target="https://docs.oracle.com/javase/8/docs/api/java/util/Deque.html#offer-E-" TargetMode="External"/><Relationship Id="rId22" Type="http://schemas.openxmlformats.org/officeDocument/2006/relationships/hyperlink" Target="https://docs.oracle.com/javase/8/docs/api/java/util/Deque.html#pollLast--" TargetMode="External"/><Relationship Id="rId27" Type="http://schemas.openxmlformats.org/officeDocument/2006/relationships/hyperlink" Target="https://docs.oracle.com/javase/8/docs/api/java/util/Deque.html#removeFirst--" TargetMode="External"/><Relationship Id="rId30" Type="http://schemas.openxmlformats.org/officeDocument/2006/relationships/hyperlink" Target="https://docs.oracle.com/javase/8/docs/api/java/util/Deque.html#removeLastOccurrence-java.lang.Object-"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docs.oracle.com/javase/8/docs/api/java/util/Collection.html#isEmpty--" TargetMode="External"/><Relationship Id="rId13" Type="http://schemas.openxmlformats.org/officeDocument/2006/relationships/hyperlink" Target="https://docs.oracle.com/javase/8/docs/api/java/util/Collection.html#spliterator--" TargetMode="External"/><Relationship Id="rId18" Type="http://schemas.openxmlformats.org/officeDocument/2006/relationships/hyperlink" Target="https://docs.oracle.com/javase/8/docs/api/java/lang/Iterable.html#forEach-java.util.function.Consumer-" TargetMode="External"/><Relationship Id="rId3" Type="http://schemas.openxmlformats.org/officeDocument/2006/relationships/hyperlink" Target="https://docs.oracle.com/javase/8/docs/api/java/util/Collection.html#addAll-java.util.Collection-" TargetMode="External"/><Relationship Id="rId7" Type="http://schemas.openxmlformats.org/officeDocument/2006/relationships/hyperlink" Target="https://docs.oracle.com/javase/8/docs/api/java/util/Collection.html#hashCode--" TargetMode="External"/><Relationship Id="rId12" Type="http://schemas.openxmlformats.org/officeDocument/2006/relationships/hyperlink" Target="https://docs.oracle.com/javase/8/docs/api/java/util/Collection.html#retainAll-java.util.Collection-" TargetMode="External"/><Relationship Id="rId17" Type="http://schemas.openxmlformats.org/officeDocument/2006/relationships/hyperlink" Target="https://docs.oracle.com/javase/8/docs/api/java/lang/Iterable.html" TargetMode="External"/><Relationship Id="rId2" Type="http://schemas.openxmlformats.org/officeDocument/2006/relationships/hyperlink" Target="https://docs.oracle.com/javase/8/docs/api/java/util/Collection.html" TargetMode="External"/><Relationship Id="rId16" Type="http://schemas.openxmlformats.org/officeDocument/2006/relationships/hyperlink" Target="https://docs.oracle.com/javase/8/docs/api/java/util/Collection.html#toArray-T:A-"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equals-java.lang.Object-" TargetMode="External"/><Relationship Id="rId11" Type="http://schemas.openxmlformats.org/officeDocument/2006/relationships/hyperlink" Target="https://docs.oracle.com/javase/8/docs/api/java/util/Collection.html#removeIf-java.util.function.Predicate-" TargetMode="External"/><Relationship Id="rId5" Type="http://schemas.openxmlformats.org/officeDocument/2006/relationships/hyperlink" Target="https://docs.oracle.com/javase/8/docs/api/java/util/Collection.html#containsAll-java.util.Collection-" TargetMode="External"/><Relationship Id="rId15" Type="http://schemas.openxmlformats.org/officeDocument/2006/relationships/hyperlink" Target="https://docs.oracle.com/javase/8/docs/api/java/util/Collection.html#toArray--" TargetMode="External"/><Relationship Id="rId10" Type="http://schemas.openxmlformats.org/officeDocument/2006/relationships/hyperlink" Target="https://docs.oracle.com/javase/8/docs/api/java/util/Collection.html#removeAll-java.util.Collection-" TargetMode="External"/><Relationship Id="rId4" Type="http://schemas.openxmlformats.org/officeDocument/2006/relationships/hyperlink" Target="https://docs.oracle.com/javase/8/docs/api/java/util/Collection.html#clear--" TargetMode="External"/><Relationship Id="rId9" Type="http://schemas.openxmlformats.org/officeDocument/2006/relationships/hyperlink" Target="https://docs.oracle.com/javase/8/docs/api/java/util/Collection.html#parallelStream--" TargetMode="External"/><Relationship Id="rId14" Type="http://schemas.openxmlformats.org/officeDocument/2006/relationships/hyperlink" Target="https://docs.oracle.com/javase/8/docs/api/java/util/Collection.html#stream--"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docs.oracle.com/javase/8/docs/api/java/util/Deque.html#offerLast-E-" TargetMode="External"/><Relationship Id="rId3" Type="http://schemas.openxmlformats.org/officeDocument/2006/relationships/hyperlink" Target="https://docs.oracle.com/javase/8/docs/api/java/util/Deque.html#offerFirst-E-" TargetMode="External"/><Relationship Id="rId7" Type="http://schemas.openxmlformats.org/officeDocument/2006/relationships/hyperlink" Target="https://docs.oracle.com/javase/8/docs/api/java/lang/IllegalArgumentException.html" TargetMode="External"/><Relationship Id="rId2" Type="http://schemas.openxmlformats.org/officeDocument/2006/relationships/hyperlink" Target="https://docs.oracle.com/javase/8/docs/api/java/util/Deque.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NullPointerException.html" TargetMode="External"/><Relationship Id="rId11" Type="http://schemas.openxmlformats.org/officeDocument/2006/relationships/hyperlink" Target="https://docs.oracle.com/javase/8/docs/api/java/util/Deque.html#addLast-E-" TargetMode="External"/><Relationship Id="rId5" Type="http://schemas.openxmlformats.org/officeDocument/2006/relationships/hyperlink" Target="https://docs.oracle.com/javase/8/docs/api/java/lang/ClassCastException.html" TargetMode="External"/><Relationship Id="rId10" Type="http://schemas.openxmlformats.org/officeDocument/2006/relationships/hyperlink" Target="https://docs.oracle.com/javase/8/docs/api/java/util/Deque.html#addFirst-E-" TargetMode="External"/><Relationship Id="rId4" Type="http://schemas.openxmlformats.org/officeDocument/2006/relationships/hyperlink" Target="https://docs.oracle.com/javase/8/docs/api/java/lang/IllegalStateException.html" TargetMode="External"/><Relationship Id="rId9" Type="http://schemas.openxmlformats.org/officeDocument/2006/relationships/hyperlink" Target="https://docs.oracle.com/javase/8/docs/api/java/util/Deque.html#add-E-"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ocs.oracle.com/javase/8/docs/api/java/lang/Object.html" TargetMode="External"/><Relationship Id="rId3" Type="http://schemas.openxmlformats.org/officeDocument/2006/relationships/hyperlink" Target="https://docs.oracle.com/javase/8/docs/api/java/util/Deque.html#pollFirst--" TargetMode="External"/><Relationship Id="rId7" Type="http://schemas.openxmlformats.org/officeDocument/2006/relationships/hyperlink" Target="https://docs.oracle.com/javase/8/docs/api/java/util/Deque.html#peekLast--" TargetMode="External"/><Relationship Id="rId2" Type="http://schemas.openxmlformats.org/officeDocument/2006/relationships/hyperlink" Target="https://docs.oracle.com/javase/8/docs/api/java/util/Deque.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peekFirst--" TargetMode="External"/><Relationship Id="rId11" Type="http://schemas.openxmlformats.org/officeDocument/2006/relationships/hyperlink" Target="https://docs.oracle.com/javase/8/docs/api/java/lang/NullPointerException.html" TargetMode="External"/><Relationship Id="rId5" Type="http://schemas.openxmlformats.org/officeDocument/2006/relationships/hyperlink" Target="https://docs.oracle.com/javase/8/docs/api/java/util/Deque.html#pollLast--" TargetMode="External"/><Relationship Id="rId10" Type="http://schemas.openxmlformats.org/officeDocument/2006/relationships/hyperlink" Target="https://docs.oracle.com/javase/8/docs/api/java/util/Collection.html#optional-restrictions" TargetMode="External"/><Relationship Id="rId4" Type="http://schemas.openxmlformats.org/officeDocument/2006/relationships/hyperlink" Target="https://docs.oracle.com/javase/8/docs/api/java/util/NoSuchElementException.html" TargetMode="External"/><Relationship Id="rId9" Type="http://schemas.openxmlformats.org/officeDocument/2006/relationships/hyperlink" Target="https://docs.oracle.com/javase/8/docs/api/java/lang/ClassCastException.html" TargetMode="External"/></Relationships>
</file>

<file path=ppt/slides/_rels/slide31.xml.rels><?xml version="1.0" encoding="UTF-8" standalone="yes"?>
<Relationships xmlns="http://schemas.openxmlformats.org/package/2006/relationships"><Relationship Id="rId8" Type="http://schemas.openxmlformats.org/officeDocument/2006/relationships/hyperlink" Target="https://docs.oracle.com/javase/8/docs/api/java/util/Deque.html#addLast-E-" TargetMode="External"/><Relationship Id="rId13" Type="http://schemas.openxmlformats.org/officeDocument/2006/relationships/hyperlink" Target="https://docs.oracle.com/javase/8/docs/api/java/lang/IllegalStateException.html" TargetMode="External"/><Relationship Id="rId3" Type="http://schemas.openxmlformats.org/officeDocument/2006/relationships/hyperlink" Target="https://docs.oracle.com/javase/8/docs/api/java/lang/ClassCastException.html" TargetMode="External"/><Relationship Id="rId7" Type="http://schemas.openxmlformats.org/officeDocument/2006/relationships/hyperlink" Target="https://docs.oracle.com/javase/8/docs/api/java/util/Deque.html#offer-E-" TargetMode="External"/><Relationship Id="rId12" Type="http://schemas.openxmlformats.org/officeDocument/2006/relationships/hyperlink" Target="https://docs.oracle.com/javase/8/docs/api/java/util/Queue.html" TargetMode="External"/><Relationship Id="rId17" Type="http://schemas.openxmlformats.org/officeDocument/2006/relationships/hyperlink" Target="https://docs.oracle.com/javase/8/docs/api/java/util/Queue.html#offer-E-" TargetMode="External"/><Relationship Id="rId2" Type="http://schemas.openxmlformats.org/officeDocument/2006/relationships/hyperlink" Target="https://docs.oracle.com/javase/8/docs/api/java/lang/Object.html" TargetMode="External"/><Relationship Id="rId16" Type="http://schemas.openxmlformats.org/officeDocument/2006/relationships/hyperlink" Target="https://docs.oracle.com/javase/8/docs/api/java/util/Deque.html#offerLast-E-"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 TargetMode="External"/><Relationship Id="rId11" Type="http://schemas.openxmlformats.org/officeDocument/2006/relationships/hyperlink" Target="https://docs.oracle.com/javase/8/docs/api/java/util/Queue.html#add-E-" TargetMode="External"/><Relationship Id="rId5" Type="http://schemas.openxmlformats.org/officeDocument/2006/relationships/hyperlink" Target="https://docs.oracle.com/javase/8/docs/api/java/lang/NullPointerException.html" TargetMode="External"/><Relationship Id="rId15" Type="http://schemas.openxmlformats.org/officeDocument/2006/relationships/hyperlink" Target="https://docs.oracle.com/javase/8/docs/api/java/util/Deque.html#add-E-" TargetMode="External"/><Relationship Id="rId10" Type="http://schemas.openxmlformats.org/officeDocument/2006/relationships/hyperlink" Target="https://docs.oracle.com/javase/8/docs/api/java/util/Collection.html" TargetMode="External"/><Relationship Id="rId4" Type="http://schemas.openxmlformats.org/officeDocument/2006/relationships/hyperlink" Target="https://docs.oracle.com/javase/8/docs/api/java/util/Collection.html#optional-restrictions" TargetMode="External"/><Relationship Id="rId9" Type="http://schemas.openxmlformats.org/officeDocument/2006/relationships/hyperlink" Target="https://docs.oracle.com/javase/8/docs/api/java/util/Collection.html#add-E-" TargetMode="External"/><Relationship Id="rId14" Type="http://schemas.openxmlformats.org/officeDocument/2006/relationships/hyperlink" Target="https://docs.oracle.com/javase/8/docs/api/java/lang/IllegalArgumentException.html" TargetMode="External"/></Relationships>
</file>

<file path=ppt/slides/_rels/slide32.xml.rels><?xml version="1.0" encoding="UTF-8" standalone="yes"?>
<Relationships xmlns="http://schemas.openxmlformats.org/package/2006/relationships"><Relationship Id="rId8" Type="http://schemas.openxmlformats.org/officeDocument/2006/relationships/hyperlink" Target="https://docs.oracle.com/javase/8/docs/api/java/util/Deque.html#pollFirst--" TargetMode="External"/><Relationship Id="rId13" Type="http://schemas.openxmlformats.org/officeDocument/2006/relationships/hyperlink" Target="https://docs.oracle.com/javase/8/docs/api/java/util/Deque.html#peekFirst--" TargetMode="External"/><Relationship Id="rId18" Type="http://schemas.openxmlformats.org/officeDocument/2006/relationships/hyperlink" Target="https://docs.oracle.com/javase/8/docs/api/java/lang/NullPointerException.html" TargetMode="External"/><Relationship Id="rId26" Type="http://schemas.openxmlformats.org/officeDocument/2006/relationships/hyperlink" Target="https://docs.oracle.com/javase/8/docs/api/java/util/Collection.html#size--" TargetMode="External"/><Relationship Id="rId3" Type="http://schemas.openxmlformats.org/officeDocument/2006/relationships/hyperlink" Target="https://docs.oracle.com/javase/8/docs/api/java/util/Deque.html#poll--" TargetMode="External"/><Relationship Id="rId21" Type="http://schemas.openxmlformats.org/officeDocument/2006/relationships/hyperlink" Target="https://docs.oracle.com/javase/8/docs/api/java/util/Deque.html#removeFirstOccurrence-java.lang.Object-" TargetMode="External"/><Relationship Id="rId7" Type="http://schemas.openxmlformats.org/officeDocument/2006/relationships/hyperlink" Target="https://docs.oracle.com/javase/8/docs/api/java/util/NoSuchElementException.html" TargetMode="External"/><Relationship Id="rId12" Type="http://schemas.openxmlformats.org/officeDocument/2006/relationships/hyperlink" Target="https://docs.oracle.com/javase/8/docs/api/java/util/Queue.html#element--" TargetMode="External"/><Relationship Id="rId17" Type="http://schemas.openxmlformats.org/officeDocument/2006/relationships/hyperlink" Target="https://docs.oracle.com/javase/8/docs/api/java/lang/ClassCastException.html" TargetMode="External"/><Relationship Id="rId25" Type="http://schemas.openxmlformats.org/officeDocument/2006/relationships/hyperlink" Target="https://docs.oracle.com/javase/8/docs/api/java/util/Collection.html#contains-java.lang.Object-" TargetMode="External"/><Relationship Id="rId2" Type="http://schemas.openxmlformats.org/officeDocument/2006/relationships/hyperlink" Target="https://docs.oracle.com/javase/8/docs/api/java/util/Deque.html" TargetMode="External"/><Relationship Id="rId16" Type="http://schemas.openxmlformats.org/officeDocument/2006/relationships/hyperlink" Target="https://docs.oracle.com/javase/8/docs/api/java/lang/IllegalStateException.html" TargetMode="External"/><Relationship Id="rId20" Type="http://schemas.openxmlformats.org/officeDocument/2006/relationships/hyperlink" Target="https://docs.oracle.com/javase/8/docs/api/java/lang/Object.html" TargetMode="External"/><Relationship Id="rId29" Type="http://schemas.openxmlformats.org/officeDocument/2006/relationships/hyperlink" Target="https://docs.oracle.com/javase/8/docs/api/java/lang/Iterable.html#iterator--"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Queue.html" TargetMode="External"/><Relationship Id="rId11" Type="http://schemas.openxmlformats.org/officeDocument/2006/relationships/hyperlink" Target="https://docs.oracle.com/javase/8/docs/api/java/util/Deque.html#getFirst--" TargetMode="External"/><Relationship Id="rId24" Type="http://schemas.openxmlformats.org/officeDocument/2006/relationships/hyperlink" Target="https://docs.oracle.com/javase/8/docs/api/java/util/Collection.html#optional-restrictions" TargetMode="External"/><Relationship Id="rId5" Type="http://schemas.openxmlformats.org/officeDocument/2006/relationships/hyperlink" Target="https://docs.oracle.com/javase/8/docs/api/java/util/Queue.html#remove--" TargetMode="External"/><Relationship Id="rId15" Type="http://schemas.openxmlformats.org/officeDocument/2006/relationships/hyperlink" Target="https://docs.oracle.com/javase/8/docs/api/java/util/Deque.html#addFirst-E-" TargetMode="External"/><Relationship Id="rId23" Type="http://schemas.openxmlformats.org/officeDocument/2006/relationships/hyperlink" Target="https://docs.oracle.com/javase/8/docs/api/java/util/Collection.html" TargetMode="External"/><Relationship Id="rId28" Type="http://schemas.openxmlformats.org/officeDocument/2006/relationships/hyperlink" Target="https://docs.oracle.com/javase/8/docs/api/java/util/Collection.html#iterator--" TargetMode="External"/><Relationship Id="rId10" Type="http://schemas.openxmlformats.org/officeDocument/2006/relationships/hyperlink" Target="https://docs.oracle.com/javase/8/docs/api/java/util/Deque.html#peek--" TargetMode="External"/><Relationship Id="rId19" Type="http://schemas.openxmlformats.org/officeDocument/2006/relationships/hyperlink" Target="https://docs.oracle.com/javase/8/docs/api/java/lang/IllegalArgumentException.html" TargetMode="External"/><Relationship Id="rId4" Type="http://schemas.openxmlformats.org/officeDocument/2006/relationships/hyperlink" Target="https://docs.oracle.com/javase/8/docs/api/java/util/Deque.html#removeFirst--" TargetMode="External"/><Relationship Id="rId9" Type="http://schemas.openxmlformats.org/officeDocument/2006/relationships/hyperlink" Target="https://docs.oracle.com/javase/8/docs/api/java/util/Queue.html#poll--" TargetMode="External"/><Relationship Id="rId14" Type="http://schemas.openxmlformats.org/officeDocument/2006/relationships/hyperlink" Target="https://docs.oracle.com/javase/8/docs/api/java/util/Queue.html#peek--" TargetMode="External"/><Relationship Id="rId22" Type="http://schemas.openxmlformats.org/officeDocument/2006/relationships/hyperlink" Target="https://docs.oracle.com/javase/8/docs/api/java/util/Collection.html#remove-java.lang.Object-" TargetMode="External"/><Relationship Id="rId27" Type="http://schemas.openxmlformats.org/officeDocument/2006/relationships/hyperlink" Target="https://docs.oracle.com/javase/8/docs/api/java/util/Iterator.html" TargetMode="External"/><Relationship Id="rId30" Type="http://schemas.openxmlformats.org/officeDocument/2006/relationships/hyperlink" Target="https://docs.oracle.com/javase/8/docs/api/java/lang/Iterable.html" TargetMode="External"/></Relationships>
</file>

<file path=ppt/slides/_rels/slide33.xml.rels><?xml version="1.0" encoding="UTF-8" standalone="yes"?>
<Relationships xmlns="http://schemas.openxmlformats.org/package/2006/relationships"><Relationship Id="rId8" Type="http://schemas.openxmlformats.org/officeDocument/2006/relationships/hyperlink" Target="https://docs.oracle.com/javase/8/docs/api/java/util/concurrent/CopyOnWriteArrayList.html" TargetMode="External"/><Relationship Id="rId13" Type="http://schemas.openxmlformats.org/officeDocument/2006/relationships/hyperlink" Target="https://docs.oracle.com/javase/8/docs/api/java/util/Vector.html" TargetMode="External"/><Relationship Id="rId3" Type="http://schemas.openxmlformats.org/officeDocument/2006/relationships/hyperlink" Target="https://docs.oracle.com/javase/8/docs/api/java/lang/Iterable.html" TargetMode="External"/><Relationship Id="rId7" Type="http://schemas.openxmlformats.org/officeDocument/2006/relationships/hyperlink" Target="https://docs.oracle.com/javase/8/docs/api/javax/management/AttributeList.html" TargetMode="External"/><Relationship Id="rId12" Type="http://schemas.openxmlformats.org/officeDocument/2006/relationships/hyperlink" Target="https://docs.oracle.com/javase/8/docs/api/java/util/Stack.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ArrayList.html" TargetMode="External"/><Relationship Id="rId11" Type="http://schemas.openxmlformats.org/officeDocument/2006/relationships/hyperlink" Target="https://docs.oracle.com/javase/8/docs/api/javax/management/relation/RoleUnresolvedList.html" TargetMode="External"/><Relationship Id="rId5" Type="http://schemas.openxmlformats.org/officeDocument/2006/relationships/hyperlink" Target="https://docs.oracle.com/javase/8/docs/api/java/util/AbstractSequentialList.html" TargetMode="External"/><Relationship Id="rId10" Type="http://schemas.openxmlformats.org/officeDocument/2006/relationships/hyperlink" Target="https://docs.oracle.com/javase/8/docs/api/javax/management/relation/RoleList.html" TargetMode="External"/><Relationship Id="rId4" Type="http://schemas.openxmlformats.org/officeDocument/2006/relationships/hyperlink" Target="https://docs.oracle.com/javase/8/docs/api/java/util/AbstractList.html" TargetMode="External"/><Relationship Id="rId9" Type="http://schemas.openxmlformats.org/officeDocument/2006/relationships/hyperlink" Target="https://docs.oracle.com/javase/8/docs/api/java/util/LinkedList.html"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ocs.oracle.com/javase/8/docs/technotes/guides/collections/index.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3" Type="http://schemas.openxmlformats.org/officeDocument/2006/relationships/hyperlink" Target="https://docs.oracle.com/javase/8/docs/api/java/util/List.html#get-int-" TargetMode="External"/><Relationship Id="rId18" Type="http://schemas.openxmlformats.org/officeDocument/2006/relationships/hyperlink" Target="https://docs.oracle.com/javase/8/docs/api/java/util/List.html#iterator--" TargetMode="External"/><Relationship Id="rId26" Type="http://schemas.openxmlformats.org/officeDocument/2006/relationships/hyperlink" Target="https://docs.oracle.com/javase/8/docs/api/java/util/List.html#replaceAll-java.util.function.UnaryOperator-" TargetMode="External"/><Relationship Id="rId21" Type="http://schemas.openxmlformats.org/officeDocument/2006/relationships/hyperlink" Target="https://docs.oracle.com/javase/8/docs/api/java/util/List.html#listIterator--" TargetMode="External"/><Relationship Id="rId34" Type="http://schemas.openxmlformats.org/officeDocument/2006/relationships/hyperlink" Target="https://docs.oracle.com/javase/8/docs/api/java/util/List.html#spliterator--" TargetMode="External"/><Relationship Id="rId7" Type="http://schemas.openxmlformats.org/officeDocument/2006/relationships/hyperlink" Target="https://docs.oracle.com/javase/8/docs/api/java/util/List.html#addAll-int-java.util.Collection-" TargetMode="External"/><Relationship Id="rId12" Type="http://schemas.openxmlformats.org/officeDocument/2006/relationships/hyperlink" Target="https://docs.oracle.com/javase/8/docs/api/java/util/List.html#equals-java.lang.Object-" TargetMode="External"/><Relationship Id="rId17" Type="http://schemas.openxmlformats.org/officeDocument/2006/relationships/hyperlink" Target="https://docs.oracle.com/javase/8/docs/api/java/util/Iterator.html" TargetMode="External"/><Relationship Id="rId25" Type="http://schemas.openxmlformats.org/officeDocument/2006/relationships/hyperlink" Target="https://docs.oracle.com/javase/8/docs/api/java/util/List.html#removeAll-java.util.Collection-" TargetMode="External"/><Relationship Id="rId33" Type="http://schemas.openxmlformats.org/officeDocument/2006/relationships/hyperlink" Target="https://docs.oracle.com/javase/8/docs/api/java/util/Spliterator.html" TargetMode="External"/><Relationship Id="rId2" Type="http://schemas.openxmlformats.org/officeDocument/2006/relationships/hyperlink" Target="https://docs.oracle.com/javase/8/docs/api/java/util/List.html#add-E-" TargetMode="External"/><Relationship Id="rId16" Type="http://schemas.openxmlformats.org/officeDocument/2006/relationships/hyperlink" Target="https://docs.oracle.com/javase/8/docs/api/java/util/List.html#isEmpty--" TargetMode="External"/><Relationship Id="rId20" Type="http://schemas.openxmlformats.org/officeDocument/2006/relationships/hyperlink" Target="https://docs.oracle.com/javase/8/docs/api/java/util/ListIterator.html" TargetMode="External"/><Relationship Id="rId29" Type="http://schemas.openxmlformats.org/officeDocument/2006/relationships/hyperlink" Target="https://docs.oracle.com/javase/8/docs/api/java/util/List.html#set-int-E-"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 TargetMode="External"/><Relationship Id="rId11" Type="http://schemas.openxmlformats.org/officeDocument/2006/relationships/hyperlink" Target="https://docs.oracle.com/javase/8/docs/api/java/util/List.html#containsAll-java.util.Collection-" TargetMode="External"/><Relationship Id="rId24" Type="http://schemas.openxmlformats.org/officeDocument/2006/relationships/hyperlink" Target="https://docs.oracle.com/javase/8/docs/api/java/util/List.html#remove-java.lang.Object-" TargetMode="External"/><Relationship Id="rId32" Type="http://schemas.openxmlformats.org/officeDocument/2006/relationships/hyperlink" Target="https://docs.oracle.com/javase/8/docs/api/java/util/Comparator.html" TargetMode="External"/><Relationship Id="rId37" Type="http://schemas.openxmlformats.org/officeDocument/2006/relationships/hyperlink" Target="https://docs.oracle.com/javase/8/docs/api/java/util/List.html#toArray-T:A-" TargetMode="External"/><Relationship Id="rId5" Type="http://schemas.openxmlformats.org/officeDocument/2006/relationships/hyperlink" Target="https://docs.oracle.com/javase/8/docs/api/java/util/List.html#addAll-java.util.Collection-" TargetMode="External"/><Relationship Id="rId15" Type="http://schemas.openxmlformats.org/officeDocument/2006/relationships/hyperlink" Target="https://docs.oracle.com/javase/8/docs/api/java/util/List.html#indexOf-java.lang.Object-" TargetMode="External"/><Relationship Id="rId23" Type="http://schemas.openxmlformats.org/officeDocument/2006/relationships/hyperlink" Target="https://docs.oracle.com/javase/8/docs/api/java/util/List.html#remove-int-" TargetMode="External"/><Relationship Id="rId28" Type="http://schemas.openxmlformats.org/officeDocument/2006/relationships/hyperlink" Target="https://docs.oracle.com/javase/8/docs/api/java/util/List.html#retainAll-java.util.Collection-" TargetMode="External"/><Relationship Id="rId36" Type="http://schemas.openxmlformats.org/officeDocument/2006/relationships/hyperlink" Target="https://docs.oracle.com/javase/8/docs/api/java/util/List.html#toArray--" TargetMode="External"/><Relationship Id="rId10" Type="http://schemas.openxmlformats.org/officeDocument/2006/relationships/hyperlink" Target="https://docs.oracle.com/javase/8/docs/api/java/lang/Object.html" TargetMode="External"/><Relationship Id="rId19" Type="http://schemas.openxmlformats.org/officeDocument/2006/relationships/hyperlink" Target="https://docs.oracle.com/javase/8/docs/api/java/util/List.html#lastIndexOf-java.lang.Object-" TargetMode="External"/><Relationship Id="rId31" Type="http://schemas.openxmlformats.org/officeDocument/2006/relationships/hyperlink" Target="https://docs.oracle.com/javase/8/docs/api/java/util/List.html#sort-java.util.Comparator-" TargetMode="External"/><Relationship Id="rId4" Type="http://schemas.openxmlformats.org/officeDocument/2006/relationships/hyperlink" Target="https://docs.oracle.com/javase/8/docs/api/java/util/List.html#add-int-E-" TargetMode="External"/><Relationship Id="rId9" Type="http://schemas.openxmlformats.org/officeDocument/2006/relationships/hyperlink" Target="https://docs.oracle.com/javase/8/docs/api/java/util/List.html#contains-java.lang.Object-" TargetMode="External"/><Relationship Id="rId14" Type="http://schemas.openxmlformats.org/officeDocument/2006/relationships/hyperlink" Target="https://docs.oracle.com/javase/8/docs/api/java/util/List.html#hashCode--" TargetMode="External"/><Relationship Id="rId22" Type="http://schemas.openxmlformats.org/officeDocument/2006/relationships/hyperlink" Target="https://docs.oracle.com/javase/8/docs/api/java/util/List.html#listIterator-int-" TargetMode="External"/><Relationship Id="rId27" Type="http://schemas.openxmlformats.org/officeDocument/2006/relationships/hyperlink" Target="https://docs.oracle.com/javase/8/docs/api/java/util/function/UnaryOperator.html" TargetMode="External"/><Relationship Id="rId30" Type="http://schemas.openxmlformats.org/officeDocument/2006/relationships/hyperlink" Target="https://docs.oracle.com/javase/8/docs/api/java/util/List.html#size--" TargetMode="External"/><Relationship Id="rId35" Type="http://schemas.openxmlformats.org/officeDocument/2006/relationships/hyperlink" Target="https://docs.oracle.com/javase/8/docs/api/java/util/List.html#subList-int-int-" TargetMode="External"/><Relationship Id="rId8" Type="http://schemas.openxmlformats.org/officeDocument/2006/relationships/hyperlink" Target="https://docs.oracle.com/javase/8/docs/api/java/util/List.html#clear--" TargetMode="External"/><Relationship Id="rId3" Type="http://schemas.openxmlformats.org/officeDocument/2006/relationships/hyperlink" Target="https://docs.oracle.com/javase/8/docs/api/java/util/List.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docs.oracle.com/javase/8/docs/api/java/util/Collection.html#parallelStream--" TargetMode="External"/><Relationship Id="rId7" Type="http://schemas.openxmlformats.org/officeDocument/2006/relationships/hyperlink" Target="https://docs.oracle.com/javase/8/docs/api/java/lang/Iterable.html#forEach-java.util.function.Consumer-"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terable.html" TargetMode="External"/><Relationship Id="rId5" Type="http://schemas.openxmlformats.org/officeDocument/2006/relationships/hyperlink" Target="https://docs.oracle.com/javase/8/docs/api/java/util/Collection.html#stream--" TargetMode="External"/><Relationship Id="rId4" Type="http://schemas.openxmlformats.org/officeDocument/2006/relationships/hyperlink" Target="https://docs.oracle.com/javase/8/docs/api/java/util/Collection.html#removeIf-java.util.function.Predicate-"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docs.oracle.com/javase/8/docs/api/java/util/List.html#clear--" TargetMode="External"/><Relationship Id="rId13" Type="http://schemas.openxmlformats.org/officeDocument/2006/relationships/hyperlink" Target="https://docs.oracle.com/javase/8/docs/api/java/util/List.html#get-int-" TargetMode="External"/><Relationship Id="rId18" Type="http://schemas.openxmlformats.org/officeDocument/2006/relationships/hyperlink" Target="https://docs.oracle.com/javase/8/docs/api/java/util/List.html#iterator--" TargetMode="External"/><Relationship Id="rId26" Type="http://schemas.openxmlformats.org/officeDocument/2006/relationships/hyperlink" Target="https://docs.oracle.com/javase/8/docs/api/java/util/List.html#retainAll-java.util.Collection-" TargetMode="External"/><Relationship Id="rId3" Type="http://schemas.openxmlformats.org/officeDocument/2006/relationships/hyperlink" Target="https://docs.oracle.com/javase/8/docs/api/java/util/List.html" TargetMode="External"/><Relationship Id="rId21" Type="http://schemas.openxmlformats.org/officeDocument/2006/relationships/hyperlink" Target="https://docs.oracle.com/javase/8/docs/api/java/util/List.html#listIterator--" TargetMode="External"/><Relationship Id="rId7" Type="http://schemas.openxmlformats.org/officeDocument/2006/relationships/hyperlink" Target="https://docs.oracle.com/javase/8/docs/api/java/util/List.html#addAll-int-java.util.Collection-" TargetMode="External"/><Relationship Id="rId12" Type="http://schemas.openxmlformats.org/officeDocument/2006/relationships/hyperlink" Target="https://docs.oracle.com/javase/8/docs/api/java/util/List.html#equals-java.lang.Object-" TargetMode="External"/><Relationship Id="rId17" Type="http://schemas.openxmlformats.org/officeDocument/2006/relationships/hyperlink" Target="https://docs.oracle.com/javase/8/docs/api/java/util/Iterator.html" TargetMode="External"/><Relationship Id="rId25" Type="http://schemas.openxmlformats.org/officeDocument/2006/relationships/hyperlink" Target="https://docs.oracle.com/javase/8/docs/api/java/util/List.html#removeAll-java.util.Collection-" TargetMode="External"/><Relationship Id="rId2" Type="http://schemas.openxmlformats.org/officeDocument/2006/relationships/hyperlink" Target="https://docs.oracle.com/javase/8/docs/api/java/util/List.html#add-E-" TargetMode="External"/><Relationship Id="rId16" Type="http://schemas.openxmlformats.org/officeDocument/2006/relationships/hyperlink" Target="https://docs.oracle.com/javase/8/docs/api/java/util/List.html#isEmpty--" TargetMode="External"/><Relationship Id="rId20" Type="http://schemas.openxmlformats.org/officeDocument/2006/relationships/hyperlink" Target="https://docs.oracle.com/javase/8/docs/api/java/util/ListIterator.html" TargetMode="External"/><Relationship Id="rId29" Type="http://schemas.openxmlformats.org/officeDocument/2006/relationships/hyperlink" Target="https://docs.oracle.com/javase/8/docs/api/java/util/List.html#subList-int-int-"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 TargetMode="External"/><Relationship Id="rId11" Type="http://schemas.openxmlformats.org/officeDocument/2006/relationships/hyperlink" Target="https://docs.oracle.com/javase/8/docs/api/java/util/List.html#containsAll-java.util.Collection-" TargetMode="External"/><Relationship Id="rId24" Type="http://schemas.openxmlformats.org/officeDocument/2006/relationships/hyperlink" Target="https://docs.oracle.com/javase/8/docs/api/java/util/List.html#remove-java.lang.Object-" TargetMode="External"/><Relationship Id="rId5" Type="http://schemas.openxmlformats.org/officeDocument/2006/relationships/hyperlink" Target="https://docs.oracle.com/javase/8/docs/api/java/util/List.html#addAll-java.util.Collection-" TargetMode="External"/><Relationship Id="rId15" Type="http://schemas.openxmlformats.org/officeDocument/2006/relationships/hyperlink" Target="https://docs.oracle.com/javase/8/docs/api/java/util/List.html#indexOf-java.lang.Object-" TargetMode="External"/><Relationship Id="rId23" Type="http://schemas.openxmlformats.org/officeDocument/2006/relationships/hyperlink" Target="https://docs.oracle.com/javase/8/docs/api/java/util/List.html#remove-int-" TargetMode="External"/><Relationship Id="rId28" Type="http://schemas.openxmlformats.org/officeDocument/2006/relationships/hyperlink" Target="https://docs.oracle.com/javase/8/docs/api/java/util/List.html#size--" TargetMode="External"/><Relationship Id="rId10" Type="http://schemas.openxmlformats.org/officeDocument/2006/relationships/hyperlink" Target="https://docs.oracle.com/javase/8/docs/api/java/lang/Object.html" TargetMode="External"/><Relationship Id="rId19" Type="http://schemas.openxmlformats.org/officeDocument/2006/relationships/hyperlink" Target="https://docs.oracle.com/javase/8/docs/api/java/util/List.html#lastIndexOf-java.lang.Object-" TargetMode="External"/><Relationship Id="rId31" Type="http://schemas.openxmlformats.org/officeDocument/2006/relationships/hyperlink" Target="https://docs.oracle.com/javase/8/docs/api/java/util/List.html#toArray-T:A-" TargetMode="External"/><Relationship Id="rId4" Type="http://schemas.openxmlformats.org/officeDocument/2006/relationships/hyperlink" Target="https://docs.oracle.com/javase/8/docs/api/java/util/List.html#add-int-E-" TargetMode="External"/><Relationship Id="rId9" Type="http://schemas.openxmlformats.org/officeDocument/2006/relationships/hyperlink" Target="https://docs.oracle.com/javase/8/docs/api/java/util/List.html#contains-java.lang.Object-" TargetMode="External"/><Relationship Id="rId14" Type="http://schemas.openxmlformats.org/officeDocument/2006/relationships/hyperlink" Target="https://docs.oracle.com/javase/8/docs/api/java/util/List.html#hashCode--" TargetMode="External"/><Relationship Id="rId22" Type="http://schemas.openxmlformats.org/officeDocument/2006/relationships/hyperlink" Target="https://docs.oracle.com/javase/8/docs/api/java/util/List.html#listIterator-int-" TargetMode="External"/><Relationship Id="rId27" Type="http://schemas.openxmlformats.org/officeDocument/2006/relationships/hyperlink" Target="https://docs.oracle.com/javase/8/docs/api/java/util/List.html#set-int-E-" TargetMode="External"/><Relationship Id="rId30" Type="http://schemas.openxmlformats.org/officeDocument/2006/relationships/hyperlink" Target="https://docs.oracle.com/javase/8/docs/api/java/util/List.html#toArray--"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docs.oracle.com/javase/8/docs/api/java/util/List.html#spliterator--" TargetMode="External"/><Relationship Id="rId3" Type="http://schemas.openxmlformats.org/officeDocument/2006/relationships/hyperlink" Target="https://docs.oracle.com/javase/8/docs/api/java/util/function/UnaryOperator.html" TargetMode="External"/><Relationship Id="rId7" Type="http://schemas.openxmlformats.org/officeDocument/2006/relationships/hyperlink" Target="https://docs.oracle.com/javase/8/docs/api/java/util/Spliterator.html" TargetMode="External"/><Relationship Id="rId2" Type="http://schemas.openxmlformats.org/officeDocument/2006/relationships/hyperlink" Target="https://docs.oracle.com/javase/8/docs/api/java/util/List.html#replaceAll-java.util.function.UnaryOperator-"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mparator.html" TargetMode="External"/><Relationship Id="rId5" Type="http://schemas.openxmlformats.org/officeDocument/2006/relationships/hyperlink" Target="https://docs.oracle.com/javase/8/docs/api/java/util/List.html#sort-java.util.Comparator-" TargetMode="External"/><Relationship Id="rId4" Type="http://schemas.openxmlformats.org/officeDocument/2006/relationships/hyperlink" Target="https://docs.oracle.com/javase/8/docs/api/java/util/List.html"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s://docs.oracle.com/javase/8/docs/api/java/lang/ClassCastException.html" TargetMode="External"/><Relationship Id="rId3" Type="http://schemas.openxmlformats.org/officeDocument/2006/relationships/hyperlink" Target="https://docs.oracle.com/javase/8/docs/api/java/util/Collection.html" TargetMode="External"/><Relationship Id="rId7" Type="http://schemas.openxmlformats.org/officeDocument/2006/relationships/hyperlink" Target="https://docs.oracle.com/javase/8/docs/api/java/util/Collection.html#contains-java.lang.Object-" TargetMode="External"/><Relationship Id="rId2" Type="http://schemas.openxmlformats.org/officeDocument/2006/relationships/hyperlink" Target="https://docs.oracle.com/javase/8/docs/api/java/util/Collection.html#size--"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Object.html" TargetMode="External"/><Relationship Id="rId5" Type="http://schemas.openxmlformats.org/officeDocument/2006/relationships/hyperlink" Target="https://docs.oracle.com/javase/8/docs/api/java/util/Collection.html#isEmpty--" TargetMode="External"/><Relationship Id="rId10" Type="http://schemas.openxmlformats.org/officeDocument/2006/relationships/hyperlink" Target="https://docs.oracle.com/javase/8/docs/api/java/lang/NullPointerException.html" TargetMode="External"/><Relationship Id="rId4" Type="http://schemas.openxmlformats.org/officeDocument/2006/relationships/hyperlink" Target="https://docs.oracle.com/javase/8/docs/api/java/util/List.html" TargetMode="External"/><Relationship Id="rId9" Type="http://schemas.openxmlformats.org/officeDocument/2006/relationships/hyperlink" Target="https://docs.oracle.com/javase/8/docs/api/java/util/Collection.html#optional-restrictions"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docs.oracle.com/javase/8/docs/api/java/lang/Object.html" TargetMode="External"/><Relationship Id="rId3" Type="http://schemas.openxmlformats.org/officeDocument/2006/relationships/hyperlink" Target="https://docs.oracle.com/javase/8/docs/api/java/util/List.html" TargetMode="External"/><Relationship Id="rId7" Type="http://schemas.openxmlformats.org/officeDocument/2006/relationships/hyperlink" Target="https://docs.oracle.com/javase/8/docs/api/java/lang/Iterable.html" TargetMode="External"/><Relationship Id="rId2" Type="http://schemas.openxmlformats.org/officeDocument/2006/relationships/hyperlink" Target="https://docs.oracle.com/javase/8/docs/api/java/util/Iterator.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Iterable.html#iterator--" TargetMode="External"/><Relationship Id="rId5" Type="http://schemas.openxmlformats.org/officeDocument/2006/relationships/hyperlink" Target="https://docs.oracle.com/javase/8/docs/api/java/util/Collection.html" TargetMode="External"/><Relationship Id="rId10" Type="http://schemas.openxmlformats.org/officeDocument/2006/relationships/hyperlink" Target="https://docs.oracle.com/javase/8/docs/api/java/util/Arrays.html#asList-T...-" TargetMode="External"/><Relationship Id="rId4" Type="http://schemas.openxmlformats.org/officeDocument/2006/relationships/hyperlink" Target="https://docs.oracle.com/javase/8/docs/api/java/util/Collection.html#iterator--" TargetMode="External"/><Relationship Id="rId9" Type="http://schemas.openxmlformats.org/officeDocument/2006/relationships/hyperlink" Target="https://docs.oracle.com/javase/8/docs/api/java/util/Collection.html#toArray--"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docs.oracle.com/javase/8/docs/api/java/util/Collection.html#toArray-T:A-" TargetMode="External"/><Relationship Id="rId7" Type="http://schemas.openxmlformats.org/officeDocument/2006/relationships/hyperlink" Target="https://docs.oracle.com/javase/8/docs/api/java/lang/NullPointerException.html" TargetMode="External"/><Relationship Id="rId2" Type="http://schemas.openxmlformats.org/officeDocument/2006/relationships/hyperlink" Target="https://docs.oracle.com/javase/8/docs/api/java/util/List.html#toArray--"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ArrayStoreException.html" TargetMode="External"/><Relationship Id="rId5" Type="http://schemas.openxmlformats.org/officeDocument/2006/relationships/hyperlink" Target="https://docs.oracle.com/javase/8/docs/api/java/util/List.html" TargetMode="External"/><Relationship Id="rId4" Type="http://schemas.openxmlformats.org/officeDocument/2006/relationships/hyperlink" Target="https://docs.oracle.com/javase/8/docs/api/java/util/Collection.html"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docs.oracle.com/javase/8/docs/api/java/lang/IllegalArgumentException.html" TargetMode="External"/><Relationship Id="rId13" Type="http://schemas.openxmlformats.org/officeDocument/2006/relationships/hyperlink" Target="https://docs.oracle.com/javase/8/docs/api/java/util/List.html#contains-java.lang.Object-" TargetMode="External"/><Relationship Id="rId3" Type="http://schemas.openxmlformats.org/officeDocument/2006/relationships/hyperlink" Target="https://docs.oracle.com/javase/8/docs/api/java/util/Collection.html#add-E-" TargetMode="External"/><Relationship Id="rId7" Type="http://schemas.openxmlformats.org/officeDocument/2006/relationships/hyperlink" Target="https://docs.oracle.com/javase/8/docs/api/java/lang/NullPointerException.html" TargetMode="External"/><Relationship Id="rId12" Type="http://schemas.openxmlformats.org/officeDocument/2006/relationships/hyperlink" Target="https://docs.oracle.com/javase/8/docs/api/java/util/Collection.html#containsAll-java.util.Collection-" TargetMode="External"/><Relationship Id="rId2" Type="http://schemas.openxmlformats.org/officeDocument/2006/relationships/hyperlink" Target="https://docs.oracle.com/javase/8/docs/api/java/util/List.html" TargetMode="External"/><Relationship Id="rId16" Type="http://schemas.openxmlformats.org/officeDocument/2006/relationships/hyperlink" Target="https://docs.oracle.com/javase/8/docs/api/java/lang/IndexOutOfBoundsExcep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ClassCastException.html" TargetMode="External"/><Relationship Id="rId11" Type="http://schemas.openxmlformats.org/officeDocument/2006/relationships/hyperlink" Target="https://docs.oracle.com/javase/8/docs/api/java/util/Collection.html#optional-restrictions" TargetMode="External"/><Relationship Id="rId5" Type="http://schemas.openxmlformats.org/officeDocument/2006/relationships/hyperlink" Target="https://docs.oracle.com/javase/8/docs/api/java/lang/UnsupportedOperationException.html" TargetMode="External"/><Relationship Id="rId15" Type="http://schemas.openxmlformats.org/officeDocument/2006/relationships/hyperlink" Target="https://docs.oracle.com/javase/8/docs/api/java/util/List.html#add-E-" TargetMode="External"/><Relationship Id="rId10" Type="http://schemas.openxmlformats.org/officeDocument/2006/relationships/hyperlink" Target="https://docs.oracle.com/javase/8/docs/api/java/util/Collection.html#remove-java.lang.Object-" TargetMode="External"/><Relationship Id="rId4" Type="http://schemas.openxmlformats.org/officeDocument/2006/relationships/hyperlink" Target="https://docs.oracle.com/javase/8/docs/api/java/util/Collection.html" TargetMode="External"/><Relationship Id="rId9" Type="http://schemas.openxmlformats.org/officeDocument/2006/relationships/hyperlink" Target="https://docs.oracle.com/javase/8/docs/api/java/lang/Object.html" TargetMode="External"/><Relationship Id="rId14" Type="http://schemas.openxmlformats.org/officeDocument/2006/relationships/hyperlink" Target="https://docs.oracle.com/javase/8/docs/api/java/util/Collection.html#addAll-java.util.Collection-"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docs.oracle.com/javase/8/docs/api/java/lang/NullPointerException.html" TargetMode="External"/><Relationship Id="rId13" Type="http://schemas.openxmlformats.org/officeDocument/2006/relationships/hyperlink" Target="https://docs.oracle.com/javase/8/docs/api/java/util/Comparator.html" TargetMode="External"/><Relationship Id="rId18" Type="http://schemas.openxmlformats.org/officeDocument/2006/relationships/hyperlink" Target="https://docs.oracle.com/javase/8/docs/api/java/lang/Object.html" TargetMode="External"/><Relationship Id="rId3" Type="http://schemas.openxmlformats.org/officeDocument/2006/relationships/hyperlink" Target="https://docs.oracle.com/javase/8/docs/api/java/util/Collection.html#removeAll-java.util.Collection-" TargetMode="External"/><Relationship Id="rId21" Type="http://schemas.openxmlformats.org/officeDocument/2006/relationships/hyperlink" Target="https://docs.oracle.com/javase/8/docs/api/java/lang/Object.html#hashCode--" TargetMode="External"/><Relationship Id="rId7" Type="http://schemas.openxmlformats.org/officeDocument/2006/relationships/hyperlink" Target="https://docs.oracle.com/javase/8/docs/api/java/util/Collection.html#optional-restrictions" TargetMode="External"/><Relationship Id="rId12" Type="http://schemas.openxmlformats.org/officeDocument/2006/relationships/hyperlink" Target="https://docs.oracle.com/javase/8/docs/api/java/util/function/UnaryOperator.html" TargetMode="External"/><Relationship Id="rId17" Type="http://schemas.openxmlformats.org/officeDocument/2006/relationships/hyperlink" Target="https://docs.oracle.com/javase/8/docs/api/java/util/Collection.html#clear--" TargetMode="External"/><Relationship Id="rId2" Type="http://schemas.openxmlformats.org/officeDocument/2006/relationships/hyperlink" Target="https://docs.oracle.com/javase/8/docs/api/java/util/Collection.html" TargetMode="External"/><Relationship Id="rId16" Type="http://schemas.openxmlformats.org/officeDocument/2006/relationships/hyperlink" Target="https://docs.oracle.com/javase/8/docs/api/java/lang/IllegalArgumentException.html" TargetMode="External"/><Relationship Id="rId20" Type="http://schemas.openxmlformats.org/officeDocument/2006/relationships/hyperlink" Target="https://docs.oracle.com/javase/8/docs/api/java/lang/Object.html#equals-java.lang.Object-"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ClassCastException.html" TargetMode="External"/><Relationship Id="rId11" Type="http://schemas.openxmlformats.org/officeDocument/2006/relationships/hyperlink" Target="https://docs.oracle.com/javase/8/docs/api/java/util/Collection.html#retainAll-java.util.Collection-" TargetMode="External"/><Relationship Id="rId24" Type="http://schemas.openxmlformats.org/officeDocument/2006/relationships/hyperlink" Target="https://docs.oracle.com/javase/8/docs/api/java/util/List.html#equals-java.lang.Object-" TargetMode="External"/><Relationship Id="rId5" Type="http://schemas.openxmlformats.org/officeDocument/2006/relationships/hyperlink" Target="https://docs.oracle.com/javase/8/docs/api/java/lang/UnsupportedOperationException.html" TargetMode="External"/><Relationship Id="rId15" Type="http://schemas.openxmlformats.org/officeDocument/2006/relationships/hyperlink" Target="http://svn.python.org/projects/python/trunk/Objects/listsort.txt" TargetMode="External"/><Relationship Id="rId23" Type="http://schemas.openxmlformats.org/officeDocument/2006/relationships/hyperlink" Target="https://docs.oracle.com/javase/8/docs/api/java/util/Collection.html#hashCode--" TargetMode="External"/><Relationship Id="rId10" Type="http://schemas.openxmlformats.org/officeDocument/2006/relationships/hyperlink" Target="https://docs.oracle.com/javase/8/docs/api/java/util/List.html#contains-java.lang.Object-" TargetMode="External"/><Relationship Id="rId19" Type="http://schemas.openxmlformats.org/officeDocument/2006/relationships/hyperlink" Target="https://docs.oracle.com/javase/8/docs/api/java/util/Collection.html#equals-java.lang.Object-" TargetMode="External"/><Relationship Id="rId4" Type="http://schemas.openxmlformats.org/officeDocument/2006/relationships/hyperlink" Target="https://docs.oracle.com/javase/8/docs/api/java/util/List.html" TargetMode="External"/><Relationship Id="rId9" Type="http://schemas.openxmlformats.org/officeDocument/2006/relationships/hyperlink" Target="https://docs.oracle.com/javase/8/docs/api/java/util/List.html#remove-java.lang.Object-" TargetMode="External"/><Relationship Id="rId14" Type="http://schemas.openxmlformats.org/officeDocument/2006/relationships/hyperlink" Target="https://docs.oracle.com/javase/8/docs/api/java/lang/Comparable.html" TargetMode="External"/><Relationship Id="rId22" Type="http://schemas.openxmlformats.org/officeDocument/2006/relationships/hyperlink" Target="https://docs.oracle.com/javase/8/docs/api/java/util/HashMap.htm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docs.oracle.com/javase/8/docs/api/java/lang/Object.html" TargetMode="External"/><Relationship Id="rId3" Type="http://schemas.openxmlformats.org/officeDocument/2006/relationships/hyperlink" Target="https://docs.oracle.com/javase/8/docs/api/java/lang/IndexOutOfBoundsException.html" TargetMode="External"/><Relationship Id="rId7" Type="http://schemas.openxmlformats.org/officeDocument/2006/relationships/hyperlink" Target="https://docs.oracle.com/javase/8/docs/api/java/lang/IllegalArgumentException.html" TargetMode="External"/><Relationship Id="rId12" Type="http://schemas.openxmlformats.org/officeDocument/2006/relationships/hyperlink" Target="https://docs.oracle.com/javase/8/docs/api/java/util/ListIterator.html#previous--" TargetMode="External"/><Relationship Id="rId2" Type="http://schemas.openxmlformats.org/officeDocument/2006/relationships/hyperlink" Target="https://docs.oracle.com/javase/8/docs/api/java/util/List.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NullPointerException.html" TargetMode="External"/><Relationship Id="rId11" Type="http://schemas.openxmlformats.org/officeDocument/2006/relationships/hyperlink" Target="https://docs.oracle.com/javase/8/docs/api/java/util/ListIterator.html#next--" TargetMode="External"/><Relationship Id="rId5" Type="http://schemas.openxmlformats.org/officeDocument/2006/relationships/hyperlink" Target="https://docs.oracle.com/javase/8/docs/api/java/lang/ClassCastException.html" TargetMode="External"/><Relationship Id="rId10" Type="http://schemas.openxmlformats.org/officeDocument/2006/relationships/hyperlink" Target="https://docs.oracle.com/javase/8/docs/api/java/util/ListIterator.html" TargetMode="External"/><Relationship Id="rId4" Type="http://schemas.openxmlformats.org/officeDocument/2006/relationships/hyperlink" Target="https://docs.oracle.com/javase/8/docs/api/java/lang/UnsupportedOperationException.html" TargetMode="External"/><Relationship Id="rId9" Type="http://schemas.openxmlformats.org/officeDocument/2006/relationships/hyperlink" Target="https://docs.oracle.com/javase/8/docs/api/java/util/Collection.html#optional-restrictions"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docs.oracle.com/javase/8/docs/api/java/lang/Iterable.html#spliterator--" TargetMode="External"/><Relationship Id="rId3" Type="http://schemas.openxmlformats.org/officeDocument/2006/relationships/hyperlink" Target="https://docs.oracle.com/javase/8/docs/api/java/util/List.html" TargetMode="External"/><Relationship Id="rId7" Type="http://schemas.openxmlformats.org/officeDocument/2006/relationships/hyperlink" Target="https://docs.oracle.com/javase/8/docs/api/java/util/Collection.html" TargetMode="External"/><Relationship Id="rId2" Type="http://schemas.openxmlformats.org/officeDocument/2006/relationships/hyperlink" Target="https://docs.oracle.com/javase/8/docs/api/java/util/Spliterator.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Collection.html#spliterator--" TargetMode="External"/><Relationship Id="rId11" Type="http://schemas.openxmlformats.org/officeDocument/2006/relationships/hyperlink" Target="https://docs.oracle.com/javase/8/docs/api/java/util/Spliterator.html#SUBSIZED" TargetMode="External"/><Relationship Id="rId5" Type="http://schemas.openxmlformats.org/officeDocument/2006/relationships/hyperlink" Target="https://docs.oracle.com/javase/8/docs/api/java/util/Spliterator.html#ORDERED" TargetMode="External"/><Relationship Id="rId10" Type="http://schemas.openxmlformats.org/officeDocument/2006/relationships/hyperlink" Target="https://docs.oracle.com/javase/8/docs/api/java/util/Spliterator.html#binding" TargetMode="External"/><Relationship Id="rId4" Type="http://schemas.openxmlformats.org/officeDocument/2006/relationships/hyperlink" Target="https://docs.oracle.com/javase/8/docs/api/java/util/Spliterator.html#SIZED" TargetMode="External"/><Relationship Id="rId9" Type="http://schemas.openxmlformats.org/officeDocument/2006/relationships/hyperlink" Target="https://docs.oracle.com/javase/8/docs/api/java/lang/Iterable.html" TargetMode="External"/></Relationships>
</file>

<file path=ppt/slides/_rels/slide46.xml.rels><?xml version="1.0" encoding="UTF-8" standalone="yes"?>
<Relationships xmlns="http://schemas.openxmlformats.org/package/2006/relationships"><Relationship Id="rId8" Type="http://schemas.openxmlformats.org/officeDocument/2006/relationships/hyperlink" Target="https://docs.oracle.com/javase/8/docs/api/java/util/AbstractQueue.html" TargetMode="External"/><Relationship Id="rId13" Type="http://schemas.openxmlformats.org/officeDocument/2006/relationships/hyperlink" Target="https://docs.oracle.com/javase/8/docs/api/java/util/concurrent/DelayQueue.html" TargetMode="External"/><Relationship Id="rId18" Type="http://schemas.openxmlformats.org/officeDocument/2006/relationships/hyperlink" Target="https://docs.oracle.com/javase/8/docs/api/java/util/concurrent/PriorityBlockingQueue.html" TargetMode="External"/><Relationship Id="rId3" Type="http://schemas.openxmlformats.org/officeDocument/2006/relationships/hyperlink" Target="https://docs.oracle.com/javase/8/docs/api/java/lang/Iterable.html" TargetMode="External"/><Relationship Id="rId7" Type="http://schemas.openxmlformats.org/officeDocument/2006/relationships/hyperlink" Target="https://docs.oracle.com/javase/8/docs/api/java/util/concurrent/TransferQueue.html" TargetMode="External"/><Relationship Id="rId12" Type="http://schemas.openxmlformats.org/officeDocument/2006/relationships/hyperlink" Target="https://docs.oracle.com/javase/8/docs/api/java/util/concurrent/ConcurrentLinkedQueue.html" TargetMode="External"/><Relationship Id="rId17" Type="http://schemas.openxmlformats.org/officeDocument/2006/relationships/hyperlink" Target="https://docs.oracle.com/javase/8/docs/api/java/util/concurrent/LinkedTransferQueue.html" TargetMode="External"/><Relationship Id="rId2" Type="http://schemas.openxmlformats.org/officeDocument/2006/relationships/hyperlink" Target="https://docs.oracle.com/javase/8/docs/api/java/util/Collection.html" TargetMode="External"/><Relationship Id="rId16" Type="http://schemas.openxmlformats.org/officeDocument/2006/relationships/hyperlink" Target="https://docs.oracle.com/javase/8/docs/api/java/util/LinkedList.html" TargetMode="External"/><Relationship Id="rId20" Type="http://schemas.openxmlformats.org/officeDocument/2006/relationships/hyperlink" Target="https://docs.oracle.com/javase/8/docs/api/java/util/concurrent/SynchronousQueue.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Deque.html" TargetMode="External"/><Relationship Id="rId11" Type="http://schemas.openxmlformats.org/officeDocument/2006/relationships/hyperlink" Target="https://docs.oracle.com/javase/8/docs/api/java/util/concurrent/ConcurrentLinkedDeque.html" TargetMode="External"/><Relationship Id="rId5" Type="http://schemas.openxmlformats.org/officeDocument/2006/relationships/hyperlink" Target="https://docs.oracle.com/javase/8/docs/api/java/util/concurrent/BlockingQueue.html" TargetMode="External"/><Relationship Id="rId15" Type="http://schemas.openxmlformats.org/officeDocument/2006/relationships/hyperlink" Target="https://docs.oracle.com/javase/8/docs/api/java/util/concurrent/LinkedBlockingQueue.html" TargetMode="External"/><Relationship Id="rId10" Type="http://schemas.openxmlformats.org/officeDocument/2006/relationships/hyperlink" Target="https://docs.oracle.com/javase/8/docs/api/java/util/ArrayDeque.html" TargetMode="External"/><Relationship Id="rId19" Type="http://schemas.openxmlformats.org/officeDocument/2006/relationships/hyperlink" Target="https://docs.oracle.com/javase/8/docs/api/java/util/PriorityQueue.html" TargetMode="External"/><Relationship Id="rId4" Type="http://schemas.openxmlformats.org/officeDocument/2006/relationships/hyperlink" Target="https://docs.oracle.com/javase/8/docs/api/java/util/concurrent/BlockingDeque.html" TargetMode="External"/><Relationship Id="rId9" Type="http://schemas.openxmlformats.org/officeDocument/2006/relationships/hyperlink" Target="https://docs.oracle.com/javase/8/docs/api/java/util/concurrent/ArrayBlockingQueue.html" TargetMode="External"/><Relationship Id="rId14" Type="http://schemas.openxmlformats.org/officeDocument/2006/relationships/hyperlink" Target="https://docs.oracle.com/javase/8/docs/api/java/util/concurrent/LinkedBlockingDeque.html"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docs.oracle.com/javase/8/docs/api/java/util/Queue.html#peek--" TargetMode="External"/><Relationship Id="rId13" Type="http://schemas.openxmlformats.org/officeDocument/2006/relationships/hyperlink" Target="https://docs.oracle.com/javase/8/docs/api/java/util/PriorityQueue.html" TargetMode="External"/><Relationship Id="rId3" Type="http://schemas.openxmlformats.org/officeDocument/2006/relationships/hyperlink" Target="https://docs.oracle.com/javase/8/docs/api/java/util/Queue.html#add-E-" TargetMode="External"/><Relationship Id="rId7" Type="http://schemas.openxmlformats.org/officeDocument/2006/relationships/hyperlink" Target="https://docs.oracle.com/javase/8/docs/api/java/util/Queue.html#element--" TargetMode="External"/><Relationship Id="rId12" Type="http://schemas.openxmlformats.org/officeDocument/2006/relationships/hyperlink" Target="https://docs.oracle.com/javase/8/docs/technotes/guides/collections/index.html" TargetMode="External"/><Relationship Id="rId2" Type="http://schemas.openxmlformats.org/officeDocument/2006/relationships/hyperlink" Target="https://docs.oracle.com/javase/8/docs/api/java/util/Collection.html" TargetMode="External"/><Relationship Id="rId16" Type="http://schemas.openxmlformats.org/officeDocument/2006/relationships/hyperlink" Target="https://docs.oracle.com/javase/8/docs/api/java/util/concurrent/PriorityBlockingQueue.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Queue.html#poll--" TargetMode="External"/><Relationship Id="rId11" Type="http://schemas.openxmlformats.org/officeDocument/2006/relationships/hyperlink" Target="https://docs.oracle.com/javase/8/docs/api/java/util/LinkedList.html" TargetMode="External"/><Relationship Id="rId5" Type="http://schemas.openxmlformats.org/officeDocument/2006/relationships/hyperlink" Target="https://docs.oracle.com/javase/8/docs/api/java/util/Queue.html#remove--" TargetMode="External"/><Relationship Id="rId15" Type="http://schemas.openxmlformats.org/officeDocument/2006/relationships/hyperlink" Target="https://docs.oracle.com/javase/8/docs/api/java/util/concurrent/ArrayBlockingQueue.html" TargetMode="External"/><Relationship Id="rId10" Type="http://schemas.openxmlformats.org/officeDocument/2006/relationships/hyperlink" Target="https://docs.oracle.com/javase/8/docs/api/java/util/concurrent/BlockingQueue.html" TargetMode="External"/><Relationship Id="rId4" Type="http://schemas.openxmlformats.org/officeDocument/2006/relationships/hyperlink" Target="https://docs.oracle.com/javase/8/docs/api/java/util/Queue.html#offer-E-" TargetMode="External"/><Relationship Id="rId9" Type="http://schemas.openxmlformats.org/officeDocument/2006/relationships/hyperlink" Target="https://docs.oracle.com/javase/8/docs/api/java/util/Collection.html#add-E-" TargetMode="External"/><Relationship Id="rId14" Type="http://schemas.openxmlformats.org/officeDocument/2006/relationships/hyperlink" Target="https://docs.oracle.com/javase/8/docs/api/java/util/concurrent/LinkedBlockingQueue.html" TargetMode="External"/></Relationships>
</file>

<file path=ppt/slides/_rels/slide48.xml.rels><?xml version="1.0" encoding="UTF-8" standalone="yes"?>
<Relationships xmlns="http://schemas.openxmlformats.org/package/2006/relationships"><Relationship Id="rId8" Type="http://schemas.openxmlformats.org/officeDocument/2006/relationships/hyperlink" Target="https://docs.oracle.com/javase/8/docs/api/java/util/Queue.html#remove--" TargetMode="External"/><Relationship Id="rId13" Type="http://schemas.openxmlformats.org/officeDocument/2006/relationships/hyperlink" Target="https://docs.oracle.com/javase/8/docs/api/java/util/Collection.html#containsAll-java.util.Collection-" TargetMode="External"/><Relationship Id="rId18" Type="http://schemas.openxmlformats.org/officeDocument/2006/relationships/hyperlink" Target="https://docs.oracle.com/javase/8/docs/api/java/util/Collection.html#parallelStream--" TargetMode="External"/><Relationship Id="rId26" Type="http://schemas.openxmlformats.org/officeDocument/2006/relationships/hyperlink" Target="https://docs.oracle.com/javase/8/docs/api/java/util/Collection.html#toArray--" TargetMode="External"/><Relationship Id="rId3" Type="http://schemas.openxmlformats.org/officeDocument/2006/relationships/hyperlink" Target="https://docs.oracle.com/javase/8/docs/api/java/util/Queue.html" TargetMode="External"/><Relationship Id="rId21" Type="http://schemas.openxmlformats.org/officeDocument/2006/relationships/hyperlink" Target="https://docs.oracle.com/javase/8/docs/api/java/util/Collection.html#removeIf-java.util.function.Predicate-" TargetMode="External"/><Relationship Id="rId7" Type="http://schemas.openxmlformats.org/officeDocument/2006/relationships/hyperlink" Target="https://docs.oracle.com/javase/8/docs/api/java/util/Queue.html#poll--" TargetMode="External"/><Relationship Id="rId12" Type="http://schemas.openxmlformats.org/officeDocument/2006/relationships/hyperlink" Target="https://docs.oracle.com/javase/8/docs/api/java/util/Collection.html#contains-java.lang.Object-" TargetMode="External"/><Relationship Id="rId17" Type="http://schemas.openxmlformats.org/officeDocument/2006/relationships/hyperlink" Target="https://docs.oracle.com/javase/8/docs/api/java/util/Collection.html#iterator--" TargetMode="External"/><Relationship Id="rId25" Type="http://schemas.openxmlformats.org/officeDocument/2006/relationships/hyperlink" Target="https://docs.oracle.com/javase/8/docs/api/java/util/Collection.html#stream--" TargetMode="External"/><Relationship Id="rId2" Type="http://schemas.openxmlformats.org/officeDocument/2006/relationships/hyperlink" Target="https://docs.oracle.com/javase/8/docs/api/java/util/Queue.html#add-E-" TargetMode="External"/><Relationship Id="rId16" Type="http://schemas.openxmlformats.org/officeDocument/2006/relationships/hyperlink" Target="https://docs.oracle.com/javase/8/docs/api/java/util/Collection.html#isEmpty--" TargetMode="External"/><Relationship Id="rId20" Type="http://schemas.openxmlformats.org/officeDocument/2006/relationships/hyperlink" Target="https://docs.oracle.com/javase/8/docs/api/java/util/Collection.html#removeAll-java.util.Collection-" TargetMode="External"/><Relationship Id="rId29" Type="http://schemas.openxmlformats.org/officeDocument/2006/relationships/hyperlink" Target="https://docs.oracle.com/javase/8/docs/api/java/lang/Iterable.html#forEach-java.util.function.Consumer-"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Queue.html#peek--" TargetMode="External"/><Relationship Id="rId11" Type="http://schemas.openxmlformats.org/officeDocument/2006/relationships/hyperlink" Target="https://docs.oracle.com/javase/8/docs/api/java/util/Collection.html#clear--" TargetMode="External"/><Relationship Id="rId24" Type="http://schemas.openxmlformats.org/officeDocument/2006/relationships/hyperlink" Target="https://docs.oracle.com/javase/8/docs/api/java/util/Collection.html#spliterator--" TargetMode="External"/><Relationship Id="rId5" Type="http://schemas.openxmlformats.org/officeDocument/2006/relationships/hyperlink" Target="https://docs.oracle.com/javase/8/docs/api/java/util/Queue.html#offer-E-" TargetMode="External"/><Relationship Id="rId15" Type="http://schemas.openxmlformats.org/officeDocument/2006/relationships/hyperlink" Target="https://docs.oracle.com/javase/8/docs/api/java/util/Collection.html#hashCode--" TargetMode="External"/><Relationship Id="rId23" Type="http://schemas.openxmlformats.org/officeDocument/2006/relationships/hyperlink" Target="https://docs.oracle.com/javase/8/docs/api/java/util/Collection.html#size--" TargetMode="External"/><Relationship Id="rId28" Type="http://schemas.openxmlformats.org/officeDocument/2006/relationships/hyperlink" Target="https://docs.oracle.com/javase/8/docs/api/java/lang/Iterable.html" TargetMode="External"/><Relationship Id="rId10" Type="http://schemas.openxmlformats.org/officeDocument/2006/relationships/hyperlink" Target="https://docs.oracle.com/javase/8/docs/api/java/util/Collection.html#addAll-java.util.Collection-" TargetMode="External"/><Relationship Id="rId19" Type="http://schemas.openxmlformats.org/officeDocument/2006/relationships/hyperlink" Target="https://docs.oracle.com/javase/8/docs/api/java/util/Collection.html#remove-java.lang.Object-" TargetMode="External"/><Relationship Id="rId4" Type="http://schemas.openxmlformats.org/officeDocument/2006/relationships/hyperlink" Target="https://docs.oracle.com/javase/8/docs/api/java/util/Queue.html#element--" TargetMode="External"/><Relationship Id="rId9" Type="http://schemas.openxmlformats.org/officeDocument/2006/relationships/hyperlink" Target="https://docs.oracle.com/javase/8/docs/api/java/util/Collection.html" TargetMode="External"/><Relationship Id="rId14" Type="http://schemas.openxmlformats.org/officeDocument/2006/relationships/hyperlink" Target="https://docs.oracle.com/javase/8/docs/api/java/util/Collection.html#equals-java.lang.Object-" TargetMode="External"/><Relationship Id="rId22" Type="http://schemas.openxmlformats.org/officeDocument/2006/relationships/hyperlink" Target="https://docs.oracle.com/javase/8/docs/api/java/util/Collection.html#retainAll-java.util.Collection-" TargetMode="External"/><Relationship Id="rId27" Type="http://schemas.openxmlformats.org/officeDocument/2006/relationships/hyperlink" Target="https://docs.oracle.com/javase/8/docs/api/java/util/Collection.html#toArray-T:A-" TargetMode="External"/></Relationships>
</file>

<file path=ppt/slides/_rels/slide49.xml.rels><?xml version="1.0" encoding="UTF-8" standalone="yes"?>
<Relationships xmlns="http://schemas.openxmlformats.org/package/2006/relationships"><Relationship Id="rId8" Type="http://schemas.openxmlformats.org/officeDocument/2006/relationships/hyperlink" Target="https://docs.oracle.com/javase/8/docs/api/java/lang/IllegalArgumentException.html" TargetMode="External"/><Relationship Id="rId3" Type="http://schemas.openxmlformats.org/officeDocument/2006/relationships/hyperlink" Target="https://docs.oracle.com/javase/8/docs/api/java/util/Collection.html#add-E-" TargetMode="External"/><Relationship Id="rId7" Type="http://schemas.openxmlformats.org/officeDocument/2006/relationships/hyperlink" Target="https://docs.oracle.com/javase/8/docs/api/java/lang/NullPointerException.html" TargetMode="External"/><Relationship Id="rId12" Type="http://schemas.openxmlformats.org/officeDocument/2006/relationships/hyperlink" Target="https://docs.oracle.com/javase/8/docs/api/java/util/Queue.html#peek--" TargetMode="External"/><Relationship Id="rId2" Type="http://schemas.openxmlformats.org/officeDocument/2006/relationships/hyperlink" Target="https://docs.oracle.com/javase/8/docs/api/java/util/Queue.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lang/ClassCastException.html" TargetMode="External"/><Relationship Id="rId11" Type="http://schemas.openxmlformats.org/officeDocument/2006/relationships/hyperlink" Target="https://docs.oracle.com/javase/8/docs/api/java/util/NoSuchElementException.html" TargetMode="External"/><Relationship Id="rId5" Type="http://schemas.openxmlformats.org/officeDocument/2006/relationships/hyperlink" Target="https://docs.oracle.com/javase/8/docs/api/java/lang/IllegalStateException.html" TargetMode="External"/><Relationship Id="rId10" Type="http://schemas.openxmlformats.org/officeDocument/2006/relationships/hyperlink" Target="https://docs.oracle.com/javase/8/docs/api/java/util/Queue.html#poll--" TargetMode="External"/><Relationship Id="rId4" Type="http://schemas.openxmlformats.org/officeDocument/2006/relationships/hyperlink" Target="https://docs.oracle.com/javase/8/docs/api/java/util/Collection.html" TargetMode="External"/><Relationship Id="rId9" Type="http://schemas.openxmlformats.org/officeDocument/2006/relationships/hyperlink" Target="https://docs.oracle.com/javase/8/docs/api/java/util/Queue.html#add-E-" TargetMode="External"/></Relationships>
</file>

<file path=ppt/slides/_rels/slide50.xml.rels><?xml version="1.0" encoding="UTF-8" standalone="yes"?>
<Relationships xmlns="http://schemas.openxmlformats.org/package/2006/relationships"><Relationship Id="rId8" Type="http://schemas.openxmlformats.org/officeDocument/2006/relationships/hyperlink" Target="https://docs.oracle.com/javase/8/docs/api/java/util/concurrent/ConcurrentSkipListSet.html" TargetMode="External"/><Relationship Id="rId13" Type="http://schemas.openxmlformats.org/officeDocument/2006/relationships/hyperlink" Target="https://docs.oracle.com/javase/8/docs/api/java/util/LinkedHashSet.html" TargetMode="External"/><Relationship Id="rId3" Type="http://schemas.openxmlformats.org/officeDocument/2006/relationships/hyperlink" Target="https://docs.oracle.com/javase/8/docs/api/java/lang/Iterable.html" TargetMode="External"/><Relationship Id="rId7" Type="http://schemas.openxmlformats.org/officeDocument/2006/relationships/hyperlink" Target="https://docs.oracle.com/javase/8/docs/api/java/util/concurrent/ConcurrentHashMap.KeySetView.html" TargetMode="External"/><Relationship Id="rId12" Type="http://schemas.openxmlformats.org/officeDocument/2006/relationships/hyperlink" Target="https://docs.oracle.com/javase/8/docs/api/javax/print/attribute/standard/JobStateReasons.html" TargetMode="External"/><Relationship Id="rId2" Type="http://schemas.openxmlformats.org/officeDocument/2006/relationships/hyperlink" Target="https://docs.oracle.com/javase/8/docs/api/java/util/Collection.html" TargetMode="External"/><Relationship Id="rId1" Type="http://schemas.openxmlformats.org/officeDocument/2006/relationships/slideLayout" Target="../slideLayouts/slideLayout2.xml"/><Relationship Id="rId6" Type="http://schemas.openxmlformats.org/officeDocument/2006/relationships/hyperlink" Target="https://docs.oracle.com/javase/8/docs/api/java/util/AbstractSet.html" TargetMode="External"/><Relationship Id="rId11" Type="http://schemas.openxmlformats.org/officeDocument/2006/relationships/hyperlink" Target="https://docs.oracle.com/javase/8/docs/api/java/util/HashSet.html" TargetMode="External"/><Relationship Id="rId5" Type="http://schemas.openxmlformats.org/officeDocument/2006/relationships/hyperlink" Target="https://docs.oracle.com/javase/8/docs/api/java/util/SortedSet.html" TargetMode="External"/><Relationship Id="rId10" Type="http://schemas.openxmlformats.org/officeDocument/2006/relationships/hyperlink" Target="https://docs.oracle.com/javase/8/docs/api/java/util/EnumSet.html" TargetMode="External"/><Relationship Id="rId4" Type="http://schemas.openxmlformats.org/officeDocument/2006/relationships/hyperlink" Target="https://docs.oracle.com/javase/8/docs/api/java/util/NavigableSet.html" TargetMode="External"/><Relationship Id="rId9" Type="http://schemas.openxmlformats.org/officeDocument/2006/relationships/hyperlink" Target="https://docs.oracle.com/javase/8/docs/api/java/util/concurrent/CopyOnWriteArraySet.html" TargetMode="External"/><Relationship Id="rId14" Type="http://schemas.openxmlformats.org/officeDocument/2006/relationships/hyperlink" Target="https://docs.oracle.com/javase/8/docs/api/java/util/TreeSet.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A263214-0B2D-83B6-B006-6BB82C7C2F29}"/>
              </a:ext>
            </a:extLst>
          </p:cNvPr>
          <p:cNvSpPr/>
          <p:nvPr/>
        </p:nvSpPr>
        <p:spPr>
          <a:xfrm>
            <a:off x="822337" y="44288"/>
            <a:ext cx="643683" cy="1488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err="1">
                <a:solidFill>
                  <a:schemeClr val="tx1"/>
                </a:solidFill>
              </a:rPr>
              <a:t>Java.util</a:t>
            </a:r>
            <a:endParaRPr lang="en-US" sz="800" dirty="0">
              <a:solidFill>
                <a:schemeClr val="tx1"/>
              </a:solidFill>
            </a:endParaRPr>
          </a:p>
        </p:txBody>
      </p:sp>
      <p:sp>
        <p:nvSpPr>
          <p:cNvPr id="7" name="Rectangle: Rounded Corners 6">
            <a:extLst>
              <a:ext uri="{FF2B5EF4-FFF2-40B4-BE49-F238E27FC236}">
                <a16:creationId xmlns:a16="http://schemas.microsoft.com/office/drawing/2014/main" id="{8BAD5994-CC87-9A83-BCBB-1CB337950418}"/>
              </a:ext>
            </a:extLst>
          </p:cNvPr>
          <p:cNvSpPr/>
          <p:nvPr/>
        </p:nvSpPr>
        <p:spPr>
          <a:xfrm>
            <a:off x="222307" y="537479"/>
            <a:ext cx="921872" cy="14880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packages</a:t>
            </a:r>
          </a:p>
        </p:txBody>
      </p:sp>
      <p:sp>
        <p:nvSpPr>
          <p:cNvPr id="8" name="Rectangle: Rounded Corners 7">
            <a:extLst>
              <a:ext uri="{FF2B5EF4-FFF2-40B4-BE49-F238E27FC236}">
                <a16:creationId xmlns:a16="http://schemas.microsoft.com/office/drawing/2014/main" id="{53880874-6BCA-E0F7-E7A3-E1AF6301805C}"/>
              </a:ext>
            </a:extLst>
          </p:cNvPr>
          <p:cNvSpPr/>
          <p:nvPr/>
        </p:nvSpPr>
        <p:spPr>
          <a:xfrm>
            <a:off x="1366486" y="537479"/>
            <a:ext cx="921872" cy="1488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Interfaces</a:t>
            </a:r>
          </a:p>
        </p:txBody>
      </p:sp>
      <p:sp>
        <p:nvSpPr>
          <p:cNvPr id="9" name="Rectangle: Rounded Corners 8">
            <a:extLst>
              <a:ext uri="{FF2B5EF4-FFF2-40B4-BE49-F238E27FC236}">
                <a16:creationId xmlns:a16="http://schemas.microsoft.com/office/drawing/2014/main" id="{EAC3C2E7-2E10-B2D0-F72F-EEE9BF71B1D4}"/>
              </a:ext>
            </a:extLst>
          </p:cNvPr>
          <p:cNvSpPr/>
          <p:nvPr/>
        </p:nvSpPr>
        <p:spPr>
          <a:xfrm>
            <a:off x="2949501" y="476265"/>
            <a:ext cx="814792" cy="21001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Classes</a:t>
            </a:r>
          </a:p>
        </p:txBody>
      </p:sp>
      <p:cxnSp>
        <p:nvCxnSpPr>
          <p:cNvPr id="11" name="Straight Connector 10">
            <a:extLst>
              <a:ext uri="{FF2B5EF4-FFF2-40B4-BE49-F238E27FC236}">
                <a16:creationId xmlns:a16="http://schemas.microsoft.com/office/drawing/2014/main" id="{DA9B61CC-668A-BB61-1F20-2BFF983D1EC6}"/>
              </a:ext>
            </a:extLst>
          </p:cNvPr>
          <p:cNvCxnSpPr>
            <a:cxnSpLocks/>
            <a:stCxn id="6" idx="2"/>
            <a:endCxn id="7" idx="0"/>
          </p:cNvCxnSpPr>
          <p:nvPr/>
        </p:nvCxnSpPr>
        <p:spPr>
          <a:xfrm flipH="1">
            <a:off x="683243" y="193093"/>
            <a:ext cx="460936" cy="3443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3E10890-6D71-311A-EC61-286542CA0525}"/>
              </a:ext>
            </a:extLst>
          </p:cNvPr>
          <p:cNvCxnSpPr>
            <a:cxnSpLocks/>
            <a:stCxn id="6" idx="2"/>
            <a:endCxn id="8" idx="0"/>
          </p:cNvCxnSpPr>
          <p:nvPr/>
        </p:nvCxnSpPr>
        <p:spPr>
          <a:xfrm>
            <a:off x="1144179" y="193093"/>
            <a:ext cx="683243" cy="3443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FC25FB8-8D79-9936-4C07-27710C8E9BEA}"/>
              </a:ext>
            </a:extLst>
          </p:cNvPr>
          <p:cNvCxnSpPr>
            <a:cxnSpLocks/>
            <a:stCxn id="6" idx="2"/>
            <a:endCxn id="9" idx="0"/>
          </p:cNvCxnSpPr>
          <p:nvPr/>
        </p:nvCxnSpPr>
        <p:spPr>
          <a:xfrm>
            <a:off x="1144179" y="193093"/>
            <a:ext cx="2212718" cy="283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6FD8DD91-FF09-12AD-E93B-4504996C88C2}"/>
              </a:ext>
            </a:extLst>
          </p:cNvPr>
          <p:cNvCxnSpPr>
            <a:cxnSpLocks/>
            <a:stCxn id="30" idx="0"/>
            <a:endCxn id="7" idx="2"/>
          </p:cNvCxnSpPr>
          <p:nvPr/>
        </p:nvCxnSpPr>
        <p:spPr>
          <a:xfrm flipH="1" flipV="1">
            <a:off x="683243" y="686284"/>
            <a:ext cx="108265" cy="344381"/>
          </a:xfrm>
          <a:prstGeom prst="line">
            <a:avLst/>
          </a:prstGeom>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62F501E-3E4A-3703-54E6-49354C42A290}"/>
              </a:ext>
            </a:extLst>
          </p:cNvPr>
          <p:cNvSpPr txBox="1"/>
          <p:nvPr/>
        </p:nvSpPr>
        <p:spPr>
          <a:xfrm>
            <a:off x="0" y="1030665"/>
            <a:ext cx="1583015" cy="1446550"/>
          </a:xfrm>
          <a:prstGeom prst="rect">
            <a:avLst/>
          </a:prstGeom>
          <a:noFill/>
        </p:spPr>
        <p:txBody>
          <a:bodyPr wrap="square">
            <a:spAutoFit/>
          </a:bodyPr>
          <a:lstStyle/>
          <a:p>
            <a:r>
              <a:rPr lang="en-US" sz="800" dirty="0" err="1"/>
              <a:t>java.util.concurrent</a:t>
            </a:r>
            <a:endParaRPr lang="en-US" sz="800" dirty="0"/>
          </a:p>
          <a:p>
            <a:r>
              <a:rPr lang="en-US" sz="800" dirty="0" err="1"/>
              <a:t>java.util.concurrent.atomic</a:t>
            </a:r>
            <a:endParaRPr lang="en-US" sz="800" dirty="0"/>
          </a:p>
          <a:p>
            <a:r>
              <a:rPr lang="en-US" sz="800" dirty="0" err="1"/>
              <a:t>java.util.concurrent.locks</a:t>
            </a:r>
            <a:endParaRPr lang="en-US" sz="800" dirty="0"/>
          </a:p>
          <a:p>
            <a:r>
              <a:rPr lang="en-US" sz="800" dirty="0" err="1"/>
              <a:t>java.util.function</a:t>
            </a:r>
            <a:endParaRPr lang="en-US" sz="800" dirty="0"/>
          </a:p>
          <a:p>
            <a:r>
              <a:rPr lang="en-US" sz="800" dirty="0"/>
              <a:t>java.util.jar</a:t>
            </a:r>
          </a:p>
          <a:p>
            <a:r>
              <a:rPr lang="en-US" sz="800" dirty="0" err="1"/>
              <a:t>java.util.logging</a:t>
            </a:r>
            <a:endParaRPr lang="en-US" sz="800" dirty="0"/>
          </a:p>
          <a:p>
            <a:r>
              <a:rPr lang="en-US" sz="800" dirty="0" err="1"/>
              <a:t>java.util.prefs</a:t>
            </a:r>
            <a:endParaRPr lang="en-US" sz="800" dirty="0"/>
          </a:p>
          <a:p>
            <a:r>
              <a:rPr lang="en-US" sz="800" dirty="0" err="1"/>
              <a:t>java.util.regex</a:t>
            </a:r>
            <a:endParaRPr lang="en-US" sz="800" dirty="0"/>
          </a:p>
          <a:p>
            <a:r>
              <a:rPr lang="en-US" sz="800" dirty="0" err="1"/>
              <a:t>java.util.spi</a:t>
            </a:r>
            <a:endParaRPr lang="en-US" sz="800" dirty="0"/>
          </a:p>
          <a:p>
            <a:r>
              <a:rPr lang="en-US" sz="800" dirty="0" err="1"/>
              <a:t>java.util.stream</a:t>
            </a:r>
            <a:endParaRPr lang="en-US" sz="800" dirty="0"/>
          </a:p>
          <a:p>
            <a:r>
              <a:rPr lang="en-US" sz="800" dirty="0"/>
              <a:t>java.util.zip</a:t>
            </a:r>
          </a:p>
        </p:txBody>
      </p:sp>
      <p:sp>
        <p:nvSpPr>
          <p:cNvPr id="57" name="TextBox 56">
            <a:extLst>
              <a:ext uri="{FF2B5EF4-FFF2-40B4-BE49-F238E27FC236}">
                <a16:creationId xmlns:a16="http://schemas.microsoft.com/office/drawing/2014/main" id="{1FF0F73D-1F39-C631-36F2-40F3AC8654A0}"/>
              </a:ext>
            </a:extLst>
          </p:cNvPr>
          <p:cNvSpPr txBox="1"/>
          <p:nvPr/>
        </p:nvSpPr>
        <p:spPr>
          <a:xfrm>
            <a:off x="1366486" y="1051880"/>
            <a:ext cx="1583015" cy="3539430"/>
          </a:xfrm>
          <a:prstGeom prst="rect">
            <a:avLst/>
          </a:prstGeom>
          <a:noFill/>
        </p:spPr>
        <p:txBody>
          <a:bodyPr wrap="square">
            <a:spAutoFit/>
          </a:bodyPr>
          <a:lstStyle/>
          <a:p>
            <a:r>
              <a:rPr lang="en-US" sz="800" dirty="0"/>
              <a:t>Collection</a:t>
            </a:r>
          </a:p>
          <a:p>
            <a:r>
              <a:rPr lang="en-US" sz="800" dirty="0"/>
              <a:t>Comparator</a:t>
            </a:r>
          </a:p>
          <a:p>
            <a:r>
              <a:rPr lang="en-US" sz="800" dirty="0"/>
              <a:t>Deque</a:t>
            </a:r>
          </a:p>
          <a:p>
            <a:r>
              <a:rPr lang="en-US" sz="800" dirty="0"/>
              <a:t>Enumeration</a:t>
            </a:r>
          </a:p>
          <a:p>
            <a:r>
              <a:rPr lang="en-US" sz="800" dirty="0" err="1"/>
              <a:t>EventListener</a:t>
            </a:r>
            <a:endParaRPr lang="en-US" sz="800" dirty="0"/>
          </a:p>
          <a:p>
            <a:r>
              <a:rPr lang="en-US" sz="800" dirty="0"/>
              <a:t>Formattable</a:t>
            </a:r>
          </a:p>
          <a:p>
            <a:r>
              <a:rPr lang="en-US" sz="800" dirty="0"/>
              <a:t>Iterator</a:t>
            </a:r>
          </a:p>
          <a:p>
            <a:r>
              <a:rPr lang="en-US" sz="800" dirty="0"/>
              <a:t>List</a:t>
            </a:r>
          </a:p>
          <a:p>
            <a:r>
              <a:rPr lang="en-US" sz="800" dirty="0" err="1"/>
              <a:t>ListIterator</a:t>
            </a:r>
            <a:endParaRPr lang="en-US" sz="800" dirty="0"/>
          </a:p>
          <a:p>
            <a:r>
              <a:rPr lang="en-US" sz="800" dirty="0"/>
              <a:t>Map</a:t>
            </a:r>
          </a:p>
          <a:p>
            <a:r>
              <a:rPr lang="en-US" sz="800" dirty="0" err="1"/>
              <a:t>Map.Entry</a:t>
            </a:r>
            <a:endParaRPr lang="en-US" sz="800" dirty="0"/>
          </a:p>
          <a:p>
            <a:r>
              <a:rPr lang="en-US" sz="800" dirty="0" err="1"/>
              <a:t>NavigableMap</a:t>
            </a:r>
            <a:endParaRPr lang="en-US" sz="800" dirty="0"/>
          </a:p>
          <a:p>
            <a:r>
              <a:rPr lang="en-US" sz="800" dirty="0" err="1"/>
              <a:t>NavigableSet</a:t>
            </a:r>
            <a:endParaRPr lang="en-US" sz="800" dirty="0"/>
          </a:p>
          <a:p>
            <a:r>
              <a:rPr lang="en-US" sz="800" dirty="0"/>
              <a:t>Observer</a:t>
            </a:r>
          </a:p>
          <a:p>
            <a:r>
              <a:rPr lang="en-US" sz="800" dirty="0" err="1"/>
              <a:t>PrimitiveIterator</a:t>
            </a:r>
            <a:endParaRPr lang="en-US" sz="800" dirty="0"/>
          </a:p>
          <a:p>
            <a:r>
              <a:rPr lang="en-US" sz="800" dirty="0" err="1"/>
              <a:t>PrimitiveIterator.OfDouble</a:t>
            </a:r>
            <a:endParaRPr lang="en-US" sz="800" dirty="0"/>
          </a:p>
          <a:p>
            <a:r>
              <a:rPr lang="en-US" sz="800" dirty="0" err="1"/>
              <a:t>PrimitiveIterator.OfInt</a:t>
            </a:r>
            <a:endParaRPr lang="en-US" sz="800" dirty="0"/>
          </a:p>
          <a:p>
            <a:r>
              <a:rPr lang="en-US" sz="800" dirty="0" err="1"/>
              <a:t>PrimitiveIterator.OfLong</a:t>
            </a:r>
            <a:endParaRPr lang="en-US" sz="800" dirty="0"/>
          </a:p>
          <a:p>
            <a:r>
              <a:rPr lang="en-US" sz="800" dirty="0"/>
              <a:t>Queue</a:t>
            </a:r>
          </a:p>
          <a:p>
            <a:r>
              <a:rPr lang="en-US" sz="800" dirty="0" err="1"/>
              <a:t>RandomAccess</a:t>
            </a:r>
            <a:endParaRPr lang="en-US" sz="800" dirty="0"/>
          </a:p>
          <a:p>
            <a:r>
              <a:rPr lang="en-US" sz="800" dirty="0"/>
              <a:t>Set</a:t>
            </a:r>
          </a:p>
          <a:p>
            <a:r>
              <a:rPr lang="en-US" sz="800" dirty="0" err="1"/>
              <a:t>SortedMap</a:t>
            </a:r>
            <a:endParaRPr lang="en-US" sz="800" dirty="0"/>
          </a:p>
          <a:p>
            <a:r>
              <a:rPr lang="en-US" sz="800" dirty="0" err="1"/>
              <a:t>SortedSet</a:t>
            </a:r>
            <a:endParaRPr lang="en-US" sz="800" dirty="0"/>
          </a:p>
          <a:p>
            <a:r>
              <a:rPr lang="en-US" sz="800" dirty="0" err="1"/>
              <a:t>Spliterator</a:t>
            </a:r>
            <a:endParaRPr lang="en-US" sz="800" dirty="0"/>
          </a:p>
          <a:p>
            <a:r>
              <a:rPr lang="en-US" sz="800" dirty="0" err="1"/>
              <a:t>Spliterator.OfDouble</a:t>
            </a:r>
            <a:endParaRPr lang="en-US" sz="800" dirty="0"/>
          </a:p>
          <a:p>
            <a:r>
              <a:rPr lang="en-US" sz="800" dirty="0" err="1"/>
              <a:t>Spliterator.OfInt</a:t>
            </a:r>
            <a:endParaRPr lang="en-US" sz="800" dirty="0"/>
          </a:p>
          <a:p>
            <a:r>
              <a:rPr lang="en-US" sz="800" dirty="0" err="1"/>
              <a:t>Spliterator.OfLong</a:t>
            </a:r>
            <a:endParaRPr lang="en-US" sz="800" dirty="0"/>
          </a:p>
          <a:p>
            <a:r>
              <a:rPr lang="en-US" sz="800" dirty="0" err="1"/>
              <a:t>Spliterator.OfPrimitive</a:t>
            </a:r>
            <a:endParaRPr lang="en-US" sz="800" dirty="0"/>
          </a:p>
        </p:txBody>
      </p:sp>
      <p:sp>
        <p:nvSpPr>
          <p:cNvPr id="59" name="TextBox 58">
            <a:extLst>
              <a:ext uri="{FF2B5EF4-FFF2-40B4-BE49-F238E27FC236}">
                <a16:creationId xmlns:a16="http://schemas.microsoft.com/office/drawing/2014/main" id="{D9DA78C2-C958-DF7A-12D6-C3EF09A0AB32}"/>
              </a:ext>
            </a:extLst>
          </p:cNvPr>
          <p:cNvSpPr txBox="1"/>
          <p:nvPr/>
        </p:nvSpPr>
        <p:spPr>
          <a:xfrm>
            <a:off x="2949501" y="764940"/>
            <a:ext cx="1583015" cy="5386090"/>
          </a:xfrm>
          <a:prstGeom prst="rect">
            <a:avLst/>
          </a:prstGeom>
          <a:noFill/>
        </p:spPr>
        <p:txBody>
          <a:bodyPr wrap="square">
            <a:spAutoFit/>
          </a:bodyPr>
          <a:lstStyle/>
          <a:p>
            <a:r>
              <a:rPr lang="en-US" sz="800" dirty="0" err="1"/>
              <a:t>AbstractCollection</a:t>
            </a:r>
            <a:endParaRPr lang="en-US" sz="800" dirty="0"/>
          </a:p>
          <a:p>
            <a:r>
              <a:rPr lang="en-US" sz="800" dirty="0" err="1"/>
              <a:t>AbstractList</a:t>
            </a:r>
            <a:endParaRPr lang="en-US" sz="800" dirty="0"/>
          </a:p>
          <a:p>
            <a:r>
              <a:rPr lang="en-US" sz="800" dirty="0" err="1"/>
              <a:t>AbstractMap</a:t>
            </a:r>
            <a:endParaRPr lang="en-US" sz="800" dirty="0"/>
          </a:p>
          <a:p>
            <a:r>
              <a:rPr lang="en-US" sz="800" dirty="0" err="1"/>
              <a:t>AbstractMap.SimpleEntry</a:t>
            </a:r>
            <a:endParaRPr lang="en-US" sz="800" dirty="0"/>
          </a:p>
          <a:p>
            <a:r>
              <a:rPr lang="en-US" sz="800" dirty="0" err="1"/>
              <a:t>AbstractMap.SimpleImmutableEntry</a:t>
            </a:r>
            <a:endParaRPr lang="en-US" sz="800" dirty="0"/>
          </a:p>
          <a:p>
            <a:r>
              <a:rPr lang="en-US" sz="800" dirty="0" err="1"/>
              <a:t>AbstractQueue</a:t>
            </a:r>
            <a:endParaRPr lang="en-US" sz="800" dirty="0"/>
          </a:p>
          <a:p>
            <a:r>
              <a:rPr lang="en-US" sz="800" dirty="0" err="1"/>
              <a:t>AbstractSequentialList</a:t>
            </a:r>
            <a:endParaRPr lang="en-US" sz="800" dirty="0"/>
          </a:p>
          <a:p>
            <a:r>
              <a:rPr lang="en-US" sz="800" dirty="0" err="1"/>
              <a:t>AbstractSet</a:t>
            </a:r>
            <a:endParaRPr lang="en-US" sz="800" dirty="0"/>
          </a:p>
          <a:p>
            <a:r>
              <a:rPr lang="en-US" sz="800" dirty="0" err="1"/>
              <a:t>ArrayDeque</a:t>
            </a:r>
            <a:endParaRPr lang="en-US" sz="800" dirty="0"/>
          </a:p>
          <a:p>
            <a:r>
              <a:rPr lang="en-US" sz="800" dirty="0" err="1"/>
              <a:t>ArrayList</a:t>
            </a:r>
            <a:endParaRPr lang="en-US" sz="800" dirty="0"/>
          </a:p>
          <a:p>
            <a:r>
              <a:rPr lang="en-US" sz="800" dirty="0"/>
              <a:t>Arrays</a:t>
            </a:r>
          </a:p>
          <a:p>
            <a:r>
              <a:rPr lang="en-US" sz="800" dirty="0"/>
              <a:t>Base64</a:t>
            </a:r>
          </a:p>
          <a:p>
            <a:r>
              <a:rPr lang="en-US" sz="800" dirty="0"/>
              <a:t>Base64.Decoder</a:t>
            </a:r>
          </a:p>
          <a:p>
            <a:r>
              <a:rPr lang="en-US" sz="800" dirty="0"/>
              <a:t>Base64.Encoder</a:t>
            </a:r>
          </a:p>
          <a:p>
            <a:r>
              <a:rPr lang="en-US" sz="800" dirty="0" err="1"/>
              <a:t>BitSet</a:t>
            </a:r>
            <a:endParaRPr lang="en-US" sz="800" dirty="0"/>
          </a:p>
          <a:p>
            <a:r>
              <a:rPr lang="en-US" sz="800" dirty="0"/>
              <a:t>Calendar</a:t>
            </a:r>
          </a:p>
          <a:p>
            <a:r>
              <a:rPr lang="en-US" sz="800" dirty="0" err="1"/>
              <a:t>Calendar.Builder</a:t>
            </a:r>
            <a:endParaRPr lang="en-US" sz="800" dirty="0"/>
          </a:p>
          <a:p>
            <a:r>
              <a:rPr lang="en-US" sz="800" dirty="0"/>
              <a:t>Collections</a:t>
            </a:r>
          </a:p>
          <a:p>
            <a:r>
              <a:rPr lang="en-US" sz="800" dirty="0"/>
              <a:t>Currency</a:t>
            </a:r>
          </a:p>
          <a:p>
            <a:r>
              <a:rPr lang="en-US" sz="800" dirty="0"/>
              <a:t>Date</a:t>
            </a:r>
          </a:p>
          <a:p>
            <a:r>
              <a:rPr lang="en-US" sz="800" dirty="0"/>
              <a:t>Dictionary</a:t>
            </a:r>
          </a:p>
          <a:p>
            <a:r>
              <a:rPr lang="en-US" sz="800" dirty="0" err="1"/>
              <a:t>DoubleSummaryStatistics</a:t>
            </a:r>
            <a:endParaRPr lang="en-US" sz="800" dirty="0"/>
          </a:p>
          <a:p>
            <a:r>
              <a:rPr lang="en-US" sz="800" dirty="0" err="1"/>
              <a:t>EnumMap</a:t>
            </a:r>
            <a:endParaRPr lang="en-US" sz="800" dirty="0"/>
          </a:p>
          <a:p>
            <a:r>
              <a:rPr lang="en-US" sz="800" dirty="0" err="1"/>
              <a:t>EnumSet</a:t>
            </a:r>
            <a:endParaRPr lang="en-US" sz="800" dirty="0"/>
          </a:p>
          <a:p>
            <a:r>
              <a:rPr lang="en-US" sz="800" dirty="0" err="1"/>
              <a:t>EventListenerProxy</a:t>
            </a:r>
            <a:endParaRPr lang="en-US" sz="800" dirty="0"/>
          </a:p>
          <a:p>
            <a:r>
              <a:rPr lang="en-US" sz="800" dirty="0" err="1"/>
              <a:t>EventObject</a:t>
            </a:r>
            <a:endParaRPr lang="en-US" sz="800" dirty="0"/>
          </a:p>
          <a:p>
            <a:r>
              <a:rPr lang="en-US" sz="800" dirty="0" err="1"/>
              <a:t>FormattableFlags</a:t>
            </a:r>
            <a:endParaRPr lang="en-US" sz="800" dirty="0"/>
          </a:p>
          <a:p>
            <a:r>
              <a:rPr lang="en-US" sz="800" dirty="0"/>
              <a:t>Formatter</a:t>
            </a:r>
          </a:p>
          <a:p>
            <a:r>
              <a:rPr lang="en-US" sz="800" dirty="0" err="1"/>
              <a:t>GregorianCalendar</a:t>
            </a:r>
            <a:endParaRPr lang="en-US" sz="800" dirty="0"/>
          </a:p>
          <a:p>
            <a:r>
              <a:rPr lang="en-US" sz="800" dirty="0"/>
              <a:t>HashMap</a:t>
            </a:r>
          </a:p>
          <a:p>
            <a:r>
              <a:rPr lang="en-US" sz="800" dirty="0"/>
              <a:t>HashSet</a:t>
            </a:r>
          </a:p>
          <a:p>
            <a:r>
              <a:rPr lang="en-US" sz="800" dirty="0" err="1"/>
              <a:t>Hashtable</a:t>
            </a:r>
            <a:endParaRPr lang="en-US" sz="800" dirty="0"/>
          </a:p>
          <a:p>
            <a:r>
              <a:rPr lang="en-US" sz="800" dirty="0" err="1"/>
              <a:t>IdentityHashMap</a:t>
            </a:r>
            <a:endParaRPr lang="en-US" sz="800" dirty="0"/>
          </a:p>
          <a:p>
            <a:r>
              <a:rPr lang="en-US" sz="800" dirty="0" err="1"/>
              <a:t>IntSummaryStatistics</a:t>
            </a:r>
            <a:endParaRPr lang="en-US" sz="800" dirty="0"/>
          </a:p>
          <a:p>
            <a:r>
              <a:rPr lang="en-US" sz="800" dirty="0" err="1"/>
              <a:t>LinkedHashMap</a:t>
            </a:r>
            <a:endParaRPr lang="en-US" sz="800" dirty="0"/>
          </a:p>
          <a:p>
            <a:r>
              <a:rPr lang="en-US" sz="800" dirty="0" err="1"/>
              <a:t>LinkedHashSet</a:t>
            </a:r>
            <a:endParaRPr lang="en-US" sz="800" dirty="0"/>
          </a:p>
          <a:p>
            <a:r>
              <a:rPr lang="en-US" sz="800" dirty="0"/>
              <a:t>LinkedList</a:t>
            </a:r>
          </a:p>
          <a:p>
            <a:r>
              <a:rPr lang="en-US" sz="800" dirty="0" err="1"/>
              <a:t>ListResourceBundle</a:t>
            </a:r>
            <a:endParaRPr lang="en-US" sz="800" dirty="0"/>
          </a:p>
          <a:p>
            <a:r>
              <a:rPr lang="en-US" sz="800" dirty="0"/>
              <a:t>Locale</a:t>
            </a:r>
          </a:p>
          <a:p>
            <a:r>
              <a:rPr lang="en-US" sz="800" dirty="0" err="1"/>
              <a:t>Locale.Builder</a:t>
            </a:r>
            <a:endParaRPr lang="en-US" sz="800" dirty="0"/>
          </a:p>
          <a:p>
            <a:r>
              <a:rPr lang="en-US" sz="800" dirty="0" err="1"/>
              <a:t>Locale.LanguageRange</a:t>
            </a:r>
            <a:endParaRPr lang="en-US" sz="800" dirty="0"/>
          </a:p>
          <a:p>
            <a:r>
              <a:rPr lang="en-US" sz="800" dirty="0" err="1"/>
              <a:t>LongSummaryStatistics</a:t>
            </a:r>
            <a:endParaRPr lang="en-US" sz="800" dirty="0"/>
          </a:p>
        </p:txBody>
      </p:sp>
      <p:sp>
        <p:nvSpPr>
          <p:cNvPr id="60" name="Rectangle: Rounded Corners 59">
            <a:extLst>
              <a:ext uri="{FF2B5EF4-FFF2-40B4-BE49-F238E27FC236}">
                <a16:creationId xmlns:a16="http://schemas.microsoft.com/office/drawing/2014/main" id="{C19E67E3-9EFA-6B61-64DF-E979141EFDF3}"/>
              </a:ext>
            </a:extLst>
          </p:cNvPr>
          <p:cNvSpPr/>
          <p:nvPr/>
        </p:nvSpPr>
        <p:spPr>
          <a:xfrm>
            <a:off x="5020686" y="533346"/>
            <a:ext cx="814792" cy="21001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Enums</a:t>
            </a:r>
          </a:p>
        </p:txBody>
      </p:sp>
      <p:sp>
        <p:nvSpPr>
          <p:cNvPr id="61" name="Rectangle: Rounded Corners 60">
            <a:extLst>
              <a:ext uri="{FF2B5EF4-FFF2-40B4-BE49-F238E27FC236}">
                <a16:creationId xmlns:a16="http://schemas.microsoft.com/office/drawing/2014/main" id="{80BD3119-D916-2854-534E-6F8065106648}"/>
              </a:ext>
            </a:extLst>
          </p:cNvPr>
          <p:cNvSpPr/>
          <p:nvPr/>
        </p:nvSpPr>
        <p:spPr>
          <a:xfrm>
            <a:off x="6707759" y="504265"/>
            <a:ext cx="814792" cy="21001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Exceptions</a:t>
            </a:r>
          </a:p>
        </p:txBody>
      </p:sp>
      <p:sp>
        <p:nvSpPr>
          <p:cNvPr id="62" name="Rectangle: Rounded Corners 61">
            <a:extLst>
              <a:ext uri="{FF2B5EF4-FFF2-40B4-BE49-F238E27FC236}">
                <a16:creationId xmlns:a16="http://schemas.microsoft.com/office/drawing/2014/main" id="{5E16A99D-DCA2-3794-6CF7-74F1868A7A19}"/>
              </a:ext>
            </a:extLst>
          </p:cNvPr>
          <p:cNvSpPr/>
          <p:nvPr/>
        </p:nvSpPr>
        <p:spPr>
          <a:xfrm>
            <a:off x="8808263" y="407262"/>
            <a:ext cx="814792" cy="21001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Errors</a:t>
            </a:r>
          </a:p>
        </p:txBody>
      </p:sp>
      <p:cxnSp>
        <p:nvCxnSpPr>
          <p:cNvPr id="64" name="Straight Connector 63">
            <a:extLst>
              <a:ext uri="{FF2B5EF4-FFF2-40B4-BE49-F238E27FC236}">
                <a16:creationId xmlns:a16="http://schemas.microsoft.com/office/drawing/2014/main" id="{78EBB986-D160-D3A3-ED88-CAC9151A3AC4}"/>
              </a:ext>
            </a:extLst>
          </p:cNvPr>
          <p:cNvCxnSpPr>
            <a:cxnSpLocks/>
            <a:stCxn id="57" idx="0"/>
            <a:endCxn id="8" idx="2"/>
          </p:cNvCxnSpPr>
          <p:nvPr/>
        </p:nvCxnSpPr>
        <p:spPr>
          <a:xfrm flipH="1" flipV="1">
            <a:off x="1827422" y="686285"/>
            <a:ext cx="330572" cy="365595"/>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0FBDE613-ABD8-F37D-29AE-8ED93D8CA4B4}"/>
              </a:ext>
            </a:extLst>
          </p:cNvPr>
          <p:cNvCxnSpPr>
            <a:cxnSpLocks/>
            <a:stCxn id="59" idx="0"/>
            <a:endCxn id="9" idx="2"/>
          </p:cNvCxnSpPr>
          <p:nvPr/>
        </p:nvCxnSpPr>
        <p:spPr>
          <a:xfrm flipH="1" flipV="1">
            <a:off x="3356897" y="686284"/>
            <a:ext cx="384112" cy="78656"/>
          </a:xfrm>
          <a:prstGeom prst="line">
            <a:avLst/>
          </a:prstGeom>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5AECF367-CB0B-ACAD-AC9F-4AFC6BA7E31D}"/>
              </a:ext>
            </a:extLst>
          </p:cNvPr>
          <p:cNvSpPr txBox="1"/>
          <p:nvPr/>
        </p:nvSpPr>
        <p:spPr>
          <a:xfrm>
            <a:off x="4432402" y="1482397"/>
            <a:ext cx="1675611" cy="440120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Objects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Observable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Optional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OptionalDouble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OptionalInt</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OptionalLong</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PriorityQueue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Properties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PropertyPermission</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PropertyResourceBundle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Random</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ResourceBundle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ResourceBundle.Control</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Scanner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ServiceLoader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SimpleTimeZone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Spliterators</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Spliterators.AbstractDoubleSpliterator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Spliterators.AbstractIntSpliterator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Spliterators.AbstractLongSpliterator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Spliterators.AbstractSpliterator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SplittableRandom</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Stack</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StringJoiner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StringTokenizer</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Timer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TimerTask</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TimeZone</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TreeMap</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TreeSet</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UUID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rPr>
              <a:t>Vector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prstClr val="black"/>
                </a:solidFill>
                <a:effectLst/>
                <a:uLnTx/>
                <a:uFillTx/>
                <a:latin typeface="Aptos" panose="02110004020202020204"/>
                <a:ea typeface="+mn-ea"/>
                <a:cs typeface="+mn-cs"/>
              </a:rPr>
              <a:t>WeakHashMap</a:t>
            </a:r>
            <a:endParaRPr kumimoji="0" lang="en-US" sz="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79" name="Straight Connector 78">
            <a:extLst>
              <a:ext uri="{FF2B5EF4-FFF2-40B4-BE49-F238E27FC236}">
                <a16:creationId xmlns:a16="http://schemas.microsoft.com/office/drawing/2014/main" id="{A5DEE608-7A13-3D78-46E9-818BF9CDE9B7}"/>
              </a:ext>
            </a:extLst>
          </p:cNvPr>
          <p:cNvCxnSpPr>
            <a:cxnSpLocks/>
            <a:stCxn id="6" idx="2"/>
            <a:endCxn id="60" idx="0"/>
          </p:cNvCxnSpPr>
          <p:nvPr/>
        </p:nvCxnSpPr>
        <p:spPr>
          <a:xfrm>
            <a:off x="1144179" y="193093"/>
            <a:ext cx="4283903" cy="340253"/>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519350C0-6591-730A-3342-1622CA197078}"/>
              </a:ext>
            </a:extLst>
          </p:cNvPr>
          <p:cNvCxnSpPr>
            <a:cxnSpLocks/>
            <a:stCxn id="6" idx="2"/>
            <a:endCxn id="61" idx="0"/>
          </p:cNvCxnSpPr>
          <p:nvPr/>
        </p:nvCxnSpPr>
        <p:spPr>
          <a:xfrm>
            <a:off x="1144179" y="193093"/>
            <a:ext cx="5970976" cy="311172"/>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727CB3E4-D221-5188-7853-29C248F7EE65}"/>
              </a:ext>
            </a:extLst>
          </p:cNvPr>
          <p:cNvCxnSpPr>
            <a:cxnSpLocks/>
            <a:stCxn id="6" idx="2"/>
            <a:endCxn id="62" idx="0"/>
          </p:cNvCxnSpPr>
          <p:nvPr/>
        </p:nvCxnSpPr>
        <p:spPr>
          <a:xfrm>
            <a:off x="1144179" y="193093"/>
            <a:ext cx="8071480" cy="214169"/>
          </a:xfrm>
          <a:prstGeom prst="line">
            <a:avLst/>
          </a:prstGeom>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07D1D14F-33F7-A6CC-2D0D-89F2B5AA16D1}"/>
              </a:ext>
            </a:extLst>
          </p:cNvPr>
          <p:cNvCxnSpPr>
            <a:cxnSpLocks/>
            <a:stCxn id="103" idx="0"/>
            <a:endCxn id="60" idx="2"/>
          </p:cNvCxnSpPr>
          <p:nvPr/>
        </p:nvCxnSpPr>
        <p:spPr>
          <a:xfrm flipH="1" flipV="1">
            <a:off x="5428082" y="743365"/>
            <a:ext cx="1029387" cy="529013"/>
          </a:xfrm>
          <a:prstGeom prst="line">
            <a:avLst/>
          </a:prstGeom>
        </p:spPr>
        <p:style>
          <a:lnRef idx="2">
            <a:schemeClr val="accent1"/>
          </a:lnRef>
          <a:fillRef idx="0">
            <a:schemeClr val="accent1"/>
          </a:fillRef>
          <a:effectRef idx="1">
            <a:schemeClr val="accent1"/>
          </a:effectRef>
          <a:fontRef idx="minor">
            <a:schemeClr val="tx1"/>
          </a:fontRef>
        </p:style>
      </p:cxnSp>
      <p:sp>
        <p:nvSpPr>
          <p:cNvPr id="103" name="TextBox 102">
            <a:extLst>
              <a:ext uri="{FF2B5EF4-FFF2-40B4-BE49-F238E27FC236}">
                <a16:creationId xmlns:a16="http://schemas.microsoft.com/office/drawing/2014/main" id="{662A1C29-2F0B-15BD-2507-8C077A47F682}"/>
              </a:ext>
            </a:extLst>
          </p:cNvPr>
          <p:cNvSpPr txBox="1"/>
          <p:nvPr/>
        </p:nvSpPr>
        <p:spPr>
          <a:xfrm>
            <a:off x="5324023" y="1272378"/>
            <a:ext cx="2266891" cy="461665"/>
          </a:xfrm>
          <a:prstGeom prst="rect">
            <a:avLst/>
          </a:prstGeom>
          <a:noFill/>
        </p:spPr>
        <p:txBody>
          <a:bodyPr wrap="square">
            <a:spAutoFit/>
          </a:bodyPr>
          <a:lstStyle/>
          <a:p>
            <a:r>
              <a:rPr lang="en-US" sz="800" dirty="0" err="1"/>
              <a:t>Formatter.BigDecimalLayoutForm</a:t>
            </a:r>
            <a:endParaRPr lang="en-US" sz="800" dirty="0"/>
          </a:p>
          <a:p>
            <a:r>
              <a:rPr lang="en-US" sz="800" dirty="0" err="1"/>
              <a:t>Locale.Category</a:t>
            </a:r>
            <a:endParaRPr lang="en-US" sz="800" dirty="0"/>
          </a:p>
          <a:p>
            <a:r>
              <a:rPr lang="en-US" sz="800" dirty="0" err="1"/>
              <a:t>Locale.FilteringMode</a:t>
            </a:r>
            <a:endParaRPr lang="en-US" sz="800" dirty="0"/>
          </a:p>
        </p:txBody>
      </p:sp>
      <p:sp>
        <p:nvSpPr>
          <p:cNvPr id="105" name="TextBox 104">
            <a:extLst>
              <a:ext uri="{FF2B5EF4-FFF2-40B4-BE49-F238E27FC236}">
                <a16:creationId xmlns:a16="http://schemas.microsoft.com/office/drawing/2014/main" id="{A61587B3-97F7-274F-081C-8096E01B8A52}"/>
              </a:ext>
            </a:extLst>
          </p:cNvPr>
          <p:cNvSpPr txBox="1"/>
          <p:nvPr/>
        </p:nvSpPr>
        <p:spPr>
          <a:xfrm>
            <a:off x="7115155" y="1913654"/>
            <a:ext cx="2384501" cy="2677656"/>
          </a:xfrm>
          <a:prstGeom prst="rect">
            <a:avLst/>
          </a:prstGeom>
          <a:noFill/>
        </p:spPr>
        <p:txBody>
          <a:bodyPr wrap="square">
            <a:spAutoFit/>
          </a:bodyPr>
          <a:lstStyle/>
          <a:p>
            <a:r>
              <a:rPr lang="en-US" sz="800" dirty="0" err="1"/>
              <a:t>ConcurrentModificationException</a:t>
            </a:r>
            <a:endParaRPr lang="en-US" sz="800" dirty="0"/>
          </a:p>
          <a:p>
            <a:r>
              <a:rPr lang="en-US" sz="800" dirty="0" err="1"/>
              <a:t>DuplicateFormatFlagsException</a:t>
            </a:r>
            <a:endParaRPr lang="en-US" sz="800" dirty="0"/>
          </a:p>
          <a:p>
            <a:r>
              <a:rPr lang="en-US" sz="800" dirty="0" err="1"/>
              <a:t>EmptyStackException</a:t>
            </a:r>
            <a:endParaRPr lang="en-US" sz="800" dirty="0"/>
          </a:p>
          <a:p>
            <a:r>
              <a:rPr lang="en-US" sz="800" dirty="0" err="1"/>
              <a:t>FormatFlagsConversionMismatchException</a:t>
            </a:r>
            <a:endParaRPr lang="en-US" sz="800" dirty="0"/>
          </a:p>
          <a:p>
            <a:r>
              <a:rPr lang="en-US" sz="800" dirty="0" err="1"/>
              <a:t>FormatterClosedException</a:t>
            </a:r>
            <a:endParaRPr lang="en-US" sz="800" dirty="0"/>
          </a:p>
          <a:p>
            <a:r>
              <a:rPr lang="en-US" sz="800" dirty="0" err="1"/>
              <a:t>IllegalFormatCodePointException</a:t>
            </a:r>
            <a:endParaRPr lang="en-US" sz="800" dirty="0"/>
          </a:p>
          <a:p>
            <a:r>
              <a:rPr lang="en-US" sz="800" dirty="0" err="1"/>
              <a:t>IllegalFormatConversionException</a:t>
            </a:r>
            <a:endParaRPr lang="en-US" sz="800" dirty="0"/>
          </a:p>
          <a:p>
            <a:r>
              <a:rPr lang="en-US" sz="800" dirty="0" err="1"/>
              <a:t>IllegalFormatException</a:t>
            </a:r>
            <a:endParaRPr lang="en-US" sz="800" dirty="0"/>
          </a:p>
          <a:p>
            <a:r>
              <a:rPr lang="en-US" sz="800" dirty="0" err="1"/>
              <a:t>IllegalFormatFlagsException</a:t>
            </a:r>
            <a:endParaRPr lang="en-US" sz="800" dirty="0"/>
          </a:p>
          <a:p>
            <a:r>
              <a:rPr lang="en-US" sz="800" dirty="0" err="1"/>
              <a:t>IllegalFormatPrecisionException</a:t>
            </a:r>
            <a:endParaRPr lang="en-US" sz="800" dirty="0"/>
          </a:p>
          <a:p>
            <a:r>
              <a:rPr lang="en-US" sz="800" dirty="0" err="1"/>
              <a:t>IllegalFormatWidthException</a:t>
            </a:r>
            <a:endParaRPr lang="en-US" sz="800" dirty="0"/>
          </a:p>
          <a:p>
            <a:r>
              <a:rPr lang="en-US" sz="800" dirty="0" err="1"/>
              <a:t>IllformedLocaleException</a:t>
            </a:r>
            <a:endParaRPr lang="en-US" sz="800" dirty="0"/>
          </a:p>
          <a:p>
            <a:r>
              <a:rPr lang="en-US" sz="800" dirty="0" err="1"/>
              <a:t>InputMismatchException</a:t>
            </a:r>
            <a:endParaRPr lang="en-US" sz="800" dirty="0"/>
          </a:p>
          <a:p>
            <a:r>
              <a:rPr lang="en-US" sz="800" dirty="0" err="1"/>
              <a:t>InvalidPropertiesFormatException</a:t>
            </a:r>
            <a:endParaRPr lang="en-US" sz="800" dirty="0"/>
          </a:p>
          <a:p>
            <a:r>
              <a:rPr lang="en-US" sz="800" dirty="0" err="1"/>
              <a:t>MissingFormatArgumentException</a:t>
            </a:r>
            <a:endParaRPr lang="en-US" sz="800" dirty="0"/>
          </a:p>
          <a:p>
            <a:r>
              <a:rPr lang="en-US" sz="800" dirty="0" err="1"/>
              <a:t>MissingFormatWidthException</a:t>
            </a:r>
            <a:endParaRPr lang="en-US" sz="800" dirty="0"/>
          </a:p>
          <a:p>
            <a:r>
              <a:rPr lang="en-US" sz="800" dirty="0" err="1"/>
              <a:t>MissingResourceException</a:t>
            </a:r>
            <a:endParaRPr lang="en-US" sz="800" dirty="0"/>
          </a:p>
          <a:p>
            <a:r>
              <a:rPr lang="en-US" sz="800" dirty="0" err="1"/>
              <a:t>NoSuchElementException</a:t>
            </a:r>
            <a:endParaRPr lang="en-US" sz="800" dirty="0"/>
          </a:p>
          <a:p>
            <a:r>
              <a:rPr lang="en-US" sz="800" dirty="0" err="1"/>
              <a:t>TooManyListenersException</a:t>
            </a:r>
            <a:endParaRPr lang="en-US" sz="800" dirty="0"/>
          </a:p>
          <a:p>
            <a:r>
              <a:rPr lang="en-US" sz="800" dirty="0" err="1"/>
              <a:t>UnknownFormatConversionException</a:t>
            </a:r>
            <a:endParaRPr lang="en-US" sz="800" dirty="0"/>
          </a:p>
          <a:p>
            <a:r>
              <a:rPr lang="en-US" sz="800" dirty="0" err="1"/>
              <a:t>UnknownFormatFlagsException</a:t>
            </a:r>
            <a:endParaRPr lang="en-US" sz="800" dirty="0"/>
          </a:p>
        </p:txBody>
      </p:sp>
      <p:sp>
        <p:nvSpPr>
          <p:cNvPr id="107" name="TextBox 106">
            <a:extLst>
              <a:ext uri="{FF2B5EF4-FFF2-40B4-BE49-F238E27FC236}">
                <a16:creationId xmlns:a16="http://schemas.microsoft.com/office/drawing/2014/main" id="{91D35C04-5A0C-4EAE-5140-1AFB450BB202}"/>
              </a:ext>
            </a:extLst>
          </p:cNvPr>
          <p:cNvSpPr txBox="1"/>
          <p:nvPr/>
        </p:nvSpPr>
        <p:spPr>
          <a:xfrm>
            <a:off x="8091827" y="933824"/>
            <a:ext cx="1908742" cy="215444"/>
          </a:xfrm>
          <a:prstGeom prst="rect">
            <a:avLst/>
          </a:prstGeom>
          <a:noFill/>
        </p:spPr>
        <p:txBody>
          <a:bodyPr wrap="square">
            <a:spAutoFit/>
          </a:bodyPr>
          <a:lstStyle/>
          <a:p>
            <a:r>
              <a:rPr lang="en-US" sz="800" dirty="0" err="1"/>
              <a:t>ServiceConfigurationError</a:t>
            </a:r>
            <a:endParaRPr lang="en-US" sz="800" dirty="0"/>
          </a:p>
        </p:txBody>
      </p:sp>
      <p:cxnSp>
        <p:nvCxnSpPr>
          <p:cNvPr id="110" name="Straight Connector 109">
            <a:extLst>
              <a:ext uri="{FF2B5EF4-FFF2-40B4-BE49-F238E27FC236}">
                <a16:creationId xmlns:a16="http://schemas.microsoft.com/office/drawing/2014/main" id="{54F2A27D-1EFC-A00D-E0B0-A1B00C826653}"/>
              </a:ext>
            </a:extLst>
          </p:cNvPr>
          <p:cNvCxnSpPr>
            <a:cxnSpLocks/>
            <a:stCxn id="105" idx="0"/>
            <a:endCxn id="61" idx="2"/>
          </p:cNvCxnSpPr>
          <p:nvPr/>
        </p:nvCxnSpPr>
        <p:spPr>
          <a:xfrm flipH="1" flipV="1">
            <a:off x="7115155" y="714284"/>
            <a:ext cx="1192251" cy="1199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5A89A5DB-C226-30F3-2287-A4E2C6F20F8D}"/>
              </a:ext>
            </a:extLst>
          </p:cNvPr>
          <p:cNvCxnSpPr>
            <a:cxnSpLocks/>
            <a:stCxn id="107" idx="0"/>
            <a:endCxn id="62" idx="2"/>
          </p:cNvCxnSpPr>
          <p:nvPr/>
        </p:nvCxnSpPr>
        <p:spPr>
          <a:xfrm flipV="1">
            <a:off x="9046198" y="617281"/>
            <a:ext cx="169461" cy="31654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1464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50C-6B8D-BC5A-9A91-376C357674C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238FE54E-A648-8310-E3BC-D1FDEA34FA3B}"/>
              </a:ext>
            </a:extLst>
          </p:cNvPr>
          <p:cNvSpPr/>
          <p:nvPr/>
        </p:nvSpPr>
        <p:spPr>
          <a:xfrm>
            <a:off x="462246" y="364759"/>
            <a:ext cx="921872" cy="1488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Collection</a:t>
            </a:r>
          </a:p>
        </p:txBody>
      </p:sp>
      <p:sp>
        <p:nvSpPr>
          <p:cNvPr id="3" name="Rectangle: Rounded Corners 2">
            <a:extLst>
              <a:ext uri="{FF2B5EF4-FFF2-40B4-BE49-F238E27FC236}">
                <a16:creationId xmlns:a16="http://schemas.microsoft.com/office/drawing/2014/main" id="{022FA7E8-662E-2A85-ED81-DCE110B5B2D3}"/>
              </a:ext>
            </a:extLst>
          </p:cNvPr>
          <p:cNvSpPr/>
          <p:nvPr/>
        </p:nvSpPr>
        <p:spPr>
          <a:xfrm>
            <a:off x="462064" y="898159"/>
            <a:ext cx="921872" cy="1488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Super Interface</a:t>
            </a:r>
          </a:p>
        </p:txBody>
      </p:sp>
      <p:sp>
        <p:nvSpPr>
          <p:cNvPr id="4" name="Rectangle: Rounded Corners 3">
            <a:extLst>
              <a:ext uri="{FF2B5EF4-FFF2-40B4-BE49-F238E27FC236}">
                <a16:creationId xmlns:a16="http://schemas.microsoft.com/office/drawing/2014/main" id="{0E1B00A9-2C3B-FC59-16EE-B8E7C773A762}"/>
              </a:ext>
            </a:extLst>
          </p:cNvPr>
          <p:cNvSpPr/>
          <p:nvPr/>
        </p:nvSpPr>
        <p:spPr>
          <a:xfrm>
            <a:off x="1655864" y="898159"/>
            <a:ext cx="921872" cy="1488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Sub Interfaces</a:t>
            </a:r>
          </a:p>
        </p:txBody>
      </p:sp>
      <p:sp>
        <p:nvSpPr>
          <p:cNvPr id="5" name="Rectangle: Rounded Corners 4">
            <a:extLst>
              <a:ext uri="{FF2B5EF4-FFF2-40B4-BE49-F238E27FC236}">
                <a16:creationId xmlns:a16="http://schemas.microsoft.com/office/drawing/2014/main" id="{D98448FF-D580-F33C-DAC3-D7A51DD466CC}"/>
              </a:ext>
            </a:extLst>
          </p:cNvPr>
          <p:cNvSpPr/>
          <p:nvPr/>
        </p:nvSpPr>
        <p:spPr>
          <a:xfrm>
            <a:off x="2849664" y="878324"/>
            <a:ext cx="921872" cy="40437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Implementing classes</a:t>
            </a:r>
          </a:p>
        </p:txBody>
      </p:sp>
      <p:sp>
        <p:nvSpPr>
          <p:cNvPr id="7" name="TextBox 6">
            <a:extLst>
              <a:ext uri="{FF2B5EF4-FFF2-40B4-BE49-F238E27FC236}">
                <a16:creationId xmlns:a16="http://schemas.microsoft.com/office/drawing/2014/main" id="{DDB42E3C-B8D4-9525-C78B-B840D42CE975}"/>
              </a:ext>
            </a:extLst>
          </p:cNvPr>
          <p:cNvSpPr txBox="1"/>
          <p:nvPr/>
        </p:nvSpPr>
        <p:spPr>
          <a:xfrm>
            <a:off x="3878364" y="82371"/>
            <a:ext cx="4059136" cy="461665"/>
          </a:xfrm>
          <a:prstGeom prst="rect">
            <a:avLst/>
          </a:prstGeom>
          <a:noFill/>
        </p:spPr>
        <p:txBody>
          <a:bodyPr wrap="square">
            <a:spAutoFit/>
          </a:bodyPr>
          <a:lstStyle/>
          <a:p>
            <a:r>
              <a:rPr lang="en-US" sz="800" b="1"/>
              <a:t>Interface Collection&lt;E&gt;</a:t>
            </a:r>
          </a:p>
          <a:p>
            <a:r>
              <a:rPr lang="en-US" sz="800" b="1"/>
              <a:t>Type Parameters:</a:t>
            </a:r>
          </a:p>
          <a:p>
            <a:r>
              <a:rPr lang="en-US" sz="800"/>
              <a:t>E - the type of elements in this collection</a:t>
            </a:r>
          </a:p>
        </p:txBody>
      </p:sp>
      <p:sp>
        <p:nvSpPr>
          <p:cNvPr id="9" name="TextBox 8">
            <a:extLst>
              <a:ext uri="{FF2B5EF4-FFF2-40B4-BE49-F238E27FC236}">
                <a16:creationId xmlns:a16="http://schemas.microsoft.com/office/drawing/2014/main" id="{E26A0401-68EC-2AD1-0A96-4AEC481F3E1F}"/>
              </a:ext>
            </a:extLst>
          </p:cNvPr>
          <p:cNvSpPr txBox="1"/>
          <p:nvPr/>
        </p:nvSpPr>
        <p:spPr>
          <a:xfrm>
            <a:off x="1611414" y="1407636"/>
            <a:ext cx="2476500" cy="584775"/>
          </a:xfrm>
          <a:prstGeom prst="rect">
            <a:avLst/>
          </a:prstGeom>
          <a:noFill/>
        </p:spPr>
        <p:txBody>
          <a:bodyPr wrap="square">
            <a:spAutoFit/>
          </a:bodyPr>
          <a:lstStyle/>
          <a:p>
            <a:r>
              <a:rPr lang="en-US" sz="800" dirty="0" err="1"/>
              <a:t>BeanContext</a:t>
            </a:r>
            <a:r>
              <a:rPr lang="en-US" sz="800" dirty="0"/>
              <a:t>, </a:t>
            </a:r>
            <a:r>
              <a:rPr lang="en-US" sz="800" dirty="0" err="1"/>
              <a:t>BeanContextServices</a:t>
            </a:r>
            <a:r>
              <a:rPr lang="en-US" sz="800" dirty="0"/>
              <a:t>, </a:t>
            </a:r>
            <a:r>
              <a:rPr lang="en-US" sz="800" dirty="0" err="1"/>
              <a:t>BlockingDeque</a:t>
            </a:r>
            <a:r>
              <a:rPr lang="en-US" sz="800" dirty="0"/>
              <a:t>&lt;E&gt;, BlockingQueue&lt;E&gt;, Deque&lt;E&gt;, List&lt;E&gt;, </a:t>
            </a:r>
            <a:r>
              <a:rPr lang="en-US" sz="800" dirty="0" err="1"/>
              <a:t>NavigableSet</a:t>
            </a:r>
            <a:r>
              <a:rPr lang="en-US" sz="800" dirty="0"/>
              <a:t>&lt;E&gt;, Queue&lt;E&gt;, Set&lt;E&gt;, </a:t>
            </a:r>
            <a:r>
              <a:rPr lang="en-US" sz="800" dirty="0" err="1"/>
              <a:t>SortedSet</a:t>
            </a:r>
            <a:r>
              <a:rPr lang="en-US" sz="800" dirty="0"/>
              <a:t>&lt;E&gt;, </a:t>
            </a:r>
            <a:r>
              <a:rPr lang="en-US" sz="800" dirty="0" err="1"/>
              <a:t>TransferQueue</a:t>
            </a:r>
            <a:r>
              <a:rPr lang="en-US" sz="800" dirty="0"/>
              <a:t>&lt;E&gt;</a:t>
            </a:r>
          </a:p>
        </p:txBody>
      </p:sp>
      <p:sp>
        <p:nvSpPr>
          <p:cNvPr id="11" name="TextBox 10">
            <a:extLst>
              <a:ext uri="{FF2B5EF4-FFF2-40B4-BE49-F238E27FC236}">
                <a16:creationId xmlns:a16="http://schemas.microsoft.com/office/drawing/2014/main" id="{7AB7166D-31E0-DA5D-F9EE-4821C46EFE7A}"/>
              </a:ext>
            </a:extLst>
          </p:cNvPr>
          <p:cNvSpPr txBox="1"/>
          <p:nvPr/>
        </p:nvSpPr>
        <p:spPr>
          <a:xfrm>
            <a:off x="4194742" y="1282700"/>
            <a:ext cx="4695258" cy="1323439"/>
          </a:xfrm>
          <a:prstGeom prst="rect">
            <a:avLst/>
          </a:prstGeom>
          <a:noFill/>
        </p:spPr>
        <p:txBody>
          <a:bodyPr wrap="square">
            <a:spAutoFit/>
          </a:bodyPr>
          <a:lstStyle/>
          <a:p>
            <a:r>
              <a:rPr lang="en-US" sz="800" dirty="0" err="1"/>
              <a:t>AbstractCollection</a:t>
            </a:r>
            <a:r>
              <a:rPr lang="en-US" sz="800" dirty="0"/>
              <a:t>, </a:t>
            </a:r>
          </a:p>
          <a:p>
            <a:r>
              <a:rPr lang="en-US" sz="800" dirty="0" err="1"/>
              <a:t>AbstractList</a:t>
            </a:r>
            <a:r>
              <a:rPr lang="en-US" sz="800" dirty="0"/>
              <a:t>, </a:t>
            </a:r>
          </a:p>
          <a:p>
            <a:r>
              <a:rPr lang="en-US" sz="800" dirty="0" err="1"/>
              <a:t>AbstractQueue</a:t>
            </a:r>
            <a:r>
              <a:rPr lang="en-US" sz="800" dirty="0"/>
              <a:t>, </a:t>
            </a:r>
          </a:p>
          <a:p>
            <a:r>
              <a:rPr lang="en-US" sz="800" dirty="0" err="1"/>
              <a:t>AbstractSequentialList</a:t>
            </a:r>
            <a:r>
              <a:rPr lang="en-US" sz="800" dirty="0"/>
              <a:t>, </a:t>
            </a:r>
          </a:p>
          <a:p>
            <a:r>
              <a:rPr lang="en-US" sz="800" dirty="0" err="1"/>
              <a:t>AbstractSet</a:t>
            </a:r>
            <a:r>
              <a:rPr lang="en-US" sz="800" dirty="0"/>
              <a:t>, </a:t>
            </a:r>
            <a:r>
              <a:rPr lang="en-US" sz="800" dirty="0" err="1"/>
              <a:t>ArrayBlockingQueue</a:t>
            </a:r>
            <a:r>
              <a:rPr lang="en-US" sz="800" dirty="0"/>
              <a:t>, </a:t>
            </a:r>
            <a:r>
              <a:rPr lang="en-US" sz="800" dirty="0" err="1"/>
              <a:t>ArrayDeque</a:t>
            </a:r>
            <a:r>
              <a:rPr lang="en-US" sz="800" dirty="0"/>
              <a:t>, </a:t>
            </a:r>
            <a:r>
              <a:rPr lang="en-US" sz="800" dirty="0" err="1"/>
              <a:t>ArrayList</a:t>
            </a:r>
            <a:r>
              <a:rPr lang="en-US" sz="800" dirty="0"/>
              <a:t>, </a:t>
            </a:r>
            <a:r>
              <a:rPr lang="en-US" sz="800" dirty="0" err="1"/>
              <a:t>AttributeList</a:t>
            </a:r>
            <a:r>
              <a:rPr lang="en-US" sz="800" dirty="0"/>
              <a:t>, </a:t>
            </a:r>
            <a:r>
              <a:rPr lang="en-US" sz="800" dirty="0" err="1"/>
              <a:t>BeanContextServicesSupport</a:t>
            </a:r>
            <a:r>
              <a:rPr lang="en-US" sz="800" dirty="0"/>
              <a:t>, </a:t>
            </a:r>
            <a:r>
              <a:rPr lang="en-US" sz="800" dirty="0" err="1"/>
              <a:t>BeanContextSupport</a:t>
            </a:r>
            <a:r>
              <a:rPr lang="en-US" sz="800" dirty="0"/>
              <a:t>, </a:t>
            </a:r>
            <a:r>
              <a:rPr lang="en-US" sz="800" dirty="0" err="1"/>
              <a:t>ConcurrentHashMap.KeySetView</a:t>
            </a:r>
            <a:r>
              <a:rPr lang="en-US" sz="800" dirty="0"/>
              <a:t>, </a:t>
            </a:r>
            <a:r>
              <a:rPr lang="en-US" sz="800" dirty="0" err="1"/>
              <a:t>ConcurrentLinkedDeque</a:t>
            </a:r>
            <a:r>
              <a:rPr lang="en-US" sz="800" dirty="0"/>
              <a:t>, </a:t>
            </a:r>
            <a:r>
              <a:rPr lang="en-US" sz="800" dirty="0" err="1"/>
              <a:t>ConcurrentLinkedQueue</a:t>
            </a:r>
            <a:r>
              <a:rPr lang="en-US" sz="800" dirty="0"/>
              <a:t>, </a:t>
            </a:r>
            <a:r>
              <a:rPr lang="en-US" sz="800" dirty="0" err="1"/>
              <a:t>ConcurrentSkipListSet</a:t>
            </a:r>
            <a:r>
              <a:rPr lang="en-US" sz="800" dirty="0"/>
              <a:t>, </a:t>
            </a:r>
            <a:r>
              <a:rPr lang="en-US" sz="800" dirty="0" err="1"/>
              <a:t>CopyOnWriteArrayList</a:t>
            </a:r>
            <a:r>
              <a:rPr lang="en-US" sz="800" dirty="0"/>
              <a:t>, </a:t>
            </a:r>
            <a:r>
              <a:rPr lang="en-US" sz="800" dirty="0" err="1"/>
              <a:t>CopyOnWriteArraySet</a:t>
            </a:r>
            <a:r>
              <a:rPr lang="en-US" sz="800" dirty="0"/>
              <a:t>, </a:t>
            </a:r>
            <a:r>
              <a:rPr lang="en-US" sz="800" dirty="0" err="1"/>
              <a:t>DelayQueue</a:t>
            </a:r>
            <a:r>
              <a:rPr lang="en-US" sz="800" dirty="0"/>
              <a:t>, </a:t>
            </a:r>
            <a:r>
              <a:rPr lang="en-US" sz="800" dirty="0" err="1"/>
              <a:t>EnumSet</a:t>
            </a:r>
            <a:r>
              <a:rPr lang="en-US" sz="800" dirty="0"/>
              <a:t>, HashSet, </a:t>
            </a:r>
            <a:r>
              <a:rPr lang="en-US" sz="800" dirty="0" err="1"/>
              <a:t>JobStateReasons</a:t>
            </a:r>
            <a:r>
              <a:rPr lang="en-US" sz="800" dirty="0"/>
              <a:t>, </a:t>
            </a:r>
            <a:r>
              <a:rPr lang="en-US" sz="800" dirty="0" err="1"/>
              <a:t>LinkedBlockingDeque</a:t>
            </a:r>
            <a:r>
              <a:rPr lang="en-US" sz="800" dirty="0"/>
              <a:t>, </a:t>
            </a:r>
            <a:r>
              <a:rPr lang="en-US" sz="800" dirty="0" err="1"/>
              <a:t>LinkedBlockingQueue</a:t>
            </a:r>
            <a:r>
              <a:rPr lang="en-US" sz="800" dirty="0"/>
              <a:t>, </a:t>
            </a:r>
            <a:r>
              <a:rPr lang="en-US" sz="800" dirty="0" err="1"/>
              <a:t>LinkedHashSet</a:t>
            </a:r>
            <a:r>
              <a:rPr lang="en-US" sz="800" dirty="0"/>
              <a:t>, LinkedList, </a:t>
            </a:r>
            <a:r>
              <a:rPr lang="en-US" sz="800" dirty="0" err="1"/>
              <a:t>LinkedTransferQueue</a:t>
            </a:r>
            <a:r>
              <a:rPr lang="en-US" sz="800" dirty="0"/>
              <a:t>, </a:t>
            </a:r>
            <a:r>
              <a:rPr lang="en-US" sz="800" dirty="0" err="1"/>
              <a:t>PriorityBlockingQueue</a:t>
            </a:r>
            <a:r>
              <a:rPr lang="en-US" sz="800" dirty="0"/>
              <a:t>, </a:t>
            </a:r>
            <a:r>
              <a:rPr lang="en-US" sz="800" dirty="0" err="1"/>
              <a:t>PriorityQueue</a:t>
            </a:r>
            <a:r>
              <a:rPr lang="en-US" sz="800" dirty="0"/>
              <a:t>, </a:t>
            </a:r>
            <a:r>
              <a:rPr lang="en-US" sz="800" dirty="0" err="1"/>
              <a:t>RoleList</a:t>
            </a:r>
            <a:r>
              <a:rPr lang="en-US" sz="800" dirty="0"/>
              <a:t>, </a:t>
            </a:r>
            <a:r>
              <a:rPr lang="en-US" sz="800" dirty="0" err="1"/>
              <a:t>RoleUnresolvedList</a:t>
            </a:r>
            <a:r>
              <a:rPr lang="en-US" sz="800" dirty="0"/>
              <a:t>, Stack, </a:t>
            </a:r>
            <a:r>
              <a:rPr lang="en-US" sz="800" dirty="0" err="1"/>
              <a:t>SynchronousQueue</a:t>
            </a:r>
            <a:r>
              <a:rPr lang="en-US" sz="800" dirty="0"/>
              <a:t>, </a:t>
            </a:r>
            <a:r>
              <a:rPr lang="en-US" sz="800" dirty="0" err="1"/>
              <a:t>TreeSet</a:t>
            </a:r>
            <a:r>
              <a:rPr lang="en-US" sz="800" dirty="0"/>
              <a:t>, Vector</a:t>
            </a:r>
          </a:p>
        </p:txBody>
      </p:sp>
    </p:spTree>
    <p:extLst>
      <p:ext uri="{BB962C8B-B14F-4D97-AF65-F5344CB8AC3E}">
        <p14:creationId xmlns:p14="http://schemas.microsoft.com/office/powerpoint/2010/main" val="1932462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78485-DE71-66E8-6AE0-AA51550A983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29659C8-89F7-58CB-0FAF-1650F9319003}"/>
              </a:ext>
            </a:extLst>
          </p:cNvPr>
          <p:cNvSpPr txBox="1"/>
          <p:nvPr/>
        </p:nvSpPr>
        <p:spPr>
          <a:xfrm>
            <a:off x="228600" y="77381"/>
            <a:ext cx="9398000" cy="6812121"/>
          </a:xfrm>
          <a:prstGeom prst="rect">
            <a:avLst/>
          </a:prstGeom>
          <a:noFill/>
        </p:spPr>
        <p:txBody>
          <a:bodyPr wrap="square">
            <a:spAutoFit/>
          </a:bodyPr>
          <a:lstStyle/>
          <a:p>
            <a:pPr algn="l">
              <a:buNone/>
            </a:pPr>
            <a:r>
              <a:rPr lang="en-US" sz="1000" b="0" i="0" dirty="0">
                <a:solidFill>
                  <a:srgbClr val="353833"/>
                </a:solidFill>
                <a:effectLst/>
                <a:latin typeface="DejaVu Sans Mono"/>
              </a:rPr>
              <a:t>public interface </a:t>
            </a:r>
            <a:r>
              <a:rPr lang="en-US" sz="1000" b="1" i="0" dirty="0">
                <a:solidFill>
                  <a:srgbClr val="353833"/>
                </a:solidFill>
                <a:effectLst/>
                <a:latin typeface="DejaVu Sans Mono"/>
              </a:rPr>
              <a:t>Collection&lt;E&gt;</a:t>
            </a:r>
            <a:endParaRPr lang="en-US" sz="1000" b="0" i="0" dirty="0">
              <a:solidFill>
                <a:srgbClr val="353833"/>
              </a:solidFill>
              <a:effectLst/>
              <a:latin typeface="DejaVu Sans Mono"/>
            </a:endParaRPr>
          </a:p>
          <a:p>
            <a:pPr algn="l">
              <a:buNone/>
            </a:pPr>
            <a:r>
              <a:rPr lang="en-US" sz="1000" b="0" i="0" dirty="0">
                <a:solidFill>
                  <a:srgbClr val="353833"/>
                </a:solidFill>
                <a:effectLst/>
                <a:latin typeface="DejaVu Sans Mono"/>
              </a:rPr>
              <a:t>extends </a:t>
            </a:r>
            <a:r>
              <a:rPr lang="en-US" sz="1000" b="0" i="0" u="none" strike="noStrike" dirty="0" err="1">
                <a:solidFill>
                  <a:srgbClr val="4A6782"/>
                </a:solidFill>
                <a:effectLst/>
                <a:latin typeface="DejaVu Sans Mono"/>
                <a:hlinkClick r:id="rId2" tooltip="interface in java.lang"/>
              </a:rPr>
              <a:t>Iterable</a:t>
            </a:r>
            <a:r>
              <a:rPr lang="en-US" sz="1000" b="0" i="0" dirty="0">
                <a:solidFill>
                  <a:srgbClr val="353833"/>
                </a:solidFill>
                <a:effectLst/>
                <a:latin typeface="DejaVu Sans Mono"/>
              </a:rPr>
              <a:t>&lt;E&gt;</a:t>
            </a:r>
          </a:p>
          <a:p>
            <a:pPr algn="l">
              <a:spcBef>
                <a:spcPts val="225"/>
              </a:spcBef>
              <a:spcAft>
                <a:spcPts val="150"/>
              </a:spcAft>
              <a:buNone/>
            </a:pPr>
            <a:r>
              <a:rPr lang="en-US" sz="1000" b="0" i="0" dirty="0">
                <a:solidFill>
                  <a:srgbClr val="474747"/>
                </a:solidFill>
                <a:effectLst/>
                <a:latin typeface="DejaVu Serif"/>
              </a:rPr>
              <a:t>The root interface in the </a:t>
            </a:r>
            <a:r>
              <a:rPr lang="en-US" sz="1000" b="0" i="1" dirty="0">
                <a:solidFill>
                  <a:srgbClr val="474747"/>
                </a:solidFill>
                <a:effectLst/>
                <a:latin typeface="DejaVu Serif"/>
              </a:rPr>
              <a:t>collection hierarchy</a:t>
            </a:r>
            <a:r>
              <a:rPr lang="en-US" sz="1000" b="0" i="0" dirty="0">
                <a:solidFill>
                  <a:srgbClr val="474747"/>
                </a:solidFill>
                <a:effectLst/>
                <a:latin typeface="DejaVu Serif"/>
              </a:rPr>
              <a:t>. A collection represents a group of objects, known as its </a:t>
            </a:r>
            <a:r>
              <a:rPr lang="en-US" sz="1000" b="0" i="1" dirty="0">
                <a:solidFill>
                  <a:srgbClr val="474747"/>
                </a:solidFill>
                <a:effectLst/>
                <a:latin typeface="DejaVu Serif"/>
              </a:rPr>
              <a:t>elements</a:t>
            </a:r>
            <a:r>
              <a:rPr lang="en-US" sz="1000" b="0" i="0" dirty="0">
                <a:solidFill>
                  <a:srgbClr val="474747"/>
                </a:solidFill>
                <a:effectLst/>
                <a:latin typeface="DejaVu Serif"/>
              </a:rPr>
              <a:t>. Some collections allow duplicate elements and others do not. Some are ordered and others unordered. The JDK does not provide any </a:t>
            </a:r>
            <a:r>
              <a:rPr lang="en-US" sz="1000" b="0" i="1" dirty="0">
                <a:solidFill>
                  <a:srgbClr val="474747"/>
                </a:solidFill>
                <a:effectLst/>
                <a:latin typeface="DejaVu Serif"/>
              </a:rPr>
              <a:t>direct</a:t>
            </a:r>
            <a:r>
              <a:rPr lang="en-US" sz="1000" b="0" i="0" dirty="0">
                <a:solidFill>
                  <a:srgbClr val="474747"/>
                </a:solidFill>
                <a:effectLst/>
                <a:latin typeface="DejaVu Serif"/>
              </a:rPr>
              <a:t> implementations of this interface: it provides implementations of more specific </a:t>
            </a:r>
            <a:r>
              <a:rPr lang="en-US" sz="1000" b="0" i="0" dirty="0" err="1">
                <a:solidFill>
                  <a:srgbClr val="474747"/>
                </a:solidFill>
                <a:effectLst/>
                <a:latin typeface="DejaVu Serif"/>
              </a:rPr>
              <a:t>subinterfaces</a:t>
            </a:r>
            <a:r>
              <a:rPr lang="en-US" sz="1000" b="0" i="0" dirty="0">
                <a:solidFill>
                  <a:srgbClr val="474747"/>
                </a:solidFill>
                <a:effectLst/>
                <a:latin typeface="DejaVu Serif"/>
              </a:rPr>
              <a:t> like </a:t>
            </a:r>
            <a:r>
              <a:rPr lang="en-US" sz="1000" b="0" i="0" dirty="0">
                <a:solidFill>
                  <a:srgbClr val="474747"/>
                </a:solidFill>
                <a:effectLst/>
                <a:latin typeface="DejaVu Sans Mono"/>
              </a:rPr>
              <a:t>Set</a:t>
            </a:r>
            <a:r>
              <a:rPr lang="en-US" sz="1000" b="0" i="0" dirty="0">
                <a:solidFill>
                  <a:srgbClr val="474747"/>
                </a:solidFill>
                <a:effectLst/>
                <a:latin typeface="DejaVu Serif"/>
              </a:rPr>
              <a:t> and </a:t>
            </a:r>
            <a:r>
              <a:rPr lang="en-US" sz="1000" b="0" i="0" dirty="0">
                <a:solidFill>
                  <a:srgbClr val="474747"/>
                </a:solidFill>
                <a:effectLst/>
                <a:latin typeface="DejaVu Sans Mono"/>
              </a:rPr>
              <a:t>List</a:t>
            </a:r>
            <a:r>
              <a:rPr lang="en-US" sz="1000" b="0" i="0" dirty="0">
                <a:solidFill>
                  <a:srgbClr val="474747"/>
                </a:solidFill>
                <a:effectLst/>
                <a:latin typeface="DejaVu Serif"/>
              </a:rPr>
              <a:t>. This interface is typically used to pass collections around and manipulate them where maximum generality is desired.</a:t>
            </a:r>
          </a:p>
          <a:p>
            <a:pPr algn="l">
              <a:spcBef>
                <a:spcPts val="225"/>
              </a:spcBef>
              <a:spcAft>
                <a:spcPts val="150"/>
              </a:spcAft>
              <a:buNone/>
            </a:pPr>
            <a:r>
              <a:rPr lang="en-US" sz="1000" b="0" i="1" dirty="0">
                <a:solidFill>
                  <a:srgbClr val="474747"/>
                </a:solidFill>
                <a:effectLst/>
                <a:latin typeface="DejaVu Serif"/>
              </a:rPr>
              <a:t>Bags</a:t>
            </a:r>
            <a:r>
              <a:rPr lang="en-US" sz="1000" b="0" i="0" dirty="0">
                <a:solidFill>
                  <a:srgbClr val="474747"/>
                </a:solidFill>
                <a:effectLst/>
                <a:latin typeface="DejaVu Serif"/>
              </a:rPr>
              <a:t> or </a:t>
            </a:r>
            <a:r>
              <a:rPr lang="en-US" sz="1000" b="0" i="1" dirty="0">
                <a:solidFill>
                  <a:srgbClr val="474747"/>
                </a:solidFill>
                <a:effectLst/>
                <a:latin typeface="DejaVu Serif"/>
              </a:rPr>
              <a:t>multisets</a:t>
            </a:r>
            <a:r>
              <a:rPr lang="en-US" sz="1000" b="0" i="0" dirty="0">
                <a:solidFill>
                  <a:srgbClr val="474747"/>
                </a:solidFill>
                <a:effectLst/>
                <a:latin typeface="DejaVu Serif"/>
              </a:rPr>
              <a:t> (unordered collections that may contain duplicate elements) should implement this interface directly.</a:t>
            </a:r>
          </a:p>
          <a:p>
            <a:pPr algn="l">
              <a:spcBef>
                <a:spcPts val="225"/>
              </a:spcBef>
              <a:spcAft>
                <a:spcPts val="150"/>
              </a:spcAft>
              <a:buNone/>
            </a:pPr>
            <a:r>
              <a:rPr lang="en-US" sz="1000" b="0" i="0" dirty="0">
                <a:solidFill>
                  <a:srgbClr val="474747"/>
                </a:solidFill>
                <a:effectLst/>
                <a:latin typeface="DejaVu Serif"/>
              </a:rPr>
              <a:t>All general-purpose </a:t>
            </a:r>
            <a:r>
              <a:rPr lang="en-US" sz="1000" b="0" i="0" dirty="0">
                <a:solidFill>
                  <a:srgbClr val="474747"/>
                </a:solidFill>
                <a:effectLst/>
                <a:latin typeface="DejaVu Sans Mono"/>
              </a:rPr>
              <a:t>Collection</a:t>
            </a:r>
            <a:r>
              <a:rPr lang="en-US" sz="1000" b="0" i="0" dirty="0">
                <a:solidFill>
                  <a:srgbClr val="474747"/>
                </a:solidFill>
                <a:effectLst/>
                <a:latin typeface="DejaVu Serif"/>
              </a:rPr>
              <a:t> implementation classes (which typically implement </a:t>
            </a:r>
            <a:r>
              <a:rPr lang="en-US" sz="1000" b="0" i="0" dirty="0">
                <a:solidFill>
                  <a:srgbClr val="474747"/>
                </a:solidFill>
                <a:effectLst/>
                <a:latin typeface="DejaVu Sans Mono"/>
              </a:rPr>
              <a:t>Collection</a:t>
            </a:r>
            <a:r>
              <a:rPr lang="en-US" sz="1000" b="0" i="0" dirty="0">
                <a:solidFill>
                  <a:srgbClr val="474747"/>
                </a:solidFill>
                <a:effectLst/>
                <a:latin typeface="DejaVu Serif"/>
              </a:rPr>
              <a:t> indirectly through one of its </a:t>
            </a:r>
            <a:r>
              <a:rPr lang="en-US" sz="1000" b="0" i="0" dirty="0" err="1">
                <a:solidFill>
                  <a:srgbClr val="474747"/>
                </a:solidFill>
                <a:effectLst/>
                <a:latin typeface="DejaVu Serif"/>
              </a:rPr>
              <a:t>subinterfaces</a:t>
            </a:r>
            <a:r>
              <a:rPr lang="en-US" sz="1000" b="0" i="0" dirty="0">
                <a:solidFill>
                  <a:srgbClr val="474747"/>
                </a:solidFill>
                <a:effectLst/>
                <a:latin typeface="DejaVu Serif"/>
              </a:rPr>
              <a:t>) should provide two "standard" constructors: a void (no arguments) constructor, which creates an empty collection, and a constructor with a single argument of type </a:t>
            </a:r>
            <a:r>
              <a:rPr lang="en-US" sz="1000" b="0" i="0" dirty="0">
                <a:solidFill>
                  <a:srgbClr val="474747"/>
                </a:solidFill>
                <a:effectLst/>
                <a:latin typeface="DejaVu Sans Mono"/>
              </a:rPr>
              <a:t>Collection</a:t>
            </a:r>
            <a:r>
              <a:rPr lang="en-US" sz="1000" b="0" i="0" dirty="0">
                <a:solidFill>
                  <a:srgbClr val="474747"/>
                </a:solidFill>
                <a:effectLst/>
                <a:latin typeface="DejaVu Serif"/>
              </a:rPr>
              <a:t>, which creates a new collection with the same elements as its argument. In effect, the latter constructor allows the user to copy any collection, producing an equivalent collection of the desired implementation type. There is no way to enforce this convention (as interfaces cannot contain constructors) but all of the general-purpose </a:t>
            </a:r>
            <a:r>
              <a:rPr lang="en-US" sz="1000" b="0" i="0" dirty="0">
                <a:solidFill>
                  <a:srgbClr val="474747"/>
                </a:solidFill>
                <a:effectLst/>
                <a:latin typeface="DejaVu Sans Mono"/>
              </a:rPr>
              <a:t>Collection</a:t>
            </a:r>
            <a:r>
              <a:rPr lang="en-US" sz="1000" b="0" i="0" dirty="0">
                <a:solidFill>
                  <a:srgbClr val="474747"/>
                </a:solidFill>
                <a:effectLst/>
                <a:latin typeface="DejaVu Serif"/>
              </a:rPr>
              <a:t> implementations in the Java platform libraries comply.</a:t>
            </a:r>
          </a:p>
          <a:p>
            <a:pPr algn="l">
              <a:spcBef>
                <a:spcPts val="225"/>
              </a:spcBef>
              <a:spcAft>
                <a:spcPts val="150"/>
              </a:spcAft>
              <a:buNone/>
            </a:pPr>
            <a:r>
              <a:rPr lang="en-US" sz="1000" b="0" i="0" dirty="0">
                <a:solidFill>
                  <a:srgbClr val="474747"/>
                </a:solidFill>
                <a:effectLst/>
                <a:latin typeface="DejaVu Serif"/>
              </a:rPr>
              <a:t>The "destructive" methods contained in this interface, that is, the methods that modify the collection on which they operate, are specified to throw </a:t>
            </a:r>
            <a:r>
              <a:rPr lang="en-US" sz="1000" b="0" i="0" dirty="0" err="1">
                <a:solidFill>
                  <a:srgbClr val="474747"/>
                </a:solidFill>
                <a:effectLst/>
                <a:latin typeface="DejaVu Sans Mono"/>
              </a:rPr>
              <a:t>UnsupportedOperationException</a:t>
            </a:r>
            <a:r>
              <a:rPr lang="en-US" sz="1000" b="0" i="0" dirty="0">
                <a:solidFill>
                  <a:srgbClr val="474747"/>
                </a:solidFill>
                <a:effectLst/>
                <a:latin typeface="DejaVu Serif"/>
              </a:rPr>
              <a:t> if this collection does not support the operation. If this is the case, these methods may, but are not required to, throw an </a:t>
            </a:r>
            <a:r>
              <a:rPr lang="en-US" sz="1000" b="0" i="0" dirty="0" err="1">
                <a:solidFill>
                  <a:srgbClr val="474747"/>
                </a:solidFill>
                <a:effectLst/>
                <a:latin typeface="DejaVu Sans Mono"/>
              </a:rPr>
              <a:t>UnsupportedOperationException</a:t>
            </a:r>
            <a:r>
              <a:rPr lang="en-US" sz="1000" b="0" i="0" dirty="0">
                <a:solidFill>
                  <a:srgbClr val="474747"/>
                </a:solidFill>
                <a:effectLst/>
                <a:latin typeface="DejaVu Serif"/>
              </a:rPr>
              <a:t> if the invocation would have no effect on the collection. For example, invoking the </a:t>
            </a:r>
            <a:r>
              <a:rPr lang="en-US" sz="1000" b="0" i="0" u="none" strike="noStrike" dirty="0" err="1">
                <a:solidFill>
                  <a:srgbClr val="4A6782"/>
                </a:solidFill>
                <a:effectLst/>
                <a:latin typeface="DejaVu Sans Mono"/>
                <a:hlinkClick r:id="rId3"/>
              </a:rPr>
              <a:t>addAll</a:t>
            </a:r>
            <a:r>
              <a:rPr lang="en-US" sz="1000" b="0" i="0" u="none" strike="noStrike" dirty="0">
                <a:solidFill>
                  <a:srgbClr val="4A6782"/>
                </a:solidFill>
                <a:effectLst/>
                <a:latin typeface="DejaVu Sans Mono"/>
                <a:hlinkClick r:id="rId3"/>
              </a:rPr>
              <a:t>(Collection)</a:t>
            </a:r>
            <a:r>
              <a:rPr lang="en-US" sz="1000" b="0" i="0" dirty="0">
                <a:solidFill>
                  <a:srgbClr val="474747"/>
                </a:solidFill>
                <a:effectLst/>
                <a:latin typeface="DejaVu Serif"/>
              </a:rPr>
              <a:t> method on an unmodifiable collection may, but is not required to, throw the exception if the collection to be added is empty.</a:t>
            </a:r>
          </a:p>
          <a:p>
            <a:pPr algn="l">
              <a:spcBef>
                <a:spcPts val="225"/>
              </a:spcBef>
              <a:spcAft>
                <a:spcPts val="150"/>
              </a:spcAft>
              <a:buNone/>
            </a:pPr>
            <a:r>
              <a:rPr lang="en-US" sz="1000" b="0" i="0" dirty="0">
                <a:solidFill>
                  <a:srgbClr val="353833"/>
                </a:solidFill>
                <a:effectLst/>
                <a:latin typeface="DejaVu Serif"/>
              </a:rPr>
              <a:t>Some collection implementations have restrictions on the elements that they may contain.</a:t>
            </a:r>
            <a:r>
              <a:rPr lang="en-US" sz="1000" b="0" i="0" dirty="0">
                <a:solidFill>
                  <a:srgbClr val="474747"/>
                </a:solidFill>
                <a:effectLst/>
                <a:latin typeface="DejaVu Serif"/>
              </a:rPr>
              <a:t> For example, some implementations prohibit null elements, and some have restrictions on the types of their elements. Attempting to add an ineligible element throws an unchecked exception, typically </a:t>
            </a:r>
            <a:r>
              <a:rPr lang="en-US" sz="1000" b="0" i="0" dirty="0" err="1">
                <a:solidFill>
                  <a:srgbClr val="474747"/>
                </a:solidFill>
                <a:effectLst/>
                <a:latin typeface="DejaVu Sans Mono"/>
              </a:rPr>
              <a:t>NullPointerException</a:t>
            </a:r>
            <a:r>
              <a:rPr lang="en-US" sz="1000" b="0" i="0" dirty="0">
                <a:solidFill>
                  <a:srgbClr val="474747"/>
                </a:solidFill>
                <a:effectLst/>
                <a:latin typeface="DejaVu Serif"/>
              </a:rPr>
              <a:t> or </a:t>
            </a:r>
            <a:r>
              <a:rPr lang="en-US" sz="1000" b="0" i="0" dirty="0" err="1">
                <a:solidFill>
                  <a:srgbClr val="474747"/>
                </a:solidFill>
                <a:effectLst/>
                <a:latin typeface="DejaVu Sans Mono"/>
              </a:rPr>
              <a:t>ClassCastException</a:t>
            </a:r>
            <a:r>
              <a:rPr lang="en-US" sz="1000" b="0" i="0" dirty="0">
                <a:solidFill>
                  <a:srgbClr val="474747"/>
                </a:solidFill>
                <a:effectLst/>
                <a:latin typeface="DejaVu Serif"/>
              </a:rPr>
              <a:t>. Attempting to query the presence of an ineligible element may throw an exception, or it may simply return false; some implementations will exhibit the former behavior and some will exhibit the latter. More generally, attempting an operation on an ineligible element whose completion would not result in the insertion of an ineligible element into the collection may throw an exception or it may succeed, at the option of the implementation. Such exceptions are marked as "optional" in the specification for this interface.</a:t>
            </a:r>
          </a:p>
          <a:p>
            <a:pPr algn="l">
              <a:spcBef>
                <a:spcPts val="225"/>
              </a:spcBef>
              <a:spcAft>
                <a:spcPts val="150"/>
              </a:spcAft>
              <a:buNone/>
            </a:pPr>
            <a:r>
              <a:rPr lang="en-US" sz="1000" b="0" i="0" dirty="0">
                <a:solidFill>
                  <a:srgbClr val="474747"/>
                </a:solidFill>
                <a:effectLst/>
                <a:latin typeface="DejaVu Serif"/>
              </a:rPr>
              <a:t>It is up to each collection to determine its own synchronization policy. In the absence of a stronger guarantee by the implementation, undefined behavior may result from the invocation of any method on a collection that is being mutated by another thread; this includes direct invocations, passing the collection to a method that might perform invocations, and using an existing iterator to examine the collection.</a:t>
            </a:r>
          </a:p>
          <a:p>
            <a:pPr algn="l">
              <a:spcBef>
                <a:spcPts val="225"/>
              </a:spcBef>
              <a:spcAft>
                <a:spcPts val="150"/>
              </a:spcAft>
              <a:buNone/>
            </a:pPr>
            <a:r>
              <a:rPr lang="en-US" sz="1000" b="0" i="0" dirty="0">
                <a:solidFill>
                  <a:srgbClr val="474747"/>
                </a:solidFill>
                <a:effectLst/>
                <a:latin typeface="DejaVu Serif"/>
              </a:rPr>
              <a:t>Many methods in Collections Framework interfaces are defined in terms of the </a:t>
            </a:r>
            <a:r>
              <a:rPr lang="en-US" sz="1000" b="0" i="0" u="none" strike="noStrike" dirty="0">
                <a:solidFill>
                  <a:srgbClr val="4A6782"/>
                </a:solidFill>
                <a:effectLst/>
                <a:latin typeface="DejaVu Sans Mono"/>
                <a:hlinkClick r:id="rId4"/>
              </a:rPr>
              <a:t>equals</a:t>
            </a:r>
            <a:r>
              <a:rPr lang="en-US" sz="1000" b="0" i="0" dirty="0">
                <a:solidFill>
                  <a:srgbClr val="474747"/>
                </a:solidFill>
                <a:effectLst/>
                <a:latin typeface="DejaVu Serif"/>
              </a:rPr>
              <a:t> method. For example, the specification for the </a:t>
            </a:r>
            <a:r>
              <a:rPr lang="en-US" sz="1000" b="0" i="0" u="none" strike="noStrike" dirty="0">
                <a:solidFill>
                  <a:srgbClr val="4A6782"/>
                </a:solidFill>
                <a:effectLst/>
                <a:latin typeface="DejaVu Sans Mono"/>
                <a:hlinkClick r:id="rId5"/>
              </a:rPr>
              <a:t>contains(Object o)</a:t>
            </a:r>
            <a:r>
              <a:rPr lang="en-US" sz="1000" b="0" i="0" dirty="0">
                <a:solidFill>
                  <a:srgbClr val="474747"/>
                </a:solidFill>
                <a:effectLst/>
                <a:latin typeface="DejaVu Serif"/>
              </a:rPr>
              <a:t> method says: "returns </a:t>
            </a:r>
            <a:r>
              <a:rPr lang="en-US" sz="1000" b="0" i="0" dirty="0">
                <a:solidFill>
                  <a:srgbClr val="474747"/>
                </a:solidFill>
                <a:effectLst/>
                <a:latin typeface="DejaVu Sans Mono"/>
              </a:rPr>
              <a:t>true</a:t>
            </a:r>
            <a:r>
              <a:rPr lang="en-US" sz="1000" b="0" i="0" dirty="0">
                <a:solidFill>
                  <a:srgbClr val="474747"/>
                </a:solidFill>
                <a:effectLst/>
                <a:latin typeface="DejaVu Serif"/>
              </a:rPr>
              <a:t> if and only if this collection contains at least one element </a:t>
            </a:r>
            <a:r>
              <a:rPr lang="en-US" sz="1000" b="0" i="0" dirty="0">
                <a:solidFill>
                  <a:srgbClr val="474747"/>
                </a:solidFill>
                <a:effectLst/>
                <a:latin typeface="DejaVu Sans Mono"/>
              </a:rPr>
              <a:t>e</a:t>
            </a:r>
            <a:r>
              <a:rPr lang="en-US" sz="1000" b="0" i="0" dirty="0">
                <a:solidFill>
                  <a:srgbClr val="474747"/>
                </a:solidFill>
                <a:effectLst/>
                <a:latin typeface="DejaVu Serif"/>
              </a:rPr>
              <a:t> such that </a:t>
            </a:r>
            <a:r>
              <a:rPr lang="en-US" sz="1000" b="0" i="0" dirty="0">
                <a:solidFill>
                  <a:srgbClr val="474747"/>
                </a:solidFill>
                <a:effectLst/>
                <a:latin typeface="DejaVu Sans Mono"/>
              </a:rPr>
              <a:t>(o==null ? e==null : </a:t>
            </a:r>
            <a:r>
              <a:rPr lang="en-US" sz="1000" b="0" i="0" dirty="0" err="1">
                <a:solidFill>
                  <a:srgbClr val="474747"/>
                </a:solidFill>
                <a:effectLst/>
                <a:latin typeface="DejaVu Sans Mono"/>
              </a:rPr>
              <a:t>o.equals</a:t>
            </a:r>
            <a:r>
              <a:rPr lang="en-US" sz="1000" b="0" i="0" dirty="0">
                <a:solidFill>
                  <a:srgbClr val="474747"/>
                </a:solidFill>
                <a:effectLst/>
                <a:latin typeface="DejaVu Sans Mono"/>
              </a:rPr>
              <a:t>(e))</a:t>
            </a:r>
            <a:r>
              <a:rPr lang="en-US" sz="1000" b="0" i="0" dirty="0">
                <a:solidFill>
                  <a:srgbClr val="474747"/>
                </a:solidFill>
                <a:effectLst/>
                <a:latin typeface="DejaVu Serif"/>
              </a:rPr>
              <a:t>." This specification should </a:t>
            </a:r>
            <a:r>
              <a:rPr lang="en-US" sz="1000" b="0" i="1" dirty="0">
                <a:solidFill>
                  <a:srgbClr val="474747"/>
                </a:solidFill>
                <a:effectLst/>
                <a:latin typeface="DejaVu Serif"/>
              </a:rPr>
              <a:t>not</a:t>
            </a:r>
            <a:r>
              <a:rPr lang="en-US" sz="1000" b="0" i="0" dirty="0">
                <a:solidFill>
                  <a:srgbClr val="474747"/>
                </a:solidFill>
                <a:effectLst/>
                <a:latin typeface="DejaVu Serif"/>
              </a:rPr>
              <a:t> be construed to imply that invoking </a:t>
            </a:r>
            <a:r>
              <a:rPr lang="en-US" sz="1000" b="0" i="0" dirty="0" err="1">
                <a:solidFill>
                  <a:srgbClr val="474747"/>
                </a:solidFill>
                <a:effectLst/>
                <a:latin typeface="DejaVu Sans Mono"/>
              </a:rPr>
              <a:t>Collection.contains</a:t>
            </a:r>
            <a:r>
              <a:rPr lang="en-US" sz="1000" b="0" i="0" dirty="0">
                <a:solidFill>
                  <a:srgbClr val="474747"/>
                </a:solidFill>
                <a:effectLst/>
                <a:latin typeface="DejaVu Serif"/>
              </a:rPr>
              <a:t> with a non-null argument </a:t>
            </a:r>
            <a:r>
              <a:rPr lang="en-US" sz="1000" b="0" i="0" dirty="0">
                <a:solidFill>
                  <a:srgbClr val="474747"/>
                </a:solidFill>
                <a:effectLst/>
                <a:latin typeface="DejaVu Sans Mono"/>
              </a:rPr>
              <a:t>o</a:t>
            </a:r>
            <a:r>
              <a:rPr lang="en-US" sz="1000" b="0" i="0" dirty="0">
                <a:solidFill>
                  <a:srgbClr val="474747"/>
                </a:solidFill>
                <a:effectLst/>
                <a:latin typeface="DejaVu Serif"/>
              </a:rPr>
              <a:t> will cause </a:t>
            </a:r>
            <a:r>
              <a:rPr lang="en-US" sz="1000" b="0" i="0" dirty="0" err="1">
                <a:solidFill>
                  <a:srgbClr val="474747"/>
                </a:solidFill>
                <a:effectLst/>
                <a:latin typeface="DejaVu Sans Mono"/>
              </a:rPr>
              <a:t>o.equals</a:t>
            </a:r>
            <a:r>
              <a:rPr lang="en-US" sz="1000" b="0" i="0" dirty="0">
                <a:solidFill>
                  <a:srgbClr val="474747"/>
                </a:solidFill>
                <a:effectLst/>
                <a:latin typeface="DejaVu Sans Mono"/>
              </a:rPr>
              <a:t>(e)</a:t>
            </a:r>
            <a:r>
              <a:rPr lang="en-US" sz="1000" b="0" i="0" dirty="0">
                <a:solidFill>
                  <a:srgbClr val="474747"/>
                </a:solidFill>
                <a:effectLst/>
                <a:latin typeface="DejaVu Serif"/>
              </a:rPr>
              <a:t> to be invoked for any element </a:t>
            </a:r>
            <a:r>
              <a:rPr lang="en-US" sz="1000" b="0" i="0" dirty="0">
                <a:solidFill>
                  <a:srgbClr val="474747"/>
                </a:solidFill>
                <a:effectLst/>
                <a:latin typeface="DejaVu Sans Mono"/>
              </a:rPr>
              <a:t>e</a:t>
            </a:r>
            <a:r>
              <a:rPr lang="en-US" sz="1000" b="0" i="0" dirty="0">
                <a:solidFill>
                  <a:srgbClr val="474747"/>
                </a:solidFill>
                <a:effectLst/>
                <a:latin typeface="DejaVu Serif"/>
              </a:rPr>
              <a:t>. Implementations are free to implement optimizations whereby the </a:t>
            </a:r>
            <a:r>
              <a:rPr lang="en-US" sz="1000" b="0" i="0" dirty="0">
                <a:solidFill>
                  <a:srgbClr val="474747"/>
                </a:solidFill>
                <a:effectLst/>
                <a:latin typeface="DejaVu Sans Mono"/>
              </a:rPr>
              <a:t>equals</a:t>
            </a:r>
            <a:r>
              <a:rPr lang="en-US" sz="1000" b="0" i="0" dirty="0">
                <a:solidFill>
                  <a:srgbClr val="474747"/>
                </a:solidFill>
                <a:effectLst/>
                <a:latin typeface="DejaVu Serif"/>
              </a:rPr>
              <a:t> invocation is avoided, for example, by first comparing the hash codes of the two elements. (The </a:t>
            </a:r>
            <a:r>
              <a:rPr lang="en-US" sz="1000" b="0" i="0" u="none" strike="noStrike" dirty="0" err="1">
                <a:solidFill>
                  <a:srgbClr val="4A6782"/>
                </a:solidFill>
                <a:effectLst/>
                <a:latin typeface="DejaVu Sans Mono"/>
                <a:hlinkClick r:id="rId6"/>
              </a:rPr>
              <a:t>Object.hashCode</a:t>
            </a:r>
            <a:r>
              <a:rPr lang="en-US" sz="1000" b="0" i="0" u="none" strike="noStrike" dirty="0">
                <a:solidFill>
                  <a:srgbClr val="4A6782"/>
                </a:solidFill>
                <a:effectLst/>
                <a:latin typeface="DejaVu Sans Mono"/>
                <a:hlinkClick r:id="rId6"/>
              </a:rPr>
              <a:t>()</a:t>
            </a:r>
            <a:r>
              <a:rPr lang="en-US" sz="1000" b="0" i="0" dirty="0">
                <a:solidFill>
                  <a:srgbClr val="474747"/>
                </a:solidFill>
                <a:effectLst/>
                <a:latin typeface="DejaVu Serif"/>
              </a:rPr>
              <a:t> specification guarantees that two objects with unequal hash codes cannot be equal.) More generally, implementations of the various Collections Framework interfaces are free to take advantage of the specified behavior of underlying </a:t>
            </a:r>
            <a:r>
              <a:rPr lang="en-US" sz="1000" b="0" i="0" u="none" strike="noStrike" dirty="0">
                <a:solidFill>
                  <a:srgbClr val="4A6782"/>
                </a:solidFill>
                <a:effectLst/>
                <a:latin typeface="DejaVu Sans Mono"/>
                <a:hlinkClick r:id="rId7" tooltip="class in java.lang"/>
              </a:rPr>
              <a:t>Object</a:t>
            </a:r>
            <a:r>
              <a:rPr lang="en-US" sz="1000" b="0" i="0" dirty="0">
                <a:solidFill>
                  <a:srgbClr val="474747"/>
                </a:solidFill>
                <a:effectLst/>
                <a:latin typeface="DejaVu Serif"/>
              </a:rPr>
              <a:t> methods wherever the implementor deems it appropriate.</a:t>
            </a:r>
          </a:p>
          <a:p>
            <a:pPr algn="l">
              <a:spcBef>
                <a:spcPts val="225"/>
              </a:spcBef>
              <a:spcAft>
                <a:spcPts val="150"/>
              </a:spcAft>
              <a:buNone/>
            </a:pPr>
            <a:r>
              <a:rPr lang="en-US" sz="1000" b="0" i="0" dirty="0">
                <a:solidFill>
                  <a:srgbClr val="474747"/>
                </a:solidFill>
                <a:effectLst/>
                <a:latin typeface="DejaVu Serif"/>
              </a:rPr>
              <a:t>Some collection operations which perform recursive traversal of the collection may fail with an exception for self-referential instances where the collection directly or indirectly contains itself. This includes the </a:t>
            </a:r>
            <a:r>
              <a:rPr lang="en-US" sz="1000" b="0" i="0" dirty="0">
                <a:solidFill>
                  <a:srgbClr val="474747"/>
                </a:solidFill>
                <a:effectLst/>
                <a:latin typeface="DejaVu Sans Mono"/>
              </a:rPr>
              <a:t>clone()</a:t>
            </a:r>
            <a:r>
              <a:rPr lang="en-US" sz="1000" b="0" i="0" dirty="0">
                <a:solidFill>
                  <a:srgbClr val="474747"/>
                </a:solidFill>
                <a:effectLst/>
                <a:latin typeface="DejaVu Serif"/>
              </a:rPr>
              <a:t>, </a:t>
            </a:r>
            <a:r>
              <a:rPr lang="en-US" sz="1000" b="0" i="0" dirty="0">
                <a:solidFill>
                  <a:srgbClr val="474747"/>
                </a:solidFill>
                <a:effectLst/>
                <a:latin typeface="DejaVu Sans Mono"/>
              </a:rPr>
              <a:t>equals()</a:t>
            </a:r>
            <a:r>
              <a:rPr lang="en-US" sz="1000" b="0" i="0" dirty="0">
                <a:solidFill>
                  <a:srgbClr val="474747"/>
                </a:solidFill>
                <a:effectLst/>
                <a:latin typeface="DejaVu Serif"/>
              </a:rPr>
              <a:t>, </a:t>
            </a:r>
            <a:r>
              <a:rPr lang="en-US" sz="1000" b="0" i="0" dirty="0" err="1">
                <a:solidFill>
                  <a:srgbClr val="474747"/>
                </a:solidFill>
                <a:effectLst/>
                <a:latin typeface="DejaVu Sans Mono"/>
              </a:rPr>
              <a:t>hashCode</a:t>
            </a:r>
            <a:r>
              <a:rPr lang="en-US" sz="1000" b="0" i="0" dirty="0">
                <a:solidFill>
                  <a:srgbClr val="474747"/>
                </a:solidFill>
                <a:effectLst/>
                <a:latin typeface="DejaVu Sans Mono"/>
              </a:rPr>
              <a:t>()</a:t>
            </a:r>
            <a:r>
              <a:rPr lang="en-US" sz="1000" b="0" i="0" dirty="0">
                <a:solidFill>
                  <a:srgbClr val="474747"/>
                </a:solidFill>
                <a:effectLst/>
                <a:latin typeface="DejaVu Serif"/>
              </a:rPr>
              <a:t> and </a:t>
            </a:r>
            <a:r>
              <a:rPr lang="en-US" sz="1000" b="0" i="0" dirty="0" err="1">
                <a:solidFill>
                  <a:srgbClr val="474747"/>
                </a:solidFill>
                <a:effectLst/>
                <a:latin typeface="DejaVu Sans Mono"/>
              </a:rPr>
              <a:t>toString</a:t>
            </a:r>
            <a:r>
              <a:rPr lang="en-US" sz="1000" b="0" i="0" dirty="0">
                <a:solidFill>
                  <a:srgbClr val="474747"/>
                </a:solidFill>
                <a:effectLst/>
                <a:latin typeface="DejaVu Sans Mono"/>
              </a:rPr>
              <a:t>()</a:t>
            </a:r>
            <a:r>
              <a:rPr lang="en-US" sz="1000" b="0" i="0" dirty="0">
                <a:solidFill>
                  <a:srgbClr val="474747"/>
                </a:solidFill>
                <a:effectLst/>
                <a:latin typeface="DejaVu Serif"/>
              </a:rPr>
              <a:t> methods. Implementations may optionally handle the self-referential scenario, however most current implementations do not do so.</a:t>
            </a:r>
          </a:p>
          <a:p>
            <a:pPr algn="l">
              <a:spcBef>
                <a:spcPts val="225"/>
              </a:spcBef>
              <a:spcAft>
                <a:spcPts val="150"/>
              </a:spcAft>
              <a:buNone/>
            </a:pPr>
            <a:r>
              <a:rPr lang="en-US" sz="1000" b="0" i="0" dirty="0">
                <a:solidFill>
                  <a:srgbClr val="474747"/>
                </a:solidFill>
                <a:effectLst/>
                <a:latin typeface="DejaVu Serif"/>
              </a:rPr>
              <a:t>This interface is a member of the </a:t>
            </a:r>
            <a:r>
              <a:rPr lang="en-US" sz="1000" b="0" i="0" u="none" strike="noStrike" dirty="0">
                <a:solidFill>
                  <a:srgbClr val="4A6782"/>
                </a:solidFill>
                <a:effectLst/>
                <a:latin typeface="DejaVu Serif"/>
                <a:hlinkClick r:id="rId8"/>
              </a:rPr>
              <a:t>Java Collections Framework</a:t>
            </a:r>
            <a:r>
              <a:rPr lang="en-US" sz="1000" b="0" i="0" dirty="0">
                <a:solidFill>
                  <a:srgbClr val="474747"/>
                </a:solidFill>
                <a:effectLst/>
                <a:latin typeface="DejaVu Serif"/>
              </a:rPr>
              <a:t>.</a:t>
            </a:r>
          </a:p>
          <a:p>
            <a:pPr algn="l">
              <a:spcBef>
                <a:spcPts val="750"/>
              </a:spcBef>
              <a:buNone/>
            </a:pPr>
            <a:r>
              <a:rPr lang="en-US" sz="1000" b="1" i="0" dirty="0">
                <a:solidFill>
                  <a:srgbClr val="4E4E4E"/>
                </a:solidFill>
                <a:effectLst/>
                <a:latin typeface="DejaVu Sans"/>
              </a:rPr>
              <a:t>Implementation Requirements:</a:t>
            </a:r>
          </a:p>
          <a:p>
            <a:pPr algn="l">
              <a:spcBef>
                <a:spcPts val="375"/>
              </a:spcBef>
              <a:spcAft>
                <a:spcPts val="750"/>
              </a:spcAft>
              <a:buNone/>
            </a:pPr>
            <a:r>
              <a:rPr lang="en-US" sz="1000" b="0" i="0" dirty="0">
                <a:solidFill>
                  <a:srgbClr val="353833"/>
                </a:solidFill>
                <a:effectLst/>
                <a:latin typeface="DejaVu Sans Mono"/>
              </a:rPr>
              <a:t>The default method implementations (inherited or otherwise) do not apply any synchronization protocol. If a Collection implementation has a specific synchronization protocol, then it must override default implementations to apply that protocol.</a:t>
            </a:r>
          </a:p>
          <a:p>
            <a:pPr algn="l">
              <a:spcBef>
                <a:spcPts val="750"/>
              </a:spcBef>
              <a:buNone/>
            </a:pPr>
            <a:r>
              <a:rPr lang="en-US" sz="1000" b="1" i="0" dirty="0">
                <a:solidFill>
                  <a:srgbClr val="4E4E4E"/>
                </a:solidFill>
                <a:effectLst/>
                <a:latin typeface="DejaVu Sans"/>
              </a:rPr>
              <a:t>Since:</a:t>
            </a:r>
          </a:p>
          <a:p>
            <a:pPr algn="l">
              <a:spcBef>
                <a:spcPts val="375"/>
              </a:spcBef>
              <a:spcAft>
                <a:spcPts val="750"/>
              </a:spcAft>
              <a:buNone/>
            </a:pPr>
            <a:r>
              <a:rPr lang="en-US" sz="1000" b="0" i="0" dirty="0">
                <a:solidFill>
                  <a:srgbClr val="353833"/>
                </a:solidFill>
                <a:effectLst/>
                <a:latin typeface="DejaVu Sans Mono"/>
              </a:rPr>
              <a:t>1.2</a:t>
            </a:r>
          </a:p>
        </p:txBody>
      </p:sp>
    </p:spTree>
    <p:extLst>
      <p:ext uri="{BB962C8B-B14F-4D97-AF65-F5344CB8AC3E}">
        <p14:creationId xmlns:p14="http://schemas.microsoft.com/office/powerpoint/2010/main" val="2210746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0425-932B-8946-27EC-1555E0EDD691}"/>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55D13A60-9ADA-F2C0-4692-C40E8D7D98E5}"/>
              </a:ext>
            </a:extLst>
          </p:cNvPr>
          <p:cNvGraphicFramePr>
            <a:graphicFrameLocks noGrp="1"/>
          </p:cNvGraphicFramePr>
          <p:nvPr/>
        </p:nvGraphicFramePr>
        <p:xfrm>
          <a:off x="784122" y="1742842"/>
          <a:ext cx="8337755" cy="4770954"/>
        </p:xfrm>
        <a:graphic>
          <a:graphicData uri="http://schemas.openxmlformats.org/drawingml/2006/table">
            <a:tbl>
              <a:tblPr/>
              <a:tblGrid>
                <a:gridCol w="1974963">
                  <a:extLst>
                    <a:ext uri="{9D8B030D-6E8A-4147-A177-3AD203B41FA5}">
                      <a16:colId xmlns:a16="http://schemas.microsoft.com/office/drawing/2014/main" val="2402760378"/>
                    </a:ext>
                  </a:extLst>
                </a:gridCol>
                <a:gridCol w="2088656">
                  <a:extLst>
                    <a:ext uri="{9D8B030D-6E8A-4147-A177-3AD203B41FA5}">
                      <a16:colId xmlns:a16="http://schemas.microsoft.com/office/drawing/2014/main" val="374364987"/>
                    </a:ext>
                  </a:extLst>
                </a:gridCol>
                <a:gridCol w="4274136">
                  <a:extLst>
                    <a:ext uri="{9D8B030D-6E8A-4147-A177-3AD203B41FA5}">
                      <a16:colId xmlns:a16="http://schemas.microsoft.com/office/drawing/2014/main" val="4293214590"/>
                    </a:ext>
                  </a:extLst>
                </a:gridCol>
              </a:tblGrid>
              <a:tr h="166382">
                <a:tc>
                  <a:txBody>
                    <a:bodyPr/>
                    <a:lstStyle/>
                    <a:p>
                      <a:pPr algn="l" fontAlgn="t">
                        <a:buNone/>
                      </a:pPr>
                      <a:r>
                        <a:rPr lang="en-US" sz="800">
                          <a:effectLst/>
                        </a:rPr>
                        <a:t>Modifier and Type</a:t>
                      </a: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800">
                          <a:effectLst/>
                        </a:rPr>
                        <a:t>Method</a:t>
                      </a: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800">
                          <a:effectLst/>
                        </a:rPr>
                        <a:t>Description</a:t>
                      </a: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2519422209"/>
                  </a:ext>
                </a:extLst>
              </a:tr>
              <a:tr h="238548">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
                        </a:rPr>
                        <a:t>add</a:t>
                      </a:r>
                      <a:r>
                        <a:rPr lang="en-US" sz="800" b="0">
                          <a:effectLst/>
                          <a:latin typeface="DejaVu Sans Mono"/>
                        </a:rPr>
                        <a:t>(</a:t>
                      </a:r>
                      <a:r>
                        <a:rPr lang="en-US" sz="800" b="1" u="none" strike="noStrike">
                          <a:solidFill>
                            <a:srgbClr val="4A6782"/>
                          </a:solidFill>
                          <a:effectLst/>
                          <a:latin typeface="DejaVu Sans Mono"/>
                          <a:hlinkClick r:id="rId3" tooltip="type parameter in Collection"/>
                        </a:rPr>
                        <a:t>E</a:t>
                      </a:r>
                      <a:r>
                        <a:rPr lang="en-US" sz="800" b="0">
                          <a:effectLst/>
                          <a:latin typeface="DejaVu Sans Mono"/>
                        </a:rPr>
                        <a:t> e)</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Ensures that this collection contains the specified element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156114842"/>
                  </a:ext>
                </a:extLst>
              </a:tr>
              <a:tr h="310713">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4"/>
                        </a:rPr>
                        <a:t>addAll</a:t>
                      </a:r>
                      <a:r>
                        <a:rPr lang="en-US" sz="800" b="0">
                          <a:effectLst/>
                          <a:latin typeface="DejaVu Sans Mono"/>
                        </a:rPr>
                        <a:t>(</a:t>
                      </a:r>
                      <a:r>
                        <a:rPr lang="en-US" sz="800" b="1" u="none" strike="noStrike">
                          <a:solidFill>
                            <a:srgbClr val="4A6782"/>
                          </a:solidFill>
                          <a:effectLst/>
                          <a:latin typeface="DejaVu Sans Mono"/>
                          <a:hlinkClick r:id="rId3" tooltip="interface in java.util"/>
                        </a:rPr>
                        <a:t>Collection</a:t>
                      </a:r>
                      <a:r>
                        <a:rPr lang="en-US" sz="800" b="0">
                          <a:effectLst/>
                          <a:latin typeface="DejaVu Sans Mono"/>
                        </a:rPr>
                        <a:t>&lt;? extends </a:t>
                      </a:r>
                      <a:r>
                        <a:rPr lang="en-US" sz="800" b="1" u="none" strike="noStrike">
                          <a:solidFill>
                            <a:srgbClr val="4A6782"/>
                          </a:solidFill>
                          <a:effectLst/>
                          <a:latin typeface="DejaVu Sans Mono"/>
                          <a:hlinkClick r:id="rId3" tooltip="type parameter in Collection"/>
                        </a:rPr>
                        <a:t>E</a:t>
                      </a:r>
                      <a:r>
                        <a:rPr lang="en-US" sz="800" b="0">
                          <a:effectLst/>
                          <a:latin typeface="DejaVu Sans Mono"/>
                        </a:rPr>
                        <a:t>&gt; c)</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Adds all of the elements in the specified collection to this collection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270373830"/>
                  </a:ext>
                </a:extLst>
              </a:tr>
              <a:tr h="238548">
                <a:tc>
                  <a:txBody>
                    <a:bodyPr/>
                    <a:lstStyle/>
                    <a:p>
                      <a:pPr algn="l" fontAlgn="t">
                        <a:buNone/>
                      </a:pPr>
                      <a:r>
                        <a:rPr lang="en-US" sz="800">
                          <a:effectLst/>
                          <a:latin typeface="DejaVu Sans Mono"/>
                        </a:rPr>
                        <a:t>void</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5"/>
                        </a:rPr>
                        <a:t>clear</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Removes all of the elements from this collection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52483846"/>
                  </a:ext>
                </a:extLst>
              </a:tr>
              <a:tr h="166382">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6"/>
                        </a:rPr>
                        <a:t>contains</a:t>
                      </a:r>
                      <a:r>
                        <a:rPr lang="en-US" sz="800" b="0">
                          <a:effectLst/>
                          <a:latin typeface="DejaVu Sans Mono"/>
                        </a:rPr>
                        <a:t>(</a:t>
                      </a:r>
                      <a:r>
                        <a:rPr lang="en-US" sz="800" b="1" u="none" strike="noStrike">
                          <a:solidFill>
                            <a:srgbClr val="4A6782"/>
                          </a:solidFill>
                          <a:effectLst/>
                          <a:latin typeface="DejaVu Sans Mono"/>
                          <a:hlinkClick r:id="rId7" tooltip="class in java.lang"/>
                        </a:rPr>
                        <a:t>Object</a:t>
                      </a:r>
                      <a:r>
                        <a:rPr lang="en-US" sz="800" b="0">
                          <a:effectLst/>
                          <a:latin typeface="DejaVu Sans Mono"/>
                        </a:rPr>
                        <a:t> o)</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collection contains the specified element.</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797576870"/>
                  </a:ext>
                </a:extLst>
              </a:tr>
              <a:tr h="238548">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8"/>
                        </a:rPr>
                        <a:t>containsAll</a:t>
                      </a:r>
                      <a:r>
                        <a:rPr lang="en-US" sz="800" b="0">
                          <a:effectLst/>
                          <a:latin typeface="DejaVu Sans Mono"/>
                        </a:rPr>
                        <a:t>(</a:t>
                      </a:r>
                      <a:r>
                        <a:rPr lang="en-US" sz="800" b="1" u="none" strike="noStrike">
                          <a:solidFill>
                            <a:srgbClr val="4A6782"/>
                          </a:solidFill>
                          <a:effectLst/>
                          <a:latin typeface="DejaVu Sans Mono"/>
                          <a:hlinkClick r:id="rId3" tooltip="interface in java.util"/>
                        </a:rPr>
                        <a:t>Collection</a:t>
                      </a:r>
                      <a:r>
                        <a:rPr lang="en-US" sz="800" b="0">
                          <a:effectLst/>
                          <a:latin typeface="DejaVu Sans Mono"/>
                        </a:rPr>
                        <a:t>&lt;?&gt; c)</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collection contains all of the elements in the specified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87131422"/>
                  </a:ext>
                </a:extLst>
              </a:tr>
              <a:tr h="166382">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9"/>
                        </a:rPr>
                        <a:t>equals</a:t>
                      </a:r>
                      <a:r>
                        <a:rPr lang="en-US" sz="800" b="0">
                          <a:effectLst/>
                          <a:latin typeface="DejaVu Sans Mono"/>
                        </a:rPr>
                        <a:t>(</a:t>
                      </a:r>
                      <a:r>
                        <a:rPr lang="en-US" sz="800" b="1" u="none" strike="noStrike">
                          <a:solidFill>
                            <a:srgbClr val="4A6782"/>
                          </a:solidFill>
                          <a:effectLst/>
                          <a:latin typeface="DejaVu Sans Mono"/>
                          <a:hlinkClick r:id="rId7" tooltip="class in java.lang"/>
                        </a:rPr>
                        <a:t>Object</a:t>
                      </a:r>
                      <a:r>
                        <a:rPr lang="en-US" sz="800" b="0">
                          <a:effectLst/>
                          <a:latin typeface="DejaVu Sans Mono"/>
                        </a:rPr>
                        <a:t> o)</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Compares the specified object with this collection for equality.</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749829665"/>
                  </a:ext>
                </a:extLst>
              </a:tr>
              <a:tr h="166382">
                <a:tc>
                  <a:txBody>
                    <a:bodyPr/>
                    <a:lstStyle/>
                    <a:p>
                      <a:pPr algn="l" fontAlgn="t">
                        <a:buNone/>
                      </a:pPr>
                      <a:r>
                        <a:rPr lang="en-US" sz="800">
                          <a:effectLst/>
                          <a:latin typeface="DejaVu Sans Mono"/>
                        </a:rPr>
                        <a:t>int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0"/>
                        </a:rPr>
                        <a:t>hashCode</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the hash code value for this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251078389"/>
                  </a:ext>
                </a:extLst>
              </a:tr>
              <a:tr h="166382">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1"/>
                        </a:rPr>
                        <a:t>isEmpty</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collection contains no elements.</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158889402"/>
                  </a:ext>
                </a:extLst>
              </a:tr>
              <a:tr h="166382">
                <a:tc>
                  <a:txBody>
                    <a:bodyPr/>
                    <a:lstStyle/>
                    <a:p>
                      <a:pPr algn="l" fontAlgn="t">
                        <a:buNone/>
                      </a:pPr>
                      <a:r>
                        <a:rPr lang="en-US" sz="800" b="1" u="none" strike="noStrike">
                          <a:solidFill>
                            <a:srgbClr val="4A6782"/>
                          </a:solidFill>
                          <a:effectLst/>
                          <a:latin typeface="DejaVu Sans Mono"/>
                          <a:hlinkClick r:id="rId12" tooltip="interface in java.util"/>
                        </a:rPr>
                        <a:t>Iterator</a:t>
                      </a:r>
                      <a:r>
                        <a:rPr lang="en-US" sz="800">
                          <a:effectLst/>
                          <a:latin typeface="DejaVu Sans Mono"/>
                        </a:rPr>
                        <a:t>&lt;</a:t>
                      </a:r>
                      <a:r>
                        <a:rPr lang="en-US" sz="800" b="1" u="none" strike="noStrike">
                          <a:solidFill>
                            <a:srgbClr val="4A6782"/>
                          </a:solidFill>
                          <a:effectLst/>
                          <a:latin typeface="DejaVu Sans Mono"/>
                          <a:hlinkClick r:id="rId3" tooltip="type parameter in Collection"/>
                        </a:rPr>
                        <a:t>E</a:t>
                      </a:r>
                      <a:r>
                        <a:rPr lang="en-US" sz="800">
                          <a:effectLst/>
                          <a:latin typeface="DejaVu Sans Mono"/>
                        </a:rPr>
                        <a:t>&gt;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3"/>
                        </a:rPr>
                        <a:t>iterator</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an iterator over the elements in this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946484713"/>
                  </a:ext>
                </a:extLst>
              </a:tr>
              <a:tr h="238548">
                <a:tc>
                  <a:txBody>
                    <a:bodyPr/>
                    <a:lstStyle/>
                    <a:p>
                      <a:pPr algn="l" fontAlgn="t">
                        <a:buNone/>
                      </a:pPr>
                      <a:r>
                        <a:rPr lang="en-US" sz="800">
                          <a:effectLst/>
                          <a:latin typeface="DejaVu Sans Mono"/>
                        </a:rPr>
                        <a:t>default </a:t>
                      </a:r>
                      <a:r>
                        <a:rPr lang="en-US" sz="800" b="1" u="none" strike="noStrike">
                          <a:solidFill>
                            <a:srgbClr val="4A6782"/>
                          </a:solidFill>
                          <a:effectLst/>
                          <a:latin typeface="DejaVu Sans Mono"/>
                          <a:hlinkClick r:id="rId14" tooltip="interface in java.util.stream"/>
                        </a:rPr>
                        <a:t>Stream</a:t>
                      </a:r>
                      <a:r>
                        <a:rPr lang="en-US" sz="800">
                          <a:effectLst/>
                          <a:latin typeface="DejaVu Sans Mono"/>
                        </a:rPr>
                        <a:t>&lt;</a:t>
                      </a:r>
                      <a:r>
                        <a:rPr lang="en-US" sz="800" b="1" u="none" strike="noStrike">
                          <a:solidFill>
                            <a:srgbClr val="4A6782"/>
                          </a:solidFill>
                          <a:effectLst/>
                          <a:latin typeface="DejaVu Sans Mono"/>
                          <a:hlinkClick r:id="rId3" tooltip="type parameter in Collection"/>
                        </a:rPr>
                        <a:t>E</a:t>
                      </a:r>
                      <a:r>
                        <a:rPr lang="en-US" sz="800">
                          <a:effectLst/>
                          <a:latin typeface="DejaVu Sans Mono"/>
                        </a:rPr>
                        <a:t>&gt;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5"/>
                        </a:rPr>
                        <a:t>parallelStream</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dirty="0">
                          <a:solidFill>
                            <a:srgbClr val="474747"/>
                          </a:solidFill>
                          <a:effectLst/>
                          <a:latin typeface="DejaVu Serif"/>
                        </a:rPr>
                        <a:t>Returns a possibly parallel </a:t>
                      </a:r>
                      <a:r>
                        <a:rPr lang="en-US" sz="800" dirty="0">
                          <a:solidFill>
                            <a:srgbClr val="474747"/>
                          </a:solidFill>
                          <a:effectLst/>
                          <a:latin typeface="DejaVu Sans Mono"/>
                        </a:rPr>
                        <a:t>Stream</a:t>
                      </a:r>
                      <a:r>
                        <a:rPr lang="en-US" sz="800" dirty="0">
                          <a:solidFill>
                            <a:srgbClr val="474747"/>
                          </a:solidFill>
                          <a:effectLst/>
                          <a:latin typeface="DejaVu Serif"/>
                        </a:rPr>
                        <a:t> with this collection as its source.</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51654481"/>
                  </a:ext>
                </a:extLst>
              </a:tr>
              <a:tr h="310713">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6"/>
                        </a:rPr>
                        <a:t>remove</a:t>
                      </a:r>
                      <a:r>
                        <a:rPr lang="en-US" sz="800" b="0">
                          <a:effectLst/>
                          <a:latin typeface="DejaVu Sans Mono"/>
                        </a:rPr>
                        <a:t>(</a:t>
                      </a:r>
                      <a:r>
                        <a:rPr lang="en-US" sz="800" b="1" u="none" strike="noStrike">
                          <a:solidFill>
                            <a:srgbClr val="4A6782"/>
                          </a:solidFill>
                          <a:effectLst/>
                          <a:latin typeface="DejaVu Sans Mono"/>
                          <a:hlinkClick r:id="rId7" tooltip="class in java.lang"/>
                        </a:rPr>
                        <a:t>Object</a:t>
                      </a:r>
                      <a:r>
                        <a:rPr lang="en-US" sz="800" b="0">
                          <a:effectLst/>
                          <a:latin typeface="DejaVu Sans Mono"/>
                        </a:rPr>
                        <a:t> o)</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dirty="0">
                          <a:solidFill>
                            <a:srgbClr val="474747"/>
                          </a:solidFill>
                          <a:effectLst/>
                          <a:latin typeface="DejaVu Serif"/>
                        </a:rPr>
                        <a:t>Removes a single instance of the specified element from this collection, if it is present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224190967"/>
                  </a:ext>
                </a:extLst>
              </a:tr>
              <a:tr h="310713">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7"/>
                        </a:rPr>
                        <a:t>removeAll</a:t>
                      </a:r>
                      <a:r>
                        <a:rPr lang="en-US" sz="800" b="0">
                          <a:effectLst/>
                          <a:latin typeface="DejaVu Sans Mono"/>
                        </a:rPr>
                        <a:t>(</a:t>
                      </a:r>
                      <a:r>
                        <a:rPr lang="en-US" sz="800" b="1" u="none" strike="noStrike">
                          <a:solidFill>
                            <a:srgbClr val="4A6782"/>
                          </a:solidFill>
                          <a:effectLst/>
                          <a:latin typeface="DejaVu Sans Mono"/>
                          <a:hlinkClick r:id="rId3" tooltip="interface in java.util"/>
                        </a:rPr>
                        <a:t>Collection</a:t>
                      </a:r>
                      <a:r>
                        <a:rPr lang="en-US" sz="800" b="0">
                          <a:effectLst/>
                          <a:latin typeface="DejaVu Sans Mono"/>
                        </a:rPr>
                        <a:t>&lt;?&gt; c)</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Removes all of this collection's elements that are also contained in the specified collection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952409471"/>
                  </a:ext>
                </a:extLst>
              </a:tr>
              <a:tr h="310713">
                <a:tc>
                  <a:txBody>
                    <a:bodyPr/>
                    <a:lstStyle/>
                    <a:p>
                      <a:pPr algn="l" fontAlgn="t">
                        <a:buNone/>
                      </a:pPr>
                      <a:r>
                        <a:rPr lang="en-US" sz="800">
                          <a:effectLst/>
                          <a:latin typeface="DejaVu Sans Mono"/>
                        </a:rPr>
                        <a:t>default 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8"/>
                        </a:rPr>
                        <a:t>removeIf</a:t>
                      </a:r>
                      <a:r>
                        <a:rPr lang="en-US" sz="800" b="0">
                          <a:effectLst/>
                          <a:latin typeface="DejaVu Sans Mono"/>
                        </a:rPr>
                        <a:t>(</a:t>
                      </a:r>
                      <a:r>
                        <a:rPr lang="en-US" sz="800" b="1" u="none" strike="noStrike">
                          <a:solidFill>
                            <a:srgbClr val="4A6782"/>
                          </a:solidFill>
                          <a:effectLst/>
                          <a:latin typeface="DejaVu Sans Mono"/>
                          <a:hlinkClick r:id="rId19" tooltip="interface in java.util.function"/>
                        </a:rPr>
                        <a:t>Predicate</a:t>
                      </a:r>
                      <a:r>
                        <a:rPr lang="en-US" sz="800" b="0">
                          <a:effectLst/>
                          <a:latin typeface="DejaVu Sans Mono"/>
                        </a:rPr>
                        <a:t>&lt;? super </a:t>
                      </a:r>
                      <a:r>
                        <a:rPr lang="en-US" sz="800" b="1" u="none" strike="noStrike">
                          <a:solidFill>
                            <a:srgbClr val="4A6782"/>
                          </a:solidFill>
                          <a:effectLst/>
                          <a:latin typeface="DejaVu Sans Mono"/>
                          <a:hlinkClick r:id="rId3" tooltip="type parameter in Collection"/>
                        </a:rPr>
                        <a:t>E</a:t>
                      </a:r>
                      <a:r>
                        <a:rPr lang="en-US" sz="800" b="0">
                          <a:effectLst/>
                          <a:latin typeface="DejaVu Sans Mono"/>
                        </a:rPr>
                        <a:t>&gt; filter)</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Removes all of the elements of this collection that satisfy the given predicate.</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933785133"/>
                  </a:ext>
                </a:extLst>
              </a:tr>
              <a:tr h="310713">
                <a:tc>
                  <a:txBody>
                    <a:bodyPr/>
                    <a:lstStyle/>
                    <a:p>
                      <a:pPr algn="l" fontAlgn="t">
                        <a:buNone/>
                      </a:pPr>
                      <a:r>
                        <a:rPr lang="en-US" sz="800">
                          <a:effectLst/>
                          <a:latin typeface="DejaVu Sans Mono"/>
                        </a:rPr>
                        <a:t>boolean</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0"/>
                        </a:rPr>
                        <a:t>retainAll</a:t>
                      </a:r>
                      <a:r>
                        <a:rPr lang="en-US" sz="800" b="0">
                          <a:effectLst/>
                          <a:latin typeface="DejaVu Sans Mono"/>
                        </a:rPr>
                        <a:t>(</a:t>
                      </a:r>
                      <a:r>
                        <a:rPr lang="en-US" sz="800" b="1" u="none" strike="noStrike">
                          <a:solidFill>
                            <a:srgbClr val="4A6782"/>
                          </a:solidFill>
                          <a:effectLst/>
                          <a:latin typeface="DejaVu Sans Mono"/>
                          <a:hlinkClick r:id="rId3" tooltip="interface in java.util"/>
                        </a:rPr>
                        <a:t>Collection</a:t>
                      </a:r>
                      <a:r>
                        <a:rPr lang="en-US" sz="800" b="0">
                          <a:effectLst/>
                          <a:latin typeface="DejaVu Sans Mono"/>
                        </a:rPr>
                        <a:t>&lt;?&gt; c)</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Retains only the elements in this collection that are contained in the specified collection (optional operation).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364218944"/>
                  </a:ext>
                </a:extLst>
              </a:tr>
              <a:tr h="166382">
                <a:tc>
                  <a:txBody>
                    <a:bodyPr/>
                    <a:lstStyle/>
                    <a:p>
                      <a:pPr algn="l" fontAlgn="t">
                        <a:buNone/>
                      </a:pPr>
                      <a:r>
                        <a:rPr lang="en-US" sz="800">
                          <a:effectLst/>
                          <a:latin typeface="DejaVu Sans Mono"/>
                        </a:rPr>
                        <a:t>int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1"/>
                        </a:rPr>
                        <a:t>size</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the number of elements in this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017125199"/>
                  </a:ext>
                </a:extLst>
              </a:tr>
              <a:tr h="238548">
                <a:tc>
                  <a:txBody>
                    <a:bodyPr/>
                    <a:lstStyle/>
                    <a:p>
                      <a:pPr algn="l" fontAlgn="t">
                        <a:buNone/>
                      </a:pPr>
                      <a:r>
                        <a:rPr lang="en-US" sz="800">
                          <a:effectLst/>
                          <a:latin typeface="DejaVu Sans Mono"/>
                        </a:rPr>
                        <a:t>default </a:t>
                      </a:r>
                      <a:r>
                        <a:rPr lang="en-US" sz="800" b="1" u="none" strike="noStrike">
                          <a:solidFill>
                            <a:srgbClr val="4A6782"/>
                          </a:solidFill>
                          <a:effectLst/>
                          <a:latin typeface="DejaVu Sans Mono"/>
                          <a:hlinkClick r:id="rId22" tooltip="interface in java.util"/>
                        </a:rPr>
                        <a:t>Spliterator</a:t>
                      </a:r>
                      <a:r>
                        <a:rPr lang="en-US" sz="800">
                          <a:effectLst/>
                          <a:latin typeface="DejaVu Sans Mono"/>
                        </a:rPr>
                        <a:t>&lt;</a:t>
                      </a:r>
                      <a:r>
                        <a:rPr lang="en-US" sz="800" b="1" u="none" strike="noStrike">
                          <a:solidFill>
                            <a:srgbClr val="4A6782"/>
                          </a:solidFill>
                          <a:effectLst/>
                          <a:latin typeface="DejaVu Sans Mono"/>
                          <a:hlinkClick r:id="rId3" tooltip="type parameter in Collection"/>
                        </a:rPr>
                        <a:t>E</a:t>
                      </a:r>
                      <a:r>
                        <a:rPr lang="en-US" sz="800">
                          <a:effectLst/>
                          <a:latin typeface="DejaVu Sans Mono"/>
                        </a:rPr>
                        <a:t>&gt;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3"/>
                        </a:rPr>
                        <a:t>spliterator</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Creates a </a:t>
                      </a:r>
                      <a:r>
                        <a:rPr lang="en-US" sz="800" b="1" u="none" strike="noStrike">
                          <a:solidFill>
                            <a:srgbClr val="4A6782"/>
                          </a:solidFill>
                          <a:effectLst/>
                          <a:latin typeface="DejaVu Sans Mono"/>
                          <a:hlinkClick r:id="rId22" tooltip="interface in java.util"/>
                        </a:rPr>
                        <a:t>Spliterator</a:t>
                      </a:r>
                      <a:r>
                        <a:rPr lang="en-US" sz="800">
                          <a:solidFill>
                            <a:srgbClr val="474747"/>
                          </a:solidFill>
                          <a:effectLst/>
                          <a:latin typeface="DejaVu Serif"/>
                        </a:rPr>
                        <a:t> over the elements in this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796870974"/>
                  </a:ext>
                </a:extLst>
              </a:tr>
              <a:tr h="238548">
                <a:tc>
                  <a:txBody>
                    <a:bodyPr/>
                    <a:lstStyle/>
                    <a:p>
                      <a:pPr algn="l" fontAlgn="t">
                        <a:buNone/>
                      </a:pPr>
                      <a:r>
                        <a:rPr lang="en-US" sz="800">
                          <a:effectLst/>
                          <a:latin typeface="DejaVu Sans Mono"/>
                        </a:rPr>
                        <a:t>default </a:t>
                      </a:r>
                      <a:r>
                        <a:rPr lang="en-US" sz="800" b="1" u="none" strike="noStrike">
                          <a:solidFill>
                            <a:srgbClr val="4A6782"/>
                          </a:solidFill>
                          <a:effectLst/>
                          <a:latin typeface="DejaVu Sans Mono"/>
                          <a:hlinkClick r:id="rId14" tooltip="interface in java.util.stream"/>
                        </a:rPr>
                        <a:t>Stream</a:t>
                      </a:r>
                      <a:r>
                        <a:rPr lang="en-US" sz="800">
                          <a:effectLst/>
                          <a:latin typeface="DejaVu Sans Mono"/>
                        </a:rPr>
                        <a:t>&lt;</a:t>
                      </a:r>
                      <a:r>
                        <a:rPr lang="en-US" sz="800" b="1" u="none" strike="noStrike">
                          <a:solidFill>
                            <a:srgbClr val="4A6782"/>
                          </a:solidFill>
                          <a:effectLst/>
                          <a:latin typeface="DejaVu Sans Mono"/>
                          <a:hlinkClick r:id="rId3" tooltip="type parameter in Collection"/>
                        </a:rPr>
                        <a:t>E</a:t>
                      </a:r>
                      <a:r>
                        <a:rPr lang="en-US" sz="800">
                          <a:effectLst/>
                          <a:latin typeface="DejaVu Sans Mono"/>
                        </a:rPr>
                        <a:t>&gt;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4"/>
                        </a:rPr>
                        <a:t>stream</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 sequential </a:t>
                      </a:r>
                      <a:r>
                        <a:rPr lang="en-US" sz="800">
                          <a:solidFill>
                            <a:srgbClr val="474747"/>
                          </a:solidFill>
                          <a:effectLst/>
                          <a:latin typeface="DejaVu Sans Mono"/>
                        </a:rPr>
                        <a:t>Stream</a:t>
                      </a:r>
                      <a:r>
                        <a:rPr lang="en-US" sz="800">
                          <a:solidFill>
                            <a:srgbClr val="474747"/>
                          </a:solidFill>
                          <a:effectLst/>
                          <a:latin typeface="DejaVu Serif"/>
                        </a:rPr>
                        <a:t> with this collection as its source.</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730244718"/>
                  </a:ext>
                </a:extLst>
              </a:tr>
              <a:tr h="238548">
                <a:tc>
                  <a:txBody>
                    <a:bodyPr/>
                    <a:lstStyle/>
                    <a:p>
                      <a:pPr algn="l" fontAlgn="t">
                        <a:buNone/>
                      </a:pPr>
                      <a:r>
                        <a:rPr lang="en-US" sz="800" b="1" u="none" strike="noStrike">
                          <a:solidFill>
                            <a:srgbClr val="4A6782"/>
                          </a:solidFill>
                          <a:effectLst/>
                          <a:latin typeface="DejaVu Sans Mono"/>
                          <a:hlinkClick r:id="rId7" tooltip="class in java.lang"/>
                        </a:rPr>
                        <a:t>Object</a:t>
                      </a:r>
                      <a:r>
                        <a:rPr lang="en-US" sz="800">
                          <a:effectLst/>
                          <a:latin typeface="DejaVu Sans Mono"/>
                        </a:rPr>
                        <a: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5"/>
                        </a:rPr>
                        <a:t>toArray</a:t>
                      </a:r>
                      <a:r>
                        <a:rPr lang="en-US" sz="800" b="0">
                          <a:effectLst/>
                          <a:latin typeface="DejaVu Sans Mono"/>
                        </a:rPr>
                        <a:t>()</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an array containing all of the elements in this collection.</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858328863"/>
                  </a:ext>
                </a:extLst>
              </a:tr>
              <a:tr h="382879">
                <a:tc>
                  <a:txBody>
                    <a:bodyPr/>
                    <a:lstStyle/>
                    <a:p>
                      <a:pPr algn="l" fontAlgn="t">
                        <a:buNone/>
                      </a:pPr>
                      <a:r>
                        <a:rPr lang="en-US" sz="800">
                          <a:effectLst/>
                          <a:latin typeface="DejaVu Sans Mono"/>
                        </a:rPr>
                        <a:t>&lt;T&gt; T[]</a:t>
                      </a:r>
                      <a:endParaRPr lang="en-US" sz="800">
                        <a:effectLst/>
                      </a:endParaRP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6"/>
                        </a:rPr>
                        <a:t>toArray</a:t>
                      </a:r>
                      <a:r>
                        <a:rPr lang="en-US" sz="800" b="0">
                          <a:effectLst/>
                          <a:latin typeface="DejaVu Sans Mono"/>
                        </a:rPr>
                        <a:t>(T[] a)</a:t>
                      </a:r>
                      <a:endParaRPr lang="en-US" sz="800" b="0">
                        <a:effectLst/>
                      </a:endParaRPr>
                    </a:p>
                  </a:txBody>
                  <a:tcPr marL="12798"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dirty="0">
                          <a:solidFill>
                            <a:srgbClr val="474747"/>
                          </a:solidFill>
                          <a:effectLst/>
                          <a:latin typeface="DejaVu Serif"/>
                        </a:rPr>
                        <a:t>Returns an array containing all of the elements in this collection; the runtime type of the returned array is that of the specified array.</a:t>
                      </a:r>
                    </a:p>
                  </a:txBody>
                  <a:tcPr marL="18283" marR="5485" marT="14626" marB="5485">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799775827"/>
                  </a:ext>
                </a:extLst>
              </a:tr>
            </a:tbl>
          </a:graphicData>
        </a:graphic>
      </p:graphicFrame>
      <p:sp>
        <p:nvSpPr>
          <p:cNvPr id="10" name="TextBox 9">
            <a:extLst>
              <a:ext uri="{FF2B5EF4-FFF2-40B4-BE49-F238E27FC236}">
                <a16:creationId xmlns:a16="http://schemas.microsoft.com/office/drawing/2014/main" id="{FB7B3953-0D71-A918-1E2A-7B679D7195AC}"/>
              </a:ext>
            </a:extLst>
          </p:cNvPr>
          <p:cNvSpPr txBox="1"/>
          <p:nvPr/>
        </p:nvSpPr>
        <p:spPr>
          <a:xfrm>
            <a:off x="1257300" y="1009650"/>
            <a:ext cx="1361270" cy="369332"/>
          </a:xfrm>
          <a:prstGeom prst="rect">
            <a:avLst/>
          </a:prstGeom>
          <a:noFill/>
        </p:spPr>
        <p:txBody>
          <a:bodyPr wrap="none" rtlCol="0">
            <a:spAutoFit/>
          </a:bodyPr>
          <a:lstStyle/>
          <a:p>
            <a:r>
              <a:rPr lang="en-US" dirty="0"/>
              <a:t>All Methods</a:t>
            </a:r>
          </a:p>
        </p:txBody>
      </p:sp>
      <p:sp>
        <p:nvSpPr>
          <p:cNvPr id="5" name="TextBox 4">
            <a:extLst>
              <a:ext uri="{FF2B5EF4-FFF2-40B4-BE49-F238E27FC236}">
                <a16:creationId xmlns:a16="http://schemas.microsoft.com/office/drawing/2014/main" id="{4D039125-B7A2-95C7-DD8A-D441FB548024}"/>
              </a:ext>
            </a:extLst>
          </p:cNvPr>
          <p:cNvSpPr txBox="1"/>
          <p:nvPr/>
        </p:nvSpPr>
        <p:spPr>
          <a:xfrm>
            <a:off x="4948518" y="288940"/>
            <a:ext cx="4957482" cy="1090042"/>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java.lang.</a:t>
            </a:r>
            <a:r>
              <a:rPr lang="en-US" b="1" i="0" u="none" strike="noStrike" dirty="0" err="1">
                <a:solidFill>
                  <a:srgbClr val="4A6782"/>
                </a:solidFill>
                <a:effectLst/>
                <a:latin typeface="DejaVu Sans"/>
                <a:hlinkClick r:id="rId27" tooltip="interface in java.lang"/>
              </a:rPr>
              <a:t>Iterable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28"/>
              </a:rPr>
              <a:t>forEach</a:t>
            </a:r>
            <a:endParaRPr lang="en-US" b="0" i="0" dirty="0">
              <a:solidFill>
                <a:srgbClr val="353833"/>
              </a:solidFill>
              <a:effectLst/>
              <a:latin typeface="DejaVu Sans"/>
            </a:endParaRPr>
          </a:p>
        </p:txBody>
      </p:sp>
      <p:sp>
        <p:nvSpPr>
          <p:cNvPr id="6" name="TextBox 5">
            <a:extLst>
              <a:ext uri="{FF2B5EF4-FFF2-40B4-BE49-F238E27FC236}">
                <a16:creationId xmlns:a16="http://schemas.microsoft.com/office/drawing/2014/main" id="{D116BE07-02BC-5F7A-F4C8-8AC54C7B1D25}"/>
              </a:ext>
            </a:extLst>
          </p:cNvPr>
          <p:cNvSpPr txBox="1"/>
          <p:nvPr/>
        </p:nvSpPr>
        <p:spPr>
          <a:xfrm>
            <a:off x="2797857" y="1191580"/>
            <a:ext cx="1971374" cy="369332"/>
          </a:xfrm>
          <a:prstGeom prst="rect">
            <a:avLst/>
          </a:prstGeom>
          <a:noFill/>
        </p:spPr>
        <p:txBody>
          <a:bodyPr wrap="none" rtlCol="0">
            <a:spAutoFit/>
          </a:bodyPr>
          <a:lstStyle/>
          <a:p>
            <a:r>
              <a:rPr lang="en-US" dirty="0"/>
              <a:t>Instance Methods</a:t>
            </a:r>
          </a:p>
        </p:txBody>
      </p:sp>
    </p:spTree>
    <p:extLst>
      <p:ext uri="{BB962C8B-B14F-4D97-AF65-F5344CB8AC3E}">
        <p14:creationId xmlns:p14="http://schemas.microsoft.com/office/powerpoint/2010/main" val="2842448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EB697E3F-F242-72C7-9222-97442736C37A}"/>
              </a:ext>
            </a:extLst>
          </p:cNvPr>
          <p:cNvGraphicFramePr>
            <a:graphicFrameLocks noGrp="1"/>
          </p:cNvGraphicFramePr>
          <p:nvPr/>
        </p:nvGraphicFramePr>
        <p:xfrm>
          <a:off x="4012799" y="1464590"/>
          <a:ext cx="1880402" cy="5073408"/>
        </p:xfrm>
        <a:graphic>
          <a:graphicData uri="http://schemas.openxmlformats.org/drawingml/2006/table">
            <a:tbl>
              <a:tblPr/>
              <a:tblGrid>
                <a:gridCol w="445411">
                  <a:extLst>
                    <a:ext uri="{9D8B030D-6E8A-4147-A177-3AD203B41FA5}">
                      <a16:colId xmlns:a16="http://schemas.microsoft.com/office/drawing/2014/main" val="1283121738"/>
                    </a:ext>
                  </a:extLst>
                </a:gridCol>
                <a:gridCol w="471051">
                  <a:extLst>
                    <a:ext uri="{9D8B030D-6E8A-4147-A177-3AD203B41FA5}">
                      <a16:colId xmlns:a16="http://schemas.microsoft.com/office/drawing/2014/main" val="4206584845"/>
                    </a:ext>
                  </a:extLst>
                </a:gridCol>
                <a:gridCol w="963940">
                  <a:extLst>
                    <a:ext uri="{9D8B030D-6E8A-4147-A177-3AD203B41FA5}">
                      <a16:colId xmlns:a16="http://schemas.microsoft.com/office/drawing/2014/main" val="1842648576"/>
                    </a:ext>
                  </a:extLst>
                </a:gridCol>
              </a:tblGrid>
              <a:tr h="193341">
                <a:tc>
                  <a:txBody>
                    <a:bodyPr/>
                    <a:lstStyle/>
                    <a:p>
                      <a:pPr algn="l" fontAlgn="t">
                        <a:buNone/>
                      </a:pPr>
                      <a:r>
                        <a:rPr lang="en-US" sz="600">
                          <a:effectLst/>
                        </a:rPr>
                        <a:t>Modifier and Type</a:t>
                      </a: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600">
                          <a:effectLst/>
                        </a:rPr>
                        <a:t>Method</a:t>
                      </a: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600">
                          <a:effectLst/>
                        </a:rPr>
                        <a:t>Description</a:t>
                      </a: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3837830006"/>
                  </a:ext>
                </a:extLst>
              </a:tr>
              <a:tr h="277200">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2"/>
                        </a:rPr>
                        <a:t>add</a:t>
                      </a:r>
                      <a:r>
                        <a:rPr lang="en-US" sz="600" b="0">
                          <a:effectLst/>
                          <a:latin typeface="DejaVu Sans Mono"/>
                        </a:rPr>
                        <a:t>(</a:t>
                      </a:r>
                      <a:r>
                        <a:rPr lang="en-US" sz="600" b="1" u="none" strike="noStrike">
                          <a:solidFill>
                            <a:srgbClr val="4A6782"/>
                          </a:solidFill>
                          <a:effectLst/>
                          <a:latin typeface="DejaVu Sans Mono"/>
                          <a:hlinkClick r:id="rId3" tooltip="type parameter in Collection"/>
                        </a:rPr>
                        <a:t>E</a:t>
                      </a:r>
                      <a:r>
                        <a:rPr lang="en-US" sz="600" b="0">
                          <a:effectLst/>
                          <a:latin typeface="DejaVu Sans Mono"/>
                        </a:rPr>
                        <a:t> e)</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Ensures that this collection contains the specified element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560106161"/>
                  </a:ext>
                </a:extLst>
              </a:tr>
              <a:tr h="361059">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4"/>
                        </a:rPr>
                        <a:t>addAll</a:t>
                      </a:r>
                      <a:r>
                        <a:rPr lang="en-US" sz="600" b="0">
                          <a:effectLst/>
                          <a:latin typeface="DejaVu Sans Mono"/>
                        </a:rPr>
                        <a:t>(</a:t>
                      </a:r>
                      <a:r>
                        <a:rPr lang="en-US" sz="600" b="1" u="none" strike="noStrike">
                          <a:solidFill>
                            <a:srgbClr val="4A6782"/>
                          </a:solidFill>
                          <a:effectLst/>
                          <a:latin typeface="DejaVu Sans Mono"/>
                          <a:hlinkClick r:id="rId3" tooltip="interface in java.util"/>
                        </a:rPr>
                        <a:t>Collection</a:t>
                      </a:r>
                      <a:r>
                        <a:rPr lang="en-US" sz="600" b="0">
                          <a:effectLst/>
                          <a:latin typeface="DejaVu Sans Mono"/>
                        </a:rPr>
                        <a:t>&lt;? extends </a:t>
                      </a:r>
                      <a:r>
                        <a:rPr lang="en-US" sz="600" b="1" u="none" strike="noStrike">
                          <a:solidFill>
                            <a:srgbClr val="4A6782"/>
                          </a:solidFill>
                          <a:effectLst/>
                          <a:latin typeface="DejaVu Sans Mono"/>
                          <a:hlinkClick r:id="rId3" tooltip="type parameter in Collection"/>
                        </a:rPr>
                        <a:t>E</a:t>
                      </a:r>
                      <a:r>
                        <a:rPr lang="en-US" sz="600" b="0">
                          <a:effectLst/>
                          <a:latin typeface="DejaVu Sans Mono"/>
                        </a:rPr>
                        <a:t>&gt; c)</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Adds all of the elements in the specified collection to this collection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727254601"/>
                  </a:ext>
                </a:extLst>
              </a:tr>
              <a:tr h="277200">
                <a:tc>
                  <a:txBody>
                    <a:bodyPr/>
                    <a:lstStyle/>
                    <a:p>
                      <a:pPr algn="l" fontAlgn="t">
                        <a:buNone/>
                      </a:pPr>
                      <a:r>
                        <a:rPr lang="en-US" sz="600">
                          <a:effectLst/>
                          <a:latin typeface="DejaVu Sans Mono"/>
                        </a:rPr>
                        <a:t>void</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5"/>
                        </a:rPr>
                        <a:t>clear</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Removes all of the elements from this collection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74952719"/>
                  </a:ext>
                </a:extLst>
              </a:tr>
              <a:tr h="193341">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6"/>
                        </a:rPr>
                        <a:t>contains</a:t>
                      </a:r>
                      <a:r>
                        <a:rPr lang="en-US" sz="600" b="0">
                          <a:effectLst/>
                          <a:latin typeface="DejaVu Sans Mono"/>
                        </a:rPr>
                        <a:t>(</a:t>
                      </a:r>
                      <a:r>
                        <a:rPr lang="en-US" sz="600" b="1" u="none" strike="noStrike">
                          <a:solidFill>
                            <a:srgbClr val="4A6782"/>
                          </a:solidFill>
                          <a:effectLst/>
                          <a:latin typeface="DejaVu Sans Mono"/>
                          <a:hlinkClick r:id="rId7" tooltip="class in java.lang"/>
                        </a:rPr>
                        <a:t>Object</a:t>
                      </a:r>
                      <a:r>
                        <a:rPr lang="en-US" sz="600" b="0">
                          <a:effectLst/>
                          <a:latin typeface="DejaVu Sans Mono"/>
                        </a:rPr>
                        <a:t> o)</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Returns </a:t>
                      </a:r>
                      <a:r>
                        <a:rPr lang="en-US" sz="600">
                          <a:solidFill>
                            <a:srgbClr val="474747"/>
                          </a:solidFill>
                          <a:effectLst/>
                          <a:latin typeface="DejaVu Sans Mono"/>
                        </a:rPr>
                        <a:t>true</a:t>
                      </a:r>
                      <a:r>
                        <a:rPr lang="en-US" sz="600">
                          <a:solidFill>
                            <a:srgbClr val="474747"/>
                          </a:solidFill>
                          <a:effectLst/>
                          <a:latin typeface="DejaVu Serif"/>
                        </a:rPr>
                        <a:t> if this collection contains the specified element.</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234668169"/>
                  </a:ext>
                </a:extLst>
              </a:tr>
              <a:tr h="277200">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8"/>
                        </a:rPr>
                        <a:t>containsAll</a:t>
                      </a:r>
                      <a:r>
                        <a:rPr lang="en-US" sz="600" b="0">
                          <a:effectLst/>
                          <a:latin typeface="DejaVu Sans Mono"/>
                        </a:rPr>
                        <a:t>(</a:t>
                      </a:r>
                      <a:r>
                        <a:rPr lang="en-US" sz="600" b="1" u="none" strike="noStrike">
                          <a:solidFill>
                            <a:srgbClr val="4A6782"/>
                          </a:solidFill>
                          <a:effectLst/>
                          <a:latin typeface="DejaVu Sans Mono"/>
                          <a:hlinkClick r:id="rId3" tooltip="interface in java.util"/>
                        </a:rPr>
                        <a:t>Collection</a:t>
                      </a:r>
                      <a:r>
                        <a:rPr lang="en-US" sz="600" b="0">
                          <a:effectLst/>
                          <a:latin typeface="DejaVu Sans Mono"/>
                        </a:rPr>
                        <a:t>&lt;?&gt; c)</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Returns </a:t>
                      </a:r>
                      <a:r>
                        <a:rPr lang="en-US" sz="600">
                          <a:solidFill>
                            <a:srgbClr val="474747"/>
                          </a:solidFill>
                          <a:effectLst/>
                          <a:latin typeface="DejaVu Sans Mono"/>
                        </a:rPr>
                        <a:t>true</a:t>
                      </a:r>
                      <a:r>
                        <a:rPr lang="en-US" sz="600">
                          <a:solidFill>
                            <a:srgbClr val="474747"/>
                          </a:solidFill>
                          <a:effectLst/>
                          <a:latin typeface="DejaVu Serif"/>
                        </a:rPr>
                        <a:t> if this collection contains all of the elements in the specified collection.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574220237"/>
                  </a:ext>
                </a:extLst>
              </a:tr>
              <a:tr h="193341">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9"/>
                        </a:rPr>
                        <a:t>equals</a:t>
                      </a:r>
                      <a:r>
                        <a:rPr lang="en-US" sz="600" b="0">
                          <a:effectLst/>
                          <a:latin typeface="DejaVu Sans Mono"/>
                        </a:rPr>
                        <a:t>(</a:t>
                      </a:r>
                      <a:r>
                        <a:rPr lang="en-US" sz="600" b="1" u="none" strike="noStrike">
                          <a:solidFill>
                            <a:srgbClr val="4A6782"/>
                          </a:solidFill>
                          <a:effectLst/>
                          <a:latin typeface="DejaVu Sans Mono"/>
                          <a:hlinkClick r:id="rId7" tooltip="class in java.lang"/>
                        </a:rPr>
                        <a:t>Object</a:t>
                      </a:r>
                      <a:r>
                        <a:rPr lang="en-US" sz="600" b="0">
                          <a:effectLst/>
                          <a:latin typeface="DejaVu Sans Mono"/>
                        </a:rPr>
                        <a:t> o)</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Compares the specified object with this collection for equality.</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888036374"/>
                  </a:ext>
                </a:extLst>
              </a:tr>
              <a:tr h="193341">
                <a:tc>
                  <a:txBody>
                    <a:bodyPr/>
                    <a:lstStyle/>
                    <a:p>
                      <a:pPr algn="l" fontAlgn="t">
                        <a:buNone/>
                      </a:pPr>
                      <a:r>
                        <a:rPr lang="en-US" sz="600">
                          <a:effectLst/>
                          <a:latin typeface="DejaVu Sans Mono"/>
                        </a:rPr>
                        <a:t>int</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10"/>
                        </a:rPr>
                        <a:t>hashCode</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Returns the hash code value for this collection.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233738835"/>
                  </a:ext>
                </a:extLst>
              </a:tr>
              <a:tr h="193341">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11"/>
                        </a:rPr>
                        <a:t>isEmpty</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Returns </a:t>
                      </a:r>
                      <a:r>
                        <a:rPr lang="en-US" sz="600">
                          <a:solidFill>
                            <a:srgbClr val="474747"/>
                          </a:solidFill>
                          <a:effectLst/>
                          <a:latin typeface="DejaVu Sans Mono"/>
                        </a:rPr>
                        <a:t>true</a:t>
                      </a:r>
                      <a:r>
                        <a:rPr lang="en-US" sz="600">
                          <a:solidFill>
                            <a:srgbClr val="474747"/>
                          </a:solidFill>
                          <a:effectLst/>
                          <a:latin typeface="DejaVu Serif"/>
                        </a:rPr>
                        <a:t> if this collection contains no elements.</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013163134"/>
                  </a:ext>
                </a:extLst>
              </a:tr>
              <a:tr h="193341">
                <a:tc>
                  <a:txBody>
                    <a:bodyPr/>
                    <a:lstStyle/>
                    <a:p>
                      <a:pPr algn="l" fontAlgn="t">
                        <a:buNone/>
                      </a:pPr>
                      <a:r>
                        <a:rPr lang="en-US" sz="600" b="1" u="none" strike="noStrike">
                          <a:solidFill>
                            <a:srgbClr val="4A6782"/>
                          </a:solidFill>
                          <a:effectLst/>
                          <a:latin typeface="DejaVu Sans Mono"/>
                          <a:hlinkClick r:id="rId12" tooltip="interface in java.util"/>
                        </a:rPr>
                        <a:t>Iterator</a:t>
                      </a:r>
                      <a:r>
                        <a:rPr lang="en-US" sz="600">
                          <a:effectLst/>
                          <a:latin typeface="DejaVu Sans Mono"/>
                        </a:rPr>
                        <a:t>&lt;</a:t>
                      </a:r>
                      <a:r>
                        <a:rPr lang="en-US" sz="600" b="1" u="none" strike="noStrike">
                          <a:solidFill>
                            <a:srgbClr val="4A6782"/>
                          </a:solidFill>
                          <a:effectLst/>
                          <a:latin typeface="DejaVu Sans Mono"/>
                          <a:hlinkClick r:id="rId3" tooltip="type parameter in Collection"/>
                        </a:rPr>
                        <a:t>E</a:t>
                      </a:r>
                      <a:r>
                        <a:rPr lang="en-US" sz="600">
                          <a:effectLst/>
                          <a:latin typeface="DejaVu Sans Mono"/>
                        </a:rPr>
                        <a:t>&gt;</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13"/>
                        </a:rPr>
                        <a:t>iterator</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Returns an iterator over the elements in this collection.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740343852"/>
                  </a:ext>
                </a:extLst>
              </a:tr>
              <a:tr h="361059">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14"/>
                        </a:rPr>
                        <a:t>remove</a:t>
                      </a:r>
                      <a:r>
                        <a:rPr lang="en-US" sz="600" b="0">
                          <a:effectLst/>
                          <a:latin typeface="DejaVu Sans Mono"/>
                        </a:rPr>
                        <a:t>(</a:t>
                      </a:r>
                      <a:r>
                        <a:rPr lang="en-US" sz="600" b="1" u="none" strike="noStrike">
                          <a:solidFill>
                            <a:srgbClr val="4A6782"/>
                          </a:solidFill>
                          <a:effectLst/>
                          <a:latin typeface="DejaVu Sans Mono"/>
                          <a:hlinkClick r:id="rId7" tooltip="class in java.lang"/>
                        </a:rPr>
                        <a:t>Object</a:t>
                      </a:r>
                      <a:r>
                        <a:rPr lang="en-US" sz="600" b="0">
                          <a:effectLst/>
                          <a:latin typeface="DejaVu Sans Mono"/>
                        </a:rPr>
                        <a:t> o)</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Removes a single instance of the specified element from this collection, if it is present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040435409"/>
                  </a:ext>
                </a:extLst>
              </a:tr>
              <a:tr h="361059">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15"/>
                        </a:rPr>
                        <a:t>removeAll</a:t>
                      </a:r>
                      <a:r>
                        <a:rPr lang="en-US" sz="600" b="0">
                          <a:effectLst/>
                          <a:latin typeface="DejaVu Sans Mono"/>
                        </a:rPr>
                        <a:t>(</a:t>
                      </a:r>
                      <a:r>
                        <a:rPr lang="en-US" sz="600" b="1" u="none" strike="noStrike">
                          <a:solidFill>
                            <a:srgbClr val="4A6782"/>
                          </a:solidFill>
                          <a:effectLst/>
                          <a:latin typeface="DejaVu Sans Mono"/>
                          <a:hlinkClick r:id="rId3" tooltip="interface in java.util"/>
                        </a:rPr>
                        <a:t>Collection</a:t>
                      </a:r>
                      <a:r>
                        <a:rPr lang="en-US" sz="600" b="0">
                          <a:effectLst/>
                          <a:latin typeface="DejaVu Sans Mono"/>
                        </a:rPr>
                        <a:t>&lt;?&gt; c)</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Removes all of this collection's elements that are also contained in the specified collection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324631491"/>
                  </a:ext>
                </a:extLst>
              </a:tr>
              <a:tr h="361059">
                <a:tc>
                  <a:txBody>
                    <a:bodyPr/>
                    <a:lstStyle/>
                    <a:p>
                      <a:pPr algn="l" fontAlgn="t">
                        <a:buNone/>
                      </a:pPr>
                      <a:r>
                        <a:rPr lang="en-US" sz="600">
                          <a:effectLst/>
                          <a:latin typeface="DejaVu Sans Mono"/>
                        </a:rPr>
                        <a:t>boolean</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16"/>
                        </a:rPr>
                        <a:t>retainAll</a:t>
                      </a:r>
                      <a:r>
                        <a:rPr lang="en-US" sz="600" b="0">
                          <a:effectLst/>
                          <a:latin typeface="DejaVu Sans Mono"/>
                        </a:rPr>
                        <a:t>(</a:t>
                      </a:r>
                      <a:r>
                        <a:rPr lang="en-US" sz="600" b="1" u="none" strike="noStrike">
                          <a:solidFill>
                            <a:srgbClr val="4A6782"/>
                          </a:solidFill>
                          <a:effectLst/>
                          <a:latin typeface="DejaVu Sans Mono"/>
                          <a:hlinkClick r:id="rId3" tooltip="interface in java.util"/>
                        </a:rPr>
                        <a:t>Collection</a:t>
                      </a:r>
                      <a:r>
                        <a:rPr lang="en-US" sz="600" b="0">
                          <a:effectLst/>
                          <a:latin typeface="DejaVu Sans Mono"/>
                        </a:rPr>
                        <a:t>&lt;?&gt; c)</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Retains only the elements in this collection that are contained in the specified collection (optional operation).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4209357998"/>
                  </a:ext>
                </a:extLst>
              </a:tr>
              <a:tr h="193341">
                <a:tc>
                  <a:txBody>
                    <a:bodyPr/>
                    <a:lstStyle/>
                    <a:p>
                      <a:pPr algn="l" fontAlgn="t">
                        <a:buNone/>
                      </a:pPr>
                      <a:r>
                        <a:rPr lang="en-US" sz="600">
                          <a:effectLst/>
                          <a:latin typeface="DejaVu Sans Mono"/>
                        </a:rPr>
                        <a:t>int</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17"/>
                        </a:rPr>
                        <a:t>size</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a:solidFill>
                            <a:srgbClr val="474747"/>
                          </a:solidFill>
                          <a:effectLst/>
                          <a:latin typeface="DejaVu Serif"/>
                        </a:rPr>
                        <a:t>Returns the number of elements in this collection.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441757394"/>
                  </a:ext>
                </a:extLst>
              </a:tr>
              <a:tr h="277200">
                <a:tc>
                  <a:txBody>
                    <a:bodyPr/>
                    <a:lstStyle/>
                    <a:p>
                      <a:pPr algn="l" fontAlgn="t">
                        <a:buNone/>
                      </a:pPr>
                      <a:r>
                        <a:rPr lang="en-US" sz="600" b="1" u="none" strike="noStrike">
                          <a:solidFill>
                            <a:srgbClr val="4A6782"/>
                          </a:solidFill>
                          <a:effectLst/>
                          <a:latin typeface="DejaVu Sans Mono"/>
                          <a:hlinkClick r:id="rId7" tooltip="class in java.lang"/>
                        </a:rPr>
                        <a:t>Object</a:t>
                      </a:r>
                      <a:r>
                        <a:rPr lang="en-US" sz="600">
                          <a:effectLst/>
                          <a:latin typeface="DejaVu Sans Mono"/>
                        </a:rPr>
                        <a:t>[]</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600" b="1" u="none" strike="noStrike">
                          <a:solidFill>
                            <a:srgbClr val="4A6782"/>
                          </a:solidFill>
                          <a:effectLst/>
                          <a:latin typeface="DejaVu Sans Mono"/>
                          <a:hlinkClick r:id="rId18"/>
                        </a:rPr>
                        <a:t>toArray</a:t>
                      </a:r>
                      <a:r>
                        <a:rPr lang="en-US" sz="600" b="0">
                          <a:effectLst/>
                          <a:latin typeface="DejaVu Sans Mono"/>
                        </a:rPr>
                        <a:t>()</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600">
                          <a:solidFill>
                            <a:srgbClr val="474747"/>
                          </a:solidFill>
                          <a:effectLst/>
                          <a:latin typeface="DejaVu Serif"/>
                        </a:rPr>
                        <a:t>Returns an array containing all of the elements in this collection.</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238376950"/>
                  </a:ext>
                </a:extLst>
              </a:tr>
              <a:tr h="444917">
                <a:tc>
                  <a:txBody>
                    <a:bodyPr/>
                    <a:lstStyle/>
                    <a:p>
                      <a:pPr algn="l" fontAlgn="t">
                        <a:buNone/>
                      </a:pPr>
                      <a:r>
                        <a:rPr lang="en-US" sz="600">
                          <a:effectLst/>
                          <a:latin typeface="DejaVu Sans Mono"/>
                        </a:rPr>
                        <a:t>&lt;T&gt; T[]</a:t>
                      </a:r>
                      <a:endParaRPr lang="en-US" sz="600">
                        <a:effectLst/>
                      </a:endParaRP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600" b="1" u="none" strike="noStrike">
                          <a:solidFill>
                            <a:srgbClr val="4A6782"/>
                          </a:solidFill>
                          <a:effectLst/>
                          <a:latin typeface="DejaVu Sans Mono"/>
                          <a:hlinkClick r:id="rId19"/>
                        </a:rPr>
                        <a:t>toArray</a:t>
                      </a:r>
                      <a:r>
                        <a:rPr lang="en-US" sz="600" b="0">
                          <a:effectLst/>
                          <a:latin typeface="DejaVu Sans Mono"/>
                        </a:rPr>
                        <a:t>(T[] a)</a:t>
                      </a:r>
                      <a:endParaRPr lang="en-US" sz="600" b="0">
                        <a:effectLst/>
                      </a:endParaRPr>
                    </a:p>
                  </a:txBody>
                  <a:tcPr marL="16306"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600" dirty="0">
                          <a:solidFill>
                            <a:srgbClr val="474747"/>
                          </a:solidFill>
                          <a:effectLst/>
                          <a:latin typeface="DejaVu Serif"/>
                        </a:rPr>
                        <a:t>Returns an array containing all of the elements in this collection; the runtime type of the returned array is that of the specified array.</a:t>
                      </a:r>
                    </a:p>
                  </a:txBody>
                  <a:tcPr marL="23294" marR="6988" marT="18635" marB="6988">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465768758"/>
                  </a:ext>
                </a:extLst>
              </a:tr>
            </a:tbl>
          </a:graphicData>
        </a:graphic>
      </p:graphicFrame>
      <p:sp>
        <p:nvSpPr>
          <p:cNvPr id="12" name="TextBox 11">
            <a:extLst>
              <a:ext uri="{FF2B5EF4-FFF2-40B4-BE49-F238E27FC236}">
                <a16:creationId xmlns:a16="http://schemas.microsoft.com/office/drawing/2014/main" id="{EE2E5402-9BAD-659A-41C5-8E30F0FBCF2F}"/>
              </a:ext>
            </a:extLst>
          </p:cNvPr>
          <p:cNvSpPr txBox="1"/>
          <p:nvPr/>
        </p:nvSpPr>
        <p:spPr>
          <a:xfrm>
            <a:off x="610469" y="320002"/>
            <a:ext cx="1995867" cy="369332"/>
          </a:xfrm>
          <a:prstGeom prst="rect">
            <a:avLst/>
          </a:prstGeom>
          <a:noFill/>
        </p:spPr>
        <p:txBody>
          <a:bodyPr wrap="none" rtlCol="0">
            <a:spAutoFit/>
          </a:bodyPr>
          <a:lstStyle/>
          <a:p>
            <a:r>
              <a:rPr lang="en-US" dirty="0"/>
              <a:t>Abstract  Methods</a:t>
            </a:r>
          </a:p>
        </p:txBody>
      </p:sp>
    </p:spTree>
    <p:extLst>
      <p:ext uri="{BB962C8B-B14F-4D97-AF65-F5344CB8AC3E}">
        <p14:creationId xmlns:p14="http://schemas.microsoft.com/office/powerpoint/2010/main" val="2669102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5A896-195F-4F19-A8D5-ED456482ADE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FD62E96-1D1A-F50B-648F-0750CABD5BBF}"/>
              </a:ext>
            </a:extLst>
          </p:cNvPr>
          <p:cNvGraphicFramePr>
            <a:graphicFrameLocks noGrp="1"/>
          </p:cNvGraphicFramePr>
          <p:nvPr/>
        </p:nvGraphicFramePr>
        <p:xfrm>
          <a:off x="2475856" y="1825625"/>
          <a:ext cx="4954289" cy="4351337"/>
        </p:xfrm>
        <a:graphic>
          <a:graphicData uri="http://schemas.openxmlformats.org/drawingml/2006/table">
            <a:tbl>
              <a:tblPr/>
              <a:tblGrid>
                <a:gridCol w="1173523">
                  <a:extLst>
                    <a:ext uri="{9D8B030D-6E8A-4147-A177-3AD203B41FA5}">
                      <a16:colId xmlns:a16="http://schemas.microsoft.com/office/drawing/2014/main" val="1133772322"/>
                    </a:ext>
                  </a:extLst>
                </a:gridCol>
                <a:gridCol w="1173523">
                  <a:extLst>
                    <a:ext uri="{9D8B030D-6E8A-4147-A177-3AD203B41FA5}">
                      <a16:colId xmlns:a16="http://schemas.microsoft.com/office/drawing/2014/main" val="94336126"/>
                    </a:ext>
                  </a:extLst>
                </a:gridCol>
                <a:gridCol w="2607243">
                  <a:extLst>
                    <a:ext uri="{9D8B030D-6E8A-4147-A177-3AD203B41FA5}">
                      <a16:colId xmlns:a16="http://schemas.microsoft.com/office/drawing/2014/main" val="3260990941"/>
                    </a:ext>
                  </a:extLst>
                </a:gridCol>
              </a:tblGrid>
              <a:tr h="478709">
                <a:tc gridSpan="3">
                  <a:txBody>
                    <a:bodyPr/>
                    <a:lstStyle/>
                    <a:p>
                      <a:pPr>
                        <a:buNone/>
                      </a:pPr>
                      <a:r>
                        <a:rPr lang="en-US" sz="1400"/>
                        <a:t>All MethodsInstance MethodsAbstract MethodsDefault Methods</a:t>
                      </a:r>
                    </a:p>
                  </a:txBody>
                  <a:tcPr marL="18412" marR="18412" marT="18412" marB="18412"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9928799"/>
                  </a:ext>
                </a:extLst>
              </a:tr>
              <a:tr h="509395">
                <a:tc>
                  <a:txBody>
                    <a:bodyPr/>
                    <a:lstStyle/>
                    <a:p>
                      <a:pPr algn="l" fontAlgn="t">
                        <a:buNone/>
                      </a:pPr>
                      <a:r>
                        <a:rPr lang="en-US" sz="1400">
                          <a:effectLst/>
                        </a:rPr>
                        <a:t>Modifier and Type</a:t>
                      </a: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400">
                          <a:effectLst/>
                        </a:rPr>
                        <a:t>Method</a:t>
                      </a: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400">
                          <a:effectLst/>
                        </a:rPr>
                        <a:t>Description</a:t>
                      </a: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943482391"/>
                  </a:ext>
                </a:extLst>
              </a:tr>
              <a:tr h="730337">
                <a:tc>
                  <a:txBody>
                    <a:bodyPr/>
                    <a:lstStyle/>
                    <a:p>
                      <a:pPr algn="l" fontAlgn="t">
                        <a:buNone/>
                      </a:pPr>
                      <a:r>
                        <a:rPr lang="en-US" sz="1400">
                          <a:effectLst/>
                          <a:latin typeface="DejaVu Sans Mono"/>
                        </a:rPr>
                        <a:t>default </a:t>
                      </a:r>
                      <a:r>
                        <a:rPr lang="en-US" sz="1400" b="1" u="none" strike="noStrike">
                          <a:solidFill>
                            <a:srgbClr val="4A6782"/>
                          </a:solidFill>
                          <a:effectLst/>
                          <a:latin typeface="DejaVu Sans Mono"/>
                          <a:hlinkClick r:id="rId2" tooltip="interface in java.util.stream"/>
                        </a:rPr>
                        <a:t>Stream</a:t>
                      </a:r>
                      <a:r>
                        <a:rPr lang="en-US" sz="1400">
                          <a:effectLst/>
                          <a:latin typeface="DejaVu Sans Mono"/>
                        </a:rPr>
                        <a:t>&lt;</a:t>
                      </a:r>
                      <a:r>
                        <a:rPr lang="en-US" sz="1400" b="1" u="none" strike="noStrike">
                          <a:solidFill>
                            <a:srgbClr val="4A6782"/>
                          </a:solidFill>
                          <a:effectLst/>
                          <a:latin typeface="DejaVu Sans Mono"/>
                          <a:hlinkClick r:id="rId3" tooltip="type parameter in Collection"/>
                        </a:rPr>
                        <a:t>E</a:t>
                      </a:r>
                      <a:r>
                        <a:rPr lang="en-US" sz="1400">
                          <a:effectLst/>
                          <a:latin typeface="DejaVu Sans Mono"/>
                        </a:rPr>
                        <a:t>&gt;</a:t>
                      </a:r>
                      <a:endParaRPr lang="en-US" sz="1400">
                        <a:effectLst/>
                      </a:endParaRP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400" b="1" u="none" strike="noStrike">
                          <a:solidFill>
                            <a:srgbClr val="4A6782"/>
                          </a:solidFill>
                          <a:effectLst/>
                          <a:latin typeface="DejaVu Sans Mono"/>
                          <a:hlinkClick r:id="rId4"/>
                        </a:rPr>
                        <a:t>parallelStream</a:t>
                      </a:r>
                      <a:r>
                        <a:rPr lang="en-US" sz="1400" b="0">
                          <a:effectLst/>
                          <a:latin typeface="DejaVu Sans Mono"/>
                        </a:rPr>
                        <a:t>()</a:t>
                      </a:r>
                      <a:endParaRPr lang="en-US" sz="1400" b="0">
                        <a:effectLst/>
                      </a:endParaRP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400">
                          <a:solidFill>
                            <a:srgbClr val="474747"/>
                          </a:solidFill>
                          <a:effectLst/>
                          <a:latin typeface="DejaVu Serif"/>
                        </a:rPr>
                        <a:t>Returns a possibly parallel </a:t>
                      </a:r>
                      <a:r>
                        <a:rPr lang="en-US" sz="1400">
                          <a:solidFill>
                            <a:srgbClr val="474747"/>
                          </a:solidFill>
                          <a:effectLst/>
                          <a:latin typeface="DejaVu Sans Mono"/>
                        </a:rPr>
                        <a:t>Stream</a:t>
                      </a:r>
                      <a:r>
                        <a:rPr lang="en-US" sz="1400">
                          <a:solidFill>
                            <a:srgbClr val="474747"/>
                          </a:solidFill>
                          <a:effectLst/>
                          <a:latin typeface="DejaVu Serif"/>
                        </a:rPr>
                        <a:t> with this collection as its source.</a:t>
                      </a: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63852739"/>
                  </a:ext>
                </a:extLst>
              </a:tr>
              <a:tr h="1172222">
                <a:tc>
                  <a:txBody>
                    <a:bodyPr/>
                    <a:lstStyle/>
                    <a:p>
                      <a:pPr algn="l" fontAlgn="t">
                        <a:buNone/>
                      </a:pPr>
                      <a:r>
                        <a:rPr lang="en-US" sz="1400">
                          <a:effectLst/>
                          <a:latin typeface="DejaVu Sans Mono"/>
                        </a:rPr>
                        <a:t>default boolean</a:t>
                      </a:r>
                      <a:endParaRPr lang="en-US" sz="1400">
                        <a:effectLst/>
                      </a:endParaRP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400" b="1" u="none" strike="noStrike">
                          <a:solidFill>
                            <a:srgbClr val="4A6782"/>
                          </a:solidFill>
                          <a:effectLst/>
                          <a:latin typeface="DejaVu Sans Mono"/>
                          <a:hlinkClick r:id="rId5"/>
                        </a:rPr>
                        <a:t>removeIf</a:t>
                      </a:r>
                      <a:r>
                        <a:rPr lang="en-US" sz="1400" b="0">
                          <a:effectLst/>
                          <a:latin typeface="DejaVu Sans Mono"/>
                        </a:rPr>
                        <a:t>(</a:t>
                      </a:r>
                      <a:r>
                        <a:rPr lang="en-US" sz="1400" b="1" u="none" strike="noStrike">
                          <a:solidFill>
                            <a:srgbClr val="4A6782"/>
                          </a:solidFill>
                          <a:effectLst/>
                          <a:latin typeface="DejaVu Sans Mono"/>
                          <a:hlinkClick r:id="rId6" tooltip="interface in java.util.function"/>
                        </a:rPr>
                        <a:t>Predicate</a:t>
                      </a:r>
                      <a:r>
                        <a:rPr lang="en-US" sz="1400" b="0">
                          <a:effectLst/>
                          <a:latin typeface="DejaVu Sans Mono"/>
                        </a:rPr>
                        <a:t>&lt;? super </a:t>
                      </a:r>
                      <a:r>
                        <a:rPr lang="en-US" sz="1400" b="1" u="none" strike="noStrike">
                          <a:solidFill>
                            <a:srgbClr val="4A6782"/>
                          </a:solidFill>
                          <a:effectLst/>
                          <a:latin typeface="DejaVu Sans Mono"/>
                          <a:hlinkClick r:id="rId3" tooltip="type parameter in Collection"/>
                        </a:rPr>
                        <a:t>E</a:t>
                      </a:r>
                      <a:r>
                        <a:rPr lang="en-US" sz="1400" b="0">
                          <a:effectLst/>
                          <a:latin typeface="DejaVu Sans Mono"/>
                        </a:rPr>
                        <a:t>&gt; filter)</a:t>
                      </a:r>
                      <a:endParaRPr lang="en-US" sz="1400" b="0">
                        <a:effectLst/>
                      </a:endParaRP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400">
                          <a:solidFill>
                            <a:srgbClr val="474747"/>
                          </a:solidFill>
                          <a:effectLst/>
                          <a:latin typeface="DejaVu Serif"/>
                        </a:rPr>
                        <a:t>Removes all of the elements of this collection that satisfy the given predicate.</a:t>
                      </a: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760003862"/>
                  </a:ext>
                </a:extLst>
              </a:tr>
              <a:tr h="730337">
                <a:tc>
                  <a:txBody>
                    <a:bodyPr/>
                    <a:lstStyle/>
                    <a:p>
                      <a:pPr algn="l" fontAlgn="t">
                        <a:buNone/>
                      </a:pPr>
                      <a:r>
                        <a:rPr lang="en-US" sz="1400">
                          <a:effectLst/>
                          <a:latin typeface="DejaVu Sans Mono"/>
                        </a:rPr>
                        <a:t>default </a:t>
                      </a:r>
                      <a:r>
                        <a:rPr lang="en-US" sz="1400" b="1" u="none" strike="noStrike">
                          <a:solidFill>
                            <a:srgbClr val="4A6782"/>
                          </a:solidFill>
                          <a:effectLst/>
                          <a:latin typeface="DejaVu Sans Mono"/>
                          <a:hlinkClick r:id="rId7" tooltip="interface in java.util"/>
                        </a:rPr>
                        <a:t>Spliterator</a:t>
                      </a:r>
                      <a:r>
                        <a:rPr lang="en-US" sz="1400">
                          <a:effectLst/>
                          <a:latin typeface="DejaVu Sans Mono"/>
                        </a:rPr>
                        <a:t>&lt;</a:t>
                      </a:r>
                      <a:r>
                        <a:rPr lang="en-US" sz="1400" b="1" u="none" strike="noStrike">
                          <a:solidFill>
                            <a:srgbClr val="4A6782"/>
                          </a:solidFill>
                          <a:effectLst/>
                          <a:latin typeface="DejaVu Sans Mono"/>
                          <a:hlinkClick r:id="rId3" tooltip="type parameter in Collection"/>
                        </a:rPr>
                        <a:t>E</a:t>
                      </a:r>
                      <a:r>
                        <a:rPr lang="en-US" sz="1400">
                          <a:effectLst/>
                          <a:latin typeface="DejaVu Sans Mono"/>
                        </a:rPr>
                        <a:t>&gt;</a:t>
                      </a:r>
                      <a:endParaRPr lang="en-US" sz="1400">
                        <a:effectLst/>
                      </a:endParaRP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400" b="1" u="none" strike="noStrike">
                          <a:solidFill>
                            <a:srgbClr val="4A6782"/>
                          </a:solidFill>
                          <a:effectLst/>
                          <a:latin typeface="DejaVu Sans Mono"/>
                          <a:hlinkClick r:id="rId8"/>
                        </a:rPr>
                        <a:t>spliterator</a:t>
                      </a:r>
                      <a:r>
                        <a:rPr lang="en-US" sz="1400" b="0">
                          <a:effectLst/>
                          <a:latin typeface="DejaVu Sans Mono"/>
                        </a:rPr>
                        <a:t>()</a:t>
                      </a:r>
                      <a:endParaRPr lang="en-US" sz="1400" b="0">
                        <a:effectLst/>
                      </a:endParaRP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400">
                          <a:solidFill>
                            <a:srgbClr val="474747"/>
                          </a:solidFill>
                          <a:effectLst/>
                          <a:latin typeface="DejaVu Serif"/>
                        </a:rPr>
                        <a:t>Creates a </a:t>
                      </a:r>
                      <a:r>
                        <a:rPr lang="en-US" sz="1400" b="1" u="none" strike="noStrike">
                          <a:solidFill>
                            <a:srgbClr val="4A6782"/>
                          </a:solidFill>
                          <a:effectLst/>
                          <a:latin typeface="DejaVu Sans Mono"/>
                          <a:hlinkClick r:id="rId7" tooltip="interface in java.util"/>
                        </a:rPr>
                        <a:t>Spliterator</a:t>
                      </a:r>
                      <a:r>
                        <a:rPr lang="en-US" sz="1400">
                          <a:solidFill>
                            <a:srgbClr val="474747"/>
                          </a:solidFill>
                          <a:effectLst/>
                          <a:latin typeface="DejaVu Serif"/>
                        </a:rPr>
                        <a:t> over the elements in this collection.</a:t>
                      </a: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399955779"/>
                  </a:ext>
                </a:extLst>
              </a:tr>
              <a:tr h="730337">
                <a:tc>
                  <a:txBody>
                    <a:bodyPr/>
                    <a:lstStyle/>
                    <a:p>
                      <a:pPr algn="l" fontAlgn="t">
                        <a:buNone/>
                      </a:pPr>
                      <a:r>
                        <a:rPr lang="en-US" sz="1400">
                          <a:effectLst/>
                          <a:latin typeface="DejaVu Sans Mono"/>
                        </a:rPr>
                        <a:t>default </a:t>
                      </a:r>
                      <a:r>
                        <a:rPr lang="en-US" sz="1400" b="1" u="none" strike="noStrike">
                          <a:solidFill>
                            <a:srgbClr val="4A6782"/>
                          </a:solidFill>
                          <a:effectLst/>
                          <a:latin typeface="DejaVu Sans Mono"/>
                          <a:hlinkClick r:id="rId2" tooltip="interface in java.util.stream"/>
                        </a:rPr>
                        <a:t>Stream</a:t>
                      </a:r>
                      <a:r>
                        <a:rPr lang="en-US" sz="1400">
                          <a:effectLst/>
                          <a:latin typeface="DejaVu Sans Mono"/>
                        </a:rPr>
                        <a:t>&lt;</a:t>
                      </a:r>
                      <a:r>
                        <a:rPr lang="en-US" sz="1400" b="1" u="none" strike="noStrike">
                          <a:solidFill>
                            <a:srgbClr val="4A6782"/>
                          </a:solidFill>
                          <a:effectLst/>
                          <a:latin typeface="DejaVu Sans Mono"/>
                          <a:hlinkClick r:id="rId3" tooltip="type parameter in Collection"/>
                        </a:rPr>
                        <a:t>E</a:t>
                      </a:r>
                      <a:r>
                        <a:rPr lang="en-US" sz="1400">
                          <a:effectLst/>
                          <a:latin typeface="DejaVu Sans Mono"/>
                        </a:rPr>
                        <a:t>&gt;</a:t>
                      </a:r>
                      <a:endParaRPr lang="en-US" sz="1400">
                        <a:effectLst/>
                      </a:endParaRP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400" b="1" u="none" strike="noStrike">
                          <a:solidFill>
                            <a:srgbClr val="4A6782"/>
                          </a:solidFill>
                          <a:effectLst/>
                          <a:latin typeface="DejaVu Sans Mono"/>
                          <a:hlinkClick r:id="rId9"/>
                        </a:rPr>
                        <a:t>stream</a:t>
                      </a:r>
                      <a:r>
                        <a:rPr lang="en-US" sz="1400" b="0">
                          <a:effectLst/>
                          <a:latin typeface="DejaVu Sans Mono"/>
                        </a:rPr>
                        <a:t>()</a:t>
                      </a:r>
                      <a:endParaRPr lang="en-US" sz="1400" b="0">
                        <a:effectLst/>
                      </a:endParaRPr>
                    </a:p>
                  </a:txBody>
                  <a:tcPr marL="42961"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400" dirty="0">
                          <a:solidFill>
                            <a:srgbClr val="474747"/>
                          </a:solidFill>
                          <a:effectLst/>
                          <a:latin typeface="DejaVu Serif"/>
                        </a:rPr>
                        <a:t>Returns a sequential </a:t>
                      </a:r>
                      <a:r>
                        <a:rPr lang="en-US" sz="1400" dirty="0">
                          <a:solidFill>
                            <a:srgbClr val="474747"/>
                          </a:solidFill>
                          <a:effectLst/>
                          <a:latin typeface="DejaVu Sans Mono"/>
                        </a:rPr>
                        <a:t>Stream</a:t>
                      </a:r>
                      <a:r>
                        <a:rPr lang="en-US" sz="1400" dirty="0">
                          <a:solidFill>
                            <a:srgbClr val="474747"/>
                          </a:solidFill>
                          <a:effectLst/>
                          <a:latin typeface="DejaVu Serif"/>
                        </a:rPr>
                        <a:t> with this collection as its source.</a:t>
                      </a:r>
                    </a:p>
                  </a:txBody>
                  <a:tcPr marL="61373" marR="18412" marT="49098" marB="1841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609556647"/>
                  </a:ext>
                </a:extLst>
              </a:tr>
            </a:tbl>
          </a:graphicData>
        </a:graphic>
      </p:graphicFrame>
      <p:sp>
        <p:nvSpPr>
          <p:cNvPr id="3" name="TextBox 2">
            <a:extLst>
              <a:ext uri="{FF2B5EF4-FFF2-40B4-BE49-F238E27FC236}">
                <a16:creationId xmlns:a16="http://schemas.microsoft.com/office/drawing/2014/main" id="{66376CAA-277D-1B1A-DC40-5F967797D301}"/>
              </a:ext>
            </a:extLst>
          </p:cNvPr>
          <p:cNvSpPr txBox="1"/>
          <p:nvPr/>
        </p:nvSpPr>
        <p:spPr>
          <a:xfrm>
            <a:off x="610469" y="320002"/>
            <a:ext cx="1884234" cy="369332"/>
          </a:xfrm>
          <a:prstGeom prst="rect">
            <a:avLst/>
          </a:prstGeom>
          <a:noFill/>
        </p:spPr>
        <p:txBody>
          <a:bodyPr wrap="none" rtlCol="0">
            <a:spAutoFit/>
          </a:bodyPr>
          <a:lstStyle/>
          <a:p>
            <a:r>
              <a:rPr lang="en-US" dirty="0"/>
              <a:t>Default  Methods</a:t>
            </a:r>
          </a:p>
        </p:txBody>
      </p:sp>
    </p:spTree>
    <p:extLst>
      <p:ext uri="{BB962C8B-B14F-4D97-AF65-F5344CB8AC3E}">
        <p14:creationId xmlns:p14="http://schemas.microsoft.com/office/powerpoint/2010/main" val="3281992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AC60924-C254-7260-B59F-C6AD4571FB19}"/>
              </a:ext>
            </a:extLst>
          </p:cNvPr>
          <p:cNvSpPr txBox="1"/>
          <p:nvPr/>
        </p:nvSpPr>
        <p:spPr>
          <a:xfrm>
            <a:off x="699246" y="491016"/>
            <a:ext cx="8659907" cy="5875968"/>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sz="800" b="1" i="0" dirty="0">
                <a:solidFill>
                  <a:srgbClr val="353833"/>
                </a:solidFill>
                <a:effectLst/>
                <a:latin typeface="DejaVu Sans"/>
              </a:rPr>
              <a:t>size</a:t>
            </a:r>
          </a:p>
          <a:p>
            <a:pPr algn="l">
              <a:spcBef>
                <a:spcPts val="750"/>
              </a:spcBef>
              <a:spcAft>
                <a:spcPts val="1125"/>
              </a:spcAft>
              <a:buFont typeface="Arial" panose="020B0604020202020204" pitchFamily="34" charset="0"/>
              <a:buChar char="•"/>
            </a:pPr>
            <a:r>
              <a:rPr lang="en-US" sz="800" b="0" i="0" dirty="0">
                <a:solidFill>
                  <a:srgbClr val="353833"/>
                </a:solidFill>
                <a:effectLst/>
                <a:latin typeface="DejaVu Sans Mono"/>
              </a:rPr>
              <a:t>int size()</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the number of elements in this collection. If this collection contains more than </a:t>
            </a:r>
            <a:r>
              <a:rPr lang="en-US" sz="800" b="0" i="0" dirty="0" err="1">
                <a:solidFill>
                  <a:srgbClr val="474747"/>
                </a:solidFill>
                <a:effectLst/>
                <a:latin typeface="DejaVu Sans Mono"/>
              </a:rPr>
              <a:t>Integer.MAX_VALUE</a:t>
            </a:r>
            <a:r>
              <a:rPr lang="en-US" sz="800" b="0" i="0" dirty="0">
                <a:solidFill>
                  <a:srgbClr val="474747"/>
                </a:solidFill>
                <a:effectLst/>
                <a:latin typeface="DejaVu Serif"/>
              </a:rPr>
              <a:t> elements, returns </a:t>
            </a:r>
            <a:r>
              <a:rPr lang="en-US" sz="800" b="0" i="0" dirty="0" err="1">
                <a:solidFill>
                  <a:srgbClr val="474747"/>
                </a:solidFill>
                <a:effectLst/>
                <a:latin typeface="DejaVu Sans Mono"/>
              </a:rPr>
              <a:t>Integer.MAX_VALUE</a:t>
            </a:r>
            <a:r>
              <a:rPr lang="en-US" sz="800"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the number of elements in this collection</a:t>
            </a:r>
          </a:p>
          <a:p>
            <a:pPr algn="l">
              <a:spcBef>
                <a:spcPts val="750"/>
              </a:spcBef>
              <a:spcAft>
                <a:spcPts val="450"/>
              </a:spcAft>
              <a:buFont typeface="Arial" panose="020B0604020202020204" pitchFamily="34" charset="0"/>
              <a:buChar char="•"/>
            </a:pPr>
            <a:r>
              <a:rPr lang="en-US" sz="800" b="1" i="0" dirty="0" err="1">
                <a:solidFill>
                  <a:srgbClr val="353833"/>
                </a:solidFill>
                <a:effectLst/>
                <a:latin typeface="DejaVu Sans"/>
              </a:rPr>
              <a:t>isEmpty</a:t>
            </a:r>
            <a:endParaRPr lang="en-US" sz="800"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sz="800" b="0" i="0" dirty="0" err="1">
                <a:solidFill>
                  <a:srgbClr val="353833"/>
                </a:solidFill>
                <a:effectLst/>
                <a:latin typeface="DejaVu Sans Mono"/>
              </a:rPr>
              <a:t>boolean</a:t>
            </a:r>
            <a:r>
              <a:rPr lang="en-US" sz="800" b="0" i="0" dirty="0">
                <a:solidFill>
                  <a:srgbClr val="353833"/>
                </a:solidFill>
                <a:effectLst/>
                <a:latin typeface="DejaVu Sans Mono"/>
              </a:rPr>
              <a:t> </a:t>
            </a:r>
            <a:r>
              <a:rPr lang="en-US" sz="800" b="0" i="0" dirty="0" err="1">
                <a:solidFill>
                  <a:srgbClr val="353833"/>
                </a:solidFill>
                <a:effectLst/>
                <a:latin typeface="DejaVu Sans Mono"/>
              </a:rPr>
              <a:t>isEmpty</a:t>
            </a:r>
            <a:r>
              <a:rPr lang="en-US" sz="800"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a:t>
            </a:r>
            <a:r>
              <a:rPr lang="en-US" sz="800" b="0" i="0" dirty="0">
                <a:solidFill>
                  <a:srgbClr val="474747"/>
                </a:solidFill>
                <a:effectLst/>
                <a:latin typeface="DejaVu Sans Mono"/>
              </a:rPr>
              <a:t>true</a:t>
            </a:r>
            <a:r>
              <a:rPr lang="en-US" sz="800" b="0" i="0" dirty="0">
                <a:solidFill>
                  <a:srgbClr val="474747"/>
                </a:solidFill>
                <a:effectLst/>
                <a:latin typeface="DejaVu Serif"/>
              </a:rPr>
              <a:t> if this collection contains no elements.</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true if this collection contains no elements</a:t>
            </a:r>
          </a:p>
          <a:p>
            <a:pPr algn="l">
              <a:spcBef>
                <a:spcPts val="750"/>
              </a:spcBef>
              <a:spcAft>
                <a:spcPts val="450"/>
              </a:spcAft>
              <a:buFont typeface="Arial" panose="020B0604020202020204" pitchFamily="34" charset="0"/>
              <a:buChar char="•"/>
            </a:pPr>
            <a:r>
              <a:rPr lang="en-US" sz="800" b="1" i="0" dirty="0">
                <a:solidFill>
                  <a:srgbClr val="353833"/>
                </a:solidFill>
                <a:effectLst/>
                <a:latin typeface="DejaVu Sans"/>
              </a:rPr>
              <a:t>contains</a:t>
            </a:r>
          </a:p>
          <a:p>
            <a:pPr algn="l">
              <a:spcBef>
                <a:spcPts val="750"/>
              </a:spcBef>
              <a:spcAft>
                <a:spcPts val="1125"/>
              </a:spcAft>
              <a:buFont typeface="Arial" panose="020B0604020202020204" pitchFamily="34" charset="0"/>
              <a:buChar char="•"/>
            </a:pPr>
            <a:r>
              <a:rPr lang="en-US" sz="800" b="0" i="0" dirty="0" err="1">
                <a:solidFill>
                  <a:srgbClr val="353833"/>
                </a:solidFill>
                <a:effectLst/>
                <a:latin typeface="DejaVu Sans Mono"/>
              </a:rPr>
              <a:t>boolean</a:t>
            </a:r>
            <a:r>
              <a:rPr lang="en-US" sz="800" b="0" i="0" dirty="0">
                <a:solidFill>
                  <a:srgbClr val="353833"/>
                </a:solidFill>
                <a:effectLst/>
                <a:latin typeface="DejaVu Sans Mono"/>
              </a:rPr>
              <a:t> contains(</a:t>
            </a:r>
            <a:r>
              <a:rPr lang="en-US" sz="800" b="0" i="0" u="none" strike="noStrike" dirty="0">
                <a:solidFill>
                  <a:srgbClr val="4A6782"/>
                </a:solidFill>
                <a:effectLst/>
                <a:latin typeface="DejaVu Sans Mono"/>
                <a:hlinkClick r:id="rId2" tooltip="class in java.lang"/>
              </a:rPr>
              <a:t>Object</a:t>
            </a:r>
            <a:r>
              <a:rPr lang="en-US" sz="800"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a:t>
            </a:r>
            <a:r>
              <a:rPr lang="en-US" sz="800" b="0" i="0" dirty="0">
                <a:solidFill>
                  <a:srgbClr val="474747"/>
                </a:solidFill>
                <a:effectLst/>
                <a:latin typeface="DejaVu Sans Mono"/>
              </a:rPr>
              <a:t>true</a:t>
            </a:r>
            <a:r>
              <a:rPr lang="en-US" sz="800" b="0" i="0" dirty="0">
                <a:solidFill>
                  <a:srgbClr val="474747"/>
                </a:solidFill>
                <a:effectLst/>
                <a:latin typeface="DejaVu Serif"/>
              </a:rPr>
              <a:t> if this collection contains the specified element. More formally, returns </a:t>
            </a:r>
            <a:r>
              <a:rPr lang="en-US" sz="800" b="0" i="0" dirty="0">
                <a:solidFill>
                  <a:srgbClr val="474747"/>
                </a:solidFill>
                <a:effectLst/>
                <a:latin typeface="DejaVu Sans Mono"/>
              </a:rPr>
              <a:t>true</a:t>
            </a:r>
            <a:r>
              <a:rPr lang="en-US" sz="800" b="0" i="0" dirty="0">
                <a:solidFill>
                  <a:srgbClr val="474747"/>
                </a:solidFill>
                <a:effectLst/>
                <a:latin typeface="DejaVu Serif"/>
              </a:rPr>
              <a:t> if and only if this collection contains at least one element </a:t>
            </a:r>
            <a:r>
              <a:rPr lang="en-US" sz="800" b="0" i="0" dirty="0">
                <a:solidFill>
                  <a:srgbClr val="474747"/>
                </a:solidFill>
                <a:effectLst/>
                <a:latin typeface="DejaVu Sans Mono"/>
              </a:rPr>
              <a:t>e</a:t>
            </a:r>
            <a:r>
              <a:rPr lang="en-US" sz="800" b="0" i="0" dirty="0">
                <a:solidFill>
                  <a:srgbClr val="474747"/>
                </a:solidFill>
                <a:effectLst/>
                <a:latin typeface="DejaVu Serif"/>
              </a:rPr>
              <a:t> such that </a:t>
            </a:r>
            <a:r>
              <a:rPr lang="en-US" sz="800" b="0" i="0" dirty="0">
                <a:solidFill>
                  <a:srgbClr val="474747"/>
                </a:solidFill>
                <a:effectLst/>
                <a:latin typeface="DejaVu Sans Mono"/>
              </a:rPr>
              <a:t>(o==null ? e==null : </a:t>
            </a:r>
            <a:r>
              <a:rPr lang="en-US" sz="800" b="0" i="0" dirty="0" err="1">
                <a:solidFill>
                  <a:srgbClr val="474747"/>
                </a:solidFill>
                <a:effectLst/>
                <a:latin typeface="DejaVu Sans Mono"/>
              </a:rPr>
              <a:t>o.equals</a:t>
            </a:r>
            <a:r>
              <a:rPr lang="en-US" sz="800" b="0" i="0" dirty="0">
                <a:solidFill>
                  <a:srgbClr val="474747"/>
                </a:solidFill>
                <a:effectLst/>
                <a:latin typeface="DejaVu Sans Mono"/>
              </a:rPr>
              <a:t>(e))</a:t>
            </a:r>
            <a:r>
              <a:rPr lang="en-US" sz="800"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o - element whose presence in this collection is to be tested</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true if this collection contains the specified element</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sz="800" b="0" i="0" u="none" strike="noStrike" dirty="0" err="1">
                <a:solidFill>
                  <a:srgbClr val="4A6782"/>
                </a:solidFill>
                <a:effectLst/>
                <a:latin typeface="DejaVu Sans Mono"/>
                <a:hlinkClick r:id="rId3" tooltip="class in java.lang"/>
              </a:rPr>
              <a:t>ClassCastException</a:t>
            </a:r>
            <a:r>
              <a:rPr lang="en-US" sz="800" b="0" i="0" dirty="0">
                <a:solidFill>
                  <a:srgbClr val="353833"/>
                </a:solidFill>
                <a:effectLst/>
                <a:latin typeface="DejaVu Sans Mono"/>
              </a:rPr>
              <a:t> - if the type of the specified element is incompatible with this collection (</a:t>
            </a:r>
            <a:r>
              <a:rPr lang="en-US" sz="800" b="0" i="0" u="none" strike="noStrike" dirty="0">
                <a:solidFill>
                  <a:srgbClr val="4A6782"/>
                </a:solidFill>
                <a:effectLst/>
                <a:latin typeface="DejaVu Sans Mono"/>
                <a:hlinkClick r:id="rId4"/>
              </a:rPr>
              <a:t>optional</a:t>
            </a:r>
            <a:r>
              <a:rPr lang="en-US" sz="800"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sz="800" b="0" i="0" u="none" strike="noStrike" dirty="0" err="1">
                <a:solidFill>
                  <a:srgbClr val="4A6782"/>
                </a:solidFill>
                <a:effectLst/>
                <a:latin typeface="DejaVu Sans Mono"/>
                <a:hlinkClick r:id="rId5" tooltip="class in java.lang"/>
              </a:rPr>
              <a:t>NullPointerException</a:t>
            </a:r>
            <a:r>
              <a:rPr lang="en-US" sz="800" b="0" i="0" dirty="0">
                <a:solidFill>
                  <a:srgbClr val="353833"/>
                </a:solidFill>
                <a:effectLst/>
                <a:latin typeface="DejaVu Sans Mono"/>
              </a:rPr>
              <a:t> - if the specified element is null and this collection does not permit null elements (</a:t>
            </a:r>
            <a:r>
              <a:rPr lang="en-US" sz="800" b="0" i="0" u="none" strike="noStrike" dirty="0">
                <a:solidFill>
                  <a:srgbClr val="4A6782"/>
                </a:solidFill>
                <a:effectLst/>
                <a:latin typeface="DejaVu Sans Mono"/>
                <a:hlinkClick r:id="rId4"/>
              </a:rPr>
              <a:t>optional</a:t>
            </a:r>
            <a:r>
              <a:rPr lang="en-US" sz="800" b="0" i="0" dirty="0">
                <a:solidFill>
                  <a:srgbClr val="353833"/>
                </a:solidFill>
                <a:effectLst/>
                <a:latin typeface="DejaVu Sans Mono"/>
              </a:rPr>
              <a:t>)</a:t>
            </a:r>
          </a:p>
        </p:txBody>
      </p:sp>
    </p:spTree>
    <p:extLst>
      <p:ext uri="{BB962C8B-B14F-4D97-AF65-F5344CB8AC3E}">
        <p14:creationId xmlns:p14="http://schemas.microsoft.com/office/powerpoint/2010/main" val="4239751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CEA4E1-941B-95F6-38EC-C235D720CBD6}"/>
              </a:ext>
            </a:extLst>
          </p:cNvPr>
          <p:cNvSpPr txBox="1"/>
          <p:nvPr/>
        </p:nvSpPr>
        <p:spPr>
          <a:xfrm>
            <a:off x="192741" y="-2357132"/>
            <a:ext cx="9520517" cy="9051196"/>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sz="800" b="1" i="0" dirty="0">
                <a:solidFill>
                  <a:srgbClr val="353833"/>
                </a:solidFill>
                <a:effectLst/>
                <a:latin typeface="DejaVu Sans"/>
              </a:rPr>
              <a:t>iterator</a:t>
            </a:r>
          </a:p>
          <a:p>
            <a:pPr algn="l">
              <a:spcBef>
                <a:spcPts val="750"/>
              </a:spcBef>
              <a:spcAft>
                <a:spcPts val="1125"/>
              </a:spcAft>
              <a:buFont typeface="Arial" panose="020B0604020202020204" pitchFamily="34" charset="0"/>
              <a:buChar char="•"/>
            </a:pPr>
            <a:r>
              <a:rPr lang="en-US" sz="800" b="0" i="0" u="none" strike="noStrike" dirty="0">
                <a:solidFill>
                  <a:srgbClr val="4A6782"/>
                </a:solidFill>
                <a:effectLst/>
                <a:latin typeface="DejaVu Sans Mono"/>
                <a:hlinkClick r:id="rId2" tooltip="interface in java.util"/>
              </a:rPr>
              <a:t>Iterator</a:t>
            </a:r>
            <a:r>
              <a:rPr lang="en-US" sz="800" b="0" i="0" dirty="0">
                <a:solidFill>
                  <a:srgbClr val="353833"/>
                </a:solidFill>
                <a:effectLst/>
                <a:latin typeface="DejaVu Sans Mono"/>
              </a:rPr>
              <a:t>&lt;</a:t>
            </a:r>
            <a:r>
              <a:rPr lang="en-US" sz="800" b="0" i="0" u="none" strike="noStrike" dirty="0">
                <a:solidFill>
                  <a:srgbClr val="4A6782"/>
                </a:solidFill>
                <a:effectLst/>
                <a:latin typeface="DejaVu Sans Mono"/>
                <a:hlinkClick r:id="rId3" tooltip="type parameter in Collection"/>
              </a:rPr>
              <a:t>E</a:t>
            </a:r>
            <a:r>
              <a:rPr lang="en-US" sz="800" b="0" i="0" dirty="0">
                <a:solidFill>
                  <a:srgbClr val="353833"/>
                </a:solidFill>
                <a:effectLst/>
                <a:latin typeface="DejaVu Sans Mono"/>
              </a:rPr>
              <a:t>&gt; iterator()</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an iterator over the elements in this collection. There are no guarantees concerning the order in which the elements are returned (unless this collection is an instance of some class that provides a guarantee).</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sz="800" b="0" i="0" u="none" strike="noStrike" dirty="0">
                <a:solidFill>
                  <a:srgbClr val="4A6782"/>
                </a:solidFill>
                <a:effectLst/>
                <a:latin typeface="DejaVu Sans Mono"/>
                <a:hlinkClick r:id="rId4"/>
              </a:rPr>
              <a:t>iterator</a:t>
            </a:r>
            <a:r>
              <a:rPr lang="en-US" sz="800" b="0" i="0" dirty="0">
                <a:solidFill>
                  <a:srgbClr val="353833"/>
                </a:solidFill>
                <a:effectLst/>
                <a:latin typeface="DejaVu Sans Mono"/>
              </a:rPr>
              <a:t> in interface </a:t>
            </a:r>
            <a:r>
              <a:rPr lang="en-US" sz="800" b="0" i="0" u="none" strike="noStrike" dirty="0" err="1">
                <a:solidFill>
                  <a:srgbClr val="4A6782"/>
                </a:solidFill>
                <a:effectLst/>
                <a:latin typeface="DejaVu Sans Mono"/>
                <a:hlinkClick r:id="rId5" tooltip="interface in java.lang"/>
              </a:rPr>
              <a:t>Iterable</a:t>
            </a:r>
            <a:r>
              <a:rPr lang="en-US" sz="800" b="0" i="0" dirty="0">
                <a:solidFill>
                  <a:srgbClr val="353833"/>
                </a:solidFill>
                <a:effectLst/>
                <a:latin typeface="DejaVu Sans Mono"/>
              </a:rPr>
              <a:t>&lt;</a:t>
            </a:r>
            <a:r>
              <a:rPr lang="en-US" sz="800" b="0" i="0" u="none" strike="noStrike" dirty="0">
                <a:solidFill>
                  <a:srgbClr val="4A6782"/>
                </a:solidFill>
                <a:effectLst/>
                <a:latin typeface="DejaVu Sans Mono"/>
                <a:hlinkClick r:id="rId3" tooltip="type parameter in Collection"/>
              </a:rPr>
              <a:t>E</a:t>
            </a:r>
            <a:r>
              <a:rPr lang="en-US" sz="800"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an Iterator over the elements in this collection</a:t>
            </a:r>
          </a:p>
          <a:p>
            <a:pPr algn="l">
              <a:spcBef>
                <a:spcPts val="750"/>
              </a:spcBef>
              <a:spcAft>
                <a:spcPts val="450"/>
              </a:spcAft>
              <a:buFont typeface="Arial" panose="020B0604020202020204" pitchFamily="34" charset="0"/>
              <a:buChar char="•"/>
            </a:pPr>
            <a:r>
              <a:rPr lang="en-US" sz="800" b="1" i="0" dirty="0" err="1">
                <a:solidFill>
                  <a:srgbClr val="353833"/>
                </a:solidFill>
                <a:effectLst/>
                <a:latin typeface="DejaVu Sans"/>
              </a:rPr>
              <a:t>toArray</a:t>
            </a:r>
            <a:endParaRPr lang="en-US" sz="800"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sz="800" b="0" i="0" u="none" strike="noStrike" dirty="0">
                <a:solidFill>
                  <a:srgbClr val="4A6782"/>
                </a:solidFill>
                <a:effectLst/>
                <a:latin typeface="DejaVu Sans Mono"/>
                <a:hlinkClick r:id="rId6" tooltip="class in java.lang"/>
              </a:rPr>
              <a:t>Object</a:t>
            </a:r>
            <a:r>
              <a:rPr lang="en-US" sz="800" b="0" i="0" dirty="0">
                <a:solidFill>
                  <a:srgbClr val="353833"/>
                </a:solidFill>
                <a:effectLst/>
                <a:latin typeface="DejaVu Sans Mono"/>
              </a:rPr>
              <a:t>[] </a:t>
            </a:r>
            <a:r>
              <a:rPr lang="en-US" sz="800" b="0" i="0" dirty="0" err="1">
                <a:solidFill>
                  <a:srgbClr val="353833"/>
                </a:solidFill>
                <a:effectLst/>
                <a:latin typeface="DejaVu Sans Mono"/>
              </a:rPr>
              <a:t>toArray</a:t>
            </a:r>
            <a:r>
              <a:rPr lang="en-US" sz="800"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an array containing all of the elements in this collection. If this collection makes any guarantees as to what order its elements are returned by its iterator, this method must return the elements in the same order.</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The returned array will be "safe" in that no references to it are maintained by this collection. (In other words, this method must allocate a new array even if this collection is backed by an array). The caller is thus free to modify the returned array.</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This method acts as bridge between array-based and collection-based APIs.</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an array containing all of the elements in this collection</a:t>
            </a:r>
          </a:p>
          <a:p>
            <a:pPr algn="l">
              <a:spcBef>
                <a:spcPts val="750"/>
              </a:spcBef>
              <a:spcAft>
                <a:spcPts val="450"/>
              </a:spcAft>
              <a:buFont typeface="Arial" panose="020B0604020202020204" pitchFamily="34" charset="0"/>
              <a:buChar char="•"/>
            </a:pPr>
            <a:r>
              <a:rPr lang="en-US" sz="800" b="1" i="0" dirty="0" err="1">
                <a:solidFill>
                  <a:srgbClr val="353833"/>
                </a:solidFill>
                <a:effectLst/>
                <a:latin typeface="DejaVu Sans"/>
              </a:rPr>
              <a:t>toArray</a:t>
            </a:r>
            <a:endParaRPr lang="en-US" sz="800"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sz="800" b="0" i="0" dirty="0">
                <a:solidFill>
                  <a:srgbClr val="353833"/>
                </a:solidFill>
                <a:effectLst/>
                <a:latin typeface="DejaVu Sans Mono"/>
              </a:rPr>
              <a:t>&lt;T&gt; T[] </a:t>
            </a:r>
            <a:r>
              <a:rPr lang="en-US" sz="800" b="0" i="0" dirty="0" err="1">
                <a:solidFill>
                  <a:srgbClr val="353833"/>
                </a:solidFill>
                <a:effectLst/>
                <a:latin typeface="DejaVu Sans Mono"/>
              </a:rPr>
              <a:t>toArray</a:t>
            </a:r>
            <a:r>
              <a:rPr lang="en-US" sz="800" b="0" i="0" dirty="0">
                <a:solidFill>
                  <a:srgbClr val="353833"/>
                </a:solidFill>
                <a:effectLst/>
                <a:latin typeface="DejaVu Sans Mono"/>
              </a:rPr>
              <a:t>(T[] a)</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Returns an array containing all of the elements in this collection; the runtime type of the returned array is that of the specified array. If the collection fits in the specified array, it is returned therein. Otherwise, a new array is allocated with the runtime type of the specified array and the size of this collection.</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If this collection fits in the specified array with room to spare (i.e., the array has more elements than this collection), the element in the array immediately following the end of the collection is set to </a:t>
            </a:r>
            <a:r>
              <a:rPr lang="en-US" sz="800" b="0" i="0" dirty="0">
                <a:solidFill>
                  <a:srgbClr val="474747"/>
                </a:solidFill>
                <a:effectLst/>
                <a:latin typeface="DejaVu Sans Mono"/>
              </a:rPr>
              <a:t>null</a:t>
            </a:r>
            <a:r>
              <a:rPr lang="en-US" sz="800" b="0" i="0" dirty="0">
                <a:solidFill>
                  <a:srgbClr val="474747"/>
                </a:solidFill>
                <a:effectLst/>
                <a:latin typeface="DejaVu Serif"/>
              </a:rPr>
              <a:t>. (This is useful in determining the length of this collection </a:t>
            </a:r>
            <a:r>
              <a:rPr lang="en-US" sz="800" b="0" i="1" dirty="0">
                <a:solidFill>
                  <a:srgbClr val="474747"/>
                </a:solidFill>
                <a:effectLst/>
                <a:latin typeface="DejaVu Serif"/>
              </a:rPr>
              <a:t>only</a:t>
            </a:r>
            <a:r>
              <a:rPr lang="en-US" sz="800" b="0" i="0" dirty="0">
                <a:solidFill>
                  <a:srgbClr val="474747"/>
                </a:solidFill>
                <a:effectLst/>
                <a:latin typeface="DejaVu Serif"/>
              </a:rPr>
              <a:t> if the caller knows that this collection does not contain any </a:t>
            </a:r>
            <a:r>
              <a:rPr lang="en-US" sz="800" b="0" i="0" dirty="0">
                <a:solidFill>
                  <a:srgbClr val="474747"/>
                </a:solidFill>
                <a:effectLst/>
                <a:latin typeface="DejaVu Sans Mono"/>
              </a:rPr>
              <a:t>null</a:t>
            </a:r>
            <a:r>
              <a:rPr lang="en-US" sz="800" b="0" i="0" dirty="0">
                <a:solidFill>
                  <a:srgbClr val="474747"/>
                </a:solidFill>
                <a:effectLst/>
                <a:latin typeface="DejaVu Serif"/>
              </a:rPr>
              <a:t> elements.)</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If this collection makes any guarantees as to what order its elements are returned by its iterator, this method must return the elements in the same order.</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Like the </a:t>
            </a:r>
            <a:r>
              <a:rPr lang="en-US" sz="800" b="0" i="0" u="none" strike="noStrike" dirty="0" err="1">
                <a:solidFill>
                  <a:srgbClr val="4A6782"/>
                </a:solidFill>
                <a:effectLst/>
                <a:latin typeface="DejaVu Sans Mono"/>
                <a:hlinkClick r:id="rId7"/>
              </a:rPr>
              <a:t>toArray</a:t>
            </a:r>
            <a:r>
              <a:rPr lang="en-US" sz="800" b="0" i="0" u="none" strike="noStrike" dirty="0">
                <a:solidFill>
                  <a:srgbClr val="4A6782"/>
                </a:solidFill>
                <a:effectLst/>
                <a:latin typeface="DejaVu Sans Mono"/>
                <a:hlinkClick r:id="rId7"/>
              </a:rPr>
              <a:t>()</a:t>
            </a:r>
            <a:r>
              <a:rPr lang="en-US" sz="800" b="0" i="0" dirty="0">
                <a:solidFill>
                  <a:srgbClr val="474747"/>
                </a:solidFill>
                <a:effectLst/>
                <a:latin typeface="DejaVu Serif"/>
              </a:rPr>
              <a:t> method, this method acts as bridge between array-based and collection-based APIs. Further, this method allows precise control over the runtime type of the output array, and may, under certain circumstances, be used to save allocation costs.</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Suppose </a:t>
            </a:r>
            <a:r>
              <a:rPr lang="en-US" sz="800" b="0" i="0" dirty="0">
                <a:solidFill>
                  <a:srgbClr val="474747"/>
                </a:solidFill>
                <a:effectLst/>
                <a:latin typeface="DejaVu Sans Mono"/>
              </a:rPr>
              <a:t>x</a:t>
            </a:r>
            <a:r>
              <a:rPr lang="en-US" sz="800" b="0" i="0" dirty="0">
                <a:solidFill>
                  <a:srgbClr val="474747"/>
                </a:solidFill>
                <a:effectLst/>
                <a:latin typeface="DejaVu Serif"/>
              </a:rPr>
              <a:t> is a collection known to contain only strings. The following code can be used to dump the collection into a newly allocated array of </a:t>
            </a:r>
            <a:r>
              <a:rPr lang="en-US" sz="800" b="0" i="0" dirty="0">
                <a:solidFill>
                  <a:srgbClr val="474747"/>
                </a:solidFill>
                <a:effectLst/>
                <a:latin typeface="DejaVu Sans Mono"/>
              </a:rPr>
              <a:t>String</a:t>
            </a:r>
            <a:r>
              <a:rPr lang="en-US" sz="800" b="0" i="0" dirty="0">
                <a:solidFill>
                  <a:srgbClr val="474747"/>
                </a:solidFill>
                <a:effectLst/>
                <a:latin typeface="DejaVu Serif"/>
              </a:rPr>
              <a:t>:</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ans Mono"/>
              </a:rPr>
              <a:t>     String[] y = </a:t>
            </a:r>
            <a:r>
              <a:rPr lang="en-US" sz="800" b="0" i="0" dirty="0" err="1">
                <a:solidFill>
                  <a:srgbClr val="474747"/>
                </a:solidFill>
                <a:effectLst/>
                <a:latin typeface="DejaVu Sans Mono"/>
              </a:rPr>
              <a:t>x.toArray</a:t>
            </a:r>
            <a:r>
              <a:rPr lang="en-US" sz="800" b="0" i="0" dirty="0">
                <a:solidFill>
                  <a:srgbClr val="474747"/>
                </a:solidFill>
                <a:effectLst/>
                <a:latin typeface="DejaVu Sans Mono"/>
              </a:rPr>
              <a:t>(new String[0]);</a:t>
            </a:r>
          </a:p>
          <a:p>
            <a:pPr algn="l">
              <a:spcBef>
                <a:spcPts val="225"/>
              </a:spcBef>
              <a:spcAft>
                <a:spcPts val="150"/>
              </a:spcAft>
              <a:buFont typeface="Arial" panose="020B0604020202020204" pitchFamily="34" charset="0"/>
              <a:buChar char="•"/>
            </a:pPr>
            <a:r>
              <a:rPr lang="en-US" sz="800" b="0" i="0" dirty="0">
                <a:solidFill>
                  <a:srgbClr val="474747"/>
                </a:solidFill>
                <a:effectLst/>
                <a:latin typeface="DejaVu Serif"/>
              </a:rPr>
              <a:t>Note that </a:t>
            </a:r>
            <a:r>
              <a:rPr lang="en-US" sz="800" b="0" i="0" dirty="0" err="1">
                <a:solidFill>
                  <a:srgbClr val="474747"/>
                </a:solidFill>
                <a:effectLst/>
                <a:latin typeface="DejaVu Sans Mono"/>
              </a:rPr>
              <a:t>toArray</a:t>
            </a:r>
            <a:r>
              <a:rPr lang="en-US" sz="800" b="0" i="0" dirty="0">
                <a:solidFill>
                  <a:srgbClr val="474747"/>
                </a:solidFill>
                <a:effectLst/>
                <a:latin typeface="DejaVu Sans Mono"/>
              </a:rPr>
              <a:t>(new Object[0])</a:t>
            </a:r>
            <a:r>
              <a:rPr lang="en-US" sz="800" b="0" i="0" dirty="0">
                <a:solidFill>
                  <a:srgbClr val="474747"/>
                </a:solidFill>
                <a:effectLst/>
                <a:latin typeface="DejaVu Serif"/>
              </a:rPr>
              <a:t> is identical in function to </a:t>
            </a:r>
            <a:r>
              <a:rPr lang="en-US" sz="800" b="0" i="0" dirty="0" err="1">
                <a:solidFill>
                  <a:srgbClr val="474747"/>
                </a:solidFill>
                <a:effectLst/>
                <a:latin typeface="DejaVu Sans Mono"/>
              </a:rPr>
              <a:t>toArray</a:t>
            </a:r>
            <a:r>
              <a:rPr lang="en-US" sz="800" b="0" i="0" dirty="0">
                <a:solidFill>
                  <a:srgbClr val="474747"/>
                </a:solidFill>
                <a:effectLst/>
                <a:latin typeface="DejaVu Sans Mono"/>
              </a:rPr>
              <a:t>()</a:t>
            </a:r>
            <a:r>
              <a:rPr lang="en-US" sz="800"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T - the runtime type of the array to contain the collection</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a - the array into which the elements of this collection are to be stored, if it is big enough; otherwise, a new array of the same runtime type is allocated for this purpose.</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sz="800" b="0" i="0" dirty="0">
                <a:solidFill>
                  <a:srgbClr val="353833"/>
                </a:solidFill>
                <a:effectLst/>
                <a:latin typeface="DejaVu Sans Mono"/>
              </a:rPr>
              <a:t>an array containing all of the elements in this collection</a:t>
            </a:r>
          </a:p>
          <a:p>
            <a:pPr algn="l">
              <a:spcBef>
                <a:spcPts val="750"/>
              </a:spcBef>
              <a:spcAft>
                <a:spcPts val="1125"/>
              </a:spcAft>
              <a:buFont typeface="Arial" panose="020B0604020202020204" pitchFamily="34" charset="0"/>
              <a:buChar char="•"/>
            </a:pPr>
            <a:r>
              <a:rPr lang="en-US" sz="800"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sz="800" b="0" i="0" u="none" strike="noStrike" dirty="0" err="1">
                <a:solidFill>
                  <a:srgbClr val="4A6782"/>
                </a:solidFill>
                <a:effectLst/>
                <a:latin typeface="DejaVu Sans Mono"/>
                <a:hlinkClick r:id="rId8" tooltip="class in java.lang"/>
              </a:rPr>
              <a:t>ArrayStoreException</a:t>
            </a:r>
            <a:r>
              <a:rPr lang="en-US" sz="800" b="0" i="0" dirty="0">
                <a:solidFill>
                  <a:srgbClr val="353833"/>
                </a:solidFill>
                <a:effectLst/>
                <a:latin typeface="DejaVu Sans Mono"/>
              </a:rPr>
              <a:t> - if the runtime type of the specified array is not a supertype of the runtime type of every element in this collection</a:t>
            </a:r>
          </a:p>
          <a:p>
            <a:pPr algn="l">
              <a:spcBef>
                <a:spcPts val="375"/>
              </a:spcBef>
              <a:spcAft>
                <a:spcPts val="750"/>
              </a:spcAft>
              <a:buFont typeface="Arial" panose="020B0604020202020204" pitchFamily="34" charset="0"/>
              <a:buChar char="•"/>
            </a:pPr>
            <a:r>
              <a:rPr lang="en-US" sz="800" b="0" i="0" u="none" strike="noStrike" dirty="0" err="1">
                <a:solidFill>
                  <a:srgbClr val="4A6782"/>
                </a:solidFill>
                <a:effectLst/>
                <a:latin typeface="DejaVu Sans Mono"/>
                <a:hlinkClick r:id="rId9" tooltip="class in java.lang"/>
              </a:rPr>
              <a:t>NullPointerException</a:t>
            </a:r>
            <a:r>
              <a:rPr lang="en-US" sz="800" b="0" i="0" dirty="0">
                <a:solidFill>
                  <a:srgbClr val="353833"/>
                </a:solidFill>
                <a:effectLst/>
                <a:latin typeface="DejaVu Sans Mono"/>
              </a:rPr>
              <a:t> - if the specified array is null</a:t>
            </a:r>
          </a:p>
        </p:txBody>
      </p:sp>
    </p:spTree>
    <p:extLst>
      <p:ext uri="{BB962C8B-B14F-4D97-AF65-F5344CB8AC3E}">
        <p14:creationId xmlns:p14="http://schemas.microsoft.com/office/powerpoint/2010/main" val="610207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8B21AB-0B3C-80D1-F2B7-AEC4B8E81040}"/>
              </a:ext>
            </a:extLst>
          </p:cNvPr>
          <p:cNvSpPr txBox="1"/>
          <p:nvPr/>
        </p:nvSpPr>
        <p:spPr>
          <a:xfrm>
            <a:off x="2478741" y="-3790290"/>
            <a:ext cx="4957482" cy="14447545"/>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add</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add(</a:t>
            </a:r>
            <a:r>
              <a:rPr lang="en-US" b="0" i="0" u="none" strike="noStrike" dirty="0">
                <a:solidFill>
                  <a:srgbClr val="4A6782"/>
                </a:solidFill>
                <a:effectLst/>
                <a:latin typeface="DejaVu Sans Mono"/>
                <a:hlinkClick r:id="rId2" tooltip="type parameter in Collection"/>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Ensures that this collection contains the specified element (optional operation). Returns </a:t>
            </a:r>
            <a:r>
              <a:rPr lang="en-US" b="0" i="0" dirty="0">
                <a:solidFill>
                  <a:srgbClr val="474747"/>
                </a:solidFill>
                <a:effectLst/>
                <a:latin typeface="DejaVu Sans Mono"/>
              </a:rPr>
              <a:t>true</a:t>
            </a:r>
            <a:r>
              <a:rPr lang="en-US" b="0" i="0" dirty="0">
                <a:solidFill>
                  <a:srgbClr val="474747"/>
                </a:solidFill>
                <a:effectLst/>
                <a:latin typeface="DejaVu Serif"/>
              </a:rPr>
              <a:t> if this collection changed as a result of the call. (Returns </a:t>
            </a:r>
            <a:r>
              <a:rPr lang="en-US" b="0" i="0" dirty="0">
                <a:solidFill>
                  <a:srgbClr val="474747"/>
                </a:solidFill>
                <a:effectLst/>
                <a:latin typeface="DejaVu Sans Mono"/>
              </a:rPr>
              <a:t>false</a:t>
            </a:r>
            <a:r>
              <a:rPr lang="en-US" b="0" i="0" dirty="0">
                <a:solidFill>
                  <a:srgbClr val="474747"/>
                </a:solidFill>
                <a:effectLst/>
                <a:latin typeface="DejaVu Serif"/>
              </a:rPr>
              <a:t> if this collection does not permit duplicates and already contains the specified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Collections that support this operation may place limitations on what elements may be added to this collection. In particular, some collections will refuse to add </a:t>
            </a:r>
            <a:r>
              <a:rPr lang="en-US" b="0" i="0" dirty="0">
                <a:solidFill>
                  <a:srgbClr val="474747"/>
                </a:solidFill>
                <a:effectLst/>
                <a:latin typeface="DejaVu Sans Mono"/>
              </a:rPr>
              <a:t>null</a:t>
            </a:r>
            <a:r>
              <a:rPr lang="en-US" b="0" i="0" dirty="0">
                <a:solidFill>
                  <a:srgbClr val="474747"/>
                </a:solidFill>
                <a:effectLst/>
                <a:latin typeface="DejaVu Serif"/>
              </a:rPr>
              <a:t> elements, and others will impose restrictions on the type of elements that may be added. Collection classes should clearly specify in their documentation any restrictions on what elements may be added.</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If a collection refuses to add a particular element for any reason other than that it already contains the element, it </a:t>
            </a:r>
            <a:r>
              <a:rPr lang="en-US" b="0" i="1" dirty="0">
                <a:solidFill>
                  <a:srgbClr val="474747"/>
                </a:solidFill>
                <a:effectLst/>
                <a:latin typeface="DejaVu Serif"/>
              </a:rPr>
              <a:t>must</a:t>
            </a:r>
            <a:r>
              <a:rPr lang="en-US" b="0" i="0" dirty="0">
                <a:solidFill>
                  <a:srgbClr val="474747"/>
                </a:solidFill>
                <a:effectLst/>
                <a:latin typeface="DejaVu Serif"/>
              </a:rPr>
              <a:t> throw an exception (rather than returning </a:t>
            </a:r>
            <a:r>
              <a:rPr lang="en-US" b="0" i="0" dirty="0">
                <a:solidFill>
                  <a:srgbClr val="474747"/>
                </a:solidFill>
                <a:effectLst/>
                <a:latin typeface="DejaVu Sans Mono"/>
              </a:rPr>
              <a:t>false</a:t>
            </a:r>
            <a:r>
              <a:rPr lang="en-US" b="0" i="0" dirty="0">
                <a:solidFill>
                  <a:srgbClr val="474747"/>
                </a:solidFill>
                <a:effectLst/>
                <a:latin typeface="DejaVu Serif"/>
              </a:rPr>
              <a:t>). This preserves the invariant that a collection always contains the specified element after this call returns.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element whose presence in this collection is to be ensured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collection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the add operation is not supported by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ClassCastException</a:t>
            </a:r>
            <a:r>
              <a:rPr lang="en-US" b="0" i="0" dirty="0">
                <a:solidFill>
                  <a:srgbClr val="353833"/>
                </a:solidFill>
                <a:effectLst/>
                <a:latin typeface="DejaVu Sans Mono"/>
              </a:rPr>
              <a:t> - if the class of the specified element prevents it from being added to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element is null and this collection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IllegalArgumentException</a:t>
            </a:r>
            <a:r>
              <a:rPr lang="en-US" b="0" i="0" dirty="0">
                <a:solidFill>
                  <a:srgbClr val="353833"/>
                </a:solidFill>
                <a:effectLst/>
                <a:latin typeface="DejaVu Sans Mono"/>
              </a:rPr>
              <a:t> - if some property of the element prevents it from being added to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IllegalStateException</a:t>
            </a:r>
            <a:r>
              <a:rPr lang="en-US" b="0" i="0" dirty="0">
                <a:solidFill>
                  <a:srgbClr val="353833"/>
                </a:solidFill>
                <a:effectLst/>
                <a:latin typeface="DejaVu Sans Mono"/>
              </a:rPr>
              <a:t> - if the element cannot be added at this time due to insertion restrictions</a:t>
            </a:r>
          </a:p>
        </p:txBody>
      </p:sp>
    </p:spTree>
    <p:extLst>
      <p:ext uri="{BB962C8B-B14F-4D97-AF65-F5344CB8AC3E}">
        <p14:creationId xmlns:p14="http://schemas.microsoft.com/office/powerpoint/2010/main" val="931988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1887BF-736C-CE03-2FDB-A5411E16C831}"/>
              </a:ext>
            </a:extLst>
          </p:cNvPr>
          <p:cNvSpPr txBox="1"/>
          <p:nvPr/>
        </p:nvSpPr>
        <p:spPr>
          <a:xfrm>
            <a:off x="2478741" y="-5380469"/>
            <a:ext cx="4957482" cy="17627903"/>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remove(</a:t>
            </a:r>
            <a:r>
              <a:rPr lang="en-US" b="0" i="0" u="none" strike="noStrike" dirty="0">
                <a:solidFill>
                  <a:srgbClr val="4A6782"/>
                </a:solidFill>
                <a:effectLst/>
                <a:latin typeface="DejaVu Sans Mono"/>
                <a:hlinkClick r:id="rId2"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a single instance of the specified element from this collection, if it is present (optional operation). More formally, removes an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 if this collection contains one or more such elements. Returns </a:t>
            </a:r>
            <a:r>
              <a:rPr lang="en-US" b="0" i="0" dirty="0">
                <a:solidFill>
                  <a:srgbClr val="474747"/>
                </a:solidFill>
                <a:effectLst/>
                <a:latin typeface="DejaVu Sans Mono"/>
              </a:rPr>
              <a:t>true</a:t>
            </a:r>
            <a:r>
              <a:rPr lang="en-US" b="0" i="0" dirty="0">
                <a:solidFill>
                  <a:srgbClr val="474747"/>
                </a:solidFill>
                <a:effectLst/>
                <a:latin typeface="DejaVu Serif"/>
              </a:rPr>
              <a:t> if this collection contained the specified element (or equivalently, if this collection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be removed from this collection, if present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an element was removed as a result of this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ClassCastException</a:t>
            </a:r>
            <a:r>
              <a:rPr lang="en-US" b="0" i="0" dirty="0">
                <a:solidFill>
                  <a:srgbClr val="353833"/>
                </a:solidFill>
                <a:effectLst/>
                <a:latin typeface="DejaVu Sans Mono"/>
              </a:rPr>
              <a:t> - if the type of the specified element is incompatible with this collection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element is null and this collection does not permit null elements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UnsupportedOperationException</a:t>
            </a:r>
            <a:r>
              <a:rPr lang="en-US" b="0" i="0" dirty="0">
                <a:solidFill>
                  <a:srgbClr val="353833"/>
                </a:solidFill>
                <a:effectLst/>
                <a:latin typeface="DejaVu Sans Mono"/>
              </a:rPr>
              <a:t> - if the remove operation is not supported by this collection</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containsAll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containsAll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7"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t>
            </a:r>
            <a:r>
              <a:rPr lang="en-US" b="0" i="0" dirty="0">
                <a:solidFill>
                  <a:srgbClr val="474747"/>
                </a:solidFill>
                <a:effectLst/>
                <a:latin typeface="DejaVu Sans Mono"/>
              </a:rPr>
              <a:t>true</a:t>
            </a:r>
            <a:r>
              <a:rPr lang="en-US" b="0" i="0" dirty="0">
                <a:solidFill>
                  <a:srgbClr val="474747"/>
                </a:solidFill>
                <a:effectLst/>
                <a:latin typeface="DejaVu Serif"/>
              </a:rPr>
              <a:t> if this collection contains all of the elements in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to be checked for containment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collection contains all of the elements in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ClassCastException</a:t>
            </a:r>
            <a:r>
              <a:rPr lang="en-US" b="0" i="0" dirty="0">
                <a:solidFill>
                  <a:srgbClr val="353833"/>
                </a:solidFill>
                <a:effectLst/>
                <a:latin typeface="DejaVu Sans Mono"/>
              </a:rPr>
              <a:t> - if the types of one or more elements in the specified collection are incompatible with this collection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collection contains one or more null elements and this collection does not permit null elements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8"/>
              </a:rPr>
              <a:t>contains(Object)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3429885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CFE52A-77FC-4678-9C27-7BEB81EF1B93}"/>
              </a:ext>
            </a:extLst>
          </p:cNvPr>
          <p:cNvSpPr txBox="1"/>
          <p:nvPr/>
        </p:nvSpPr>
        <p:spPr>
          <a:xfrm>
            <a:off x="2478741" y="-3106770"/>
            <a:ext cx="4957482" cy="13080504"/>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addAll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addAll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 extends </a:t>
            </a:r>
            <a:r>
              <a:rPr lang="en-US" b="0" i="0" u="none" strike="noStrike" dirty="0">
                <a:solidFill>
                  <a:srgbClr val="4A6782"/>
                </a:solidFill>
                <a:effectLst/>
                <a:latin typeface="DejaVu Sans Mono"/>
                <a:hlinkClick r:id="rId2" tooltip="type parameter in Collection"/>
              </a:rPr>
              <a:t>E</a:t>
            </a:r>
            <a:r>
              <a:rPr lang="en-US" b="0" i="0" dirty="0">
                <a:solidFill>
                  <a:srgbClr val="353833"/>
                </a:solidFill>
                <a:effectLst/>
                <a:latin typeface="DejaVu Sans Mono"/>
              </a:rPr>
              <a: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Adds all of the elements in the specified collection to this collection (optional operation). The behavior of this operation is undefined if the specified collection is modified while the operation is in progress. (This implies that the behavior of this call is undefined if the specified collection is this collection, and this collection is nonempty.)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added to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collection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addAll</a:t>
            </a:r>
            <a:r>
              <a:rPr lang="en-US" b="0" i="0" dirty="0">
                <a:solidFill>
                  <a:srgbClr val="353833"/>
                </a:solidFill>
                <a:effectLst/>
                <a:latin typeface="DejaVu Sans Mono"/>
              </a:rPr>
              <a:t> operation is not supported by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ClassCastException</a:t>
            </a:r>
            <a:r>
              <a:rPr lang="en-US" b="0" i="0" dirty="0">
                <a:solidFill>
                  <a:srgbClr val="353833"/>
                </a:solidFill>
                <a:effectLst/>
                <a:latin typeface="DejaVu Sans Mono"/>
              </a:rPr>
              <a:t> - if the class of an element of the specified collection prevents it from being added to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collection contains a null element and this collection does not permit null elements, or if the specified collection is null</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IllegalArgumentException</a:t>
            </a:r>
            <a:r>
              <a:rPr lang="en-US" b="0" i="0" dirty="0">
                <a:solidFill>
                  <a:srgbClr val="353833"/>
                </a:solidFill>
                <a:effectLst/>
                <a:latin typeface="DejaVu Sans Mono"/>
              </a:rPr>
              <a:t> - if some property of an element of the specified collection prevents it from being added to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IllegalStateException</a:t>
            </a:r>
            <a:r>
              <a:rPr lang="en-US" b="0" i="0" dirty="0">
                <a:solidFill>
                  <a:srgbClr val="353833"/>
                </a:solidFill>
                <a:effectLst/>
                <a:latin typeface="DejaVu Sans Mono"/>
              </a:rPr>
              <a:t> - if not all the elements can be added at this time due to insertion restrictions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8"/>
              </a:rPr>
              <a:t>add(Object)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2159636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16E131-B6EB-EB14-6F7C-0CAA1237AC66}"/>
              </a:ext>
            </a:extLst>
          </p:cNvPr>
          <p:cNvSpPr txBox="1"/>
          <p:nvPr/>
        </p:nvSpPr>
        <p:spPr>
          <a:xfrm>
            <a:off x="2478741" y="-7301508"/>
            <a:ext cx="4957482" cy="21469980"/>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removeAll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all of this collection's elements that are also contained in the specified collection (optional operation). After this call returns, this collection will contain no elements in common with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removed from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collection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removeAll</a:t>
            </a:r>
            <a:r>
              <a:rPr lang="en-US" b="0" i="0" dirty="0">
                <a:solidFill>
                  <a:srgbClr val="353833"/>
                </a:solidFill>
                <a:effectLst/>
                <a:latin typeface="DejaVu Sans Mono"/>
              </a:rPr>
              <a:t> method is not supported by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ClassCastException</a:t>
            </a:r>
            <a:r>
              <a:rPr lang="en-US" b="0" i="0" dirty="0">
                <a:solidFill>
                  <a:srgbClr val="353833"/>
                </a:solidFill>
                <a:effectLst/>
                <a:latin typeface="DejaVu Sans Mono"/>
              </a:rPr>
              <a:t> - if the types of one or more elements in this collection are incompatible with the specified collection (</a:t>
            </a:r>
            <a:r>
              <a:rPr lang="en-US" b="0" i="0" u="none" strike="noStrike" dirty="0">
                <a:solidFill>
                  <a:srgbClr val="4A6782"/>
                </a:solidFill>
                <a:effectLst/>
                <a:latin typeface="DejaVu Sans Mono"/>
                <a:hlinkClick r:id="rId5"/>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this collection contains one or more null elements and the specified collection does not support null elements (</a:t>
            </a:r>
            <a:r>
              <a:rPr lang="en-US" b="0" i="0" u="none" strike="noStrike" dirty="0">
                <a:solidFill>
                  <a:srgbClr val="4A6782"/>
                </a:solidFill>
                <a:effectLst/>
                <a:latin typeface="DejaVu Sans Mono"/>
                <a:hlinkClick r:id="rId5"/>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7"/>
              </a:rPr>
              <a:t>remove(Object)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8"/>
              </a:rPr>
              <a:t>contains(Object)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removeIf</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removeIf</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9" tooltip="interface in java.util.function"/>
              </a:rPr>
              <a:t>Predicate</a:t>
            </a:r>
            <a:r>
              <a:rPr lang="en-US" b="0" i="0" dirty="0">
                <a:solidFill>
                  <a:srgbClr val="353833"/>
                </a:solidFill>
                <a:effectLst/>
                <a:latin typeface="DejaVu Sans Mono"/>
              </a:rPr>
              <a:t>&lt;? super </a:t>
            </a:r>
            <a:r>
              <a:rPr lang="en-US" b="0" i="0" u="none" strike="noStrike" dirty="0">
                <a:solidFill>
                  <a:srgbClr val="4A6782"/>
                </a:solidFill>
                <a:effectLst/>
                <a:latin typeface="DejaVu Sans Mono"/>
                <a:hlinkClick r:id="rId2" tooltip="type parameter in Collection"/>
              </a:rPr>
              <a:t>E</a:t>
            </a:r>
            <a:r>
              <a:rPr lang="en-US" b="0" i="0" dirty="0">
                <a:solidFill>
                  <a:srgbClr val="353833"/>
                </a:solidFill>
                <a:effectLst/>
                <a:latin typeface="DejaVu Sans Mono"/>
              </a:rPr>
              <a:t>&gt; filter)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all of the elements of this collection that satisfy the given predicate. Errors or runtime exceptions thrown during iteration or by the predicate are relayed to the caller.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traverses all elements of the collection using its </a:t>
            </a:r>
            <a:r>
              <a:rPr lang="en-US" b="0" i="0" u="none" strike="noStrike" dirty="0">
                <a:solidFill>
                  <a:srgbClr val="4A6782"/>
                </a:solidFill>
                <a:effectLst/>
                <a:latin typeface="DejaVu Sans Mono"/>
                <a:hlinkClick r:id="rId10"/>
              </a:rPr>
              <a:t>iterator()</a:t>
            </a:r>
            <a:r>
              <a:rPr lang="en-US" b="0" i="0" dirty="0">
                <a:solidFill>
                  <a:srgbClr val="353833"/>
                </a:solidFill>
                <a:effectLst/>
                <a:latin typeface="DejaVu Sans Mono"/>
              </a:rPr>
              <a:t>. Each matching element is removed using </a:t>
            </a:r>
            <a:r>
              <a:rPr lang="en-US" b="0" i="0" u="none" strike="noStrike" dirty="0" err="1">
                <a:solidFill>
                  <a:srgbClr val="4A6782"/>
                </a:solidFill>
                <a:effectLst/>
                <a:latin typeface="DejaVu Sans Mono"/>
                <a:hlinkClick r:id="rId11"/>
              </a:rPr>
              <a:t>Iterator.remove</a:t>
            </a:r>
            <a:r>
              <a:rPr lang="en-US" b="0" i="0" u="none" strike="noStrike" dirty="0">
                <a:solidFill>
                  <a:srgbClr val="4A6782"/>
                </a:solidFill>
                <a:effectLst/>
                <a:latin typeface="DejaVu Sans Mono"/>
                <a:hlinkClick r:id="rId11"/>
              </a:rPr>
              <a:t>()</a:t>
            </a:r>
            <a:r>
              <a:rPr lang="en-US" b="0" i="0" dirty="0">
                <a:solidFill>
                  <a:srgbClr val="353833"/>
                </a:solidFill>
                <a:effectLst/>
                <a:latin typeface="DejaVu Sans Mono"/>
              </a:rPr>
              <a:t>. If the collection's iterator does not support removal then an </a:t>
            </a:r>
            <a:r>
              <a:rPr lang="en-US" b="0" i="0" dirty="0" err="1">
                <a:solidFill>
                  <a:srgbClr val="353833"/>
                </a:solidFill>
                <a:effectLst/>
                <a:latin typeface="DejaVu Sans Mono"/>
              </a:rPr>
              <a:t>UnsupportedOperationException</a:t>
            </a:r>
            <a:r>
              <a:rPr lang="en-US" b="0" i="0" dirty="0">
                <a:solidFill>
                  <a:srgbClr val="353833"/>
                </a:solidFill>
                <a:effectLst/>
                <a:latin typeface="DejaVu Sans Mono"/>
              </a:rPr>
              <a:t> will be thrown on the first matching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filter - a predicate which returns true for elements to be removed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any elements were removed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filter is null</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elements cannot be removed from this collection. Implementations may throw this exception if a matching element cannot be removed or if, in general, removal is not supported.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Tree>
    <p:extLst>
      <p:ext uri="{BB962C8B-B14F-4D97-AF65-F5344CB8AC3E}">
        <p14:creationId xmlns:p14="http://schemas.microsoft.com/office/powerpoint/2010/main" val="390073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053BD4-90F7-D0C9-4465-427F44D67BE6}"/>
              </a:ext>
            </a:extLst>
          </p:cNvPr>
          <p:cNvSpPr txBox="1"/>
          <p:nvPr/>
        </p:nvSpPr>
        <p:spPr>
          <a:xfrm>
            <a:off x="2478741" y="-3572282"/>
            <a:ext cx="4957482" cy="14011528"/>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retainAll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retainAll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Retains only the elements in this collection that are contained in the specified collection (optional operation). In other words, removes from this collection all of its elements that are not contained in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retained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collection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retainAll</a:t>
            </a:r>
            <a:r>
              <a:rPr lang="en-US" b="0" i="0" dirty="0">
                <a:solidFill>
                  <a:srgbClr val="353833"/>
                </a:solidFill>
                <a:effectLst/>
                <a:latin typeface="DejaVu Sans Mono"/>
              </a:rPr>
              <a:t> operation is not supported by this collection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ClassCastException</a:t>
            </a:r>
            <a:r>
              <a:rPr lang="en-US" b="0" i="0" dirty="0">
                <a:solidFill>
                  <a:srgbClr val="353833"/>
                </a:solidFill>
                <a:effectLst/>
                <a:latin typeface="DejaVu Sans Mono"/>
              </a:rPr>
              <a:t> - if the types of one or more elements in this collection are incompatible with the specified collection (</a:t>
            </a:r>
            <a:r>
              <a:rPr lang="en-US" b="0" i="0" u="none" strike="noStrike" dirty="0">
                <a:solidFill>
                  <a:srgbClr val="4A6782"/>
                </a:solidFill>
                <a:effectLst/>
                <a:latin typeface="DejaVu Sans Mono"/>
                <a:hlinkClick r:id="rId5"/>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this collection contains one or more null elements and the specified collection does not permit null elements (</a:t>
            </a:r>
            <a:r>
              <a:rPr lang="en-US" b="0" i="0" u="none" strike="noStrike" dirty="0">
                <a:solidFill>
                  <a:srgbClr val="4A6782"/>
                </a:solidFill>
                <a:effectLst/>
                <a:latin typeface="DejaVu Sans Mono"/>
                <a:hlinkClick r:id="rId5"/>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7"/>
              </a:rPr>
              <a:t>remove(Object)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8"/>
              </a:rPr>
              <a:t>contains(Object)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clear</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void clear()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all of the elements from this collection (optional operation). The collection will be empty after this method returns.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UnsupportedOperationException</a:t>
            </a:r>
            <a:r>
              <a:rPr lang="en-US" b="0" i="0" dirty="0">
                <a:solidFill>
                  <a:srgbClr val="353833"/>
                </a:solidFill>
                <a:effectLst/>
                <a:latin typeface="DejaVu Sans Mono"/>
              </a:rPr>
              <a:t> - if the clear operation is not supported by this collection</a:t>
            </a:r>
          </a:p>
          <a:p>
            <a:pPr>
              <a:buNone/>
            </a:pPr>
            <a:br>
              <a:rPr lang="en-US" b="0" i="0" dirty="0">
                <a:solidFill>
                  <a:srgbClr val="353833"/>
                </a:solidFill>
                <a:effectLst/>
                <a:latin typeface="DejaVu Sans"/>
              </a:rPr>
            </a:br>
            <a:endParaRPr lang="en-US" dirty="0"/>
          </a:p>
        </p:txBody>
      </p:sp>
    </p:spTree>
    <p:extLst>
      <p:ext uri="{BB962C8B-B14F-4D97-AF65-F5344CB8AC3E}">
        <p14:creationId xmlns:p14="http://schemas.microsoft.com/office/powerpoint/2010/main" val="4084824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0C6582-7C1A-CBE2-266A-F410E37C2016}"/>
              </a:ext>
            </a:extLst>
          </p:cNvPr>
          <p:cNvSpPr txBox="1"/>
          <p:nvPr/>
        </p:nvSpPr>
        <p:spPr>
          <a:xfrm>
            <a:off x="2478741" y="-3542787"/>
            <a:ext cx="4957482" cy="13952538"/>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equals</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equals(</a:t>
            </a:r>
            <a:r>
              <a:rPr lang="en-US" b="0" i="0" u="none" strike="noStrike" dirty="0">
                <a:solidFill>
                  <a:srgbClr val="4A6782"/>
                </a:solidFill>
                <a:effectLst/>
                <a:latin typeface="DejaVu Sans Mono"/>
                <a:hlinkClick r:id="rId2"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Compares the specified object with this collection for equality.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While the </a:t>
            </a:r>
            <a:r>
              <a:rPr lang="en-US" b="0" i="0" dirty="0">
                <a:solidFill>
                  <a:srgbClr val="474747"/>
                </a:solidFill>
                <a:effectLst/>
                <a:latin typeface="DejaVu Sans Mono"/>
              </a:rPr>
              <a:t>Collection</a:t>
            </a:r>
            <a:r>
              <a:rPr lang="en-US" b="0" i="0" dirty="0">
                <a:solidFill>
                  <a:srgbClr val="474747"/>
                </a:solidFill>
                <a:effectLst/>
                <a:latin typeface="DejaVu Serif"/>
              </a:rPr>
              <a:t> interface adds no stipulations to the general contract for the </a:t>
            </a:r>
            <a:r>
              <a:rPr lang="en-US" b="0" i="0" dirty="0" err="1">
                <a:solidFill>
                  <a:srgbClr val="474747"/>
                </a:solidFill>
                <a:effectLst/>
                <a:latin typeface="DejaVu Sans Mono"/>
              </a:rPr>
              <a:t>Object.equals</a:t>
            </a:r>
            <a:r>
              <a:rPr lang="en-US" b="0" i="0" dirty="0">
                <a:solidFill>
                  <a:srgbClr val="474747"/>
                </a:solidFill>
                <a:effectLst/>
                <a:latin typeface="DejaVu Serif"/>
              </a:rPr>
              <a:t>, programmers who implement the </a:t>
            </a:r>
            <a:r>
              <a:rPr lang="en-US" b="0" i="0" dirty="0">
                <a:solidFill>
                  <a:srgbClr val="474747"/>
                </a:solidFill>
                <a:effectLst/>
                <a:latin typeface="DejaVu Sans Mono"/>
              </a:rPr>
              <a:t>Collection</a:t>
            </a:r>
            <a:r>
              <a:rPr lang="en-US" b="0" i="0" dirty="0">
                <a:solidFill>
                  <a:srgbClr val="474747"/>
                </a:solidFill>
                <a:effectLst/>
                <a:latin typeface="DejaVu Serif"/>
              </a:rPr>
              <a:t> interface "directly" (in other words, create a class that is a </a:t>
            </a:r>
            <a:r>
              <a:rPr lang="en-US" b="0" i="0" dirty="0">
                <a:solidFill>
                  <a:srgbClr val="474747"/>
                </a:solidFill>
                <a:effectLst/>
                <a:latin typeface="DejaVu Sans Mono"/>
              </a:rPr>
              <a:t>Collection</a:t>
            </a:r>
            <a:r>
              <a:rPr lang="en-US" b="0" i="0" dirty="0">
                <a:solidFill>
                  <a:srgbClr val="474747"/>
                </a:solidFill>
                <a:effectLst/>
                <a:latin typeface="DejaVu Serif"/>
              </a:rPr>
              <a:t> but is not a </a:t>
            </a:r>
            <a:r>
              <a:rPr lang="en-US" b="0" i="0" dirty="0">
                <a:solidFill>
                  <a:srgbClr val="474747"/>
                </a:solidFill>
                <a:effectLst/>
                <a:latin typeface="DejaVu Sans Mono"/>
              </a:rPr>
              <a:t>Set</a:t>
            </a:r>
            <a:r>
              <a:rPr lang="en-US" b="0" i="0" dirty="0">
                <a:solidFill>
                  <a:srgbClr val="474747"/>
                </a:solidFill>
                <a:effectLst/>
                <a:latin typeface="DejaVu Serif"/>
              </a:rPr>
              <a:t> or a </a:t>
            </a:r>
            <a:r>
              <a:rPr lang="en-US" b="0" i="0" dirty="0">
                <a:solidFill>
                  <a:srgbClr val="474747"/>
                </a:solidFill>
                <a:effectLst/>
                <a:latin typeface="DejaVu Sans Mono"/>
              </a:rPr>
              <a:t>List</a:t>
            </a:r>
            <a:r>
              <a:rPr lang="en-US" b="0" i="0" dirty="0">
                <a:solidFill>
                  <a:srgbClr val="474747"/>
                </a:solidFill>
                <a:effectLst/>
                <a:latin typeface="DejaVu Serif"/>
              </a:rPr>
              <a:t>) must exercise care if they choose to override the </a:t>
            </a:r>
            <a:r>
              <a:rPr lang="en-US" b="0" i="0" dirty="0" err="1">
                <a:solidFill>
                  <a:srgbClr val="474747"/>
                </a:solidFill>
                <a:effectLst/>
                <a:latin typeface="DejaVu Sans Mono"/>
              </a:rPr>
              <a:t>Object.equals</a:t>
            </a:r>
            <a:r>
              <a:rPr lang="en-US" b="0" i="0" dirty="0">
                <a:solidFill>
                  <a:srgbClr val="474747"/>
                </a:solidFill>
                <a:effectLst/>
                <a:latin typeface="DejaVu Serif"/>
              </a:rPr>
              <a:t>. It is not necessary to do so, and the simplest course of action is to rely on </a:t>
            </a:r>
            <a:r>
              <a:rPr lang="en-US" b="0" i="0" dirty="0">
                <a:solidFill>
                  <a:srgbClr val="474747"/>
                </a:solidFill>
                <a:effectLst/>
                <a:latin typeface="DejaVu Sans Mono"/>
              </a:rPr>
              <a:t>Object</a:t>
            </a:r>
            <a:r>
              <a:rPr lang="en-US" b="0" i="0" dirty="0">
                <a:solidFill>
                  <a:srgbClr val="474747"/>
                </a:solidFill>
                <a:effectLst/>
                <a:latin typeface="DejaVu Serif"/>
              </a:rPr>
              <a:t>'s implementation, but the implementor may wish to implement a "value comparison" in place of the default "reference comparison." (The </a:t>
            </a:r>
            <a:r>
              <a:rPr lang="en-US" b="0" i="0" dirty="0">
                <a:solidFill>
                  <a:srgbClr val="474747"/>
                </a:solidFill>
                <a:effectLst/>
                <a:latin typeface="DejaVu Sans Mono"/>
              </a:rPr>
              <a:t>List</a:t>
            </a:r>
            <a:r>
              <a:rPr lang="en-US" b="0" i="0" dirty="0">
                <a:solidFill>
                  <a:srgbClr val="474747"/>
                </a:solidFill>
                <a:effectLst/>
                <a:latin typeface="DejaVu Serif"/>
              </a:rPr>
              <a:t> and </a:t>
            </a:r>
            <a:r>
              <a:rPr lang="en-US" b="0" i="0" dirty="0">
                <a:solidFill>
                  <a:srgbClr val="474747"/>
                </a:solidFill>
                <a:effectLst/>
                <a:latin typeface="DejaVu Sans Mono"/>
              </a:rPr>
              <a:t>Set</a:t>
            </a:r>
            <a:r>
              <a:rPr lang="en-US" b="0" i="0" dirty="0">
                <a:solidFill>
                  <a:srgbClr val="474747"/>
                </a:solidFill>
                <a:effectLst/>
                <a:latin typeface="DejaVu Serif"/>
              </a:rPr>
              <a:t> interfaces mandate such value comparisons.)</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 general contract for the </a:t>
            </a:r>
            <a:r>
              <a:rPr lang="en-US" b="0" i="0" dirty="0" err="1">
                <a:solidFill>
                  <a:srgbClr val="474747"/>
                </a:solidFill>
                <a:effectLst/>
                <a:latin typeface="DejaVu Sans Mono"/>
              </a:rPr>
              <a:t>Object.equals</a:t>
            </a:r>
            <a:r>
              <a:rPr lang="en-US" b="0" i="0" dirty="0">
                <a:solidFill>
                  <a:srgbClr val="474747"/>
                </a:solidFill>
                <a:effectLst/>
                <a:latin typeface="DejaVu Serif"/>
              </a:rPr>
              <a:t> method states that equals must be symmetric (in other words, </a:t>
            </a:r>
            <a:r>
              <a:rPr lang="en-US" b="0" i="0" dirty="0" err="1">
                <a:solidFill>
                  <a:srgbClr val="474747"/>
                </a:solidFill>
                <a:effectLst/>
                <a:latin typeface="DejaVu Sans Mono"/>
              </a:rPr>
              <a:t>a.equals</a:t>
            </a:r>
            <a:r>
              <a:rPr lang="en-US" b="0" i="0" dirty="0">
                <a:solidFill>
                  <a:srgbClr val="474747"/>
                </a:solidFill>
                <a:effectLst/>
                <a:latin typeface="DejaVu Sans Mono"/>
              </a:rPr>
              <a:t>(b)</a:t>
            </a:r>
            <a:r>
              <a:rPr lang="en-US" b="0" i="0" dirty="0">
                <a:solidFill>
                  <a:srgbClr val="474747"/>
                </a:solidFill>
                <a:effectLst/>
                <a:latin typeface="DejaVu Serif"/>
              </a:rPr>
              <a:t> if and only if </a:t>
            </a:r>
            <a:r>
              <a:rPr lang="en-US" b="0" i="0" dirty="0" err="1">
                <a:solidFill>
                  <a:srgbClr val="474747"/>
                </a:solidFill>
                <a:effectLst/>
                <a:latin typeface="DejaVu Sans Mono"/>
              </a:rPr>
              <a:t>b.equals</a:t>
            </a:r>
            <a:r>
              <a:rPr lang="en-US" b="0" i="0" dirty="0">
                <a:solidFill>
                  <a:srgbClr val="474747"/>
                </a:solidFill>
                <a:effectLst/>
                <a:latin typeface="DejaVu Sans Mono"/>
              </a:rPr>
              <a:t>(a)</a:t>
            </a:r>
            <a:r>
              <a:rPr lang="en-US" b="0" i="0" dirty="0">
                <a:solidFill>
                  <a:srgbClr val="474747"/>
                </a:solidFill>
                <a:effectLst/>
                <a:latin typeface="DejaVu Serif"/>
              </a:rPr>
              <a:t>). The contracts for </a:t>
            </a:r>
            <a:r>
              <a:rPr lang="en-US" b="0" i="0" dirty="0" err="1">
                <a:solidFill>
                  <a:srgbClr val="474747"/>
                </a:solidFill>
                <a:effectLst/>
                <a:latin typeface="DejaVu Sans Mono"/>
              </a:rPr>
              <a:t>List.equals</a:t>
            </a:r>
            <a:r>
              <a:rPr lang="en-US" b="0" i="0" dirty="0">
                <a:solidFill>
                  <a:srgbClr val="474747"/>
                </a:solidFill>
                <a:effectLst/>
                <a:latin typeface="DejaVu Serif"/>
              </a:rPr>
              <a:t> and </a:t>
            </a:r>
            <a:r>
              <a:rPr lang="en-US" b="0" i="0" dirty="0" err="1">
                <a:solidFill>
                  <a:srgbClr val="474747"/>
                </a:solidFill>
                <a:effectLst/>
                <a:latin typeface="DejaVu Sans Mono"/>
              </a:rPr>
              <a:t>Set.equals</a:t>
            </a:r>
            <a:r>
              <a:rPr lang="en-US" b="0" i="0" dirty="0">
                <a:solidFill>
                  <a:srgbClr val="474747"/>
                </a:solidFill>
                <a:effectLst/>
                <a:latin typeface="DejaVu Serif"/>
              </a:rPr>
              <a:t> state that lists are only equal to other lists, and sets to other sets. Thus, a custom </a:t>
            </a:r>
            <a:r>
              <a:rPr lang="en-US" b="0" i="0" dirty="0">
                <a:solidFill>
                  <a:srgbClr val="474747"/>
                </a:solidFill>
                <a:effectLst/>
                <a:latin typeface="DejaVu Sans Mono"/>
              </a:rPr>
              <a:t>equals</a:t>
            </a:r>
            <a:r>
              <a:rPr lang="en-US" b="0" i="0" dirty="0">
                <a:solidFill>
                  <a:srgbClr val="474747"/>
                </a:solidFill>
                <a:effectLst/>
                <a:latin typeface="DejaVu Serif"/>
              </a:rPr>
              <a:t> method for a collection class that implements neither the </a:t>
            </a:r>
            <a:r>
              <a:rPr lang="en-US" b="0" i="0" dirty="0">
                <a:solidFill>
                  <a:srgbClr val="474747"/>
                </a:solidFill>
                <a:effectLst/>
                <a:latin typeface="DejaVu Sans Mono"/>
              </a:rPr>
              <a:t>List</a:t>
            </a:r>
            <a:r>
              <a:rPr lang="en-US" b="0" i="0" dirty="0">
                <a:solidFill>
                  <a:srgbClr val="474747"/>
                </a:solidFill>
                <a:effectLst/>
                <a:latin typeface="DejaVu Serif"/>
              </a:rPr>
              <a:t> nor </a:t>
            </a:r>
            <a:r>
              <a:rPr lang="en-US" b="0" i="0" dirty="0">
                <a:solidFill>
                  <a:srgbClr val="474747"/>
                </a:solidFill>
                <a:effectLst/>
                <a:latin typeface="DejaVu Sans Mono"/>
              </a:rPr>
              <a:t>Set</a:t>
            </a:r>
            <a:r>
              <a:rPr lang="en-US" b="0" i="0" dirty="0">
                <a:solidFill>
                  <a:srgbClr val="474747"/>
                </a:solidFill>
                <a:effectLst/>
                <a:latin typeface="DejaVu Serif"/>
              </a:rPr>
              <a:t> interface must return </a:t>
            </a:r>
            <a:r>
              <a:rPr lang="en-US" b="0" i="0" dirty="0">
                <a:solidFill>
                  <a:srgbClr val="474747"/>
                </a:solidFill>
                <a:effectLst/>
                <a:latin typeface="DejaVu Sans Mono"/>
              </a:rPr>
              <a:t>false</a:t>
            </a:r>
            <a:r>
              <a:rPr lang="en-US" b="0" i="0" dirty="0">
                <a:solidFill>
                  <a:srgbClr val="474747"/>
                </a:solidFill>
                <a:effectLst/>
                <a:latin typeface="DejaVu Serif"/>
              </a:rPr>
              <a:t> when this collection is compared to any list or set. (By the same logic, it is not possible to write a class that correctly implements both the </a:t>
            </a:r>
            <a:r>
              <a:rPr lang="en-US" b="0" i="0" dirty="0">
                <a:solidFill>
                  <a:srgbClr val="474747"/>
                </a:solidFill>
                <a:effectLst/>
                <a:latin typeface="DejaVu Sans Mono"/>
              </a:rPr>
              <a:t>Set</a:t>
            </a:r>
            <a:r>
              <a:rPr lang="en-US" b="0" i="0" dirty="0">
                <a:solidFill>
                  <a:srgbClr val="474747"/>
                </a:solidFill>
                <a:effectLst/>
                <a:latin typeface="DejaVu Serif"/>
              </a:rPr>
              <a:t> and </a:t>
            </a:r>
            <a:r>
              <a:rPr lang="en-US" b="0" i="0" dirty="0">
                <a:solidFill>
                  <a:srgbClr val="474747"/>
                </a:solidFill>
                <a:effectLst/>
                <a:latin typeface="DejaVu Sans Mono"/>
              </a:rPr>
              <a:t>List</a:t>
            </a:r>
            <a:r>
              <a:rPr lang="en-US" b="0" i="0" dirty="0">
                <a:solidFill>
                  <a:srgbClr val="474747"/>
                </a:solidFill>
                <a:effectLst/>
                <a:latin typeface="DejaVu Serif"/>
              </a:rPr>
              <a:t> interfaces.)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Overrides:</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3"/>
              </a:rPr>
              <a:t>equals</a:t>
            </a:r>
            <a:r>
              <a:rPr lang="en-US" b="0" i="0" dirty="0">
                <a:solidFill>
                  <a:srgbClr val="353833"/>
                </a:solidFill>
                <a:effectLst/>
                <a:latin typeface="DejaVu Sans Mono"/>
              </a:rPr>
              <a:t> in class </a:t>
            </a:r>
            <a:r>
              <a:rPr lang="en-US" b="0" i="0" u="none" strike="noStrike" dirty="0">
                <a:solidFill>
                  <a:srgbClr val="4A6782"/>
                </a:solidFill>
                <a:effectLst/>
                <a:latin typeface="DejaVu Sans Mono"/>
                <a:hlinkClick r:id="rId2" tooltip="class in java.lang"/>
              </a:rPr>
              <a:t>Object</a:t>
            </a:r>
            <a:endParaRPr lang="en-US" b="0" i="0" dirty="0">
              <a:solidFill>
                <a:srgbClr val="353833"/>
              </a:solidFill>
              <a:effectLst/>
              <a:latin typeface="DejaVu Sans Mono"/>
            </a:endParaRP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object to be compared for equality with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specified object is equal to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a:rPr>
              <a:t>Object.equals</a:t>
            </a:r>
            <a:r>
              <a:rPr lang="en-US" b="0" i="0" u="none" strike="noStrike" dirty="0">
                <a:solidFill>
                  <a:srgbClr val="4A6782"/>
                </a:solidFill>
                <a:effectLst/>
                <a:latin typeface="DejaVu Sans Mono"/>
                <a:hlinkClick r:id="rId3"/>
              </a:rPr>
              <a:t>(Object)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
              </a:rPr>
              <a:t>Set.equals</a:t>
            </a:r>
            <a:r>
              <a:rPr lang="en-US" b="0" i="0" u="none" strike="noStrike" dirty="0">
                <a:solidFill>
                  <a:srgbClr val="4A6782"/>
                </a:solidFill>
                <a:effectLst/>
                <a:latin typeface="DejaVu Sans Mono"/>
                <a:hlinkClick r:id="rId4"/>
              </a:rPr>
              <a:t>(Object)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
              </a:rPr>
              <a:t>List.equals</a:t>
            </a:r>
            <a:r>
              <a:rPr lang="en-US" b="0" i="0" u="none" strike="noStrike" dirty="0">
                <a:solidFill>
                  <a:srgbClr val="4A6782"/>
                </a:solidFill>
                <a:effectLst/>
                <a:latin typeface="DejaVu Sans Mono"/>
                <a:hlinkClick r:id="rId5"/>
              </a:rPr>
              <a:t>(Object)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444326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25DDA3-1C44-34A5-305F-AB5CE5B0E77F}"/>
              </a:ext>
            </a:extLst>
          </p:cNvPr>
          <p:cNvSpPr txBox="1"/>
          <p:nvPr/>
        </p:nvSpPr>
        <p:spPr>
          <a:xfrm>
            <a:off x="2478741" y="-107231"/>
            <a:ext cx="4957482" cy="7081426"/>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hashCode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a:t>
            </a:r>
            <a:r>
              <a:rPr lang="en-US" b="0" i="0" dirty="0" err="1">
                <a:solidFill>
                  <a:srgbClr val="353833"/>
                </a:solidFill>
                <a:effectLst/>
                <a:latin typeface="DejaVu Sans Mono"/>
              </a:rPr>
              <a:t>hashCode</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hash code value for this collection. While the </a:t>
            </a:r>
            <a:r>
              <a:rPr lang="en-US" b="0" i="0" dirty="0">
                <a:solidFill>
                  <a:srgbClr val="474747"/>
                </a:solidFill>
                <a:effectLst/>
                <a:latin typeface="DejaVu Sans Mono"/>
              </a:rPr>
              <a:t>Collection</a:t>
            </a:r>
            <a:r>
              <a:rPr lang="en-US" b="0" i="0" dirty="0">
                <a:solidFill>
                  <a:srgbClr val="474747"/>
                </a:solidFill>
                <a:effectLst/>
                <a:latin typeface="DejaVu Serif"/>
              </a:rPr>
              <a:t> interface adds no stipulations to the general contract for the </a:t>
            </a:r>
            <a:r>
              <a:rPr lang="en-US" b="0" i="0" dirty="0" err="1">
                <a:solidFill>
                  <a:srgbClr val="474747"/>
                </a:solidFill>
                <a:effectLst/>
                <a:latin typeface="DejaVu Sans Mono"/>
              </a:rPr>
              <a:t>Object.hashCode</a:t>
            </a:r>
            <a:r>
              <a:rPr lang="en-US" b="0" i="0" dirty="0">
                <a:solidFill>
                  <a:srgbClr val="474747"/>
                </a:solidFill>
                <a:effectLst/>
                <a:latin typeface="DejaVu Serif"/>
              </a:rPr>
              <a:t> method, programmers should take note that any class that overrides the </a:t>
            </a:r>
            <a:r>
              <a:rPr lang="en-US" b="0" i="0" dirty="0" err="1">
                <a:solidFill>
                  <a:srgbClr val="474747"/>
                </a:solidFill>
                <a:effectLst/>
                <a:latin typeface="DejaVu Sans Mono"/>
              </a:rPr>
              <a:t>Object.equals</a:t>
            </a:r>
            <a:r>
              <a:rPr lang="en-US" b="0" i="0" dirty="0">
                <a:solidFill>
                  <a:srgbClr val="474747"/>
                </a:solidFill>
                <a:effectLst/>
                <a:latin typeface="DejaVu Serif"/>
              </a:rPr>
              <a:t> method must also override the </a:t>
            </a:r>
            <a:r>
              <a:rPr lang="en-US" b="0" i="0" dirty="0" err="1">
                <a:solidFill>
                  <a:srgbClr val="474747"/>
                </a:solidFill>
                <a:effectLst/>
                <a:latin typeface="DejaVu Sans Mono"/>
              </a:rPr>
              <a:t>Object.hashCode</a:t>
            </a:r>
            <a:r>
              <a:rPr lang="en-US" b="0" i="0" dirty="0">
                <a:solidFill>
                  <a:srgbClr val="474747"/>
                </a:solidFill>
                <a:effectLst/>
                <a:latin typeface="DejaVu Serif"/>
              </a:rPr>
              <a:t> method in order to satisfy the general contract for the </a:t>
            </a:r>
            <a:r>
              <a:rPr lang="en-US" b="0" i="0" dirty="0" err="1">
                <a:solidFill>
                  <a:srgbClr val="474747"/>
                </a:solidFill>
                <a:effectLst/>
                <a:latin typeface="DejaVu Sans Mono"/>
              </a:rPr>
              <a:t>Object.hashCode</a:t>
            </a:r>
            <a:r>
              <a:rPr lang="en-US" b="0" i="0" dirty="0">
                <a:solidFill>
                  <a:srgbClr val="474747"/>
                </a:solidFill>
                <a:effectLst/>
                <a:latin typeface="DejaVu Serif"/>
              </a:rPr>
              <a:t> method. In particular, </a:t>
            </a:r>
            <a:r>
              <a:rPr lang="en-US" b="0" i="0" dirty="0">
                <a:solidFill>
                  <a:srgbClr val="474747"/>
                </a:solidFill>
                <a:effectLst/>
                <a:latin typeface="DejaVu Sans Mono"/>
              </a:rPr>
              <a:t>c1.equals(c2)</a:t>
            </a:r>
            <a:r>
              <a:rPr lang="en-US" b="0" i="0" dirty="0">
                <a:solidFill>
                  <a:srgbClr val="474747"/>
                </a:solidFill>
                <a:effectLst/>
                <a:latin typeface="DejaVu Serif"/>
              </a:rPr>
              <a:t> implies that </a:t>
            </a:r>
            <a:r>
              <a:rPr lang="en-US" b="0" i="0" dirty="0">
                <a:solidFill>
                  <a:srgbClr val="474747"/>
                </a:solidFill>
                <a:effectLst/>
                <a:latin typeface="DejaVu Sans Mono"/>
              </a:rPr>
              <a:t>c1.hashCode()==c2.hashCode()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Overrides: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
              </a:rPr>
              <a:t>hashCode</a:t>
            </a:r>
            <a:r>
              <a:rPr lang="en-US" b="0" i="0" dirty="0">
                <a:solidFill>
                  <a:srgbClr val="353833"/>
                </a:solidFill>
                <a:effectLst/>
                <a:latin typeface="DejaVu Sans Mono"/>
              </a:rPr>
              <a:t> in class </a:t>
            </a:r>
            <a:r>
              <a:rPr lang="en-US" b="0" i="0" u="none" strike="noStrike" dirty="0">
                <a:solidFill>
                  <a:srgbClr val="4A6782"/>
                </a:solidFill>
                <a:effectLst/>
                <a:latin typeface="DejaVu Sans Mono"/>
                <a:hlinkClick r:id="rId3" tooltip="class in java.lang"/>
              </a:rPr>
              <a:t>Object</a:t>
            </a:r>
            <a:endParaRPr lang="en-US" b="0" i="0" dirty="0">
              <a:solidFill>
                <a:srgbClr val="353833"/>
              </a:solidFill>
              <a:effectLst/>
              <a:latin typeface="DejaVu Sans Mono"/>
            </a:endParaRP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hash code value for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
              </a:rPr>
              <a:t>Object.hashCode</a:t>
            </a:r>
            <a:r>
              <a:rPr lang="en-US" b="0" i="0" u="none" strike="noStrike" dirty="0">
                <a:solidFill>
                  <a:srgbClr val="4A6782"/>
                </a:solidFill>
                <a:effectLst/>
                <a:latin typeface="DejaVu Sans Mono"/>
                <a:hlinkClick r:id="rId2"/>
              </a:rPr>
              <a: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
              </a:rPr>
              <a:t>Object.equals</a:t>
            </a:r>
            <a:r>
              <a:rPr lang="en-US" b="0" i="0" u="none" strike="noStrike" dirty="0">
                <a:solidFill>
                  <a:srgbClr val="4A6782"/>
                </a:solidFill>
                <a:effectLst/>
                <a:latin typeface="DejaVu Sans Mono"/>
                <a:hlinkClick r:id="rId4"/>
              </a:rPr>
              <a:t>(Object)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231367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19977D-B2AD-94D3-1F34-E33755D6D0D0}"/>
              </a:ext>
            </a:extLst>
          </p:cNvPr>
          <p:cNvSpPr txBox="1"/>
          <p:nvPr/>
        </p:nvSpPr>
        <p:spPr>
          <a:xfrm>
            <a:off x="2478741" y="-10277964"/>
            <a:ext cx="4957482" cy="27422892"/>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spliterator</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u="none" strike="noStrike" dirty="0" err="1">
                <a:solidFill>
                  <a:srgbClr val="4A6782"/>
                </a:solidFill>
                <a:effectLst/>
                <a:latin typeface="DejaVu Sans Mono"/>
                <a:hlinkClick r:id="rId2" tooltip="interface in java.util"/>
              </a:rPr>
              <a:t>Spliterator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Collection"/>
              </a:rPr>
              <a:t>E</a:t>
            </a:r>
            <a:r>
              <a:rPr lang="en-US" b="0" i="0" dirty="0">
                <a:solidFill>
                  <a:srgbClr val="353833"/>
                </a:solidFill>
                <a:effectLst/>
                <a:latin typeface="DejaVu Sans Mono"/>
              </a:rPr>
              <a:t>&gt; </a:t>
            </a:r>
            <a:r>
              <a:rPr lang="en-US" b="0" i="0" dirty="0" err="1">
                <a:solidFill>
                  <a:srgbClr val="353833"/>
                </a:solidFill>
                <a:effectLst/>
                <a:latin typeface="DejaVu Sans Mono"/>
              </a:rPr>
              <a:t>spliterator</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Creates a </a:t>
            </a:r>
            <a:r>
              <a:rPr lang="en-US" b="0" i="0" u="none" strike="noStrike" dirty="0" err="1">
                <a:solidFill>
                  <a:srgbClr val="4A6782"/>
                </a:solidFill>
                <a:effectLst/>
                <a:latin typeface="DejaVu Sans Mono"/>
                <a:hlinkClick r:id="rId2" tooltip="interface in java.util"/>
              </a:rPr>
              <a:t>Spliterator</a:t>
            </a:r>
            <a:r>
              <a:rPr lang="en-US" b="0" i="0" dirty="0">
                <a:solidFill>
                  <a:srgbClr val="474747"/>
                </a:solidFill>
                <a:effectLst/>
                <a:latin typeface="DejaVu Serif"/>
              </a:rPr>
              <a:t> over the elements in this collection. Implementations should document characteristic values reported by the </a:t>
            </a:r>
            <a:r>
              <a:rPr lang="en-US" b="0" i="0" dirty="0" err="1">
                <a:solidFill>
                  <a:srgbClr val="474747"/>
                </a:solidFill>
                <a:effectLst/>
                <a:latin typeface="DejaVu Serif"/>
              </a:rPr>
              <a:t>spliterator</a:t>
            </a:r>
            <a:r>
              <a:rPr lang="en-US" b="0" i="0" dirty="0">
                <a:solidFill>
                  <a:srgbClr val="474747"/>
                </a:solidFill>
                <a:effectLst/>
                <a:latin typeface="DejaVu Serif"/>
              </a:rPr>
              <a:t>. Such characteristic values are not required to be reported if the </a:t>
            </a:r>
            <a:r>
              <a:rPr lang="en-US" b="0" i="0" dirty="0" err="1">
                <a:solidFill>
                  <a:srgbClr val="474747"/>
                </a:solidFill>
                <a:effectLst/>
                <a:latin typeface="DejaVu Serif"/>
              </a:rPr>
              <a:t>spliterator</a:t>
            </a:r>
            <a:r>
              <a:rPr lang="en-US" b="0" i="0" dirty="0">
                <a:solidFill>
                  <a:srgbClr val="474747"/>
                </a:solidFill>
                <a:effectLst/>
                <a:latin typeface="DejaVu Serif"/>
              </a:rPr>
              <a:t> reports </a:t>
            </a:r>
            <a:r>
              <a:rPr lang="en-US" b="0" i="0" u="none" strike="noStrike" dirty="0" err="1">
                <a:solidFill>
                  <a:srgbClr val="4A6782"/>
                </a:solidFill>
                <a:effectLst/>
                <a:latin typeface="DejaVu Sans Mono"/>
                <a:hlinkClick r:id="rId4"/>
              </a:rPr>
              <a:t>Spliterator.SIZED</a:t>
            </a:r>
            <a:r>
              <a:rPr lang="en-US" b="0" i="0" dirty="0">
                <a:solidFill>
                  <a:srgbClr val="474747"/>
                </a:solidFill>
                <a:effectLst/>
                <a:latin typeface="DejaVu Serif"/>
              </a:rPr>
              <a:t> and this collection contains no elements.</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 default implementation should be overridden by subclasses that can return a more efficient </a:t>
            </a:r>
            <a:r>
              <a:rPr lang="en-US" b="0" i="0" dirty="0" err="1">
                <a:solidFill>
                  <a:srgbClr val="474747"/>
                </a:solidFill>
                <a:effectLst/>
                <a:latin typeface="DejaVu Serif"/>
              </a:rPr>
              <a:t>spliterator</a:t>
            </a:r>
            <a:r>
              <a:rPr lang="en-US" b="0" i="0" dirty="0">
                <a:solidFill>
                  <a:srgbClr val="474747"/>
                </a:solidFill>
                <a:effectLst/>
                <a:latin typeface="DejaVu Serif"/>
              </a:rPr>
              <a:t>. In order to preserve expected laziness behavior for the </a:t>
            </a:r>
            <a:r>
              <a:rPr lang="en-US" b="0" i="0" u="none" strike="noStrike" dirty="0">
                <a:solidFill>
                  <a:srgbClr val="4A6782"/>
                </a:solidFill>
                <a:effectLst/>
                <a:latin typeface="DejaVu Sans Mono"/>
                <a:hlinkClick r:id="rId5"/>
              </a:rPr>
              <a:t>stream()</a:t>
            </a:r>
            <a:r>
              <a:rPr lang="en-US" b="0" i="0" dirty="0">
                <a:solidFill>
                  <a:srgbClr val="474747"/>
                </a:solidFill>
                <a:effectLst/>
                <a:latin typeface="DejaVu Serif"/>
              </a:rPr>
              <a:t> and </a:t>
            </a:r>
            <a:r>
              <a:rPr lang="en-US" b="0" i="0" u="none" strike="noStrike" dirty="0" err="1">
                <a:solidFill>
                  <a:srgbClr val="4A6782"/>
                </a:solidFill>
                <a:effectLst/>
                <a:latin typeface="DejaVu Sans Mono"/>
                <a:hlinkClick r:id="rId6"/>
              </a:rPr>
              <a:t>parallelStream</a:t>
            </a:r>
            <a:r>
              <a:rPr lang="en-US" b="0" i="0" u="none" strike="noStrike" dirty="0">
                <a:solidFill>
                  <a:srgbClr val="4A6782"/>
                </a:solidFill>
                <a:effectLst/>
                <a:latin typeface="DejaVu Sans Mono"/>
                <a:hlinkClick r:id="rId6"/>
              </a:rPr>
              <a:t>()</a:t>
            </a:r>
            <a:r>
              <a:rPr lang="en-US" b="0" i="0" dirty="0">
                <a:solidFill>
                  <a:srgbClr val="474747"/>
                </a:solidFill>
                <a:effectLst/>
                <a:latin typeface="DejaVu Serif"/>
              </a:rPr>
              <a:t>} methods, </a:t>
            </a:r>
            <a:r>
              <a:rPr lang="en-US" b="0" i="0" dirty="0" err="1">
                <a:solidFill>
                  <a:srgbClr val="474747"/>
                </a:solidFill>
                <a:effectLst/>
                <a:latin typeface="DejaVu Serif"/>
              </a:rPr>
              <a:t>spliterators</a:t>
            </a:r>
            <a:r>
              <a:rPr lang="en-US" b="0" i="0" dirty="0">
                <a:solidFill>
                  <a:srgbClr val="474747"/>
                </a:solidFill>
                <a:effectLst/>
                <a:latin typeface="DejaVu Serif"/>
              </a:rPr>
              <a:t> should either have the characteristic of </a:t>
            </a:r>
            <a:r>
              <a:rPr lang="en-US" b="0" i="0" dirty="0">
                <a:solidFill>
                  <a:srgbClr val="474747"/>
                </a:solidFill>
                <a:effectLst/>
                <a:latin typeface="DejaVu Sans Mono"/>
              </a:rPr>
              <a:t>IMMUTABLE</a:t>
            </a:r>
            <a:r>
              <a:rPr lang="en-US" b="0" i="0" dirty="0">
                <a:solidFill>
                  <a:srgbClr val="474747"/>
                </a:solidFill>
                <a:effectLst/>
                <a:latin typeface="DejaVu Serif"/>
              </a:rPr>
              <a:t> or </a:t>
            </a:r>
            <a:r>
              <a:rPr lang="en-US" b="0" i="0" dirty="0">
                <a:solidFill>
                  <a:srgbClr val="474747"/>
                </a:solidFill>
                <a:effectLst/>
                <a:latin typeface="DejaVu Sans Mono"/>
              </a:rPr>
              <a:t>CONCURRENT</a:t>
            </a:r>
            <a:r>
              <a:rPr lang="en-US" b="0" i="0" dirty="0">
                <a:solidFill>
                  <a:srgbClr val="474747"/>
                </a:solidFill>
                <a:effectLst/>
                <a:latin typeface="DejaVu Serif"/>
              </a:rPr>
              <a:t>, or be </a:t>
            </a:r>
            <a:r>
              <a:rPr lang="en-US" b="0" i="1" u="none" strike="noStrike" dirty="0">
                <a:solidFill>
                  <a:srgbClr val="4A6782"/>
                </a:solidFill>
                <a:effectLst/>
                <a:latin typeface="DejaVu Serif"/>
                <a:hlinkClick r:id="rId7"/>
              </a:rPr>
              <a:t>late-binding</a:t>
            </a:r>
            <a:r>
              <a:rPr lang="en-US" b="0" i="0" dirty="0">
                <a:solidFill>
                  <a:srgbClr val="474747"/>
                </a:solidFill>
                <a:effectLst/>
                <a:latin typeface="DejaVu Serif"/>
              </a:rPr>
              <a:t>. If none of these is practical, the overriding class should describe the </a:t>
            </a:r>
            <a:r>
              <a:rPr lang="en-US" b="0" i="0" dirty="0" err="1">
                <a:solidFill>
                  <a:srgbClr val="474747"/>
                </a:solidFill>
                <a:effectLst/>
                <a:latin typeface="DejaVu Serif"/>
              </a:rPr>
              <a:t>spliterator's</a:t>
            </a:r>
            <a:r>
              <a:rPr lang="en-US" b="0" i="0" dirty="0">
                <a:solidFill>
                  <a:srgbClr val="474747"/>
                </a:solidFill>
                <a:effectLst/>
                <a:latin typeface="DejaVu Serif"/>
              </a:rPr>
              <a:t> documented policy of binding and structural interference, and should override the </a:t>
            </a:r>
            <a:r>
              <a:rPr lang="en-US" b="0" i="0" u="none" strike="noStrike" dirty="0">
                <a:solidFill>
                  <a:srgbClr val="4A6782"/>
                </a:solidFill>
                <a:effectLst/>
                <a:latin typeface="DejaVu Sans Mono"/>
                <a:hlinkClick r:id="rId5"/>
              </a:rPr>
              <a:t>stream()</a:t>
            </a:r>
            <a:r>
              <a:rPr lang="en-US" b="0" i="0" dirty="0">
                <a:solidFill>
                  <a:srgbClr val="474747"/>
                </a:solidFill>
                <a:effectLst/>
                <a:latin typeface="DejaVu Serif"/>
              </a:rPr>
              <a:t> and </a:t>
            </a:r>
            <a:r>
              <a:rPr lang="en-US" b="0" i="0" u="none" strike="noStrike" dirty="0" err="1">
                <a:solidFill>
                  <a:srgbClr val="4A6782"/>
                </a:solidFill>
                <a:effectLst/>
                <a:latin typeface="DejaVu Sans Mono"/>
                <a:hlinkClick r:id="rId6"/>
              </a:rPr>
              <a:t>parallelStream</a:t>
            </a:r>
            <a:r>
              <a:rPr lang="en-US" b="0" i="0" u="none" strike="noStrike" dirty="0">
                <a:solidFill>
                  <a:srgbClr val="4A6782"/>
                </a:solidFill>
                <a:effectLst/>
                <a:latin typeface="DejaVu Sans Mono"/>
                <a:hlinkClick r:id="rId6"/>
              </a:rPr>
              <a:t>()</a:t>
            </a:r>
            <a:r>
              <a:rPr lang="en-US" b="0" i="0" dirty="0">
                <a:solidFill>
                  <a:srgbClr val="474747"/>
                </a:solidFill>
                <a:effectLst/>
                <a:latin typeface="DejaVu Serif"/>
              </a:rPr>
              <a:t> methods to create streams using a </a:t>
            </a:r>
            <a:r>
              <a:rPr lang="en-US" b="0" i="0" dirty="0">
                <a:solidFill>
                  <a:srgbClr val="474747"/>
                </a:solidFill>
                <a:effectLst/>
                <a:latin typeface="DejaVu Sans Mono"/>
              </a:rPr>
              <a:t>Supplier</a:t>
            </a:r>
            <a:r>
              <a:rPr lang="en-US" b="0" i="0" dirty="0">
                <a:solidFill>
                  <a:srgbClr val="474747"/>
                </a:solidFill>
                <a:effectLst/>
                <a:latin typeface="DejaVu Serif"/>
              </a:rPr>
              <a:t> of the </a:t>
            </a:r>
            <a:r>
              <a:rPr lang="en-US" b="0" i="0" dirty="0" err="1">
                <a:solidFill>
                  <a:srgbClr val="474747"/>
                </a:solidFill>
                <a:effectLst/>
                <a:latin typeface="DejaVu Serif"/>
              </a:rPr>
              <a:t>spliterator</a:t>
            </a:r>
            <a:r>
              <a:rPr lang="en-US" b="0" i="0" dirty="0">
                <a:solidFill>
                  <a:srgbClr val="474747"/>
                </a:solidFill>
                <a:effectLst/>
                <a:latin typeface="DejaVu Serif"/>
              </a:rPr>
              <a:t>, as in:</a:t>
            </a:r>
          </a:p>
          <a:p>
            <a:pPr algn="l">
              <a:spcBef>
                <a:spcPts val="600"/>
              </a:spcBef>
              <a:spcAft>
                <a:spcPts val="150"/>
              </a:spcAft>
              <a:buFont typeface="Arial" panose="020B0604020202020204" pitchFamily="34" charset="0"/>
              <a:buChar char="•"/>
            </a:pPr>
            <a:endParaRPr lang="en-US" b="0" i="0" dirty="0">
              <a:solidFill>
                <a:srgbClr val="474747"/>
              </a:solidFill>
              <a:effectLst/>
              <a:latin typeface="DejaVu Sans Mono"/>
            </a:endParaRP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Stream&lt;E&gt; s = </a:t>
            </a:r>
            <a:r>
              <a:rPr lang="en-US" b="0" i="0" dirty="0" err="1">
                <a:solidFill>
                  <a:srgbClr val="474747"/>
                </a:solidFill>
                <a:effectLst/>
                <a:latin typeface="DejaVu Sans Mono"/>
              </a:rPr>
              <a:t>StreamSupport.stream</a:t>
            </a:r>
            <a:r>
              <a:rPr lang="en-US" b="0" i="0" dirty="0">
                <a:solidFill>
                  <a:srgbClr val="474747"/>
                </a:solidFill>
                <a:effectLst/>
                <a:latin typeface="DejaVu Sans Mono"/>
              </a:rPr>
              <a:t>(() -&gt; </a:t>
            </a:r>
            <a:r>
              <a:rPr lang="en-US" b="0" i="0" dirty="0" err="1">
                <a:solidFill>
                  <a:srgbClr val="474747"/>
                </a:solidFill>
                <a:effectLst/>
                <a:latin typeface="DejaVu Sans Mono"/>
              </a:rPr>
              <a:t>spliterator</a:t>
            </a:r>
            <a:r>
              <a:rPr lang="en-US" b="0" i="0" dirty="0">
                <a:solidFill>
                  <a:srgbClr val="474747"/>
                </a:solidFill>
                <a:effectLst/>
                <a:latin typeface="DejaVu Sans Mono"/>
              </a:rPr>
              <a:t>(), </a:t>
            </a:r>
            <a:r>
              <a:rPr lang="en-US" b="0" i="0" dirty="0" err="1">
                <a:solidFill>
                  <a:srgbClr val="474747"/>
                </a:solidFill>
                <a:effectLst/>
                <a:latin typeface="DejaVu Sans Mono"/>
              </a:rPr>
              <a:t>spliteratorCharacteristics</a:t>
            </a:r>
            <a:r>
              <a:rPr lang="en-US" b="0" i="0" dirty="0">
                <a:solidFill>
                  <a:srgbClr val="474747"/>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ans Mono"/>
              </a:rPr>
              <a:t> </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These requirements ensure that streams produced by the </a:t>
            </a:r>
            <a:r>
              <a:rPr lang="en-US" b="0" i="0" u="none" strike="noStrike" dirty="0">
                <a:solidFill>
                  <a:srgbClr val="4A6782"/>
                </a:solidFill>
                <a:effectLst/>
                <a:latin typeface="DejaVu Sans Mono"/>
                <a:hlinkClick r:id="rId5"/>
              </a:rPr>
              <a:t>stream()</a:t>
            </a:r>
            <a:r>
              <a:rPr lang="en-US" b="0" i="0" dirty="0">
                <a:solidFill>
                  <a:srgbClr val="474747"/>
                </a:solidFill>
                <a:effectLst/>
                <a:latin typeface="DejaVu Serif"/>
              </a:rPr>
              <a:t> and </a:t>
            </a:r>
            <a:r>
              <a:rPr lang="en-US" b="0" i="0" u="none" strike="noStrike" dirty="0" err="1">
                <a:solidFill>
                  <a:srgbClr val="4A6782"/>
                </a:solidFill>
                <a:effectLst/>
                <a:latin typeface="DejaVu Sans Mono"/>
                <a:hlinkClick r:id="rId6"/>
              </a:rPr>
              <a:t>parallelStream</a:t>
            </a:r>
            <a:r>
              <a:rPr lang="en-US" b="0" i="0" u="none" strike="noStrike" dirty="0">
                <a:solidFill>
                  <a:srgbClr val="4A6782"/>
                </a:solidFill>
                <a:effectLst/>
                <a:latin typeface="DejaVu Sans Mono"/>
                <a:hlinkClick r:id="rId6"/>
              </a:rPr>
              <a:t>()</a:t>
            </a:r>
            <a:r>
              <a:rPr lang="en-US" b="0" i="0" dirty="0">
                <a:solidFill>
                  <a:srgbClr val="474747"/>
                </a:solidFill>
                <a:effectLst/>
                <a:latin typeface="DejaVu Serif"/>
              </a:rPr>
              <a:t> methods will reflect the contents of the collection as of initiation of the terminal stream operation.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a:rPr>
              <a:t>spliterator</a:t>
            </a:r>
            <a:r>
              <a:rPr lang="en-US" b="0" i="0" dirty="0">
                <a:solidFill>
                  <a:srgbClr val="353833"/>
                </a:solidFill>
                <a:effectLst/>
                <a:latin typeface="DejaVu Sans Mono"/>
              </a:rPr>
              <a:t> in interface </a:t>
            </a:r>
            <a:r>
              <a:rPr lang="en-US" b="0" i="0" u="none" strike="noStrike" dirty="0" err="1">
                <a:solidFill>
                  <a:srgbClr val="4A6782"/>
                </a:solidFill>
                <a:effectLst/>
                <a:latin typeface="DejaVu Sans Mono"/>
                <a:hlinkClick r:id="rId9" tooltip="interface in java.lang"/>
              </a:rPr>
              <a:t>Iterable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Collection"/>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creates a </a:t>
            </a:r>
            <a:r>
              <a:rPr lang="en-US" b="0" i="1" u="none" strike="noStrike" dirty="0">
                <a:solidFill>
                  <a:srgbClr val="4A6782"/>
                </a:solidFill>
                <a:effectLst/>
                <a:latin typeface="DejaVu Sans Mono"/>
                <a:hlinkClick r:id="rId7"/>
              </a:rPr>
              <a:t>late-binding</a:t>
            </a:r>
            <a:r>
              <a:rPr lang="en-US" b="0" i="0" dirty="0">
                <a:solidFill>
                  <a:srgbClr val="353833"/>
                </a:solidFill>
                <a:effectLst/>
                <a:latin typeface="DejaVu Sans Mono"/>
              </a:rPr>
              <a:t> </a:t>
            </a:r>
            <a:r>
              <a:rPr lang="en-US" b="0" i="0" dirty="0" err="1">
                <a:solidFill>
                  <a:srgbClr val="353833"/>
                </a:solidFill>
                <a:effectLst/>
                <a:latin typeface="DejaVu Sans Mono"/>
              </a:rPr>
              <a:t>spliterator</a:t>
            </a:r>
            <a:r>
              <a:rPr lang="en-US" b="0" i="0" dirty="0">
                <a:solidFill>
                  <a:srgbClr val="353833"/>
                </a:solidFill>
                <a:effectLst/>
                <a:latin typeface="DejaVu Sans Mono"/>
              </a:rPr>
              <a:t> from the </a:t>
            </a:r>
            <a:r>
              <a:rPr lang="en-US" b="0" i="0" dirty="0" err="1">
                <a:solidFill>
                  <a:srgbClr val="353833"/>
                </a:solidFill>
                <a:effectLst/>
                <a:latin typeface="DejaVu Sans Mono"/>
              </a:rPr>
              <a:t>collections's</a:t>
            </a:r>
            <a:r>
              <a:rPr lang="en-US" b="0" i="0" dirty="0">
                <a:solidFill>
                  <a:srgbClr val="353833"/>
                </a:solidFill>
                <a:effectLst/>
                <a:latin typeface="DejaVu Sans Mono"/>
              </a:rPr>
              <a:t> Iterator. The </a:t>
            </a:r>
            <a:r>
              <a:rPr lang="en-US" b="0" i="0" dirty="0" err="1">
                <a:solidFill>
                  <a:srgbClr val="353833"/>
                </a:solidFill>
                <a:effectLst/>
                <a:latin typeface="DejaVu Sans Mono"/>
              </a:rPr>
              <a:t>spliterator</a:t>
            </a:r>
            <a:r>
              <a:rPr lang="en-US" b="0" i="0" dirty="0">
                <a:solidFill>
                  <a:srgbClr val="353833"/>
                </a:solidFill>
                <a:effectLst/>
                <a:latin typeface="DejaVu Sans Mono"/>
              </a:rPr>
              <a:t> inherits the </a:t>
            </a:r>
            <a:r>
              <a:rPr lang="en-US" b="0" i="1" dirty="0">
                <a:solidFill>
                  <a:srgbClr val="353833"/>
                </a:solidFill>
                <a:effectLst/>
                <a:latin typeface="DejaVu Sans Mono"/>
              </a:rPr>
              <a:t>fail-fast</a:t>
            </a:r>
            <a:r>
              <a:rPr lang="en-US" b="0" i="0" dirty="0">
                <a:solidFill>
                  <a:srgbClr val="353833"/>
                </a:solidFill>
                <a:effectLst/>
                <a:latin typeface="DejaVu Sans Mono"/>
              </a:rPr>
              <a:t> properties of the collection's iterator.</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created </a:t>
            </a:r>
            <a:r>
              <a:rPr lang="en-US" b="0" i="0" dirty="0" err="1">
                <a:solidFill>
                  <a:srgbClr val="353833"/>
                </a:solidFill>
                <a:effectLst/>
                <a:latin typeface="DejaVu Sans Mono"/>
              </a:rPr>
              <a:t>Spliterator</a:t>
            </a:r>
            <a:r>
              <a:rPr lang="en-US" b="0" i="0" dirty="0">
                <a:solidFill>
                  <a:srgbClr val="353833"/>
                </a:solidFill>
                <a:effectLst/>
                <a:latin typeface="DejaVu Sans Mono"/>
              </a:rPr>
              <a:t> reports </a:t>
            </a:r>
            <a:r>
              <a:rPr lang="en-US" b="0" i="0" u="none" strike="noStrike" dirty="0" err="1">
                <a:solidFill>
                  <a:srgbClr val="4A6782"/>
                </a:solidFill>
                <a:effectLst/>
                <a:latin typeface="DejaVu Sans Mono"/>
                <a:hlinkClick r:id="rId4"/>
              </a:rPr>
              <a:t>Spliterator.SIZED</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Note: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created </a:t>
            </a:r>
            <a:r>
              <a:rPr lang="en-US" b="0" i="0" dirty="0" err="1">
                <a:solidFill>
                  <a:srgbClr val="353833"/>
                </a:solidFill>
                <a:effectLst/>
                <a:latin typeface="DejaVu Sans Mono"/>
              </a:rPr>
              <a:t>Spliterator</a:t>
            </a:r>
            <a:r>
              <a:rPr lang="en-US" b="0" i="0" dirty="0">
                <a:solidFill>
                  <a:srgbClr val="353833"/>
                </a:solidFill>
                <a:effectLst/>
                <a:latin typeface="DejaVu Sans Mono"/>
              </a:rPr>
              <a:t> additionally reports </a:t>
            </a:r>
            <a:r>
              <a:rPr lang="en-US" b="0" i="0" u="none" strike="noStrike" dirty="0" err="1">
                <a:solidFill>
                  <a:srgbClr val="4A6782"/>
                </a:solidFill>
                <a:effectLst/>
                <a:latin typeface="DejaVu Sans Mono"/>
                <a:hlinkClick r:id="rId10"/>
              </a:rPr>
              <a:t>Spliterator.SUBSIZED</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If a </a:t>
            </a:r>
            <a:r>
              <a:rPr lang="en-US" b="0" i="0" dirty="0" err="1">
                <a:solidFill>
                  <a:srgbClr val="353833"/>
                </a:solidFill>
                <a:effectLst/>
                <a:latin typeface="DejaVu Sans Mono"/>
              </a:rPr>
              <a:t>spliterator</a:t>
            </a:r>
            <a:r>
              <a:rPr lang="en-US" b="0" i="0" dirty="0">
                <a:solidFill>
                  <a:srgbClr val="353833"/>
                </a:solidFill>
                <a:effectLst/>
                <a:latin typeface="DejaVu Sans Mono"/>
              </a:rPr>
              <a:t> covers no elements then the reporting of additional characteristic values, beyond that of SIZED and SUBSIZED, does not aid clients to control, specialize or simplify computation. However, this does enable shared use of an immutable and empty </a:t>
            </a:r>
            <a:r>
              <a:rPr lang="en-US" b="0" i="0" dirty="0" err="1">
                <a:solidFill>
                  <a:srgbClr val="353833"/>
                </a:solidFill>
                <a:effectLst/>
                <a:latin typeface="DejaVu Sans Mono"/>
              </a:rPr>
              <a:t>spliterator</a:t>
            </a:r>
            <a:r>
              <a:rPr lang="en-US" b="0" i="0" dirty="0">
                <a:solidFill>
                  <a:srgbClr val="353833"/>
                </a:solidFill>
                <a:effectLst/>
                <a:latin typeface="DejaVu Sans Mono"/>
              </a:rPr>
              <a:t> instance (see </a:t>
            </a:r>
            <a:r>
              <a:rPr lang="en-US" b="0" i="0" u="none" strike="noStrike" dirty="0" err="1">
                <a:solidFill>
                  <a:srgbClr val="4A6782"/>
                </a:solidFill>
                <a:effectLst/>
                <a:latin typeface="DejaVu Sans Mono"/>
                <a:hlinkClick r:id="rId11"/>
              </a:rPr>
              <a:t>Spliterators.emptySpliterator</a:t>
            </a:r>
            <a:r>
              <a:rPr lang="en-US" b="0" i="0" u="none" strike="noStrike" dirty="0">
                <a:solidFill>
                  <a:srgbClr val="4A6782"/>
                </a:solidFill>
                <a:effectLst/>
                <a:latin typeface="DejaVu Sans Mono"/>
                <a:hlinkClick r:id="rId11"/>
              </a:rPr>
              <a:t>()</a:t>
            </a:r>
            <a:r>
              <a:rPr lang="en-US" b="0" i="0" dirty="0">
                <a:solidFill>
                  <a:srgbClr val="353833"/>
                </a:solidFill>
                <a:effectLst/>
                <a:latin typeface="DejaVu Sans Mono"/>
              </a:rPr>
              <a:t>) for empty collections, and enables clients to determine if such a </a:t>
            </a:r>
            <a:r>
              <a:rPr lang="en-US" b="0" i="0" dirty="0" err="1">
                <a:solidFill>
                  <a:srgbClr val="353833"/>
                </a:solidFill>
                <a:effectLst/>
                <a:latin typeface="DejaVu Sans Mono"/>
              </a:rPr>
              <a:t>spliterator</a:t>
            </a:r>
            <a:r>
              <a:rPr lang="en-US" b="0" i="0" dirty="0">
                <a:solidFill>
                  <a:srgbClr val="353833"/>
                </a:solidFill>
                <a:effectLst/>
                <a:latin typeface="DejaVu Sans Mono"/>
              </a:rPr>
              <a:t> covers no elements.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a:t>
            </a:r>
            <a:r>
              <a:rPr lang="en-US" b="0" i="0" dirty="0" err="1">
                <a:solidFill>
                  <a:srgbClr val="353833"/>
                </a:solidFill>
                <a:effectLst/>
                <a:latin typeface="DejaVu Sans Mono"/>
              </a:rPr>
              <a:t>Spliterator</a:t>
            </a:r>
            <a:r>
              <a:rPr lang="en-US" b="0" i="0" dirty="0">
                <a:solidFill>
                  <a:srgbClr val="353833"/>
                </a:solidFill>
                <a:effectLst/>
                <a:latin typeface="DejaVu Sans Mono"/>
              </a:rPr>
              <a:t> over the elements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stream</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u="none" strike="noStrike" dirty="0">
                <a:solidFill>
                  <a:srgbClr val="4A6782"/>
                </a:solidFill>
                <a:effectLst/>
                <a:latin typeface="DejaVu Sans Mono"/>
                <a:hlinkClick r:id="rId12" tooltip="interface in java.util.stream"/>
              </a:rPr>
              <a:t>Stream</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Collection"/>
              </a:rPr>
              <a:t>E</a:t>
            </a:r>
            <a:r>
              <a:rPr lang="en-US" b="0" i="0" dirty="0">
                <a:solidFill>
                  <a:srgbClr val="353833"/>
                </a:solidFill>
                <a:effectLst/>
                <a:latin typeface="DejaVu Sans Mono"/>
              </a:rPr>
              <a:t>&gt; stream()</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 sequential </a:t>
            </a:r>
            <a:r>
              <a:rPr lang="en-US" b="0" i="0" dirty="0">
                <a:solidFill>
                  <a:srgbClr val="474747"/>
                </a:solidFill>
                <a:effectLst/>
                <a:latin typeface="DejaVu Sans Mono"/>
              </a:rPr>
              <a:t>Stream</a:t>
            </a:r>
            <a:r>
              <a:rPr lang="en-US" b="0" i="0" dirty="0">
                <a:solidFill>
                  <a:srgbClr val="474747"/>
                </a:solidFill>
                <a:effectLst/>
                <a:latin typeface="DejaVu Serif"/>
              </a:rPr>
              <a:t> with this collection as its source.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should be overridden when the </a:t>
            </a:r>
            <a:r>
              <a:rPr lang="en-US" b="0" i="0" u="none" strike="noStrike" dirty="0" err="1">
                <a:solidFill>
                  <a:srgbClr val="4A6782"/>
                </a:solidFill>
                <a:effectLst/>
                <a:latin typeface="DejaVu Sans Mono"/>
                <a:hlinkClick r:id="rId13"/>
              </a:rPr>
              <a:t>spliterator</a:t>
            </a:r>
            <a:r>
              <a:rPr lang="en-US" b="0" i="0" u="none" strike="noStrike" dirty="0">
                <a:solidFill>
                  <a:srgbClr val="4A6782"/>
                </a:solidFill>
                <a:effectLst/>
                <a:latin typeface="DejaVu Sans Mono"/>
                <a:hlinkClick r:id="rId13"/>
              </a:rPr>
              <a:t>()</a:t>
            </a:r>
            <a:r>
              <a:rPr lang="en-US" b="0" i="0" dirty="0">
                <a:solidFill>
                  <a:srgbClr val="474747"/>
                </a:solidFill>
                <a:effectLst/>
                <a:latin typeface="DejaVu Serif"/>
              </a:rPr>
              <a:t> method cannot return a </a:t>
            </a:r>
            <a:r>
              <a:rPr lang="en-US" b="0" i="0" dirty="0" err="1">
                <a:solidFill>
                  <a:srgbClr val="474747"/>
                </a:solidFill>
                <a:effectLst/>
                <a:latin typeface="DejaVu Serif"/>
              </a:rPr>
              <a:t>spliterator</a:t>
            </a:r>
            <a:r>
              <a:rPr lang="en-US" b="0" i="0" dirty="0">
                <a:solidFill>
                  <a:srgbClr val="474747"/>
                </a:solidFill>
                <a:effectLst/>
                <a:latin typeface="DejaVu Serif"/>
              </a:rPr>
              <a:t> that is </a:t>
            </a:r>
            <a:r>
              <a:rPr lang="en-US" b="0" i="0" dirty="0">
                <a:solidFill>
                  <a:srgbClr val="474747"/>
                </a:solidFill>
                <a:effectLst/>
                <a:latin typeface="DejaVu Sans Mono"/>
              </a:rPr>
              <a:t>IMMUTABLE</a:t>
            </a:r>
            <a:r>
              <a:rPr lang="en-US" b="0" i="0" dirty="0">
                <a:solidFill>
                  <a:srgbClr val="474747"/>
                </a:solidFill>
                <a:effectLst/>
                <a:latin typeface="DejaVu Serif"/>
              </a:rPr>
              <a:t>, </a:t>
            </a:r>
            <a:r>
              <a:rPr lang="en-US" b="0" i="0" dirty="0">
                <a:solidFill>
                  <a:srgbClr val="474747"/>
                </a:solidFill>
                <a:effectLst/>
                <a:latin typeface="DejaVu Sans Mono"/>
              </a:rPr>
              <a:t>CONCURRENT</a:t>
            </a:r>
            <a:r>
              <a:rPr lang="en-US" b="0" i="0" dirty="0">
                <a:solidFill>
                  <a:srgbClr val="474747"/>
                </a:solidFill>
                <a:effectLst/>
                <a:latin typeface="DejaVu Serif"/>
              </a:rPr>
              <a:t>, or </a:t>
            </a:r>
            <a:r>
              <a:rPr lang="en-US" b="0" i="1" dirty="0">
                <a:solidFill>
                  <a:srgbClr val="474747"/>
                </a:solidFill>
                <a:effectLst/>
                <a:latin typeface="DejaVu Serif"/>
              </a:rPr>
              <a:t>late-binding</a:t>
            </a:r>
            <a:r>
              <a:rPr lang="en-US" b="0" i="0" dirty="0">
                <a:solidFill>
                  <a:srgbClr val="474747"/>
                </a:solidFill>
                <a:effectLst/>
                <a:latin typeface="DejaVu Serif"/>
              </a:rPr>
              <a:t>. (See </a:t>
            </a:r>
            <a:r>
              <a:rPr lang="en-US" b="0" i="0" u="none" strike="noStrike" dirty="0" err="1">
                <a:solidFill>
                  <a:srgbClr val="4A6782"/>
                </a:solidFill>
                <a:effectLst/>
                <a:latin typeface="DejaVu Sans Mono"/>
                <a:hlinkClick r:id="rId13"/>
              </a:rPr>
              <a:t>spliterator</a:t>
            </a:r>
            <a:r>
              <a:rPr lang="en-US" b="0" i="0" u="none" strike="noStrike" dirty="0">
                <a:solidFill>
                  <a:srgbClr val="4A6782"/>
                </a:solidFill>
                <a:effectLst/>
                <a:latin typeface="DejaVu Sans Mono"/>
                <a:hlinkClick r:id="rId13"/>
              </a:rPr>
              <a:t>()</a:t>
            </a:r>
            <a:r>
              <a:rPr lang="en-US" b="0" i="0" dirty="0">
                <a:solidFill>
                  <a:srgbClr val="474747"/>
                </a:solidFill>
                <a:effectLst/>
                <a:latin typeface="DejaVu Serif"/>
              </a:rPr>
              <a:t> for details.)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creates a sequential Stream from the collection's </a:t>
            </a:r>
            <a:r>
              <a:rPr lang="en-US" b="0" i="0" dirty="0" err="1">
                <a:solidFill>
                  <a:srgbClr val="353833"/>
                </a:solidFill>
                <a:effectLst/>
                <a:latin typeface="DejaVu Sans Mono"/>
              </a:rPr>
              <a:t>Spliterator</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sequential Stream over the elements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Tree>
    <p:extLst>
      <p:ext uri="{BB962C8B-B14F-4D97-AF65-F5344CB8AC3E}">
        <p14:creationId xmlns:p14="http://schemas.microsoft.com/office/powerpoint/2010/main" val="296800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31EE57-864A-6F01-D9C9-6EAA32C235FD}"/>
              </a:ext>
            </a:extLst>
          </p:cNvPr>
          <p:cNvSpPr txBox="1"/>
          <p:nvPr/>
        </p:nvSpPr>
        <p:spPr>
          <a:xfrm>
            <a:off x="2478741" y="5621"/>
            <a:ext cx="4957482" cy="6855723"/>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parallelStream</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u="none" strike="noStrike" dirty="0">
                <a:solidFill>
                  <a:srgbClr val="4A6782"/>
                </a:solidFill>
                <a:effectLst/>
                <a:latin typeface="DejaVu Sans Mono"/>
                <a:hlinkClick r:id="rId2" tooltip="interface in java.util.stream"/>
              </a:rPr>
              <a:t>Stream</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Collection"/>
              </a:rPr>
              <a:t>E</a:t>
            </a:r>
            <a:r>
              <a:rPr lang="en-US" b="0" i="0" dirty="0">
                <a:solidFill>
                  <a:srgbClr val="353833"/>
                </a:solidFill>
                <a:effectLst/>
                <a:latin typeface="DejaVu Sans Mono"/>
              </a:rPr>
              <a:t>&gt; </a:t>
            </a:r>
            <a:r>
              <a:rPr lang="en-US" b="0" i="0" dirty="0" err="1">
                <a:solidFill>
                  <a:srgbClr val="353833"/>
                </a:solidFill>
                <a:effectLst/>
                <a:latin typeface="DejaVu Sans Mono"/>
              </a:rPr>
              <a:t>parallelStream</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 possibly parallel </a:t>
            </a:r>
            <a:r>
              <a:rPr lang="en-US" b="0" i="0" dirty="0">
                <a:solidFill>
                  <a:srgbClr val="474747"/>
                </a:solidFill>
                <a:effectLst/>
                <a:latin typeface="DejaVu Sans Mono"/>
              </a:rPr>
              <a:t>Stream</a:t>
            </a:r>
            <a:r>
              <a:rPr lang="en-US" b="0" i="0" dirty="0">
                <a:solidFill>
                  <a:srgbClr val="474747"/>
                </a:solidFill>
                <a:effectLst/>
                <a:latin typeface="DejaVu Serif"/>
              </a:rPr>
              <a:t> with this collection as its source. It is allowable for this method to return a sequential stream.</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should be overridden when the </a:t>
            </a:r>
            <a:r>
              <a:rPr lang="en-US" b="0" i="0" u="none" strike="noStrike" dirty="0" err="1">
                <a:solidFill>
                  <a:srgbClr val="4A6782"/>
                </a:solidFill>
                <a:effectLst/>
                <a:latin typeface="DejaVu Sans Mono"/>
                <a:hlinkClick r:id="rId4"/>
              </a:rPr>
              <a:t>spliterator</a:t>
            </a:r>
            <a:r>
              <a:rPr lang="en-US" b="0" i="0" u="none" strike="noStrike" dirty="0">
                <a:solidFill>
                  <a:srgbClr val="4A6782"/>
                </a:solidFill>
                <a:effectLst/>
                <a:latin typeface="DejaVu Sans Mono"/>
                <a:hlinkClick r:id="rId4"/>
              </a:rPr>
              <a:t>()</a:t>
            </a:r>
            <a:r>
              <a:rPr lang="en-US" b="0" i="0" dirty="0">
                <a:solidFill>
                  <a:srgbClr val="474747"/>
                </a:solidFill>
                <a:effectLst/>
                <a:latin typeface="DejaVu Serif"/>
              </a:rPr>
              <a:t> method cannot return a </a:t>
            </a:r>
            <a:r>
              <a:rPr lang="en-US" b="0" i="0" dirty="0" err="1">
                <a:solidFill>
                  <a:srgbClr val="474747"/>
                </a:solidFill>
                <a:effectLst/>
                <a:latin typeface="DejaVu Serif"/>
              </a:rPr>
              <a:t>spliterator</a:t>
            </a:r>
            <a:r>
              <a:rPr lang="en-US" b="0" i="0" dirty="0">
                <a:solidFill>
                  <a:srgbClr val="474747"/>
                </a:solidFill>
                <a:effectLst/>
                <a:latin typeface="DejaVu Serif"/>
              </a:rPr>
              <a:t> that is </a:t>
            </a:r>
            <a:r>
              <a:rPr lang="en-US" b="0" i="0" dirty="0">
                <a:solidFill>
                  <a:srgbClr val="474747"/>
                </a:solidFill>
                <a:effectLst/>
                <a:latin typeface="DejaVu Sans Mono"/>
              </a:rPr>
              <a:t>IMMUTABLE</a:t>
            </a:r>
            <a:r>
              <a:rPr lang="en-US" b="0" i="0" dirty="0">
                <a:solidFill>
                  <a:srgbClr val="474747"/>
                </a:solidFill>
                <a:effectLst/>
                <a:latin typeface="DejaVu Serif"/>
              </a:rPr>
              <a:t>, </a:t>
            </a:r>
            <a:r>
              <a:rPr lang="en-US" b="0" i="0" dirty="0">
                <a:solidFill>
                  <a:srgbClr val="474747"/>
                </a:solidFill>
                <a:effectLst/>
                <a:latin typeface="DejaVu Sans Mono"/>
              </a:rPr>
              <a:t>CONCURRENT</a:t>
            </a:r>
            <a:r>
              <a:rPr lang="en-US" b="0" i="0" dirty="0">
                <a:solidFill>
                  <a:srgbClr val="474747"/>
                </a:solidFill>
                <a:effectLst/>
                <a:latin typeface="DejaVu Serif"/>
              </a:rPr>
              <a:t>, or </a:t>
            </a:r>
            <a:r>
              <a:rPr lang="en-US" b="0" i="1" dirty="0">
                <a:solidFill>
                  <a:srgbClr val="474747"/>
                </a:solidFill>
                <a:effectLst/>
                <a:latin typeface="DejaVu Serif"/>
              </a:rPr>
              <a:t>late-binding</a:t>
            </a:r>
            <a:r>
              <a:rPr lang="en-US" b="0" i="0" dirty="0">
                <a:solidFill>
                  <a:srgbClr val="474747"/>
                </a:solidFill>
                <a:effectLst/>
                <a:latin typeface="DejaVu Serif"/>
              </a:rPr>
              <a:t>. (See </a:t>
            </a:r>
            <a:r>
              <a:rPr lang="en-US" b="0" i="0" u="none" strike="noStrike" dirty="0" err="1">
                <a:solidFill>
                  <a:srgbClr val="4A6782"/>
                </a:solidFill>
                <a:effectLst/>
                <a:latin typeface="DejaVu Sans Mono"/>
                <a:hlinkClick r:id="rId4"/>
              </a:rPr>
              <a:t>spliterator</a:t>
            </a:r>
            <a:r>
              <a:rPr lang="en-US" b="0" i="0" u="none" strike="noStrike" dirty="0">
                <a:solidFill>
                  <a:srgbClr val="4A6782"/>
                </a:solidFill>
                <a:effectLst/>
                <a:latin typeface="DejaVu Sans Mono"/>
                <a:hlinkClick r:id="rId4"/>
              </a:rPr>
              <a:t>()</a:t>
            </a:r>
            <a:r>
              <a:rPr lang="en-US" b="0" i="0" dirty="0">
                <a:solidFill>
                  <a:srgbClr val="474747"/>
                </a:solidFill>
                <a:effectLst/>
                <a:latin typeface="DejaVu Serif"/>
              </a:rPr>
              <a:t> for details.)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creates a parallel Stream from the collection's </a:t>
            </a:r>
            <a:r>
              <a:rPr lang="en-US" b="0" i="0" dirty="0" err="1">
                <a:solidFill>
                  <a:srgbClr val="353833"/>
                </a:solidFill>
                <a:effectLst/>
                <a:latin typeface="DejaVu Sans Mono"/>
              </a:rPr>
              <a:t>Spliterator</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possibly parallel Stream over the elements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Tree>
    <p:extLst>
      <p:ext uri="{BB962C8B-B14F-4D97-AF65-F5344CB8AC3E}">
        <p14:creationId xmlns:p14="http://schemas.microsoft.com/office/powerpoint/2010/main" val="3143473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8CBC31-3A7A-C0A3-DD62-7940193FEC6C}"/>
              </a:ext>
            </a:extLst>
          </p:cNvPr>
          <p:cNvSpPr txBox="1"/>
          <p:nvPr/>
        </p:nvSpPr>
        <p:spPr>
          <a:xfrm>
            <a:off x="259976" y="1890117"/>
            <a:ext cx="9386048" cy="3077766"/>
          </a:xfrm>
          <a:prstGeom prst="rect">
            <a:avLst/>
          </a:prstGeom>
          <a:noFill/>
        </p:spPr>
        <p:txBody>
          <a:bodyPr wrap="square">
            <a:spAutoFit/>
          </a:bodyPr>
          <a:lstStyle/>
          <a:p>
            <a:pPr algn="l">
              <a:spcBef>
                <a:spcPts val="750"/>
              </a:spcBef>
              <a:buNone/>
            </a:pPr>
            <a:r>
              <a:rPr lang="en-US" b="1" i="0" dirty="0" err="1">
                <a:solidFill>
                  <a:srgbClr val="4E4E4E"/>
                </a:solidFill>
                <a:effectLst/>
                <a:latin typeface="DejaVu Sans"/>
              </a:rPr>
              <a:t>Superinterfaces</a:t>
            </a:r>
            <a:r>
              <a:rPr lang="en-US" b="1" i="0" dirty="0">
                <a:solidFill>
                  <a:srgbClr val="4E4E4E"/>
                </a:solidFill>
                <a:effectLst/>
                <a:latin typeface="DejaVu Sans"/>
              </a:rPr>
              <a:t>:</a:t>
            </a:r>
          </a:p>
          <a:p>
            <a:pPr algn="l">
              <a:spcBef>
                <a:spcPts val="375"/>
              </a:spcBef>
              <a:spcAft>
                <a:spcPts val="750"/>
              </a:spcAft>
              <a:buNone/>
            </a:pPr>
            <a:r>
              <a:rPr lang="en-US" b="0" i="0" u="none" strike="noStrike" dirty="0" err="1">
                <a:solidFill>
                  <a:srgbClr val="4A6782"/>
                </a:solidFill>
                <a:effectLst/>
                <a:latin typeface="DejaVu Sans Mono"/>
                <a:hlinkClick r:id="rId2" tooltip="interface in java.lang"/>
              </a:rPr>
              <a:t>Iterable</a:t>
            </a:r>
            <a:r>
              <a:rPr lang="en-US" b="0" i="0" dirty="0">
                <a:solidFill>
                  <a:srgbClr val="353833"/>
                </a:solidFill>
                <a:effectLst/>
                <a:latin typeface="DejaVu Sans Mono"/>
              </a:rPr>
              <a:t>&lt;E&gt;</a:t>
            </a:r>
          </a:p>
          <a:p>
            <a:pPr algn="l">
              <a:spcBef>
                <a:spcPts val="750"/>
              </a:spcBef>
              <a:buNone/>
            </a:pPr>
            <a:r>
              <a:rPr lang="en-US" b="1" i="0" dirty="0" err="1">
                <a:solidFill>
                  <a:srgbClr val="4E4E4E"/>
                </a:solidFill>
                <a:effectLst/>
                <a:latin typeface="DejaVu Sans"/>
              </a:rPr>
              <a:t>Subinterfaces</a:t>
            </a:r>
            <a:r>
              <a:rPr lang="en-US" b="1" i="0" dirty="0">
                <a:solidFill>
                  <a:srgbClr val="4E4E4E"/>
                </a:solidFill>
                <a:effectLst/>
                <a:latin typeface="DejaVu Sans"/>
              </a:rPr>
              <a:t>:</a:t>
            </a:r>
          </a:p>
          <a:p>
            <a:pPr algn="l">
              <a:spcBef>
                <a:spcPts val="375"/>
              </a:spcBef>
              <a:spcAft>
                <a:spcPts val="750"/>
              </a:spcAft>
              <a:buNone/>
            </a:pPr>
            <a:r>
              <a:rPr lang="en-US" b="0" i="0" u="none" strike="noStrike" dirty="0">
                <a:solidFill>
                  <a:srgbClr val="4A6782"/>
                </a:solidFill>
                <a:effectLst/>
                <a:latin typeface="DejaVu Sans Mono"/>
                <a:hlinkClick r:id="rId3" tooltip="interface in java.util"/>
              </a:rPr>
              <a:t>Deque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4" tooltip="interface in java.util"/>
              </a:rPr>
              <a:t>List</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5" tooltip="interface in java.util"/>
              </a:rPr>
              <a:t>Queue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6" tooltip="interface in java.util"/>
              </a:rPr>
              <a:t>Set</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7" tooltip="interface in java.util"/>
              </a:rPr>
              <a:t>SortedSet</a:t>
            </a:r>
            <a:r>
              <a:rPr lang="en-US" b="0" i="0" dirty="0">
                <a:solidFill>
                  <a:srgbClr val="353833"/>
                </a:solidFill>
                <a:effectLst/>
                <a:latin typeface="DejaVu Sans Mono"/>
              </a:rPr>
              <a:t>&lt;E&gt;</a:t>
            </a:r>
          </a:p>
          <a:p>
            <a:pPr algn="l">
              <a:spcBef>
                <a:spcPts val="375"/>
              </a:spcBef>
              <a:spcAft>
                <a:spcPts val="750"/>
              </a:spcAft>
              <a:buNone/>
            </a:pPr>
            <a:endParaRPr lang="en-US" dirty="0">
              <a:solidFill>
                <a:srgbClr val="353833"/>
              </a:solidFill>
              <a:latin typeface="DejaVu Sans Mono"/>
            </a:endParaRPr>
          </a:p>
          <a:p>
            <a:pPr algn="l">
              <a:spcBef>
                <a:spcPts val="375"/>
              </a:spcBef>
              <a:spcAft>
                <a:spcPts val="750"/>
              </a:spcAft>
              <a:buNone/>
            </a:pPr>
            <a:r>
              <a:rPr lang="en-US" b="1" i="0" dirty="0">
                <a:solidFill>
                  <a:srgbClr val="4E4E4E"/>
                </a:solidFill>
                <a:effectLst/>
                <a:latin typeface="DejaVu Sans"/>
              </a:rPr>
              <a:t>Implementing Classes:</a:t>
            </a:r>
          </a:p>
          <a:p>
            <a:pPr algn="l">
              <a:spcBef>
                <a:spcPts val="375"/>
              </a:spcBef>
              <a:spcAft>
                <a:spcPts val="750"/>
              </a:spcAft>
              <a:buNone/>
            </a:pPr>
            <a:r>
              <a:rPr lang="en-US" b="0" i="0" u="none" strike="noStrike" dirty="0" err="1">
                <a:solidFill>
                  <a:srgbClr val="4A6782"/>
                </a:solidFill>
                <a:effectLst/>
                <a:latin typeface="DejaVu Sans Mono"/>
                <a:hlinkClick r:id="rId8" tooltip="class in java.util"/>
              </a:rPr>
              <a:t>ArrayDeque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9" tooltip="class in java.util"/>
              </a:rPr>
              <a:t>ArrayList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0" tooltip="class in java.util"/>
              </a:rPr>
              <a:t>EnumSet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1" tooltip="class in java.util"/>
              </a:rPr>
              <a:t>HashSet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2" tooltip="class in java.util"/>
              </a:rPr>
              <a:t>LinkedHashSet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3" tooltip="class in java.util"/>
              </a:rPr>
              <a:t>LinkedList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4" tooltip="class in java.util"/>
              </a:rPr>
              <a:t>PriorityQueue</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5" tooltip="class in java.util"/>
              </a:rPr>
              <a:t>Stack</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6" tooltip="class in java.util"/>
              </a:rPr>
              <a:t>TreeSet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7" tooltip="class in java.util"/>
              </a:rPr>
              <a:t>Vector</a:t>
            </a:r>
            <a:endParaRPr lang="en-US" b="0" i="0" dirty="0">
              <a:solidFill>
                <a:srgbClr val="353833"/>
              </a:solidFill>
              <a:effectLst/>
              <a:latin typeface="DejaVu Sans Mono"/>
            </a:endParaRPr>
          </a:p>
        </p:txBody>
      </p:sp>
      <p:sp>
        <p:nvSpPr>
          <p:cNvPr id="6" name="TextBox 5">
            <a:extLst>
              <a:ext uri="{FF2B5EF4-FFF2-40B4-BE49-F238E27FC236}">
                <a16:creationId xmlns:a16="http://schemas.microsoft.com/office/drawing/2014/main" id="{4E795B68-1E6B-1E7F-F700-5B35FFD2A718}"/>
              </a:ext>
            </a:extLst>
          </p:cNvPr>
          <p:cNvSpPr txBox="1"/>
          <p:nvPr/>
        </p:nvSpPr>
        <p:spPr>
          <a:xfrm>
            <a:off x="645459" y="717176"/>
            <a:ext cx="3603230" cy="369332"/>
          </a:xfrm>
          <a:prstGeom prst="rect">
            <a:avLst/>
          </a:prstGeom>
          <a:noFill/>
        </p:spPr>
        <p:txBody>
          <a:bodyPr wrap="none" rtlCol="0">
            <a:spAutoFit/>
          </a:bodyPr>
          <a:lstStyle/>
          <a:p>
            <a:r>
              <a:rPr lang="en-US" dirty="0"/>
              <a:t>We are going to study the following</a:t>
            </a:r>
          </a:p>
        </p:txBody>
      </p:sp>
    </p:spTree>
    <p:extLst>
      <p:ext uri="{BB962C8B-B14F-4D97-AF65-F5344CB8AC3E}">
        <p14:creationId xmlns:p14="http://schemas.microsoft.com/office/powerpoint/2010/main" val="1453601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002556-013E-2C16-96DC-02F8460F421D}"/>
              </a:ext>
            </a:extLst>
          </p:cNvPr>
          <p:cNvSpPr txBox="1"/>
          <p:nvPr/>
        </p:nvSpPr>
        <p:spPr>
          <a:xfrm>
            <a:off x="2478741" y="-3215774"/>
            <a:ext cx="4957482" cy="13298512"/>
          </a:xfrm>
          <a:prstGeom prst="rect">
            <a:avLst/>
          </a:prstGeom>
          <a:noFill/>
        </p:spPr>
        <p:txBody>
          <a:bodyPr wrap="square">
            <a:spAutoFit/>
          </a:bodyPr>
          <a:lstStyle/>
          <a:p>
            <a:pPr algn="l">
              <a:spcBef>
                <a:spcPts val="375"/>
              </a:spcBef>
              <a:buNone/>
            </a:pPr>
            <a:r>
              <a:rPr lang="en-US" b="0" i="0" dirty="0" err="1">
                <a:solidFill>
                  <a:srgbClr val="353833"/>
                </a:solidFill>
                <a:effectLst/>
                <a:latin typeface="DejaVu Sans"/>
              </a:rPr>
              <a:t>java.lang</a:t>
            </a:r>
            <a:endParaRPr lang="en-US" b="0" i="0" dirty="0">
              <a:solidFill>
                <a:srgbClr val="353833"/>
              </a:solidFill>
              <a:effectLst/>
              <a:latin typeface="DejaVu Sans"/>
            </a:endParaRPr>
          </a:p>
          <a:p>
            <a:pPr algn="l">
              <a:spcBef>
                <a:spcPts val="750"/>
              </a:spcBef>
              <a:spcAft>
                <a:spcPts val="750"/>
              </a:spcAft>
              <a:buNone/>
            </a:pPr>
            <a:r>
              <a:rPr lang="en-US" b="1" i="0" dirty="0">
                <a:solidFill>
                  <a:srgbClr val="2C4557"/>
                </a:solidFill>
                <a:effectLst/>
                <a:latin typeface="DejaVu Sans"/>
              </a:rPr>
              <a:t>Interface </a:t>
            </a:r>
            <a:r>
              <a:rPr lang="en-US" b="1" i="0" dirty="0" err="1">
                <a:solidFill>
                  <a:srgbClr val="2C4557"/>
                </a:solidFill>
                <a:effectLst/>
                <a:latin typeface="DejaVu Sans"/>
              </a:rPr>
              <a:t>Iterable</a:t>
            </a:r>
            <a:r>
              <a:rPr lang="en-US" b="1" i="0" dirty="0">
                <a:solidFill>
                  <a:srgbClr val="2C4557"/>
                </a:solidFill>
                <a:effectLst/>
                <a:latin typeface="DejaVu Sans"/>
              </a:rPr>
              <a:t>&lt;T&gt;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 - the type of elements returned by the iterator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a:t>
            </a:r>
            <a:r>
              <a:rPr lang="en-US" b="1" i="0" dirty="0" err="1">
                <a:solidFill>
                  <a:srgbClr val="4E4E4E"/>
                </a:solidFill>
                <a:effectLst/>
                <a:latin typeface="DejaVu Sans"/>
              </a:rPr>
              <a:t>Subinterfaces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 tooltip="interface in java.beans.beancontext"/>
              </a:rPr>
              <a:t>BeanContext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 tooltip="interface in java.beans.beancontext"/>
              </a:rPr>
              <a:t>BeanContextServices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 tooltip="interface in java.util.concurrent"/>
              </a:rPr>
              <a:t>BlockingDeque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5" tooltip="interface in java.util.concurrent"/>
              </a:rPr>
              <a:t>BlockingQueue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6" tooltip="interface in java.util"/>
              </a:rPr>
              <a:t>Collection</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7" tooltip="interface in java.util"/>
              </a:rPr>
              <a:t>Deque</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8" tooltip="interface in java.nio.file"/>
              </a:rPr>
              <a:t>DirectoryStream</a:t>
            </a:r>
            <a:r>
              <a:rPr lang="en-US" b="0" i="0" dirty="0">
                <a:solidFill>
                  <a:srgbClr val="353833"/>
                </a:solidFill>
                <a:effectLst/>
                <a:latin typeface="DejaVu Sans Mono"/>
              </a:rPr>
              <a:t>&lt;T&gt;, </a:t>
            </a:r>
            <a:r>
              <a:rPr lang="en-US" b="0" i="0" u="none" strike="noStrike" dirty="0">
                <a:solidFill>
                  <a:srgbClr val="4A6782"/>
                </a:solidFill>
                <a:effectLst/>
                <a:latin typeface="DejaVu Sans Mono"/>
                <a:hlinkClick r:id="rId9" tooltip="interface in java.util"/>
              </a:rPr>
              <a:t>List</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10" tooltip="interface in java.util"/>
              </a:rPr>
              <a:t>NavigableSet</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11" tooltip="interface in java.nio.file"/>
              </a:rPr>
              <a:t>Path</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2" tooltip="interface in java.util"/>
              </a:rPr>
              <a:t>Queue</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13" tooltip="interface in java.nio.file"/>
              </a:rPr>
              <a:t>SecureDirectoryStream</a:t>
            </a:r>
            <a:r>
              <a:rPr lang="en-US" b="0" i="0" dirty="0">
                <a:solidFill>
                  <a:srgbClr val="353833"/>
                </a:solidFill>
                <a:effectLst/>
                <a:latin typeface="DejaVu Sans Mono"/>
              </a:rPr>
              <a:t>&lt;T&gt;, </a:t>
            </a:r>
            <a:r>
              <a:rPr lang="en-US" b="0" i="0" u="none" strike="noStrike" dirty="0">
                <a:solidFill>
                  <a:srgbClr val="4A6782"/>
                </a:solidFill>
                <a:effectLst/>
                <a:latin typeface="DejaVu Sans Mono"/>
                <a:hlinkClick r:id="rId14" tooltip="interface in java.util"/>
              </a:rPr>
              <a:t>Set</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15" tooltip="interface in java.util"/>
              </a:rPr>
              <a:t>SortedSet</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16" tooltip="interface in java.util.concurrent"/>
              </a:rPr>
              <a:t>TransferQueue</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Implementing Classes: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7" tooltip="class in java.util"/>
              </a:rPr>
              <a:t>AbstractCollection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8" tooltip="class in java.util"/>
              </a:rPr>
              <a:t>AbstractList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9" tooltip="class in java.util"/>
              </a:rPr>
              <a:t>AbstractQueue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0" tooltip="class in java.util"/>
              </a:rPr>
              <a:t>AbstractSequentialList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1" tooltip="class in java.util"/>
              </a:rPr>
              <a:t>AbstractSet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2" tooltip="class in java.util.concurrent"/>
              </a:rPr>
              <a:t>ArrayBlockingQueue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3" tooltip="class in java.util"/>
              </a:rPr>
              <a:t>ArrayDeque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4" tooltip="class in java.util"/>
              </a:rPr>
              <a:t>ArrayList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5" tooltip="class in javax.management"/>
              </a:rPr>
              <a:t>AttributeList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6" tooltip="class in java.sql"/>
              </a:rPr>
              <a:t>BatchUpdateException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7" tooltip="class in java.beans.beancontext"/>
              </a:rPr>
              <a:t>BeanContextServicesSupport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8" tooltip="class in java.beans.beancontext"/>
              </a:rPr>
              <a:t>BeanContextSupport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9" tooltip="class in java.util.concurrent"/>
              </a:rPr>
              <a:t>ConcurrentHashMap.KeySetView</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0" tooltip="class in java.util.concurrent"/>
              </a:rPr>
              <a:t>ConcurrentLinkedDeque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1" tooltip="class in java.util.concurrent"/>
              </a:rPr>
              <a:t>ConcurrentLinkedQueue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2" tooltip="class in java.util.concurrent"/>
              </a:rPr>
              <a:t>ConcurrentSkipListSet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3" tooltip="class in java.util.concurrent"/>
              </a:rPr>
              <a:t>CopyOnWriteArrayList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4" tooltip="class in java.util.concurrent"/>
              </a:rPr>
              <a:t>CopyOnWriteArraySet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5" tooltip="class in java.sql"/>
              </a:rPr>
              <a:t>DataTruncation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6" tooltip="class in java.util.concurrent"/>
              </a:rPr>
              <a:t>DelayQueue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7" tooltip="class in java.util"/>
              </a:rPr>
              <a:t>EnumSet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38" tooltip="class in java.util"/>
              </a:rPr>
              <a:t>HashSet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39" tooltip="class in javax.print.attribute.standard"/>
              </a:rPr>
              <a:t>JobStateReasons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0" tooltip="class in java.util.concurrent"/>
              </a:rPr>
              <a:t>LinkedBlockingDeque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1" tooltip="class in java.util.concurrent"/>
              </a:rPr>
              <a:t>LinkedBlockingQueue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2" tooltip="class in java.util"/>
              </a:rPr>
              <a:t>LinkedHashSet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43" tooltip="class in java.util"/>
              </a:rPr>
              <a:t>LinkedList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4" tooltip="class in java.util.concurrent"/>
              </a:rPr>
              <a:t>LinkedTransferQueue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5" tooltip="class in java.util.concurrent"/>
              </a:rPr>
              <a:t>PriorityBlockingQueue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6" tooltip="class in java.util"/>
              </a:rPr>
              <a:t>PriorityQueue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7" tooltip="class in javax.management.relation"/>
              </a:rPr>
              <a:t>RoleList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8" tooltip="class in javax.management.relation"/>
              </a:rPr>
              <a:t>RoleUnresolvedList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9" tooltip="class in javax.sql.rowset"/>
              </a:rPr>
              <a:t>RowSetWarning</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50" tooltip="class in javax.sql.rowset.serial"/>
              </a:rPr>
              <a:t>SerialException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1" tooltip="class in java.util"/>
              </a:rPr>
              <a:t>ServiceLoader</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2" tooltip="class in java.sql"/>
              </a:rPr>
              <a:t>SQLClientInfoException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3" tooltip="class in java.sql"/>
              </a:rPr>
              <a:t>SQLDataException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4" tooltip="class in java.sql"/>
              </a:rPr>
              <a:t>SQLException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5" tooltip="class in java.sql"/>
              </a:rPr>
              <a:t>SQLFeatureNotSupportedException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6" tooltip="class in java.sql"/>
              </a:rPr>
              <a:t>SQLIntegrityConstraintViolationException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7" tooltip="class in java.sql"/>
              </a:rPr>
              <a:t>SQLInvalidAuthorizationSpecException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8" tooltip="class in java.sql"/>
              </a:rPr>
              <a:t>SQLNonTransientConnectionException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9" tooltip="class in java.sql"/>
              </a:rPr>
              <a:t>SQLNonTransientException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0" tooltip="class in java.sql"/>
              </a:rPr>
              <a:t>SQLRecoverableException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1" tooltip="class in java.sql"/>
              </a:rPr>
              <a:t>SQLSyntaxErrorException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2" tooltip="class in java.sql"/>
              </a:rPr>
              <a:t>SQLTimeoutException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3" tooltip="class in java.sql"/>
              </a:rPr>
              <a:t>SQLTransactionRollbackException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4" tooltip="class in java.sql"/>
              </a:rPr>
              <a:t>SQLTransientConnectionException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5" tooltip="class in java.sql"/>
              </a:rPr>
              <a:t>SQLTransientException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6" tooltip="class in java.sql"/>
              </a:rPr>
              <a:t>SQLWarning</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67" tooltip="class in java.util"/>
              </a:rPr>
              <a:t>Stack</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8" tooltip="class in javax.sql.rowset.spi"/>
              </a:rPr>
              <a:t>SyncFactoryException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9" tooltip="class in java.util.concurrent"/>
              </a:rPr>
              <a:t>SynchronousQueue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70" tooltip="class in javax.sql.rowset.spi"/>
              </a:rPr>
              <a:t>SyncProviderException</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71" tooltip="class in java.util"/>
              </a:rPr>
              <a:t>TreeSet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72" tooltip="class in java.util"/>
              </a:rPr>
              <a:t>Vector</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1684941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AFB2ED6-2BD8-90CE-805F-C8F4F221A86A}"/>
              </a:ext>
            </a:extLst>
          </p:cNvPr>
          <p:cNvGraphicFramePr>
            <a:graphicFrameLocks noGrp="1"/>
          </p:cNvGraphicFramePr>
          <p:nvPr/>
        </p:nvGraphicFramePr>
        <p:xfrm>
          <a:off x="1877401" y="1890554"/>
          <a:ext cx="6151198" cy="4221480"/>
        </p:xfrm>
        <a:graphic>
          <a:graphicData uri="http://schemas.openxmlformats.org/drawingml/2006/table">
            <a:tbl>
              <a:tblPr/>
              <a:tblGrid>
                <a:gridCol w="1457035">
                  <a:extLst>
                    <a:ext uri="{9D8B030D-6E8A-4147-A177-3AD203B41FA5}">
                      <a16:colId xmlns:a16="http://schemas.microsoft.com/office/drawing/2014/main" val="2781250066"/>
                    </a:ext>
                  </a:extLst>
                </a:gridCol>
                <a:gridCol w="1457035">
                  <a:extLst>
                    <a:ext uri="{9D8B030D-6E8A-4147-A177-3AD203B41FA5}">
                      <a16:colId xmlns:a16="http://schemas.microsoft.com/office/drawing/2014/main" val="2542853383"/>
                    </a:ext>
                  </a:extLst>
                </a:gridCol>
                <a:gridCol w="3237128">
                  <a:extLst>
                    <a:ext uri="{9D8B030D-6E8A-4147-A177-3AD203B41FA5}">
                      <a16:colId xmlns:a16="http://schemas.microsoft.com/office/drawing/2014/main" val="3815003852"/>
                    </a:ext>
                  </a:extLst>
                </a:gridCol>
              </a:tblGrid>
              <a:tr h="0">
                <a:tc gridSpan="3">
                  <a:txBody>
                    <a:bodyPr/>
                    <a:lstStyle/>
                    <a:p>
                      <a:pPr>
                        <a:buNone/>
                      </a:pPr>
                      <a:r>
                        <a:rPr lang="en-US"/>
                        <a:t>All MethodsInstance MethodsAbstract MethodsDefault Methods</a:t>
                      </a:r>
                    </a:p>
                  </a:txBody>
                  <a:tcPr marL="22860" marR="22860" marT="22860" marB="22860"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99325676"/>
                  </a:ext>
                </a:extLst>
              </a:tr>
              <a:tr h="0">
                <a:tc>
                  <a:txBody>
                    <a:bodyPr/>
                    <a:lstStyle/>
                    <a:p>
                      <a:pPr algn="l" fontAlgn="t">
                        <a:buNone/>
                      </a:pPr>
                      <a:r>
                        <a:rPr lang="en-US">
                          <a:effectLst/>
                        </a:rPr>
                        <a:t>Modifier and Type</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Method</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Description</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4107602576"/>
                  </a:ext>
                </a:extLst>
              </a:tr>
              <a:tr h="0">
                <a:tc>
                  <a:txBody>
                    <a:bodyPr/>
                    <a:lstStyle/>
                    <a:p>
                      <a:pPr algn="l" fontAlgn="t">
                        <a:buNone/>
                      </a:pPr>
                      <a:r>
                        <a:rPr lang="en-US">
                          <a:effectLst/>
                          <a:latin typeface="DejaVu Sans Mono"/>
                        </a:rPr>
                        <a:t>default void</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b="1" u="none" strike="noStrike">
                          <a:solidFill>
                            <a:srgbClr val="4A6782"/>
                          </a:solidFill>
                          <a:effectLst/>
                          <a:latin typeface="DejaVu Sans Mono"/>
                          <a:hlinkClick r:id="rId2"/>
                        </a:rPr>
                        <a:t>forEach</a:t>
                      </a:r>
                      <a:r>
                        <a:rPr lang="en-US" b="0">
                          <a:effectLst/>
                          <a:latin typeface="DejaVu Sans Mono"/>
                        </a:rPr>
                        <a:t>(</a:t>
                      </a:r>
                      <a:r>
                        <a:rPr lang="en-US" b="1" u="none" strike="noStrike">
                          <a:solidFill>
                            <a:srgbClr val="4A6782"/>
                          </a:solidFill>
                          <a:effectLst/>
                          <a:latin typeface="DejaVu Sans Mono"/>
                          <a:hlinkClick r:id="rId3" tooltip="interface in java.util.function"/>
                        </a:rPr>
                        <a:t>Consumer</a:t>
                      </a:r>
                      <a:r>
                        <a:rPr lang="en-US" b="0">
                          <a:effectLst/>
                          <a:latin typeface="DejaVu Sans Mono"/>
                        </a:rPr>
                        <a:t>&lt;? super </a:t>
                      </a:r>
                      <a:r>
                        <a:rPr lang="en-US" b="1" u="none" strike="noStrike">
                          <a:solidFill>
                            <a:srgbClr val="4A6782"/>
                          </a:solidFill>
                          <a:effectLst/>
                          <a:latin typeface="DejaVu Sans Mono"/>
                          <a:hlinkClick r:id="rId4" tooltip="type parameter in Iterable"/>
                        </a:rPr>
                        <a:t>T</a:t>
                      </a:r>
                      <a:r>
                        <a:rPr lang="en-US" b="0">
                          <a:effectLst/>
                          <a:latin typeface="DejaVu Sans Mono"/>
                        </a:rPr>
                        <a:t>&gt; action)</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a:solidFill>
                            <a:srgbClr val="474747"/>
                          </a:solidFill>
                          <a:effectLst/>
                          <a:latin typeface="DejaVu Serif"/>
                        </a:rPr>
                        <a:t>Performs the given action for each element of the </a:t>
                      </a:r>
                      <a:r>
                        <a:rPr lang="en-US">
                          <a:solidFill>
                            <a:srgbClr val="474747"/>
                          </a:solidFill>
                          <a:effectLst/>
                          <a:latin typeface="DejaVu Sans Mono"/>
                        </a:rPr>
                        <a:t>Iterable</a:t>
                      </a:r>
                      <a:r>
                        <a:rPr lang="en-US">
                          <a:solidFill>
                            <a:srgbClr val="474747"/>
                          </a:solidFill>
                          <a:effectLst/>
                          <a:latin typeface="DejaVu Serif"/>
                        </a:rPr>
                        <a:t> until all elements have been processed or the action throws an exception.</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518224704"/>
                  </a:ext>
                </a:extLst>
              </a:tr>
              <a:tr h="0">
                <a:tc>
                  <a:txBody>
                    <a:bodyPr/>
                    <a:lstStyle/>
                    <a:p>
                      <a:pPr algn="l" fontAlgn="t">
                        <a:buNone/>
                      </a:pPr>
                      <a:r>
                        <a:rPr lang="en-US" b="1" u="none" strike="noStrike">
                          <a:solidFill>
                            <a:srgbClr val="4A6782"/>
                          </a:solidFill>
                          <a:effectLst/>
                          <a:latin typeface="DejaVu Sans Mono"/>
                          <a:hlinkClick r:id="rId5" tooltip="interface in java.util"/>
                        </a:rPr>
                        <a:t>Iterator</a:t>
                      </a:r>
                      <a:r>
                        <a:rPr lang="en-US">
                          <a:effectLst/>
                          <a:latin typeface="DejaVu Sans Mono"/>
                        </a:rPr>
                        <a:t>&lt;</a:t>
                      </a:r>
                      <a:r>
                        <a:rPr lang="en-US" b="1" u="none" strike="noStrike">
                          <a:solidFill>
                            <a:srgbClr val="4A6782"/>
                          </a:solidFill>
                          <a:effectLst/>
                          <a:latin typeface="DejaVu Sans Mono"/>
                          <a:hlinkClick r:id="rId4" tooltip="type parameter in Iterable"/>
                        </a:rPr>
                        <a:t>T</a:t>
                      </a:r>
                      <a:r>
                        <a:rPr lang="en-US">
                          <a:effectLst/>
                          <a:latin typeface="DejaVu Sans Mono"/>
                        </a:rPr>
                        <a:t>&gt;</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b="1" u="none" strike="noStrike">
                          <a:solidFill>
                            <a:srgbClr val="4A6782"/>
                          </a:solidFill>
                          <a:effectLst/>
                          <a:latin typeface="DejaVu Sans Mono"/>
                          <a:hlinkClick r:id="rId6"/>
                        </a:rPr>
                        <a:t>iterator</a:t>
                      </a:r>
                      <a:r>
                        <a:rPr lang="en-US" b="0">
                          <a:effectLst/>
                          <a:latin typeface="DejaVu Sans Mono"/>
                        </a:rPr>
                        <a:t>()</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a:solidFill>
                            <a:srgbClr val="474747"/>
                          </a:solidFill>
                          <a:effectLst/>
                          <a:latin typeface="DejaVu Serif"/>
                        </a:rPr>
                        <a:t>Returns an iterator over elements of type </a:t>
                      </a:r>
                      <a:r>
                        <a:rPr lang="en-US">
                          <a:solidFill>
                            <a:srgbClr val="474747"/>
                          </a:solidFill>
                          <a:effectLst/>
                          <a:latin typeface="DejaVu Sans Mono"/>
                        </a:rPr>
                        <a:t>T</a:t>
                      </a:r>
                      <a:r>
                        <a:rPr lang="en-US">
                          <a:solidFill>
                            <a:srgbClr val="474747"/>
                          </a:solidFill>
                          <a:effectLst/>
                          <a:latin typeface="DejaVu Serif"/>
                        </a:rPr>
                        <a:t>.</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371738062"/>
                  </a:ext>
                </a:extLst>
              </a:tr>
              <a:tr h="0">
                <a:tc>
                  <a:txBody>
                    <a:bodyPr/>
                    <a:lstStyle/>
                    <a:p>
                      <a:pPr algn="l" fontAlgn="t">
                        <a:buNone/>
                      </a:pPr>
                      <a:r>
                        <a:rPr lang="en-US">
                          <a:effectLst/>
                          <a:latin typeface="DejaVu Sans Mono"/>
                        </a:rPr>
                        <a:t>default </a:t>
                      </a:r>
                      <a:r>
                        <a:rPr lang="en-US" b="1" u="none" strike="noStrike">
                          <a:solidFill>
                            <a:srgbClr val="4A6782"/>
                          </a:solidFill>
                          <a:effectLst/>
                          <a:latin typeface="DejaVu Sans Mono"/>
                          <a:hlinkClick r:id="rId7" tooltip="interface in java.util"/>
                        </a:rPr>
                        <a:t>Spliterator</a:t>
                      </a:r>
                      <a:r>
                        <a:rPr lang="en-US">
                          <a:effectLst/>
                          <a:latin typeface="DejaVu Sans Mono"/>
                        </a:rPr>
                        <a:t>&lt;</a:t>
                      </a:r>
                      <a:r>
                        <a:rPr lang="en-US" b="1" u="none" strike="noStrike">
                          <a:solidFill>
                            <a:srgbClr val="4A6782"/>
                          </a:solidFill>
                          <a:effectLst/>
                          <a:latin typeface="DejaVu Sans Mono"/>
                          <a:hlinkClick r:id="rId4" tooltip="type parameter in Iterable"/>
                        </a:rPr>
                        <a:t>T</a:t>
                      </a:r>
                      <a:r>
                        <a:rPr lang="en-US">
                          <a:effectLst/>
                          <a:latin typeface="DejaVu Sans Mono"/>
                        </a:rPr>
                        <a:t>&gt;</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b="1" u="none" strike="noStrike">
                          <a:solidFill>
                            <a:srgbClr val="4A6782"/>
                          </a:solidFill>
                          <a:effectLst/>
                          <a:latin typeface="DejaVu Sans Mono"/>
                          <a:hlinkClick r:id="rId8"/>
                        </a:rPr>
                        <a:t>spliterator</a:t>
                      </a:r>
                      <a:r>
                        <a:rPr lang="en-US" b="0">
                          <a:effectLst/>
                          <a:latin typeface="DejaVu Sans Mono"/>
                        </a:rPr>
                        <a:t>()</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dirty="0">
                          <a:solidFill>
                            <a:srgbClr val="474747"/>
                          </a:solidFill>
                          <a:effectLst/>
                          <a:latin typeface="DejaVu Serif"/>
                        </a:rPr>
                        <a:t>Creates a </a:t>
                      </a:r>
                      <a:r>
                        <a:rPr lang="en-US" b="1" u="none" strike="noStrike" dirty="0" err="1">
                          <a:solidFill>
                            <a:srgbClr val="4A6782"/>
                          </a:solidFill>
                          <a:effectLst/>
                          <a:latin typeface="DejaVu Sans Mono"/>
                          <a:hlinkClick r:id="rId7" tooltip="interface in java.util"/>
                        </a:rPr>
                        <a:t>Spliterator</a:t>
                      </a:r>
                      <a:r>
                        <a:rPr lang="en-US" dirty="0">
                          <a:solidFill>
                            <a:srgbClr val="474747"/>
                          </a:solidFill>
                          <a:effectLst/>
                          <a:latin typeface="DejaVu Serif"/>
                        </a:rPr>
                        <a:t> over the elements described by this </a:t>
                      </a:r>
                      <a:r>
                        <a:rPr lang="en-US" dirty="0" err="1">
                          <a:solidFill>
                            <a:srgbClr val="474747"/>
                          </a:solidFill>
                          <a:effectLst/>
                          <a:latin typeface="DejaVu Sans Mono"/>
                        </a:rPr>
                        <a:t>Iterable</a:t>
                      </a:r>
                      <a:r>
                        <a:rPr lang="en-US" dirty="0">
                          <a:solidFill>
                            <a:srgbClr val="474747"/>
                          </a:solidFill>
                          <a:effectLst/>
                          <a:latin typeface="DejaVu Serif"/>
                        </a:rPr>
                        <a:t>.</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686474865"/>
                  </a:ext>
                </a:extLst>
              </a:tr>
            </a:tbl>
          </a:graphicData>
        </a:graphic>
      </p:graphicFrame>
      <p:sp>
        <p:nvSpPr>
          <p:cNvPr id="5" name="Rectangle 1">
            <a:extLst>
              <a:ext uri="{FF2B5EF4-FFF2-40B4-BE49-F238E27FC236}">
                <a16:creationId xmlns:a16="http://schemas.microsoft.com/office/drawing/2014/main" id="{E5D405BB-5462-DB42-6B1E-529725FB22EC}"/>
              </a:ext>
            </a:extLst>
          </p:cNvPr>
          <p:cNvSpPr>
            <a:spLocks noChangeArrowheads="1"/>
          </p:cNvSpPr>
          <p:nvPr/>
        </p:nvSpPr>
        <p:spPr bwMode="auto">
          <a:xfrm>
            <a:off x="1878013" y="1890713"/>
            <a:ext cx="9906000" cy="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0784" rIns="0" bIns="952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rgbClr val="353833"/>
              </a:solidFill>
              <a:effectLst/>
              <a:latin typeface="DejaVu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rgbClr val="353833"/>
                </a:solidFill>
                <a:effectLst/>
                <a:latin typeface="DejaVu Sans Mono"/>
              </a:rPr>
              <a:t>public interface </a:t>
            </a:r>
            <a:r>
              <a:rPr kumimoji="0" lang="en-US" altLang="en-US" sz="1000" b="1" i="0" u="none" strike="noStrike" cap="none" normalizeH="0" baseline="0">
                <a:ln>
                  <a:noFill/>
                </a:ln>
                <a:solidFill>
                  <a:srgbClr val="353833"/>
                </a:solidFill>
                <a:effectLst/>
                <a:latin typeface="DejaVu Sans Mono"/>
              </a:rPr>
              <a:t>Iterable&lt;T&gt;</a:t>
            </a:r>
            <a:endParaRPr kumimoji="0" lang="en-US" altLang="en-US" sz="1000" b="0" i="0" u="none" strike="noStrike" cap="none" normalizeH="0" baseline="0">
              <a:ln>
                <a:noFill/>
              </a:ln>
              <a:solidFill>
                <a:srgbClr val="353833"/>
              </a:solidFill>
              <a:effectLst/>
              <a:latin typeface="DejaVu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474747"/>
                </a:solidFill>
                <a:effectLst/>
                <a:latin typeface="DejaVu Serif"/>
              </a:rPr>
              <a:t>Implementing this interface allows an object to be the target of the "for-each loop" statement. See </a:t>
            </a:r>
            <a:r>
              <a:rPr kumimoji="0" lang="en-US" altLang="en-US" sz="1000" b="1" i="0" u="none" strike="noStrike" cap="none" normalizeH="0" baseline="0">
                <a:ln>
                  <a:noFill/>
                </a:ln>
                <a:solidFill>
                  <a:srgbClr val="4A6782"/>
                </a:solidFill>
                <a:effectLst/>
                <a:latin typeface="DejaVu Serif"/>
                <a:hlinkClick r:id="rId9"/>
              </a:rPr>
              <a:t>For-each Loop</a:t>
            </a:r>
            <a:endParaRPr kumimoji="0" lang="en-US" altLang="en-US" sz="1000" b="0" i="0" u="none" strike="noStrike" cap="none" normalizeH="0" baseline="0">
              <a:ln>
                <a:noFill/>
              </a:ln>
              <a:solidFill>
                <a:srgbClr val="353833"/>
              </a:solidFill>
              <a:effectLst/>
              <a:latin typeface="DejaVu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4E4E4E"/>
                </a:solidFill>
                <a:effectLst/>
                <a:latin typeface="DejaVu Sans"/>
              </a:rPr>
              <a:t>Since:</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53833"/>
                </a:solidFill>
                <a:effectLst/>
                <a:latin typeface="DejaVu Sans Mono"/>
              </a:rPr>
              <a:t>1.5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4E4E4E"/>
                </a:solidFill>
                <a:effectLst/>
                <a:latin typeface="DejaVu Sans"/>
              </a:rPr>
              <a:t>See </a:t>
            </a:r>
            <a:r>
              <a:rPr kumimoji="0" lang="en-US" altLang="en-US" sz="900" b="1" i="1" u="none" strike="noStrike" cap="none" normalizeH="0" baseline="0">
                <a:ln>
                  <a:noFill/>
                </a:ln>
                <a:solidFill>
                  <a:srgbClr val="4E4E4E"/>
                </a:solidFill>
                <a:effectLst/>
                <a:latin typeface="DejaVu Sans"/>
              </a:rPr>
              <a:t>The Java™ Language Specification</a:t>
            </a:r>
            <a:r>
              <a:rPr kumimoji="0" lang="en-US" altLang="en-US" sz="900" b="1" i="0" u="none" strike="noStrike" cap="none" normalizeH="0" baseline="0">
                <a:ln>
                  <a:noFill/>
                </a:ln>
                <a:solidFill>
                  <a:srgbClr val="4E4E4E"/>
                </a:solidFill>
                <a:effectLst/>
                <a:latin typeface="DejaVu Sans"/>
              </a:rPr>
              <a:t>:</a:t>
            </a:r>
          </a:p>
          <a:p>
            <a:pPr marL="457200" marR="0" lvl="1" indent="-45720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53833"/>
                </a:solidFill>
                <a:effectLst/>
                <a:latin typeface="DejaVu Sans Mono"/>
              </a:rPr>
              <a:t>14.14.2 The enhanced for statement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1" u="none" strike="noStrike" cap="none" normalizeH="0" baseline="0">
              <a:ln>
                <a:noFill/>
              </a:ln>
              <a:solidFill>
                <a:srgbClr val="353833"/>
              </a:solidFill>
              <a:effectLst/>
              <a:latin typeface="DejaVu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1" i="1" u="none" strike="noStrike" cap="none" normalizeH="0" baseline="0">
                <a:ln>
                  <a:noFill/>
                </a:ln>
                <a:solidFill>
                  <a:srgbClr val="353833"/>
                </a:solidFill>
                <a:effectLst/>
                <a:latin typeface="DejaVu Sans"/>
              </a:rPr>
              <a:t>Method Summary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3628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049F315-5380-E308-C984-2C0A1F9E36FF}"/>
              </a:ext>
            </a:extLst>
          </p:cNvPr>
          <p:cNvGraphicFramePr>
            <a:graphicFrameLocks noGrp="1"/>
          </p:cNvGraphicFramePr>
          <p:nvPr/>
        </p:nvGraphicFramePr>
        <p:xfrm>
          <a:off x="1877401" y="3208814"/>
          <a:ext cx="6151198" cy="1584960"/>
        </p:xfrm>
        <a:graphic>
          <a:graphicData uri="http://schemas.openxmlformats.org/drawingml/2006/table">
            <a:tbl>
              <a:tblPr/>
              <a:tblGrid>
                <a:gridCol w="1457035">
                  <a:extLst>
                    <a:ext uri="{9D8B030D-6E8A-4147-A177-3AD203B41FA5}">
                      <a16:colId xmlns:a16="http://schemas.microsoft.com/office/drawing/2014/main" val="329254149"/>
                    </a:ext>
                  </a:extLst>
                </a:gridCol>
                <a:gridCol w="1457035">
                  <a:extLst>
                    <a:ext uri="{9D8B030D-6E8A-4147-A177-3AD203B41FA5}">
                      <a16:colId xmlns:a16="http://schemas.microsoft.com/office/drawing/2014/main" val="1247438110"/>
                    </a:ext>
                  </a:extLst>
                </a:gridCol>
                <a:gridCol w="3237128">
                  <a:extLst>
                    <a:ext uri="{9D8B030D-6E8A-4147-A177-3AD203B41FA5}">
                      <a16:colId xmlns:a16="http://schemas.microsoft.com/office/drawing/2014/main" val="2266187125"/>
                    </a:ext>
                  </a:extLst>
                </a:gridCol>
              </a:tblGrid>
              <a:tr h="0">
                <a:tc gridSpan="3">
                  <a:txBody>
                    <a:bodyPr/>
                    <a:lstStyle/>
                    <a:p>
                      <a:pPr>
                        <a:buNone/>
                      </a:pPr>
                      <a:r>
                        <a:rPr lang="en-US"/>
                        <a:t>Abstract MethodsDefault Methods</a:t>
                      </a:r>
                    </a:p>
                  </a:txBody>
                  <a:tcPr marL="22860" marR="22860" marT="22860" marB="22860"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38192815"/>
                  </a:ext>
                </a:extLst>
              </a:tr>
              <a:tr h="0">
                <a:tc>
                  <a:txBody>
                    <a:bodyPr/>
                    <a:lstStyle/>
                    <a:p>
                      <a:pPr algn="l" fontAlgn="t">
                        <a:buNone/>
                      </a:pPr>
                      <a:r>
                        <a:rPr lang="en-US">
                          <a:effectLst/>
                        </a:rPr>
                        <a:t>Modifier and Type</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Method</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Description</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1999804780"/>
                  </a:ext>
                </a:extLst>
              </a:tr>
              <a:tr h="0">
                <a:tc>
                  <a:txBody>
                    <a:bodyPr/>
                    <a:lstStyle/>
                    <a:p>
                      <a:pPr algn="l" fontAlgn="t">
                        <a:buNone/>
                      </a:pPr>
                      <a:r>
                        <a:rPr lang="en-US" b="1" u="none" strike="noStrike">
                          <a:solidFill>
                            <a:srgbClr val="4A6782"/>
                          </a:solidFill>
                          <a:effectLst/>
                          <a:latin typeface="DejaVu Sans Mono"/>
                          <a:hlinkClick r:id="rId2" tooltip="interface in java.util"/>
                        </a:rPr>
                        <a:t>Iterator</a:t>
                      </a:r>
                      <a:r>
                        <a:rPr lang="en-US">
                          <a:effectLst/>
                          <a:latin typeface="DejaVu Sans Mono"/>
                        </a:rPr>
                        <a:t>&lt;</a:t>
                      </a:r>
                      <a:r>
                        <a:rPr lang="en-US" b="1" u="none" strike="noStrike">
                          <a:solidFill>
                            <a:srgbClr val="4A6782"/>
                          </a:solidFill>
                          <a:effectLst/>
                          <a:latin typeface="DejaVu Sans Mono"/>
                          <a:hlinkClick r:id="rId3" tooltip="type parameter in Iterable"/>
                        </a:rPr>
                        <a:t>T</a:t>
                      </a:r>
                      <a:r>
                        <a:rPr lang="en-US">
                          <a:effectLst/>
                          <a:latin typeface="DejaVu Sans Mono"/>
                        </a:rPr>
                        <a:t>&gt;</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b="1" u="none" strike="noStrike">
                          <a:solidFill>
                            <a:srgbClr val="4A6782"/>
                          </a:solidFill>
                          <a:effectLst/>
                          <a:latin typeface="DejaVu Sans Mono"/>
                          <a:hlinkClick r:id="rId4"/>
                        </a:rPr>
                        <a:t>iterator</a:t>
                      </a:r>
                      <a:r>
                        <a:rPr lang="en-US" b="0">
                          <a:effectLst/>
                          <a:latin typeface="DejaVu Sans Mono"/>
                        </a:rPr>
                        <a:t>()</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dirty="0">
                          <a:solidFill>
                            <a:srgbClr val="474747"/>
                          </a:solidFill>
                          <a:effectLst/>
                          <a:latin typeface="DejaVu Serif"/>
                        </a:rPr>
                        <a:t>Returns an iterator over elements of type </a:t>
                      </a:r>
                      <a:r>
                        <a:rPr lang="en-US" dirty="0">
                          <a:solidFill>
                            <a:srgbClr val="474747"/>
                          </a:solidFill>
                          <a:effectLst/>
                          <a:latin typeface="DejaVu Sans Mono"/>
                        </a:rPr>
                        <a:t>T</a:t>
                      </a:r>
                      <a:r>
                        <a:rPr lang="en-US" dirty="0">
                          <a:solidFill>
                            <a:srgbClr val="474747"/>
                          </a:solidFill>
                          <a:effectLst/>
                          <a:latin typeface="DejaVu Serif"/>
                        </a:rPr>
                        <a:t>.</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919089756"/>
                  </a:ext>
                </a:extLst>
              </a:tr>
            </a:tbl>
          </a:graphicData>
        </a:graphic>
      </p:graphicFrame>
    </p:spTree>
    <p:extLst>
      <p:ext uri="{BB962C8B-B14F-4D97-AF65-F5344CB8AC3E}">
        <p14:creationId xmlns:p14="http://schemas.microsoft.com/office/powerpoint/2010/main" val="3431777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9F92C78-52D7-6E6D-256D-0BAE170786FE}"/>
              </a:ext>
            </a:extLst>
          </p:cNvPr>
          <p:cNvGraphicFramePr>
            <a:graphicFrameLocks noGrp="1"/>
          </p:cNvGraphicFramePr>
          <p:nvPr/>
        </p:nvGraphicFramePr>
        <p:xfrm>
          <a:off x="1877401" y="2343944"/>
          <a:ext cx="6151198" cy="3314700"/>
        </p:xfrm>
        <a:graphic>
          <a:graphicData uri="http://schemas.openxmlformats.org/drawingml/2006/table">
            <a:tbl>
              <a:tblPr/>
              <a:tblGrid>
                <a:gridCol w="1457035">
                  <a:extLst>
                    <a:ext uri="{9D8B030D-6E8A-4147-A177-3AD203B41FA5}">
                      <a16:colId xmlns:a16="http://schemas.microsoft.com/office/drawing/2014/main" val="3772453746"/>
                    </a:ext>
                  </a:extLst>
                </a:gridCol>
                <a:gridCol w="1457035">
                  <a:extLst>
                    <a:ext uri="{9D8B030D-6E8A-4147-A177-3AD203B41FA5}">
                      <a16:colId xmlns:a16="http://schemas.microsoft.com/office/drawing/2014/main" val="3442763147"/>
                    </a:ext>
                  </a:extLst>
                </a:gridCol>
                <a:gridCol w="3237128">
                  <a:extLst>
                    <a:ext uri="{9D8B030D-6E8A-4147-A177-3AD203B41FA5}">
                      <a16:colId xmlns:a16="http://schemas.microsoft.com/office/drawing/2014/main" val="1694062883"/>
                    </a:ext>
                  </a:extLst>
                </a:gridCol>
              </a:tblGrid>
              <a:tr h="0">
                <a:tc gridSpan="3">
                  <a:txBody>
                    <a:bodyPr/>
                    <a:lstStyle/>
                    <a:p>
                      <a:pPr>
                        <a:buNone/>
                      </a:pPr>
                      <a:r>
                        <a:rPr lang="en-US"/>
                        <a:t>Default Methods</a:t>
                      </a:r>
                    </a:p>
                  </a:txBody>
                  <a:tcPr marL="22860" marR="22860" marT="22860" marB="22860"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19071220"/>
                  </a:ext>
                </a:extLst>
              </a:tr>
              <a:tr h="0">
                <a:tc>
                  <a:txBody>
                    <a:bodyPr/>
                    <a:lstStyle/>
                    <a:p>
                      <a:pPr algn="l" fontAlgn="t">
                        <a:buNone/>
                      </a:pPr>
                      <a:r>
                        <a:rPr lang="en-US">
                          <a:effectLst/>
                        </a:rPr>
                        <a:t>Modifier and Type</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Method</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a:effectLst/>
                        </a:rPr>
                        <a:t>Description</a:t>
                      </a: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251591330"/>
                  </a:ext>
                </a:extLst>
              </a:tr>
              <a:tr h="0">
                <a:tc>
                  <a:txBody>
                    <a:bodyPr/>
                    <a:lstStyle/>
                    <a:p>
                      <a:pPr algn="l" fontAlgn="t">
                        <a:buNone/>
                      </a:pPr>
                      <a:r>
                        <a:rPr lang="en-US">
                          <a:effectLst/>
                          <a:latin typeface="DejaVu Sans Mono"/>
                        </a:rPr>
                        <a:t>default void</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b="1" u="none" strike="noStrike">
                          <a:solidFill>
                            <a:srgbClr val="4A6782"/>
                          </a:solidFill>
                          <a:effectLst/>
                          <a:latin typeface="DejaVu Sans Mono"/>
                          <a:hlinkClick r:id="rId2"/>
                        </a:rPr>
                        <a:t>forEach</a:t>
                      </a:r>
                      <a:r>
                        <a:rPr lang="en-US" b="0">
                          <a:effectLst/>
                          <a:latin typeface="DejaVu Sans Mono"/>
                        </a:rPr>
                        <a:t>(</a:t>
                      </a:r>
                      <a:r>
                        <a:rPr lang="en-US" b="1" u="none" strike="noStrike">
                          <a:solidFill>
                            <a:srgbClr val="4A6782"/>
                          </a:solidFill>
                          <a:effectLst/>
                          <a:latin typeface="DejaVu Sans Mono"/>
                          <a:hlinkClick r:id="rId3" tooltip="interface in java.util.function"/>
                        </a:rPr>
                        <a:t>Consumer</a:t>
                      </a:r>
                      <a:r>
                        <a:rPr lang="en-US" b="0">
                          <a:effectLst/>
                          <a:latin typeface="DejaVu Sans Mono"/>
                        </a:rPr>
                        <a:t>&lt;? super </a:t>
                      </a:r>
                      <a:r>
                        <a:rPr lang="en-US" b="1" u="none" strike="noStrike">
                          <a:solidFill>
                            <a:srgbClr val="4A6782"/>
                          </a:solidFill>
                          <a:effectLst/>
                          <a:latin typeface="DejaVu Sans Mono"/>
                          <a:hlinkClick r:id="rId4" tooltip="type parameter in Iterable"/>
                        </a:rPr>
                        <a:t>T</a:t>
                      </a:r>
                      <a:r>
                        <a:rPr lang="en-US" b="0">
                          <a:effectLst/>
                          <a:latin typeface="DejaVu Sans Mono"/>
                        </a:rPr>
                        <a:t>&gt; action)</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a:solidFill>
                            <a:srgbClr val="474747"/>
                          </a:solidFill>
                          <a:effectLst/>
                          <a:latin typeface="DejaVu Serif"/>
                        </a:rPr>
                        <a:t>Performs the given action for each element of the </a:t>
                      </a:r>
                      <a:r>
                        <a:rPr lang="en-US">
                          <a:solidFill>
                            <a:srgbClr val="474747"/>
                          </a:solidFill>
                          <a:effectLst/>
                          <a:latin typeface="DejaVu Sans Mono"/>
                        </a:rPr>
                        <a:t>Iterable</a:t>
                      </a:r>
                      <a:r>
                        <a:rPr lang="en-US">
                          <a:solidFill>
                            <a:srgbClr val="474747"/>
                          </a:solidFill>
                          <a:effectLst/>
                          <a:latin typeface="DejaVu Serif"/>
                        </a:rPr>
                        <a:t> until all elements have been processed or the action throws an exception.</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912748785"/>
                  </a:ext>
                </a:extLst>
              </a:tr>
              <a:tr h="0">
                <a:tc>
                  <a:txBody>
                    <a:bodyPr/>
                    <a:lstStyle/>
                    <a:p>
                      <a:pPr algn="l" fontAlgn="t">
                        <a:buNone/>
                      </a:pPr>
                      <a:r>
                        <a:rPr lang="en-US">
                          <a:effectLst/>
                          <a:latin typeface="DejaVu Sans Mono"/>
                        </a:rPr>
                        <a:t>default </a:t>
                      </a:r>
                      <a:r>
                        <a:rPr lang="en-US" b="1" u="none" strike="noStrike">
                          <a:solidFill>
                            <a:srgbClr val="4A6782"/>
                          </a:solidFill>
                          <a:effectLst/>
                          <a:latin typeface="DejaVu Sans Mono"/>
                          <a:hlinkClick r:id="rId5" tooltip="interface in java.util"/>
                        </a:rPr>
                        <a:t>Spliterator</a:t>
                      </a:r>
                      <a:r>
                        <a:rPr lang="en-US">
                          <a:effectLst/>
                          <a:latin typeface="DejaVu Sans Mono"/>
                        </a:rPr>
                        <a:t>&lt;</a:t>
                      </a:r>
                      <a:r>
                        <a:rPr lang="en-US" b="1" u="none" strike="noStrike">
                          <a:solidFill>
                            <a:srgbClr val="4A6782"/>
                          </a:solidFill>
                          <a:effectLst/>
                          <a:latin typeface="DejaVu Sans Mono"/>
                          <a:hlinkClick r:id="rId4" tooltip="type parameter in Iterable"/>
                        </a:rPr>
                        <a:t>T</a:t>
                      </a:r>
                      <a:r>
                        <a:rPr lang="en-US">
                          <a:effectLst/>
                          <a:latin typeface="DejaVu Sans Mono"/>
                        </a:rPr>
                        <a:t>&gt;</a:t>
                      </a:r>
                      <a:endParaRPr lang="en-US">
                        <a:effectLst/>
                      </a:endParaRP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b="1" u="none" strike="noStrike">
                          <a:solidFill>
                            <a:srgbClr val="4A6782"/>
                          </a:solidFill>
                          <a:effectLst/>
                          <a:latin typeface="DejaVu Sans Mono"/>
                          <a:hlinkClick r:id="rId6"/>
                        </a:rPr>
                        <a:t>spliterator</a:t>
                      </a:r>
                      <a:r>
                        <a:rPr lang="en-US" b="0">
                          <a:effectLst/>
                          <a:latin typeface="DejaVu Sans Mono"/>
                        </a:rPr>
                        <a:t>()</a:t>
                      </a:r>
                      <a:endParaRPr lang="en-US" b="0">
                        <a:effectLst/>
                      </a:endParaRPr>
                    </a:p>
                  </a:txBody>
                  <a:tcPr marL="5334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dirty="0">
                          <a:solidFill>
                            <a:srgbClr val="474747"/>
                          </a:solidFill>
                          <a:effectLst/>
                          <a:latin typeface="DejaVu Serif"/>
                        </a:rPr>
                        <a:t>Creates a </a:t>
                      </a:r>
                      <a:r>
                        <a:rPr lang="en-US" b="1" u="none" strike="noStrike" dirty="0" err="1">
                          <a:solidFill>
                            <a:srgbClr val="4A6782"/>
                          </a:solidFill>
                          <a:effectLst/>
                          <a:latin typeface="DejaVu Sans Mono"/>
                          <a:hlinkClick r:id="rId5" tooltip="interface in java.util"/>
                        </a:rPr>
                        <a:t>Spliterator</a:t>
                      </a:r>
                      <a:r>
                        <a:rPr lang="en-US" dirty="0">
                          <a:solidFill>
                            <a:srgbClr val="474747"/>
                          </a:solidFill>
                          <a:effectLst/>
                          <a:latin typeface="DejaVu Serif"/>
                        </a:rPr>
                        <a:t> over the elements described by this </a:t>
                      </a:r>
                      <a:r>
                        <a:rPr lang="en-US" dirty="0" err="1">
                          <a:solidFill>
                            <a:srgbClr val="474747"/>
                          </a:solidFill>
                          <a:effectLst/>
                          <a:latin typeface="DejaVu Sans Mono"/>
                        </a:rPr>
                        <a:t>Iterable</a:t>
                      </a:r>
                      <a:r>
                        <a:rPr lang="en-US" dirty="0">
                          <a:solidFill>
                            <a:srgbClr val="474747"/>
                          </a:solidFill>
                          <a:effectLst/>
                          <a:latin typeface="DejaVu Serif"/>
                        </a:rPr>
                        <a:t>.</a:t>
                      </a:r>
                    </a:p>
                  </a:txBody>
                  <a:tcPr marL="76200" marR="22860" marT="60960" marB="22860">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559407457"/>
                  </a:ext>
                </a:extLst>
              </a:tr>
            </a:tbl>
          </a:graphicData>
        </a:graphic>
      </p:graphicFrame>
    </p:spTree>
    <p:extLst>
      <p:ext uri="{BB962C8B-B14F-4D97-AF65-F5344CB8AC3E}">
        <p14:creationId xmlns:p14="http://schemas.microsoft.com/office/powerpoint/2010/main" val="2322281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8B34F6-C048-7952-18EC-0081E0A8A3E8}"/>
              </a:ext>
            </a:extLst>
          </p:cNvPr>
          <p:cNvSpPr txBox="1"/>
          <p:nvPr/>
        </p:nvSpPr>
        <p:spPr>
          <a:xfrm>
            <a:off x="-573742" y="-8185083"/>
            <a:ext cx="11672047" cy="16312158"/>
          </a:xfrm>
          <a:prstGeom prst="rect">
            <a:avLst/>
          </a:prstGeom>
          <a:noFill/>
        </p:spPr>
        <p:txBody>
          <a:bodyPr wrap="square">
            <a:spAutoFit/>
          </a:bodyPr>
          <a:lstStyle/>
          <a:p>
            <a:pPr algn="l">
              <a:spcBef>
                <a:spcPts val="1125"/>
              </a:spcBef>
              <a:spcAft>
                <a:spcPts val="1125"/>
              </a:spcAft>
              <a:buFont typeface="Arial" panose="020B0604020202020204" pitchFamily="34" charset="0"/>
              <a:buChar char="•"/>
            </a:pPr>
            <a:r>
              <a:rPr lang="en-US" b="1" i="1" dirty="0">
                <a:solidFill>
                  <a:srgbClr val="353833"/>
                </a:solidFill>
                <a:effectLst/>
                <a:latin typeface="DejaVu Sans"/>
              </a:rPr>
              <a:t>Method Detail</a:t>
            </a:r>
          </a:p>
          <a:p>
            <a:pPr marL="742950" lvl="1" indent="-285750" algn="l">
              <a:spcBef>
                <a:spcPts val="750"/>
              </a:spcBef>
              <a:spcAft>
                <a:spcPts val="450"/>
              </a:spcAft>
              <a:buFont typeface="Arial" panose="020B0604020202020204" pitchFamily="34" charset="0"/>
              <a:buChar char="•"/>
            </a:pPr>
            <a:r>
              <a:rPr lang="en-US" b="1" i="0" dirty="0">
                <a:solidFill>
                  <a:srgbClr val="353833"/>
                </a:solidFill>
                <a:effectLst/>
                <a:latin typeface="DejaVu Sans"/>
              </a:rPr>
              <a:t>iterator</a:t>
            </a:r>
          </a:p>
          <a:p>
            <a:pPr marL="742950" lvl="1" indent="-285750"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Iterable"/>
              </a:rPr>
              <a:t>T</a:t>
            </a:r>
            <a:r>
              <a:rPr lang="en-US" b="0" i="0" dirty="0">
                <a:solidFill>
                  <a:srgbClr val="353833"/>
                </a:solidFill>
                <a:effectLst/>
                <a:latin typeface="DejaVu Sans Mono"/>
              </a:rPr>
              <a:t>&gt; iterator()</a:t>
            </a:r>
          </a:p>
          <a:p>
            <a:pPr marL="742950" lvl="1" indent="-285750"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iterator over elements of type </a:t>
            </a:r>
            <a:r>
              <a:rPr lang="en-US" b="0" i="0" dirty="0">
                <a:solidFill>
                  <a:srgbClr val="474747"/>
                </a:solidFill>
                <a:effectLst/>
                <a:latin typeface="DejaVu Sans Mono"/>
              </a:rPr>
              <a:t>T</a:t>
            </a:r>
            <a:r>
              <a:rPr lang="en-US" b="0" i="0" dirty="0">
                <a:solidFill>
                  <a:srgbClr val="474747"/>
                </a:solidFill>
                <a:effectLst/>
                <a:latin typeface="DejaVu Serif"/>
              </a:rPr>
              <a:t>.</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Iterator.</a:t>
            </a:r>
          </a:p>
          <a:p>
            <a:pPr marL="742950" lvl="1" indent="-285750"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forEach</a:t>
            </a:r>
            <a:endParaRPr lang="en-US" b="1" i="0" dirty="0">
              <a:solidFill>
                <a:srgbClr val="353833"/>
              </a:solidFill>
              <a:effectLst/>
              <a:latin typeface="DejaVu Sans"/>
            </a:endParaRPr>
          </a:p>
          <a:p>
            <a:pPr marL="742950" lvl="1" indent="-285750"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void </a:t>
            </a:r>
            <a:r>
              <a:rPr lang="en-US" b="0" i="0" dirty="0" err="1">
                <a:solidFill>
                  <a:srgbClr val="353833"/>
                </a:solidFill>
                <a:effectLst/>
                <a:latin typeface="DejaVu Sans Mono"/>
              </a:rPr>
              <a:t>forEach</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4" tooltip="interface in java.util.function"/>
              </a:rPr>
              <a:t>Consumer</a:t>
            </a:r>
            <a:r>
              <a:rPr lang="en-US" b="0" i="0" dirty="0">
                <a:solidFill>
                  <a:srgbClr val="353833"/>
                </a:solidFill>
                <a:effectLst/>
                <a:latin typeface="DejaVu Sans Mono"/>
              </a:rPr>
              <a:t>&lt;? super </a:t>
            </a:r>
            <a:r>
              <a:rPr lang="en-US" b="0" i="0" u="none" strike="noStrike" dirty="0">
                <a:solidFill>
                  <a:srgbClr val="4A6782"/>
                </a:solidFill>
                <a:effectLst/>
                <a:latin typeface="DejaVu Sans Mono"/>
                <a:hlinkClick r:id="rId3" tooltip="type parameter in Iterable"/>
              </a:rPr>
              <a:t>T</a:t>
            </a:r>
            <a:r>
              <a:rPr lang="en-US" b="0" i="0" dirty="0">
                <a:solidFill>
                  <a:srgbClr val="353833"/>
                </a:solidFill>
                <a:effectLst/>
                <a:latin typeface="DejaVu Sans Mono"/>
              </a:rPr>
              <a:t>&gt; action)</a:t>
            </a:r>
          </a:p>
          <a:p>
            <a:pPr marL="742950" lvl="1" indent="-285750" algn="l">
              <a:spcBef>
                <a:spcPts val="225"/>
              </a:spcBef>
              <a:spcAft>
                <a:spcPts val="150"/>
              </a:spcAft>
              <a:buFont typeface="Arial" panose="020B0604020202020204" pitchFamily="34" charset="0"/>
              <a:buChar char="•"/>
            </a:pPr>
            <a:r>
              <a:rPr lang="en-US" b="0" i="0" dirty="0">
                <a:solidFill>
                  <a:srgbClr val="474747"/>
                </a:solidFill>
                <a:effectLst/>
                <a:latin typeface="DejaVu Serif"/>
              </a:rPr>
              <a:t>Performs the given action for each element of the </a:t>
            </a:r>
            <a:r>
              <a:rPr lang="en-US" b="0" i="0" dirty="0" err="1">
                <a:solidFill>
                  <a:srgbClr val="474747"/>
                </a:solidFill>
                <a:effectLst/>
                <a:latin typeface="DejaVu Sans Mono"/>
              </a:rPr>
              <a:t>Iterable</a:t>
            </a:r>
            <a:r>
              <a:rPr lang="en-US" b="0" i="0" dirty="0">
                <a:solidFill>
                  <a:srgbClr val="474747"/>
                </a:solidFill>
                <a:effectLst/>
                <a:latin typeface="DejaVu Serif"/>
              </a:rPr>
              <a:t> until all elements have been processed or the action throws an exception. Unless otherwise specified by the implementing class, actions are performed in the order of iteration (if an iteration order is specified). Exceptions thrown by the action are relayed to the caller.</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behaves as if:</a:t>
            </a:r>
          </a:p>
          <a:p>
            <a:pPr marL="742950" lvl="1" indent="-285750" algn="l">
              <a:spcBef>
                <a:spcPts val="600"/>
              </a:spcBef>
              <a:spcAft>
                <a:spcPts val="750"/>
              </a:spcAft>
              <a:buFont typeface="Arial" panose="020B0604020202020204" pitchFamily="34" charset="0"/>
              <a:buChar char="•"/>
            </a:pPr>
            <a:endParaRPr lang="en-US" b="0" i="0" dirty="0">
              <a:solidFill>
                <a:srgbClr val="353833"/>
              </a:solidFill>
              <a:effectLst/>
              <a:latin typeface="DejaVu Sans Mono"/>
            </a:endParaRPr>
          </a:p>
          <a:p>
            <a:pPr marL="742950" lvl="1" indent="-285750"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for (T </a:t>
            </a:r>
            <a:r>
              <a:rPr lang="en-US" b="0" i="0" dirty="0" err="1">
                <a:solidFill>
                  <a:srgbClr val="353833"/>
                </a:solidFill>
                <a:effectLst/>
                <a:latin typeface="DejaVu Sans Mono"/>
              </a:rPr>
              <a:t>t</a:t>
            </a:r>
            <a:r>
              <a:rPr lang="en-US" b="0" i="0" dirty="0">
                <a:solidFill>
                  <a:srgbClr val="353833"/>
                </a:solidFill>
                <a:effectLst/>
                <a:latin typeface="DejaVu Sans Mono"/>
              </a:rPr>
              <a:t> : this)</a:t>
            </a:r>
          </a:p>
          <a:p>
            <a:pPr marL="742950" lvl="1" indent="-285750"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a:t>
            </a:r>
            <a:r>
              <a:rPr lang="en-US" b="0" i="0" dirty="0" err="1">
                <a:solidFill>
                  <a:srgbClr val="353833"/>
                </a:solidFill>
                <a:effectLst/>
                <a:latin typeface="DejaVu Sans Mono"/>
              </a:rPr>
              <a:t>action.accept</a:t>
            </a:r>
            <a:r>
              <a:rPr lang="en-US" b="0" i="0" dirty="0">
                <a:solidFill>
                  <a:srgbClr val="353833"/>
                </a:solidFill>
                <a:effectLst/>
                <a:latin typeface="DejaVu Sans Mono"/>
              </a:rPr>
              <a:t>(t);</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 </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action - The action to be performed for each element</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marL="742950" lvl="1" indent="-285750"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action is null</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a:p>
            <a:pPr marL="742950" lvl="1" indent="-285750"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spliterator</a:t>
            </a:r>
            <a:endParaRPr lang="en-US" b="1" i="0" dirty="0">
              <a:solidFill>
                <a:srgbClr val="353833"/>
              </a:solidFill>
              <a:effectLst/>
              <a:latin typeface="DejaVu Sans"/>
            </a:endParaRPr>
          </a:p>
          <a:p>
            <a:pPr marL="742950" lvl="1" indent="-285750"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u="none" strike="noStrike" dirty="0" err="1">
                <a:solidFill>
                  <a:srgbClr val="4A6782"/>
                </a:solidFill>
                <a:effectLst/>
                <a:latin typeface="DejaVu Sans Mono"/>
                <a:hlinkClick r:id="rId6" tooltip="interface in java.util"/>
              </a:rPr>
              <a:t>Spliterator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Iterable"/>
              </a:rPr>
              <a:t>T</a:t>
            </a:r>
            <a:r>
              <a:rPr lang="en-US" b="0" i="0" dirty="0">
                <a:solidFill>
                  <a:srgbClr val="353833"/>
                </a:solidFill>
                <a:effectLst/>
                <a:latin typeface="DejaVu Sans Mono"/>
              </a:rPr>
              <a:t>&gt; </a:t>
            </a:r>
            <a:r>
              <a:rPr lang="en-US" b="0" i="0" dirty="0" err="1">
                <a:solidFill>
                  <a:srgbClr val="353833"/>
                </a:solidFill>
                <a:effectLst/>
                <a:latin typeface="DejaVu Sans Mono"/>
              </a:rPr>
              <a:t>spliterator</a:t>
            </a:r>
            <a:r>
              <a:rPr lang="en-US" b="0" i="0" dirty="0">
                <a:solidFill>
                  <a:srgbClr val="353833"/>
                </a:solidFill>
                <a:effectLst/>
                <a:latin typeface="DejaVu Sans Mono"/>
              </a:rPr>
              <a:t>()</a:t>
            </a:r>
          </a:p>
          <a:p>
            <a:pPr marL="742950" lvl="1" indent="-285750" algn="l">
              <a:spcBef>
                <a:spcPts val="225"/>
              </a:spcBef>
              <a:spcAft>
                <a:spcPts val="150"/>
              </a:spcAft>
              <a:buFont typeface="Arial" panose="020B0604020202020204" pitchFamily="34" charset="0"/>
              <a:buChar char="•"/>
            </a:pPr>
            <a:r>
              <a:rPr lang="en-US" b="0" i="0" dirty="0">
                <a:solidFill>
                  <a:srgbClr val="474747"/>
                </a:solidFill>
                <a:effectLst/>
                <a:latin typeface="DejaVu Serif"/>
              </a:rPr>
              <a:t>Creates a </a:t>
            </a:r>
            <a:r>
              <a:rPr lang="en-US" b="0" i="0" u="none" strike="noStrike" dirty="0" err="1">
                <a:solidFill>
                  <a:srgbClr val="4A6782"/>
                </a:solidFill>
                <a:effectLst/>
                <a:latin typeface="DejaVu Sans Mono"/>
                <a:hlinkClick r:id="rId6" tooltip="interface in java.util"/>
              </a:rPr>
              <a:t>Spliterator</a:t>
            </a:r>
            <a:r>
              <a:rPr lang="en-US" b="0" i="0" dirty="0">
                <a:solidFill>
                  <a:srgbClr val="474747"/>
                </a:solidFill>
                <a:effectLst/>
                <a:latin typeface="DejaVu Serif"/>
              </a:rPr>
              <a:t> over the elements described by this </a:t>
            </a:r>
            <a:r>
              <a:rPr lang="en-US" b="0" i="0" dirty="0" err="1">
                <a:solidFill>
                  <a:srgbClr val="474747"/>
                </a:solidFill>
                <a:effectLst/>
                <a:latin typeface="DejaVu Sans Mono"/>
              </a:rPr>
              <a:t>Iterable</a:t>
            </a:r>
            <a:r>
              <a:rPr lang="en-US" b="0" i="0" dirty="0">
                <a:solidFill>
                  <a:srgbClr val="474747"/>
                </a:solidFill>
                <a:effectLst/>
                <a:latin typeface="DejaVu Serif"/>
              </a:rPr>
              <a:t>.</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creates an </a:t>
            </a:r>
            <a:r>
              <a:rPr lang="en-US" b="0" i="1" u="none" strike="noStrike" dirty="0">
                <a:solidFill>
                  <a:srgbClr val="4A6782"/>
                </a:solidFill>
                <a:effectLst/>
                <a:latin typeface="DejaVu Sans Mono"/>
                <a:hlinkClick r:id="rId7"/>
              </a:rPr>
              <a:t>early-binding</a:t>
            </a:r>
            <a:r>
              <a:rPr lang="en-US" b="0" i="0" dirty="0">
                <a:solidFill>
                  <a:srgbClr val="353833"/>
                </a:solidFill>
                <a:effectLst/>
                <a:latin typeface="DejaVu Sans Mono"/>
              </a:rPr>
              <a:t> </a:t>
            </a:r>
            <a:r>
              <a:rPr lang="en-US" b="0" i="0" dirty="0" err="1">
                <a:solidFill>
                  <a:srgbClr val="353833"/>
                </a:solidFill>
                <a:effectLst/>
                <a:latin typeface="DejaVu Sans Mono"/>
              </a:rPr>
              <a:t>spliterator</a:t>
            </a:r>
            <a:r>
              <a:rPr lang="en-US" b="0" i="0" dirty="0">
                <a:solidFill>
                  <a:srgbClr val="353833"/>
                </a:solidFill>
                <a:effectLst/>
                <a:latin typeface="DejaVu Sans Mono"/>
              </a:rPr>
              <a:t> from the </a:t>
            </a:r>
            <a:r>
              <a:rPr lang="en-US" b="0" i="0" dirty="0" err="1">
                <a:solidFill>
                  <a:srgbClr val="353833"/>
                </a:solidFill>
                <a:effectLst/>
                <a:latin typeface="DejaVu Sans Mono"/>
              </a:rPr>
              <a:t>iterable's</a:t>
            </a:r>
            <a:r>
              <a:rPr lang="en-US" b="0" i="0" dirty="0">
                <a:solidFill>
                  <a:srgbClr val="353833"/>
                </a:solidFill>
                <a:effectLst/>
                <a:latin typeface="DejaVu Sans Mono"/>
              </a:rPr>
              <a:t> Iterator. The </a:t>
            </a:r>
            <a:r>
              <a:rPr lang="en-US" b="0" i="0" dirty="0" err="1">
                <a:solidFill>
                  <a:srgbClr val="353833"/>
                </a:solidFill>
                <a:effectLst/>
                <a:latin typeface="DejaVu Sans Mono"/>
              </a:rPr>
              <a:t>spliterator</a:t>
            </a:r>
            <a:r>
              <a:rPr lang="en-US" b="0" i="0" dirty="0">
                <a:solidFill>
                  <a:srgbClr val="353833"/>
                </a:solidFill>
                <a:effectLst/>
                <a:latin typeface="DejaVu Sans Mono"/>
              </a:rPr>
              <a:t> inherits the </a:t>
            </a:r>
            <a:r>
              <a:rPr lang="en-US" b="0" i="1" dirty="0">
                <a:solidFill>
                  <a:srgbClr val="353833"/>
                </a:solidFill>
                <a:effectLst/>
                <a:latin typeface="DejaVu Sans Mono"/>
              </a:rPr>
              <a:t>fail-fast</a:t>
            </a:r>
            <a:r>
              <a:rPr lang="en-US" b="0" i="0" dirty="0">
                <a:solidFill>
                  <a:srgbClr val="353833"/>
                </a:solidFill>
                <a:effectLst/>
                <a:latin typeface="DejaVu Sans Mono"/>
              </a:rPr>
              <a:t> properties of the </a:t>
            </a:r>
            <a:r>
              <a:rPr lang="en-US" b="0" i="0" dirty="0" err="1">
                <a:solidFill>
                  <a:srgbClr val="353833"/>
                </a:solidFill>
                <a:effectLst/>
                <a:latin typeface="DejaVu Sans Mono"/>
              </a:rPr>
              <a:t>iterable's</a:t>
            </a:r>
            <a:r>
              <a:rPr lang="en-US" b="0" i="0" dirty="0">
                <a:solidFill>
                  <a:srgbClr val="353833"/>
                </a:solidFill>
                <a:effectLst/>
                <a:latin typeface="DejaVu Sans Mono"/>
              </a:rPr>
              <a:t> iterator.</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Note:</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should usually be overridden. The </a:t>
            </a:r>
            <a:r>
              <a:rPr lang="en-US" b="0" i="0" dirty="0" err="1">
                <a:solidFill>
                  <a:srgbClr val="353833"/>
                </a:solidFill>
                <a:effectLst/>
                <a:latin typeface="DejaVu Sans Mono"/>
              </a:rPr>
              <a:t>spliterator</a:t>
            </a:r>
            <a:r>
              <a:rPr lang="en-US" b="0" i="0" dirty="0">
                <a:solidFill>
                  <a:srgbClr val="353833"/>
                </a:solidFill>
                <a:effectLst/>
                <a:latin typeface="DejaVu Sans Mono"/>
              </a:rPr>
              <a:t> returned by the default implementation has poor splitting capabilities, is unsized, and does not report any </a:t>
            </a:r>
            <a:r>
              <a:rPr lang="en-US" b="0" i="0" dirty="0" err="1">
                <a:solidFill>
                  <a:srgbClr val="353833"/>
                </a:solidFill>
                <a:effectLst/>
                <a:latin typeface="DejaVu Sans Mono"/>
              </a:rPr>
              <a:t>spliterator</a:t>
            </a:r>
            <a:r>
              <a:rPr lang="en-US" b="0" i="0" dirty="0">
                <a:solidFill>
                  <a:srgbClr val="353833"/>
                </a:solidFill>
                <a:effectLst/>
                <a:latin typeface="DejaVu Sans Mono"/>
              </a:rPr>
              <a:t> characteristics. Implementing classes can nearly always provide a better implementation.</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a:t>
            </a:r>
            <a:r>
              <a:rPr lang="en-US" b="0" i="0" dirty="0" err="1">
                <a:solidFill>
                  <a:srgbClr val="353833"/>
                </a:solidFill>
                <a:effectLst/>
                <a:latin typeface="DejaVu Sans Mono"/>
              </a:rPr>
              <a:t>Spliterator</a:t>
            </a:r>
            <a:r>
              <a:rPr lang="en-US" b="0" i="0" dirty="0">
                <a:solidFill>
                  <a:srgbClr val="353833"/>
                </a:solidFill>
                <a:effectLst/>
                <a:latin typeface="DejaVu Sans Mono"/>
              </a:rPr>
              <a:t> over the elements described by this </a:t>
            </a:r>
            <a:r>
              <a:rPr lang="en-US" b="0" i="0" dirty="0" err="1">
                <a:solidFill>
                  <a:srgbClr val="353833"/>
                </a:solidFill>
                <a:effectLst/>
                <a:latin typeface="DejaVu Sans Mono"/>
              </a:rPr>
              <a:t>Iterable</a:t>
            </a:r>
            <a:r>
              <a:rPr lang="en-US" b="0" i="0" dirty="0">
                <a:solidFill>
                  <a:srgbClr val="353833"/>
                </a:solidFill>
                <a:effectLst/>
                <a:latin typeface="DejaVu Sans Mono"/>
              </a:rPr>
              <a:t>.</a:t>
            </a:r>
          </a:p>
          <a:p>
            <a:pPr marL="742950" lvl="1" indent="-285750"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marL="742950" lvl="1" indent="-285750"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Tree>
    <p:extLst>
      <p:ext uri="{BB962C8B-B14F-4D97-AF65-F5344CB8AC3E}">
        <p14:creationId xmlns:p14="http://schemas.microsoft.com/office/powerpoint/2010/main" val="1458586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50DE0B3C-5AA6-DEA1-BB66-6451BC056F92}"/>
              </a:ext>
            </a:extLst>
          </p:cNvPr>
          <p:cNvSpPr txBox="1"/>
          <p:nvPr/>
        </p:nvSpPr>
        <p:spPr>
          <a:xfrm>
            <a:off x="-4482" y="-1743496"/>
            <a:ext cx="4957482" cy="4729500"/>
          </a:xfrm>
          <a:prstGeom prst="rect">
            <a:avLst/>
          </a:prstGeom>
          <a:noFill/>
        </p:spPr>
        <p:txBody>
          <a:bodyPr wrap="square">
            <a:spAutoFit/>
          </a:bodyPr>
          <a:lstStyle/>
          <a:p>
            <a:pPr algn="l">
              <a:spcBef>
                <a:spcPts val="750"/>
              </a:spcBef>
              <a:spcAft>
                <a:spcPts val="750"/>
              </a:spcAft>
              <a:buNone/>
            </a:pPr>
            <a:r>
              <a:rPr lang="en-US" b="1" i="0">
                <a:solidFill>
                  <a:srgbClr val="2C4557"/>
                </a:solidFill>
                <a:effectLst/>
                <a:latin typeface="DejaVu Sans"/>
              </a:rPr>
              <a:t>Interface Deque&lt;E&gt;</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a:solidFill>
                  <a:srgbClr val="353833"/>
                </a:solidFill>
                <a:effectLst/>
                <a:latin typeface="DejaVu Sans Mono"/>
              </a:rPr>
              <a:t>E - the type of elements held in this collection</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All Superinterfaces: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2" tooltip="interface in java.util"/>
              </a:rPr>
              <a:t>Collection</a:t>
            </a:r>
            <a:r>
              <a:rPr lang="en-US" b="0" i="0">
                <a:solidFill>
                  <a:srgbClr val="353833"/>
                </a:solidFill>
                <a:effectLst/>
                <a:latin typeface="DejaVu Sans Mono"/>
              </a:rPr>
              <a:t>&lt;E&gt;, </a:t>
            </a:r>
            <a:r>
              <a:rPr lang="en-US" b="0" i="0" u="none" strike="noStrike">
                <a:solidFill>
                  <a:srgbClr val="4A6782"/>
                </a:solidFill>
                <a:effectLst/>
                <a:latin typeface="DejaVu Sans Mono"/>
                <a:hlinkClick r:id="rId3" tooltip="interface in java.lang"/>
              </a:rPr>
              <a:t>Iterable</a:t>
            </a:r>
            <a:r>
              <a:rPr lang="en-US" b="0" i="0">
                <a:solidFill>
                  <a:srgbClr val="353833"/>
                </a:solidFill>
                <a:effectLst/>
                <a:latin typeface="DejaVu Sans Mono"/>
              </a:rPr>
              <a:t>&lt;E&gt;, </a:t>
            </a:r>
            <a:r>
              <a:rPr lang="en-US" b="0" i="0" u="none" strike="noStrike">
                <a:solidFill>
                  <a:srgbClr val="4A6782"/>
                </a:solidFill>
                <a:effectLst/>
                <a:latin typeface="DejaVu Sans Mono"/>
                <a:hlinkClick r:id="rId4" tooltip="interface in java.util"/>
              </a:rPr>
              <a:t>Queue</a:t>
            </a:r>
            <a:r>
              <a:rPr lang="en-US" b="0" i="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All Known Subinterfaces: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5" tooltip="interface in java.util.concurrent"/>
              </a:rPr>
              <a:t>BlockingDeque</a:t>
            </a:r>
            <a:r>
              <a:rPr lang="en-US" b="0" i="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All Known Implementing Classes: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6" tooltip="class in java.util"/>
              </a:rPr>
              <a:t>ArrayDeque</a:t>
            </a:r>
            <a:r>
              <a:rPr lang="en-US" b="0" i="0">
                <a:solidFill>
                  <a:srgbClr val="353833"/>
                </a:solidFill>
                <a:effectLst/>
                <a:latin typeface="DejaVu Sans Mono"/>
              </a:rPr>
              <a:t>, </a:t>
            </a:r>
            <a:r>
              <a:rPr lang="en-US" b="0" i="0" u="none" strike="noStrike">
                <a:solidFill>
                  <a:srgbClr val="4A6782"/>
                </a:solidFill>
                <a:effectLst/>
                <a:latin typeface="DejaVu Sans Mono"/>
                <a:hlinkClick r:id="rId7" tooltip="class in java.util.concurrent"/>
              </a:rPr>
              <a:t>ConcurrentLinkedDeque</a:t>
            </a:r>
            <a:r>
              <a:rPr lang="en-US" b="0" i="0">
                <a:solidFill>
                  <a:srgbClr val="353833"/>
                </a:solidFill>
                <a:effectLst/>
                <a:latin typeface="DejaVu Sans Mono"/>
              </a:rPr>
              <a:t>, </a:t>
            </a:r>
            <a:r>
              <a:rPr lang="en-US" b="0" i="0" u="none" strike="noStrike">
                <a:solidFill>
                  <a:srgbClr val="4A6782"/>
                </a:solidFill>
                <a:effectLst/>
                <a:latin typeface="DejaVu Sans Mono"/>
                <a:hlinkClick r:id="rId8" tooltip="class in java.util.concurrent"/>
              </a:rPr>
              <a:t>LinkedBlockingDeque</a:t>
            </a:r>
            <a:r>
              <a:rPr lang="en-US" b="0" i="0">
                <a:solidFill>
                  <a:srgbClr val="353833"/>
                </a:solidFill>
                <a:effectLst/>
                <a:latin typeface="DejaVu Sans Mono"/>
              </a:rPr>
              <a:t>, </a:t>
            </a:r>
            <a:r>
              <a:rPr lang="en-US" b="0" i="0" u="none" strike="noStrike">
                <a:solidFill>
                  <a:srgbClr val="4A6782"/>
                </a:solidFill>
                <a:effectLst/>
                <a:latin typeface="DejaVu Sans Mono"/>
                <a:hlinkClick r:id="rId9" tooltip="class in java.util"/>
              </a:rPr>
              <a:t>LinkedList</a:t>
            </a:r>
            <a:endParaRPr lang="en-US" b="0" i="0" dirty="0">
              <a:solidFill>
                <a:srgbClr val="353833"/>
              </a:solidFill>
              <a:effectLst/>
              <a:latin typeface="DejaVu Sans Mono"/>
            </a:endParaRPr>
          </a:p>
        </p:txBody>
      </p:sp>
      <p:sp>
        <p:nvSpPr>
          <p:cNvPr id="19" name="TextBox 18">
            <a:extLst>
              <a:ext uri="{FF2B5EF4-FFF2-40B4-BE49-F238E27FC236}">
                <a16:creationId xmlns:a16="http://schemas.microsoft.com/office/drawing/2014/main" id="{00B2930B-B733-2EE2-6623-A42813ED3F6A}"/>
              </a:ext>
            </a:extLst>
          </p:cNvPr>
          <p:cNvSpPr txBox="1"/>
          <p:nvPr/>
        </p:nvSpPr>
        <p:spPr>
          <a:xfrm>
            <a:off x="4953000" y="621254"/>
            <a:ext cx="4983480" cy="5986254"/>
          </a:xfrm>
          <a:prstGeom prst="rect">
            <a:avLst/>
          </a:prstGeom>
          <a:noFill/>
        </p:spPr>
        <p:txBody>
          <a:bodyPr wrap="square">
            <a:spAutoFit/>
          </a:bodyPr>
          <a:lstStyle/>
          <a:p>
            <a:pPr algn="l">
              <a:buNone/>
            </a:pPr>
            <a:r>
              <a:rPr lang="en-US" b="0" i="0" dirty="0">
                <a:solidFill>
                  <a:srgbClr val="353833"/>
                </a:solidFill>
                <a:effectLst/>
                <a:latin typeface="DejaVu Sans Mono"/>
              </a:rPr>
              <a:t>public interface </a:t>
            </a:r>
            <a:r>
              <a:rPr lang="en-US" b="1" i="0" dirty="0">
                <a:solidFill>
                  <a:srgbClr val="353833"/>
                </a:solidFill>
                <a:effectLst/>
                <a:latin typeface="DejaVu Sans Mono"/>
              </a:rPr>
              <a:t>Deque&lt;E&gt;</a:t>
            </a:r>
            <a:endParaRPr lang="en-US" b="0" i="0" dirty="0">
              <a:solidFill>
                <a:srgbClr val="353833"/>
              </a:solidFill>
              <a:effectLst/>
              <a:latin typeface="DejaVu Sans Mono"/>
            </a:endParaRPr>
          </a:p>
          <a:p>
            <a:pPr algn="l">
              <a:buNone/>
            </a:pPr>
            <a:r>
              <a:rPr lang="en-US" b="0" i="0" dirty="0">
                <a:solidFill>
                  <a:srgbClr val="353833"/>
                </a:solidFill>
                <a:effectLst/>
                <a:latin typeface="DejaVu Sans Mono"/>
              </a:rPr>
              <a:t>extends </a:t>
            </a:r>
            <a:r>
              <a:rPr lang="en-US" b="0" i="0" u="none" strike="noStrike" dirty="0">
                <a:solidFill>
                  <a:srgbClr val="4A6782"/>
                </a:solidFill>
                <a:effectLst/>
                <a:latin typeface="DejaVu Sans Mono"/>
                <a:hlinkClick r:id="rId4" tooltip="interface in java.util"/>
              </a:rPr>
              <a:t>Queue</a:t>
            </a:r>
            <a:r>
              <a:rPr lang="en-US" b="0" i="0" dirty="0">
                <a:solidFill>
                  <a:srgbClr val="353833"/>
                </a:solidFill>
                <a:effectLst/>
                <a:latin typeface="DejaVu Sans Mono"/>
              </a:rPr>
              <a:t>&lt;E&gt;</a:t>
            </a:r>
          </a:p>
          <a:p>
            <a:pPr algn="l">
              <a:spcBef>
                <a:spcPts val="225"/>
              </a:spcBef>
              <a:spcAft>
                <a:spcPts val="150"/>
              </a:spcAft>
              <a:buNone/>
            </a:pPr>
            <a:r>
              <a:rPr lang="en-US" b="0" i="0" dirty="0">
                <a:solidFill>
                  <a:srgbClr val="474747"/>
                </a:solidFill>
                <a:effectLst/>
                <a:latin typeface="DejaVu Serif"/>
              </a:rPr>
              <a:t>A linear collection that supports element insertion and removal at both ends. The name </a:t>
            </a:r>
            <a:r>
              <a:rPr lang="en-US" b="0" i="1" dirty="0">
                <a:solidFill>
                  <a:srgbClr val="474747"/>
                </a:solidFill>
                <a:effectLst/>
                <a:latin typeface="DejaVu Serif"/>
              </a:rPr>
              <a:t>deque</a:t>
            </a:r>
            <a:r>
              <a:rPr lang="en-US" b="0" i="0" dirty="0">
                <a:solidFill>
                  <a:srgbClr val="474747"/>
                </a:solidFill>
                <a:effectLst/>
                <a:latin typeface="DejaVu Serif"/>
              </a:rPr>
              <a:t> is short for "double ended queue" and is usually pronounced "deck". Most </a:t>
            </a:r>
            <a:r>
              <a:rPr lang="en-US" b="0" i="0" dirty="0">
                <a:solidFill>
                  <a:srgbClr val="474747"/>
                </a:solidFill>
                <a:effectLst/>
                <a:latin typeface="DejaVu Sans Mono"/>
              </a:rPr>
              <a:t>Deque</a:t>
            </a:r>
            <a:r>
              <a:rPr lang="en-US" b="0" i="0" dirty="0">
                <a:solidFill>
                  <a:srgbClr val="474747"/>
                </a:solidFill>
                <a:effectLst/>
                <a:latin typeface="DejaVu Serif"/>
              </a:rPr>
              <a:t> implementations place no fixed limits on the number of elements they may contain, but this interface supports capacity-restricted deques as well as those with no fixed size limit.</a:t>
            </a:r>
          </a:p>
          <a:p>
            <a:pPr algn="l">
              <a:spcBef>
                <a:spcPts val="225"/>
              </a:spcBef>
              <a:spcAft>
                <a:spcPts val="150"/>
              </a:spcAft>
              <a:buNone/>
            </a:pPr>
            <a:r>
              <a:rPr lang="en-US" b="0" i="0" dirty="0">
                <a:solidFill>
                  <a:srgbClr val="474747"/>
                </a:solidFill>
                <a:effectLst/>
                <a:latin typeface="DejaVu Serif"/>
              </a:rPr>
              <a:t>This interface defines methods to access the elements at both ends of the deque. Methods are provided to insert, remove, and examine the element. Each of these methods exists in two forms: one throws an exception if the operation fails, the other returns a special value (either </a:t>
            </a:r>
            <a:r>
              <a:rPr lang="en-US" b="0" i="0" dirty="0">
                <a:solidFill>
                  <a:srgbClr val="474747"/>
                </a:solidFill>
                <a:effectLst/>
                <a:latin typeface="DejaVu Sans Mono"/>
              </a:rPr>
              <a:t>null</a:t>
            </a:r>
            <a:r>
              <a:rPr lang="en-US" b="0" i="0" dirty="0">
                <a:solidFill>
                  <a:srgbClr val="474747"/>
                </a:solidFill>
                <a:effectLst/>
                <a:latin typeface="DejaVu Serif"/>
              </a:rPr>
              <a:t> or </a:t>
            </a:r>
            <a:r>
              <a:rPr lang="en-US" b="0" i="0" dirty="0">
                <a:solidFill>
                  <a:srgbClr val="474747"/>
                </a:solidFill>
                <a:effectLst/>
                <a:latin typeface="DejaVu Sans Mono"/>
              </a:rPr>
              <a:t>false</a:t>
            </a:r>
            <a:r>
              <a:rPr lang="en-US" b="0" i="0" dirty="0">
                <a:solidFill>
                  <a:srgbClr val="474747"/>
                </a:solidFill>
                <a:effectLst/>
                <a:latin typeface="DejaVu Serif"/>
              </a:rPr>
              <a:t>, depending on the operation). The latter form of the insert operation is designed specifically for use with capacity-restricted </a:t>
            </a:r>
            <a:r>
              <a:rPr lang="en-US" b="0" i="0" dirty="0">
                <a:solidFill>
                  <a:srgbClr val="474747"/>
                </a:solidFill>
                <a:effectLst/>
                <a:latin typeface="DejaVu Sans Mono"/>
              </a:rPr>
              <a:t>Deque</a:t>
            </a:r>
            <a:r>
              <a:rPr lang="en-US" b="0" i="0" dirty="0">
                <a:solidFill>
                  <a:srgbClr val="474747"/>
                </a:solidFill>
                <a:effectLst/>
                <a:latin typeface="DejaVu Serif"/>
              </a:rPr>
              <a:t> implementations; in most implementations, insert operations cannot fail.</a:t>
            </a:r>
          </a:p>
        </p:txBody>
      </p:sp>
    </p:spTree>
    <p:extLst>
      <p:ext uri="{BB962C8B-B14F-4D97-AF65-F5344CB8AC3E}">
        <p14:creationId xmlns:p14="http://schemas.microsoft.com/office/powerpoint/2010/main" val="3151589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D61F57B-078B-A407-C6AA-8E2FB624DA86}"/>
              </a:ext>
            </a:extLst>
          </p:cNvPr>
          <p:cNvGraphicFramePr>
            <a:graphicFrameLocks noGrp="1"/>
          </p:cNvGraphicFramePr>
          <p:nvPr>
            <p:extLst>
              <p:ext uri="{D42A27DB-BD31-4B8C-83A1-F6EECF244321}">
                <p14:modId xmlns:p14="http://schemas.microsoft.com/office/powerpoint/2010/main" val="894730254"/>
              </p:ext>
            </p:extLst>
          </p:nvPr>
        </p:nvGraphicFramePr>
        <p:xfrm>
          <a:off x="345758" y="435134"/>
          <a:ext cx="8543925" cy="2194560"/>
        </p:xfrm>
        <a:graphic>
          <a:graphicData uri="http://schemas.openxmlformats.org/drawingml/2006/table">
            <a:tbl>
              <a:tblPr/>
              <a:tblGrid>
                <a:gridCol w="1708785">
                  <a:extLst>
                    <a:ext uri="{9D8B030D-6E8A-4147-A177-3AD203B41FA5}">
                      <a16:colId xmlns:a16="http://schemas.microsoft.com/office/drawing/2014/main" val="1795029982"/>
                    </a:ext>
                  </a:extLst>
                </a:gridCol>
                <a:gridCol w="1708785">
                  <a:extLst>
                    <a:ext uri="{9D8B030D-6E8A-4147-A177-3AD203B41FA5}">
                      <a16:colId xmlns:a16="http://schemas.microsoft.com/office/drawing/2014/main" val="1133613792"/>
                    </a:ext>
                  </a:extLst>
                </a:gridCol>
                <a:gridCol w="1708785">
                  <a:extLst>
                    <a:ext uri="{9D8B030D-6E8A-4147-A177-3AD203B41FA5}">
                      <a16:colId xmlns:a16="http://schemas.microsoft.com/office/drawing/2014/main" val="1880027852"/>
                    </a:ext>
                  </a:extLst>
                </a:gridCol>
                <a:gridCol w="1708785">
                  <a:extLst>
                    <a:ext uri="{9D8B030D-6E8A-4147-A177-3AD203B41FA5}">
                      <a16:colId xmlns:a16="http://schemas.microsoft.com/office/drawing/2014/main" val="1887247471"/>
                    </a:ext>
                  </a:extLst>
                </a:gridCol>
                <a:gridCol w="1708785">
                  <a:extLst>
                    <a:ext uri="{9D8B030D-6E8A-4147-A177-3AD203B41FA5}">
                      <a16:colId xmlns:a16="http://schemas.microsoft.com/office/drawing/2014/main" val="1170052812"/>
                    </a:ext>
                  </a:extLst>
                </a:gridCol>
              </a:tblGrid>
              <a:tr h="0">
                <a:tc gridSpan="5">
                  <a:txBody>
                    <a:bodyPr/>
                    <a:lstStyle/>
                    <a:p>
                      <a:pPr>
                        <a:buNone/>
                      </a:pPr>
                      <a:r>
                        <a:rPr lang="en-US"/>
                        <a:t>Summary of Deque methods</a:t>
                      </a:r>
                    </a:p>
                  </a:txBody>
                  <a:tcPr marL="22860" marR="22860" marT="22860" marB="22860" anchor="ctr">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40675680"/>
                  </a:ext>
                </a:extLst>
              </a:tr>
              <a:tr h="0">
                <a:tc>
                  <a:txBody>
                    <a:bodyPr/>
                    <a:lstStyle/>
                    <a:p>
                      <a:pPr>
                        <a:buNone/>
                      </a:pPr>
                      <a:endParaRPr lang="en-US"/>
                    </a:p>
                  </a:txBody>
                  <a:tcPr marL="22860" marR="22860" marT="22860" marB="22860" anchor="ctr">
                    <a:lnL>
                      <a:noFill/>
                    </a:lnL>
                    <a:lnR>
                      <a:noFill/>
                    </a:lnR>
                    <a:lnB>
                      <a:noFill/>
                    </a:lnB>
                    <a:solidFill>
                      <a:srgbClr val="FFFFFF"/>
                    </a:solidFill>
                  </a:tcPr>
                </a:tc>
                <a:tc gridSpan="2">
                  <a:txBody>
                    <a:bodyPr/>
                    <a:lstStyle/>
                    <a:p>
                      <a:pPr algn="ctr">
                        <a:buNone/>
                      </a:pPr>
                      <a:r>
                        <a:rPr lang="en-US" b="1"/>
                        <a:t>First Element (Head)</a:t>
                      </a:r>
                      <a:endParaRPr lang="en-US"/>
                    </a:p>
                  </a:txBody>
                  <a:tcPr marL="22860" marR="22860" marT="22860" marB="22860" anchor="ctr">
                    <a:lnL>
                      <a:noFill/>
                    </a:lnL>
                    <a:lnR>
                      <a:noFill/>
                    </a:lnR>
                    <a:lnT>
                      <a:noFill/>
                    </a:lnT>
                    <a:lnB>
                      <a:noFill/>
                    </a:lnB>
                    <a:solidFill>
                      <a:srgbClr val="FFFFFF"/>
                    </a:solidFill>
                  </a:tcPr>
                </a:tc>
                <a:tc hMerge="1">
                  <a:txBody>
                    <a:bodyPr/>
                    <a:lstStyle/>
                    <a:p>
                      <a:endParaRPr lang="en-US"/>
                    </a:p>
                  </a:txBody>
                  <a:tcPr/>
                </a:tc>
                <a:tc gridSpan="2">
                  <a:txBody>
                    <a:bodyPr/>
                    <a:lstStyle/>
                    <a:p>
                      <a:pPr algn="ctr">
                        <a:buNone/>
                      </a:pPr>
                      <a:r>
                        <a:rPr lang="en-US" b="1"/>
                        <a:t>Last Element (Tail)</a:t>
                      </a:r>
                      <a:endParaRPr lang="en-US"/>
                    </a:p>
                  </a:txBody>
                  <a:tcPr marL="22860" marR="22860" marT="22860" marB="22860" anchor="ctr">
                    <a:lnL>
                      <a:noFill/>
                    </a:lnL>
                    <a:lnR>
                      <a:noFill/>
                    </a:lnR>
                    <a:lnT>
                      <a:noFill/>
                    </a:lnT>
                    <a:lnB>
                      <a:noFill/>
                    </a:lnB>
                    <a:solidFill>
                      <a:srgbClr val="FFFFFF"/>
                    </a:solidFill>
                  </a:tcPr>
                </a:tc>
                <a:tc hMerge="1">
                  <a:txBody>
                    <a:bodyPr/>
                    <a:lstStyle/>
                    <a:p>
                      <a:endParaRPr lang="en-US"/>
                    </a:p>
                  </a:txBody>
                  <a:tcPr/>
                </a:tc>
                <a:extLst>
                  <a:ext uri="{0D108BD9-81ED-4DB2-BD59-A6C34878D82A}">
                    <a16:rowId xmlns:a16="http://schemas.microsoft.com/office/drawing/2014/main" val="1933724976"/>
                  </a:ext>
                </a:extLst>
              </a:tr>
              <a:tr h="0">
                <a:tc>
                  <a:txBody>
                    <a:bodyPr/>
                    <a:lstStyle/>
                    <a:p>
                      <a:pPr>
                        <a:buNone/>
                      </a:pPr>
                      <a:endParaRPr lang="en-US"/>
                    </a:p>
                  </a:txBody>
                  <a:tcPr marL="22860" marR="22860" marT="22860" marB="22860" anchor="ctr">
                    <a:lnL>
                      <a:noFill/>
                    </a:lnL>
                    <a:lnR>
                      <a:noFill/>
                    </a:lnR>
                    <a:lnT>
                      <a:noFill/>
                    </a:lnT>
                    <a:lnB>
                      <a:noFill/>
                    </a:lnB>
                    <a:solidFill>
                      <a:srgbClr val="FFFFFF"/>
                    </a:solidFill>
                  </a:tcPr>
                </a:tc>
                <a:tc>
                  <a:txBody>
                    <a:bodyPr/>
                    <a:lstStyle/>
                    <a:p>
                      <a:pPr algn="ctr">
                        <a:buNone/>
                      </a:pPr>
                      <a:r>
                        <a:rPr lang="en-US" i="1"/>
                        <a:t>Throws exception</a:t>
                      </a:r>
                      <a:endParaRPr lang="en-US"/>
                    </a:p>
                  </a:txBody>
                  <a:tcPr marL="22860" marR="22860" marT="22860" marB="22860" anchor="ctr">
                    <a:lnL>
                      <a:noFill/>
                    </a:lnL>
                    <a:lnR>
                      <a:noFill/>
                    </a:lnR>
                    <a:lnT>
                      <a:noFill/>
                    </a:lnT>
                    <a:lnB>
                      <a:noFill/>
                    </a:lnB>
                    <a:solidFill>
                      <a:srgbClr val="FFFFFF"/>
                    </a:solidFill>
                  </a:tcPr>
                </a:tc>
                <a:tc>
                  <a:txBody>
                    <a:bodyPr/>
                    <a:lstStyle/>
                    <a:p>
                      <a:pPr algn="ctr">
                        <a:buNone/>
                      </a:pPr>
                      <a:r>
                        <a:rPr lang="en-US" i="1"/>
                        <a:t>Special value</a:t>
                      </a:r>
                      <a:endParaRPr lang="en-US"/>
                    </a:p>
                  </a:txBody>
                  <a:tcPr marL="22860" marR="22860" marT="22860" marB="22860" anchor="ctr">
                    <a:lnL>
                      <a:noFill/>
                    </a:lnL>
                    <a:lnR>
                      <a:noFill/>
                    </a:lnR>
                    <a:lnT>
                      <a:noFill/>
                    </a:lnT>
                    <a:lnB>
                      <a:noFill/>
                    </a:lnB>
                    <a:solidFill>
                      <a:srgbClr val="FFFFFF"/>
                    </a:solidFill>
                  </a:tcPr>
                </a:tc>
                <a:tc>
                  <a:txBody>
                    <a:bodyPr/>
                    <a:lstStyle/>
                    <a:p>
                      <a:pPr algn="ctr">
                        <a:buNone/>
                      </a:pPr>
                      <a:r>
                        <a:rPr lang="en-US" i="1"/>
                        <a:t>Throws exception</a:t>
                      </a:r>
                      <a:endParaRPr lang="en-US"/>
                    </a:p>
                  </a:txBody>
                  <a:tcPr marL="22860" marR="22860" marT="22860" marB="22860" anchor="ctr">
                    <a:lnL>
                      <a:noFill/>
                    </a:lnL>
                    <a:lnR>
                      <a:noFill/>
                    </a:lnR>
                    <a:lnT>
                      <a:noFill/>
                    </a:lnT>
                    <a:lnB>
                      <a:noFill/>
                    </a:lnB>
                    <a:solidFill>
                      <a:srgbClr val="FFFFFF"/>
                    </a:solidFill>
                  </a:tcPr>
                </a:tc>
                <a:tc>
                  <a:txBody>
                    <a:bodyPr/>
                    <a:lstStyle/>
                    <a:p>
                      <a:pPr algn="ctr">
                        <a:buNone/>
                      </a:pPr>
                      <a:r>
                        <a:rPr lang="en-US" i="1"/>
                        <a:t>Special value</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058053874"/>
                  </a:ext>
                </a:extLst>
              </a:tr>
              <a:tr h="0">
                <a:tc>
                  <a:txBody>
                    <a:bodyPr/>
                    <a:lstStyle/>
                    <a:p>
                      <a:pPr>
                        <a:buNone/>
                      </a:pPr>
                      <a:r>
                        <a:rPr lang="en-US" b="1"/>
                        <a:t>Insert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2"/>
                        </a:rPr>
                        <a:t>addFirst(e)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3"/>
                        </a:rPr>
                        <a:t>offerFirst(e)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4"/>
                        </a:rPr>
                        <a:t>addLast(e)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5"/>
                        </a:rPr>
                        <a:t>offerLast(e)</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456460026"/>
                  </a:ext>
                </a:extLst>
              </a:tr>
              <a:tr h="0">
                <a:tc>
                  <a:txBody>
                    <a:bodyPr/>
                    <a:lstStyle/>
                    <a:p>
                      <a:pPr>
                        <a:buNone/>
                      </a:pPr>
                      <a:r>
                        <a:rPr lang="en-US" b="1"/>
                        <a:t>Remove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dirty="0" err="1">
                          <a:solidFill>
                            <a:srgbClr val="4A6782"/>
                          </a:solidFill>
                          <a:effectLst/>
                          <a:latin typeface="DejaVu Sans Mono"/>
                          <a:hlinkClick r:id="rId6"/>
                        </a:rPr>
                        <a:t>removeFirst</a:t>
                      </a:r>
                      <a:r>
                        <a:rPr lang="en-US" u="none" strike="noStrike" dirty="0">
                          <a:solidFill>
                            <a:srgbClr val="4A6782"/>
                          </a:solidFill>
                          <a:effectLst/>
                          <a:latin typeface="DejaVu Sans Mono"/>
                          <a:hlinkClick r:id="rId6"/>
                        </a:rPr>
                        <a:t>()</a:t>
                      </a:r>
                      <a:endParaRPr lang="en-US" dirty="0"/>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7"/>
                        </a:rPr>
                        <a:t>pollFirst()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8"/>
                        </a:rPr>
                        <a:t>removeLast()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9"/>
                        </a:rPr>
                        <a:t>pollLast()</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823276077"/>
                  </a:ext>
                </a:extLst>
              </a:tr>
              <a:tr h="0">
                <a:tc>
                  <a:txBody>
                    <a:bodyPr/>
                    <a:lstStyle/>
                    <a:p>
                      <a:pPr>
                        <a:buNone/>
                      </a:pPr>
                      <a:r>
                        <a:rPr lang="en-US" b="1"/>
                        <a:t>Examine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10"/>
                        </a:rPr>
                        <a:t>getFirst()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11"/>
                        </a:rPr>
                        <a:t>peekFirst()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12"/>
                        </a:rPr>
                        <a:t>getLast()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dirty="0" err="1">
                          <a:solidFill>
                            <a:srgbClr val="4A6782"/>
                          </a:solidFill>
                          <a:effectLst/>
                          <a:latin typeface="DejaVu Sans Mono"/>
                          <a:hlinkClick r:id="rId13"/>
                        </a:rPr>
                        <a:t>peekLast</a:t>
                      </a:r>
                      <a:r>
                        <a:rPr lang="en-US" u="none" strike="noStrike" dirty="0">
                          <a:solidFill>
                            <a:srgbClr val="4A6782"/>
                          </a:solidFill>
                          <a:effectLst/>
                          <a:latin typeface="DejaVu Sans Mono"/>
                          <a:hlinkClick r:id="rId13"/>
                        </a:rPr>
                        <a:t>()</a:t>
                      </a:r>
                      <a:endParaRPr lang="en-US" dirty="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699636411"/>
                  </a:ext>
                </a:extLst>
              </a:tr>
            </a:tbl>
          </a:graphicData>
        </a:graphic>
      </p:graphicFrame>
      <p:sp>
        <p:nvSpPr>
          <p:cNvPr id="5" name="Rectangle 1">
            <a:extLst>
              <a:ext uri="{FF2B5EF4-FFF2-40B4-BE49-F238E27FC236}">
                <a16:creationId xmlns:a16="http://schemas.microsoft.com/office/drawing/2014/main" id="{39D1B706-9B86-B031-8EBD-9F4D7DCA23DD}"/>
              </a:ext>
            </a:extLst>
          </p:cNvPr>
          <p:cNvSpPr>
            <a:spLocks noChangeArrowheads="1"/>
          </p:cNvSpPr>
          <p:nvPr/>
        </p:nvSpPr>
        <p:spPr bwMode="auto">
          <a:xfrm>
            <a:off x="345758" y="434658"/>
            <a:ext cx="990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0784"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474747"/>
                </a:solidFill>
                <a:effectLst/>
                <a:latin typeface="DejaVu Serif"/>
              </a:rPr>
              <a:t>The twelve methods described above are summarized in the following table:</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79D59D9C-E476-0D4D-BE91-0926040380CA}"/>
              </a:ext>
            </a:extLst>
          </p:cNvPr>
          <p:cNvGraphicFramePr>
            <a:graphicFrameLocks noGrp="1"/>
          </p:cNvGraphicFramePr>
          <p:nvPr>
            <p:extLst>
              <p:ext uri="{D42A27DB-BD31-4B8C-83A1-F6EECF244321}">
                <p14:modId xmlns:p14="http://schemas.microsoft.com/office/powerpoint/2010/main" val="3402900109"/>
              </p:ext>
            </p:extLst>
          </p:nvPr>
        </p:nvGraphicFramePr>
        <p:xfrm>
          <a:off x="345759" y="4151174"/>
          <a:ext cx="8543924" cy="2560320"/>
        </p:xfrm>
        <a:graphic>
          <a:graphicData uri="http://schemas.openxmlformats.org/drawingml/2006/table">
            <a:tbl>
              <a:tblPr/>
              <a:tblGrid>
                <a:gridCol w="4271962">
                  <a:extLst>
                    <a:ext uri="{9D8B030D-6E8A-4147-A177-3AD203B41FA5}">
                      <a16:colId xmlns:a16="http://schemas.microsoft.com/office/drawing/2014/main" val="348697989"/>
                    </a:ext>
                  </a:extLst>
                </a:gridCol>
                <a:gridCol w="4271962">
                  <a:extLst>
                    <a:ext uri="{9D8B030D-6E8A-4147-A177-3AD203B41FA5}">
                      <a16:colId xmlns:a16="http://schemas.microsoft.com/office/drawing/2014/main" val="1907474905"/>
                    </a:ext>
                  </a:extLst>
                </a:gridCol>
              </a:tblGrid>
              <a:tr h="320040">
                <a:tc gridSpan="2">
                  <a:txBody>
                    <a:bodyPr/>
                    <a:lstStyle/>
                    <a:p>
                      <a:pPr>
                        <a:buNone/>
                      </a:pPr>
                      <a:r>
                        <a:rPr lang="en-US" sz="1800"/>
                        <a:t>Comparison of Queue and Deque methods</a:t>
                      </a:r>
                    </a:p>
                  </a:txBody>
                  <a:tcPr marL="22860" marR="22860" marT="22860" marB="22860" anchor="ctr">
                    <a:solidFill>
                      <a:srgbClr val="FFFFFF"/>
                    </a:solidFill>
                  </a:tcPr>
                </a:tc>
                <a:tc hMerge="1">
                  <a:txBody>
                    <a:bodyPr/>
                    <a:lstStyle/>
                    <a:p>
                      <a:endParaRPr lang="en-US"/>
                    </a:p>
                  </a:txBody>
                  <a:tcPr/>
                </a:tc>
                <a:extLst>
                  <a:ext uri="{0D108BD9-81ED-4DB2-BD59-A6C34878D82A}">
                    <a16:rowId xmlns:a16="http://schemas.microsoft.com/office/drawing/2014/main" val="1177926518"/>
                  </a:ext>
                </a:extLst>
              </a:tr>
              <a:tr h="320040">
                <a:tc>
                  <a:txBody>
                    <a:bodyPr/>
                    <a:lstStyle/>
                    <a:p>
                      <a:pPr algn="ctr">
                        <a:buNone/>
                      </a:pPr>
                      <a:r>
                        <a:rPr lang="en-US" sz="1800" b="1">
                          <a:effectLst/>
                          <a:latin typeface="DejaVu Sans Mono"/>
                        </a:rPr>
                        <a:t>Queue</a:t>
                      </a:r>
                      <a:r>
                        <a:rPr lang="en-US" sz="1800" b="1"/>
                        <a:t> Method</a:t>
                      </a:r>
                      <a:endParaRPr lang="en-US" sz="1800"/>
                    </a:p>
                  </a:txBody>
                  <a:tcPr marL="22860" marR="22860" marT="22860" marB="22860" anchor="ctr">
                    <a:lnL>
                      <a:noFill/>
                    </a:lnL>
                    <a:lnR>
                      <a:noFill/>
                    </a:lnR>
                    <a:lnB>
                      <a:noFill/>
                    </a:lnB>
                    <a:solidFill>
                      <a:srgbClr val="FFFFFF"/>
                    </a:solidFill>
                  </a:tcPr>
                </a:tc>
                <a:tc>
                  <a:txBody>
                    <a:bodyPr/>
                    <a:lstStyle/>
                    <a:p>
                      <a:pPr algn="ctr">
                        <a:buNone/>
                      </a:pPr>
                      <a:r>
                        <a:rPr lang="en-US" sz="1800" b="1"/>
                        <a:t>Equivalent </a:t>
                      </a:r>
                      <a:r>
                        <a:rPr lang="en-US" sz="1800" b="1">
                          <a:effectLst/>
                          <a:latin typeface="DejaVu Sans Mono"/>
                        </a:rPr>
                        <a:t>Deque</a:t>
                      </a:r>
                      <a:r>
                        <a:rPr lang="en-US" sz="1800" b="1"/>
                        <a:t> Method</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869555723"/>
                  </a:ext>
                </a:extLst>
              </a:tr>
              <a:tr h="320040">
                <a:tc>
                  <a:txBody>
                    <a:bodyPr/>
                    <a:lstStyle/>
                    <a:p>
                      <a:pPr>
                        <a:buNone/>
                      </a:pPr>
                      <a:r>
                        <a:rPr lang="en-US" sz="1800" u="none" strike="noStrike">
                          <a:solidFill>
                            <a:srgbClr val="4A6782"/>
                          </a:solidFill>
                          <a:effectLst/>
                          <a:latin typeface="DejaVu Sans Mono"/>
                          <a:hlinkClick r:id="rId14"/>
                        </a:rPr>
                        <a:t>add(e)</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4"/>
                        </a:rPr>
                        <a:t>addLast(e)</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3034746937"/>
                  </a:ext>
                </a:extLst>
              </a:tr>
              <a:tr h="320040">
                <a:tc>
                  <a:txBody>
                    <a:bodyPr/>
                    <a:lstStyle/>
                    <a:p>
                      <a:pPr>
                        <a:buNone/>
                      </a:pPr>
                      <a:r>
                        <a:rPr lang="en-US" sz="1800" u="none" strike="noStrike">
                          <a:solidFill>
                            <a:srgbClr val="4A6782"/>
                          </a:solidFill>
                          <a:effectLst/>
                          <a:latin typeface="DejaVu Sans Mono"/>
                          <a:hlinkClick r:id="rId15"/>
                        </a:rPr>
                        <a:t>offer(e)</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5"/>
                        </a:rPr>
                        <a:t>offerLast(e)</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3831731554"/>
                  </a:ext>
                </a:extLst>
              </a:tr>
              <a:tr h="320040">
                <a:tc>
                  <a:txBody>
                    <a:bodyPr/>
                    <a:lstStyle/>
                    <a:p>
                      <a:pPr>
                        <a:buNone/>
                      </a:pPr>
                      <a:r>
                        <a:rPr lang="en-US" sz="1800" u="none" strike="noStrike">
                          <a:solidFill>
                            <a:srgbClr val="4A6782"/>
                          </a:solidFill>
                          <a:effectLst/>
                          <a:latin typeface="DejaVu Sans Mono"/>
                          <a:hlinkClick r:id="rId16"/>
                        </a:rPr>
                        <a:t>remove()</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6"/>
                        </a:rPr>
                        <a:t>removeFirst()</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788653963"/>
                  </a:ext>
                </a:extLst>
              </a:tr>
              <a:tr h="320040">
                <a:tc>
                  <a:txBody>
                    <a:bodyPr/>
                    <a:lstStyle/>
                    <a:p>
                      <a:pPr>
                        <a:buNone/>
                      </a:pPr>
                      <a:r>
                        <a:rPr lang="en-US" sz="1800" u="none" strike="noStrike">
                          <a:solidFill>
                            <a:srgbClr val="4A6782"/>
                          </a:solidFill>
                          <a:effectLst/>
                          <a:latin typeface="DejaVu Sans Mono"/>
                          <a:hlinkClick r:id="rId17"/>
                        </a:rPr>
                        <a:t>poll()</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7"/>
                        </a:rPr>
                        <a:t>pollFirst()</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062080741"/>
                  </a:ext>
                </a:extLst>
              </a:tr>
              <a:tr h="320040">
                <a:tc>
                  <a:txBody>
                    <a:bodyPr/>
                    <a:lstStyle/>
                    <a:p>
                      <a:pPr>
                        <a:buNone/>
                      </a:pPr>
                      <a:r>
                        <a:rPr lang="en-US" sz="1800" u="none" strike="noStrike">
                          <a:solidFill>
                            <a:srgbClr val="4A6782"/>
                          </a:solidFill>
                          <a:effectLst/>
                          <a:latin typeface="DejaVu Sans Mono"/>
                          <a:hlinkClick r:id="rId18"/>
                        </a:rPr>
                        <a:t>element()</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10"/>
                        </a:rPr>
                        <a:t>getFirst()</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4111605651"/>
                  </a:ext>
                </a:extLst>
              </a:tr>
              <a:tr h="320040">
                <a:tc>
                  <a:txBody>
                    <a:bodyPr/>
                    <a:lstStyle/>
                    <a:p>
                      <a:pPr>
                        <a:buNone/>
                      </a:pPr>
                      <a:r>
                        <a:rPr lang="en-US" sz="1800" u="none" strike="noStrike">
                          <a:solidFill>
                            <a:srgbClr val="4A6782"/>
                          </a:solidFill>
                          <a:effectLst/>
                          <a:latin typeface="DejaVu Sans Mono"/>
                          <a:hlinkClick r:id="rId19"/>
                        </a:rPr>
                        <a:t>peek()</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dirty="0" err="1">
                          <a:solidFill>
                            <a:srgbClr val="4A6782"/>
                          </a:solidFill>
                          <a:effectLst/>
                          <a:latin typeface="DejaVu Sans Mono"/>
                          <a:hlinkClick r:id="rId20"/>
                        </a:rPr>
                        <a:t>peekFirst</a:t>
                      </a:r>
                      <a:r>
                        <a:rPr lang="en-US" sz="1800" u="none" strike="noStrike" dirty="0">
                          <a:solidFill>
                            <a:srgbClr val="4A6782"/>
                          </a:solidFill>
                          <a:effectLst/>
                          <a:latin typeface="DejaVu Sans Mono"/>
                          <a:hlinkClick r:id="rId20"/>
                        </a:rPr>
                        <a:t>()</a:t>
                      </a:r>
                      <a:endParaRPr lang="en-US" sz="1800" dirty="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010762163"/>
                  </a:ext>
                </a:extLst>
              </a:tr>
            </a:tbl>
          </a:graphicData>
        </a:graphic>
      </p:graphicFrame>
      <p:sp>
        <p:nvSpPr>
          <p:cNvPr id="9" name="TextBox 8">
            <a:extLst>
              <a:ext uri="{FF2B5EF4-FFF2-40B4-BE49-F238E27FC236}">
                <a16:creationId xmlns:a16="http://schemas.microsoft.com/office/drawing/2014/main" id="{53064792-B42B-9F54-7A0F-934BE5237C55}"/>
              </a:ext>
            </a:extLst>
          </p:cNvPr>
          <p:cNvSpPr txBox="1"/>
          <p:nvPr/>
        </p:nvSpPr>
        <p:spPr>
          <a:xfrm>
            <a:off x="345758" y="2928769"/>
            <a:ext cx="9240202" cy="1200329"/>
          </a:xfrm>
          <a:prstGeom prst="rect">
            <a:avLst/>
          </a:prstGeom>
          <a:noFill/>
        </p:spPr>
        <p:txBody>
          <a:bodyPr wrap="square">
            <a:spAutoFit/>
          </a:bodyPr>
          <a:lstStyle/>
          <a:p>
            <a:r>
              <a:rPr lang="en-US" b="0" i="0" dirty="0">
                <a:solidFill>
                  <a:srgbClr val="474747"/>
                </a:solidFill>
                <a:effectLst/>
                <a:latin typeface="DejaVu Serif"/>
              </a:rPr>
              <a:t>This interface extends the </a:t>
            </a:r>
            <a:r>
              <a:rPr lang="en-US" b="0" i="0" u="none" strike="noStrike" dirty="0">
                <a:solidFill>
                  <a:srgbClr val="4A6782"/>
                </a:solidFill>
                <a:effectLst/>
                <a:latin typeface="DejaVu Sans Mono"/>
                <a:hlinkClick r:id="rId21" tooltip="interface in java.util"/>
              </a:rPr>
              <a:t>Queue</a:t>
            </a:r>
            <a:r>
              <a:rPr lang="en-US" b="0" i="0" dirty="0">
                <a:solidFill>
                  <a:srgbClr val="474747"/>
                </a:solidFill>
                <a:effectLst/>
                <a:latin typeface="DejaVu Serif"/>
              </a:rPr>
              <a:t> interface. When a deque is used as a queue, FIFO (First-In-First-Out) behavior results. Elements are added at the end of the deque and removed from the beginning. The methods inherited from the </a:t>
            </a:r>
            <a:r>
              <a:rPr lang="en-US" b="0" i="0" dirty="0">
                <a:solidFill>
                  <a:srgbClr val="474747"/>
                </a:solidFill>
                <a:effectLst/>
                <a:latin typeface="DejaVu Sans Mono"/>
              </a:rPr>
              <a:t>Queue</a:t>
            </a:r>
            <a:r>
              <a:rPr lang="en-US" b="0" i="0" dirty="0">
                <a:solidFill>
                  <a:srgbClr val="474747"/>
                </a:solidFill>
                <a:effectLst/>
                <a:latin typeface="DejaVu Serif"/>
              </a:rPr>
              <a:t> interface are precisely equivalent to </a:t>
            </a:r>
            <a:r>
              <a:rPr lang="en-US" b="0" i="0" dirty="0">
                <a:solidFill>
                  <a:srgbClr val="474747"/>
                </a:solidFill>
                <a:effectLst/>
                <a:latin typeface="DejaVu Sans Mono"/>
              </a:rPr>
              <a:t>Deque</a:t>
            </a:r>
            <a:r>
              <a:rPr lang="en-US" b="0" i="0" dirty="0">
                <a:solidFill>
                  <a:srgbClr val="474747"/>
                </a:solidFill>
                <a:effectLst/>
                <a:latin typeface="DejaVu Serif"/>
              </a:rPr>
              <a:t> methods as indicated in the following table:</a:t>
            </a:r>
            <a:endParaRPr lang="en-US" dirty="0"/>
          </a:p>
        </p:txBody>
      </p:sp>
    </p:spTree>
    <p:extLst>
      <p:ext uri="{BB962C8B-B14F-4D97-AF65-F5344CB8AC3E}">
        <p14:creationId xmlns:p14="http://schemas.microsoft.com/office/powerpoint/2010/main" val="2030625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764A81-6457-BE2D-51DA-ECC615701215}"/>
              </a:ext>
            </a:extLst>
          </p:cNvPr>
          <p:cNvSpPr txBox="1"/>
          <p:nvPr/>
        </p:nvSpPr>
        <p:spPr>
          <a:xfrm>
            <a:off x="281940" y="157818"/>
            <a:ext cx="4953000" cy="2031325"/>
          </a:xfrm>
          <a:prstGeom prst="rect">
            <a:avLst/>
          </a:prstGeom>
          <a:noFill/>
        </p:spPr>
        <p:txBody>
          <a:bodyPr wrap="square">
            <a:spAutoFit/>
          </a:bodyPr>
          <a:lstStyle/>
          <a:p>
            <a:r>
              <a:rPr lang="en-US" b="0" i="0" dirty="0">
                <a:solidFill>
                  <a:srgbClr val="474747"/>
                </a:solidFill>
                <a:effectLst/>
                <a:latin typeface="DejaVu Serif"/>
              </a:rPr>
              <a:t>Deques can also be used as LIFO (Last-In-First-Out) stacks. This interface should be used in preference to the legacy </a:t>
            </a:r>
            <a:r>
              <a:rPr lang="en-US" b="0" i="0" u="none" strike="noStrike" dirty="0">
                <a:solidFill>
                  <a:srgbClr val="4A6782"/>
                </a:solidFill>
                <a:effectLst/>
                <a:latin typeface="DejaVu Sans Mono"/>
                <a:hlinkClick r:id="rId2" tooltip="class in java.util"/>
              </a:rPr>
              <a:t>Stack</a:t>
            </a:r>
            <a:r>
              <a:rPr lang="en-US" b="0" i="0" dirty="0">
                <a:solidFill>
                  <a:srgbClr val="474747"/>
                </a:solidFill>
                <a:effectLst/>
                <a:latin typeface="DejaVu Serif"/>
              </a:rPr>
              <a:t> class. When a deque is used as a stack, elements are pushed and popped from the beginning of the deque. Stack methods are precisely equivalent to </a:t>
            </a:r>
            <a:r>
              <a:rPr lang="en-US" b="0" i="0" dirty="0">
                <a:solidFill>
                  <a:srgbClr val="474747"/>
                </a:solidFill>
                <a:effectLst/>
                <a:latin typeface="DejaVu Sans Mono"/>
              </a:rPr>
              <a:t>Deque</a:t>
            </a:r>
            <a:r>
              <a:rPr lang="en-US" b="0" i="0" dirty="0">
                <a:solidFill>
                  <a:srgbClr val="474747"/>
                </a:solidFill>
                <a:effectLst/>
                <a:latin typeface="DejaVu Serif"/>
              </a:rPr>
              <a:t> methods as indicated in the table below:</a:t>
            </a:r>
            <a:endParaRPr lang="en-US" dirty="0"/>
          </a:p>
        </p:txBody>
      </p:sp>
      <p:graphicFrame>
        <p:nvGraphicFramePr>
          <p:cNvPr id="6" name="Table 5">
            <a:extLst>
              <a:ext uri="{FF2B5EF4-FFF2-40B4-BE49-F238E27FC236}">
                <a16:creationId xmlns:a16="http://schemas.microsoft.com/office/drawing/2014/main" id="{63793D7D-8F2E-CF0A-E7AB-69EE15CED04A}"/>
              </a:ext>
            </a:extLst>
          </p:cNvPr>
          <p:cNvGraphicFramePr>
            <a:graphicFrameLocks noGrp="1"/>
          </p:cNvGraphicFramePr>
          <p:nvPr>
            <p:extLst>
              <p:ext uri="{D42A27DB-BD31-4B8C-83A1-F6EECF244321}">
                <p14:modId xmlns:p14="http://schemas.microsoft.com/office/powerpoint/2010/main" val="805925586"/>
              </p:ext>
            </p:extLst>
          </p:nvPr>
        </p:nvGraphicFramePr>
        <p:xfrm>
          <a:off x="391478" y="2362994"/>
          <a:ext cx="4843462" cy="1922652"/>
        </p:xfrm>
        <a:graphic>
          <a:graphicData uri="http://schemas.openxmlformats.org/drawingml/2006/table">
            <a:tbl>
              <a:tblPr/>
              <a:tblGrid>
                <a:gridCol w="2421731">
                  <a:extLst>
                    <a:ext uri="{9D8B030D-6E8A-4147-A177-3AD203B41FA5}">
                      <a16:colId xmlns:a16="http://schemas.microsoft.com/office/drawing/2014/main" val="295988433"/>
                    </a:ext>
                  </a:extLst>
                </a:gridCol>
                <a:gridCol w="2421731">
                  <a:extLst>
                    <a:ext uri="{9D8B030D-6E8A-4147-A177-3AD203B41FA5}">
                      <a16:colId xmlns:a16="http://schemas.microsoft.com/office/drawing/2014/main" val="56904525"/>
                    </a:ext>
                  </a:extLst>
                </a:gridCol>
              </a:tblGrid>
              <a:tr h="332073">
                <a:tc gridSpan="2">
                  <a:txBody>
                    <a:bodyPr/>
                    <a:lstStyle/>
                    <a:p>
                      <a:pPr>
                        <a:buNone/>
                      </a:pPr>
                      <a:r>
                        <a:rPr lang="en-US" sz="1800"/>
                        <a:t>Comparison of Stack and Deque methods</a:t>
                      </a:r>
                    </a:p>
                  </a:txBody>
                  <a:tcPr marL="22860" marR="22860" marT="22860" marB="22860" anchor="ctr">
                    <a:solidFill>
                      <a:srgbClr val="FFFFFF"/>
                    </a:solidFill>
                  </a:tcPr>
                </a:tc>
                <a:tc hMerge="1">
                  <a:txBody>
                    <a:bodyPr/>
                    <a:lstStyle/>
                    <a:p>
                      <a:endParaRPr lang="en-US"/>
                    </a:p>
                  </a:txBody>
                  <a:tcPr/>
                </a:tc>
                <a:extLst>
                  <a:ext uri="{0D108BD9-81ED-4DB2-BD59-A6C34878D82A}">
                    <a16:rowId xmlns:a16="http://schemas.microsoft.com/office/drawing/2014/main" val="1010132233"/>
                  </a:ext>
                </a:extLst>
              </a:tr>
              <a:tr h="332073">
                <a:tc>
                  <a:txBody>
                    <a:bodyPr/>
                    <a:lstStyle/>
                    <a:p>
                      <a:pPr algn="ctr">
                        <a:buNone/>
                      </a:pPr>
                      <a:r>
                        <a:rPr lang="en-US" sz="1800" b="1"/>
                        <a:t>Stack Method</a:t>
                      </a:r>
                      <a:endParaRPr lang="en-US" sz="1800"/>
                    </a:p>
                  </a:txBody>
                  <a:tcPr marL="22860" marR="22860" marT="22860" marB="22860" anchor="ctr">
                    <a:lnL>
                      <a:noFill/>
                    </a:lnL>
                    <a:lnR>
                      <a:noFill/>
                    </a:lnR>
                    <a:lnB>
                      <a:noFill/>
                    </a:lnB>
                    <a:solidFill>
                      <a:srgbClr val="FFFFFF"/>
                    </a:solidFill>
                  </a:tcPr>
                </a:tc>
                <a:tc>
                  <a:txBody>
                    <a:bodyPr/>
                    <a:lstStyle/>
                    <a:p>
                      <a:pPr algn="ctr">
                        <a:buNone/>
                      </a:pPr>
                      <a:r>
                        <a:rPr lang="en-US" sz="1800" b="1"/>
                        <a:t>Equivalent </a:t>
                      </a:r>
                      <a:r>
                        <a:rPr lang="en-US" sz="1800" b="1">
                          <a:effectLst/>
                          <a:latin typeface="DejaVu Sans Mono"/>
                        </a:rPr>
                        <a:t>Deque</a:t>
                      </a:r>
                      <a:r>
                        <a:rPr lang="en-US" sz="1800" b="1"/>
                        <a:t> Method</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298599600"/>
                  </a:ext>
                </a:extLst>
              </a:tr>
              <a:tr h="332073">
                <a:tc>
                  <a:txBody>
                    <a:bodyPr/>
                    <a:lstStyle/>
                    <a:p>
                      <a:pPr>
                        <a:buNone/>
                      </a:pPr>
                      <a:r>
                        <a:rPr lang="en-US" sz="1800" u="none" strike="noStrike">
                          <a:solidFill>
                            <a:srgbClr val="4A6782"/>
                          </a:solidFill>
                          <a:effectLst/>
                          <a:latin typeface="DejaVu Sans Mono"/>
                          <a:hlinkClick r:id="rId3"/>
                        </a:rPr>
                        <a:t>push(e)</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4"/>
                        </a:rPr>
                        <a:t>addFirst(e)</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919197141"/>
                  </a:ext>
                </a:extLst>
              </a:tr>
              <a:tr h="332073">
                <a:tc>
                  <a:txBody>
                    <a:bodyPr/>
                    <a:lstStyle/>
                    <a:p>
                      <a:pPr>
                        <a:buNone/>
                      </a:pPr>
                      <a:r>
                        <a:rPr lang="en-US" sz="1800" u="none" strike="noStrike">
                          <a:solidFill>
                            <a:srgbClr val="4A6782"/>
                          </a:solidFill>
                          <a:effectLst/>
                          <a:latin typeface="DejaVu Sans Mono"/>
                          <a:hlinkClick r:id="rId5"/>
                        </a:rPr>
                        <a:t>pop()</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a:solidFill>
                            <a:srgbClr val="4A6782"/>
                          </a:solidFill>
                          <a:effectLst/>
                          <a:latin typeface="DejaVu Sans Mono"/>
                          <a:hlinkClick r:id="rId6"/>
                        </a:rPr>
                        <a:t>removeFirst()</a:t>
                      </a:r>
                      <a:endParaRPr lang="en-US" sz="180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3069780038"/>
                  </a:ext>
                </a:extLst>
              </a:tr>
              <a:tr h="332073">
                <a:tc>
                  <a:txBody>
                    <a:bodyPr/>
                    <a:lstStyle/>
                    <a:p>
                      <a:pPr>
                        <a:buNone/>
                      </a:pPr>
                      <a:r>
                        <a:rPr lang="en-US" sz="1800" u="none" strike="noStrike">
                          <a:solidFill>
                            <a:srgbClr val="4A6782"/>
                          </a:solidFill>
                          <a:effectLst/>
                          <a:latin typeface="DejaVu Sans Mono"/>
                          <a:hlinkClick r:id="rId7"/>
                        </a:rPr>
                        <a:t>peek()</a:t>
                      </a:r>
                      <a:endParaRPr lang="en-US" sz="1800"/>
                    </a:p>
                  </a:txBody>
                  <a:tcPr marL="22860" marR="22860" marT="22860" marB="22860" anchor="ctr">
                    <a:lnL>
                      <a:noFill/>
                    </a:lnL>
                    <a:lnR>
                      <a:noFill/>
                    </a:lnR>
                    <a:lnT>
                      <a:noFill/>
                    </a:lnT>
                    <a:lnB>
                      <a:noFill/>
                    </a:lnB>
                    <a:solidFill>
                      <a:srgbClr val="FFFFFF"/>
                    </a:solidFill>
                  </a:tcPr>
                </a:tc>
                <a:tc>
                  <a:txBody>
                    <a:bodyPr/>
                    <a:lstStyle/>
                    <a:p>
                      <a:pPr>
                        <a:buNone/>
                      </a:pPr>
                      <a:r>
                        <a:rPr lang="en-US" sz="1800" u="none" strike="noStrike" dirty="0" err="1">
                          <a:solidFill>
                            <a:srgbClr val="4A6782"/>
                          </a:solidFill>
                          <a:effectLst/>
                          <a:latin typeface="DejaVu Sans Mono"/>
                          <a:hlinkClick r:id="rId8"/>
                        </a:rPr>
                        <a:t>peekFirst</a:t>
                      </a:r>
                      <a:r>
                        <a:rPr lang="en-US" sz="1800" u="none" strike="noStrike" dirty="0">
                          <a:solidFill>
                            <a:srgbClr val="4A6782"/>
                          </a:solidFill>
                          <a:effectLst/>
                          <a:latin typeface="DejaVu Sans Mono"/>
                          <a:hlinkClick r:id="rId8"/>
                        </a:rPr>
                        <a:t>()</a:t>
                      </a:r>
                      <a:endParaRPr lang="en-US" sz="1800" dirty="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136354358"/>
                  </a:ext>
                </a:extLst>
              </a:tr>
            </a:tbl>
          </a:graphicData>
        </a:graphic>
      </p:graphicFrame>
      <p:sp>
        <p:nvSpPr>
          <p:cNvPr id="8" name="TextBox 7">
            <a:extLst>
              <a:ext uri="{FF2B5EF4-FFF2-40B4-BE49-F238E27FC236}">
                <a16:creationId xmlns:a16="http://schemas.microsoft.com/office/drawing/2014/main" id="{76946CA2-32AB-1B2A-EA61-6A0E3773986E}"/>
              </a:ext>
            </a:extLst>
          </p:cNvPr>
          <p:cNvSpPr txBox="1"/>
          <p:nvPr/>
        </p:nvSpPr>
        <p:spPr>
          <a:xfrm>
            <a:off x="5234940" y="0"/>
            <a:ext cx="5379720" cy="7176324"/>
          </a:xfrm>
          <a:prstGeom prst="rect">
            <a:avLst/>
          </a:prstGeom>
          <a:noFill/>
        </p:spPr>
        <p:txBody>
          <a:bodyPr wrap="square">
            <a:spAutoFit/>
          </a:bodyPr>
          <a:lstStyle/>
          <a:p>
            <a:pPr algn="l">
              <a:spcBef>
                <a:spcPts val="225"/>
              </a:spcBef>
              <a:spcAft>
                <a:spcPts val="150"/>
              </a:spcAft>
              <a:buNone/>
            </a:pPr>
            <a:r>
              <a:rPr lang="en-US" b="0" i="0" dirty="0">
                <a:solidFill>
                  <a:srgbClr val="474747"/>
                </a:solidFill>
                <a:effectLst/>
                <a:latin typeface="DejaVu Serif"/>
              </a:rPr>
              <a:t>Note that the </a:t>
            </a:r>
            <a:r>
              <a:rPr lang="en-US" b="0" i="0" u="none" strike="noStrike" dirty="0">
                <a:solidFill>
                  <a:srgbClr val="4A6782"/>
                </a:solidFill>
                <a:effectLst/>
                <a:latin typeface="DejaVu Sans Mono"/>
                <a:hlinkClick r:id="rId7"/>
              </a:rPr>
              <a:t>peek</a:t>
            </a:r>
            <a:r>
              <a:rPr lang="en-US" b="0" i="0" dirty="0">
                <a:solidFill>
                  <a:srgbClr val="474747"/>
                </a:solidFill>
                <a:effectLst/>
                <a:latin typeface="DejaVu Serif"/>
              </a:rPr>
              <a:t> method works equally well when a deque is used as a queue or a stack; in either case, elements are drawn from the beginning of the deque.</a:t>
            </a:r>
          </a:p>
          <a:p>
            <a:pPr algn="l">
              <a:spcBef>
                <a:spcPts val="225"/>
              </a:spcBef>
              <a:spcAft>
                <a:spcPts val="150"/>
              </a:spcAft>
              <a:buNone/>
            </a:pPr>
            <a:r>
              <a:rPr lang="en-US" b="0" i="0" dirty="0">
                <a:solidFill>
                  <a:srgbClr val="474747"/>
                </a:solidFill>
                <a:effectLst/>
                <a:latin typeface="DejaVu Serif"/>
              </a:rPr>
              <a:t>This interface provides two methods to remove interior elements, </a:t>
            </a:r>
            <a:r>
              <a:rPr lang="en-US" b="0" i="0" u="none" strike="noStrike" dirty="0" err="1">
                <a:solidFill>
                  <a:srgbClr val="4A6782"/>
                </a:solidFill>
                <a:effectLst/>
                <a:latin typeface="DejaVu Sans Mono"/>
                <a:hlinkClick r:id="rId9"/>
              </a:rPr>
              <a:t>removeFirstOccurrence</a:t>
            </a:r>
            <a:r>
              <a:rPr lang="en-US" b="0" i="0" dirty="0">
                <a:solidFill>
                  <a:srgbClr val="474747"/>
                </a:solidFill>
                <a:effectLst/>
                <a:latin typeface="DejaVu Serif"/>
              </a:rPr>
              <a:t> and </a:t>
            </a:r>
            <a:r>
              <a:rPr lang="en-US" b="0" i="0" u="none" strike="noStrike" dirty="0" err="1">
                <a:solidFill>
                  <a:srgbClr val="4A6782"/>
                </a:solidFill>
                <a:effectLst/>
                <a:latin typeface="DejaVu Sans Mono"/>
                <a:hlinkClick r:id="rId10"/>
              </a:rPr>
              <a:t>removeLastOccurrence</a:t>
            </a:r>
            <a:r>
              <a:rPr lang="en-US" b="0" i="0" dirty="0">
                <a:solidFill>
                  <a:srgbClr val="474747"/>
                </a:solidFill>
                <a:effectLst/>
                <a:latin typeface="DejaVu Serif"/>
              </a:rPr>
              <a:t>.</a:t>
            </a:r>
          </a:p>
          <a:p>
            <a:pPr algn="l">
              <a:spcBef>
                <a:spcPts val="225"/>
              </a:spcBef>
              <a:spcAft>
                <a:spcPts val="150"/>
              </a:spcAft>
              <a:buNone/>
            </a:pPr>
            <a:r>
              <a:rPr lang="en-US" b="0" i="0" dirty="0">
                <a:solidFill>
                  <a:srgbClr val="474747"/>
                </a:solidFill>
                <a:effectLst/>
                <a:latin typeface="DejaVu Serif"/>
              </a:rPr>
              <a:t>Unlike the </a:t>
            </a:r>
            <a:r>
              <a:rPr lang="en-US" b="0" i="0" u="none" strike="noStrike" dirty="0">
                <a:solidFill>
                  <a:srgbClr val="4A6782"/>
                </a:solidFill>
                <a:effectLst/>
                <a:latin typeface="DejaVu Sans Mono"/>
                <a:hlinkClick r:id="rId11" tooltip="interface in java.util"/>
              </a:rPr>
              <a:t>List</a:t>
            </a:r>
            <a:r>
              <a:rPr lang="en-US" b="0" i="0" dirty="0">
                <a:solidFill>
                  <a:srgbClr val="474747"/>
                </a:solidFill>
                <a:effectLst/>
                <a:latin typeface="DejaVu Serif"/>
              </a:rPr>
              <a:t> interface, this interface does not provide support for indexed access to elements.</a:t>
            </a:r>
          </a:p>
          <a:p>
            <a:pPr algn="l">
              <a:spcBef>
                <a:spcPts val="225"/>
              </a:spcBef>
              <a:spcAft>
                <a:spcPts val="150"/>
              </a:spcAft>
              <a:buNone/>
            </a:pPr>
            <a:r>
              <a:rPr lang="en-US" b="0" i="0" dirty="0">
                <a:solidFill>
                  <a:srgbClr val="474747"/>
                </a:solidFill>
                <a:effectLst/>
                <a:latin typeface="DejaVu Serif"/>
              </a:rPr>
              <a:t>While </a:t>
            </a:r>
            <a:r>
              <a:rPr lang="en-US" b="0" i="0" dirty="0">
                <a:solidFill>
                  <a:srgbClr val="474747"/>
                </a:solidFill>
                <a:effectLst/>
                <a:latin typeface="DejaVu Sans Mono"/>
              </a:rPr>
              <a:t>Deque</a:t>
            </a:r>
            <a:r>
              <a:rPr lang="en-US" b="0" i="0" dirty="0">
                <a:solidFill>
                  <a:srgbClr val="474747"/>
                </a:solidFill>
                <a:effectLst/>
                <a:latin typeface="DejaVu Serif"/>
              </a:rPr>
              <a:t> implementations are not strictly required to prohibit the insertion of null elements, they are strongly encouraged to do so. Users of any </a:t>
            </a:r>
            <a:r>
              <a:rPr lang="en-US" b="0" i="0" dirty="0">
                <a:solidFill>
                  <a:srgbClr val="474747"/>
                </a:solidFill>
                <a:effectLst/>
                <a:latin typeface="DejaVu Sans Mono"/>
              </a:rPr>
              <a:t>Deque</a:t>
            </a:r>
            <a:r>
              <a:rPr lang="en-US" b="0" i="0" dirty="0">
                <a:solidFill>
                  <a:srgbClr val="474747"/>
                </a:solidFill>
                <a:effectLst/>
                <a:latin typeface="DejaVu Serif"/>
              </a:rPr>
              <a:t> implementations that do allow null elements are strongly encouraged </a:t>
            </a:r>
            <a:r>
              <a:rPr lang="en-US" b="0" i="1" dirty="0">
                <a:solidFill>
                  <a:srgbClr val="474747"/>
                </a:solidFill>
                <a:effectLst/>
                <a:latin typeface="DejaVu Serif"/>
              </a:rPr>
              <a:t>not</a:t>
            </a:r>
            <a:r>
              <a:rPr lang="en-US" b="0" i="0" dirty="0">
                <a:solidFill>
                  <a:srgbClr val="474747"/>
                </a:solidFill>
                <a:effectLst/>
                <a:latin typeface="DejaVu Serif"/>
              </a:rPr>
              <a:t> to take advantage of the ability to insert nulls. This is so because </a:t>
            </a:r>
            <a:r>
              <a:rPr lang="en-US" b="0" i="0" dirty="0">
                <a:solidFill>
                  <a:srgbClr val="474747"/>
                </a:solidFill>
                <a:effectLst/>
                <a:latin typeface="DejaVu Sans Mono"/>
              </a:rPr>
              <a:t>null</a:t>
            </a:r>
            <a:r>
              <a:rPr lang="en-US" b="0" i="0" dirty="0">
                <a:solidFill>
                  <a:srgbClr val="474747"/>
                </a:solidFill>
                <a:effectLst/>
                <a:latin typeface="DejaVu Serif"/>
              </a:rPr>
              <a:t> is used as a special return value by various methods to indicated that the deque is empty.</a:t>
            </a:r>
          </a:p>
          <a:p>
            <a:pPr algn="l">
              <a:spcBef>
                <a:spcPts val="225"/>
              </a:spcBef>
              <a:spcAft>
                <a:spcPts val="150"/>
              </a:spcAft>
              <a:buNone/>
            </a:pPr>
            <a:r>
              <a:rPr lang="en-US" b="0" i="0" dirty="0">
                <a:solidFill>
                  <a:srgbClr val="474747"/>
                </a:solidFill>
                <a:effectLst/>
                <a:latin typeface="DejaVu Sans Mono"/>
              </a:rPr>
              <a:t>Deque</a:t>
            </a:r>
            <a:r>
              <a:rPr lang="en-US" b="0" i="0" dirty="0">
                <a:solidFill>
                  <a:srgbClr val="474747"/>
                </a:solidFill>
                <a:effectLst/>
                <a:latin typeface="DejaVu Serif"/>
              </a:rPr>
              <a:t> implementations generally do not define element-based versions of the </a:t>
            </a:r>
            <a:r>
              <a:rPr lang="en-US" b="0" i="0" dirty="0">
                <a:solidFill>
                  <a:srgbClr val="474747"/>
                </a:solidFill>
                <a:effectLst/>
                <a:latin typeface="DejaVu Sans Mono"/>
              </a:rPr>
              <a:t>equals</a:t>
            </a:r>
            <a:r>
              <a:rPr lang="en-US" b="0" i="0" dirty="0">
                <a:solidFill>
                  <a:srgbClr val="474747"/>
                </a:solidFill>
                <a:effectLst/>
                <a:latin typeface="DejaVu Serif"/>
              </a:rPr>
              <a:t> and </a:t>
            </a:r>
            <a:r>
              <a:rPr lang="en-US" b="0" i="0" dirty="0" err="1">
                <a:solidFill>
                  <a:srgbClr val="474747"/>
                </a:solidFill>
                <a:effectLst/>
                <a:latin typeface="DejaVu Sans Mono"/>
              </a:rPr>
              <a:t>hashCode</a:t>
            </a:r>
            <a:r>
              <a:rPr lang="en-US" b="0" i="0" dirty="0">
                <a:solidFill>
                  <a:srgbClr val="474747"/>
                </a:solidFill>
                <a:effectLst/>
                <a:latin typeface="DejaVu Serif"/>
              </a:rPr>
              <a:t> methods, but instead inherit the identity-based versions from class </a:t>
            </a:r>
            <a:r>
              <a:rPr lang="en-US" b="0" i="0" dirty="0">
                <a:solidFill>
                  <a:srgbClr val="474747"/>
                </a:solidFill>
                <a:effectLst/>
                <a:latin typeface="DejaVu Sans Mono"/>
              </a:rPr>
              <a:t>Object</a:t>
            </a:r>
            <a:r>
              <a:rPr lang="en-US" b="0" i="0" dirty="0">
                <a:solidFill>
                  <a:srgbClr val="474747"/>
                </a:solidFill>
                <a:effectLst/>
                <a:latin typeface="DejaVu Serif"/>
              </a:rPr>
              <a:t>.</a:t>
            </a:r>
          </a:p>
          <a:p>
            <a:pPr algn="l">
              <a:spcBef>
                <a:spcPts val="225"/>
              </a:spcBef>
              <a:spcAft>
                <a:spcPts val="150"/>
              </a:spcAft>
              <a:buNone/>
            </a:pPr>
            <a:r>
              <a:rPr lang="en-US" b="0" i="0" dirty="0">
                <a:solidFill>
                  <a:srgbClr val="474747"/>
                </a:solidFill>
                <a:effectLst/>
                <a:latin typeface="DejaVu Serif"/>
              </a:rPr>
              <a:t>This interface is a member of the </a:t>
            </a:r>
            <a:r>
              <a:rPr lang="en-US" b="0" i="0" u="none" strike="noStrike" dirty="0">
                <a:solidFill>
                  <a:srgbClr val="4A6782"/>
                </a:solidFill>
                <a:effectLst/>
                <a:latin typeface="DejaVu Serif"/>
                <a:hlinkClick r:id="rId12"/>
              </a:rPr>
              <a:t>Java Collections Framework</a:t>
            </a:r>
            <a:r>
              <a:rPr lang="en-US" b="0" i="0" dirty="0">
                <a:solidFill>
                  <a:srgbClr val="474747"/>
                </a:solidFill>
                <a:effectLst/>
                <a:latin typeface="DejaVu Serif"/>
              </a:rPr>
              <a:t>.</a:t>
            </a:r>
          </a:p>
          <a:p>
            <a:pPr algn="l">
              <a:spcBef>
                <a:spcPts val="750"/>
              </a:spcBef>
              <a:buNone/>
            </a:pPr>
            <a:r>
              <a:rPr lang="en-US" b="1" i="0" dirty="0">
                <a:solidFill>
                  <a:srgbClr val="4E4E4E"/>
                </a:solidFill>
                <a:effectLst/>
                <a:latin typeface="DejaVu Sans"/>
              </a:rPr>
              <a:t>Since:</a:t>
            </a:r>
          </a:p>
          <a:p>
            <a:pPr algn="l">
              <a:spcBef>
                <a:spcPts val="375"/>
              </a:spcBef>
              <a:spcAft>
                <a:spcPts val="750"/>
              </a:spcAft>
              <a:buNone/>
            </a:pPr>
            <a:r>
              <a:rPr lang="en-US" b="0" i="0" dirty="0">
                <a:solidFill>
                  <a:srgbClr val="353833"/>
                </a:solidFill>
                <a:effectLst/>
                <a:latin typeface="DejaVu Sans Mono"/>
              </a:rPr>
              <a:t>1.6</a:t>
            </a:r>
          </a:p>
        </p:txBody>
      </p:sp>
    </p:spTree>
    <p:extLst>
      <p:ext uri="{BB962C8B-B14F-4D97-AF65-F5344CB8AC3E}">
        <p14:creationId xmlns:p14="http://schemas.microsoft.com/office/powerpoint/2010/main" val="1469444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7E25D2-A348-9080-6B13-EA632643DD60}"/>
              </a:ext>
            </a:extLst>
          </p:cNvPr>
          <p:cNvGraphicFramePr>
            <a:graphicFrameLocks noGrp="1"/>
          </p:cNvGraphicFramePr>
          <p:nvPr>
            <p:extLst>
              <p:ext uri="{D42A27DB-BD31-4B8C-83A1-F6EECF244321}">
                <p14:modId xmlns:p14="http://schemas.microsoft.com/office/powerpoint/2010/main" val="3250172614"/>
              </p:ext>
            </p:extLst>
          </p:nvPr>
        </p:nvGraphicFramePr>
        <p:xfrm>
          <a:off x="381000" y="933232"/>
          <a:ext cx="9144000" cy="7248644"/>
        </p:xfrm>
        <a:graphic>
          <a:graphicData uri="http://schemas.openxmlformats.org/drawingml/2006/table">
            <a:tbl>
              <a:tblPr/>
              <a:tblGrid>
                <a:gridCol w="2165941">
                  <a:extLst>
                    <a:ext uri="{9D8B030D-6E8A-4147-A177-3AD203B41FA5}">
                      <a16:colId xmlns:a16="http://schemas.microsoft.com/office/drawing/2014/main" val="2261253803"/>
                    </a:ext>
                  </a:extLst>
                </a:gridCol>
                <a:gridCol w="2958373">
                  <a:extLst>
                    <a:ext uri="{9D8B030D-6E8A-4147-A177-3AD203B41FA5}">
                      <a16:colId xmlns:a16="http://schemas.microsoft.com/office/drawing/2014/main" val="414900746"/>
                    </a:ext>
                  </a:extLst>
                </a:gridCol>
                <a:gridCol w="4019686">
                  <a:extLst>
                    <a:ext uri="{9D8B030D-6E8A-4147-A177-3AD203B41FA5}">
                      <a16:colId xmlns:a16="http://schemas.microsoft.com/office/drawing/2014/main" val="2158228828"/>
                    </a:ext>
                  </a:extLst>
                </a:gridCol>
              </a:tblGrid>
              <a:tr h="33907">
                <a:tc gridSpan="3">
                  <a:txBody>
                    <a:bodyPr/>
                    <a:lstStyle/>
                    <a:p>
                      <a:pPr>
                        <a:buNone/>
                      </a:pPr>
                      <a:r>
                        <a:rPr lang="en-US" sz="900"/>
                        <a:t>All MethodsInstance MethodsAbstract Methods</a:t>
                      </a:r>
                    </a:p>
                  </a:txBody>
                  <a:tcPr marL="2422" marR="2422" marT="2422" marB="2422"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96108836"/>
                  </a:ext>
                </a:extLst>
              </a:tr>
              <a:tr h="67006">
                <a:tc>
                  <a:txBody>
                    <a:bodyPr/>
                    <a:lstStyle/>
                    <a:p>
                      <a:pPr algn="l" fontAlgn="t">
                        <a:buNone/>
                      </a:pPr>
                      <a:r>
                        <a:rPr lang="en-US" sz="900">
                          <a:effectLst/>
                        </a:rPr>
                        <a:t>Modifier and Type</a:t>
                      </a: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900">
                          <a:effectLst/>
                        </a:rPr>
                        <a:t>Method</a:t>
                      </a: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900">
                          <a:effectLst/>
                        </a:rPr>
                        <a:t>Description</a:t>
                      </a: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2617867827"/>
                  </a:ext>
                </a:extLst>
              </a:tr>
              <a:tr h="415759">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
                        </a:rPr>
                        <a:t>add</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into the queue represented by this deque (in other words, at the tail of this deque) if it is possible to do so immediately without violating capacity restrictions, returning </a:t>
                      </a:r>
                      <a:r>
                        <a:rPr lang="en-US" sz="900">
                          <a:solidFill>
                            <a:srgbClr val="474747"/>
                          </a:solidFill>
                          <a:effectLst/>
                          <a:latin typeface="DejaVu Sans Mono"/>
                        </a:rPr>
                        <a:t>true</a:t>
                      </a:r>
                      <a:r>
                        <a:rPr lang="en-US" sz="900">
                          <a:solidFill>
                            <a:srgbClr val="474747"/>
                          </a:solidFill>
                          <a:effectLst/>
                          <a:latin typeface="DejaVu Serif"/>
                        </a:rPr>
                        <a:t> upon success and throwing an </a:t>
                      </a:r>
                      <a:r>
                        <a:rPr lang="en-US" sz="900">
                          <a:solidFill>
                            <a:srgbClr val="474747"/>
                          </a:solidFill>
                          <a:effectLst/>
                          <a:latin typeface="DejaVu Sans Mono"/>
                        </a:rPr>
                        <a:t>IllegalStateException</a:t>
                      </a:r>
                      <a:r>
                        <a:rPr lang="en-US" sz="900">
                          <a:solidFill>
                            <a:srgbClr val="474747"/>
                          </a:solidFill>
                          <a:effectLst/>
                          <a:latin typeface="DejaVu Serif"/>
                        </a:rPr>
                        <a:t> if no space is currently available.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014051726"/>
                  </a:ext>
                </a:extLst>
              </a:tr>
              <a:tr h="270445">
                <a:tc>
                  <a:txBody>
                    <a:bodyPr/>
                    <a:lstStyle/>
                    <a:p>
                      <a:pPr algn="l" fontAlgn="t">
                        <a:buNone/>
                      </a:pPr>
                      <a:r>
                        <a:rPr lang="en-US" sz="900">
                          <a:effectLst/>
                          <a:latin typeface="DejaVu Sans Mono"/>
                        </a:rPr>
                        <a:t>void</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4"/>
                        </a:rPr>
                        <a:t>addFirst</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at the front of this deque if it is possible to do so immediately without violating capacity restrictions, throwing an </a:t>
                      </a:r>
                      <a:r>
                        <a:rPr lang="en-US" sz="900">
                          <a:solidFill>
                            <a:srgbClr val="474747"/>
                          </a:solidFill>
                          <a:effectLst/>
                          <a:latin typeface="DejaVu Sans Mono"/>
                        </a:rPr>
                        <a:t>IllegalStateException</a:t>
                      </a:r>
                      <a:r>
                        <a:rPr lang="en-US" sz="900">
                          <a:solidFill>
                            <a:srgbClr val="474747"/>
                          </a:solidFill>
                          <a:effectLst/>
                          <a:latin typeface="DejaVu Serif"/>
                        </a:rPr>
                        <a:t> if no space is currently available.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523417187"/>
                  </a:ext>
                </a:extLst>
              </a:tr>
              <a:tr h="270445">
                <a:tc>
                  <a:txBody>
                    <a:bodyPr/>
                    <a:lstStyle/>
                    <a:p>
                      <a:pPr algn="l" fontAlgn="t">
                        <a:buNone/>
                      </a:pPr>
                      <a:r>
                        <a:rPr lang="en-US" sz="900">
                          <a:effectLst/>
                          <a:latin typeface="DejaVu Sans Mono"/>
                        </a:rPr>
                        <a:t>void</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5"/>
                        </a:rPr>
                        <a:t>addLast</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at the end of this deque if it is possible to do so immediately without violating capacity restrictions, throwing an </a:t>
                      </a:r>
                      <a:r>
                        <a:rPr lang="en-US" sz="900">
                          <a:solidFill>
                            <a:srgbClr val="474747"/>
                          </a:solidFill>
                          <a:effectLst/>
                          <a:latin typeface="DejaVu Sans Mono"/>
                        </a:rPr>
                        <a:t>IllegalStateException</a:t>
                      </a:r>
                      <a:r>
                        <a:rPr lang="en-US" sz="900">
                          <a:solidFill>
                            <a:srgbClr val="474747"/>
                          </a:solidFill>
                          <a:effectLst/>
                          <a:latin typeface="DejaVu Serif"/>
                        </a:rPr>
                        <a:t> if no space is currently available.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837858786"/>
                  </a:ext>
                </a:extLst>
              </a:tr>
              <a:tr h="96068">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6"/>
                        </a:rPr>
                        <a:t>contains</a:t>
                      </a:r>
                      <a:r>
                        <a:rPr lang="en-US" sz="900" b="0">
                          <a:effectLst/>
                          <a:latin typeface="DejaVu Sans Mono"/>
                        </a:rPr>
                        <a:t>(</a:t>
                      </a:r>
                      <a:r>
                        <a:rPr lang="en-US" sz="900" b="1" u="none" strike="noStrike">
                          <a:solidFill>
                            <a:srgbClr val="4A6782"/>
                          </a:solidFill>
                          <a:effectLst/>
                          <a:latin typeface="DejaVu Sans Mono"/>
                          <a:hlinkClick r:id="rId7" tooltip="class in java.lang"/>
                        </a:rPr>
                        <a:t>Object</a:t>
                      </a:r>
                      <a:r>
                        <a:rPr lang="en-US" sz="900" b="0">
                          <a:effectLst/>
                          <a:latin typeface="DejaVu Sans Mono"/>
                        </a:rPr>
                        <a:t> o)</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Returns </a:t>
                      </a:r>
                      <a:r>
                        <a:rPr lang="en-US" sz="900">
                          <a:solidFill>
                            <a:srgbClr val="474747"/>
                          </a:solidFill>
                          <a:effectLst/>
                          <a:latin typeface="DejaVu Sans Mono"/>
                        </a:rPr>
                        <a:t>true</a:t>
                      </a:r>
                      <a:r>
                        <a:rPr lang="en-US" sz="900">
                          <a:solidFill>
                            <a:srgbClr val="474747"/>
                          </a:solidFill>
                          <a:effectLst/>
                          <a:latin typeface="DejaVu Serif"/>
                        </a:rPr>
                        <a:t> if this deque contains the specified element.</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346175282"/>
                  </a:ext>
                </a:extLst>
              </a:tr>
              <a:tr h="96068">
                <a:tc>
                  <a:txBody>
                    <a:bodyPr/>
                    <a:lstStyle/>
                    <a:p>
                      <a:pPr algn="l" fontAlgn="t">
                        <a:buNone/>
                      </a:pPr>
                      <a:r>
                        <a:rPr lang="en-US" sz="900" b="1" u="none" strike="noStrike">
                          <a:solidFill>
                            <a:srgbClr val="4A6782"/>
                          </a:solidFill>
                          <a:effectLst/>
                          <a:latin typeface="DejaVu Sans Mono"/>
                          <a:hlinkClick r:id="rId8" tooltip="interface in java.util"/>
                        </a:rPr>
                        <a:t>Iterator</a:t>
                      </a:r>
                      <a:r>
                        <a:rPr lang="en-US" sz="900">
                          <a:effectLst/>
                          <a:latin typeface="DejaVu Sans Mono"/>
                        </a:rPr>
                        <a:t>&lt;</a:t>
                      </a:r>
                      <a:r>
                        <a:rPr lang="en-US" sz="900" b="1" u="none" strike="noStrike">
                          <a:solidFill>
                            <a:srgbClr val="4A6782"/>
                          </a:solidFill>
                          <a:effectLst/>
                          <a:latin typeface="DejaVu Sans Mono"/>
                          <a:hlinkClick r:id="rId3" tooltip="type parameter in Deque"/>
                        </a:rPr>
                        <a:t>E</a:t>
                      </a:r>
                      <a:r>
                        <a:rPr lang="en-US" sz="900">
                          <a:effectLst/>
                          <a:latin typeface="DejaVu Sans Mono"/>
                        </a:rPr>
                        <a:t>&gt;</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9"/>
                        </a:rPr>
                        <a:t>descendingIterator</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Returns an iterator over the elements in this deque in reverse sequential order.</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568099898"/>
                  </a:ext>
                </a:extLst>
              </a:tr>
              <a:tr h="154194">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10"/>
                        </a:rPr>
                        <a:t>element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head of the queue represented by this deque (in other words, the first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488204410"/>
                  </a:ext>
                </a:extLst>
              </a:tr>
              <a:tr h="96068">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11"/>
                        </a:rPr>
                        <a:t>getFirst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first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57419998"/>
                  </a:ext>
                </a:extLst>
              </a:tr>
              <a:tr h="96068">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12"/>
                        </a:rPr>
                        <a:t>getLast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last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801093938"/>
                  </a:ext>
                </a:extLst>
              </a:tr>
              <a:tr h="96068">
                <a:tc>
                  <a:txBody>
                    <a:bodyPr/>
                    <a:lstStyle/>
                    <a:p>
                      <a:pPr algn="l" fontAlgn="t">
                        <a:buNone/>
                      </a:pPr>
                      <a:r>
                        <a:rPr lang="en-US" sz="900" b="1" u="none" strike="noStrike">
                          <a:solidFill>
                            <a:srgbClr val="4A6782"/>
                          </a:solidFill>
                          <a:effectLst/>
                          <a:latin typeface="DejaVu Sans Mono"/>
                          <a:hlinkClick r:id="rId8" tooltip="interface in java.util"/>
                        </a:rPr>
                        <a:t>Iterator</a:t>
                      </a:r>
                      <a:r>
                        <a:rPr lang="en-US" sz="900">
                          <a:effectLst/>
                          <a:latin typeface="DejaVu Sans Mono"/>
                        </a:rPr>
                        <a:t>&lt;</a:t>
                      </a:r>
                      <a:r>
                        <a:rPr lang="en-US" sz="900" b="1" u="none" strike="noStrike">
                          <a:solidFill>
                            <a:srgbClr val="4A6782"/>
                          </a:solidFill>
                          <a:effectLst/>
                          <a:latin typeface="DejaVu Sans Mono"/>
                          <a:hlinkClick r:id="rId3" tooltip="type parameter in Deque"/>
                        </a:rPr>
                        <a:t>E</a:t>
                      </a:r>
                      <a:r>
                        <a:rPr lang="en-US" sz="900">
                          <a:effectLst/>
                          <a:latin typeface="DejaVu Sans Mono"/>
                        </a:rPr>
                        <a:t>&gt;</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13"/>
                        </a:rPr>
                        <a:t>iterator</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Returns an iterator over the elements in this deque in proper sequence.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36739187"/>
                  </a:ext>
                </a:extLst>
              </a:tr>
              <a:tr h="357633">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14"/>
                        </a:rPr>
                        <a:t>offer</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into the queue represented by this deque (in other words, at the tail of this deque) if it is possible to do so immediately without violating capacity restrictions, returning </a:t>
                      </a:r>
                      <a:r>
                        <a:rPr lang="en-US" sz="900">
                          <a:solidFill>
                            <a:srgbClr val="474747"/>
                          </a:solidFill>
                          <a:effectLst/>
                          <a:latin typeface="DejaVu Sans Mono"/>
                        </a:rPr>
                        <a:t>true</a:t>
                      </a:r>
                      <a:r>
                        <a:rPr lang="en-US" sz="900">
                          <a:solidFill>
                            <a:srgbClr val="474747"/>
                          </a:solidFill>
                          <a:effectLst/>
                          <a:latin typeface="DejaVu Serif"/>
                        </a:rPr>
                        <a:t> upon success and </a:t>
                      </a:r>
                      <a:r>
                        <a:rPr lang="en-US" sz="900">
                          <a:solidFill>
                            <a:srgbClr val="474747"/>
                          </a:solidFill>
                          <a:effectLst/>
                          <a:latin typeface="DejaVu Sans Mono"/>
                        </a:rPr>
                        <a:t>false</a:t>
                      </a:r>
                      <a:r>
                        <a:rPr lang="en-US" sz="900">
                          <a:solidFill>
                            <a:srgbClr val="474747"/>
                          </a:solidFill>
                          <a:effectLst/>
                          <a:latin typeface="DejaVu Serif"/>
                        </a:rPr>
                        <a:t> if no space is currently available.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705571257"/>
                  </a:ext>
                </a:extLst>
              </a:tr>
              <a:tr h="125131">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15"/>
                        </a:rPr>
                        <a:t>offerFirst</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at the front of this deque unless it would violate capacity restrictions.</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63000102"/>
                  </a:ext>
                </a:extLst>
              </a:tr>
              <a:tr h="125131">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16"/>
                        </a:rPr>
                        <a:t>offerLast</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Inserts the specified element at the end of this deque unless it would violate capacity restrictions.</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012929854"/>
                  </a:ext>
                </a:extLst>
              </a:tr>
              <a:tr h="212319">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17"/>
                        </a:rPr>
                        <a:t>peek</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head of the queue represented by this deque (in other words, the first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311143021"/>
                  </a:ext>
                </a:extLst>
              </a:tr>
              <a:tr h="154194">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18"/>
                        </a:rPr>
                        <a:t>peekFirst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first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82732037"/>
                  </a:ext>
                </a:extLst>
              </a:tr>
              <a:tr h="154194">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19"/>
                        </a:rPr>
                        <a:t>peekLast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but does not remove, the last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242906830"/>
                  </a:ext>
                </a:extLst>
              </a:tr>
              <a:tr h="212319">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20"/>
                        </a:rPr>
                        <a:t>poll</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head of the queue represented by this deque (in other words, the first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587061485"/>
                  </a:ext>
                </a:extLst>
              </a:tr>
              <a:tr h="125131">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1"/>
                        </a:rPr>
                        <a:t>pollFirst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first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496919509"/>
                  </a:ext>
                </a:extLst>
              </a:tr>
              <a:tr h="125131">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22"/>
                        </a:rPr>
                        <a:t>pollLast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last element of this deque, or returns </a:t>
                      </a:r>
                      <a:r>
                        <a:rPr lang="en-US" sz="900">
                          <a:solidFill>
                            <a:srgbClr val="474747"/>
                          </a:solidFill>
                          <a:effectLst/>
                          <a:latin typeface="DejaVu Sans Mono"/>
                        </a:rPr>
                        <a:t>null</a:t>
                      </a:r>
                      <a:r>
                        <a:rPr lang="en-US" sz="900">
                          <a:solidFill>
                            <a:srgbClr val="474747"/>
                          </a:solidFill>
                          <a:effectLst/>
                          <a:latin typeface="DejaVu Serif"/>
                        </a:rPr>
                        <a:t> if this deque is empty.</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752072326"/>
                  </a:ext>
                </a:extLst>
              </a:tr>
              <a:tr h="96068">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3"/>
                        </a:rPr>
                        <a:t>pop</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Pops an element from the stack represented by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925590031"/>
                  </a:ext>
                </a:extLst>
              </a:tr>
              <a:tr h="328570">
                <a:tc>
                  <a:txBody>
                    <a:bodyPr/>
                    <a:lstStyle/>
                    <a:p>
                      <a:pPr algn="l" fontAlgn="t">
                        <a:buNone/>
                      </a:pPr>
                      <a:r>
                        <a:rPr lang="en-US" sz="900">
                          <a:effectLst/>
                          <a:latin typeface="DejaVu Sans Mono"/>
                        </a:rPr>
                        <a:t>void</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24"/>
                        </a:rPr>
                        <a:t>push</a:t>
                      </a:r>
                      <a:r>
                        <a:rPr lang="en-US" sz="900" b="0">
                          <a:effectLst/>
                          <a:latin typeface="DejaVu Sans Mono"/>
                        </a:rPr>
                        <a:t>(</a:t>
                      </a:r>
                      <a:r>
                        <a:rPr lang="en-US" sz="900" b="1" u="none" strike="noStrike">
                          <a:solidFill>
                            <a:srgbClr val="4A6782"/>
                          </a:solidFill>
                          <a:effectLst/>
                          <a:latin typeface="DejaVu Sans Mono"/>
                          <a:hlinkClick r:id="rId3" tooltip="type parameter in Deque"/>
                        </a:rPr>
                        <a:t>E</a:t>
                      </a:r>
                      <a:r>
                        <a:rPr lang="en-US" sz="900" b="0">
                          <a:effectLst/>
                          <a:latin typeface="DejaVu Sans Mono"/>
                        </a:rPr>
                        <a:t> e)</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Pushes an element onto the stack represented by this deque (in other words, at the head of this deque) if it is possible to do so immediately without violating capacity restrictions, throwing an </a:t>
                      </a:r>
                      <a:r>
                        <a:rPr lang="en-US" sz="900">
                          <a:solidFill>
                            <a:srgbClr val="474747"/>
                          </a:solidFill>
                          <a:effectLst/>
                          <a:latin typeface="DejaVu Sans Mono"/>
                        </a:rPr>
                        <a:t>IllegalStateException</a:t>
                      </a:r>
                      <a:r>
                        <a:rPr lang="en-US" sz="900">
                          <a:solidFill>
                            <a:srgbClr val="474747"/>
                          </a:solidFill>
                          <a:effectLst/>
                          <a:latin typeface="DejaVu Serif"/>
                        </a:rPr>
                        <a:t> if no space is currently available.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474796918"/>
                  </a:ext>
                </a:extLst>
              </a:tr>
              <a:tr h="154194">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5"/>
                        </a:rPr>
                        <a:t>remove</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head of the queue represented by this deque (in other words, the first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55430894"/>
                  </a:ext>
                </a:extLst>
              </a:tr>
              <a:tr h="96068">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26"/>
                        </a:rPr>
                        <a:t>remove</a:t>
                      </a:r>
                      <a:r>
                        <a:rPr lang="en-US" sz="900" b="0">
                          <a:effectLst/>
                          <a:latin typeface="DejaVu Sans Mono"/>
                        </a:rPr>
                        <a:t>(</a:t>
                      </a:r>
                      <a:r>
                        <a:rPr lang="en-US" sz="900" b="1" u="none" strike="noStrike">
                          <a:solidFill>
                            <a:srgbClr val="4A6782"/>
                          </a:solidFill>
                          <a:effectLst/>
                          <a:latin typeface="DejaVu Sans Mono"/>
                          <a:hlinkClick r:id="rId7" tooltip="class in java.lang"/>
                        </a:rPr>
                        <a:t>Object</a:t>
                      </a:r>
                      <a:r>
                        <a:rPr lang="en-US" sz="900" b="0">
                          <a:effectLst/>
                          <a:latin typeface="DejaVu Sans Mono"/>
                        </a:rPr>
                        <a:t> o)</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Removes the first occurrence of the specified element from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528795849"/>
                  </a:ext>
                </a:extLst>
              </a:tr>
              <a:tr h="67006">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7"/>
                        </a:rPr>
                        <a:t>removeFirst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first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618304072"/>
                  </a:ext>
                </a:extLst>
              </a:tr>
              <a:tr h="96068">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28"/>
                        </a:rPr>
                        <a:t>removeFirstOccurrence</a:t>
                      </a:r>
                      <a:r>
                        <a:rPr lang="en-US" sz="900" b="0">
                          <a:effectLst/>
                          <a:latin typeface="DejaVu Sans Mono"/>
                        </a:rPr>
                        <a:t>(</a:t>
                      </a:r>
                      <a:r>
                        <a:rPr lang="en-US" sz="900" b="1" u="none" strike="noStrike">
                          <a:solidFill>
                            <a:srgbClr val="4A6782"/>
                          </a:solidFill>
                          <a:effectLst/>
                          <a:latin typeface="DejaVu Sans Mono"/>
                          <a:hlinkClick r:id="rId7" tooltip="class in java.lang"/>
                        </a:rPr>
                        <a:t>Object</a:t>
                      </a:r>
                      <a:r>
                        <a:rPr lang="en-US" sz="900" b="0">
                          <a:effectLst/>
                          <a:latin typeface="DejaVu Sans Mono"/>
                        </a:rPr>
                        <a:t> o)</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Removes the first occurrence of the specified element from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681936003"/>
                  </a:ext>
                </a:extLst>
              </a:tr>
              <a:tr h="67006">
                <a:tc>
                  <a:txBody>
                    <a:bodyPr/>
                    <a:lstStyle/>
                    <a:p>
                      <a:pPr algn="l" fontAlgn="t">
                        <a:buNone/>
                      </a:pPr>
                      <a:r>
                        <a:rPr lang="en-US" sz="900" b="1" u="none" strike="noStrike">
                          <a:solidFill>
                            <a:srgbClr val="4A6782"/>
                          </a:solidFill>
                          <a:effectLst/>
                          <a:latin typeface="DejaVu Sans Mono"/>
                          <a:hlinkClick r:id="rId3" tooltip="type parameter in Deque"/>
                        </a:rPr>
                        <a:t>E</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29"/>
                        </a:rPr>
                        <a:t>removeLast</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a:solidFill>
                            <a:srgbClr val="474747"/>
                          </a:solidFill>
                          <a:effectLst/>
                          <a:latin typeface="DejaVu Serif"/>
                        </a:rPr>
                        <a:t>Retrieves and removes the last element of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243815826"/>
                  </a:ext>
                </a:extLst>
              </a:tr>
              <a:tr h="96068">
                <a:tc>
                  <a:txBody>
                    <a:bodyPr/>
                    <a:lstStyle/>
                    <a:p>
                      <a:pPr algn="l" fontAlgn="t">
                        <a:buNone/>
                      </a:pPr>
                      <a:r>
                        <a:rPr lang="en-US" sz="900">
                          <a:effectLst/>
                          <a:latin typeface="DejaVu Sans Mono"/>
                        </a:rPr>
                        <a:t>boolean</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900" b="1" u="none" strike="noStrike">
                          <a:solidFill>
                            <a:srgbClr val="4A6782"/>
                          </a:solidFill>
                          <a:effectLst/>
                          <a:latin typeface="DejaVu Sans Mono"/>
                          <a:hlinkClick r:id="rId30"/>
                        </a:rPr>
                        <a:t>removeLastOccurrence</a:t>
                      </a:r>
                      <a:r>
                        <a:rPr lang="en-US" sz="900" b="0">
                          <a:effectLst/>
                          <a:latin typeface="DejaVu Sans Mono"/>
                        </a:rPr>
                        <a:t>(</a:t>
                      </a:r>
                      <a:r>
                        <a:rPr lang="en-US" sz="900" b="1" u="none" strike="noStrike">
                          <a:solidFill>
                            <a:srgbClr val="4A6782"/>
                          </a:solidFill>
                          <a:effectLst/>
                          <a:latin typeface="DejaVu Sans Mono"/>
                          <a:hlinkClick r:id="rId7" tooltip="class in java.lang"/>
                        </a:rPr>
                        <a:t>Object</a:t>
                      </a:r>
                      <a:r>
                        <a:rPr lang="en-US" sz="900" b="0">
                          <a:effectLst/>
                          <a:latin typeface="DejaVu Sans Mono"/>
                        </a:rPr>
                        <a:t> o)</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900">
                          <a:solidFill>
                            <a:srgbClr val="474747"/>
                          </a:solidFill>
                          <a:effectLst/>
                          <a:latin typeface="DejaVu Serif"/>
                        </a:rPr>
                        <a:t>Removes the last occurrence of the specified element from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854424844"/>
                  </a:ext>
                </a:extLst>
              </a:tr>
              <a:tr h="67006">
                <a:tc>
                  <a:txBody>
                    <a:bodyPr/>
                    <a:lstStyle/>
                    <a:p>
                      <a:pPr algn="l" fontAlgn="t">
                        <a:buNone/>
                      </a:pPr>
                      <a:r>
                        <a:rPr lang="en-US" sz="900">
                          <a:effectLst/>
                          <a:latin typeface="DejaVu Sans Mono"/>
                        </a:rPr>
                        <a:t>int</a:t>
                      </a:r>
                      <a:endParaRPr lang="en-US" sz="900">
                        <a:effectLst/>
                      </a:endParaRP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900" b="1" u="none" strike="noStrike">
                          <a:solidFill>
                            <a:srgbClr val="4A6782"/>
                          </a:solidFill>
                          <a:effectLst/>
                          <a:latin typeface="DejaVu Sans Mono"/>
                          <a:hlinkClick r:id="rId31"/>
                        </a:rPr>
                        <a:t>size</a:t>
                      </a:r>
                      <a:r>
                        <a:rPr lang="en-US" sz="900" b="0">
                          <a:effectLst/>
                          <a:latin typeface="DejaVu Sans Mono"/>
                        </a:rPr>
                        <a:t>()</a:t>
                      </a:r>
                      <a:endParaRPr lang="en-US" sz="900" b="0">
                        <a:effectLst/>
                      </a:endParaRPr>
                    </a:p>
                  </a:txBody>
                  <a:tcPr marL="5651"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900" dirty="0">
                          <a:solidFill>
                            <a:srgbClr val="474747"/>
                          </a:solidFill>
                          <a:effectLst/>
                          <a:latin typeface="DejaVu Serif"/>
                        </a:rPr>
                        <a:t>Returns the number of elements in this deque.</a:t>
                      </a:r>
                    </a:p>
                  </a:txBody>
                  <a:tcPr marL="8073" marR="2422" marT="6458" marB="24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791170872"/>
                  </a:ext>
                </a:extLst>
              </a:tr>
            </a:tbl>
          </a:graphicData>
        </a:graphic>
      </p:graphicFrame>
      <p:sp>
        <p:nvSpPr>
          <p:cNvPr id="5" name="Rectangle 1">
            <a:extLst>
              <a:ext uri="{FF2B5EF4-FFF2-40B4-BE49-F238E27FC236}">
                <a16:creationId xmlns:a16="http://schemas.microsoft.com/office/drawing/2014/main" id="{85D54844-35F1-0FFF-1E26-ED09A7823686}"/>
              </a:ext>
            </a:extLst>
          </p:cNvPr>
          <p:cNvSpPr>
            <a:spLocks noChangeArrowheads="1"/>
          </p:cNvSpPr>
          <p:nvPr/>
        </p:nvSpPr>
        <p:spPr bwMode="auto">
          <a:xfrm>
            <a:off x="512763" y="200119"/>
            <a:ext cx="2794317" cy="609095"/>
          </a:xfrm>
          <a:prstGeom prst="rect">
            <a:avLst/>
          </a:prstGeom>
          <a:solidFill>
            <a:srgbClr val="4D7A9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952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cap="none" normalizeH="0" baseline="0">
                <a:ln>
                  <a:noFill/>
                </a:ln>
                <a:solidFill>
                  <a:srgbClr val="353833"/>
                </a:solidFill>
                <a:effectLst/>
                <a:latin typeface="DejaVu Sans"/>
              </a:rPr>
              <a:t>Method Summary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3615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0A54C0-8C44-F11F-110F-ADE91D9F8EA6}"/>
              </a:ext>
            </a:extLst>
          </p:cNvPr>
          <p:cNvSpPr txBox="1"/>
          <p:nvPr/>
        </p:nvSpPr>
        <p:spPr>
          <a:xfrm>
            <a:off x="1303020" y="1024838"/>
            <a:ext cx="4953000" cy="3162404"/>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java.util.</a:t>
            </a:r>
            <a:r>
              <a:rPr lang="en-US" b="1" i="0" u="none" strike="noStrike" dirty="0" err="1">
                <a:solidFill>
                  <a:srgbClr val="4A6782"/>
                </a:solidFill>
                <a:effectLst/>
                <a:latin typeface="DejaVu Sans"/>
                <a:hlinkClick r:id="rId2" tooltip="interface in java.util"/>
              </a:rPr>
              <a:t>Collection</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3"/>
              </a:rPr>
              <a:t>addAll</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4"/>
              </a:rPr>
              <a:t>clear</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
              </a:rPr>
              <a:t>containsAll</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6"/>
              </a:rPr>
              <a:t>equals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7"/>
              </a:rPr>
              <a:t>hashCode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8"/>
              </a:rPr>
              <a:t>isEmpty</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9"/>
              </a:rPr>
              <a:t>parallelStream</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0"/>
              </a:rPr>
              <a:t>removeAll</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1"/>
              </a:rPr>
              <a:t>removeIf</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2"/>
              </a:rPr>
              <a:t>retainAll</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3"/>
              </a:rPr>
              <a:t>spliterator</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4"/>
              </a:rPr>
              <a:t>stream</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5"/>
              </a:rPr>
              <a:t>toArray</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6"/>
              </a:rPr>
              <a:t>toArray</a:t>
            </a:r>
            <a:endParaRPr lang="en-US" b="0" i="0" dirty="0">
              <a:solidFill>
                <a:srgbClr val="353833"/>
              </a:solidFill>
              <a:effectLst/>
              <a:latin typeface="DejaVu Sans"/>
            </a:endParaRP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java.lang.</a:t>
            </a:r>
            <a:r>
              <a:rPr lang="en-US" b="1" i="0" u="none" strike="noStrike" dirty="0" err="1">
                <a:solidFill>
                  <a:srgbClr val="4A6782"/>
                </a:solidFill>
                <a:effectLst/>
                <a:latin typeface="DejaVu Sans"/>
                <a:hlinkClick r:id="rId17" tooltip="interface in java.lang"/>
              </a:rPr>
              <a:t>Iterable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18"/>
              </a:rPr>
              <a:t>forEach</a:t>
            </a:r>
            <a:endParaRPr lang="en-US" b="0" i="0" dirty="0">
              <a:solidFill>
                <a:srgbClr val="353833"/>
              </a:solidFill>
              <a:effectLst/>
              <a:latin typeface="DejaVu Sans"/>
            </a:endParaRPr>
          </a:p>
        </p:txBody>
      </p:sp>
    </p:spTree>
    <p:extLst>
      <p:ext uri="{BB962C8B-B14F-4D97-AF65-F5344CB8AC3E}">
        <p14:creationId xmlns:p14="http://schemas.microsoft.com/office/powerpoint/2010/main" val="2645124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9890BE-8206-3A3A-D51E-CA8369B4DD47}"/>
              </a:ext>
            </a:extLst>
          </p:cNvPr>
          <p:cNvSpPr txBox="1"/>
          <p:nvPr/>
        </p:nvSpPr>
        <p:spPr>
          <a:xfrm>
            <a:off x="-152400" y="-836270"/>
            <a:ext cx="2849880" cy="12408525"/>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a:solidFill>
                  <a:srgbClr val="353833"/>
                </a:solidFill>
                <a:effectLst/>
                <a:latin typeface="DejaVu Sans"/>
              </a:rPr>
              <a:t>addFirst</a:t>
            </a:r>
          </a:p>
          <a:p>
            <a:pPr algn="l">
              <a:spcBef>
                <a:spcPts val="750"/>
              </a:spcBef>
              <a:spcAft>
                <a:spcPts val="1125"/>
              </a:spcAft>
              <a:buFont typeface="Arial" panose="020B0604020202020204" pitchFamily="34" charset="0"/>
              <a:buChar char="•"/>
            </a:pPr>
            <a:r>
              <a:rPr lang="en-US" b="0" i="0">
                <a:solidFill>
                  <a:srgbClr val="353833"/>
                </a:solidFill>
                <a:effectLst/>
                <a:latin typeface="DejaVu Sans Mono"/>
              </a:rPr>
              <a:t>void addFirst(</a:t>
            </a:r>
            <a:r>
              <a:rPr lang="en-US" b="0" i="0" u="none" strike="noStrike">
                <a:solidFill>
                  <a:srgbClr val="4A6782"/>
                </a:solidFill>
                <a:effectLst/>
                <a:latin typeface="DejaVu Sans Mono"/>
                <a:hlinkClick r:id="rId2" tooltip="type parameter in Deque"/>
              </a:rPr>
              <a:t>E</a:t>
            </a:r>
            <a:r>
              <a:rPr lang="en-US" b="0" i="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a:solidFill>
                  <a:srgbClr val="474747"/>
                </a:solidFill>
                <a:effectLst/>
                <a:latin typeface="DejaVu Serif"/>
              </a:rPr>
              <a:t>Inserts the specified element at the front of this deque if it is possible to do so immediately without violating capacity restrictions, throwing an </a:t>
            </a:r>
            <a:r>
              <a:rPr lang="en-US" b="0" i="0">
                <a:solidFill>
                  <a:srgbClr val="474747"/>
                </a:solidFill>
                <a:effectLst/>
                <a:latin typeface="DejaVu Sans Mono"/>
              </a:rPr>
              <a:t>IllegalStateException</a:t>
            </a:r>
            <a:r>
              <a:rPr lang="en-US" b="0" i="0">
                <a:solidFill>
                  <a:srgbClr val="474747"/>
                </a:solidFill>
                <a:effectLst/>
                <a:latin typeface="DejaVu Serif"/>
              </a:rPr>
              <a:t> if no space is currently available. When using a capacity-restricted deque, it is generally preferable to use method </a:t>
            </a:r>
            <a:r>
              <a:rPr lang="en-US" b="0" i="0" u="none" strike="noStrike">
                <a:solidFill>
                  <a:srgbClr val="4A6782"/>
                </a:solidFill>
                <a:effectLst/>
                <a:latin typeface="DejaVu Sans Mono"/>
                <a:hlinkClick r:id="rId3"/>
              </a:rPr>
              <a:t>offerFirst(E)</a:t>
            </a:r>
            <a:r>
              <a:rPr lang="en-US" b="0" i="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4" tooltip="class in java.lang"/>
              </a:rPr>
              <a:t>IllegalStateException</a:t>
            </a:r>
            <a:r>
              <a:rPr lang="en-US" b="0" i="0">
                <a:solidFill>
                  <a:srgbClr val="353833"/>
                </a:solidFill>
                <a:effectLst/>
                <a:latin typeface="DejaVu Sans Mono"/>
              </a:rPr>
              <a:t> - if the element cannot be added at this time due to capacity restrictions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5" tooltip="class in java.lang"/>
              </a:rPr>
              <a:t>ClassCastException</a:t>
            </a:r>
            <a:r>
              <a:rPr lang="en-US" b="0" i="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6" tooltip="class in java.lang"/>
              </a:rPr>
              <a:t>NullPointerException</a:t>
            </a:r>
            <a:r>
              <a:rPr lang="en-US" b="0" i="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a:solidFill>
                  <a:srgbClr val="4A6782"/>
                </a:solidFill>
                <a:effectLst/>
                <a:latin typeface="DejaVu Sans Mono"/>
                <a:hlinkClick r:id="rId7" tooltip="class in java.lang"/>
              </a:rPr>
              <a:t>IllegalArgumentException</a:t>
            </a:r>
            <a:r>
              <a:rPr lang="en-US" b="0" i="0">
                <a:solidFill>
                  <a:srgbClr val="353833"/>
                </a:solidFill>
                <a:effectLst/>
                <a:latin typeface="DejaVu Sans Mono"/>
              </a:rPr>
              <a:t> - if some property of the specified element prevents it from being added to this deque</a:t>
            </a:r>
            <a:endParaRPr lang="en-US" b="0" i="0" dirty="0">
              <a:solidFill>
                <a:srgbClr val="353833"/>
              </a:solidFill>
              <a:effectLst/>
              <a:latin typeface="DejaVu Sans Mono"/>
            </a:endParaRPr>
          </a:p>
        </p:txBody>
      </p:sp>
      <p:sp>
        <p:nvSpPr>
          <p:cNvPr id="7" name="TextBox 6">
            <a:extLst>
              <a:ext uri="{FF2B5EF4-FFF2-40B4-BE49-F238E27FC236}">
                <a16:creationId xmlns:a16="http://schemas.microsoft.com/office/drawing/2014/main" id="{CE811A01-62B6-8FF7-381E-CCA9F7654D4F}"/>
              </a:ext>
            </a:extLst>
          </p:cNvPr>
          <p:cNvSpPr txBox="1"/>
          <p:nvPr/>
        </p:nvSpPr>
        <p:spPr>
          <a:xfrm>
            <a:off x="2419350" y="-836270"/>
            <a:ext cx="3387090" cy="11074827"/>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addLast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void </a:t>
            </a:r>
            <a:r>
              <a:rPr lang="en-US" b="0" i="0" dirty="0" err="1">
                <a:solidFill>
                  <a:srgbClr val="353833"/>
                </a:solidFill>
                <a:effectLst/>
                <a:latin typeface="DejaVu Sans Mono"/>
              </a:rPr>
              <a:t>addLast</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at the end of this deque if it is possible to do so immediately without violating capacity restrictions, throwing an </a:t>
            </a:r>
            <a:r>
              <a:rPr lang="en-US" b="0" i="0" dirty="0" err="1">
                <a:solidFill>
                  <a:srgbClr val="474747"/>
                </a:solidFill>
                <a:effectLst/>
                <a:latin typeface="DejaVu Sans Mono"/>
              </a:rPr>
              <a:t>IllegalStateException</a:t>
            </a:r>
            <a:r>
              <a:rPr lang="en-US" b="0" i="0" dirty="0">
                <a:solidFill>
                  <a:srgbClr val="474747"/>
                </a:solidFill>
                <a:effectLst/>
                <a:latin typeface="DejaVu Serif"/>
              </a:rPr>
              <a:t> if no space is currently available. When using a capacity-restricted deque, it is generally preferable to use method </a:t>
            </a:r>
            <a:r>
              <a:rPr lang="en-US" b="0" i="0" u="none" strike="noStrike" dirty="0" err="1">
                <a:solidFill>
                  <a:srgbClr val="4A6782"/>
                </a:solidFill>
                <a:effectLst/>
                <a:latin typeface="DejaVu Sans Mono"/>
                <a:hlinkClick r:id="rId8"/>
              </a:rPr>
              <a:t>offerLast</a:t>
            </a:r>
            <a:r>
              <a:rPr lang="en-US" b="0" i="0" u="none" strike="noStrike" dirty="0">
                <a:solidFill>
                  <a:srgbClr val="4A6782"/>
                </a:solidFill>
                <a:effectLst/>
                <a:latin typeface="DejaVu Sans Mono"/>
                <a:hlinkClick r:id="rId8"/>
              </a:rPr>
              <a:t>(E)</a:t>
            </a:r>
            <a:r>
              <a:rPr lang="en-US" b="0" i="0" dirty="0">
                <a:solidFill>
                  <a:srgbClr val="474747"/>
                </a:solidFill>
                <a:effectLst/>
                <a:latin typeface="DejaVu Serif"/>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a:solidFill>
                  <a:srgbClr val="4A6782"/>
                </a:solidFill>
                <a:effectLst/>
                <a:latin typeface="DejaVu Sans Mono"/>
                <a:hlinkClick r:id="rId9"/>
              </a:rPr>
              <a:t>add(E)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IllegalStateException</a:t>
            </a:r>
            <a:r>
              <a:rPr lang="en-US" b="0" i="0" dirty="0">
                <a:solidFill>
                  <a:srgbClr val="353833"/>
                </a:solidFill>
                <a:effectLst/>
                <a:latin typeface="DejaVu Sans Mono"/>
              </a:rPr>
              <a:t> - if the element cannot be added at this time due to capacity restrictions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IllegalArgumentException</a:t>
            </a:r>
            <a:r>
              <a:rPr lang="en-US" b="0" i="0" dirty="0">
                <a:solidFill>
                  <a:srgbClr val="353833"/>
                </a:solidFill>
                <a:effectLst/>
                <a:latin typeface="DejaVu Sans Mono"/>
              </a:rPr>
              <a:t> - if some property of the specified element prevents it from being added to this deque</a:t>
            </a:r>
          </a:p>
        </p:txBody>
      </p:sp>
      <p:sp>
        <p:nvSpPr>
          <p:cNvPr id="9" name="TextBox 8">
            <a:extLst>
              <a:ext uri="{FF2B5EF4-FFF2-40B4-BE49-F238E27FC236}">
                <a16:creationId xmlns:a16="http://schemas.microsoft.com/office/drawing/2014/main" id="{31911F98-6C76-2103-ADB3-85823DF2FFE3}"/>
              </a:ext>
            </a:extLst>
          </p:cNvPr>
          <p:cNvSpPr txBox="1"/>
          <p:nvPr/>
        </p:nvSpPr>
        <p:spPr>
          <a:xfrm>
            <a:off x="4827270" y="-545279"/>
            <a:ext cx="3890010" cy="9605194"/>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offerFirst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offerFirst</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at the front of this deque unless it would violate capacity restrictions. When using a capacity-restricted deque, this method is generally preferable to the </a:t>
            </a:r>
            <a:r>
              <a:rPr lang="en-US" b="0" i="0" u="none" strike="noStrike" dirty="0" err="1">
                <a:solidFill>
                  <a:srgbClr val="4A6782"/>
                </a:solidFill>
                <a:effectLst/>
                <a:latin typeface="DejaVu Sans Mono"/>
                <a:hlinkClick r:id="rId10"/>
              </a:rPr>
              <a:t>addFirst</a:t>
            </a:r>
            <a:r>
              <a:rPr lang="en-US" b="0" i="0" u="none" strike="noStrike" dirty="0">
                <a:solidFill>
                  <a:srgbClr val="4A6782"/>
                </a:solidFill>
                <a:effectLst/>
                <a:latin typeface="DejaVu Sans Mono"/>
                <a:hlinkClick r:id="rId10"/>
              </a:rPr>
              <a:t>(E)</a:t>
            </a:r>
            <a:r>
              <a:rPr lang="en-US" b="0" i="0" dirty="0">
                <a:solidFill>
                  <a:srgbClr val="474747"/>
                </a:solidFill>
                <a:effectLst/>
                <a:latin typeface="DejaVu Serif"/>
              </a:rPr>
              <a:t> method, which can fail to insert an element only by throwing an exception.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element was added to this deque, else false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IllegalArgumentException</a:t>
            </a:r>
            <a:r>
              <a:rPr lang="en-US" b="0" i="0" dirty="0">
                <a:solidFill>
                  <a:srgbClr val="353833"/>
                </a:solidFill>
                <a:effectLst/>
                <a:latin typeface="DejaVu Sans Mono"/>
              </a:rPr>
              <a:t> - if some property of the specified element prevents it from being added to this deque</a:t>
            </a:r>
          </a:p>
        </p:txBody>
      </p:sp>
      <p:sp>
        <p:nvSpPr>
          <p:cNvPr id="11" name="TextBox 10">
            <a:extLst>
              <a:ext uri="{FF2B5EF4-FFF2-40B4-BE49-F238E27FC236}">
                <a16:creationId xmlns:a16="http://schemas.microsoft.com/office/drawing/2014/main" id="{A1CB7A27-4BFB-7062-896E-6CCB4EB36494}"/>
              </a:ext>
            </a:extLst>
          </p:cNvPr>
          <p:cNvSpPr txBox="1"/>
          <p:nvPr/>
        </p:nvSpPr>
        <p:spPr>
          <a:xfrm>
            <a:off x="7147560" y="-153563"/>
            <a:ext cx="5052060" cy="8497198"/>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offerLast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offerLast</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at the end of this deque unless it would violate capacity restrictions. When using a capacity-restricted deque, this method is generally preferable to the </a:t>
            </a:r>
            <a:r>
              <a:rPr lang="en-US" b="0" i="0" u="none" strike="noStrike" dirty="0" err="1">
                <a:solidFill>
                  <a:srgbClr val="4A6782"/>
                </a:solidFill>
                <a:effectLst/>
                <a:latin typeface="DejaVu Sans Mono"/>
                <a:hlinkClick r:id="rId11"/>
              </a:rPr>
              <a:t>addLast</a:t>
            </a:r>
            <a:r>
              <a:rPr lang="en-US" b="0" i="0" u="none" strike="noStrike" dirty="0">
                <a:solidFill>
                  <a:srgbClr val="4A6782"/>
                </a:solidFill>
                <a:effectLst/>
                <a:latin typeface="DejaVu Sans Mono"/>
                <a:hlinkClick r:id="rId11"/>
              </a:rPr>
              <a:t>(E)</a:t>
            </a:r>
            <a:r>
              <a:rPr lang="en-US" b="0" i="0" dirty="0">
                <a:solidFill>
                  <a:srgbClr val="474747"/>
                </a:solidFill>
                <a:effectLst/>
                <a:latin typeface="DejaVu Serif"/>
              </a:rPr>
              <a:t> method, which can fail to insert an element only by throwing an exception.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element was added to this deque, else false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IllegalArgumentException</a:t>
            </a:r>
            <a:r>
              <a:rPr lang="en-US" b="0" i="0" dirty="0">
                <a:solidFill>
                  <a:srgbClr val="353833"/>
                </a:solidFill>
                <a:effectLst/>
                <a:latin typeface="DejaVu Sans Mono"/>
              </a:rPr>
              <a:t> - if some property of the specified element prevents it from being added to this deque</a:t>
            </a:r>
          </a:p>
        </p:txBody>
      </p:sp>
    </p:spTree>
    <p:extLst>
      <p:ext uri="{BB962C8B-B14F-4D97-AF65-F5344CB8AC3E}">
        <p14:creationId xmlns:p14="http://schemas.microsoft.com/office/powerpoint/2010/main" val="1279507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54563D-BCCB-D5F8-36BA-F53B83C7766A}"/>
              </a:ext>
            </a:extLst>
          </p:cNvPr>
          <p:cNvSpPr txBox="1"/>
          <p:nvPr/>
        </p:nvSpPr>
        <p:spPr>
          <a:xfrm>
            <a:off x="0" y="-1803258"/>
            <a:ext cx="4953000" cy="10738837"/>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removeFirst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removeFirst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first element of this deque. This method differs from </a:t>
            </a:r>
            <a:r>
              <a:rPr lang="en-US" b="0" i="0" u="none" strike="noStrike" dirty="0" err="1">
                <a:solidFill>
                  <a:srgbClr val="4A6782"/>
                </a:solidFill>
                <a:effectLst/>
                <a:latin typeface="DejaVu Sans Mono"/>
                <a:hlinkClick r:id="rId3"/>
              </a:rPr>
              <a:t>pollFirst</a:t>
            </a:r>
            <a:r>
              <a:rPr lang="en-US" b="0" i="0" dirty="0">
                <a:solidFill>
                  <a:srgbClr val="474747"/>
                </a:solidFill>
                <a:effectLst/>
                <a:latin typeface="DejaVu Serif"/>
              </a:rPr>
              <a:t> only in that it throws an exception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util"/>
              </a:rPr>
              <a:t>NoSuchElementException</a:t>
            </a:r>
            <a:r>
              <a:rPr lang="en-US" b="0" i="0" dirty="0">
                <a:solidFill>
                  <a:srgbClr val="353833"/>
                </a:solidFill>
                <a:effectLst/>
                <a:latin typeface="DejaVu Sans Mono"/>
              </a:rPr>
              <a:t> -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removeLast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last element of this deque. This method differs from </a:t>
            </a:r>
            <a:r>
              <a:rPr lang="en-US" b="0" i="0" u="none" strike="noStrike" dirty="0" err="1">
                <a:solidFill>
                  <a:srgbClr val="4A6782"/>
                </a:solidFill>
                <a:effectLst/>
                <a:latin typeface="DejaVu Sans Mono"/>
                <a:hlinkClick r:id="rId5"/>
              </a:rPr>
              <a:t>pollLast</a:t>
            </a:r>
            <a:r>
              <a:rPr lang="en-US" b="0" i="0" dirty="0">
                <a:solidFill>
                  <a:srgbClr val="474747"/>
                </a:solidFill>
                <a:effectLst/>
                <a:latin typeface="DejaVu Serif"/>
              </a:rPr>
              <a:t> only in that it throws an exception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tail of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util"/>
              </a:rPr>
              <a:t>NoSuchElementException</a:t>
            </a:r>
            <a:r>
              <a:rPr lang="en-US" b="0" i="0" dirty="0">
                <a:solidFill>
                  <a:srgbClr val="353833"/>
                </a:solidFill>
                <a:effectLst/>
                <a:latin typeface="DejaVu Sans Mono"/>
              </a:rPr>
              <a:t> -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pollFirst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pollFirst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first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deque, or null if this deque is empty</a:t>
            </a:r>
          </a:p>
        </p:txBody>
      </p:sp>
      <p:sp>
        <p:nvSpPr>
          <p:cNvPr id="7" name="TextBox 6">
            <a:extLst>
              <a:ext uri="{FF2B5EF4-FFF2-40B4-BE49-F238E27FC236}">
                <a16:creationId xmlns:a16="http://schemas.microsoft.com/office/drawing/2014/main" id="{C3CB2874-9F05-E148-62C6-83B5F5CF1B8C}"/>
              </a:ext>
            </a:extLst>
          </p:cNvPr>
          <p:cNvSpPr txBox="1"/>
          <p:nvPr/>
        </p:nvSpPr>
        <p:spPr>
          <a:xfrm>
            <a:off x="2442210" y="-2095497"/>
            <a:ext cx="4975860" cy="11292835"/>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pollLast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pollLast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last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tail of this deque, or null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getFirst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getFirst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first element of this deque. This method differs from </a:t>
            </a:r>
            <a:r>
              <a:rPr lang="en-US" b="0" i="0" u="none" strike="noStrike" dirty="0" err="1">
                <a:solidFill>
                  <a:srgbClr val="4A6782"/>
                </a:solidFill>
                <a:effectLst/>
                <a:latin typeface="DejaVu Sans Mono"/>
                <a:hlinkClick r:id="rId6"/>
              </a:rPr>
              <a:t>peekFirst</a:t>
            </a:r>
            <a:r>
              <a:rPr lang="en-US" b="0" i="0" dirty="0">
                <a:solidFill>
                  <a:srgbClr val="474747"/>
                </a:solidFill>
                <a:effectLst/>
                <a:latin typeface="DejaVu Serif"/>
              </a:rPr>
              <a:t> only in that it throws an exception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util"/>
              </a:rPr>
              <a:t>NoSuchElementException</a:t>
            </a:r>
            <a:r>
              <a:rPr lang="en-US" b="0" i="0" dirty="0">
                <a:solidFill>
                  <a:srgbClr val="353833"/>
                </a:solidFill>
                <a:effectLst/>
                <a:latin typeface="DejaVu Sans Mono"/>
              </a:rPr>
              <a:t> -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getLast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getLast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last element of this deque. This method differs from </a:t>
            </a:r>
            <a:r>
              <a:rPr lang="en-US" b="0" i="0" u="none" strike="noStrike" dirty="0" err="1">
                <a:solidFill>
                  <a:srgbClr val="4A6782"/>
                </a:solidFill>
                <a:effectLst/>
                <a:latin typeface="DejaVu Sans Mono"/>
                <a:hlinkClick r:id="rId7"/>
              </a:rPr>
              <a:t>peekLast</a:t>
            </a:r>
            <a:r>
              <a:rPr lang="en-US" b="0" i="0" dirty="0">
                <a:solidFill>
                  <a:srgbClr val="474747"/>
                </a:solidFill>
                <a:effectLst/>
                <a:latin typeface="DejaVu Serif"/>
              </a:rPr>
              <a:t> only in that it throws an exception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tail of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util"/>
              </a:rPr>
              <a:t>NoSuchElementException</a:t>
            </a:r>
            <a:r>
              <a:rPr lang="en-US" b="0" i="0" dirty="0">
                <a:solidFill>
                  <a:srgbClr val="353833"/>
                </a:solidFill>
                <a:effectLst/>
                <a:latin typeface="DejaVu Sans Mono"/>
              </a:rPr>
              <a:t> - if this deque is empty</a:t>
            </a:r>
          </a:p>
        </p:txBody>
      </p:sp>
      <p:sp>
        <p:nvSpPr>
          <p:cNvPr id="9" name="TextBox 8">
            <a:extLst>
              <a:ext uri="{FF2B5EF4-FFF2-40B4-BE49-F238E27FC236}">
                <a16:creationId xmlns:a16="http://schemas.microsoft.com/office/drawing/2014/main" id="{CF8234AD-ECC0-FB93-C076-B0B9E36CBD3F}"/>
              </a:ext>
            </a:extLst>
          </p:cNvPr>
          <p:cNvSpPr txBox="1"/>
          <p:nvPr/>
        </p:nvSpPr>
        <p:spPr>
          <a:xfrm>
            <a:off x="4423410" y="-2659615"/>
            <a:ext cx="4975860" cy="1449371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peekFirst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peekFirst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first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deque, or null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peekLast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a:t>
            </a:r>
            <a:r>
              <a:rPr lang="en-US" b="0" i="0" dirty="0" err="1">
                <a:solidFill>
                  <a:srgbClr val="353833"/>
                </a:solidFill>
                <a:effectLst/>
                <a:latin typeface="DejaVu Sans Mono"/>
              </a:rPr>
              <a:t>peekLast</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last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tail of this deque, or null if this deque is empty</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removeFirstOccurrence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removeFirstOccurrence</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8"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the first occurrence of the specified element from this deque. If the deque does not contain the element, it is unchanged. More formally, removes the first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 (if such an element exists). Returns </a:t>
            </a:r>
            <a:r>
              <a:rPr lang="en-US" b="0" i="0" dirty="0">
                <a:solidFill>
                  <a:srgbClr val="474747"/>
                </a:solidFill>
                <a:effectLst/>
                <a:latin typeface="DejaVu Sans Mono"/>
              </a:rPr>
              <a:t>true</a:t>
            </a:r>
            <a:r>
              <a:rPr lang="en-US" b="0" i="0" dirty="0">
                <a:solidFill>
                  <a:srgbClr val="474747"/>
                </a:solidFill>
                <a:effectLst/>
                <a:latin typeface="DejaVu Serif"/>
              </a:rPr>
              <a:t> if this deque contained the specified element (or equivalently, if this deque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be removed from this deque, if present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an element was removed as a result of this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9" tooltip="class in java.lang"/>
              </a:rPr>
              <a:t>ClassCastException</a:t>
            </a:r>
            <a:r>
              <a:rPr lang="en-US" b="0" i="0" dirty="0">
                <a:solidFill>
                  <a:srgbClr val="353833"/>
                </a:solidFill>
                <a:effectLst/>
                <a:latin typeface="DejaVu Sans Mono"/>
              </a:rPr>
              <a:t> - if the class of the specified element is incompatible with this deque (</a:t>
            </a:r>
            <a:r>
              <a:rPr lang="en-US" b="0" i="0" u="none" strike="noStrike" dirty="0">
                <a:solidFill>
                  <a:srgbClr val="4A6782"/>
                </a:solidFill>
                <a:effectLst/>
                <a:latin typeface="DejaVu Sans Mono"/>
                <a:hlinkClick r:id="rId10"/>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1" tooltip="class in java.lang"/>
              </a:rPr>
              <a:t>NullPointerException</a:t>
            </a:r>
            <a:r>
              <a:rPr lang="en-US" b="0" i="0" dirty="0">
                <a:solidFill>
                  <a:srgbClr val="353833"/>
                </a:solidFill>
                <a:effectLst/>
                <a:latin typeface="DejaVu Sans Mono"/>
              </a:rPr>
              <a:t> - if the specified element is null and this deque does not permit null elements (</a:t>
            </a:r>
            <a:r>
              <a:rPr lang="en-US" b="0" i="0" u="none" strike="noStrike" dirty="0">
                <a:solidFill>
                  <a:srgbClr val="4A6782"/>
                </a:solidFill>
                <a:effectLst/>
                <a:latin typeface="DejaVu Sans Mono"/>
                <a:hlinkClick r:id="rId10"/>
              </a:rPr>
              <a:t>optional</a:t>
            </a:r>
            <a:r>
              <a:rPr lang="en-US" b="0" i="0" dirty="0">
                <a:solidFill>
                  <a:srgbClr val="353833"/>
                </a:solidFill>
                <a:effectLst/>
                <a:latin typeface="DejaVu Sans Mono"/>
              </a:rPr>
              <a:t>)</a:t>
            </a:r>
          </a:p>
        </p:txBody>
      </p:sp>
    </p:spTree>
    <p:extLst>
      <p:ext uri="{BB962C8B-B14F-4D97-AF65-F5344CB8AC3E}">
        <p14:creationId xmlns:p14="http://schemas.microsoft.com/office/powerpoint/2010/main" val="1860719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22A077-AAE9-9FB1-AB75-494950AB30E0}"/>
              </a:ext>
            </a:extLst>
          </p:cNvPr>
          <p:cNvSpPr txBox="1"/>
          <p:nvPr/>
        </p:nvSpPr>
        <p:spPr>
          <a:xfrm>
            <a:off x="312420" y="-742655"/>
            <a:ext cx="4953000" cy="8343310"/>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removeLastOccurrence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removeLastOccurrence</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the last occurrence of the specified element from this deque. If the deque does not contain the element, it is unchanged. More formally, removes the last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 (if such an element exists). Returns </a:t>
            </a:r>
            <a:r>
              <a:rPr lang="en-US" b="0" i="0" dirty="0">
                <a:solidFill>
                  <a:srgbClr val="474747"/>
                </a:solidFill>
                <a:effectLst/>
                <a:latin typeface="DejaVu Sans Mono"/>
              </a:rPr>
              <a:t>true</a:t>
            </a:r>
            <a:r>
              <a:rPr lang="en-US" b="0" i="0" dirty="0">
                <a:solidFill>
                  <a:srgbClr val="474747"/>
                </a:solidFill>
                <a:effectLst/>
                <a:latin typeface="DejaVu Serif"/>
              </a:rPr>
              <a:t> if this deque contained the specified element (or equivalently, if this deque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be removed from this deque, if present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an element was removed as a result of this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ClassCastException</a:t>
            </a:r>
            <a:r>
              <a:rPr lang="en-US" b="0" i="0" dirty="0">
                <a:solidFill>
                  <a:srgbClr val="353833"/>
                </a:solidFill>
                <a:effectLst/>
                <a:latin typeface="DejaVu Sans Mono"/>
              </a:rPr>
              <a:t> - if the class of the specified element is incompatible with this deque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element is null and this deque does not permit null elements (</a:t>
            </a:r>
            <a:r>
              <a:rPr lang="en-US" b="0" i="0" u="none" strike="noStrike" dirty="0">
                <a:solidFill>
                  <a:srgbClr val="4A6782"/>
                </a:solidFill>
                <a:effectLst/>
                <a:latin typeface="DejaVu Sans Mono"/>
                <a:hlinkClick r:id="rId4"/>
              </a:rPr>
              <a:t>optional</a:t>
            </a:r>
            <a:r>
              <a:rPr lang="en-US" b="0" i="0" dirty="0">
                <a:solidFill>
                  <a:srgbClr val="353833"/>
                </a:solidFill>
                <a:effectLst/>
                <a:latin typeface="DejaVu Sans Mono"/>
              </a:rPr>
              <a:t>)</a:t>
            </a:r>
          </a:p>
        </p:txBody>
      </p:sp>
      <p:sp>
        <p:nvSpPr>
          <p:cNvPr id="7" name="TextBox 6">
            <a:extLst>
              <a:ext uri="{FF2B5EF4-FFF2-40B4-BE49-F238E27FC236}">
                <a16:creationId xmlns:a16="http://schemas.microsoft.com/office/drawing/2014/main" id="{16E29D27-FEC7-268C-DF52-4100858AD3AF}"/>
              </a:ext>
            </a:extLst>
          </p:cNvPr>
          <p:cNvSpPr txBox="1"/>
          <p:nvPr/>
        </p:nvSpPr>
        <p:spPr>
          <a:xfrm>
            <a:off x="2476500" y="-2712350"/>
            <a:ext cx="4953000" cy="1226746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add</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add(</a:t>
            </a:r>
            <a:r>
              <a:rPr lang="en-US" b="0" i="0" u="none" strike="noStrike" dirty="0">
                <a:solidFill>
                  <a:srgbClr val="4A6782"/>
                </a:solidFill>
                <a:effectLst/>
                <a:latin typeface="DejaVu Sans Mono"/>
                <a:hlinkClick r:id="rId6"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into the queue represented by this deque (in other words, at the tail of this deque) if it is possible to do so immediately without violating capacity restrictions, returning </a:t>
            </a:r>
            <a:r>
              <a:rPr lang="en-US" b="0" i="0" dirty="0">
                <a:solidFill>
                  <a:srgbClr val="474747"/>
                </a:solidFill>
                <a:effectLst/>
                <a:latin typeface="DejaVu Sans Mono"/>
              </a:rPr>
              <a:t>true</a:t>
            </a:r>
            <a:r>
              <a:rPr lang="en-US" b="0" i="0" dirty="0">
                <a:solidFill>
                  <a:srgbClr val="474747"/>
                </a:solidFill>
                <a:effectLst/>
                <a:latin typeface="DejaVu Serif"/>
              </a:rPr>
              <a:t> upon success and throwing an </a:t>
            </a:r>
            <a:r>
              <a:rPr lang="en-US" b="0" i="0" dirty="0" err="1">
                <a:solidFill>
                  <a:srgbClr val="474747"/>
                </a:solidFill>
                <a:effectLst/>
                <a:latin typeface="DejaVu Sans Mono"/>
              </a:rPr>
              <a:t>IllegalStateException</a:t>
            </a:r>
            <a:r>
              <a:rPr lang="en-US" b="0" i="0" dirty="0">
                <a:solidFill>
                  <a:srgbClr val="474747"/>
                </a:solidFill>
                <a:effectLst/>
                <a:latin typeface="DejaVu Serif"/>
              </a:rPr>
              <a:t> if no space is currently available. When using a capacity-restricted deque, it is generally preferable to use </a:t>
            </a:r>
            <a:r>
              <a:rPr lang="en-US" b="0" i="0" u="none" strike="noStrike" dirty="0">
                <a:solidFill>
                  <a:srgbClr val="4A6782"/>
                </a:solidFill>
                <a:effectLst/>
                <a:latin typeface="DejaVu Sans Mono"/>
                <a:hlinkClick r:id="rId7"/>
              </a:rPr>
              <a:t>offer</a:t>
            </a:r>
            <a:r>
              <a:rPr lang="en-US" b="0" i="0" dirty="0">
                <a:solidFill>
                  <a:srgbClr val="474747"/>
                </a:solidFill>
                <a:effectLst/>
                <a:latin typeface="DejaVu Serif"/>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8"/>
              </a:rPr>
              <a:t>addLast</a:t>
            </a:r>
            <a:r>
              <a:rPr lang="en-US" b="0" i="0" u="none" strike="noStrike" dirty="0">
                <a:solidFill>
                  <a:srgbClr val="4A6782"/>
                </a:solidFill>
                <a:effectLst/>
                <a:latin typeface="DejaVu Sans Mono"/>
                <a:hlinkClick r:id="rId8"/>
              </a:rPr>
              <a:t>(E)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9"/>
              </a:rPr>
              <a:t>add</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10"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6"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1"/>
              </a:rPr>
              <a:t>add</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12"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6"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(as specified by </a:t>
            </a:r>
            <a:r>
              <a:rPr lang="en-US" b="0" i="0" u="none" strike="noStrike" dirty="0" err="1">
                <a:solidFill>
                  <a:srgbClr val="4A6782"/>
                </a:solidFill>
                <a:effectLst/>
                <a:latin typeface="DejaVu Sans Mono"/>
                <a:hlinkClick r:id="rId9"/>
              </a:rPr>
              <a:t>Collection.add</a:t>
            </a:r>
            <a:r>
              <a:rPr lang="en-US" b="0" i="0" u="none" strike="noStrike" dirty="0">
                <a:solidFill>
                  <a:srgbClr val="4A6782"/>
                </a:solidFill>
                <a:effectLst/>
                <a:latin typeface="DejaVu Sans Mono"/>
                <a:hlinkClick r:id="rId9"/>
              </a:rPr>
              <a:t>(E)</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3" tooltip="class in java.lang"/>
              </a:rPr>
              <a:t>IllegalStateException</a:t>
            </a:r>
            <a:r>
              <a:rPr lang="en-US" b="0" i="0" dirty="0">
                <a:solidFill>
                  <a:srgbClr val="353833"/>
                </a:solidFill>
                <a:effectLst/>
                <a:latin typeface="DejaVu Sans Mono"/>
              </a:rPr>
              <a:t> - if the element cannot be added at this time due to capacity restrictions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4" tooltip="class in java.lang"/>
              </a:rPr>
              <a:t>IllegalArgumentException</a:t>
            </a:r>
            <a:r>
              <a:rPr lang="en-US" b="0" i="0" dirty="0">
                <a:solidFill>
                  <a:srgbClr val="353833"/>
                </a:solidFill>
                <a:effectLst/>
                <a:latin typeface="DejaVu Sans Mono"/>
              </a:rPr>
              <a:t> - if some property of the specified element prevents it from being added to this deque</a:t>
            </a:r>
          </a:p>
        </p:txBody>
      </p:sp>
      <p:sp>
        <p:nvSpPr>
          <p:cNvPr id="9" name="TextBox 8">
            <a:extLst>
              <a:ext uri="{FF2B5EF4-FFF2-40B4-BE49-F238E27FC236}">
                <a16:creationId xmlns:a16="http://schemas.microsoft.com/office/drawing/2014/main" id="{D9813AD8-3D8E-CBB7-33D7-9C75EE22A4E4}"/>
              </a:ext>
            </a:extLst>
          </p:cNvPr>
          <p:cNvSpPr txBox="1"/>
          <p:nvPr/>
        </p:nvSpPr>
        <p:spPr>
          <a:xfrm>
            <a:off x="5798820" y="-2386895"/>
            <a:ext cx="4953000" cy="1088503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offer</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offer(</a:t>
            </a:r>
            <a:r>
              <a:rPr lang="en-US" b="0" i="0" u="none" strike="noStrike" dirty="0">
                <a:solidFill>
                  <a:srgbClr val="4A6782"/>
                </a:solidFill>
                <a:effectLst/>
                <a:latin typeface="DejaVu Sans Mono"/>
                <a:hlinkClick r:id="rId6"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into the queue represented by this deque (in other words, at the tail of this deque) if it is possible to do so immediately without violating capacity restrictions, returning </a:t>
            </a:r>
            <a:r>
              <a:rPr lang="en-US" b="0" i="0" dirty="0">
                <a:solidFill>
                  <a:srgbClr val="474747"/>
                </a:solidFill>
                <a:effectLst/>
                <a:latin typeface="DejaVu Sans Mono"/>
              </a:rPr>
              <a:t>true</a:t>
            </a:r>
            <a:r>
              <a:rPr lang="en-US" b="0" i="0" dirty="0">
                <a:solidFill>
                  <a:srgbClr val="474747"/>
                </a:solidFill>
                <a:effectLst/>
                <a:latin typeface="DejaVu Serif"/>
              </a:rPr>
              <a:t> upon success and </a:t>
            </a:r>
            <a:r>
              <a:rPr lang="en-US" b="0" i="0" dirty="0">
                <a:solidFill>
                  <a:srgbClr val="474747"/>
                </a:solidFill>
                <a:effectLst/>
                <a:latin typeface="DejaVu Sans Mono"/>
              </a:rPr>
              <a:t>false</a:t>
            </a:r>
            <a:r>
              <a:rPr lang="en-US" b="0" i="0" dirty="0">
                <a:solidFill>
                  <a:srgbClr val="474747"/>
                </a:solidFill>
                <a:effectLst/>
                <a:latin typeface="DejaVu Serif"/>
              </a:rPr>
              <a:t> if no space is currently available. When using a capacity-restricted deque, this method is generally preferable to the </a:t>
            </a:r>
            <a:r>
              <a:rPr lang="en-US" b="0" i="0" u="none" strike="noStrike" dirty="0">
                <a:solidFill>
                  <a:srgbClr val="4A6782"/>
                </a:solidFill>
                <a:effectLst/>
                <a:latin typeface="DejaVu Sans Mono"/>
                <a:hlinkClick r:id="rId15"/>
              </a:rPr>
              <a:t>add(E)</a:t>
            </a:r>
            <a:r>
              <a:rPr lang="en-US" b="0" i="0" dirty="0">
                <a:solidFill>
                  <a:srgbClr val="474747"/>
                </a:solidFill>
                <a:effectLst/>
                <a:latin typeface="DejaVu Serif"/>
              </a:rPr>
              <a:t> method, which can fail to insert an element only by throwing an exception.</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16"/>
              </a:rPr>
              <a:t>offerLast</a:t>
            </a:r>
            <a:r>
              <a:rPr lang="en-US" b="0" i="0" u="none" strike="noStrike" dirty="0">
                <a:solidFill>
                  <a:srgbClr val="4A6782"/>
                </a:solidFill>
                <a:effectLst/>
                <a:latin typeface="DejaVu Sans Mono"/>
                <a:hlinkClick r:id="rId16"/>
              </a:rPr>
              <a:t>(E)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7"/>
              </a:rPr>
              <a:t>offer</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12"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6"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element was added to this deque, else false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4" tooltip="class in java.lang"/>
              </a:rPr>
              <a:t>IllegalArgumentException</a:t>
            </a:r>
            <a:r>
              <a:rPr lang="en-US" b="0" i="0" dirty="0">
                <a:solidFill>
                  <a:srgbClr val="353833"/>
                </a:solidFill>
                <a:effectLst/>
                <a:latin typeface="DejaVu Sans Mono"/>
              </a:rPr>
              <a:t> - if some property of the specified element prevents it from being added to this deque</a:t>
            </a:r>
          </a:p>
        </p:txBody>
      </p:sp>
    </p:spTree>
    <p:extLst>
      <p:ext uri="{BB962C8B-B14F-4D97-AF65-F5344CB8AC3E}">
        <p14:creationId xmlns:p14="http://schemas.microsoft.com/office/powerpoint/2010/main" val="16392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C8304A-46AA-765B-B6E4-90F39C291C54}"/>
              </a:ext>
            </a:extLst>
          </p:cNvPr>
          <p:cNvSpPr txBox="1"/>
          <p:nvPr/>
        </p:nvSpPr>
        <p:spPr>
          <a:xfrm>
            <a:off x="-1242060" y="-4770050"/>
            <a:ext cx="4953000" cy="1679434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remove()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head of the queue represented by this deque (in other words, the first element of this deque). This method differs from </a:t>
            </a:r>
            <a:r>
              <a:rPr lang="en-US" b="0" i="0" u="none" strike="noStrike" dirty="0">
                <a:solidFill>
                  <a:srgbClr val="4A6782"/>
                </a:solidFill>
                <a:effectLst/>
                <a:latin typeface="DejaVu Sans Mono"/>
                <a:hlinkClick r:id="rId3"/>
              </a:rPr>
              <a:t>poll</a:t>
            </a:r>
            <a:r>
              <a:rPr lang="en-US" b="0" i="0" dirty="0">
                <a:solidFill>
                  <a:srgbClr val="474747"/>
                </a:solidFill>
                <a:effectLst/>
                <a:latin typeface="DejaVu Serif"/>
              </a:rPr>
              <a:t> only in that it throws an exception if this deque is empty.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4"/>
              </a:rPr>
              <a:t>removeFirst</a:t>
            </a:r>
            <a:r>
              <a:rPr lang="en-US" b="0" i="0" u="none" strike="noStrike" dirty="0">
                <a:solidFill>
                  <a:srgbClr val="4A6782"/>
                </a:solidFill>
                <a:effectLst/>
                <a:latin typeface="DejaVu Sans Mono"/>
                <a:hlinkClick r:id="rId4"/>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5"/>
              </a:rPr>
              <a:t>remove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6"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the queue represented by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util"/>
              </a:rPr>
              <a:t>NoSuchElementException</a:t>
            </a:r>
            <a:r>
              <a:rPr lang="en-US" b="0" i="0" dirty="0">
                <a:solidFill>
                  <a:srgbClr val="353833"/>
                </a:solidFill>
                <a:effectLst/>
                <a:latin typeface="DejaVu Sans Mono"/>
              </a:rPr>
              <a:t> - if this deque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poll</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poll()</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head of the queue represented by this deque (in other words, the first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8"/>
              </a:rPr>
              <a:t>pollFirst</a:t>
            </a:r>
            <a:r>
              <a:rPr lang="en-US" b="0" i="0" u="none" strike="noStrike" dirty="0">
                <a:solidFill>
                  <a:srgbClr val="4A6782"/>
                </a:solidFill>
                <a:effectLst/>
                <a:latin typeface="DejaVu Sans Mono"/>
                <a:hlinkClick r:id="rId8"/>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9"/>
              </a:rPr>
              <a:t>poll</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6"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first element of this deque, or null if this deque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element</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head of the queue represented by this deque (in other words, the first element of this deque). This method differs from </a:t>
            </a:r>
            <a:r>
              <a:rPr lang="en-US" b="0" i="0" u="none" strike="noStrike" dirty="0">
                <a:solidFill>
                  <a:srgbClr val="4A6782"/>
                </a:solidFill>
                <a:effectLst/>
                <a:latin typeface="DejaVu Sans Mono"/>
                <a:hlinkClick r:id="rId10"/>
              </a:rPr>
              <a:t>peek</a:t>
            </a:r>
            <a:r>
              <a:rPr lang="en-US" b="0" i="0" dirty="0">
                <a:solidFill>
                  <a:srgbClr val="474747"/>
                </a:solidFill>
                <a:effectLst/>
                <a:latin typeface="DejaVu Serif"/>
              </a:rPr>
              <a:t> only in that it throws an exception if this deque is empty.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11"/>
              </a:rPr>
              <a:t>getFirst</a:t>
            </a:r>
            <a:r>
              <a:rPr lang="en-US" b="0" i="0" u="none" strike="noStrike" dirty="0">
                <a:solidFill>
                  <a:srgbClr val="4A6782"/>
                </a:solidFill>
                <a:effectLst/>
                <a:latin typeface="DejaVu Sans Mono"/>
                <a:hlinkClick r:id="rId11"/>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2"/>
              </a:rPr>
              <a:t>element</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6"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the queue represented by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util"/>
              </a:rPr>
              <a:t>NoSuchElementException</a:t>
            </a:r>
            <a:r>
              <a:rPr lang="en-US" b="0" i="0" dirty="0">
                <a:solidFill>
                  <a:srgbClr val="353833"/>
                </a:solidFill>
                <a:effectLst/>
                <a:latin typeface="DejaVu Sans Mono"/>
              </a:rPr>
              <a:t> - if this deque is empty</a:t>
            </a:r>
          </a:p>
        </p:txBody>
      </p:sp>
      <p:sp>
        <p:nvSpPr>
          <p:cNvPr id="7" name="TextBox 6">
            <a:extLst>
              <a:ext uri="{FF2B5EF4-FFF2-40B4-BE49-F238E27FC236}">
                <a16:creationId xmlns:a16="http://schemas.microsoft.com/office/drawing/2014/main" id="{68FD35FC-3CF9-8CB6-22C4-854E86F5508B}"/>
              </a:ext>
            </a:extLst>
          </p:cNvPr>
          <p:cNvSpPr txBox="1"/>
          <p:nvPr/>
        </p:nvSpPr>
        <p:spPr>
          <a:xfrm>
            <a:off x="594362" y="-10201230"/>
            <a:ext cx="5600700" cy="2796150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peek</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peek()</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head of the queue represented by this deque (in other words, the first element of this deque), or returns </a:t>
            </a:r>
            <a:r>
              <a:rPr lang="en-US" b="0" i="0" dirty="0">
                <a:solidFill>
                  <a:srgbClr val="474747"/>
                </a:solidFill>
                <a:effectLst/>
                <a:latin typeface="DejaVu Sans Mono"/>
              </a:rPr>
              <a:t>null</a:t>
            </a:r>
            <a:r>
              <a:rPr lang="en-US" b="0" i="0" dirty="0">
                <a:solidFill>
                  <a:srgbClr val="474747"/>
                </a:solidFill>
                <a:effectLst/>
                <a:latin typeface="DejaVu Serif"/>
              </a:rPr>
              <a:t> if this deque is empty.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13"/>
              </a:rPr>
              <a:t>peekFirst</a:t>
            </a:r>
            <a:r>
              <a:rPr lang="en-US" b="0" i="0" u="none" strike="noStrike" dirty="0">
                <a:solidFill>
                  <a:srgbClr val="4A6782"/>
                </a:solidFill>
                <a:effectLst/>
                <a:latin typeface="DejaVu Sans Mono"/>
                <a:hlinkClick r:id="rId13"/>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4"/>
              </a:rPr>
              <a:t>peek</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6" tooltip="interface in java.util"/>
              </a:rPr>
              <a:t>Queue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the queue represented by this deque, or null if this deque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push</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void push(</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Pushes an element onto the stack represented by this deque (in other words, at the head of this deque) if it is possible to do so immediately without violating capacity restrictions, throwing an </a:t>
            </a:r>
            <a:r>
              <a:rPr lang="en-US" b="0" i="0" dirty="0" err="1">
                <a:solidFill>
                  <a:srgbClr val="474747"/>
                </a:solidFill>
                <a:effectLst/>
                <a:latin typeface="DejaVu Sans Mono"/>
              </a:rPr>
              <a:t>IllegalStateException</a:t>
            </a:r>
            <a:r>
              <a:rPr lang="en-US" b="0" i="0" dirty="0">
                <a:solidFill>
                  <a:srgbClr val="474747"/>
                </a:solidFill>
                <a:effectLst/>
                <a:latin typeface="DejaVu Serif"/>
              </a:rPr>
              <a:t> if no space is currently available.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15"/>
              </a:rPr>
              <a:t>addFirst</a:t>
            </a:r>
            <a:r>
              <a:rPr lang="en-US" b="0" i="0" u="none" strike="noStrike" dirty="0">
                <a:solidFill>
                  <a:srgbClr val="4A6782"/>
                </a:solidFill>
                <a:effectLst/>
                <a:latin typeface="DejaVu Sans Mono"/>
                <a:hlinkClick r:id="rId15"/>
              </a:rPr>
              <a:t>(E)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push</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6" tooltip="class in java.lang"/>
              </a:rPr>
              <a:t>IllegalStateException</a:t>
            </a:r>
            <a:r>
              <a:rPr lang="en-US" b="0" i="0" dirty="0">
                <a:solidFill>
                  <a:srgbClr val="353833"/>
                </a:solidFill>
                <a:effectLst/>
                <a:latin typeface="DejaVu Sans Mono"/>
              </a:rPr>
              <a:t> - if the element cannot be added at this time due to capacity restrictions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7" tooltip="class in java.lang"/>
              </a:rPr>
              <a:t>ClassCastException</a:t>
            </a:r>
            <a:r>
              <a:rPr lang="en-US" b="0" i="0" dirty="0">
                <a:solidFill>
                  <a:srgbClr val="353833"/>
                </a:solidFill>
                <a:effectLst/>
                <a:latin typeface="DejaVu Sans Mono"/>
              </a:rPr>
              <a:t> - if the class of the specified element prevents it from being added to this deque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8" tooltip="class in java.lang"/>
              </a:rPr>
              <a:t>NullPointerException</a:t>
            </a:r>
            <a:r>
              <a:rPr lang="en-US" b="0" i="0" dirty="0">
                <a:solidFill>
                  <a:srgbClr val="353833"/>
                </a:solidFill>
                <a:effectLst/>
                <a:latin typeface="DejaVu Sans Mono"/>
              </a:rPr>
              <a:t> - if the specified element is null and this deque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9" tooltip="class in java.lang"/>
              </a:rPr>
              <a:t>IllegalArgumentException</a:t>
            </a:r>
            <a:r>
              <a:rPr lang="en-US" b="0" i="0" dirty="0">
                <a:solidFill>
                  <a:srgbClr val="353833"/>
                </a:solidFill>
                <a:effectLst/>
                <a:latin typeface="DejaVu Sans Mono"/>
              </a:rPr>
              <a:t> - if some property of the specified element prevents it from being added to this deque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pop</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 pop()</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Pops an element from the stack represented by this deque. In other words, removes and returns the first element of this deque.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4"/>
              </a:rPr>
              <a:t>removeFirst</a:t>
            </a:r>
            <a:r>
              <a:rPr lang="en-US" b="0" i="0" u="none" strike="noStrike" dirty="0">
                <a:solidFill>
                  <a:srgbClr val="4A6782"/>
                </a:solidFill>
                <a:effectLst/>
                <a:latin typeface="DejaVu Sans Mono"/>
                <a:hlinkClick r:id="rId4"/>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element at the front of this deque (which is the top of the stack represented by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util"/>
              </a:rPr>
              <a:t>NoSuchElementException</a:t>
            </a:r>
            <a:r>
              <a:rPr lang="en-US" b="0" i="0" dirty="0">
                <a:solidFill>
                  <a:srgbClr val="353833"/>
                </a:solidFill>
                <a:effectLst/>
                <a:latin typeface="DejaVu Sans Mono"/>
              </a:rPr>
              <a:t> - if this deque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remove(</a:t>
            </a:r>
            <a:r>
              <a:rPr lang="en-US" b="0" i="0" u="none" strike="noStrike" dirty="0">
                <a:solidFill>
                  <a:srgbClr val="4A6782"/>
                </a:solidFill>
                <a:effectLst/>
                <a:latin typeface="DejaVu Sans Mono"/>
                <a:hlinkClick r:id="rId20"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the first occurrence of the specified element from this deque. If the deque does not contain the element, it is unchanged. More formally, removes the first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 (if such an element exists). Returns </a:t>
            </a:r>
            <a:r>
              <a:rPr lang="en-US" b="0" i="0" dirty="0">
                <a:solidFill>
                  <a:srgbClr val="474747"/>
                </a:solidFill>
                <a:effectLst/>
                <a:latin typeface="DejaVu Sans Mono"/>
              </a:rPr>
              <a:t>true</a:t>
            </a:r>
            <a:r>
              <a:rPr lang="en-US" b="0" i="0" dirty="0">
                <a:solidFill>
                  <a:srgbClr val="474747"/>
                </a:solidFill>
                <a:effectLst/>
                <a:latin typeface="DejaVu Serif"/>
              </a:rPr>
              <a:t> if this deque contained the specified element (or equivalently, if this deque changed as a result of the call).</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is equivalent to </a:t>
            </a:r>
            <a:r>
              <a:rPr lang="en-US" b="0" i="0" u="none" strike="noStrike" dirty="0" err="1">
                <a:solidFill>
                  <a:srgbClr val="4A6782"/>
                </a:solidFill>
                <a:effectLst/>
                <a:latin typeface="DejaVu Sans Mono"/>
                <a:hlinkClick r:id="rId21"/>
              </a:rPr>
              <a:t>removeFirstOccurrence</a:t>
            </a:r>
            <a:r>
              <a:rPr lang="en-US" b="0" i="0" u="none" strike="noStrike" dirty="0">
                <a:solidFill>
                  <a:srgbClr val="4A6782"/>
                </a:solidFill>
                <a:effectLst/>
                <a:latin typeface="DejaVu Sans Mono"/>
                <a:hlinkClick r:id="rId21"/>
              </a:rPr>
              <a:t>(Object)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2"/>
              </a:rPr>
              <a:t>remove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be removed from this deque, if present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an element was removed as a result of this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7" tooltip="class in java.lang"/>
              </a:rPr>
              <a:t>ClassCastException</a:t>
            </a:r>
            <a:r>
              <a:rPr lang="en-US" b="0" i="0" dirty="0">
                <a:solidFill>
                  <a:srgbClr val="353833"/>
                </a:solidFill>
                <a:effectLst/>
                <a:latin typeface="DejaVu Sans Mono"/>
              </a:rPr>
              <a:t> - if the class of the specified element is incompatible with this deque (</a:t>
            </a:r>
            <a:r>
              <a:rPr lang="en-US" b="0" i="0" u="none" strike="noStrike" dirty="0">
                <a:solidFill>
                  <a:srgbClr val="4A6782"/>
                </a:solidFill>
                <a:effectLst/>
                <a:latin typeface="DejaVu Sans Mono"/>
                <a:hlinkClick r:id="rId2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8" tooltip="class in java.lang"/>
              </a:rPr>
              <a:t>NullPointerException</a:t>
            </a:r>
            <a:r>
              <a:rPr lang="en-US" b="0" i="0" dirty="0">
                <a:solidFill>
                  <a:srgbClr val="353833"/>
                </a:solidFill>
                <a:effectLst/>
                <a:latin typeface="DejaVu Sans Mono"/>
              </a:rPr>
              <a:t> - if the specified element is null and this deque does not permit null elements (</a:t>
            </a:r>
            <a:r>
              <a:rPr lang="en-US" b="0" i="0" u="none" strike="noStrike" dirty="0">
                <a:solidFill>
                  <a:srgbClr val="4A6782"/>
                </a:solidFill>
                <a:effectLst/>
                <a:latin typeface="DejaVu Sans Mono"/>
                <a:hlinkClick r:id="rId24"/>
              </a:rPr>
              <a:t>optional</a:t>
            </a:r>
            <a:r>
              <a:rPr lang="en-US" b="0" i="0" dirty="0">
                <a:solidFill>
                  <a:srgbClr val="353833"/>
                </a:solidFill>
                <a:effectLst/>
                <a:latin typeface="DejaVu Sans Mono"/>
              </a:rPr>
              <a:t>)</a:t>
            </a:r>
          </a:p>
          <a:p>
            <a:pPr>
              <a:buNone/>
            </a:pPr>
            <a:br>
              <a:rPr lang="en-US" b="0" i="0" dirty="0">
                <a:solidFill>
                  <a:srgbClr val="353833"/>
                </a:solidFill>
                <a:effectLst/>
                <a:latin typeface="DejaVu Sans"/>
              </a:rPr>
            </a:br>
            <a:endParaRPr lang="en-US" dirty="0"/>
          </a:p>
        </p:txBody>
      </p:sp>
      <p:sp>
        <p:nvSpPr>
          <p:cNvPr id="9" name="TextBox 8">
            <a:extLst>
              <a:ext uri="{FF2B5EF4-FFF2-40B4-BE49-F238E27FC236}">
                <a16:creationId xmlns:a16="http://schemas.microsoft.com/office/drawing/2014/main" id="{E54AFD9F-6D8B-4353-7424-58E93BCBEFAE}"/>
              </a:ext>
            </a:extLst>
          </p:cNvPr>
          <p:cNvSpPr txBox="1"/>
          <p:nvPr/>
        </p:nvSpPr>
        <p:spPr>
          <a:xfrm>
            <a:off x="4629150" y="-5800026"/>
            <a:ext cx="5600700" cy="1915909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contains</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contains(</a:t>
            </a:r>
            <a:r>
              <a:rPr lang="en-US" b="0" i="0" u="none" strike="noStrike" dirty="0">
                <a:solidFill>
                  <a:srgbClr val="4A6782"/>
                </a:solidFill>
                <a:effectLst/>
                <a:latin typeface="DejaVu Sans Mono"/>
                <a:hlinkClick r:id="rId20"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t>
            </a:r>
            <a:r>
              <a:rPr lang="en-US" b="0" i="0" dirty="0">
                <a:solidFill>
                  <a:srgbClr val="474747"/>
                </a:solidFill>
                <a:effectLst/>
                <a:latin typeface="DejaVu Sans Mono"/>
              </a:rPr>
              <a:t>true</a:t>
            </a:r>
            <a:r>
              <a:rPr lang="en-US" b="0" i="0" dirty="0">
                <a:solidFill>
                  <a:srgbClr val="474747"/>
                </a:solidFill>
                <a:effectLst/>
                <a:latin typeface="DejaVu Serif"/>
              </a:rPr>
              <a:t> if this deque contains the specified element. More formally, returns </a:t>
            </a:r>
            <a:r>
              <a:rPr lang="en-US" b="0" i="0" dirty="0">
                <a:solidFill>
                  <a:srgbClr val="474747"/>
                </a:solidFill>
                <a:effectLst/>
                <a:latin typeface="DejaVu Sans Mono"/>
              </a:rPr>
              <a:t>true</a:t>
            </a:r>
            <a:r>
              <a:rPr lang="en-US" b="0" i="0" dirty="0">
                <a:solidFill>
                  <a:srgbClr val="474747"/>
                </a:solidFill>
                <a:effectLst/>
                <a:latin typeface="DejaVu Serif"/>
              </a:rPr>
              <a:t> if and only if this deque contains at least one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5"/>
              </a:rPr>
              <a:t>contains</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whose presence in this deque is to be tested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deque contains the specified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7" tooltip="class in java.lang"/>
              </a:rPr>
              <a:t>ClassCastException</a:t>
            </a:r>
            <a:r>
              <a:rPr lang="en-US" b="0" i="0" dirty="0">
                <a:solidFill>
                  <a:srgbClr val="353833"/>
                </a:solidFill>
                <a:effectLst/>
                <a:latin typeface="DejaVu Sans Mono"/>
              </a:rPr>
              <a:t> - if the type of the specified element is incompatible with this deque (</a:t>
            </a:r>
            <a:r>
              <a:rPr lang="en-US" b="0" i="0" u="none" strike="noStrike" dirty="0">
                <a:solidFill>
                  <a:srgbClr val="4A6782"/>
                </a:solidFill>
                <a:effectLst/>
                <a:latin typeface="DejaVu Sans Mono"/>
                <a:hlinkClick r:id="rId24"/>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8" tooltip="class in java.lang"/>
              </a:rPr>
              <a:t>NullPointerException</a:t>
            </a:r>
            <a:r>
              <a:rPr lang="en-US" b="0" i="0" dirty="0">
                <a:solidFill>
                  <a:srgbClr val="353833"/>
                </a:solidFill>
                <a:effectLst/>
                <a:latin typeface="DejaVu Sans Mono"/>
              </a:rPr>
              <a:t> - if the specified element is null and this deque does not permit null elements (</a:t>
            </a:r>
            <a:r>
              <a:rPr lang="en-US" b="0" i="0" u="none" strike="noStrike" dirty="0">
                <a:solidFill>
                  <a:srgbClr val="4A6782"/>
                </a:solidFill>
                <a:effectLst/>
                <a:latin typeface="DejaVu Sans Mono"/>
                <a:hlinkClick r:id="rId24"/>
              </a:rPr>
              <a:t>optional</a:t>
            </a:r>
            <a:r>
              <a:rPr lang="en-US" b="0" i="0" dirty="0">
                <a:solidFill>
                  <a:srgbClr val="353833"/>
                </a:solidFill>
                <a:effectLst/>
                <a:latin typeface="DejaVu Sans Mono"/>
              </a:rPr>
              <a:t>)</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size</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size()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number of elements in this deque.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6"/>
              </a:rPr>
              <a:t>size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number of elements in this deque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iterator</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7" tooltip="interface in java.util"/>
              </a:rPr>
              <a: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 iterator()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iterator over the elements in this deque in proper sequence. The elements will be returned in order from first (head) to last (tail).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8"/>
              </a:rPr>
              <a:t>iterator</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9"/>
              </a:rPr>
              <a:t>iterator</a:t>
            </a:r>
            <a:r>
              <a:rPr lang="en-US" b="0" i="0" dirty="0">
                <a:solidFill>
                  <a:srgbClr val="353833"/>
                </a:solidFill>
                <a:effectLst/>
                <a:latin typeface="DejaVu Sans Mono"/>
              </a:rPr>
              <a:t> in interface </a:t>
            </a:r>
            <a:r>
              <a:rPr lang="en-US" b="0" i="0" u="none" strike="noStrike" dirty="0" err="1">
                <a:solidFill>
                  <a:srgbClr val="4A6782"/>
                </a:solidFill>
                <a:effectLst/>
                <a:latin typeface="DejaVu Sans Mono"/>
                <a:hlinkClick r:id="rId30" tooltip="interface in java.lang"/>
              </a:rPr>
              <a:t>Iterable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iterator over the elements in this deque in proper sequence</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descendingIterator</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7" tooltip="interface in java.util"/>
              </a:rPr>
              <a: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Deque"/>
              </a:rPr>
              <a:t>E</a:t>
            </a:r>
            <a:r>
              <a:rPr lang="en-US" b="0" i="0" dirty="0">
                <a:solidFill>
                  <a:srgbClr val="353833"/>
                </a:solidFill>
                <a:effectLst/>
                <a:latin typeface="DejaVu Sans Mono"/>
              </a:rPr>
              <a:t>&gt; </a:t>
            </a:r>
            <a:r>
              <a:rPr lang="en-US" b="0" i="0" dirty="0" err="1">
                <a:solidFill>
                  <a:srgbClr val="353833"/>
                </a:solidFill>
                <a:effectLst/>
                <a:latin typeface="DejaVu Sans Mono"/>
              </a:rPr>
              <a:t>descendingIterator</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iterator over the elements in this deque in reverse sequential order. The elements will be returned in order from last (tail) to first (head).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iterator over the elements in this deque in reverse sequence</a:t>
            </a:r>
          </a:p>
        </p:txBody>
      </p:sp>
    </p:spTree>
    <p:extLst>
      <p:ext uri="{BB962C8B-B14F-4D97-AF65-F5344CB8AC3E}">
        <p14:creationId xmlns:p14="http://schemas.microsoft.com/office/powerpoint/2010/main" val="1663633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2BC6C6-C49D-C824-092C-6B3E180262A9}"/>
              </a:ext>
            </a:extLst>
          </p:cNvPr>
          <p:cNvSpPr txBox="1"/>
          <p:nvPr/>
        </p:nvSpPr>
        <p:spPr>
          <a:xfrm>
            <a:off x="586740" y="319482"/>
            <a:ext cx="9090660" cy="3500958"/>
          </a:xfrm>
          <a:prstGeom prst="rect">
            <a:avLst/>
          </a:prstGeom>
          <a:noFill/>
        </p:spPr>
        <p:txBody>
          <a:bodyPr wrap="square">
            <a:spAutoFit/>
          </a:bodyPr>
          <a:lstStyle/>
          <a:p>
            <a:pPr algn="l">
              <a:spcBef>
                <a:spcPts val="750"/>
              </a:spcBef>
              <a:spcAft>
                <a:spcPts val="750"/>
              </a:spcAft>
              <a:buNone/>
            </a:pPr>
            <a:r>
              <a:rPr lang="en-US" b="1" i="0" dirty="0">
                <a:solidFill>
                  <a:srgbClr val="2C4557"/>
                </a:solidFill>
                <a:effectLst/>
                <a:latin typeface="DejaVu Sans"/>
              </a:rPr>
              <a:t>Interface List&lt;E&gt;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type of elements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a:t>
            </a:r>
            <a:r>
              <a:rPr lang="en-US" b="1" i="0" dirty="0" err="1">
                <a:solidFill>
                  <a:srgbClr val="4E4E4E"/>
                </a:solidFill>
                <a:effectLst/>
                <a:latin typeface="DejaVu Sans"/>
              </a:rPr>
              <a:t>Superinterfaces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3" tooltip="interface in java.lang"/>
              </a:rPr>
              <a:t>Iterable</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Implementing Classes: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util"/>
              </a:rPr>
              <a:t>AbstractList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5" tooltip="class in java.util"/>
              </a:rPr>
              <a:t>AbstractSequentialList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6" tooltip="class in java.util"/>
              </a:rPr>
              <a:t>ArrayList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7" tooltip="class in javax.management"/>
              </a:rPr>
              <a:t>AttributeList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8" tooltip="class in java.util.concurrent"/>
              </a:rPr>
              <a:t>CopyOnWriteArrayList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9" tooltip="class in java.util"/>
              </a:rPr>
              <a:t>LinkedList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0" tooltip="class in javax.management.relation"/>
              </a:rPr>
              <a:t>RoleList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1" tooltip="class in javax.management.relation"/>
              </a:rPr>
              <a:t>RoleUnresolvedList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2" tooltip="class in java.util"/>
              </a:rPr>
              <a:t>Stack</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3" tooltip="class in java.util"/>
              </a:rPr>
              <a:t>Vector</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665782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D47EBE-0353-CE75-3638-8780EE7F4094}"/>
              </a:ext>
            </a:extLst>
          </p:cNvPr>
          <p:cNvSpPr txBox="1"/>
          <p:nvPr/>
        </p:nvSpPr>
        <p:spPr>
          <a:xfrm>
            <a:off x="106680" y="693430"/>
            <a:ext cx="9906000" cy="3467616"/>
          </a:xfrm>
          <a:prstGeom prst="rect">
            <a:avLst/>
          </a:prstGeom>
          <a:noFill/>
        </p:spPr>
        <p:txBody>
          <a:bodyPr wrap="square">
            <a:spAutoFit/>
          </a:bodyPr>
          <a:lstStyle/>
          <a:p>
            <a:pPr algn="l">
              <a:buNone/>
            </a:pPr>
            <a:r>
              <a:rPr lang="en-US" sz="800" b="0" i="0" dirty="0">
                <a:solidFill>
                  <a:srgbClr val="353833"/>
                </a:solidFill>
                <a:effectLst/>
                <a:latin typeface="DejaVu Sans Mono"/>
              </a:rPr>
              <a:t>public interface </a:t>
            </a:r>
            <a:r>
              <a:rPr lang="en-US" sz="800" b="1" i="0" dirty="0">
                <a:solidFill>
                  <a:srgbClr val="353833"/>
                </a:solidFill>
                <a:effectLst/>
                <a:latin typeface="DejaVu Sans Mono"/>
              </a:rPr>
              <a:t>List&lt;E&gt;</a:t>
            </a:r>
            <a:endParaRPr lang="en-US" sz="800" b="0" i="0" dirty="0">
              <a:solidFill>
                <a:srgbClr val="353833"/>
              </a:solidFill>
              <a:effectLst/>
              <a:latin typeface="DejaVu Sans Mono"/>
            </a:endParaRPr>
          </a:p>
          <a:p>
            <a:pPr algn="l">
              <a:buNone/>
            </a:pPr>
            <a:r>
              <a:rPr lang="en-US" sz="800" b="0" i="0" dirty="0">
                <a:solidFill>
                  <a:srgbClr val="353833"/>
                </a:solidFill>
                <a:effectLst/>
                <a:latin typeface="DejaVu Sans Mono"/>
              </a:rPr>
              <a:t>extends </a:t>
            </a:r>
            <a:r>
              <a:rPr lang="en-US" sz="800" b="0" i="0" u="none" strike="noStrike" dirty="0">
                <a:solidFill>
                  <a:srgbClr val="4A6782"/>
                </a:solidFill>
                <a:effectLst/>
                <a:latin typeface="DejaVu Sans Mono"/>
                <a:hlinkClick r:id="rId2" tooltip="interface in java.util"/>
              </a:rPr>
              <a:t>Collection</a:t>
            </a:r>
            <a:r>
              <a:rPr lang="en-US" sz="800" b="0" i="0" dirty="0">
                <a:solidFill>
                  <a:srgbClr val="353833"/>
                </a:solidFill>
                <a:effectLst/>
                <a:latin typeface="DejaVu Sans Mono"/>
              </a:rPr>
              <a:t>&lt;E&gt;</a:t>
            </a:r>
          </a:p>
          <a:p>
            <a:pPr algn="l">
              <a:spcBef>
                <a:spcPts val="225"/>
              </a:spcBef>
              <a:spcAft>
                <a:spcPts val="150"/>
              </a:spcAft>
              <a:buNone/>
            </a:pPr>
            <a:r>
              <a:rPr lang="en-US" sz="800" b="0" i="0" dirty="0">
                <a:solidFill>
                  <a:srgbClr val="474747"/>
                </a:solidFill>
                <a:effectLst/>
                <a:latin typeface="DejaVu Serif"/>
              </a:rPr>
              <a:t>An ordered collection (also known as a </a:t>
            </a:r>
            <a:r>
              <a:rPr lang="en-US" sz="800" b="0" i="1" dirty="0">
                <a:solidFill>
                  <a:srgbClr val="474747"/>
                </a:solidFill>
                <a:effectLst/>
                <a:latin typeface="DejaVu Serif"/>
              </a:rPr>
              <a:t>sequence</a:t>
            </a:r>
            <a:r>
              <a:rPr lang="en-US" sz="800" b="0" i="0" dirty="0">
                <a:solidFill>
                  <a:srgbClr val="474747"/>
                </a:solidFill>
                <a:effectLst/>
                <a:latin typeface="DejaVu Serif"/>
              </a:rPr>
              <a:t>). The user of this interface has precise control over where in the list each element is inserted. The user can access elements by their integer index (position in the list), and search for elements in the list.</a:t>
            </a:r>
          </a:p>
          <a:p>
            <a:pPr algn="l">
              <a:spcBef>
                <a:spcPts val="225"/>
              </a:spcBef>
              <a:spcAft>
                <a:spcPts val="150"/>
              </a:spcAft>
              <a:buNone/>
            </a:pPr>
            <a:r>
              <a:rPr lang="en-US" sz="800" b="0" i="0" dirty="0">
                <a:solidFill>
                  <a:srgbClr val="474747"/>
                </a:solidFill>
                <a:effectLst/>
                <a:latin typeface="DejaVu Serif"/>
              </a:rPr>
              <a:t>Unlike sets, lists typically allow duplicate elements. More formally, lists typically allow pairs of elements </a:t>
            </a:r>
            <a:r>
              <a:rPr lang="en-US" sz="800" b="0" i="0" dirty="0">
                <a:solidFill>
                  <a:srgbClr val="474747"/>
                </a:solidFill>
                <a:effectLst/>
                <a:latin typeface="DejaVu Sans Mono"/>
              </a:rPr>
              <a:t>e1</a:t>
            </a:r>
            <a:r>
              <a:rPr lang="en-US" sz="800" b="0" i="0" dirty="0">
                <a:solidFill>
                  <a:srgbClr val="474747"/>
                </a:solidFill>
                <a:effectLst/>
                <a:latin typeface="DejaVu Serif"/>
              </a:rPr>
              <a:t> and </a:t>
            </a:r>
            <a:r>
              <a:rPr lang="en-US" sz="800" b="0" i="0" dirty="0">
                <a:solidFill>
                  <a:srgbClr val="474747"/>
                </a:solidFill>
                <a:effectLst/>
                <a:latin typeface="DejaVu Sans Mono"/>
              </a:rPr>
              <a:t>e2</a:t>
            </a:r>
            <a:r>
              <a:rPr lang="en-US" sz="800" b="0" i="0" dirty="0">
                <a:solidFill>
                  <a:srgbClr val="474747"/>
                </a:solidFill>
                <a:effectLst/>
                <a:latin typeface="DejaVu Serif"/>
              </a:rPr>
              <a:t> such that </a:t>
            </a:r>
            <a:r>
              <a:rPr lang="en-US" sz="800" b="0" i="0" dirty="0">
                <a:solidFill>
                  <a:srgbClr val="474747"/>
                </a:solidFill>
                <a:effectLst/>
                <a:latin typeface="DejaVu Sans Mono"/>
              </a:rPr>
              <a:t>e1.equals(e2)</a:t>
            </a:r>
            <a:r>
              <a:rPr lang="en-US" sz="800" b="0" i="0" dirty="0">
                <a:solidFill>
                  <a:srgbClr val="474747"/>
                </a:solidFill>
                <a:effectLst/>
                <a:latin typeface="DejaVu Serif"/>
              </a:rPr>
              <a:t>, and they typically allow multiple null elements if they allow null elements at all. It is not inconceivable that someone might wish to implement a list that prohibits duplicates, by throwing runtime exceptions when the user attempts to insert them, but we expect this usage to be rare.</a:t>
            </a:r>
          </a:p>
          <a:p>
            <a:pPr algn="l">
              <a:spcBef>
                <a:spcPts val="225"/>
              </a:spcBef>
              <a:spcAft>
                <a:spcPts val="150"/>
              </a:spcAft>
              <a:buNone/>
            </a:pPr>
            <a:r>
              <a:rPr lang="en-US" sz="800" b="0" i="0" dirty="0">
                <a:solidFill>
                  <a:srgbClr val="474747"/>
                </a:solidFill>
                <a:effectLst/>
                <a:latin typeface="DejaVu Serif"/>
              </a:rPr>
              <a:t>The </a:t>
            </a:r>
            <a:r>
              <a:rPr lang="en-US" sz="800" b="0" i="0" dirty="0">
                <a:solidFill>
                  <a:srgbClr val="474747"/>
                </a:solidFill>
                <a:effectLst/>
                <a:latin typeface="DejaVu Sans Mono"/>
              </a:rPr>
              <a:t>List</a:t>
            </a:r>
            <a:r>
              <a:rPr lang="en-US" sz="800" b="0" i="0" dirty="0">
                <a:solidFill>
                  <a:srgbClr val="474747"/>
                </a:solidFill>
                <a:effectLst/>
                <a:latin typeface="DejaVu Serif"/>
              </a:rPr>
              <a:t> interface places additional stipulations, beyond those specified in the </a:t>
            </a:r>
            <a:r>
              <a:rPr lang="en-US" sz="800" b="0" i="0" dirty="0">
                <a:solidFill>
                  <a:srgbClr val="474747"/>
                </a:solidFill>
                <a:effectLst/>
                <a:latin typeface="DejaVu Sans Mono"/>
              </a:rPr>
              <a:t>Collection</a:t>
            </a:r>
            <a:r>
              <a:rPr lang="en-US" sz="800" b="0" i="0" dirty="0">
                <a:solidFill>
                  <a:srgbClr val="474747"/>
                </a:solidFill>
                <a:effectLst/>
                <a:latin typeface="DejaVu Serif"/>
              </a:rPr>
              <a:t> interface, on the contracts of the </a:t>
            </a:r>
            <a:r>
              <a:rPr lang="en-US" sz="800" b="0" i="0" dirty="0">
                <a:solidFill>
                  <a:srgbClr val="474747"/>
                </a:solidFill>
                <a:effectLst/>
                <a:latin typeface="DejaVu Sans Mono"/>
              </a:rPr>
              <a:t>iterator</a:t>
            </a:r>
            <a:r>
              <a:rPr lang="en-US" sz="800" b="0" i="0" dirty="0">
                <a:solidFill>
                  <a:srgbClr val="474747"/>
                </a:solidFill>
                <a:effectLst/>
                <a:latin typeface="DejaVu Serif"/>
              </a:rPr>
              <a:t>, </a:t>
            </a:r>
            <a:r>
              <a:rPr lang="en-US" sz="800" b="0" i="0" dirty="0">
                <a:solidFill>
                  <a:srgbClr val="474747"/>
                </a:solidFill>
                <a:effectLst/>
                <a:latin typeface="DejaVu Sans Mono"/>
              </a:rPr>
              <a:t>add</a:t>
            </a:r>
            <a:r>
              <a:rPr lang="en-US" sz="800" b="0" i="0" dirty="0">
                <a:solidFill>
                  <a:srgbClr val="474747"/>
                </a:solidFill>
                <a:effectLst/>
                <a:latin typeface="DejaVu Serif"/>
              </a:rPr>
              <a:t>, </a:t>
            </a:r>
            <a:r>
              <a:rPr lang="en-US" sz="800" b="0" i="0" dirty="0">
                <a:solidFill>
                  <a:srgbClr val="474747"/>
                </a:solidFill>
                <a:effectLst/>
                <a:latin typeface="DejaVu Sans Mono"/>
              </a:rPr>
              <a:t>remove</a:t>
            </a:r>
            <a:r>
              <a:rPr lang="en-US" sz="800" b="0" i="0" dirty="0">
                <a:solidFill>
                  <a:srgbClr val="474747"/>
                </a:solidFill>
                <a:effectLst/>
                <a:latin typeface="DejaVu Serif"/>
              </a:rPr>
              <a:t>, </a:t>
            </a:r>
            <a:r>
              <a:rPr lang="en-US" sz="800" b="0" i="0" dirty="0">
                <a:solidFill>
                  <a:srgbClr val="474747"/>
                </a:solidFill>
                <a:effectLst/>
                <a:latin typeface="DejaVu Sans Mono"/>
              </a:rPr>
              <a:t>equals</a:t>
            </a:r>
            <a:r>
              <a:rPr lang="en-US" sz="800" b="0" i="0" dirty="0">
                <a:solidFill>
                  <a:srgbClr val="474747"/>
                </a:solidFill>
                <a:effectLst/>
                <a:latin typeface="DejaVu Serif"/>
              </a:rPr>
              <a:t>, and </a:t>
            </a:r>
            <a:r>
              <a:rPr lang="en-US" sz="800" b="0" i="0" dirty="0" err="1">
                <a:solidFill>
                  <a:srgbClr val="474747"/>
                </a:solidFill>
                <a:effectLst/>
                <a:latin typeface="DejaVu Sans Mono"/>
              </a:rPr>
              <a:t>hashCode</a:t>
            </a:r>
            <a:r>
              <a:rPr lang="en-US" sz="800" b="0" i="0" dirty="0">
                <a:solidFill>
                  <a:srgbClr val="474747"/>
                </a:solidFill>
                <a:effectLst/>
                <a:latin typeface="DejaVu Serif"/>
              </a:rPr>
              <a:t> methods. Declarations for other inherited methods are also included here for convenience.</a:t>
            </a:r>
          </a:p>
          <a:p>
            <a:pPr algn="l">
              <a:spcBef>
                <a:spcPts val="225"/>
              </a:spcBef>
              <a:spcAft>
                <a:spcPts val="150"/>
              </a:spcAft>
              <a:buNone/>
            </a:pPr>
            <a:r>
              <a:rPr lang="en-US" sz="800" b="0" i="0" dirty="0">
                <a:solidFill>
                  <a:srgbClr val="474747"/>
                </a:solidFill>
                <a:effectLst/>
                <a:latin typeface="DejaVu Serif"/>
              </a:rPr>
              <a:t>The </a:t>
            </a:r>
            <a:r>
              <a:rPr lang="en-US" sz="800" b="0" i="0" dirty="0">
                <a:solidFill>
                  <a:srgbClr val="474747"/>
                </a:solidFill>
                <a:effectLst/>
                <a:latin typeface="DejaVu Sans Mono"/>
              </a:rPr>
              <a:t>List</a:t>
            </a:r>
            <a:r>
              <a:rPr lang="en-US" sz="800" b="0" i="0" dirty="0">
                <a:solidFill>
                  <a:srgbClr val="474747"/>
                </a:solidFill>
                <a:effectLst/>
                <a:latin typeface="DejaVu Serif"/>
              </a:rPr>
              <a:t> interface provides four methods for positional (indexed) access to list elements. Lists (like Java arrays) are zero based. Note that these operations may execute in time proportional to the index value for some implementations (the </a:t>
            </a:r>
            <a:r>
              <a:rPr lang="en-US" sz="800" b="0" i="0" dirty="0">
                <a:solidFill>
                  <a:srgbClr val="474747"/>
                </a:solidFill>
                <a:effectLst/>
                <a:latin typeface="DejaVu Sans Mono"/>
              </a:rPr>
              <a:t>LinkedList</a:t>
            </a:r>
            <a:r>
              <a:rPr lang="en-US" sz="800" b="0" i="0" dirty="0">
                <a:solidFill>
                  <a:srgbClr val="474747"/>
                </a:solidFill>
                <a:effectLst/>
                <a:latin typeface="DejaVu Serif"/>
              </a:rPr>
              <a:t> class, for example). Thus, iterating over the elements in a list is typically preferable to indexing through it if the caller does not know the implementation.</a:t>
            </a:r>
          </a:p>
          <a:p>
            <a:pPr algn="l">
              <a:spcBef>
                <a:spcPts val="225"/>
              </a:spcBef>
              <a:spcAft>
                <a:spcPts val="150"/>
              </a:spcAft>
              <a:buNone/>
            </a:pPr>
            <a:r>
              <a:rPr lang="en-US" sz="800" b="0" i="0" dirty="0">
                <a:solidFill>
                  <a:srgbClr val="474747"/>
                </a:solidFill>
                <a:effectLst/>
                <a:latin typeface="DejaVu Serif"/>
              </a:rPr>
              <a:t>The </a:t>
            </a:r>
            <a:r>
              <a:rPr lang="en-US" sz="800" b="0" i="0" dirty="0">
                <a:solidFill>
                  <a:srgbClr val="474747"/>
                </a:solidFill>
                <a:effectLst/>
                <a:latin typeface="DejaVu Sans Mono"/>
              </a:rPr>
              <a:t>List</a:t>
            </a:r>
            <a:r>
              <a:rPr lang="en-US" sz="800" b="0" i="0" dirty="0">
                <a:solidFill>
                  <a:srgbClr val="474747"/>
                </a:solidFill>
                <a:effectLst/>
                <a:latin typeface="DejaVu Serif"/>
              </a:rPr>
              <a:t> interface provides a special iterator, called a </a:t>
            </a:r>
            <a:r>
              <a:rPr lang="en-US" sz="800" b="0" i="0" dirty="0" err="1">
                <a:solidFill>
                  <a:srgbClr val="474747"/>
                </a:solidFill>
                <a:effectLst/>
                <a:latin typeface="DejaVu Sans Mono"/>
              </a:rPr>
              <a:t>ListIterator</a:t>
            </a:r>
            <a:r>
              <a:rPr lang="en-US" sz="800" b="0" i="0" dirty="0">
                <a:solidFill>
                  <a:srgbClr val="474747"/>
                </a:solidFill>
                <a:effectLst/>
                <a:latin typeface="DejaVu Serif"/>
              </a:rPr>
              <a:t>, that allows element insertion and replacement, and bidirectional access in addition to the normal operations that the </a:t>
            </a:r>
            <a:r>
              <a:rPr lang="en-US" sz="800" b="0" i="0" dirty="0">
                <a:solidFill>
                  <a:srgbClr val="474747"/>
                </a:solidFill>
                <a:effectLst/>
                <a:latin typeface="DejaVu Sans Mono"/>
              </a:rPr>
              <a:t>Iterator</a:t>
            </a:r>
            <a:r>
              <a:rPr lang="en-US" sz="800" b="0" i="0" dirty="0">
                <a:solidFill>
                  <a:srgbClr val="474747"/>
                </a:solidFill>
                <a:effectLst/>
                <a:latin typeface="DejaVu Serif"/>
              </a:rPr>
              <a:t> interface provides. A method is provided to obtain a list iterator that starts at a specified position in the list.</a:t>
            </a:r>
          </a:p>
          <a:p>
            <a:pPr algn="l">
              <a:spcBef>
                <a:spcPts val="225"/>
              </a:spcBef>
              <a:spcAft>
                <a:spcPts val="150"/>
              </a:spcAft>
              <a:buNone/>
            </a:pPr>
            <a:r>
              <a:rPr lang="en-US" sz="800" b="0" i="0" dirty="0">
                <a:solidFill>
                  <a:srgbClr val="474747"/>
                </a:solidFill>
                <a:effectLst/>
                <a:latin typeface="DejaVu Serif"/>
              </a:rPr>
              <a:t>The </a:t>
            </a:r>
            <a:r>
              <a:rPr lang="en-US" sz="800" b="0" i="0" dirty="0">
                <a:solidFill>
                  <a:srgbClr val="474747"/>
                </a:solidFill>
                <a:effectLst/>
                <a:latin typeface="DejaVu Sans Mono"/>
              </a:rPr>
              <a:t>List</a:t>
            </a:r>
            <a:r>
              <a:rPr lang="en-US" sz="800" b="0" i="0" dirty="0">
                <a:solidFill>
                  <a:srgbClr val="474747"/>
                </a:solidFill>
                <a:effectLst/>
                <a:latin typeface="DejaVu Serif"/>
              </a:rPr>
              <a:t> interface provides two methods to search for a specified object. From a performance standpoint, these methods should be used with caution. In many implementations they will perform costly linear searches.</a:t>
            </a:r>
          </a:p>
          <a:p>
            <a:pPr algn="l">
              <a:spcBef>
                <a:spcPts val="225"/>
              </a:spcBef>
              <a:spcAft>
                <a:spcPts val="150"/>
              </a:spcAft>
              <a:buNone/>
            </a:pPr>
            <a:r>
              <a:rPr lang="en-US" sz="800" b="0" i="0" dirty="0">
                <a:solidFill>
                  <a:srgbClr val="474747"/>
                </a:solidFill>
                <a:effectLst/>
                <a:latin typeface="DejaVu Serif"/>
              </a:rPr>
              <a:t>The </a:t>
            </a:r>
            <a:r>
              <a:rPr lang="en-US" sz="800" b="0" i="0" dirty="0">
                <a:solidFill>
                  <a:srgbClr val="474747"/>
                </a:solidFill>
                <a:effectLst/>
                <a:latin typeface="DejaVu Sans Mono"/>
              </a:rPr>
              <a:t>List</a:t>
            </a:r>
            <a:r>
              <a:rPr lang="en-US" sz="800" b="0" i="0" dirty="0">
                <a:solidFill>
                  <a:srgbClr val="474747"/>
                </a:solidFill>
                <a:effectLst/>
                <a:latin typeface="DejaVu Serif"/>
              </a:rPr>
              <a:t> interface provides two methods to efficiently insert and remove multiple elements at an arbitrary point in the list.</a:t>
            </a:r>
          </a:p>
          <a:p>
            <a:pPr algn="l">
              <a:spcBef>
                <a:spcPts val="225"/>
              </a:spcBef>
              <a:spcAft>
                <a:spcPts val="150"/>
              </a:spcAft>
              <a:buNone/>
            </a:pPr>
            <a:r>
              <a:rPr lang="en-US" sz="800" b="0" i="0" dirty="0">
                <a:solidFill>
                  <a:srgbClr val="474747"/>
                </a:solidFill>
                <a:effectLst/>
                <a:latin typeface="DejaVu Serif"/>
              </a:rPr>
              <a:t>Note: While it is permissible for lists to contain themselves as elements, extreme caution is advised: the </a:t>
            </a:r>
            <a:r>
              <a:rPr lang="en-US" sz="800" b="0" i="0" dirty="0">
                <a:solidFill>
                  <a:srgbClr val="474747"/>
                </a:solidFill>
                <a:effectLst/>
                <a:latin typeface="DejaVu Sans Mono"/>
              </a:rPr>
              <a:t>equals</a:t>
            </a:r>
            <a:r>
              <a:rPr lang="en-US" sz="800" b="0" i="0" dirty="0">
                <a:solidFill>
                  <a:srgbClr val="474747"/>
                </a:solidFill>
                <a:effectLst/>
                <a:latin typeface="DejaVu Serif"/>
              </a:rPr>
              <a:t> and </a:t>
            </a:r>
            <a:r>
              <a:rPr lang="en-US" sz="800" b="0" i="0" dirty="0" err="1">
                <a:solidFill>
                  <a:srgbClr val="474747"/>
                </a:solidFill>
                <a:effectLst/>
                <a:latin typeface="DejaVu Sans Mono"/>
              </a:rPr>
              <a:t>hashCode</a:t>
            </a:r>
            <a:r>
              <a:rPr lang="en-US" sz="800" b="0" i="0" dirty="0">
                <a:solidFill>
                  <a:srgbClr val="474747"/>
                </a:solidFill>
                <a:effectLst/>
                <a:latin typeface="DejaVu Serif"/>
              </a:rPr>
              <a:t> methods are no longer well defined on such a list.</a:t>
            </a:r>
          </a:p>
          <a:p>
            <a:pPr algn="l">
              <a:spcBef>
                <a:spcPts val="225"/>
              </a:spcBef>
              <a:spcAft>
                <a:spcPts val="150"/>
              </a:spcAft>
              <a:buNone/>
            </a:pPr>
            <a:r>
              <a:rPr lang="en-US" sz="800" b="0" i="0" dirty="0">
                <a:solidFill>
                  <a:srgbClr val="474747"/>
                </a:solidFill>
                <a:effectLst/>
                <a:latin typeface="DejaVu Serif"/>
              </a:rPr>
              <a:t>Some list implementations have restrictions on the elements that they may contain. For example, some implementations prohibit null elements, and some have restrictions on the types of their elements. Attempting to add an ineligible element throws an unchecked exception, typically </a:t>
            </a:r>
            <a:r>
              <a:rPr lang="en-US" sz="800" b="0" i="0" dirty="0" err="1">
                <a:solidFill>
                  <a:srgbClr val="474747"/>
                </a:solidFill>
                <a:effectLst/>
                <a:latin typeface="DejaVu Sans Mono"/>
              </a:rPr>
              <a:t>NullPointerException</a:t>
            </a:r>
            <a:r>
              <a:rPr lang="en-US" sz="800" b="0" i="0" dirty="0">
                <a:solidFill>
                  <a:srgbClr val="474747"/>
                </a:solidFill>
                <a:effectLst/>
                <a:latin typeface="DejaVu Serif"/>
              </a:rPr>
              <a:t> or </a:t>
            </a:r>
            <a:r>
              <a:rPr lang="en-US" sz="800" b="0" i="0" dirty="0" err="1">
                <a:solidFill>
                  <a:srgbClr val="474747"/>
                </a:solidFill>
                <a:effectLst/>
                <a:latin typeface="DejaVu Sans Mono"/>
              </a:rPr>
              <a:t>ClassCastException</a:t>
            </a:r>
            <a:r>
              <a:rPr lang="en-US" sz="800" b="0" i="0" dirty="0">
                <a:solidFill>
                  <a:srgbClr val="474747"/>
                </a:solidFill>
                <a:effectLst/>
                <a:latin typeface="DejaVu Serif"/>
              </a:rPr>
              <a:t>. Attempting to query the presence of an ineligible element may throw an exception, or it may simply return false; some implementations will exhibit the former behavior and some will exhibit the latter. More generally, attempting an operation on an ineligible element whose completion would not result in the insertion of an ineligible element into the list may throw an exception or it may succeed, at the option of the implementation. Such exceptions are marked as "optional" in the specification for this interface.</a:t>
            </a:r>
          </a:p>
          <a:p>
            <a:pPr algn="l">
              <a:spcBef>
                <a:spcPts val="225"/>
              </a:spcBef>
              <a:spcAft>
                <a:spcPts val="150"/>
              </a:spcAft>
              <a:buNone/>
            </a:pPr>
            <a:r>
              <a:rPr lang="en-US" sz="800" b="0" i="0" dirty="0">
                <a:solidFill>
                  <a:srgbClr val="474747"/>
                </a:solidFill>
                <a:effectLst/>
                <a:latin typeface="DejaVu Serif"/>
              </a:rPr>
              <a:t>This interface is a member of the </a:t>
            </a:r>
            <a:r>
              <a:rPr lang="en-US" sz="800" b="0" i="0" u="none" strike="noStrike" dirty="0">
                <a:solidFill>
                  <a:srgbClr val="4A6782"/>
                </a:solidFill>
                <a:effectLst/>
                <a:latin typeface="DejaVu Serif"/>
                <a:hlinkClick r:id="rId3"/>
              </a:rPr>
              <a:t>Java Collections Framework</a:t>
            </a:r>
            <a:r>
              <a:rPr lang="en-US" sz="800" b="0" i="0" dirty="0">
                <a:solidFill>
                  <a:srgbClr val="474747"/>
                </a:solidFill>
                <a:effectLst/>
                <a:latin typeface="DejaVu Serif"/>
              </a:rPr>
              <a:t>.</a:t>
            </a:r>
          </a:p>
          <a:p>
            <a:pPr algn="l">
              <a:spcBef>
                <a:spcPts val="750"/>
              </a:spcBef>
              <a:buNone/>
            </a:pPr>
            <a:r>
              <a:rPr lang="en-US" sz="800" b="1" i="0" dirty="0">
                <a:solidFill>
                  <a:srgbClr val="4E4E4E"/>
                </a:solidFill>
                <a:effectLst/>
                <a:latin typeface="DejaVu Sans"/>
              </a:rPr>
              <a:t>Since:</a:t>
            </a:r>
          </a:p>
          <a:p>
            <a:pPr algn="l">
              <a:spcBef>
                <a:spcPts val="375"/>
              </a:spcBef>
              <a:spcAft>
                <a:spcPts val="750"/>
              </a:spcAft>
              <a:buNone/>
            </a:pPr>
            <a:r>
              <a:rPr lang="en-US" sz="800" b="0" i="0" dirty="0">
                <a:solidFill>
                  <a:srgbClr val="353833"/>
                </a:solidFill>
                <a:effectLst/>
                <a:latin typeface="DejaVu Sans Mono"/>
              </a:rPr>
              <a:t>1.2</a:t>
            </a:r>
          </a:p>
        </p:txBody>
      </p:sp>
    </p:spTree>
    <p:extLst>
      <p:ext uri="{BB962C8B-B14F-4D97-AF65-F5344CB8AC3E}">
        <p14:creationId xmlns:p14="http://schemas.microsoft.com/office/powerpoint/2010/main" val="1275816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6DEE6EA-6D78-B501-052C-F955057961CC}"/>
              </a:ext>
            </a:extLst>
          </p:cNvPr>
          <p:cNvGraphicFramePr>
            <a:graphicFrameLocks noGrp="1"/>
          </p:cNvGraphicFramePr>
          <p:nvPr>
            <p:extLst>
              <p:ext uri="{D42A27DB-BD31-4B8C-83A1-F6EECF244321}">
                <p14:modId xmlns:p14="http://schemas.microsoft.com/office/powerpoint/2010/main" val="4018052835"/>
              </p:ext>
            </p:extLst>
          </p:nvPr>
        </p:nvGraphicFramePr>
        <p:xfrm>
          <a:off x="396241" y="411480"/>
          <a:ext cx="9220200" cy="6242551"/>
        </p:xfrm>
        <a:graphic>
          <a:graphicData uri="http://schemas.openxmlformats.org/drawingml/2006/table">
            <a:tbl>
              <a:tblPr/>
              <a:tblGrid>
                <a:gridCol w="2183995">
                  <a:extLst>
                    <a:ext uri="{9D8B030D-6E8A-4147-A177-3AD203B41FA5}">
                      <a16:colId xmlns:a16="http://schemas.microsoft.com/office/drawing/2014/main" val="2194387654"/>
                    </a:ext>
                  </a:extLst>
                </a:gridCol>
                <a:gridCol w="3560821">
                  <a:extLst>
                    <a:ext uri="{9D8B030D-6E8A-4147-A177-3AD203B41FA5}">
                      <a16:colId xmlns:a16="http://schemas.microsoft.com/office/drawing/2014/main" val="607948344"/>
                    </a:ext>
                  </a:extLst>
                </a:gridCol>
                <a:gridCol w="3475384">
                  <a:extLst>
                    <a:ext uri="{9D8B030D-6E8A-4147-A177-3AD203B41FA5}">
                      <a16:colId xmlns:a16="http://schemas.microsoft.com/office/drawing/2014/main" val="493992475"/>
                    </a:ext>
                  </a:extLst>
                </a:gridCol>
              </a:tblGrid>
              <a:tr h="88577">
                <a:tc gridSpan="3">
                  <a:txBody>
                    <a:bodyPr/>
                    <a:lstStyle/>
                    <a:p>
                      <a:pPr>
                        <a:buNone/>
                      </a:pPr>
                      <a:r>
                        <a:rPr lang="en-US" sz="800"/>
                        <a:t>All MethodsInstance MethodsAbstract MethodsDefault Methods</a:t>
                      </a:r>
                    </a:p>
                  </a:txBody>
                  <a:tcPr marL="2571" marR="2571" marT="2571" marB="2571"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69394260"/>
                  </a:ext>
                </a:extLst>
              </a:tr>
              <a:tr h="94256">
                <a:tc>
                  <a:txBody>
                    <a:bodyPr/>
                    <a:lstStyle/>
                    <a:p>
                      <a:pPr algn="l" fontAlgn="t">
                        <a:buNone/>
                      </a:pPr>
                      <a:r>
                        <a:rPr lang="en-US" sz="800">
                          <a:effectLst/>
                        </a:rPr>
                        <a:t>Modifier and Type</a:t>
                      </a: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800">
                          <a:effectLst/>
                        </a:rPr>
                        <a:t>Method</a:t>
                      </a: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800">
                          <a:effectLst/>
                        </a:rPr>
                        <a:t>Description</a:t>
                      </a: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38033125"/>
                  </a:ext>
                </a:extLst>
              </a:tr>
              <a:tr h="176020">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
                        </a:rPr>
                        <a:t>add</a:t>
                      </a:r>
                      <a:r>
                        <a:rPr lang="en-US" sz="800" b="0">
                          <a:effectLst/>
                          <a:latin typeface="DejaVu Sans Mono"/>
                        </a:rPr>
                        <a:t>(</a:t>
                      </a:r>
                      <a:r>
                        <a:rPr lang="en-US" sz="800" b="1" u="none" strike="noStrike">
                          <a:solidFill>
                            <a:srgbClr val="4A6782"/>
                          </a:solidFill>
                          <a:effectLst/>
                          <a:latin typeface="DejaVu Sans Mono"/>
                          <a:hlinkClick r:id="rId3" tooltip="type parameter in List"/>
                        </a:rPr>
                        <a:t>E</a:t>
                      </a:r>
                      <a:r>
                        <a:rPr lang="en-US" sz="800" b="0">
                          <a:effectLst/>
                          <a:latin typeface="DejaVu Sans Mono"/>
                        </a:rPr>
                        <a:t> e)</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Appends the specified element to the end of this list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16549839"/>
                  </a:ext>
                </a:extLst>
              </a:tr>
              <a:tr h="216901">
                <a:tc>
                  <a:txBody>
                    <a:bodyPr/>
                    <a:lstStyle/>
                    <a:p>
                      <a:pPr algn="l" fontAlgn="t">
                        <a:buNone/>
                      </a:pPr>
                      <a:r>
                        <a:rPr lang="en-US" sz="800">
                          <a:effectLst/>
                          <a:latin typeface="DejaVu Sans Mono"/>
                        </a:rPr>
                        <a:t>void</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4"/>
                        </a:rPr>
                        <a:t>add</a:t>
                      </a:r>
                      <a:r>
                        <a:rPr lang="en-US" sz="800" b="0">
                          <a:effectLst/>
                          <a:latin typeface="DejaVu Sans Mono"/>
                        </a:rPr>
                        <a:t>(int index, </a:t>
                      </a:r>
                      <a:r>
                        <a:rPr lang="en-US" sz="800" b="1" u="none" strike="noStrike">
                          <a:solidFill>
                            <a:srgbClr val="4A6782"/>
                          </a:solidFill>
                          <a:effectLst/>
                          <a:latin typeface="DejaVu Sans Mono"/>
                          <a:hlinkClick r:id="rId3" tooltip="type parameter in List"/>
                        </a:rPr>
                        <a:t>E</a:t>
                      </a:r>
                      <a:r>
                        <a:rPr lang="en-US" sz="800" b="0">
                          <a:effectLst/>
                          <a:latin typeface="DejaVu Sans Mono"/>
                        </a:rPr>
                        <a:t> element)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Inserts the specified element at the specified position in this list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796661230"/>
                  </a:ext>
                </a:extLst>
              </a:tr>
              <a:tr h="380429">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5"/>
                        </a:rPr>
                        <a:t>addAll</a:t>
                      </a:r>
                      <a:r>
                        <a:rPr lang="en-US" sz="800" b="0">
                          <a:effectLst/>
                          <a:latin typeface="DejaVu Sans Mono"/>
                        </a:rPr>
                        <a:t>(</a:t>
                      </a:r>
                      <a:r>
                        <a:rPr lang="en-US" sz="800" b="1" u="none" strike="noStrike">
                          <a:solidFill>
                            <a:srgbClr val="4A6782"/>
                          </a:solidFill>
                          <a:effectLst/>
                          <a:latin typeface="DejaVu Sans Mono"/>
                          <a:hlinkClick r:id="rId6" tooltip="interface in java.util"/>
                        </a:rPr>
                        <a:t>Collection</a:t>
                      </a:r>
                      <a:r>
                        <a:rPr lang="en-US" sz="800" b="0">
                          <a:effectLst/>
                          <a:latin typeface="DejaVu Sans Mono"/>
                        </a:rPr>
                        <a:t>&lt;? extends </a:t>
                      </a:r>
                      <a:r>
                        <a:rPr lang="en-US" sz="800" b="1" u="none" strike="noStrike">
                          <a:solidFill>
                            <a:srgbClr val="4A6782"/>
                          </a:solidFill>
                          <a:effectLst/>
                          <a:latin typeface="DejaVu Sans Mono"/>
                          <a:hlinkClick r:id="rId3" tooltip="type parameter in List"/>
                        </a:rPr>
                        <a:t>E</a:t>
                      </a:r>
                      <a:r>
                        <a:rPr lang="en-US" sz="800" b="0">
                          <a:effectLst/>
                          <a:latin typeface="DejaVu Sans Mono"/>
                        </a:rPr>
                        <a: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Appends all of the elements in the specified collection to the end of this list, in the order that they are returned by the specified collection's iterator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35580282"/>
                  </a:ext>
                </a:extLst>
              </a:tr>
              <a:tr h="257784">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7"/>
                        </a:rPr>
                        <a:t>addAll</a:t>
                      </a:r>
                      <a:r>
                        <a:rPr lang="en-US" sz="800" b="0">
                          <a:effectLst/>
                          <a:latin typeface="DejaVu Sans Mono"/>
                        </a:rPr>
                        <a:t>(int index, </a:t>
                      </a:r>
                      <a:r>
                        <a:rPr lang="en-US" sz="800" b="1" u="none" strike="noStrike">
                          <a:solidFill>
                            <a:srgbClr val="4A6782"/>
                          </a:solidFill>
                          <a:effectLst/>
                          <a:latin typeface="DejaVu Sans Mono"/>
                          <a:hlinkClick r:id="rId6" tooltip="interface in java.util"/>
                        </a:rPr>
                        <a:t>Collection</a:t>
                      </a:r>
                      <a:r>
                        <a:rPr lang="en-US" sz="800" b="0">
                          <a:effectLst/>
                          <a:latin typeface="DejaVu Sans Mono"/>
                        </a:rPr>
                        <a:t>&lt;? extends </a:t>
                      </a:r>
                      <a:r>
                        <a:rPr lang="en-US" sz="800" b="1" u="none" strike="noStrike">
                          <a:solidFill>
                            <a:srgbClr val="4A6782"/>
                          </a:solidFill>
                          <a:effectLst/>
                          <a:latin typeface="DejaVu Sans Mono"/>
                          <a:hlinkClick r:id="rId3" tooltip="type parameter in List"/>
                        </a:rPr>
                        <a:t>E</a:t>
                      </a:r>
                      <a:r>
                        <a:rPr lang="en-US" sz="800" b="0">
                          <a:effectLst/>
                          <a:latin typeface="DejaVu Sans Mono"/>
                        </a:rPr>
                        <a: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Inserts all of the elements in the specified collection into this list at the specified position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340461888"/>
                  </a:ext>
                </a:extLst>
              </a:tr>
              <a:tr h="135137">
                <a:tc>
                  <a:txBody>
                    <a:bodyPr/>
                    <a:lstStyle/>
                    <a:p>
                      <a:pPr algn="l" fontAlgn="t">
                        <a:buNone/>
                      </a:pPr>
                      <a:r>
                        <a:rPr lang="en-US" sz="800">
                          <a:effectLst/>
                          <a:latin typeface="DejaVu Sans Mono"/>
                        </a:rPr>
                        <a:t>void</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8"/>
                        </a:rPr>
                        <a:t>clear</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Removes all of the elements from this list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604257695"/>
                  </a:ext>
                </a:extLst>
              </a:tr>
              <a:tr h="135137">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9"/>
                        </a:rPr>
                        <a:t>contains</a:t>
                      </a:r>
                      <a:r>
                        <a:rPr lang="en-US" sz="800" b="0">
                          <a:effectLst/>
                          <a:latin typeface="DejaVu Sans Mono"/>
                        </a:rPr>
                        <a:t>(</a:t>
                      </a:r>
                      <a:r>
                        <a:rPr lang="en-US" sz="800" b="1" u="none" strike="noStrike">
                          <a:solidFill>
                            <a:srgbClr val="4A6782"/>
                          </a:solidFill>
                          <a:effectLst/>
                          <a:latin typeface="DejaVu Sans Mono"/>
                          <a:hlinkClick r:id="rId10" tooltip="class in java.lang"/>
                        </a:rPr>
                        <a:t>Object</a:t>
                      </a:r>
                      <a:r>
                        <a:rPr lang="en-US" sz="800" b="0">
                          <a:effectLst/>
                          <a:latin typeface="DejaVu Sans Mono"/>
                        </a:rPr>
                        <a:t> o)</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list contains the specified element.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677274449"/>
                  </a:ext>
                </a:extLst>
              </a:tr>
              <a:tr h="176020">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1"/>
                        </a:rPr>
                        <a:t>containsAll</a:t>
                      </a:r>
                      <a:r>
                        <a:rPr lang="en-US" sz="800" b="0">
                          <a:effectLst/>
                          <a:latin typeface="DejaVu Sans Mono"/>
                        </a:rPr>
                        <a:t>(</a:t>
                      </a:r>
                      <a:r>
                        <a:rPr lang="en-US" sz="800" b="1" u="none" strike="noStrike">
                          <a:solidFill>
                            <a:srgbClr val="4A6782"/>
                          </a:solidFill>
                          <a:effectLst/>
                          <a:latin typeface="DejaVu Sans Mono"/>
                          <a:hlinkClick r:id="rId6" tooltip="interface in java.util"/>
                        </a:rPr>
                        <a:t>Collection</a:t>
                      </a:r>
                      <a:r>
                        <a:rPr lang="en-US" sz="800" b="0">
                          <a:effectLst/>
                          <a:latin typeface="DejaVu Sans Mono"/>
                        </a:rPr>
                        <a:t>&lt;?&gt;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list contains all of the elements of the specified collection.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488762240"/>
                  </a:ext>
                </a:extLst>
              </a:tr>
              <a:tr h="135137">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2"/>
                        </a:rPr>
                        <a:t>equals</a:t>
                      </a:r>
                      <a:r>
                        <a:rPr lang="en-US" sz="800" b="0">
                          <a:effectLst/>
                          <a:latin typeface="DejaVu Sans Mono"/>
                        </a:rPr>
                        <a:t>(</a:t>
                      </a:r>
                      <a:r>
                        <a:rPr lang="en-US" sz="800" b="1" u="none" strike="noStrike">
                          <a:solidFill>
                            <a:srgbClr val="4A6782"/>
                          </a:solidFill>
                          <a:effectLst/>
                          <a:latin typeface="DejaVu Sans Mono"/>
                          <a:hlinkClick r:id="rId10" tooltip="class in java.lang"/>
                        </a:rPr>
                        <a:t>Object</a:t>
                      </a:r>
                      <a:r>
                        <a:rPr lang="en-US" sz="800" b="0">
                          <a:effectLst/>
                          <a:latin typeface="DejaVu Sans Mono"/>
                        </a:rPr>
                        <a:t> o)</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Compares the specified object with this list for equality.</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013766009"/>
                  </a:ext>
                </a:extLst>
              </a:tr>
              <a:tr h="135137">
                <a:tc>
                  <a:txBody>
                    <a:bodyPr/>
                    <a:lstStyle/>
                    <a:p>
                      <a:pPr algn="l" fontAlgn="t">
                        <a:buNone/>
                      </a:pPr>
                      <a:r>
                        <a:rPr lang="en-US" sz="800" b="1" u="none" strike="noStrike">
                          <a:solidFill>
                            <a:srgbClr val="4A6782"/>
                          </a:solidFill>
                          <a:effectLst/>
                          <a:latin typeface="DejaVu Sans Mono"/>
                          <a:hlinkClick r:id="rId3" tooltip="type parameter in List"/>
                        </a:rPr>
                        <a:t>E</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3"/>
                        </a:rPr>
                        <a:t>get</a:t>
                      </a:r>
                      <a:r>
                        <a:rPr lang="en-US" sz="800" b="0">
                          <a:effectLst/>
                          <a:latin typeface="DejaVu Sans Mono"/>
                        </a:rPr>
                        <a:t>(int index)</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the element at the specified position in this list.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717117353"/>
                  </a:ext>
                </a:extLst>
              </a:tr>
              <a:tr h="94256">
                <a:tc>
                  <a:txBody>
                    <a:bodyPr/>
                    <a:lstStyle/>
                    <a:p>
                      <a:pPr algn="l" fontAlgn="t">
                        <a:buNone/>
                      </a:pPr>
                      <a:r>
                        <a:rPr lang="en-US" sz="800">
                          <a:effectLst/>
                          <a:latin typeface="DejaVu Sans Mono"/>
                        </a:rPr>
                        <a:t>int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4"/>
                        </a:rPr>
                        <a:t>hashCode</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the hash code value for this list.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4102662872"/>
                  </a:ext>
                </a:extLst>
              </a:tr>
              <a:tr h="257784">
                <a:tc>
                  <a:txBody>
                    <a:bodyPr/>
                    <a:lstStyle/>
                    <a:p>
                      <a:pPr algn="l" fontAlgn="t">
                        <a:buNone/>
                      </a:pPr>
                      <a:r>
                        <a:rPr lang="en-US" sz="800">
                          <a:effectLst/>
                          <a:latin typeface="DejaVu Sans Mono"/>
                        </a:rPr>
                        <a:t>int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5"/>
                        </a:rPr>
                        <a:t>indexOf</a:t>
                      </a:r>
                      <a:r>
                        <a:rPr lang="en-US" sz="800" b="0">
                          <a:effectLst/>
                          <a:latin typeface="DejaVu Sans Mono"/>
                        </a:rPr>
                        <a:t>(</a:t>
                      </a:r>
                      <a:r>
                        <a:rPr lang="en-US" sz="800" b="1" u="none" strike="noStrike">
                          <a:solidFill>
                            <a:srgbClr val="4A6782"/>
                          </a:solidFill>
                          <a:effectLst/>
                          <a:latin typeface="DejaVu Sans Mono"/>
                          <a:hlinkClick r:id="rId10" tooltip="class in java.lang"/>
                        </a:rPr>
                        <a:t>Object</a:t>
                      </a:r>
                      <a:r>
                        <a:rPr lang="en-US" sz="800" b="0">
                          <a:effectLst/>
                          <a:latin typeface="DejaVu Sans Mono"/>
                        </a:rPr>
                        <a:t> o)</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the index of the first occurrence of the specified element in this list, or -1 if this list does not contain the element.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181320718"/>
                  </a:ext>
                </a:extLst>
              </a:tr>
              <a:tr h="94256">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6"/>
                        </a:rPr>
                        <a:t>isEmpty</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t>
                      </a:r>
                      <a:r>
                        <a:rPr lang="en-US" sz="800">
                          <a:solidFill>
                            <a:srgbClr val="474747"/>
                          </a:solidFill>
                          <a:effectLst/>
                          <a:latin typeface="DejaVu Sans Mono"/>
                        </a:rPr>
                        <a:t>true</a:t>
                      </a:r>
                      <a:r>
                        <a:rPr lang="en-US" sz="800">
                          <a:solidFill>
                            <a:srgbClr val="474747"/>
                          </a:solidFill>
                          <a:effectLst/>
                          <a:latin typeface="DejaVu Serif"/>
                        </a:rPr>
                        <a:t> if this list contains no elements.</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880907899"/>
                  </a:ext>
                </a:extLst>
              </a:tr>
              <a:tr h="135137">
                <a:tc>
                  <a:txBody>
                    <a:bodyPr/>
                    <a:lstStyle/>
                    <a:p>
                      <a:pPr algn="l" fontAlgn="t">
                        <a:buNone/>
                      </a:pPr>
                      <a:r>
                        <a:rPr lang="en-US" sz="800" b="1" u="none" strike="noStrike">
                          <a:solidFill>
                            <a:srgbClr val="4A6782"/>
                          </a:solidFill>
                          <a:effectLst/>
                          <a:latin typeface="DejaVu Sans Mono"/>
                          <a:hlinkClick r:id="rId17" tooltip="interface in java.util"/>
                        </a:rPr>
                        <a:t>Iterator</a:t>
                      </a:r>
                      <a:r>
                        <a:rPr lang="en-US" sz="800">
                          <a:effectLst/>
                          <a:latin typeface="DejaVu Sans Mono"/>
                        </a:rPr>
                        <a:t>&lt;</a:t>
                      </a:r>
                      <a:r>
                        <a:rPr lang="en-US" sz="800" b="1" u="none" strike="noStrike">
                          <a:solidFill>
                            <a:srgbClr val="4A6782"/>
                          </a:solidFill>
                          <a:effectLst/>
                          <a:latin typeface="DejaVu Sans Mono"/>
                          <a:hlinkClick r:id="rId3" tooltip="type parameter in List"/>
                        </a:rPr>
                        <a:t>E</a:t>
                      </a:r>
                      <a:r>
                        <a:rPr lang="en-US" sz="800">
                          <a:effectLst/>
                          <a:latin typeface="DejaVu Sans Mono"/>
                        </a:rPr>
                        <a:t>&gt;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18"/>
                        </a:rPr>
                        <a:t>iterator</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an iterator over the elements in this list in proper sequence.</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991869303"/>
                  </a:ext>
                </a:extLst>
              </a:tr>
              <a:tr h="257784">
                <a:tc>
                  <a:txBody>
                    <a:bodyPr/>
                    <a:lstStyle/>
                    <a:p>
                      <a:pPr algn="l" fontAlgn="t">
                        <a:buNone/>
                      </a:pPr>
                      <a:r>
                        <a:rPr lang="en-US" sz="800">
                          <a:effectLst/>
                          <a:latin typeface="DejaVu Sans Mono"/>
                        </a:rPr>
                        <a:t>int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19"/>
                        </a:rPr>
                        <a:t>lastIndexOf</a:t>
                      </a:r>
                      <a:r>
                        <a:rPr lang="en-US" sz="800" b="0">
                          <a:effectLst/>
                          <a:latin typeface="DejaVu Sans Mono"/>
                        </a:rPr>
                        <a:t>(</a:t>
                      </a:r>
                      <a:r>
                        <a:rPr lang="en-US" sz="800" b="1" u="none" strike="noStrike">
                          <a:solidFill>
                            <a:srgbClr val="4A6782"/>
                          </a:solidFill>
                          <a:effectLst/>
                          <a:latin typeface="DejaVu Sans Mono"/>
                          <a:hlinkClick r:id="rId10" tooltip="class in java.lang"/>
                        </a:rPr>
                        <a:t>Object</a:t>
                      </a:r>
                      <a:r>
                        <a:rPr lang="en-US" sz="800" b="0">
                          <a:effectLst/>
                          <a:latin typeface="DejaVu Sans Mono"/>
                        </a:rPr>
                        <a:t> o)</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the index of the last occurrence of the specified element in this list, or -1 if this list does not contain the element.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224261418"/>
                  </a:ext>
                </a:extLst>
              </a:tr>
              <a:tr h="176020">
                <a:tc>
                  <a:txBody>
                    <a:bodyPr/>
                    <a:lstStyle/>
                    <a:p>
                      <a:pPr algn="l" fontAlgn="t">
                        <a:buNone/>
                      </a:pPr>
                      <a:r>
                        <a:rPr lang="en-US" sz="800" b="1" u="none" strike="noStrike">
                          <a:solidFill>
                            <a:srgbClr val="4A6782"/>
                          </a:solidFill>
                          <a:effectLst/>
                          <a:latin typeface="DejaVu Sans Mono"/>
                          <a:hlinkClick r:id="rId20" tooltip="interface in java.util"/>
                        </a:rPr>
                        <a:t>ListIterator</a:t>
                      </a:r>
                      <a:r>
                        <a:rPr lang="en-US" sz="800">
                          <a:effectLst/>
                          <a:latin typeface="DejaVu Sans Mono"/>
                        </a:rPr>
                        <a:t>&lt;</a:t>
                      </a:r>
                      <a:r>
                        <a:rPr lang="en-US" sz="800" b="1" u="none" strike="noStrike">
                          <a:solidFill>
                            <a:srgbClr val="4A6782"/>
                          </a:solidFill>
                          <a:effectLst/>
                          <a:latin typeface="DejaVu Sans Mono"/>
                          <a:hlinkClick r:id="rId3" tooltip="type parameter in List"/>
                        </a:rPr>
                        <a:t>E</a:t>
                      </a:r>
                      <a:r>
                        <a:rPr lang="en-US" sz="800">
                          <a:effectLst/>
                          <a:latin typeface="DejaVu Sans Mono"/>
                        </a:rPr>
                        <a:t>&gt;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1"/>
                        </a:rPr>
                        <a:t>listIterator</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 list iterator over the elements in this list (in proper sequence).</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525718148"/>
                  </a:ext>
                </a:extLst>
              </a:tr>
              <a:tr h="257784">
                <a:tc>
                  <a:txBody>
                    <a:bodyPr/>
                    <a:lstStyle/>
                    <a:p>
                      <a:pPr algn="l" fontAlgn="t">
                        <a:buNone/>
                      </a:pPr>
                      <a:r>
                        <a:rPr lang="en-US" sz="800" b="1" u="none" strike="noStrike">
                          <a:solidFill>
                            <a:srgbClr val="4A6782"/>
                          </a:solidFill>
                          <a:effectLst/>
                          <a:latin typeface="DejaVu Sans Mono"/>
                          <a:hlinkClick r:id="rId20" tooltip="interface in java.util"/>
                        </a:rPr>
                        <a:t>ListIterator</a:t>
                      </a:r>
                      <a:r>
                        <a:rPr lang="en-US" sz="800">
                          <a:effectLst/>
                          <a:latin typeface="DejaVu Sans Mono"/>
                        </a:rPr>
                        <a:t>&lt;</a:t>
                      </a:r>
                      <a:r>
                        <a:rPr lang="en-US" sz="800" b="1" u="none" strike="noStrike">
                          <a:solidFill>
                            <a:srgbClr val="4A6782"/>
                          </a:solidFill>
                          <a:effectLst/>
                          <a:latin typeface="DejaVu Sans Mono"/>
                          <a:hlinkClick r:id="rId3" tooltip="type parameter in List"/>
                        </a:rPr>
                        <a:t>E</a:t>
                      </a:r>
                      <a:r>
                        <a:rPr lang="en-US" sz="800">
                          <a:effectLst/>
                          <a:latin typeface="DejaVu Sans Mono"/>
                        </a:rPr>
                        <a:t>&gt;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2"/>
                        </a:rPr>
                        <a:t>listIterator</a:t>
                      </a:r>
                      <a:r>
                        <a:rPr lang="en-US" sz="800" b="0">
                          <a:effectLst/>
                          <a:latin typeface="DejaVu Sans Mono"/>
                        </a:rPr>
                        <a:t>(int index)</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 list iterator over the elements in this list (in proper sequence), starting at the specified position in the list.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038540672"/>
                  </a:ext>
                </a:extLst>
              </a:tr>
              <a:tr h="176020">
                <a:tc>
                  <a:txBody>
                    <a:bodyPr/>
                    <a:lstStyle/>
                    <a:p>
                      <a:pPr algn="l" fontAlgn="t">
                        <a:buNone/>
                      </a:pPr>
                      <a:r>
                        <a:rPr lang="en-US" sz="800" b="1" u="none" strike="noStrike">
                          <a:solidFill>
                            <a:srgbClr val="4A6782"/>
                          </a:solidFill>
                          <a:effectLst/>
                          <a:latin typeface="DejaVu Sans Mono"/>
                          <a:hlinkClick r:id="rId3" tooltip="type parameter in List"/>
                        </a:rPr>
                        <a:t>E</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3"/>
                        </a:rPr>
                        <a:t>remove</a:t>
                      </a:r>
                      <a:r>
                        <a:rPr lang="en-US" sz="800" b="0">
                          <a:effectLst/>
                          <a:latin typeface="DejaVu Sans Mono"/>
                        </a:rPr>
                        <a:t>(int index)</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Removes the element at the specified position in this list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450533508"/>
                  </a:ext>
                </a:extLst>
              </a:tr>
              <a:tr h="216901">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4"/>
                        </a:rPr>
                        <a:t>remove</a:t>
                      </a:r>
                      <a:r>
                        <a:rPr lang="en-US" sz="800" b="0">
                          <a:effectLst/>
                          <a:latin typeface="DejaVu Sans Mono"/>
                        </a:rPr>
                        <a:t>(</a:t>
                      </a:r>
                      <a:r>
                        <a:rPr lang="en-US" sz="800" b="1" u="none" strike="noStrike">
                          <a:solidFill>
                            <a:srgbClr val="4A6782"/>
                          </a:solidFill>
                          <a:effectLst/>
                          <a:latin typeface="DejaVu Sans Mono"/>
                          <a:hlinkClick r:id="rId10" tooltip="class in java.lang"/>
                        </a:rPr>
                        <a:t>Object</a:t>
                      </a:r>
                      <a:r>
                        <a:rPr lang="en-US" sz="800" b="0">
                          <a:effectLst/>
                          <a:latin typeface="DejaVu Sans Mono"/>
                        </a:rPr>
                        <a:t> o)</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Removes the first occurrence of the specified element from this list, if it is present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489329378"/>
                  </a:ext>
                </a:extLst>
              </a:tr>
              <a:tr h="216901">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5"/>
                        </a:rPr>
                        <a:t>removeAll</a:t>
                      </a:r>
                      <a:r>
                        <a:rPr lang="en-US" sz="800" b="0">
                          <a:effectLst/>
                          <a:latin typeface="DejaVu Sans Mono"/>
                        </a:rPr>
                        <a:t>(</a:t>
                      </a:r>
                      <a:r>
                        <a:rPr lang="en-US" sz="800" b="1" u="none" strike="noStrike">
                          <a:solidFill>
                            <a:srgbClr val="4A6782"/>
                          </a:solidFill>
                          <a:effectLst/>
                          <a:latin typeface="DejaVu Sans Mono"/>
                          <a:hlinkClick r:id="rId6" tooltip="interface in java.util"/>
                        </a:rPr>
                        <a:t>Collection</a:t>
                      </a:r>
                      <a:r>
                        <a:rPr lang="en-US" sz="800" b="0">
                          <a:effectLst/>
                          <a:latin typeface="DejaVu Sans Mono"/>
                        </a:rPr>
                        <a:t>&lt;?&gt;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Removes from this list all of its elements that are contained in the specified collection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184706065"/>
                  </a:ext>
                </a:extLst>
              </a:tr>
              <a:tr h="216901">
                <a:tc>
                  <a:txBody>
                    <a:bodyPr/>
                    <a:lstStyle/>
                    <a:p>
                      <a:pPr algn="l" fontAlgn="t">
                        <a:buNone/>
                      </a:pPr>
                      <a:r>
                        <a:rPr lang="en-US" sz="800">
                          <a:effectLst/>
                          <a:latin typeface="DejaVu Sans Mono"/>
                        </a:rPr>
                        <a:t>default void</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6"/>
                        </a:rPr>
                        <a:t>replaceAll</a:t>
                      </a:r>
                      <a:r>
                        <a:rPr lang="en-US" sz="800" b="0">
                          <a:effectLst/>
                          <a:latin typeface="DejaVu Sans Mono"/>
                        </a:rPr>
                        <a:t>(</a:t>
                      </a:r>
                      <a:r>
                        <a:rPr lang="en-US" sz="800" b="1" u="none" strike="noStrike">
                          <a:solidFill>
                            <a:srgbClr val="4A6782"/>
                          </a:solidFill>
                          <a:effectLst/>
                          <a:latin typeface="DejaVu Sans Mono"/>
                          <a:hlinkClick r:id="rId27" tooltip="interface in java.util.function"/>
                        </a:rPr>
                        <a:t>UnaryOperator</a:t>
                      </a:r>
                      <a:r>
                        <a:rPr lang="en-US" sz="800" b="0">
                          <a:effectLst/>
                          <a:latin typeface="DejaVu Sans Mono"/>
                        </a:rPr>
                        <a:t>&lt;</a:t>
                      </a:r>
                      <a:r>
                        <a:rPr lang="en-US" sz="800" b="1" u="none" strike="noStrike">
                          <a:solidFill>
                            <a:srgbClr val="4A6782"/>
                          </a:solidFill>
                          <a:effectLst/>
                          <a:latin typeface="DejaVu Sans Mono"/>
                          <a:hlinkClick r:id="rId3" tooltip="type parameter in List"/>
                        </a:rPr>
                        <a:t>E</a:t>
                      </a:r>
                      <a:r>
                        <a:rPr lang="en-US" sz="800" b="0">
                          <a:effectLst/>
                          <a:latin typeface="DejaVu Sans Mono"/>
                        </a:rPr>
                        <a:t>&gt; operator)</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Replaces each element of this list with the result of applying the operator to that element.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953235502"/>
                  </a:ext>
                </a:extLst>
              </a:tr>
              <a:tr h="216901">
                <a:tc>
                  <a:txBody>
                    <a:bodyPr/>
                    <a:lstStyle/>
                    <a:p>
                      <a:pPr algn="l" fontAlgn="t">
                        <a:buNone/>
                      </a:pPr>
                      <a:r>
                        <a:rPr lang="en-US" sz="800">
                          <a:effectLst/>
                          <a:latin typeface="DejaVu Sans Mono"/>
                        </a:rPr>
                        <a:t>boolean</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28"/>
                        </a:rPr>
                        <a:t>retainAll</a:t>
                      </a:r>
                      <a:r>
                        <a:rPr lang="en-US" sz="800" b="0">
                          <a:effectLst/>
                          <a:latin typeface="DejaVu Sans Mono"/>
                        </a:rPr>
                        <a:t>(</a:t>
                      </a:r>
                      <a:r>
                        <a:rPr lang="en-US" sz="800" b="1" u="none" strike="noStrike">
                          <a:solidFill>
                            <a:srgbClr val="4A6782"/>
                          </a:solidFill>
                          <a:effectLst/>
                          <a:latin typeface="DejaVu Sans Mono"/>
                          <a:hlinkClick r:id="rId6" tooltip="interface in java.util"/>
                        </a:rPr>
                        <a:t>Collection</a:t>
                      </a:r>
                      <a:r>
                        <a:rPr lang="en-US" sz="800" b="0">
                          <a:effectLst/>
                          <a:latin typeface="DejaVu Sans Mono"/>
                        </a:rPr>
                        <a:t>&lt;?&gt;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Retains only the elements in this list that are contained in the specified collection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775025708"/>
                  </a:ext>
                </a:extLst>
              </a:tr>
              <a:tr h="216901">
                <a:tc>
                  <a:txBody>
                    <a:bodyPr/>
                    <a:lstStyle/>
                    <a:p>
                      <a:pPr algn="l" fontAlgn="t">
                        <a:buNone/>
                      </a:pPr>
                      <a:r>
                        <a:rPr lang="en-US" sz="800" b="1" u="none" strike="noStrike">
                          <a:solidFill>
                            <a:srgbClr val="4A6782"/>
                          </a:solidFill>
                          <a:effectLst/>
                          <a:latin typeface="DejaVu Sans Mono"/>
                          <a:hlinkClick r:id="rId3" tooltip="type parameter in List"/>
                        </a:rPr>
                        <a:t>E</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29"/>
                        </a:rPr>
                        <a:t>set</a:t>
                      </a:r>
                      <a:r>
                        <a:rPr lang="en-US" sz="800" b="0">
                          <a:effectLst/>
                          <a:latin typeface="DejaVu Sans Mono"/>
                        </a:rPr>
                        <a:t>(int index, </a:t>
                      </a:r>
                      <a:r>
                        <a:rPr lang="en-US" sz="800" b="1" u="none" strike="noStrike">
                          <a:solidFill>
                            <a:srgbClr val="4A6782"/>
                          </a:solidFill>
                          <a:effectLst/>
                          <a:latin typeface="DejaVu Sans Mono"/>
                          <a:hlinkClick r:id="rId3" tooltip="type parameter in List"/>
                        </a:rPr>
                        <a:t>E</a:t>
                      </a:r>
                      <a:r>
                        <a:rPr lang="en-US" sz="800" b="0">
                          <a:effectLst/>
                          <a:latin typeface="DejaVu Sans Mono"/>
                        </a:rPr>
                        <a:t> element)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Replaces the element at the specified position in this list with the specified element (optional operation).</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594943107"/>
                  </a:ext>
                </a:extLst>
              </a:tr>
              <a:tr h="94256">
                <a:tc>
                  <a:txBody>
                    <a:bodyPr/>
                    <a:lstStyle/>
                    <a:p>
                      <a:pPr algn="l" fontAlgn="t">
                        <a:buNone/>
                      </a:pPr>
                      <a:r>
                        <a:rPr lang="en-US" sz="800">
                          <a:effectLst/>
                          <a:latin typeface="DejaVu Sans Mono"/>
                        </a:rPr>
                        <a:t>int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30"/>
                        </a:rPr>
                        <a:t>size</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the number of elements in this list.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94651516"/>
                  </a:ext>
                </a:extLst>
              </a:tr>
              <a:tr h="216901">
                <a:tc>
                  <a:txBody>
                    <a:bodyPr/>
                    <a:lstStyle/>
                    <a:p>
                      <a:pPr algn="l" fontAlgn="t">
                        <a:buNone/>
                      </a:pPr>
                      <a:r>
                        <a:rPr lang="en-US" sz="800">
                          <a:effectLst/>
                          <a:latin typeface="DejaVu Sans Mono"/>
                        </a:rPr>
                        <a:t>default void</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31"/>
                        </a:rPr>
                        <a:t>sort</a:t>
                      </a:r>
                      <a:r>
                        <a:rPr lang="en-US" sz="800" b="0">
                          <a:effectLst/>
                          <a:latin typeface="DejaVu Sans Mono"/>
                        </a:rPr>
                        <a:t>(</a:t>
                      </a:r>
                      <a:r>
                        <a:rPr lang="en-US" sz="800" b="1" u="none" strike="noStrike">
                          <a:solidFill>
                            <a:srgbClr val="4A6782"/>
                          </a:solidFill>
                          <a:effectLst/>
                          <a:latin typeface="DejaVu Sans Mono"/>
                          <a:hlinkClick r:id="rId32" tooltip="interface in java.util"/>
                        </a:rPr>
                        <a:t>Comparator</a:t>
                      </a:r>
                      <a:r>
                        <a:rPr lang="en-US" sz="800" b="0">
                          <a:effectLst/>
                          <a:latin typeface="DejaVu Sans Mono"/>
                        </a:rPr>
                        <a:t>&lt;? super </a:t>
                      </a:r>
                      <a:r>
                        <a:rPr lang="en-US" sz="800" b="1" u="none" strike="noStrike">
                          <a:solidFill>
                            <a:srgbClr val="4A6782"/>
                          </a:solidFill>
                          <a:effectLst/>
                          <a:latin typeface="DejaVu Sans Mono"/>
                          <a:hlinkClick r:id="rId3" tooltip="type parameter in List"/>
                        </a:rPr>
                        <a:t>E</a:t>
                      </a:r>
                      <a:r>
                        <a:rPr lang="en-US" sz="800" b="0">
                          <a:effectLst/>
                          <a:latin typeface="DejaVu Sans Mono"/>
                        </a:rPr>
                        <a:t>&gt; c)</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Sorts this list according to the order induced by the specified </a:t>
                      </a:r>
                      <a:r>
                        <a:rPr lang="en-US" sz="800" b="1" u="none" strike="noStrike">
                          <a:solidFill>
                            <a:srgbClr val="4A6782"/>
                          </a:solidFill>
                          <a:effectLst/>
                          <a:latin typeface="DejaVu Sans Mono"/>
                          <a:hlinkClick r:id="rId32" tooltip="interface in java.util"/>
                        </a:rPr>
                        <a:t>Comparator</a:t>
                      </a:r>
                      <a:r>
                        <a:rPr lang="en-US" sz="800">
                          <a:solidFill>
                            <a:srgbClr val="474747"/>
                          </a:solidFill>
                          <a:effectLst/>
                          <a:latin typeface="DejaVu Serif"/>
                        </a:rPr>
                        <a: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164153960"/>
                  </a:ext>
                </a:extLst>
              </a:tr>
              <a:tr h="135137">
                <a:tc>
                  <a:txBody>
                    <a:bodyPr/>
                    <a:lstStyle/>
                    <a:p>
                      <a:pPr algn="l" fontAlgn="t">
                        <a:buNone/>
                      </a:pPr>
                      <a:r>
                        <a:rPr lang="en-US" sz="800">
                          <a:effectLst/>
                          <a:latin typeface="DejaVu Sans Mono"/>
                        </a:rPr>
                        <a:t>default </a:t>
                      </a:r>
                      <a:r>
                        <a:rPr lang="en-US" sz="800" b="1" u="none" strike="noStrike">
                          <a:solidFill>
                            <a:srgbClr val="4A6782"/>
                          </a:solidFill>
                          <a:effectLst/>
                          <a:latin typeface="DejaVu Sans Mono"/>
                          <a:hlinkClick r:id="rId33" tooltip="interface in java.util"/>
                        </a:rPr>
                        <a:t>Spliterator</a:t>
                      </a:r>
                      <a:r>
                        <a:rPr lang="en-US" sz="800">
                          <a:effectLst/>
                          <a:latin typeface="DejaVu Sans Mono"/>
                        </a:rPr>
                        <a:t>&lt;</a:t>
                      </a:r>
                      <a:r>
                        <a:rPr lang="en-US" sz="800" b="1" u="none" strike="noStrike">
                          <a:solidFill>
                            <a:srgbClr val="4A6782"/>
                          </a:solidFill>
                          <a:effectLst/>
                          <a:latin typeface="DejaVu Sans Mono"/>
                          <a:hlinkClick r:id="rId3" tooltip="type parameter in List"/>
                        </a:rPr>
                        <a:t>E</a:t>
                      </a:r>
                      <a:r>
                        <a:rPr lang="en-US" sz="800">
                          <a:effectLst/>
                          <a:latin typeface="DejaVu Sans Mono"/>
                        </a:rPr>
                        <a:t>&gt;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34"/>
                        </a:rPr>
                        <a:t>spliterator</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Creates a </a:t>
                      </a:r>
                      <a:r>
                        <a:rPr lang="en-US" sz="800" b="1" u="none" strike="noStrike">
                          <a:solidFill>
                            <a:srgbClr val="4A6782"/>
                          </a:solidFill>
                          <a:effectLst/>
                          <a:latin typeface="DejaVu Sans Mono"/>
                          <a:hlinkClick r:id="rId33" tooltip="interface in java.util"/>
                        </a:rPr>
                        <a:t>Spliterator</a:t>
                      </a:r>
                      <a:r>
                        <a:rPr lang="en-US" sz="800">
                          <a:solidFill>
                            <a:srgbClr val="474747"/>
                          </a:solidFill>
                          <a:effectLst/>
                          <a:latin typeface="DejaVu Serif"/>
                        </a:rPr>
                        <a:t> over the elements in this list.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237933130"/>
                  </a:ext>
                </a:extLst>
              </a:tr>
              <a:tr h="298665">
                <a:tc>
                  <a:txBody>
                    <a:bodyPr/>
                    <a:lstStyle/>
                    <a:p>
                      <a:pPr algn="l" fontAlgn="t">
                        <a:buNone/>
                      </a:pPr>
                      <a:r>
                        <a:rPr lang="en-US" sz="800" b="1" u="none" strike="noStrike">
                          <a:solidFill>
                            <a:srgbClr val="4A6782"/>
                          </a:solidFill>
                          <a:effectLst/>
                          <a:latin typeface="DejaVu Sans Mono"/>
                          <a:hlinkClick r:id="rId3" tooltip="interface in java.util"/>
                        </a:rPr>
                        <a:t>List</a:t>
                      </a:r>
                      <a:r>
                        <a:rPr lang="en-US" sz="800">
                          <a:effectLst/>
                          <a:latin typeface="DejaVu Sans Mono"/>
                        </a:rPr>
                        <a:t>&lt;</a:t>
                      </a:r>
                      <a:r>
                        <a:rPr lang="en-US" sz="800" b="1" u="none" strike="noStrike">
                          <a:solidFill>
                            <a:srgbClr val="4A6782"/>
                          </a:solidFill>
                          <a:effectLst/>
                          <a:latin typeface="DejaVu Sans Mono"/>
                          <a:hlinkClick r:id="rId3" tooltip="type parameter in List"/>
                        </a:rPr>
                        <a:t>E</a:t>
                      </a:r>
                      <a:r>
                        <a:rPr lang="en-US" sz="800">
                          <a:effectLst/>
                          <a:latin typeface="DejaVu Sans Mono"/>
                        </a:rPr>
                        <a:t>&gt;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35"/>
                        </a:rPr>
                        <a:t>subList</a:t>
                      </a:r>
                      <a:r>
                        <a:rPr lang="en-US" sz="800" b="0">
                          <a:effectLst/>
                          <a:latin typeface="DejaVu Sans Mono"/>
                        </a:rPr>
                        <a:t>(int fromIndex, int toIndex)</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a:solidFill>
                            <a:srgbClr val="474747"/>
                          </a:solidFill>
                          <a:effectLst/>
                          <a:latin typeface="DejaVu Serif"/>
                        </a:rPr>
                        <a:t>Returns a view of the portion of this list between the specified </a:t>
                      </a:r>
                      <a:r>
                        <a:rPr lang="en-US" sz="800">
                          <a:solidFill>
                            <a:srgbClr val="474747"/>
                          </a:solidFill>
                          <a:effectLst/>
                          <a:latin typeface="DejaVu Sans Mono"/>
                        </a:rPr>
                        <a:t>fromIndex</a:t>
                      </a:r>
                      <a:r>
                        <a:rPr lang="en-US" sz="800">
                          <a:solidFill>
                            <a:srgbClr val="474747"/>
                          </a:solidFill>
                          <a:effectLst/>
                          <a:latin typeface="DejaVu Serif"/>
                        </a:rPr>
                        <a:t>, inclusive, and </a:t>
                      </a:r>
                      <a:r>
                        <a:rPr lang="en-US" sz="800">
                          <a:solidFill>
                            <a:srgbClr val="474747"/>
                          </a:solidFill>
                          <a:effectLst/>
                          <a:latin typeface="DejaVu Sans Mono"/>
                        </a:rPr>
                        <a:t>toIndex</a:t>
                      </a:r>
                      <a:r>
                        <a:rPr lang="en-US" sz="800">
                          <a:solidFill>
                            <a:srgbClr val="474747"/>
                          </a:solidFill>
                          <a:effectLst/>
                          <a:latin typeface="DejaVu Serif"/>
                        </a:rPr>
                        <a:t>, exclusive.</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578468117"/>
                  </a:ext>
                </a:extLst>
              </a:tr>
              <a:tr h="216901">
                <a:tc>
                  <a:txBody>
                    <a:bodyPr/>
                    <a:lstStyle/>
                    <a:p>
                      <a:pPr algn="l" fontAlgn="t">
                        <a:buNone/>
                      </a:pPr>
                      <a:r>
                        <a:rPr lang="en-US" sz="800" b="1" u="none" strike="noStrike">
                          <a:solidFill>
                            <a:srgbClr val="4A6782"/>
                          </a:solidFill>
                          <a:effectLst/>
                          <a:latin typeface="DejaVu Sans Mono"/>
                          <a:hlinkClick r:id="rId10" tooltip="class in java.lang"/>
                        </a:rPr>
                        <a:t>Object</a:t>
                      </a:r>
                      <a:r>
                        <a:rPr lang="en-US" sz="800">
                          <a:effectLst/>
                          <a:latin typeface="DejaVu Sans Mono"/>
                        </a:rPr>
                        <a: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800" b="1" u="none" strike="noStrike">
                          <a:solidFill>
                            <a:srgbClr val="4A6782"/>
                          </a:solidFill>
                          <a:effectLst/>
                          <a:latin typeface="DejaVu Sans Mono"/>
                          <a:hlinkClick r:id="rId36"/>
                        </a:rPr>
                        <a:t>toArray</a:t>
                      </a:r>
                      <a:r>
                        <a:rPr lang="en-US" sz="800" b="0">
                          <a:effectLst/>
                          <a:latin typeface="DejaVu Sans Mono"/>
                        </a:rPr>
                        <a:t>()</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800">
                          <a:solidFill>
                            <a:srgbClr val="474747"/>
                          </a:solidFill>
                          <a:effectLst/>
                          <a:latin typeface="DejaVu Serif"/>
                        </a:rPr>
                        <a:t>Returns an array containing all of the elements in this list in proper sequence (from first to last element).</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981589843"/>
                  </a:ext>
                </a:extLst>
              </a:tr>
              <a:tr h="339547">
                <a:tc>
                  <a:txBody>
                    <a:bodyPr/>
                    <a:lstStyle/>
                    <a:p>
                      <a:pPr algn="l" fontAlgn="t">
                        <a:buNone/>
                      </a:pPr>
                      <a:r>
                        <a:rPr lang="en-US" sz="800">
                          <a:effectLst/>
                          <a:latin typeface="DejaVu Sans Mono"/>
                        </a:rPr>
                        <a:t>&lt;T&gt; T[]</a:t>
                      </a:r>
                      <a:endParaRPr lang="en-US" sz="800">
                        <a:effectLst/>
                      </a:endParaRP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800" b="1" u="none" strike="noStrike">
                          <a:solidFill>
                            <a:srgbClr val="4A6782"/>
                          </a:solidFill>
                          <a:effectLst/>
                          <a:latin typeface="DejaVu Sans Mono"/>
                          <a:hlinkClick r:id="rId37"/>
                        </a:rPr>
                        <a:t>toArray</a:t>
                      </a:r>
                      <a:r>
                        <a:rPr lang="en-US" sz="800" b="0">
                          <a:effectLst/>
                          <a:latin typeface="DejaVu Sans Mono"/>
                        </a:rPr>
                        <a:t>(T[] a)</a:t>
                      </a:r>
                      <a:endParaRPr lang="en-US" sz="800" b="0">
                        <a:effectLst/>
                      </a:endParaRPr>
                    </a:p>
                  </a:txBody>
                  <a:tcPr marL="5999"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800" dirty="0">
                          <a:solidFill>
                            <a:srgbClr val="474747"/>
                          </a:solidFill>
                          <a:effectLst/>
                          <a:latin typeface="DejaVu Serif"/>
                        </a:rPr>
                        <a:t>Returns an array containing all of the elements in this list in proper sequence (from first to last element); the runtime type of the returned array is that of the specified array.</a:t>
                      </a:r>
                    </a:p>
                  </a:txBody>
                  <a:tcPr marL="8571" marR="2571" marT="6857" marB="257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831804496"/>
                  </a:ext>
                </a:extLst>
              </a:tr>
            </a:tbl>
          </a:graphicData>
        </a:graphic>
      </p:graphicFrame>
      <p:sp>
        <p:nvSpPr>
          <p:cNvPr id="7" name="Rectangle 2">
            <a:extLst>
              <a:ext uri="{FF2B5EF4-FFF2-40B4-BE49-F238E27FC236}">
                <a16:creationId xmlns:a16="http://schemas.microsoft.com/office/drawing/2014/main" id="{8346841B-CB4B-F9A1-EAFA-754DB4601544}"/>
              </a:ext>
            </a:extLst>
          </p:cNvPr>
          <p:cNvSpPr>
            <a:spLocks noChangeArrowheads="1"/>
          </p:cNvSpPr>
          <p:nvPr/>
        </p:nvSpPr>
        <p:spPr bwMode="auto">
          <a:xfrm>
            <a:off x="4606925" y="1825625"/>
            <a:ext cx="9906000" cy="0"/>
          </a:xfrm>
          <a:prstGeom prst="rect">
            <a:avLst/>
          </a:prstGeom>
          <a:solidFill>
            <a:srgbClr val="4D7A9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50784"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96342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6C26E0-DA8E-D358-39CC-C0D85E1953A9}"/>
              </a:ext>
            </a:extLst>
          </p:cNvPr>
          <p:cNvSpPr txBox="1"/>
          <p:nvPr/>
        </p:nvSpPr>
        <p:spPr>
          <a:xfrm>
            <a:off x="2476500" y="2263297"/>
            <a:ext cx="4953000" cy="2331407"/>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java.util.</a:t>
            </a:r>
            <a:r>
              <a:rPr lang="en-US" b="1" i="0" u="none" strike="noStrike" dirty="0" err="1">
                <a:solidFill>
                  <a:srgbClr val="4A6782"/>
                </a:solidFill>
                <a:effectLst/>
                <a:latin typeface="DejaVu Sans"/>
                <a:hlinkClick r:id="rId2" tooltip="interface in java.util"/>
              </a:rPr>
              <a:t>Collection</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3"/>
              </a:rPr>
              <a:t>parallelStream</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4"/>
              </a:rPr>
              <a:t>removeIf</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5"/>
              </a:rPr>
              <a:t>stream</a:t>
            </a:r>
            <a:endParaRPr lang="en-US" b="0" i="0" dirty="0">
              <a:solidFill>
                <a:srgbClr val="353833"/>
              </a:solidFill>
              <a:effectLst/>
              <a:latin typeface="DejaVu Sans"/>
            </a:endParaRP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java.lang.</a:t>
            </a:r>
            <a:r>
              <a:rPr lang="en-US" b="1" i="0" u="none" strike="noStrike" dirty="0" err="1">
                <a:solidFill>
                  <a:srgbClr val="4A6782"/>
                </a:solidFill>
                <a:effectLst/>
                <a:latin typeface="DejaVu Sans"/>
                <a:hlinkClick r:id="rId6" tooltip="interface in java.lang"/>
              </a:rPr>
              <a:t>Iterable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7"/>
              </a:rPr>
              <a:t>forEach</a:t>
            </a:r>
            <a:endParaRPr lang="en-US" b="0" i="0" dirty="0">
              <a:solidFill>
                <a:srgbClr val="353833"/>
              </a:solidFill>
              <a:effectLst/>
              <a:latin typeface="DejaVu Sans"/>
            </a:endParaRPr>
          </a:p>
        </p:txBody>
      </p:sp>
    </p:spTree>
    <p:extLst>
      <p:ext uri="{BB962C8B-B14F-4D97-AF65-F5344CB8AC3E}">
        <p14:creationId xmlns:p14="http://schemas.microsoft.com/office/powerpoint/2010/main" val="3674097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63D626E-1E71-5B4C-9E4A-EF645CDC4D97}"/>
              </a:ext>
            </a:extLst>
          </p:cNvPr>
          <p:cNvGraphicFramePr>
            <a:graphicFrameLocks noGrp="1"/>
          </p:cNvGraphicFramePr>
          <p:nvPr/>
        </p:nvGraphicFramePr>
        <p:xfrm>
          <a:off x="4465682" y="1676179"/>
          <a:ext cx="974637" cy="4650230"/>
        </p:xfrm>
        <a:graphic>
          <a:graphicData uri="http://schemas.openxmlformats.org/drawingml/2006/table">
            <a:tbl>
              <a:tblPr/>
              <a:tblGrid>
                <a:gridCol w="230862">
                  <a:extLst>
                    <a:ext uri="{9D8B030D-6E8A-4147-A177-3AD203B41FA5}">
                      <a16:colId xmlns:a16="http://schemas.microsoft.com/office/drawing/2014/main" val="3774813347"/>
                    </a:ext>
                  </a:extLst>
                </a:gridCol>
                <a:gridCol w="244152">
                  <a:extLst>
                    <a:ext uri="{9D8B030D-6E8A-4147-A177-3AD203B41FA5}">
                      <a16:colId xmlns:a16="http://schemas.microsoft.com/office/drawing/2014/main" val="3103531470"/>
                    </a:ext>
                  </a:extLst>
                </a:gridCol>
                <a:gridCol w="499623">
                  <a:extLst>
                    <a:ext uri="{9D8B030D-6E8A-4147-A177-3AD203B41FA5}">
                      <a16:colId xmlns:a16="http://schemas.microsoft.com/office/drawing/2014/main" val="1735268801"/>
                    </a:ext>
                  </a:extLst>
                </a:gridCol>
              </a:tblGrid>
              <a:tr h="94174">
                <a:tc gridSpan="3">
                  <a:txBody>
                    <a:bodyPr/>
                    <a:lstStyle/>
                    <a:p>
                      <a:pPr>
                        <a:buNone/>
                      </a:pPr>
                      <a:r>
                        <a:rPr lang="en-US" sz="300"/>
                        <a:t>All MethodsInstance MethodsAbstract MethodsDefault Methods</a:t>
                      </a:r>
                    </a:p>
                  </a:txBody>
                  <a:tcPr marL="3622" marR="3622" marT="3622" marB="3622"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7498781"/>
                  </a:ext>
                </a:extLst>
              </a:tr>
              <a:tr h="100211">
                <a:tc>
                  <a:txBody>
                    <a:bodyPr/>
                    <a:lstStyle/>
                    <a:p>
                      <a:pPr algn="l" fontAlgn="t">
                        <a:buNone/>
                      </a:pPr>
                      <a:r>
                        <a:rPr lang="en-US" sz="300">
                          <a:effectLst/>
                        </a:rPr>
                        <a:t>Modifier and Type</a:t>
                      </a: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300">
                          <a:effectLst/>
                        </a:rPr>
                        <a:t>Method</a:t>
                      </a: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300">
                          <a:effectLst/>
                        </a:rPr>
                        <a:t>Description</a:t>
                      </a: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1312292451"/>
                  </a:ext>
                </a:extLst>
              </a:tr>
              <a:tr h="143676">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
                        </a:rPr>
                        <a:t>add</a:t>
                      </a:r>
                      <a:r>
                        <a:rPr lang="en-US" sz="300" b="0">
                          <a:effectLst/>
                          <a:latin typeface="DejaVu Sans Mono"/>
                        </a:rPr>
                        <a:t>(</a:t>
                      </a:r>
                      <a:r>
                        <a:rPr lang="en-US" sz="300" b="1" u="none" strike="noStrike">
                          <a:solidFill>
                            <a:srgbClr val="4A6782"/>
                          </a:solidFill>
                          <a:effectLst/>
                          <a:latin typeface="DejaVu Sans Mono"/>
                          <a:hlinkClick r:id="rId3" tooltip="type parameter in List"/>
                        </a:rPr>
                        <a:t>E</a:t>
                      </a:r>
                      <a:r>
                        <a:rPr lang="en-US" sz="300" b="0">
                          <a:effectLst/>
                          <a:latin typeface="DejaVu Sans Mono"/>
                        </a:rPr>
                        <a:t> e)</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Appends the specified element to the end of this list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608658536"/>
                  </a:ext>
                </a:extLst>
              </a:tr>
              <a:tr h="143676">
                <a:tc>
                  <a:txBody>
                    <a:bodyPr/>
                    <a:lstStyle/>
                    <a:p>
                      <a:pPr algn="l" fontAlgn="t">
                        <a:buNone/>
                      </a:pPr>
                      <a:r>
                        <a:rPr lang="en-US" sz="300">
                          <a:effectLst/>
                          <a:latin typeface="DejaVu Sans Mono"/>
                        </a:rPr>
                        <a:t>void</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4"/>
                        </a:rPr>
                        <a:t>add</a:t>
                      </a:r>
                      <a:r>
                        <a:rPr lang="en-US" sz="300" b="0">
                          <a:effectLst/>
                          <a:latin typeface="DejaVu Sans Mono"/>
                        </a:rPr>
                        <a:t>(int index, </a:t>
                      </a:r>
                      <a:r>
                        <a:rPr lang="en-US" sz="300" b="1" u="none" strike="noStrike">
                          <a:solidFill>
                            <a:srgbClr val="4A6782"/>
                          </a:solidFill>
                          <a:effectLst/>
                          <a:latin typeface="DejaVu Sans Mono"/>
                          <a:hlinkClick r:id="rId3" tooltip="type parameter in List"/>
                        </a:rPr>
                        <a:t>E</a:t>
                      </a:r>
                      <a:r>
                        <a:rPr lang="en-US" sz="300" b="0">
                          <a:effectLst/>
                          <a:latin typeface="DejaVu Sans Mono"/>
                        </a:rPr>
                        <a:t> element)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Inserts the specified element at the specified position in this list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340786670"/>
                  </a:ext>
                </a:extLst>
              </a:tr>
              <a:tr h="27407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5"/>
                        </a:rPr>
                        <a:t>addAll</a:t>
                      </a:r>
                      <a:r>
                        <a:rPr lang="en-US" sz="300" b="0">
                          <a:effectLst/>
                          <a:latin typeface="DejaVu Sans Mono"/>
                        </a:rPr>
                        <a:t>(</a:t>
                      </a:r>
                      <a:r>
                        <a:rPr lang="en-US" sz="300" b="1" u="none" strike="noStrike">
                          <a:solidFill>
                            <a:srgbClr val="4A6782"/>
                          </a:solidFill>
                          <a:effectLst/>
                          <a:latin typeface="DejaVu Sans Mono"/>
                          <a:hlinkClick r:id="rId6" tooltip="interface in java.util"/>
                        </a:rPr>
                        <a:t>Collection</a:t>
                      </a:r>
                      <a:r>
                        <a:rPr lang="en-US" sz="300" b="0">
                          <a:effectLst/>
                          <a:latin typeface="DejaVu Sans Mono"/>
                        </a:rPr>
                        <a:t>&lt;? extends </a:t>
                      </a:r>
                      <a:r>
                        <a:rPr lang="en-US" sz="300" b="1" u="none" strike="noStrike">
                          <a:solidFill>
                            <a:srgbClr val="4A6782"/>
                          </a:solidFill>
                          <a:effectLst/>
                          <a:latin typeface="DejaVu Sans Mono"/>
                          <a:hlinkClick r:id="rId3" tooltip="type parameter in List"/>
                        </a:rPr>
                        <a:t>E</a:t>
                      </a:r>
                      <a:r>
                        <a:rPr lang="en-US" sz="300" b="0">
                          <a:effectLst/>
                          <a:latin typeface="DejaVu Sans Mono"/>
                        </a:rPr>
                        <a:t>&gt; c)</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Appends all of the elements in the specified collection to the end of this list, in the order that they are returned by the specified collection's iterator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315995666"/>
                  </a:ext>
                </a:extLst>
              </a:tr>
              <a:tr h="230606">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7"/>
                        </a:rPr>
                        <a:t>addAll</a:t>
                      </a:r>
                      <a:r>
                        <a:rPr lang="en-US" sz="300" b="0">
                          <a:effectLst/>
                          <a:latin typeface="DejaVu Sans Mono"/>
                        </a:rPr>
                        <a:t>(int index, </a:t>
                      </a:r>
                      <a:r>
                        <a:rPr lang="en-US" sz="300" b="1" u="none" strike="noStrike">
                          <a:solidFill>
                            <a:srgbClr val="4A6782"/>
                          </a:solidFill>
                          <a:effectLst/>
                          <a:latin typeface="DejaVu Sans Mono"/>
                          <a:hlinkClick r:id="rId6" tooltip="interface in java.util"/>
                        </a:rPr>
                        <a:t>Collection</a:t>
                      </a:r>
                      <a:r>
                        <a:rPr lang="en-US" sz="300" b="0">
                          <a:effectLst/>
                          <a:latin typeface="DejaVu Sans Mono"/>
                        </a:rPr>
                        <a:t>&lt;? extends </a:t>
                      </a:r>
                      <a:r>
                        <a:rPr lang="en-US" sz="300" b="1" u="none" strike="noStrike">
                          <a:solidFill>
                            <a:srgbClr val="4A6782"/>
                          </a:solidFill>
                          <a:effectLst/>
                          <a:latin typeface="DejaVu Sans Mono"/>
                          <a:hlinkClick r:id="rId3" tooltip="type parameter in List"/>
                        </a:rPr>
                        <a:t>E</a:t>
                      </a:r>
                      <a:r>
                        <a:rPr lang="en-US" sz="300" b="0">
                          <a:effectLst/>
                          <a:latin typeface="DejaVu Sans Mono"/>
                        </a:rPr>
                        <a:t>&gt; c)</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Inserts all of the elements in the specified collection into this list at the specified position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272893330"/>
                  </a:ext>
                </a:extLst>
              </a:tr>
              <a:tr h="143676">
                <a:tc>
                  <a:txBody>
                    <a:bodyPr/>
                    <a:lstStyle/>
                    <a:p>
                      <a:pPr algn="l" fontAlgn="t">
                        <a:buNone/>
                      </a:pPr>
                      <a:r>
                        <a:rPr lang="en-US" sz="300">
                          <a:effectLst/>
                          <a:latin typeface="DejaVu Sans Mono"/>
                        </a:rPr>
                        <a:t>void</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8"/>
                        </a:rPr>
                        <a:t>clear</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Removes all of the elements from this list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533895484"/>
                  </a:ext>
                </a:extLst>
              </a:tr>
              <a:tr h="10021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9"/>
                        </a:rPr>
                        <a:t>contains</a:t>
                      </a:r>
                      <a:r>
                        <a:rPr lang="en-US" sz="300" b="0">
                          <a:effectLst/>
                          <a:latin typeface="DejaVu Sans Mono"/>
                        </a:rPr>
                        <a:t>(</a:t>
                      </a:r>
                      <a:r>
                        <a:rPr lang="en-US" sz="300" b="1" u="none" strike="noStrike">
                          <a:solidFill>
                            <a:srgbClr val="4A6782"/>
                          </a:solidFill>
                          <a:effectLst/>
                          <a:latin typeface="DejaVu Sans Mono"/>
                          <a:hlinkClick r:id="rId10" tooltip="class in java.lang"/>
                        </a:rPr>
                        <a:t>Object</a:t>
                      </a:r>
                      <a:r>
                        <a:rPr lang="en-US" sz="300" b="0">
                          <a:effectLst/>
                          <a:latin typeface="DejaVu Sans Mono"/>
                        </a:rPr>
                        <a:t> o)</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a:t>
                      </a:r>
                      <a:r>
                        <a:rPr lang="en-US" sz="300">
                          <a:solidFill>
                            <a:srgbClr val="474747"/>
                          </a:solidFill>
                          <a:effectLst/>
                          <a:latin typeface="DejaVu Sans Mono"/>
                        </a:rPr>
                        <a:t>true</a:t>
                      </a:r>
                      <a:r>
                        <a:rPr lang="en-US" sz="300">
                          <a:solidFill>
                            <a:srgbClr val="474747"/>
                          </a:solidFill>
                          <a:effectLst/>
                          <a:latin typeface="DejaVu Serif"/>
                        </a:rPr>
                        <a:t> if this list contains the specified element.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002551156"/>
                  </a:ext>
                </a:extLst>
              </a:tr>
              <a:tr h="143676">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11"/>
                        </a:rPr>
                        <a:t>containsAll</a:t>
                      </a:r>
                      <a:r>
                        <a:rPr lang="en-US" sz="300" b="0">
                          <a:effectLst/>
                          <a:latin typeface="DejaVu Sans Mono"/>
                        </a:rPr>
                        <a:t>(</a:t>
                      </a:r>
                      <a:r>
                        <a:rPr lang="en-US" sz="300" b="1" u="none" strike="noStrike">
                          <a:solidFill>
                            <a:srgbClr val="4A6782"/>
                          </a:solidFill>
                          <a:effectLst/>
                          <a:latin typeface="DejaVu Sans Mono"/>
                          <a:hlinkClick r:id="rId6" tooltip="interface in java.util"/>
                        </a:rPr>
                        <a:t>Collection</a:t>
                      </a:r>
                      <a:r>
                        <a:rPr lang="en-US" sz="300" b="0">
                          <a:effectLst/>
                          <a:latin typeface="DejaVu Sans Mono"/>
                        </a:rPr>
                        <a:t>&lt;?&gt; c)</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a:t>
                      </a:r>
                      <a:r>
                        <a:rPr lang="en-US" sz="300">
                          <a:solidFill>
                            <a:srgbClr val="474747"/>
                          </a:solidFill>
                          <a:effectLst/>
                          <a:latin typeface="DejaVu Sans Mono"/>
                        </a:rPr>
                        <a:t>true</a:t>
                      </a:r>
                      <a:r>
                        <a:rPr lang="en-US" sz="300">
                          <a:solidFill>
                            <a:srgbClr val="474747"/>
                          </a:solidFill>
                          <a:effectLst/>
                          <a:latin typeface="DejaVu Serif"/>
                        </a:rPr>
                        <a:t> if this list contains all of the elements of the specified collection.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250167035"/>
                  </a:ext>
                </a:extLst>
              </a:tr>
              <a:tr h="10021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12"/>
                        </a:rPr>
                        <a:t>equals</a:t>
                      </a:r>
                      <a:r>
                        <a:rPr lang="en-US" sz="300" b="0">
                          <a:effectLst/>
                          <a:latin typeface="DejaVu Sans Mono"/>
                        </a:rPr>
                        <a:t>(</a:t>
                      </a:r>
                      <a:r>
                        <a:rPr lang="en-US" sz="300" b="1" u="none" strike="noStrike">
                          <a:solidFill>
                            <a:srgbClr val="4A6782"/>
                          </a:solidFill>
                          <a:effectLst/>
                          <a:latin typeface="DejaVu Sans Mono"/>
                          <a:hlinkClick r:id="rId10" tooltip="class in java.lang"/>
                        </a:rPr>
                        <a:t>Object</a:t>
                      </a:r>
                      <a:r>
                        <a:rPr lang="en-US" sz="300" b="0">
                          <a:effectLst/>
                          <a:latin typeface="DejaVu Sans Mono"/>
                        </a:rPr>
                        <a:t> o)</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Compares the specified object with this list for equality.</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088610063"/>
                  </a:ext>
                </a:extLst>
              </a:tr>
              <a:tr h="100211">
                <a:tc>
                  <a:txBody>
                    <a:bodyPr/>
                    <a:lstStyle/>
                    <a:p>
                      <a:pPr algn="l" fontAlgn="t">
                        <a:buNone/>
                      </a:pPr>
                      <a:r>
                        <a:rPr lang="en-US" sz="300" b="1" u="none" strike="noStrike">
                          <a:solidFill>
                            <a:srgbClr val="4A6782"/>
                          </a:solidFill>
                          <a:effectLst/>
                          <a:latin typeface="DejaVu Sans Mono"/>
                          <a:hlinkClick r:id="rId3" tooltip="type parameter in List"/>
                        </a:rPr>
                        <a:t>E</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13"/>
                        </a:rPr>
                        <a:t>get</a:t>
                      </a:r>
                      <a:r>
                        <a:rPr lang="en-US" sz="300" b="0">
                          <a:effectLst/>
                          <a:latin typeface="DejaVu Sans Mono"/>
                        </a:rPr>
                        <a:t>(int index)</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the element at the specified position in this list.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48384108"/>
                  </a:ext>
                </a:extLst>
              </a:tr>
              <a:tr h="100211">
                <a:tc>
                  <a:txBody>
                    <a:bodyPr/>
                    <a:lstStyle/>
                    <a:p>
                      <a:pPr algn="l" fontAlgn="t">
                        <a:buNone/>
                      </a:pPr>
                      <a:r>
                        <a:rPr lang="en-US" sz="300">
                          <a:effectLst/>
                          <a:latin typeface="DejaVu Sans Mono"/>
                        </a:rPr>
                        <a:t>int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14"/>
                        </a:rPr>
                        <a:t>hashCode</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the hash code value for this list.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750758207"/>
                  </a:ext>
                </a:extLst>
              </a:tr>
              <a:tr h="230606">
                <a:tc>
                  <a:txBody>
                    <a:bodyPr/>
                    <a:lstStyle/>
                    <a:p>
                      <a:pPr algn="l" fontAlgn="t">
                        <a:buNone/>
                      </a:pPr>
                      <a:r>
                        <a:rPr lang="en-US" sz="300">
                          <a:effectLst/>
                          <a:latin typeface="DejaVu Sans Mono"/>
                        </a:rPr>
                        <a:t>int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15"/>
                        </a:rPr>
                        <a:t>indexOf</a:t>
                      </a:r>
                      <a:r>
                        <a:rPr lang="en-US" sz="300" b="0">
                          <a:effectLst/>
                          <a:latin typeface="DejaVu Sans Mono"/>
                        </a:rPr>
                        <a:t>(</a:t>
                      </a:r>
                      <a:r>
                        <a:rPr lang="en-US" sz="300" b="1" u="none" strike="noStrike">
                          <a:solidFill>
                            <a:srgbClr val="4A6782"/>
                          </a:solidFill>
                          <a:effectLst/>
                          <a:latin typeface="DejaVu Sans Mono"/>
                          <a:hlinkClick r:id="rId10" tooltip="class in java.lang"/>
                        </a:rPr>
                        <a:t>Object</a:t>
                      </a:r>
                      <a:r>
                        <a:rPr lang="en-US" sz="300" b="0">
                          <a:effectLst/>
                          <a:latin typeface="DejaVu Sans Mono"/>
                        </a:rPr>
                        <a:t> o)</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the index of the first occurrence of the specified element in this list, or -1 if this list does not contain the element.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478654304"/>
                  </a:ext>
                </a:extLst>
              </a:tr>
              <a:tr h="10021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16"/>
                        </a:rPr>
                        <a:t>isEmpty</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a:t>
                      </a:r>
                      <a:r>
                        <a:rPr lang="en-US" sz="300">
                          <a:solidFill>
                            <a:srgbClr val="474747"/>
                          </a:solidFill>
                          <a:effectLst/>
                          <a:latin typeface="DejaVu Sans Mono"/>
                        </a:rPr>
                        <a:t>true</a:t>
                      </a:r>
                      <a:r>
                        <a:rPr lang="en-US" sz="300">
                          <a:solidFill>
                            <a:srgbClr val="474747"/>
                          </a:solidFill>
                          <a:effectLst/>
                          <a:latin typeface="DejaVu Serif"/>
                        </a:rPr>
                        <a:t> if this list contains no elements.</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487046132"/>
                  </a:ext>
                </a:extLst>
              </a:tr>
              <a:tr h="143676">
                <a:tc>
                  <a:txBody>
                    <a:bodyPr/>
                    <a:lstStyle/>
                    <a:p>
                      <a:pPr algn="l" fontAlgn="t">
                        <a:buNone/>
                      </a:pPr>
                      <a:r>
                        <a:rPr lang="en-US" sz="300" b="1" u="none" strike="noStrike">
                          <a:solidFill>
                            <a:srgbClr val="4A6782"/>
                          </a:solidFill>
                          <a:effectLst/>
                          <a:latin typeface="DejaVu Sans Mono"/>
                          <a:hlinkClick r:id="rId17" tooltip="interface in java.util"/>
                        </a:rPr>
                        <a:t>Iterator</a:t>
                      </a:r>
                      <a:r>
                        <a:rPr lang="en-US" sz="300">
                          <a:effectLst/>
                          <a:latin typeface="DejaVu Sans Mono"/>
                        </a:rPr>
                        <a:t>&lt;</a:t>
                      </a:r>
                      <a:r>
                        <a:rPr lang="en-US" sz="300" b="1" u="none" strike="noStrike">
                          <a:solidFill>
                            <a:srgbClr val="4A6782"/>
                          </a:solidFill>
                          <a:effectLst/>
                          <a:latin typeface="DejaVu Sans Mono"/>
                          <a:hlinkClick r:id="rId3" tooltip="type parameter in List"/>
                        </a:rPr>
                        <a:t>E</a:t>
                      </a:r>
                      <a:r>
                        <a:rPr lang="en-US" sz="300">
                          <a:effectLst/>
                          <a:latin typeface="DejaVu Sans Mono"/>
                        </a:rPr>
                        <a:t>&gt;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18"/>
                        </a:rPr>
                        <a:t>iterator</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an iterator over the elements in this list in proper sequence.</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092093590"/>
                  </a:ext>
                </a:extLst>
              </a:tr>
              <a:tr h="230606">
                <a:tc>
                  <a:txBody>
                    <a:bodyPr/>
                    <a:lstStyle/>
                    <a:p>
                      <a:pPr algn="l" fontAlgn="t">
                        <a:buNone/>
                      </a:pPr>
                      <a:r>
                        <a:rPr lang="en-US" sz="300">
                          <a:effectLst/>
                          <a:latin typeface="DejaVu Sans Mono"/>
                        </a:rPr>
                        <a:t>int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19"/>
                        </a:rPr>
                        <a:t>lastIndexOf</a:t>
                      </a:r>
                      <a:r>
                        <a:rPr lang="en-US" sz="300" b="0">
                          <a:effectLst/>
                          <a:latin typeface="DejaVu Sans Mono"/>
                        </a:rPr>
                        <a:t>(</a:t>
                      </a:r>
                      <a:r>
                        <a:rPr lang="en-US" sz="300" b="1" u="none" strike="noStrike">
                          <a:solidFill>
                            <a:srgbClr val="4A6782"/>
                          </a:solidFill>
                          <a:effectLst/>
                          <a:latin typeface="DejaVu Sans Mono"/>
                          <a:hlinkClick r:id="rId10" tooltip="class in java.lang"/>
                        </a:rPr>
                        <a:t>Object</a:t>
                      </a:r>
                      <a:r>
                        <a:rPr lang="en-US" sz="300" b="0">
                          <a:effectLst/>
                          <a:latin typeface="DejaVu Sans Mono"/>
                        </a:rPr>
                        <a:t> o)</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the index of the last occurrence of the specified element in this list, or -1 if this list does not contain the element.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584386295"/>
                  </a:ext>
                </a:extLst>
              </a:tr>
              <a:tr h="143676">
                <a:tc>
                  <a:txBody>
                    <a:bodyPr/>
                    <a:lstStyle/>
                    <a:p>
                      <a:pPr algn="l" fontAlgn="t">
                        <a:buNone/>
                      </a:pPr>
                      <a:r>
                        <a:rPr lang="en-US" sz="300" b="1" u="none" strike="noStrike">
                          <a:solidFill>
                            <a:srgbClr val="4A6782"/>
                          </a:solidFill>
                          <a:effectLst/>
                          <a:latin typeface="DejaVu Sans Mono"/>
                          <a:hlinkClick r:id="rId20" tooltip="interface in java.util"/>
                        </a:rPr>
                        <a:t>ListIterator</a:t>
                      </a:r>
                      <a:r>
                        <a:rPr lang="en-US" sz="300">
                          <a:effectLst/>
                          <a:latin typeface="DejaVu Sans Mono"/>
                        </a:rPr>
                        <a:t>&lt;</a:t>
                      </a:r>
                      <a:r>
                        <a:rPr lang="en-US" sz="300" b="1" u="none" strike="noStrike">
                          <a:solidFill>
                            <a:srgbClr val="4A6782"/>
                          </a:solidFill>
                          <a:effectLst/>
                          <a:latin typeface="DejaVu Sans Mono"/>
                          <a:hlinkClick r:id="rId3" tooltip="type parameter in List"/>
                        </a:rPr>
                        <a:t>E</a:t>
                      </a:r>
                      <a:r>
                        <a:rPr lang="en-US" sz="300">
                          <a:effectLst/>
                          <a:latin typeface="DejaVu Sans Mono"/>
                        </a:rPr>
                        <a:t>&gt;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1"/>
                        </a:rPr>
                        <a:t>listIterator</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a list iterator over the elements in this list (in proper sequence).</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10706298"/>
                  </a:ext>
                </a:extLst>
              </a:tr>
              <a:tr h="187141">
                <a:tc>
                  <a:txBody>
                    <a:bodyPr/>
                    <a:lstStyle/>
                    <a:p>
                      <a:pPr algn="l" fontAlgn="t">
                        <a:buNone/>
                      </a:pPr>
                      <a:r>
                        <a:rPr lang="en-US" sz="300" b="1" u="none" strike="noStrike">
                          <a:solidFill>
                            <a:srgbClr val="4A6782"/>
                          </a:solidFill>
                          <a:effectLst/>
                          <a:latin typeface="DejaVu Sans Mono"/>
                          <a:hlinkClick r:id="rId20" tooltip="interface in java.util"/>
                        </a:rPr>
                        <a:t>ListIterator</a:t>
                      </a:r>
                      <a:r>
                        <a:rPr lang="en-US" sz="300">
                          <a:effectLst/>
                          <a:latin typeface="DejaVu Sans Mono"/>
                        </a:rPr>
                        <a:t>&lt;</a:t>
                      </a:r>
                      <a:r>
                        <a:rPr lang="en-US" sz="300" b="1" u="none" strike="noStrike">
                          <a:solidFill>
                            <a:srgbClr val="4A6782"/>
                          </a:solidFill>
                          <a:effectLst/>
                          <a:latin typeface="DejaVu Sans Mono"/>
                          <a:hlinkClick r:id="rId3" tooltip="type parameter in List"/>
                        </a:rPr>
                        <a:t>E</a:t>
                      </a:r>
                      <a:r>
                        <a:rPr lang="en-US" sz="300">
                          <a:effectLst/>
                          <a:latin typeface="DejaVu Sans Mono"/>
                        </a:rPr>
                        <a:t>&gt;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22"/>
                        </a:rPr>
                        <a:t>listIterator</a:t>
                      </a:r>
                      <a:r>
                        <a:rPr lang="en-US" sz="300" b="0">
                          <a:effectLst/>
                          <a:latin typeface="DejaVu Sans Mono"/>
                        </a:rPr>
                        <a:t>(int index)</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a list iterator over the elements in this list (in proper sequence), starting at the specified position in the list.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027622301"/>
                  </a:ext>
                </a:extLst>
              </a:tr>
              <a:tr h="143676">
                <a:tc>
                  <a:txBody>
                    <a:bodyPr/>
                    <a:lstStyle/>
                    <a:p>
                      <a:pPr algn="l" fontAlgn="t">
                        <a:buNone/>
                      </a:pPr>
                      <a:r>
                        <a:rPr lang="en-US" sz="300" b="1" u="none" strike="noStrike">
                          <a:solidFill>
                            <a:srgbClr val="4A6782"/>
                          </a:solidFill>
                          <a:effectLst/>
                          <a:latin typeface="DejaVu Sans Mono"/>
                          <a:hlinkClick r:id="rId3" tooltip="type parameter in List"/>
                        </a:rPr>
                        <a:t>E</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3"/>
                        </a:rPr>
                        <a:t>remove</a:t>
                      </a:r>
                      <a:r>
                        <a:rPr lang="en-US" sz="300" b="0">
                          <a:effectLst/>
                          <a:latin typeface="DejaVu Sans Mono"/>
                        </a:rPr>
                        <a:t>(int index)</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Removes the element at the specified position in this list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062486874"/>
                  </a:ext>
                </a:extLst>
              </a:tr>
              <a:tr h="18714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24"/>
                        </a:rPr>
                        <a:t>remove</a:t>
                      </a:r>
                      <a:r>
                        <a:rPr lang="en-US" sz="300" b="0">
                          <a:effectLst/>
                          <a:latin typeface="DejaVu Sans Mono"/>
                        </a:rPr>
                        <a:t>(</a:t>
                      </a:r>
                      <a:r>
                        <a:rPr lang="en-US" sz="300" b="1" u="none" strike="noStrike">
                          <a:solidFill>
                            <a:srgbClr val="4A6782"/>
                          </a:solidFill>
                          <a:effectLst/>
                          <a:latin typeface="DejaVu Sans Mono"/>
                          <a:hlinkClick r:id="rId10" tooltip="class in java.lang"/>
                        </a:rPr>
                        <a:t>Object</a:t>
                      </a:r>
                      <a:r>
                        <a:rPr lang="en-US" sz="300" b="0">
                          <a:effectLst/>
                          <a:latin typeface="DejaVu Sans Mono"/>
                        </a:rPr>
                        <a:t> o)</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Removes the first occurrence of the specified element from this list, if it is present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808874594"/>
                  </a:ext>
                </a:extLst>
              </a:tr>
              <a:tr h="18714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5"/>
                        </a:rPr>
                        <a:t>removeAll</a:t>
                      </a:r>
                      <a:r>
                        <a:rPr lang="en-US" sz="300" b="0">
                          <a:effectLst/>
                          <a:latin typeface="DejaVu Sans Mono"/>
                        </a:rPr>
                        <a:t>(</a:t>
                      </a:r>
                      <a:r>
                        <a:rPr lang="en-US" sz="300" b="1" u="none" strike="noStrike">
                          <a:solidFill>
                            <a:srgbClr val="4A6782"/>
                          </a:solidFill>
                          <a:effectLst/>
                          <a:latin typeface="DejaVu Sans Mono"/>
                          <a:hlinkClick r:id="rId6" tooltip="interface in java.util"/>
                        </a:rPr>
                        <a:t>Collection</a:t>
                      </a:r>
                      <a:r>
                        <a:rPr lang="en-US" sz="300" b="0">
                          <a:effectLst/>
                          <a:latin typeface="DejaVu Sans Mono"/>
                        </a:rPr>
                        <a:t>&lt;?&gt; c)</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Removes from this list all of its elements that are contained in the specified collection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917630786"/>
                  </a:ext>
                </a:extLst>
              </a:tr>
              <a:tr h="187141">
                <a:tc>
                  <a:txBody>
                    <a:bodyPr/>
                    <a:lstStyle/>
                    <a:p>
                      <a:pPr algn="l" fontAlgn="t">
                        <a:buNone/>
                      </a:pPr>
                      <a:r>
                        <a:rPr lang="en-US" sz="300">
                          <a:effectLst/>
                          <a:latin typeface="DejaVu Sans Mono"/>
                        </a:rPr>
                        <a:t>boolean</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26"/>
                        </a:rPr>
                        <a:t>retainAll</a:t>
                      </a:r>
                      <a:r>
                        <a:rPr lang="en-US" sz="300" b="0">
                          <a:effectLst/>
                          <a:latin typeface="DejaVu Sans Mono"/>
                        </a:rPr>
                        <a:t>(</a:t>
                      </a:r>
                      <a:r>
                        <a:rPr lang="en-US" sz="300" b="1" u="none" strike="noStrike">
                          <a:solidFill>
                            <a:srgbClr val="4A6782"/>
                          </a:solidFill>
                          <a:effectLst/>
                          <a:latin typeface="DejaVu Sans Mono"/>
                          <a:hlinkClick r:id="rId6" tooltip="interface in java.util"/>
                        </a:rPr>
                        <a:t>Collection</a:t>
                      </a:r>
                      <a:r>
                        <a:rPr lang="en-US" sz="300" b="0">
                          <a:effectLst/>
                          <a:latin typeface="DejaVu Sans Mono"/>
                        </a:rPr>
                        <a:t>&lt;?&gt; c)</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Retains only the elements in this list that are contained in the specified collection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386035496"/>
                  </a:ext>
                </a:extLst>
              </a:tr>
              <a:tr h="187141">
                <a:tc>
                  <a:txBody>
                    <a:bodyPr/>
                    <a:lstStyle/>
                    <a:p>
                      <a:pPr algn="l" fontAlgn="t">
                        <a:buNone/>
                      </a:pPr>
                      <a:r>
                        <a:rPr lang="en-US" sz="300" b="1" u="none" strike="noStrike">
                          <a:solidFill>
                            <a:srgbClr val="4A6782"/>
                          </a:solidFill>
                          <a:effectLst/>
                          <a:latin typeface="DejaVu Sans Mono"/>
                          <a:hlinkClick r:id="rId3" tooltip="type parameter in List"/>
                        </a:rPr>
                        <a:t>E</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7"/>
                        </a:rPr>
                        <a:t>set</a:t>
                      </a:r>
                      <a:r>
                        <a:rPr lang="en-US" sz="300" b="0">
                          <a:effectLst/>
                          <a:latin typeface="DejaVu Sans Mono"/>
                        </a:rPr>
                        <a:t>(int index, </a:t>
                      </a:r>
                      <a:r>
                        <a:rPr lang="en-US" sz="300" b="1" u="none" strike="noStrike">
                          <a:solidFill>
                            <a:srgbClr val="4A6782"/>
                          </a:solidFill>
                          <a:effectLst/>
                          <a:latin typeface="DejaVu Sans Mono"/>
                          <a:hlinkClick r:id="rId3" tooltip="type parameter in List"/>
                        </a:rPr>
                        <a:t>E</a:t>
                      </a:r>
                      <a:r>
                        <a:rPr lang="en-US" sz="300" b="0">
                          <a:effectLst/>
                          <a:latin typeface="DejaVu Sans Mono"/>
                        </a:rPr>
                        <a:t> element)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Replaces the element at the specified position in this list with the specified element (optional operation).</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251022651"/>
                  </a:ext>
                </a:extLst>
              </a:tr>
              <a:tr h="100211">
                <a:tc>
                  <a:txBody>
                    <a:bodyPr/>
                    <a:lstStyle/>
                    <a:p>
                      <a:pPr algn="l" fontAlgn="t">
                        <a:buNone/>
                      </a:pPr>
                      <a:r>
                        <a:rPr lang="en-US" sz="300">
                          <a:effectLst/>
                          <a:latin typeface="DejaVu Sans Mono"/>
                        </a:rPr>
                        <a:t>int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28"/>
                        </a:rPr>
                        <a:t>size</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the number of elements in this list.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23585969"/>
                  </a:ext>
                </a:extLst>
              </a:tr>
              <a:tr h="187141">
                <a:tc>
                  <a:txBody>
                    <a:bodyPr/>
                    <a:lstStyle/>
                    <a:p>
                      <a:pPr algn="l" fontAlgn="t">
                        <a:buNone/>
                      </a:pPr>
                      <a:r>
                        <a:rPr lang="en-US" sz="300" b="1" u="none" strike="noStrike">
                          <a:solidFill>
                            <a:srgbClr val="4A6782"/>
                          </a:solidFill>
                          <a:effectLst/>
                          <a:latin typeface="DejaVu Sans Mono"/>
                          <a:hlinkClick r:id="rId3" tooltip="interface in java.util"/>
                        </a:rPr>
                        <a:t>List</a:t>
                      </a:r>
                      <a:r>
                        <a:rPr lang="en-US" sz="300">
                          <a:effectLst/>
                          <a:latin typeface="DejaVu Sans Mono"/>
                        </a:rPr>
                        <a:t>&lt;</a:t>
                      </a:r>
                      <a:r>
                        <a:rPr lang="en-US" sz="300" b="1" u="none" strike="noStrike">
                          <a:solidFill>
                            <a:srgbClr val="4A6782"/>
                          </a:solidFill>
                          <a:effectLst/>
                          <a:latin typeface="DejaVu Sans Mono"/>
                          <a:hlinkClick r:id="rId3" tooltip="type parameter in List"/>
                        </a:rPr>
                        <a:t>E</a:t>
                      </a:r>
                      <a:r>
                        <a:rPr lang="en-US" sz="300">
                          <a:effectLst/>
                          <a:latin typeface="DejaVu Sans Mono"/>
                        </a:rPr>
                        <a:t>&gt;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29"/>
                        </a:rPr>
                        <a:t>subList</a:t>
                      </a:r>
                      <a:r>
                        <a:rPr lang="en-US" sz="300" b="0">
                          <a:effectLst/>
                          <a:latin typeface="DejaVu Sans Mono"/>
                        </a:rPr>
                        <a:t>(int fromIndex, int toIndex)</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a:solidFill>
                            <a:srgbClr val="474747"/>
                          </a:solidFill>
                          <a:effectLst/>
                          <a:latin typeface="DejaVu Serif"/>
                        </a:rPr>
                        <a:t>Returns a view of the portion of this list between the specified </a:t>
                      </a:r>
                      <a:r>
                        <a:rPr lang="en-US" sz="300">
                          <a:solidFill>
                            <a:srgbClr val="474747"/>
                          </a:solidFill>
                          <a:effectLst/>
                          <a:latin typeface="DejaVu Sans Mono"/>
                        </a:rPr>
                        <a:t>fromIndex</a:t>
                      </a:r>
                      <a:r>
                        <a:rPr lang="en-US" sz="300">
                          <a:solidFill>
                            <a:srgbClr val="474747"/>
                          </a:solidFill>
                          <a:effectLst/>
                          <a:latin typeface="DejaVu Serif"/>
                        </a:rPr>
                        <a:t>, inclusive, and </a:t>
                      </a:r>
                      <a:r>
                        <a:rPr lang="en-US" sz="300">
                          <a:solidFill>
                            <a:srgbClr val="474747"/>
                          </a:solidFill>
                          <a:effectLst/>
                          <a:latin typeface="DejaVu Sans Mono"/>
                        </a:rPr>
                        <a:t>toIndex</a:t>
                      </a:r>
                      <a:r>
                        <a:rPr lang="en-US" sz="300">
                          <a:solidFill>
                            <a:srgbClr val="474747"/>
                          </a:solidFill>
                          <a:effectLst/>
                          <a:latin typeface="DejaVu Serif"/>
                        </a:rPr>
                        <a:t>, exclusive.</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127981814"/>
                  </a:ext>
                </a:extLst>
              </a:tr>
              <a:tr h="187141">
                <a:tc>
                  <a:txBody>
                    <a:bodyPr/>
                    <a:lstStyle/>
                    <a:p>
                      <a:pPr algn="l" fontAlgn="t">
                        <a:buNone/>
                      </a:pPr>
                      <a:r>
                        <a:rPr lang="en-US" sz="300" b="1" u="none" strike="noStrike">
                          <a:solidFill>
                            <a:srgbClr val="4A6782"/>
                          </a:solidFill>
                          <a:effectLst/>
                          <a:latin typeface="DejaVu Sans Mono"/>
                          <a:hlinkClick r:id="rId10" tooltip="class in java.lang"/>
                        </a:rPr>
                        <a:t>Object</a:t>
                      </a:r>
                      <a:r>
                        <a:rPr lang="en-US" sz="300">
                          <a:effectLst/>
                          <a:latin typeface="DejaVu Sans Mono"/>
                        </a:rPr>
                        <a: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300" b="1" u="none" strike="noStrike">
                          <a:solidFill>
                            <a:srgbClr val="4A6782"/>
                          </a:solidFill>
                          <a:effectLst/>
                          <a:latin typeface="DejaVu Sans Mono"/>
                          <a:hlinkClick r:id="rId30"/>
                        </a:rPr>
                        <a:t>toArray</a:t>
                      </a:r>
                      <a:r>
                        <a:rPr lang="en-US" sz="300" b="0">
                          <a:effectLst/>
                          <a:latin typeface="DejaVu Sans Mono"/>
                        </a:rPr>
                        <a:t>()</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300">
                          <a:solidFill>
                            <a:srgbClr val="474747"/>
                          </a:solidFill>
                          <a:effectLst/>
                          <a:latin typeface="DejaVu Serif"/>
                        </a:rPr>
                        <a:t>Returns an array containing all of the elements in this list in proper sequence (from first to last element).</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3764484959"/>
                  </a:ext>
                </a:extLst>
              </a:tr>
              <a:tr h="274071">
                <a:tc>
                  <a:txBody>
                    <a:bodyPr/>
                    <a:lstStyle/>
                    <a:p>
                      <a:pPr algn="l" fontAlgn="t">
                        <a:buNone/>
                      </a:pPr>
                      <a:r>
                        <a:rPr lang="en-US" sz="300">
                          <a:effectLst/>
                          <a:latin typeface="DejaVu Sans Mono"/>
                        </a:rPr>
                        <a:t>&lt;T&gt; T[]</a:t>
                      </a:r>
                      <a:endParaRPr lang="en-US" sz="300">
                        <a:effectLst/>
                      </a:endParaRP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300" b="1" u="none" strike="noStrike">
                          <a:solidFill>
                            <a:srgbClr val="4A6782"/>
                          </a:solidFill>
                          <a:effectLst/>
                          <a:latin typeface="DejaVu Sans Mono"/>
                          <a:hlinkClick r:id="rId31"/>
                        </a:rPr>
                        <a:t>toArray</a:t>
                      </a:r>
                      <a:r>
                        <a:rPr lang="en-US" sz="300" b="0">
                          <a:effectLst/>
                          <a:latin typeface="DejaVu Sans Mono"/>
                        </a:rPr>
                        <a:t>(T[] a)</a:t>
                      </a:r>
                      <a:endParaRPr lang="en-US" sz="300" b="0">
                        <a:effectLst/>
                      </a:endParaRPr>
                    </a:p>
                  </a:txBody>
                  <a:tcPr marL="8452"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300" dirty="0">
                          <a:solidFill>
                            <a:srgbClr val="474747"/>
                          </a:solidFill>
                          <a:effectLst/>
                          <a:latin typeface="DejaVu Serif"/>
                        </a:rPr>
                        <a:t>Returns an array containing all of the elements in this list in proper sequence (from first to last element); the runtime type of the returned array is that of the specified array.</a:t>
                      </a:r>
                    </a:p>
                  </a:txBody>
                  <a:tcPr marL="12074" marR="3622" marT="9659" marB="3622">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625065896"/>
                  </a:ext>
                </a:extLst>
              </a:tr>
            </a:tbl>
          </a:graphicData>
        </a:graphic>
      </p:graphicFrame>
    </p:spTree>
    <p:extLst>
      <p:ext uri="{BB962C8B-B14F-4D97-AF65-F5344CB8AC3E}">
        <p14:creationId xmlns:p14="http://schemas.microsoft.com/office/powerpoint/2010/main" val="3174603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08B2C51-14D6-C145-2E72-BBB05C6387EC}"/>
              </a:ext>
            </a:extLst>
          </p:cNvPr>
          <p:cNvGraphicFramePr>
            <a:graphicFrameLocks noGrp="1"/>
          </p:cNvGraphicFramePr>
          <p:nvPr/>
        </p:nvGraphicFramePr>
        <p:xfrm>
          <a:off x="2299985" y="1642409"/>
          <a:ext cx="5306030" cy="4717770"/>
        </p:xfrm>
        <a:graphic>
          <a:graphicData uri="http://schemas.openxmlformats.org/drawingml/2006/table">
            <a:tbl>
              <a:tblPr/>
              <a:tblGrid>
                <a:gridCol w="1256840">
                  <a:extLst>
                    <a:ext uri="{9D8B030D-6E8A-4147-A177-3AD203B41FA5}">
                      <a16:colId xmlns:a16="http://schemas.microsoft.com/office/drawing/2014/main" val="861172514"/>
                    </a:ext>
                  </a:extLst>
                </a:gridCol>
                <a:gridCol w="2049178">
                  <a:extLst>
                    <a:ext uri="{9D8B030D-6E8A-4147-A177-3AD203B41FA5}">
                      <a16:colId xmlns:a16="http://schemas.microsoft.com/office/drawing/2014/main" val="2229545660"/>
                    </a:ext>
                  </a:extLst>
                </a:gridCol>
                <a:gridCol w="2000012">
                  <a:extLst>
                    <a:ext uri="{9D8B030D-6E8A-4147-A177-3AD203B41FA5}">
                      <a16:colId xmlns:a16="http://schemas.microsoft.com/office/drawing/2014/main" val="2146535239"/>
                    </a:ext>
                  </a:extLst>
                </a:gridCol>
              </a:tblGrid>
              <a:tr h="512695">
                <a:tc gridSpan="3">
                  <a:txBody>
                    <a:bodyPr/>
                    <a:lstStyle/>
                    <a:p>
                      <a:pPr>
                        <a:buNone/>
                      </a:pPr>
                      <a:r>
                        <a:rPr lang="en-US" sz="1600"/>
                        <a:t>All MethodsInstance MethodsAbstract MethodsDefault Methods</a:t>
                      </a:r>
                    </a:p>
                  </a:txBody>
                  <a:tcPr marL="19719" marR="19719" marT="19719" marB="19719"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89876089"/>
                  </a:ext>
                </a:extLst>
              </a:tr>
              <a:tr h="545560">
                <a:tc>
                  <a:txBody>
                    <a:bodyPr/>
                    <a:lstStyle/>
                    <a:p>
                      <a:pPr algn="l" fontAlgn="t">
                        <a:buNone/>
                      </a:pPr>
                      <a:r>
                        <a:rPr lang="en-US" sz="1600">
                          <a:effectLst/>
                        </a:rPr>
                        <a:t>Modifier and Type</a:t>
                      </a: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600">
                          <a:effectLst/>
                        </a:rPr>
                        <a:t>Method</a:t>
                      </a: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600">
                          <a:effectLst/>
                        </a:rPr>
                        <a:t>Description</a:t>
                      </a: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1196460537"/>
                  </a:ext>
                </a:extLst>
              </a:tr>
              <a:tr h="1255446">
                <a:tc>
                  <a:txBody>
                    <a:bodyPr/>
                    <a:lstStyle/>
                    <a:p>
                      <a:pPr algn="l" fontAlgn="t">
                        <a:buNone/>
                      </a:pPr>
                      <a:r>
                        <a:rPr lang="en-US" sz="1600">
                          <a:effectLst/>
                          <a:latin typeface="DejaVu Sans Mono"/>
                        </a:rPr>
                        <a:t>default void</a:t>
                      </a:r>
                      <a:endParaRPr lang="en-US" sz="1600">
                        <a:effectLst/>
                      </a:endParaRP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600" b="1" u="none" strike="noStrike">
                          <a:solidFill>
                            <a:srgbClr val="4A6782"/>
                          </a:solidFill>
                          <a:effectLst/>
                          <a:latin typeface="DejaVu Sans Mono"/>
                          <a:hlinkClick r:id="rId2"/>
                        </a:rPr>
                        <a:t>replaceAll</a:t>
                      </a:r>
                      <a:r>
                        <a:rPr lang="en-US" sz="1600" b="0">
                          <a:effectLst/>
                          <a:latin typeface="DejaVu Sans Mono"/>
                        </a:rPr>
                        <a:t>(</a:t>
                      </a:r>
                      <a:r>
                        <a:rPr lang="en-US" sz="1600" b="1" u="none" strike="noStrike">
                          <a:solidFill>
                            <a:srgbClr val="4A6782"/>
                          </a:solidFill>
                          <a:effectLst/>
                          <a:latin typeface="DejaVu Sans Mono"/>
                          <a:hlinkClick r:id="rId3" tooltip="interface in java.util.function"/>
                        </a:rPr>
                        <a:t>UnaryOperator</a:t>
                      </a:r>
                      <a:r>
                        <a:rPr lang="en-US" sz="1600" b="0">
                          <a:effectLst/>
                          <a:latin typeface="DejaVu Sans Mono"/>
                        </a:rPr>
                        <a:t>&lt;</a:t>
                      </a:r>
                      <a:r>
                        <a:rPr lang="en-US" sz="1600" b="1" u="none" strike="noStrike">
                          <a:solidFill>
                            <a:srgbClr val="4A6782"/>
                          </a:solidFill>
                          <a:effectLst/>
                          <a:latin typeface="DejaVu Sans Mono"/>
                          <a:hlinkClick r:id="rId4" tooltip="type parameter in List"/>
                        </a:rPr>
                        <a:t>E</a:t>
                      </a:r>
                      <a:r>
                        <a:rPr lang="en-US" sz="1600" b="0">
                          <a:effectLst/>
                          <a:latin typeface="DejaVu Sans Mono"/>
                        </a:rPr>
                        <a:t>&gt; operator)</a:t>
                      </a:r>
                      <a:endParaRPr lang="en-US" sz="1600" b="0">
                        <a:effectLst/>
                      </a:endParaRP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600">
                          <a:solidFill>
                            <a:srgbClr val="474747"/>
                          </a:solidFill>
                          <a:effectLst/>
                          <a:latin typeface="DejaVu Serif"/>
                        </a:rPr>
                        <a:t>Replaces each element of this list with the result of applying the operator to that element.</a:t>
                      </a: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556858189"/>
                  </a:ext>
                </a:extLst>
              </a:tr>
              <a:tr h="1255446">
                <a:tc>
                  <a:txBody>
                    <a:bodyPr/>
                    <a:lstStyle/>
                    <a:p>
                      <a:pPr algn="l" fontAlgn="t">
                        <a:buNone/>
                      </a:pPr>
                      <a:r>
                        <a:rPr lang="en-US" sz="1600">
                          <a:effectLst/>
                          <a:latin typeface="DejaVu Sans Mono"/>
                        </a:rPr>
                        <a:t>default void</a:t>
                      </a:r>
                      <a:endParaRPr lang="en-US" sz="1600">
                        <a:effectLst/>
                      </a:endParaRP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600" b="1" u="none" strike="noStrike">
                          <a:solidFill>
                            <a:srgbClr val="4A6782"/>
                          </a:solidFill>
                          <a:effectLst/>
                          <a:latin typeface="DejaVu Sans Mono"/>
                          <a:hlinkClick r:id="rId5"/>
                        </a:rPr>
                        <a:t>sort</a:t>
                      </a:r>
                      <a:r>
                        <a:rPr lang="en-US" sz="1600" b="0">
                          <a:effectLst/>
                          <a:latin typeface="DejaVu Sans Mono"/>
                        </a:rPr>
                        <a:t>(</a:t>
                      </a:r>
                      <a:r>
                        <a:rPr lang="en-US" sz="1600" b="1" u="none" strike="noStrike">
                          <a:solidFill>
                            <a:srgbClr val="4A6782"/>
                          </a:solidFill>
                          <a:effectLst/>
                          <a:latin typeface="DejaVu Sans Mono"/>
                          <a:hlinkClick r:id="rId6" tooltip="interface in java.util"/>
                        </a:rPr>
                        <a:t>Comparator</a:t>
                      </a:r>
                      <a:r>
                        <a:rPr lang="en-US" sz="1600" b="0">
                          <a:effectLst/>
                          <a:latin typeface="DejaVu Sans Mono"/>
                        </a:rPr>
                        <a:t>&lt;? super </a:t>
                      </a:r>
                      <a:r>
                        <a:rPr lang="en-US" sz="1600" b="1" u="none" strike="noStrike">
                          <a:solidFill>
                            <a:srgbClr val="4A6782"/>
                          </a:solidFill>
                          <a:effectLst/>
                          <a:latin typeface="DejaVu Sans Mono"/>
                          <a:hlinkClick r:id="rId4" tooltip="type parameter in List"/>
                        </a:rPr>
                        <a:t>E</a:t>
                      </a:r>
                      <a:r>
                        <a:rPr lang="en-US" sz="1600" b="0">
                          <a:effectLst/>
                          <a:latin typeface="DejaVu Sans Mono"/>
                        </a:rPr>
                        <a:t>&gt; c)</a:t>
                      </a:r>
                      <a:endParaRPr lang="en-US" sz="1600" b="0">
                        <a:effectLst/>
                      </a:endParaRP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600">
                          <a:solidFill>
                            <a:srgbClr val="474747"/>
                          </a:solidFill>
                          <a:effectLst/>
                          <a:latin typeface="DejaVu Serif"/>
                        </a:rPr>
                        <a:t>Sorts this list according to the order induced by the specified </a:t>
                      </a:r>
                      <a:r>
                        <a:rPr lang="en-US" sz="1600" b="1" u="none" strike="noStrike">
                          <a:solidFill>
                            <a:srgbClr val="4A6782"/>
                          </a:solidFill>
                          <a:effectLst/>
                          <a:latin typeface="DejaVu Sans Mono"/>
                          <a:hlinkClick r:id="rId6" tooltip="interface in java.util"/>
                        </a:rPr>
                        <a:t>Comparator</a:t>
                      </a:r>
                      <a:r>
                        <a:rPr lang="en-US" sz="1600">
                          <a:solidFill>
                            <a:srgbClr val="474747"/>
                          </a:solidFill>
                          <a:effectLst/>
                          <a:latin typeface="DejaVu Serif"/>
                        </a:rPr>
                        <a:t>.</a:t>
                      </a: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2761300554"/>
                  </a:ext>
                </a:extLst>
              </a:tr>
              <a:tr h="782189">
                <a:tc>
                  <a:txBody>
                    <a:bodyPr/>
                    <a:lstStyle/>
                    <a:p>
                      <a:pPr algn="l" fontAlgn="t">
                        <a:buNone/>
                      </a:pPr>
                      <a:r>
                        <a:rPr lang="en-US" sz="1600">
                          <a:effectLst/>
                          <a:latin typeface="DejaVu Sans Mono"/>
                        </a:rPr>
                        <a:t>default </a:t>
                      </a:r>
                      <a:r>
                        <a:rPr lang="en-US" sz="1600" b="1" u="none" strike="noStrike">
                          <a:solidFill>
                            <a:srgbClr val="4A6782"/>
                          </a:solidFill>
                          <a:effectLst/>
                          <a:latin typeface="DejaVu Sans Mono"/>
                          <a:hlinkClick r:id="rId7" tooltip="interface in java.util"/>
                        </a:rPr>
                        <a:t>Spliterator</a:t>
                      </a:r>
                      <a:r>
                        <a:rPr lang="en-US" sz="1600">
                          <a:effectLst/>
                          <a:latin typeface="DejaVu Sans Mono"/>
                        </a:rPr>
                        <a:t>&lt;</a:t>
                      </a:r>
                      <a:r>
                        <a:rPr lang="en-US" sz="1600" b="1" u="none" strike="noStrike">
                          <a:solidFill>
                            <a:srgbClr val="4A6782"/>
                          </a:solidFill>
                          <a:effectLst/>
                          <a:latin typeface="DejaVu Sans Mono"/>
                          <a:hlinkClick r:id="rId4" tooltip="type parameter in List"/>
                        </a:rPr>
                        <a:t>E</a:t>
                      </a:r>
                      <a:r>
                        <a:rPr lang="en-US" sz="1600">
                          <a:effectLst/>
                          <a:latin typeface="DejaVu Sans Mono"/>
                        </a:rPr>
                        <a:t>&gt;</a:t>
                      </a:r>
                      <a:endParaRPr lang="en-US" sz="1600">
                        <a:effectLst/>
                      </a:endParaRP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600" b="1" u="none" strike="noStrike">
                          <a:solidFill>
                            <a:srgbClr val="4A6782"/>
                          </a:solidFill>
                          <a:effectLst/>
                          <a:latin typeface="DejaVu Sans Mono"/>
                          <a:hlinkClick r:id="rId8"/>
                        </a:rPr>
                        <a:t>spliterator</a:t>
                      </a:r>
                      <a:r>
                        <a:rPr lang="en-US" sz="1600" b="0">
                          <a:effectLst/>
                          <a:latin typeface="DejaVu Sans Mono"/>
                        </a:rPr>
                        <a:t>()</a:t>
                      </a:r>
                      <a:endParaRPr lang="en-US" sz="1600" b="0">
                        <a:effectLst/>
                      </a:endParaRPr>
                    </a:p>
                  </a:txBody>
                  <a:tcPr marL="46011"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600" dirty="0">
                          <a:solidFill>
                            <a:srgbClr val="474747"/>
                          </a:solidFill>
                          <a:effectLst/>
                          <a:latin typeface="DejaVu Serif"/>
                        </a:rPr>
                        <a:t>Creates a </a:t>
                      </a:r>
                      <a:r>
                        <a:rPr lang="en-US" sz="1600" b="1" u="none" strike="noStrike" dirty="0" err="1">
                          <a:solidFill>
                            <a:srgbClr val="4A6782"/>
                          </a:solidFill>
                          <a:effectLst/>
                          <a:latin typeface="DejaVu Sans Mono"/>
                          <a:hlinkClick r:id="rId7" tooltip="interface in java.util"/>
                        </a:rPr>
                        <a:t>Spliterator</a:t>
                      </a:r>
                      <a:r>
                        <a:rPr lang="en-US" sz="1600" dirty="0">
                          <a:solidFill>
                            <a:srgbClr val="474747"/>
                          </a:solidFill>
                          <a:effectLst/>
                          <a:latin typeface="DejaVu Serif"/>
                        </a:rPr>
                        <a:t> over the elements in this list.</a:t>
                      </a:r>
                    </a:p>
                  </a:txBody>
                  <a:tcPr marL="65730" marR="19719" marT="52584" marB="19719">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718763448"/>
                  </a:ext>
                </a:extLst>
              </a:tr>
            </a:tbl>
          </a:graphicData>
        </a:graphic>
      </p:graphicFrame>
    </p:spTree>
    <p:extLst>
      <p:ext uri="{BB962C8B-B14F-4D97-AF65-F5344CB8AC3E}">
        <p14:creationId xmlns:p14="http://schemas.microsoft.com/office/powerpoint/2010/main" val="36015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A95245F-44E8-0C5F-0C80-EE0AD5B1F3A4}"/>
              </a:ext>
            </a:extLst>
          </p:cNvPr>
          <p:cNvSpPr txBox="1"/>
          <p:nvPr/>
        </p:nvSpPr>
        <p:spPr>
          <a:xfrm>
            <a:off x="2476500" y="-4397501"/>
            <a:ext cx="4953000" cy="15653003"/>
          </a:xfrm>
          <a:prstGeom prst="rect">
            <a:avLst/>
          </a:prstGeom>
          <a:noFill/>
        </p:spPr>
        <p:txBody>
          <a:bodyPr wrap="square">
            <a:spAutoFit/>
          </a:bodyPr>
          <a:lstStyle/>
          <a:p>
            <a:pPr algn="l">
              <a:spcBef>
                <a:spcPts val="1125"/>
              </a:spcBef>
              <a:spcAft>
                <a:spcPts val="1125"/>
              </a:spcAft>
              <a:buNone/>
            </a:pPr>
            <a:r>
              <a:rPr lang="en-US" b="1" i="1" dirty="0">
                <a:solidFill>
                  <a:srgbClr val="353833"/>
                </a:solidFill>
                <a:effectLst/>
                <a:latin typeface="DejaVu Sans"/>
              </a:rPr>
              <a:t>Method Detail</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size</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size()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number of elements in this list. If this list contains more than </a:t>
            </a:r>
            <a:r>
              <a:rPr lang="en-US" b="0" i="0" dirty="0" err="1">
                <a:solidFill>
                  <a:srgbClr val="474747"/>
                </a:solidFill>
                <a:effectLst/>
                <a:latin typeface="DejaVu Sans Mono"/>
              </a:rPr>
              <a:t>Integer.MAX_VALUE</a:t>
            </a:r>
            <a:r>
              <a:rPr lang="en-US" b="0" i="0" dirty="0">
                <a:solidFill>
                  <a:srgbClr val="474747"/>
                </a:solidFill>
                <a:effectLst/>
                <a:latin typeface="DejaVu Serif"/>
              </a:rPr>
              <a:t> elements, returns </a:t>
            </a:r>
            <a:r>
              <a:rPr lang="en-US" b="0" i="0" dirty="0" err="1">
                <a:solidFill>
                  <a:srgbClr val="474747"/>
                </a:solidFill>
                <a:effectLst/>
                <a:latin typeface="DejaVu Sans Mono"/>
              </a:rPr>
              <a:t>Integer.MAX_VALUE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
              </a:rPr>
              <a:t>size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number of elements in this list</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isEmpty</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isEmpty</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t>
            </a:r>
            <a:r>
              <a:rPr lang="en-US" b="0" i="0" dirty="0">
                <a:solidFill>
                  <a:srgbClr val="474747"/>
                </a:solidFill>
                <a:effectLst/>
                <a:latin typeface="DejaVu Sans Mono"/>
              </a:rPr>
              <a:t>true</a:t>
            </a:r>
            <a:r>
              <a:rPr lang="en-US" b="0" i="0" dirty="0">
                <a:solidFill>
                  <a:srgbClr val="474747"/>
                </a:solidFill>
                <a:effectLst/>
                <a:latin typeface="DejaVu Serif"/>
              </a:rPr>
              <a:t> if this list contains no elements.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a:rPr>
              <a:t>isEmpty</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contains no elements</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contains</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contains(</a:t>
            </a:r>
            <a:r>
              <a:rPr lang="en-US" b="0" i="0" u="none" strike="noStrike" dirty="0">
                <a:solidFill>
                  <a:srgbClr val="4A6782"/>
                </a:solidFill>
                <a:effectLst/>
                <a:latin typeface="DejaVu Sans Mono"/>
                <a:hlinkClick r:id="rId6"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t>
            </a:r>
            <a:r>
              <a:rPr lang="en-US" b="0" i="0" dirty="0">
                <a:solidFill>
                  <a:srgbClr val="474747"/>
                </a:solidFill>
                <a:effectLst/>
                <a:latin typeface="DejaVu Sans Mono"/>
              </a:rPr>
              <a:t>true</a:t>
            </a:r>
            <a:r>
              <a:rPr lang="en-US" b="0" i="0" dirty="0">
                <a:solidFill>
                  <a:srgbClr val="474747"/>
                </a:solidFill>
                <a:effectLst/>
                <a:latin typeface="DejaVu Serif"/>
              </a:rPr>
              <a:t> if this list contains the specified element. More formally, returns </a:t>
            </a:r>
            <a:r>
              <a:rPr lang="en-US" b="0" i="0" dirty="0">
                <a:solidFill>
                  <a:srgbClr val="474747"/>
                </a:solidFill>
                <a:effectLst/>
                <a:latin typeface="DejaVu Sans Mono"/>
              </a:rPr>
              <a:t>true</a:t>
            </a:r>
            <a:r>
              <a:rPr lang="en-US" b="0" i="0" dirty="0">
                <a:solidFill>
                  <a:srgbClr val="474747"/>
                </a:solidFill>
                <a:effectLst/>
                <a:latin typeface="DejaVu Serif"/>
              </a:rPr>
              <a:t> if and only if this list contains at least one element </a:t>
            </a:r>
            <a:r>
              <a:rPr lang="en-US" b="0" i="0" dirty="0">
                <a:solidFill>
                  <a:srgbClr val="474747"/>
                </a:solidFill>
                <a:effectLst/>
                <a:latin typeface="DejaVu Sans Mono"/>
              </a:rPr>
              <a:t>e</a:t>
            </a:r>
            <a:r>
              <a:rPr lang="en-US" b="0" i="0" dirty="0">
                <a:solidFill>
                  <a:srgbClr val="474747"/>
                </a:solidFill>
                <a:effectLst/>
                <a:latin typeface="DejaVu Serif"/>
              </a:rPr>
              <a:t> such that </a:t>
            </a:r>
            <a:r>
              <a:rPr lang="en-US" b="0" i="0" dirty="0">
                <a:solidFill>
                  <a:srgbClr val="474747"/>
                </a:solidFill>
                <a:effectLst/>
                <a:latin typeface="DejaVu Sans Mono"/>
              </a:rPr>
              <a:t>(o==null ? e==null : </a:t>
            </a:r>
            <a:r>
              <a:rPr lang="en-US" b="0" i="0" dirty="0" err="1">
                <a:solidFill>
                  <a:srgbClr val="474747"/>
                </a:solidFill>
                <a:effectLst/>
                <a:latin typeface="DejaVu Sans Mono"/>
              </a:rPr>
              <a:t>o.equals</a:t>
            </a:r>
            <a:r>
              <a:rPr lang="en-US" b="0" i="0" dirty="0">
                <a:solidFill>
                  <a:srgbClr val="474747"/>
                </a:solidFill>
                <a:effectLst/>
                <a:latin typeface="DejaVu Sans Mono"/>
              </a:rPr>
              <a:t>(e))</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7"/>
              </a:rPr>
              <a:t>contains</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3"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whose presence in this list is to be tested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contains the specified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ClassCastException</a:t>
            </a:r>
            <a:r>
              <a:rPr lang="en-US" b="0" i="0" dirty="0">
                <a:solidFill>
                  <a:srgbClr val="353833"/>
                </a:solidFill>
                <a:effectLst/>
                <a:latin typeface="DejaVu Sans Mono"/>
              </a:rPr>
              <a:t> - if the type of the specified element is incompatible with this list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0" tooltip="class in java.lang"/>
              </a:rPr>
              <a:t>NullPointerException</a:t>
            </a:r>
            <a:r>
              <a:rPr lang="en-US" b="0" i="0" dirty="0">
                <a:solidFill>
                  <a:srgbClr val="353833"/>
                </a:solidFill>
                <a:effectLst/>
                <a:latin typeface="DejaVu Sans Mono"/>
              </a:rPr>
              <a:t> - if the specified element is null and this list does not permit null elements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p:txBody>
      </p:sp>
    </p:spTree>
    <p:extLst>
      <p:ext uri="{BB962C8B-B14F-4D97-AF65-F5344CB8AC3E}">
        <p14:creationId xmlns:p14="http://schemas.microsoft.com/office/powerpoint/2010/main" val="17828287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AB1FDE-6CE4-23C4-071A-38852AFA1142}"/>
              </a:ext>
            </a:extLst>
          </p:cNvPr>
          <p:cNvSpPr txBox="1"/>
          <p:nvPr/>
        </p:nvSpPr>
        <p:spPr>
          <a:xfrm>
            <a:off x="2476500" y="-2375153"/>
            <a:ext cx="4953000" cy="11608306"/>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iterator</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 iterator()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iterator over the elements in this list in proper sequence.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4"/>
              </a:rPr>
              <a:t>iterator</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5"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6"/>
              </a:rPr>
              <a:t>iterator</a:t>
            </a:r>
            <a:r>
              <a:rPr lang="en-US" b="0" i="0" dirty="0">
                <a:solidFill>
                  <a:srgbClr val="353833"/>
                </a:solidFill>
                <a:effectLst/>
                <a:latin typeface="DejaVu Sans Mono"/>
              </a:rPr>
              <a:t> in interface </a:t>
            </a:r>
            <a:r>
              <a:rPr lang="en-US" b="0" i="0" u="none" strike="noStrike" dirty="0" err="1">
                <a:solidFill>
                  <a:srgbClr val="4A6782"/>
                </a:solidFill>
                <a:effectLst/>
                <a:latin typeface="DejaVu Sans Mono"/>
                <a:hlinkClick r:id="rId7" tooltip="interface in java.lang"/>
              </a:rPr>
              <a:t>Iterable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iterator over the elements in this list in proper sequence</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toArray</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8" tooltip="class in java.lang"/>
              </a:rPr>
              <a:t>Object</a:t>
            </a:r>
            <a:r>
              <a:rPr lang="en-US" b="0" i="0" dirty="0">
                <a:solidFill>
                  <a:srgbClr val="353833"/>
                </a:solidFill>
                <a:effectLst/>
                <a:latin typeface="DejaVu Sans Mono"/>
              </a:rPr>
              <a:t>[] </a:t>
            </a:r>
            <a:r>
              <a:rPr lang="en-US" b="0" i="0" dirty="0" err="1">
                <a:solidFill>
                  <a:srgbClr val="353833"/>
                </a:solidFill>
                <a:effectLst/>
                <a:latin typeface="DejaVu Sans Mono"/>
              </a:rPr>
              <a:t>toArray</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array containing all of the elements in this list in proper sequence (from first to last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 returned array will be "safe" in that no references to it are maintained by this list. (In other words, this method must allocate a new array even if this list is backed by an array). The caller is thus free to modify the returned array.</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acts as bridge between array-based and collection-based APIs.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9"/>
              </a:rPr>
              <a:t>toArray</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5"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array containing all of the elements in this list in proper sequence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0"/>
              </a:rPr>
              <a:t>Arrays.asList</a:t>
            </a:r>
            <a:r>
              <a:rPr lang="en-US" b="0" i="0" u="none" strike="noStrike" dirty="0">
                <a:solidFill>
                  <a:srgbClr val="4A6782"/>
                </a:solidFill>
                <a:effectLst/>
                <a:latin typeface="DejaVu Sans Mono"/>
                <a:hlinkClick r:id="rId10"/>
              </a:rPr>
              <a:t>(Object[])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2504650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70017C-28EB-47BC-E032-0277529F124C}"/>
              </a:ext>
            </a:extLst>
          </p:cNvPr>
          <p:cNvSpPr txBox="1"/>
          <p:nvPr/>
        </p:nvSpPr>
        <p:spPr>
          <a:xfrm>
            <a:off x="320040" y="-5249016"/>
            <a:ext cx="9098280" cy="12093054"/>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toArray</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&lt;T&gt; T[] </a:t>
            </a:r>
            <a:r>
              <a:rPr lang="en-US" b="0" i="0" dirty="0" err="1">
                <a:solidFill>
                  <a:srgbClr val="353833"/>
                </a:solidFill>
                <a:effectLst/>
                <a:latin typeface="DejaVu Sans Mono"/>
              </a:rPr>
              <a:t>toArray</a:t>
            </a:r>
            <a:r>
              <a:rPr lang="en-US" b="0" i="0" dirty="0">
                <a:solidFill>
                  <a:srgbClr val="353833"/>
                </a:solidFill>
                <a:effectLst/>
                <a:latin typeface="DejaVu Sans Mono"/>
              </a:rPr>
              <a:t>(T[] a)</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an array containing all of the elements in this list in proper sequence (from first to last element); the runtime type of the returned array is that of the specified array. If the list fits in the specified array, it is returned therein. Otherwise, a new array is allocated with the runtime type of the specified array and the size of this list.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If the list fits in the specified array with room to spare (i.e., the array has more elements than the list), the element in the array immediately following the end of the list is set to </a:t>
            </a:r>
            <a:r>
              <a:rPr lang="en-US" b="0" i="0" dirty="0">
                <a:solidFill>
                  <a:srgbClr val="474747"/>
                </a:solidFill>
                <a:effectLst/>
                <a:latin typeface="DejaVu Sans Mono"/>
              </a:rPr>
              <a:t>null</a:t>
            </a:r>
            <a:r>
              <a:rPr lang="en-US" b="0" i="0" dirty="0">
                <a:solidFill>
                  <a:srgbClr val="474747"/>
                </a:solidFill>
                <a:effectLst/>
                <a:latin typeface="DejaVu Serif"/>
              </a:rPr>
              <a:t>. (This is useful in determining the length of the list </a:t>
            </a:r>
            <a:r>
              <a:rPr lang="en-US" b="0" i="1" dirty="0">
                <a:solidFill>
                  <a:srgbClr val="474747"/>
                </a:solidFill>
                <a:effectLst/>
                <a:latin typeface="DejaVu Serif"/>
              </a:rPr>
              <a:t>only</a:t>
            </a:r>
            <a:r>
              <a:rPr lang="en-US" b="0" i="0" dirty="0">
                <a:solidFill>
                  <a:srgbClr val="474747"/>
                </a:solidFill>
                <a:effectLst/>
                <a:latin typeface="DejaVu Serif"/>
              </a:rPr>
              <a:t> if the caller knows that the list does not contain any null elements.)</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Like the </a:t>
            </a:r>
            <a:r>
              <a:rPr lang="en-US" b="0" i="0" u="none" strike="noStrike" dirty="0" err="1">
                <a:solidFill>
                  <a:srgbClr val="4A6782"/>
                </a:solidFill>
                <a:effectLst/>
                <a:latin typeface="DejaVu Sans Mono"/>
                <a:hlinkClick r:id="rId2"/>
              </a:rPr>
              <a:t>toArray</a:t>
            </a:r>
            <a:r>
              <a:rPr lang="en-US" b="0" i="0" u="none" strike="noStrike" dirty="0">
                <a:solidFill>
                  <a:srgbClr val="4A6782"/>
                </a:solidFill>
                <a:effectLst/>
                <a:latin typeface="DejaVu Sans Mono"/>
                <a:hlinkClick r:id="rId2"/>
              </a:rPr>
              <a:t>()</a:t>
            </a:r>
            <a:r>
              <a:rPr lang="en-US" b="0" i="0" dirty="0">
                <a:solidFill>
                  <a:srgbClr val="474747"/>
                </a:solidFill>
                <a:effectLst/>
                <a:latin typeface="DejaVu Serif"/>
              </a:rPr>
              <a:t> method, this method acts as bridge between array-based and collection-based APIs. Further, this method allows precise control over the runtime type of the output array, and may, under certain circumstances, be used to save allocation costs.</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Suppose </a:t>
            </a:r>
            <a:r>
              <a:rPr lang="en-US" b="0" i="0" dirty="0">
                <a:solidFill>
                  <a:srgbClr val="474747"/>
                </a:solidFill>
                <a:effectLst/>
                <a:latin typeface="DejaVu Sans Mono"/>
              </a:rPr>
              <a:t>x</a:t>
            </a:r>
            <a:r>
              <a:rPr lang="en-US" b="0" i="0" dirty="0">
                <a:solidFill>
                  <a:srgbClr val="474747"/>
                </a:solidFill>
                <a:effectLst/>
                <a:latin typeface="DejaVu Serif"/>
              </a:rPr>
              <a:t> is a list known to contain only strings. The following code can be used to dump the list into a newly allocated array of </a:t>
            </a:r>
            <a:r>
              <a:rPr lang="en-US" b="0" i="0" dirty="0">
                <a:solidFill>
                  <a:srgbClr val="474747"/>
                </a:solidFill>
                <a:effectLst/>
                <a:latin typeface="DejaVu Sans Mono"/>
              </a:rPr>
              <a:t>String</a:t>
            </a:r>
            <a:r>
              <a:rPr lang="en-US" b="0" i="0" dirty="0">
                <a:solidFill>
                  <a:srgbClr val="474747"/>
                </a:solidFill>
                <a:effectLst/>
                <a:latin typeface="DejaVu Serif"/>
              </a:rPr>
              <a:t>:</a:t>
            </a:r>
          </a:p>
          <a:p>
            <a:pPr algn="l">
              <a:spcBef>
                <a:spcPts val="600"/>
              </a:spcBef>
              <a:spcAft>
                <a:spcPts val="150"/>
              </a:spcAft>
              <a:buFont typeface="Arial" panose="020B0604020202020204" pitchFamily="34" charset="0"/>
              <a:buChar char="•"/>
            </a:pPr>
            <a:endParaRPr lang="en-US" b="0" i="0" dirty="0">
              <a:solidFill>
                <a:srgbClr val="474747"/>
              </a:solidFill>
              <a:effectLst/>
              <a:latin typeface="DejaVu Sans Mono"/>
            </a:endParaRP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String[] y = </a:t>
            </a:r>
            <a:r>
              <a:rPr lang="en-US" b="0" i="0" dirty="0" err="1">
                <a:solidFill>
                  <a:srgbClr val="474747"/>
                </a:solidFill>
                <a:effectLst/>
                <a:latin typeface="DejaVu Sans Mono"/>
              </a:rPr>
              <a:t>x.toArray</a:t>
            </a:r>
            <a:r>
              <a:rPr lang="en-US" b="0" i="0" dirty="0">
                <a:solidFill>
                  <a:srgbClr val="474747"/>
                </a:solidFill>
                <a:effectLst/>
                <a:latin typeface="DejaVu Sans Mono"/>
              </a:rPr>
              <a:t>(new String[0]);</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ans Mono"/>
              </a:rPr>
              <a:t> </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Note that </a:t>
            </a:r>
            <a:r>
              <a:rPr lang="en-US" b="0" i="0" dirty="0" err="1">
                <a:solidFill>
                  <a:srgbClr val="474747"/>
                </a:solidFill>
                <a:effectLst/>
                <a:latin typeface="DejaVu Sans Mono"/>
              </a:rPr>
              <a:t>toArray</a:t>
            </a:r>
            <a:r>
              <a:rPr lang="en-US" b="0" i="0" dirty="0">
                <a:solidFill>
                  <a:srgbClr val="474747"/>
                </a:solidFill>
                <a:effectLst/>
                <a:latin typeface="DejaVu Sans Mono"/>
              </a:rPr>
              <a:t>(new Object[0])</a:t>
            </a:r>
            <a:r>
              <a:rPr lang="en-US" b="0" i="0" dirty="0">
                <a:solidFill>
                  <a:srgbClr val="474747"/>
                </a:solidFill>
                <a:effectLst/>
                <a:latin typeface="DejaVu Serif"/>
              </a:rPr>
              <a:t> is identical in function to </a:t>
            </a:r>
            <a:r>
              <a:rPr lang="en-US" b="0" i="0" dirty="0" err="1">
                <a:solidFill>
                  <a:srgbClr val="474747"/>
                </a:solidFill>
                <a:effectLst/>
                <a:latin typeface="DejaVu Sans Mono"/>
              </a:rPr>
              <a:t>toArray</a:t>
            </a:r>
            <a:r>
              <a:rPr lang="en-US" b="0" i="0" dirty="0">
                <a:solidFill>
                  <a:srgbClr val="474747"/>
                </a:solidFill>
                <a:effectLst/>
                <a:latin typeface="DejaVu Sans Mono"/>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a:rPr>
              <a:t>toArray</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5"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 - the runtime type of the array to contain the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 the array into which the elements of this list are to be stored, if it is big enough; otherwise, a new array of the same runtime type is allocated for this purpose.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an array containing the elements of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ArrayStoreException</a:t>
            </a:r>
            <a:r>
              <a:rPr lang="en-US" b="0" i="0" dirty="0">
                <a:solidFill>
                  <a:srgbClr val="353833"/>
                </a:solidFill>
                <a:effectLst/>
                <a:latin typeface="DejaVu Sans Mono"/>
              </a:rPr>
              <a:t> - if the runtime type of the specified array is not a supertype of the runtime type of every element in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array is null</a:t>
            </a:r>
          </a:p>
        </p:txBody>
      </p:sp>
    </p:spTree>
    <p:extLst>
      <p:ext uri="{BB962C8B-B14F-4D97-AF65-F5344CB8AC3E}">
        <p14:creationId xmlns:p14="http://schemas.microsoft.com/office/powerpoint/2010/main" val="19455213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0613D0-1940-A0C0-A987-65BA71469946}"/>
              </a:ext>
            </a:extLst>
          </p:cNvPr>
          <p:cNvSpPr txBox="1"/>
          <p:nvPr/>
        </p:nvSpPr>
        <p:spPr>
          <a:xfrm>
            <a:off x="0" y="-2288579"/>
            <a:ext cx="4953000" cy="11038919"/>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add</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add(</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Appends the specified element to the end of this list (optional operation).</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Lists that support this operation may place limitations on what elements may be added to this list. In particular, some lists will refuse to add null elements, and others will impose restrictions on the type of elements that may be added. List classes should clearly specify in their documentation any restrictions on what elements may be added.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3"/>
              </a:rPr>
              <a:t>add</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element to be appended to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(as specified by </a:t>
            </a:r>
            <a:r>
              <a:rPr lang="en-US" b="0" i="0" u="none" strike="noStrike" dirty="0" err="1">
                <a:solidFill>
                  <a:srgbClr val="4A6782"/>
                </a:solidFill>
                <a:effectLst/>
                <a:latin typeface="DejaVu Sans Mono"/>
                <a:hlinkClick r:id="rId3"/>
              </a:rPr>
              <a:t>Collection.add</a:t>
            </a:r>
            <a:r>
              <a:rPr lang="en-US" b="0" i="0" u="none" strike="noStrike" dirty="0">
                <a:solidFill>
                  <a:srgbClr val="4A6782"/>
                </a:solidFill>
                <a:effectLst/>
                <a:latin typeface="DejaVu Sans Mono"/>
                <a:hlinkClick r:id="rId3"/>
              </a:rPr>
              <a:t>(E)</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add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the specified element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element is null and this list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IllegalArgumentException</a:t>
            </a:r>
            <a:r>
              <a:rPr lang="en-US" b="0" i="0" dirty="0">
                <a:solidFill>
                  <a:srgbClr val="353833"/>
                </a:solidFill>
                <a:effectLst/>
                <a:latin typeface="DejaVu Sans Mono"/>
              </a:rPr>
              <a:t> - if some property of this element prevents it from being added to this list</a:t>
            </a:r>
          </a:p>
        </p:txBody>
      </p:sp>
      <p:sp>
        <p:nvSpPr>
          <p:cNvPr id="7" name="TextBox 6">
            <a:extLst>
              <a:ext uri="{FF2B5EF4-FFF2-40B4-BE49-F238E27FC236}">
                <a16:creationId xmlns:a16="http://schemas.microsoft.com/office/drawing/2014/main" id="{FDA0DAE4-D579-A426-10EC-3555F96753DD}"/>
              </a:ext>
            </a:extLst>
          </p:cNvPr>
          <p:cNvSpPr txBox="1"/>
          <p:nvPr/>
        </p:nvSpPr>
        <p:spPr>
          <a:xfrm>
            <a:off x="2442210" y="-20419035"/>
            <a:ext cx="4975860" cy="47269350"/>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remove(</a:t>
            </a:r>
            <a:r>
              <a:rPr lang="en-US" b="0" i="0" u="none" strike="noStrike" dirty="0">
                <a:solidFill>
                  <a:srgbClr val="4A6782"/>
                </a:solidFill>
                <a:effectLst/>
                <a:latin typeface="DejaVu Sans Mono"/>
                <a:hlinkClick r:id="rId9"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the first occurrence of the specified element from this list, if it is present (optional operation). If this list does not contain the element, it is unchanged. More formally, removes the element with the lowest index </a:t>
            </a:r>
            <a:r>
              <a:rPr lang="en-US" b="0" i="0" dirty="0" err="1">
                <a:solidFill>
                  <a:srgbClr val="474747"/>
                </a:solidFill>
                <a:effectLst/>
                <a:latin typeface="DejaVu Sans Mono"/>
              </a:rPr>
              <a:t>i</a:t>
            </a:r>
            <a:r>
              <a:rPr lang="en-US" b="0" i="0" dirty="0">
                <a:solidFill>
                  <a:srgbClr val="474747"/>
                </a:solidFill>
                <a:effectLst/>
                <a:latin typeface="DejaVu Serif"/>
              </a:rPr>
              <a:t> such that </a:t>
            </a:r>
            <a:r>
              <a:rPr lang="en-US" b="0" i="0" dirty="0">
                <a:solidFill>
                  <a:srgbClr val="474747"/>
                </a:solidFill>
                <a:effectLst/>
                <a:latin typeface="DejaVu Sans Mono"/>
              </a:rPr>
              <a:t>(o==null ? get(</a:t>
            </a:r>
            <a:r>
              <a:rPr lang="en-US" b="0" i="0" dirty="0" err="1">
                <a:solidFill>
                  <a:srgbClr val="474747"/>
                </a:solidFill>
                <a:effectLst/>
                <a:latin typeface="DejaVu Sans Mono"/>
              </a:rPr>
              <a:t>i</a:t>
            </a:r>
            <a:r>
              <a:rPr lang="en-US" b="0" i="0" dirty="0">
                <a:solidFill>
                  <a:srgbClr val="474747"/>
                </a:solidFill>
                <a:effectLst/>
                <a:latin typeface="DejaVu Sans Mono"/>
              </a:rPr>
              <a:t>)==null : </a:t>
            </a:r>
            <a:r>
              <a:rPr lang="en-US" b="0" i="0" dirty="0" err="1">
                <a:solidFill>
                  <a:srgbClr val="474747"/>
                </a:solidFill>
                <a:effectLst/>
                <a:latin typeface="DejaVu Sans Mono"/>
              </a:rPr>
              <a:t>o.equals</a:t>
            </a:r>
            <a:r>
              <a:rPr lang="en-US" b="0" i="0" dirty="0">
                <a:solidFill>
                  <a:srgbClr val="474747"/>
                </a:solidFill>
                <a:effectLst/>
                <a:latin typeface="DejaVu Sans Mono"/>
              </a:rPr>
              <a:t>(get(</a:t>
            </a:r>
            <a:r>
              <a:rPr lang="en-US" b="0" i="0" dirty="0" err="1">
                <a:solidFill>
                  <a:srgbClr val="474747"/>
                </a:solidFill>
                <a:effectLst/>
                <a:latin typeface="DejaVu Sans Mono"/>
              </a:rPr>
              <a:t>i</a:t>
            </a:r>
            <a:r>
              <a:rPr lang="en-US" b="0" i="0" dirty="0">
                <a:solidFill>
                  <a:srgbClr val="474747"/>
                </a:solidFill>
                <a:effectLst/>
                <a:latin typeface="DejaVu Sans Mono"/>
              </a:rPr>
              <a:t>)))</a:t>
            </a:r>
            <a:r>
              <a:rPr lang="en-US" b="0" i="0" dirty="0">
                <a:solidFill>
                  <a:srgbClr val="474747"/>
                </a:solidFill>
                <a:effectLst/>
                <a:latin typeface="DejaVu Serif"/>
              </a:rPr>
              <a:t> (if such an element exists). Returns </a:t>
            </a:r>
            <a:r>
              <a:rPr lang="en-US" b="0" i="0" dirty="0">
                <a:solidFill>
                  <a:srgbClr val="474747"/>
                </a:solidFill>
                <a:effectLst/>
                <a:latin typeface="DejaVu Sans Mono"/>
              </a:rPr>
              <a:t>true</a:t>
            </a:r>
            <a:r>
              <a:rPr lang="en-US" b="0" i="0" dirty="0">
                <a:solidFill>
                  <a:srgbClr val="474747"/>
                </a:solidFill>
                <a:effectLst/>
                <a:latin typeface="DejaVu Serif"/>
              </a:rPr>
              <a:t> if this list contained the specified element (or equivalently, if this list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0"/>
              </a:rPr>
              <a:t>remove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be removed from this list, if present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contained the specified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type of the specified element is incompatible with this list (</a:t>
            </a:r>
            <a:r>
              <a:rPr lang="en-US" b="0" i="0" u="none" strike="noStrike" dirty="0">
                <a:solidFill>
                  <a:srgbClr val="4A6782"/>
                </a:solidFill>
                <a:effectLst/>
                <a:latin typeface="DejaVu Sans Mono"/>
                <a:hlinkClick r:id="rId11"/>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element is null and this list does not permit null elements (</a:t>
            </a:r>
            <a:r>
              <a:rPr lang="en-US" b="0" i="0" u="none" strike="noStrike" dirty="0">
                <a:solidFill>
                  <a:srgbClr val="4A6782"/>
                </a:solidFill>
                <a:effectLst/>
                <a:latin typeface="DejaVu Sans Mono"/>
                <a:hlinkClick r:id="rId11"/>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remove operation is not supported by this list</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containsAll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containsAll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t>
            </a:r>
            <a:r>
              <a:rPr lang="en-US" b="0" i="0" dirty="0">
                <a:solidFill>
                  <a:srgbClr val="474747"/>
                </a:solidFill>
                <a:effectLst/>
                <a:latin typeface="DejaVu Sans Mono"/>
              </a:rPr>
              <a:t>true</a:t>
            </a:r>
            <a:r>
              <a:rPr lang="en-US" b="0" i="0" dirty="0">
                <a:solidFill>
                  <a:srgbClr val="474747"/>
                </a:solidFill>
                <a:effectLst/>
                <a:latin typeface="DejaVu Serif"/>
              </a:rPr>
              <a:t> if this list contains all of the elements of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2"/>
              </a:rPr>
              <a:t>containsAll</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to be checked for containment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contains all of the elements of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types of one or more elements in the specified collection are incompatible with this list (</a:t>
            </a:r>
            <a:r>
              <a:rPr lang="en-US" b="0" i="0" u="none" strike="noStrike" dirty="0">
                <a:solidFill>
                  <a:srgbClr val="4A6782"/>
                </a:solidFill>
                <a:effectLst/>
                <a:latin typeface="DejaVu Sans Mono"/>
                <a:hlinkClick r:id="rId11"/>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collection contains one or more null elements and this list does not permit null elements (</a:t>
            </a:r>
            <a:r>
              <a:rPr lang="en-US" b="0" i="0" u="none" strike="noStrike" dirty="0">
                <a:solidFill>
                  <a:srgbClr val="4A6782"/>
                </a:solidFill>
                <a:effectLst/>
                <a:latin typeface="DejaVu Sans Mono"/>
                <a:hlinkClick r:id="rId11"/>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3"/>
              </a:rPr>
              <a:t>contains(Object)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addAll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addAll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 extends </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Appends all of the elements in the specified collection to the end of this list, in the order that they are returned by the specified collection's iterator (optional operation). The behavior of this operation is undefined if the specified collection is modified while the operation is in progress. (Note that this will occur if the specified collection is this list, and it's nonempty.)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4"/>
              </a:rPr>
              <a:t>addAll</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added to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addAll</a:t>
            </a:r>
            <a:r>
              <a:rPr lang="en-US" b="0" i="0" dirty="0">
                <a:solidFill>
                  <a:srgbClr val="353833"/>
                </a:solidFill>
                <a:effectLst/>
                <a:latin typeface="DejaVu Sans Mono"/>
              </a:rPr>
              <a:t>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an element of the specified collection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collection contains one or more null elements and this list does not permit null elements, or if the specified collection is null</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IllegalArgumentException</a:t>
            </a:r>
            <a:r>
              <a:rPr lang="en-US" b="0" i="0" dirty="0">
                <a:solidFill>
                  <a:srgbClr val="353833"/>
                </a:solidFill>
                <a:effectLst/>
                <a:latin typeface="DejaVu Sans Mono"/>
              </a:rPr>
              <a:t> - if some property of an element of the specified collection prevents it from being added to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5"/>
              </a:rPr>
              <a:t>add(Object)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addAll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addAll</a:t>
            </a:r>
            <a:r>
              <a:rPr lang="en-US" b="0" i="0" dirty="0">
                <a:solidFill>
                  <a:srgbClr val="353833"/>
                </a:solidFill>
                <a:effectLst/>
                <a:latin typeface="DejaVu Sans Mono"/>
              </a:rPr>
              <a:t>(int index,</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 extends </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all of the elements in the specified collection into this list at the specified position (optional operation). Shifts the element currently at that position (if any) and any subsequent elements to the right (increases their indices). The new elements will appear in this list in the order that they are returned by the specified collection's iterator. The behavior of this operation is undefined if the specified collection is modified while the operation is in progress. (Note that this will occur if the specified collection is this list, and it's nonempty.)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index at which to insert the first element from the specified collection</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added to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BB7A2A"/>
                </a:solidFill>
                <a:effectLst/>
                <a:latin typeface="DejaVu Sans Mono"/>
                <a:hlinkClick r:id="rId5"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addAll</a:t>
            </a:r>
            <a:r>
              <a:rPr lang="en-US" b="0" i="0" dirty="0">
                <a:solidFill>
                  <a:srgbClr val="353833"/>
                </a:solidFill>
                <a:effectLst/>
                <a:latin typeface="DejaVu Sans Mono"/>
              </a:rPr>
              <a:t>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an element of the specified collection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collection contains one or more null elements and this list does not permit null elements, or if the specified collection is null</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IllegalArgumentException</a:t>
            </a:r>
            <a:r>
              <a:rPr lang="en-US" b="0" i="0" dirty="0">
                <a:solidFill>
                  <a:srgbClr val="353833"/>
                </a:solidFill>
                <a:effectLst/>
                <a:latin typeface="DejaVu Sans Mono"/>
              </a:rPr>
              <a:t> - if some property of an element of the specified collection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6" tooltip="class in java.lang"/>
              </a:rPr>
              <a:t>IndexOutOfBoundsException</a:t>
            </a:r>
            <a:r>
              <a:rPr lang="en-US" b="0" i="0" dirty="0">
                <a:solidFill>
                  <a:srgbClr val="353833"/>
                </a:solidFill>
                <a:effectLst/>
                <a:latin typeface="DejaVu Sans Mono"/>
              </a:rPr>
              <a:t> - if the index is out of range (index &lt; 0 || index &gt; size())</a:t>
            </a:r>
          </a:p>
        </p:txBody>
      </p:sp>
    </p:spTree>
    <p:extLst>
      <p:ext uri="{BB962C8B-B14F-4D97-AF65-F5344CB8AC3E}">
        <p14:creationId xmlns:p14="http://schemas.microsoft.com/office/powerpoint/2010/main" val="1535028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AB5FBE-9858-4ADE-184D-B2A96CEA6DD5}"/>
              </a:ext>
            </a:extLst>
          </p:cNvPr>
          <p:cNvSpPr txBox="1"/>
          <p:nvPr/>
        </p:nvSpPr>
        <p:spPr>
          <a:xfrm>
            <a:off x="-952500" y="-13552983"/>
            <a:ext cx="4953000" cy="34573567"/>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removeAll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removeAll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from this list all of its elements that are contained in the specified collection (optional operation).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a:rPr>
              <a:t>removeAll</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removed from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removeAll</a:t>
            </a:r>
            <a:r>
              <a:rPr lang="en-US" b="0" i="0" dirty="0">
                <a:solidFill>
                  <a:srgbClr val="353833"/>
                </a:solidFill>
                <a:effectLst/>
                <a:latin typeface="DejaVu Sans Mono"/>
              </a:rPr>
              <a:t>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an element of this list is incompatible with the specified collection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NullPointerException</a:t>
            </a:r>
            <a:r>
              <a:rPr lang="en-US" b="0" i="0" dirty="0">
                <a:solidFill>
                  <a:srgbClr val="353833"/>
                </a:solidFill>
                <a:effectLst/>
                <a:latin typeface="DejaVu Sans Mono"/>
              </a:rPr>
              <a:t> - if this list contains a null element and the specified collection does not permit null elements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9"/>
              </a:rPr>
              <a:t>remove(Object)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0"/>
              </a:rPr>
              <a:t>contains(Object)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retainAll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t>
            </a:r>
            <a:r>
              <a:rPr lang="en-US" b="0" i="0" dirty="0" err="1">
                <a:solidFill>
                  <a:srgbClr val="353833"/>
                </a:solidFill>
                <a:effectLst/>
                <a:latin typeface="DejaVu Sans Mono"/>
              </a:rPr>
              <a:t>retainAll</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Retains only the elements in this list that are contained in the specified collection (optional operation). In other words, removes from this list all of its elements that are not contained in the specified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1"/>
              </a:rPr>
              <a:t>retainAll</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collection containing elements to be retained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this list changed as a result of the call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a:t>
            </a:r>
            <a:r>
              <a:rPr lang="en-US" b="0" i="0" dirty="0" err="1">
                <a:solidFill>
                  <a:srgbClr val="353833"/>
                </a:solidFill>
                <a:effectLst/>
                <a:latin typeface="DejaVu Sans Mono"/>
              </a:rPr>
              <a:t>retainAll</a:t>
            </a:r>
            <a:r>
              <a:rPr lang="en-US" b="0" i="0" dirty="0">
                <a:solidFill>
                  <a:srgbClr val="353833"/>
                </a:solidFill>
                <a:effectLst/>
                <a:latin typeface="DejaVu Sans Mono"/>
              </a:rPr>
              <a:t>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an element of this list is incompatible with the specified collection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NullPointerException</a:t>
            </a:r>
            <a:r>
              <a:rPr lang="en-US" b="0" i="0" dirty="0">
                <a:solidFill>
                  <a:srgbClr val="353833"/>
                </a:solidFill>
                <a:effectLst/>
                <a:latin typeface="DejaVu Sans Mono"/>
              </a:rPr>
              <a:t> - if this list contains a null element and the specified collection does not permit null elements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 or if the specified collection is null</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9"/>
              </a:rPr>
              <a:t>remove(Object)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0"/>
              </a:rPr>
              <a:t>contains(Object)</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replaceAll</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void </a:t>
            </a:r>
            <a:r>
              <a:rPr lang="en-US" b="0" i="0" dirty="0" err="1">
                <a:solidFill>
                  <a:srgbClr val="353833"/>
                </a:solidFill>
                <a:effectLst/>
                <a:latin typeface="DejaVu Sans Mono"/>
              </a:rPr>
              <a:t>replaceAll</a:t>
            </a:r>
            <a:r>
              <a:rPr lang="en-US" b="0" i="0" dirty="0">
                <a:solidFill>
                  <a:srgbClr val="353833"/>
                </a:solidFill>
                <a:effectLst/>
                <a:latin typeface="DejaVu Sans Mono"/>
              </a:rPr>
              <a:t>(</a:t>
            </a:r>
            <a:r>
              <a:rPr lang="en-US" b="0" i="0" u="none" strike="noStrike" dirty="0" err="1">
                <a:solidFill>
                  <a:srgbClr val="4A6782"/>
                </a:solidFill>
                <a:effectLst/>
                <a:latin typeface="DejaVu Sans Mono"/>
                <a:hlinkClick r:id="rId12" tooltip="interface in java.util.function"/>
              </a:rPr>
              <a:t>UnaryOperator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 operator)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Replaces each element of this list with the result of applying the operator to that element. Errors or runtime exceptions thrown by the operator are relayed to the caller.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is equivalent to, for this list:</a:t>
            </a:r>
          </a:p>
          <a:p>
            <a:pPr algn="l">
              <a:spcBef>
                <a:spcPts val="600"/>
              </a:spcBef>
              <a:spcAft>
                <a:spcPts val="750"/>
              </a:spcAft>
              <a:buFont typeface="Arial" panose="020B0604020202020204" pitchFamily="34" charset="0"/>
              <a:buChar char="•"/>
            </a:pPr>
            <a:endParaRPr lang="en-US" b="0" i="0" dirty="0">
              <a:solidFill>
                <a:srgbClr val="353833"/>
              </a:solidFill>
              <a:effectLst/>
              <a:latin typeface="DejaVu Sans Mono"/>
            </a:endParaRPr>
          </a:p>
          <a:p>
            <a:pPr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final </a:t>
            </a:r>
            <a:r>
              <a:rPr lang="en-US" b="0" i="0" dirty="0" err="1">
                <a:solidFill>
                  <a:srgbClr val="353833"/>
                </a:solidFill>
                <a:effectLst/>
                <a:latin typeface="DejaVu Sans Mono"/>
              </a:rPr>
              <a:t>ListIterator</a:t>
            </a:r>
            <a:r>
              <a:rPr lang="en-US" b="0" i="0" dirty="0">
                <a:solidFill>
                  <a:srgbClr val="353833"/>
                </a:solidFill>
                <a:effectLst/>
                <a:latin typeface="DejaVu Sans Mono"/>
              </a:rPr>
              <a:t>&lt;E&gt; li = </a:t>
            </a:r>
            <a:r>
              <a:rPr lang="en-US" b="0" i="0" dirty="0" err="1">
                <a:solidFill>
                  <a:srgbClr val="353833"/>
                </a:solidFill>
                <a:effectLst/>
                <a:latin typeface="DejaVu Sans Mono"/>
              </a:rPr>
              <a:t>list.listIterator</a:t>
            </a:r>
            <a:r>
              <a:rPr lang="en-US" b="0" i="0" dirty="0">
                <a:solidFill>
                  <a:srgbClr val="353833"/>
                </a:solidFill>
                <a:effectLst/>
                <a:latin typeface="DejaVu Sans Mono"/>
              </a:rPr>
              <a:t>();</a:t>
            </a:r>
          </a:p>
          <a:p>
            <a:pPr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while (</a:t>
            </a:r>
            <a:r>
              <a:rPr lang="en-US" b="0" i="0" dirty="0" err="1">
                <a:solidFill>
                  <a:srgbClr val="353833"/>
                </a:solidFill>
                <a:effectLst/>
                <a:latin typeface="DejaVu Sans Mono"/>
              </a:rPr>
              <a:t>li.hasNext</a:t>
            </a:r>
            <a:r>
              <a:rPr lang="en-US" b="0" i="0" dirty="0">
                <a:solidFill>
                  <a:srgbClr val="353833"/>
                </a:solidFill>
                <a:effectLst/>
                <a:latin typeface="DejaVu Sans Mono"/>
              </a:rPr>
              <a:t>()) {</a:t>
            </a:r>
          </a:p>
          <a:p>
            <a:pPr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a:t>
            </a:r>
            <a:r>
              <a:rPr lang="en-US" b="0" i="0" dirty="0" err="1">
                <a:solidFill>
                  <a:srgbClr val="353833"/>
                </a:solidFill>
                <a:effectLst/>
                <a:latin typeface="DejaVu Sans Mono"/>
              </a:rPr>
              <a:t>li.set</a:t>
            </a:r>
            <a:r>
              <a:rPr lang="en-US" b="0" i="0" dirty="0">
                <a:solidFill>
                  <a:srgbClr val="353833"/>
                </a:solidFill>
                <a:effectLst/>
                <a:latin typeface="DejaVu Sans Mono"/>
              </a:rPr>
              <a:t>(</a:t>
            </a:r>
            <a:r>
              <a:rPr lang="en-US" b="0" i="0" dirty="0" err="1">
                <a:solidFill>
                  <a:srgbClr val="353833"/>
                </a:solidFill>
                <a:effectLst/>
                <a:latin typeface="DejaVu Sans Mono"/>
              </a:rPr>
              <a:t>operator.apply</a:t>
            </a:r>
            <a:r>
              <a:rPr lang="en-US" b="0" i="0" dirty="0">
                <a:solidFill>
                  <a:srgbClr val="353833"/>
                </a:solidFill>
                <a:effectLst/>
                <a:latin typeface="DejaVu Sans Mono"/>
              </a:rPr>
              <a:t>(</a:t>
            </a:r>
            <a:r>
              <a:rPr lang="en-US" b="0" i="0" dirty="0" err="1">
                <a:solidFill>
                  <a:srgbClr val="353833"/>
                </a:solidFill>
                <a:effectLst/>
                <a:latin typeface="DejaVu Sans Mono"/>
              </a:rPr>
              <a:t>li.next</a:t>
            </a:r>
            <a:r>
              <a:rPr lang="en-US" b="0" i="0" dirty="0">
                <a:solidFill>
                  <a:srgbClr val="353833"/>
                </a:solidFill>
                <a:effectLst/>
                <a:latin typeface="DejaVu Sans Mono"/>
              </a:rPr>
              <a:t>()));</a:t>
            </a:r>
          </a:p>
          <a:p>
            <a:pPr algn="l">
              <a:spcBef>
                <a:spcPts val="600"/>
              </a:spcBef>
              <a:spcAft>
                <a:spcPts val="750"/>
              </a:spcAft>
              <a:buFont typeface="Arial" panose="020B0604020202020204" pitchFamily="34" charset="0"/>
              <a:buChar char="•"/>
            </a:pPr>
            <a:r>
              <a:rPr lang="en-US" b="0" i="0" dirty="0">
                <a:solidFill>
                  <a:srgbClr val="353833"/>
                </a:solidFill>
                <a:effectLst/>
                <a:latin typeface="DejaVu Sans Mono"/>
              </a:rPr>
              <a:t>     }</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 </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If the list's list-iterator does not support the set operation then an </a:t>
            </a:r>
            <a:r>
              <a:rPr lang="en-US" b="0" i="0" dirty="0" err="1">
                <a:solidFill>
                  <a:srgbClr val="353833"/>
                </a:solidFill>
                <a:effectLst/>
                <a:latin typeface="DejaVu Sans Mono"/>
              </a:rPr>
              <a:t>UnsupportedOperationException</a:t>
            </a:r>
            <a:r>
              <a:rPr lang="en-US" b="0" i="0" dirty="0">
                <a:solidFill>
                  <a:srgbClr val="353833"/>
                </a:solidFill>
                <a:effectLst/>
                <a:latin typeface="DejaVu Sans Mono"/>
              </a:rPr>
              <a:t> will be thrown when replacing the first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operator - the operator to apply to each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this list is unmodifiable. Implementations may throw this exception if an element cannot be replaced or if, in general, modification is not supported</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NullPointerException</a:t>
            </a:r>
            <a:r>
              <a:rPr lang="en-US" b="0" i="0" dirty="0">
                <a:solidFill>
                  <a:srgbClr val="353833"/>
                </a:solidFill>
                <a:effectLst/>
                <a:latin typeface="DejaVu Sans Mono"/>
              </a:rPr>
              <a:t> - if the specified operator is null or if the operator result is a null value and this list does not permit null elements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
        <p:nvSpPr>
          <p:cNvPr id="7" name="TextBox 6">
            <a:extLst>
              <a:ext uri="{FF2B5EF4-FFF2-40B4-BE49-F238E27FC236}">
                <a16:creationId xmlns:a16="http://schemas.microsoft.com/office/drawing/2014/main" id="{6776F1DA-D09E-FEB5-4F4E-406AC23F9FD8}"/>
              </a:ext>
            </a:extLst>
          </p:cNvPr>
          <p:cNvSpPr txBox="1"/>
          <p:nvPr/>
        </p:nvSpPr>
        <p:spPr>
          <a:xfrm>
            <a:off x="1722120" y="-18333630"/>
            <a:ext cx="5455920" cy="44104381"/>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sort</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void sort(</a:t>
            </a:r>
            <a:r>
              <a:rPr lang="en-US" b="0" i="0" u="none" strike="noStrike" dirty="0">
                <a:solidFill>
                  <a:srgbClr val="4A6782"/>
                </a:solidFill>
                <a:effectLst/>
                <a:latin typeface="DejaVu Sans Mono"/>
                <a:hlinkClick r:id="rId13" tooltip="interface in java.util"/>
              </a:rPr>
              <a:t>Comparator</a:t>
            </a:r>
            <a:r>
              <a:rPr lang="en-US" b="0" i="0" dirty="0">
                <a:solidFill>
                  <a:srgbClr val="353833"/>
                </a:solidFill>
                <a:effectLst/>
                <a:latin typeface="DejaVu Sans Mono"/>
              </a:rPr>
              <a:t>&lt;? super </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 c)</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Sorts this list according to the order induced by the specified </a:t>
            </a:r>
            <a:r>
              <a:rPr lang="en-US" b="0" i="0" u="none" strike="noStrike" dirty="0">
                <a:solidFill>
                  <a:srgbClr val="4A6782"/>
                </a:solidFill>
                <a:effectLst/>
                <a:latin typeface="DejaVu Sans Mono"/>
                <a:hlinkClick r:id="rId13" tooltip="interface in java.util"/>
              </a:rPr>
              <a:t>Comparator</a:t>
            </a:r>
            <a:r>
              <a:rPr lang="en-US" b="0" i="0" dirty="0">
                <a:solidFill>
                  <a:srgbClr val="474747"/>
                </a:solidFill>
                <a:effectLst/>
                <a:latin typeface="DejaVu Serif"/>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All elements in this list must be </a:t>
            </a:r>
            <a:r>
              <a:rPr lang="en-US" b="0" i="1" dirty="0">
                <a:solidFill>
                  <a:srgbClr val="474747"/>
                </a:solidFill>
                <a:effectLst/>
                <a:latin typeface="DejaVu Serif"/>
              </a:rPr>
              <a:t>mutually comparable</a:t>
            </a:r>
            <a:r>
              <a:rPr lang="en-US" b="0" i="0" dirty="0">
                <a:solidFill>
                  <a:srgbClr val="474747"/>
                </a:solidFill>
                <a:effectLst/>
                <a:latin typeface="DejaVu Serif"/>
              </a:rPr>
              <a:t> using the specified comparator (that is, </a:t>
            </a:r>
            <a:r>
              <a:rPr lang="en-US" b="0" i="0" dirty="0" err="1">
                <a:solidFill>
                  <a:srgbClr val="474747"/>
                </a:solidFill>
                <a:effectLst/>
                <a:latin typeface="DejaVu Sans Mono"/>
              </a:rPr>
              <a:t>c.compare</a:t>
            </a:r>
            <a:r>
              <a:rPr lang="en-US" b="0" i="0" dirty="0">
                <a:solidFill>
                  <a:srgbClr val="474747"/>
                </a:solidFill>
                <a:effectLst/>
                <a:latin typeface="DejaVu Sans Mono"/>
              </a:rPr>
              <a:t>(e1, e2)</a:t>
            </a:r>
            <a:r>
              <a:rPr lang="en-US" b="0" i="0" dirty="0">
                <a:solidFill>
                  <a:srgbClr val="474747"/>
                </a:solidFill>
                <a:effectLst/>
                <a:latin typeface="DejaVu Serif"/>
              </a:rPr>
              <a:t> must not throw a </a:t>
            </a:r>
            <a:r>
              <a:rPr lang="en-US" b="0" i="0" dirty="0" err="1">
                <a:solidFill>
                  <a:srgbClr val="474747"/>
                </a:solidFill>
                <a:effectLst/>
                <a:latin typeface="DejaVu Sans Mono"/>
              </a:rPr>
              <a:t>ClassCastException</a:t>
            </a:r>
            <a:r>
              <a:rPr lang="en-US" b="0" i="0" dirty="0">
                <a:solidFill>
                  <a:srgbClr val="474747"/>
                </a:solidFill>
                <a:effectLst/>
                <a:latin typeface="DejaVu Serif"/>
              </a:rPr>
              <a:t> for any elements </a:t>
            </a:r>
            <a:r>
              <a:rPr lang="en-US" b="0" i="0" dirty="0">
                <a:solidFill>
                  <a:srgbClr val="474747"/>
                </a:solidFill>
                <a:effectLst/>
                <a:latin typeface="DejaVu Sans Mono"/>
              </a:rPr>
              <a:t>e1</a:t>
            </a:r>
            <a:r>
              <a:rPr lang="en-US" b="0" i="0" dirty="0">
                <a:solidFill>
                  <a:srgbClr val="474747"/>
                </a:solidFill>
                <a:effectLst/>
                <a:latin typeface="DejaVu Serif"/>
              </a:rPr>
              <a:t> and </a:t>
            </a:r>
            <a:r>
              <a:rPr lang="en-US" b="0" i="0" dirty="0">
                <a:solidFill>
                  <a:srgbClr val="474747"/>
                </a:solidFill>
                <a:effectLst/>
                <a:latin typeface="DejaVu Sans Mono"/>
              </a:rPr>
              <a:t>e2</a:t>
            </a:r>
            <a:r>
              <a:rPr lang="en-US" b="0" i="0" dirty="0">
                <a:solidFill>
                  <a:srgbClr val="474747"/>
                </a:solidFill>
                <a:effectLst/>
                <a:latin typeface="DejaVu Serif"/>
              </a:rPr>
              <a:t> in the list).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If the specified comparator is </a:t>
            </a:r>
            <a:r>
              <a:rPr lang="en-US" b="0" i="0" dirty="0">
                <a:solidFill>
                  <a:srgbClr val="474747"/>
                </a:solidFill>
                <a:effectLst/>
                <a:latin typeface="DejaVu Sans Mono"/>
              </a:rPr>
              <a:t>null</a:t>
            </a:r>
            <a:r>
              <a:rPr lang="en-US" b="0" i="0" dirty="0">
                <a:solidFill>
                  <a:srgbClr val="474747"/>
                </a:solidFill>
                <a:effectLst/>
                <a:latin typeface="DejaVu Serif"/>
              </a:rPr>
              <a:t> then all elements in this list must implement the </a:t>
            </a:r>
            <a:r>
              <a:rPr lang="en-US" b="0" i="0" u="none" strike="noStrike" dirty="0">
                <a:solidFill>
                  <a:srgbClr val="4A6782"/>
                </a:solidFill>
                <a:effectLst/>
                <a:latin typeface="DejaVu Sans Mono"/>
                <a:hlinkClick r:id="rId14" tooltip="interface in java.lang"/>
              </a:rPr>
              <a:t>Comparable</a:t>
            </a:r>
            <a:r>
              <a:rPr lang="en-US" b="0" i="0" dirty="0">
                <a:solidFill>
                  <a:srgbClr val="474747"/>
                </a:solidFill>
                <a:effectLst/>
                <a:latin typeface="DejaVu Serif"/>
              </a:rPr>
              <a:t> interface and the elements' </a:t>
            </a:r>
            <a:r>
              <a:rPr lang="en-US" b="0" i="0" u="none" strike="noStrike" dirty="0">
                <a:solidFill>
                  <a:srgbClr val="4A6782"/>
                </a:solidFill>
                <a:effectLst/>
                <a:latin typeface="DejaVu Serif"/>
                <a:hlinkClick r:id="rId14" tooltip="interface in java.lang"/>
              </a:rPr>
              <a:t>natural ordering</a:t>
            </a:r>
            <a:r>
              <a:rPr lang="en-US" b="0" i="0" dirty="0">
                <a:solidFill>
                  <a:srgbClr val="474747"/>
                </a:solidFill>
                <a:effectLst/>
                <a:latin typeface="DejaVu Serif"/>
              </a:rPr>
              <a:t> should be used.</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list must be modifiable, but need not be resizable.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obtains an array containing all elements in this list, sorts the array, and iterates over this list resetting each element from the corresponding position in the array. (This avoids the n</a:t>
            </a:r>
            <a:r>
              <a:rPr lang="en-US" b="0" i="0" baseline="30000" dirty="0">
                <a:solidFill>
                  <a:srgbClr val="353833"/>
                </a:solidFill>
                <a:effectLst/>
                <a:latin typeface="DejaVu Sans Mono"/>
              </a:rPr>
              <a:t>2</a:t>
            </a:r>
            <a:r>
              <a:rPr lang="en-US" b="0" i="0" dirty="0">
                <a:solidFill>
                  <a:srgbClr val="353833"/>
                </a:solidFill>
                <a:effectLst/>
                <a:latin typeface="DejaVu Sans Mono"/>
              </a:rPr>
              <a:t> log(n) performance that would result from attempting to sort a linked list in place.)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Note: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This implementation is a stable, adaptive, iterative </a:t>
            </a:r>
            <a:r>
              <a:rPr lang="en-US" b="0" i="0" dirty="0" err="1">
                <a:solidFill>
                  <a:srgbClr val="353833"/>
                </a:solidFill>
                <a:effectLst/>
                <a:latin typeface="DejaVu Sans Mono"/>
              </a:rPr>
              <a:t>mergesort</a:t>
            </a:r>
            <a:r>
              <a:rPr lang="en-US" b="0" i="0" dirty="0">
                <a:solidFill>
                  <a:srgbClr val="353833"/>
                </a:solidFill>
                <a:effectLst/>
                <a:latin typeface="DejaVu Sans Mono"/>
              </a:rPr>
              <a:t> that requires far fewer than n lg(n) comparisons when the input array is partially sorted, while offering the performance of a traditional </a:t>
            </a:r>
            <a:r>
              <a:rPr lang="en-US" b="0" i="0" dirty="0" err="1">
                <a:solidFill>
                  <a:srgbClr val="353833"/>
                </a:solidFill>
                <a:effectLst/>
                <a:latin typeface="DejaVu Sans Mono"/>
              </a:rPr>
              <a:t>mergesort</a:t>
            </a:r>
            <a:r>
              <a:rPr lang="en-US" b="0" i="0" dirty="0">
                <a:solidFill>
                  <a:srgbClr val="353833"/>
                </a:solidFill>
                <a:effectLst/>
                <a:latin typeface="DejaVu Sans Mono"/>
              </a:rPr>
              <a:t> when the input array is randomly ordered. If the input array is nearly sorted, the implementation requires approximately n comparisons. Temporary storage requirements vary from a small constant for nearly sorted input arrays to n/2 object references for randomly ordered input arrays.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implementation takes equal advantage of ascending and descending order in its input array, and can take advantage of ascending and descending order in different parts of the same input array. It is well-suited to merging two or more sorted arrays: simply concatenate the arrays and sort the resulting array.</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implementation was adapted from Tim </a:t>
            </a:r>
            <a:r>
              <a:rPr lang="en-US" b="0" i="0" dirty="0" err="1">
                <a:solidFill>
                  <a:srgbClr val="353833"/>
                </a:solidFill>
                <a:effectLst/>
                <a:latin typeface="DejaVu Sans Mono"/>
              </a:rPr>
              <a:t>Peters's</a:t>
            </a:r>
            <a:r>
              <a:rPr lang="en-US" b="0" i="0" dirty="0">
                <a:solidFill>
                  <a:srgbClr val="353833"/>
                </a:solidFill>
                <a:effectLst/>
                <a:latin typeface="DejaVu Sans Mono"/>
              </a:rPr>
              <a:t> list sort for Python (</a:t>
            </a:r>
            <a:r>
              <a:rPr lang="en-US" b="0" i="0" u="none" strike="noStrike" dirty="0">
                <a:solidFill>
                  <a:srgbClr val="4A6782"/>
                </a:solidFill>
                <a:effectLst/>
                <a:latin typeface="DejaVu Sans Mono"/>
                <a:hlinkClick r:id="rId15"/>
              </a:rPr>
              <a:t> </a:t>
            </a:r>
            <a:r>
              <a:rPr lang="en-US" b="0" i="0" u="none" strike="noStrike" dirty="0" err="1">
                <a:solidFill>
                  <a:srgbClr val="4A6782"/>
                </a:solidFill>
                <a:effectLst/>
                <a:latin typeface="DejaVu Sans Mono"/>
                <a:hlinkClick r:id="rId15"/>
              </a:rPr>
              <a:t>TimSort</a:t>
            </a:r>
            <a:r>
              <a:rPr lang="en-US" b="0" i="0" dirty="0">
                <a:solidFill>
                  <a:srgbClr val="353833"/>
                </a:solidFill>
                <a:effectLst/>
                <a:latin typeface="DejaVu Sans Mono"/>
              </a:rPr>
              <a:t>). It uses techniques from Peter McIlroy's "Optimistic Sorting and Information Theoretic Complexity", in Proceedings of the Fourth Annual ACM-SIAM Symposium on Discrete Algorithms, pp 467-474, January 1993.</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c - the Comparator used to compare list elements. A null value indicates that the elements' </a:t>
            </a:r>
            <a:r>
              <a:rPr lang="en-US" b="0" i="0" u="none" strike="noStrike" dirty="0">
                <a:solidFill>
                  <a:srgbClr val="4A6782"/>
                </a:solidFill>
                <a:effectLst/>
                <a:latin typeface="DejaVu Sans Mono"/>
                <a:hlinkClick r:id="rId14" tooltip="interface in java.lang"/>
              </a:rPr>
              <a:t>natural ordering</a:t>
            </a:r>
            <a:r>
              <a:rPr lang="en-US" b="0" i="0" dirty="0">
                <a:solidFill>
                  <a:srgbClr val="353833"/>
                </a:solidFill>
                <a:effectLst/>
                <a:latin typeface="DejaVu Sans Mono"/>
              </a:rPr>
              <a:t> should be used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list contains elements that are not </a:t>
            </a:r>
            <a:r>
              <a:rPr lang="en-US" b="0" i="1" dirty="0">
                <a:solidFill>
                  <a:srgbClr val="353833"/>
                </a:solidFill>
                <a:effectLst/>
                <a:latin typeface="DejaVu Sans Mono"/>
              </a:rPr>
              <a:t>mutually comparable</a:t>
            </a:r>
            <a:r>
              <a:rPr lang="en-US" b="0" i="0" dirty="0">
                <a:solidFill>
                  <a:srgbClr val="353833"/>
                </a:solidFill>
                <a:effectLst/>
                <a:latin typeface="DejaVu Sans Mono"/>
              </a:rPr>
              <a:t> using the specified comparator</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list's list-iterator does not support the set operation</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6" tooltip="class in java.lang"/>
              </a:rPr>
              <a:t>IllegalArgumentException</a:t>
            </a:r>
            <a:r>
              <a:rPr lang="en-US" b="0" i="0" dirty="0">
                <a:solidFill>
                  <a:srgbClr val="353833"/>
                </a:solidFill>
                <a:effectLst/>
                <a:latin typeface="DejaVu Sans Mono"/>
              </a:rPr>
              <a:t> - (</a:t>
            </a:r>
            <a:r>
              <a:rPr lang="en-US" b="0" i="0" u="none" strike="noStrike" dirty="0">
                <a:solidFill>
                  <a:srgbClr val="4A6782"/>
                </a:solidFill>
                <a:effectLst/>
                <a:latin typeface="DejaVu Sans Mono"/>
                <a:hlinkClick r:id="rId7"/>
              </a:rPr>
              <a:t>optional</a:t>
            </a:r>
            <a:r>
              <a:rPr lang="en-US" b="0" i="0" dirty="0">
                <a:solidFill>
                  <a:srgbClr val="353833"/>
                </a:solidFill>
                <a:effectLst/>
                <a:latin typeface="DejaVu Sans Mono"/>
              </a:rPr>
              <a:t>) if the comparator is found to violate the </a:t>
            </a:r>
            <a:r>
              <a:rPr lang="en-US" b="0" i="0" u="none" strike="noStrike" dirty="0">
                <a:solidFill>
                  <a:srgbClr val="4A6782"/>
                </a:solidFill>
                <a:effectLst/>
                <a:latin typeface="DejaVu Sans Mono"/>
                <a:hlinkClick r:id="rId13" tooltip="interface in java.util"/>
              </a:rPr>
              <a:t>Comparator</a:t>
            </a:r>
            <a:r>
              <a:rPr lang="en-US" b="0" i="0" dirty="0">
                <a:solidFill>
                  <a:srgbClr val="353833"/>
                </a:solidFill>
                <a:effectLst/>
                <a:latin typeface="DejaVu Sans Mono"/>
              </a:rPr>
              <a:t> contract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clear</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void clear()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all of the elements from this list (optional operation). The list will be empty after this call returns.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7"/>
              </a:rPr>
              <a:t>clear</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UnsupportedOperationException</a:t>
            </a:r>
            <a:r>
              <a:rPr lang="en-US" b="0" i="0" dirty="0">
                <a:solidFill>
                  <a:srgbClr val="353833"/>
                </a:solidFill>
                <a:effectLst/>
                <a:latin typeface="DejaVu Sans Mono"/>
              </a:rPr>
              <a:t> - if the clear operation is not supported by this list</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equals</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equals(</a:t>
            </a:r>
            <a:r>
              <a:rPr lang="en-US" b="0" i="0" u="none" strike="noStrike" dirty="0">
                <a:solidFill>
                  <a:srgbClr val="4A6782"/>
                </a:solidFill>
                <a:effectLst/>
                <a:latin typeface="DejaVu Sans Mono"/>
                <a:hlinkClick r:id="rId18"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Compares the specified object with this list for equality. Returns </a:t>
            </a:r>
            <a:r>
              <a:rPr lang="en-US" b="0" i="0" dirty="0">
                <a:solidFill>
                  <a:srgbClr val="474747"/>
                </a:solidFill>
                <a:effectLst/>
                <a:latin typeface="DejaVu Sans Mono"/>
              </a:rPr>
              <a:t>true</a:t>
            </a:r>
            <a:r>
              <a:rPr lang="en-US" b="0" i="0" dirty="0">
                <a:solidFill>
                  <a:srgbClr val="474747"/>
                </a:solidFill>
                <a:effectLst/>
                <a:latin typeface="DejaVu Serif"/>
              </a:rPr>
              <a:t> if and only if the specified object is also a list, both lists have the same size, and all corresponding pairs of elements in the two lists are </a:t>
            </a:r>
            <a:r>
              <a:rPr lang="en-US" b="0" i="1" dirty="0">
                <a:solidFill>
                  <a:srgbClr val="474747"/>
                </a:solidFill>
                <a:effectLst/>
                <a:latin typeface="DejaVu Serif"/>
              </a:rPr>
              <a:t>equal</a:t>
            </a:r>
            <a:r>
              <a:rPr lang="en-US" b="0" i="0" dirty="0">
                <a:solidFill>
                  <a:srgbClr val="474747"/>
                </a:solidFill>
                <a:effectLst/>
                <a:latin typeface="DejaVu Serif"/>
              </a:rPr>
              <a:t>. (Two elements </a:t>
            </a:r>
            <a:r>
              <a:rPr lang="en-US" b="0" i="0" dirty="0">
                <a:solidFill>
                  <a:srgbClr val="474747"/>
                </a:solidFill>
                <a:effectLst/>
                <a:latin typeface="DejaVu Sans Mono"/>
              </a:rPr>
              <a:t>e1</a:t>
            </a:r>
            <a:r>
              <a:rPr lang="en-US" b="0" i="0" dirty="0">
                <a:solidFill>
                  <a:srgbClr val="474747"/>
                </a:solidFill>
                <a:effectLst/>
                <a:latin typeface="DejaVu Serif"/>
              </a:rPr>
              <a:t> and </a:t>
            </a:r>
            <a:r>
              <a:rPr lang="en-US" b="0" i="0" dirty="0">
                <a:solidFill>
                  <a:srgbClr val="474747"/>
                </a:solidFill>
                <a:effectLst/>
                <a:latin typeface="DejaVu Sans Mono"/>
              </a:rPr>
              <a:t>e2</a:t>
            </a:r>
            <a:r>
              <a:rPr lang="en-US" b="0" i="0" dirty="0">
                <a:solidFill>
                  <a:srgbClr val="474747"/>
                </a:solidFill>
                <a:effectLst/>
                <a:latin typeface="DejaVu Serif"/>
              </a:rPr>
              <a:t> are </a:t>
            </a:r>
            <a:r>
              <a:rPr lang="en-US" b="0" i="1" dirty="0">
                <a:solidFill>
                  <a:srgbClr val="474747"/>
                </a:solidFill>
                <a:effectLst/>
                <a:latin typeface="DejaVu Serif"/>
              </a:rPr>
              <a:t>equal</a:t>
            </a:r>
            <a:r>
              <a:rPr lang="en-US" b="0" i="0" dirty="0">
                <a:solidFill>
                  <a:srgbClr val="474747"/>
                </a:solidFill>
                <a:effectLst/>
                <a:latin typeface="DejaVu Serif"/>
              </a:rPr>
              <a:t> if </a:t>
            </a:r>
            <a:r>
              <a:rPr lang="en-US" b="0" i="0" dirty="0">
                <a:solidFill>
                  <a:srgbClr val="474747"/>
                </a:solidFill>
                <a:effectLst/>
                <a:latin typeface="DejaVu Sans Mono"/>
              </a:rPr>
              <a:t>(e1==null ? e2==null : e1.equals(e2))</a:t>
            </a:r>
            <a:r>
              <a:rPr lang="en-US" b="0" i="0" dirty="0">
                <a:solidFill>
                  <a:srgbClr val="474747"/>
                </a:solidFill>
                <a:effectLst/>
                <a:latin typeface="DejaVu Serif"/>
              </a:rPr>
              <a:t>.) In other words, two lists are defined to be equal if they contain the same elements in the same order. This definition ensures that the equals method works properly across different implementations of the </a:t>
            </a:r>
            <a:r>
              <a:rPr lang="en-US" b="0" i="0" dirty="0">
                <a:solidFill>
                  <a:srgbClr val="474747"/>
                </a:solidFill>
                <a:effectLst/>
                <a:latin typeface="DejaVu Sans Mono"/>
              </a:rPr>
              <a:t>List</a:t>
            </a:r>
            <a:r>
              <a:rPr lang="en-US" b="0" i="0" dirty="0">
                <a:solidFill>
                  <a:srgbClr val="474747"/>
                </a:solidFill>
                <a:effectLst/>
                <a:latin typeface="DejaVu Serif"/>
              </a:rPr>
              <a:t> interface.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19"/>
              </a:rPr>
              <a:t>equals</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Overrides:</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0"/>
              </a:rPr>
              <a:t>equals</a:t>
            </a:r>
            <a:r>
              <a:rPr lang="en-US" b="0" i="0" dirty="0">
                <a:solidFill>
                  <a:srgbClr val="353833"/>
                </a:solidFill>
                <a:effectLst/>
                <a:latin typeface="DejaVu Sans Mono"/>
              </a:rPr>
              <a:t> in class </a:t>
            </a:r>
            <a:r>
              <a:rPr lang="en-US" b="0" i="0" u="none" strike="noStrike" dirty="0">
                <a:solidFill>
                  <a:srgbClr val="4A6782"/>
                </a:solidFill>
                <a:effectLst/>
                <a:latin typeface="DejaVu Sans Mono"/>
                <a:hlinkClick r:id="rId18" tooltip="class in java.lang"/>
              </a:rPr>
              <a:t>Object</a:t>
            </a:r>
            <a:endParaRPr lang="en-US" b="0" i="0" dirty="0">
              <a:solidFill>
                <a:srgbClr val="353833"/>
              </a:solidFill>
              <a:effectLst/>
              <a:latin typeface="DejaVu Sans Mono"/>
            </a:endParaRP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the object to be compared for equality with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specified object is equal to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1"/>
              </a:rPr>
              <a:t>Object.hashCode</a:t>
            </a:r>
            <a:r>
              <a:rPr lang="en-US" b="0" i="0" u="none" strike="noStrike" dirty="0">
                <a:solidFill>
                  <a:srgbClr val="4A6782"/>
                </a:solidFill>
                <a:effectLst/>
                <a:latin typeface="DejaVu Sans Mono"/>
                <a:hlinkClick r:id="rId21"/>
              </a:rPr>
              <a: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2" tooltip="class in java.util"/>
              </a:rPr>
              <a:t>HashMap</a:t>
            </a:r>
            <a:endParaRPr lang="en-US" b="0" i="0" dirty="0">
              <a:solidFill>
                <a:srgbClr val="353833"/>
              </a:solidFill>
              <a:effectLst/>
              <a:latin typeface="DejaVu Sans Mono"/>
            </a:endParaRP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hashCode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a:t>
            </a:r>
            <a:r>
              <a:rPr lang="en-US" b="0" i="0" dirty="0" err="1">
                <a:solidFill>
                  <a:srgbClr val="353833"/>
                </a:solidFill>
                <a:effectLst/>
                <a:latin typeface="DejaVu Sans Mono"/>
              </a:rPr>
              <a:t>hashCode</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hash code value for this list. The hash code of a list is defined to be the result of the following calculation:</a:t>
            </a:r>
          </a:p>
          <a:p>
            <a:pPr algn="l">
              <a:spcBef>
                <a:spcPts val="600"/>
              </a:spcBef>
              <a:spcAft>
                <a:spcPts val="150"/>
              </a:spcAft>
              <a:buFont typeface="Arial" panose="020B0604020202020204" pitchFamily="34" charset="0"/>
              <a:buChar char="•"/>
            </a:pPr>
            <a:endParaRPr lang="en-US" b="0" i="0" dirty="0">
              <a:solidFill>
                <a:srgbClr val="474747"/>
              </a:solidFill>
              <a:effectLst/>
              <a:latin typeface="DejaVu Sans Mono"/>
            </a:endParaRP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int </a:t>
            </a:r>
            <a:r>
              <a:rPr lang="en-US" b="0" i="0" dirty="0" err="1">
                <a:solidFill>
                  <a:srgbClr val="474747"/>
                </a:solidFill>
                <a:effectLst/>
                <a:latin typeface="DejaVu Sans Mono"/>
              </a:rPr>
              <a:t>hashCode</a:t>
            </a:r>
            <a:r>
              <a:rPr lang="en-US" b="0" i="0" dirty="0">
                <a:solidFill>
                  <a:srgbClr val="474747"/>
                </a:solidFill>
                <a:effectLst/>
                <a:latin typeface="DejaVu Sans Mono"/>
              </a:rPr>
              <a:t> = 1;</a:t>
            </a: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for (E </a:t>
            </a:r>
            <a:r>
              <a:rPr lang="en-US" b="0" i="0" dirty="0" err="1">
                <a:solidFill>
                  <a:srgbClr val="474747"/>
                </a:solidFill>
                <a:effectLst/>
                <a:latin typeface="DejaVu Sans Mono"/>
              </a:rPr>
              <a:t>e</a:t>
            </a:r>
            <a:r>
              <a:rPr lang="en-US" b="0" i="0" dirty="0">
                <a:solidFill>
                  <a:srgbClr val="474747"/>
                </a:solidFill>
                <a:effectLst/>
                <a:latin typeface="DejaVu Sans Mono"/>
              </a:rPr>
              <a:t> : list)</a:t>
            </a: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a:t>
            </a:r>
            <a:r>
              <a:rPr lang="en-US" b="0" i="0" dirty="0" err="1">
                <a:solidFill>
                  <a:srgbClr val="474747"/>
                </a:solidFill>
                <a:effectLst/>
                <a:latin typeface="DejaVu Sans Mono"/>
              </a:rPr>
              <a:t>hashCode</a:t>
            </a:r>
            <a:r>
              <a:rPr lang="en-US" b="0" i="0" dirty="0">
                <a:solidFill>
                  <a:srgbClr val="474747"/>
                </a:solidFill>
                <a:effectLst/>
                <a:latin typeface="DejaVu Sans Mono"/>
              </a:rPr>
              <a:t> = 31*</a:t>
            </a:r>
            <a:r>
              <a:rPr lang="en-US" b="0" i="0" dirty="0" err="1">
                <a:solidFill>
                  <a:srgbClr val="474747"/>
                </a:solidFill>
                <a:effectLst/>
                <a:latin typeface="DejaVu Sans Mono"/>
              </a:rPr>
              <a:t>hashCode</a:t>
            </a:r>
            <a:r>
              <a:rPr lang="en-US" b="0" i="0" dirty="0">
                <a:solidFill>
                  <a:srgbClr val="474747"/>
                </a:solidFill>
                <a:effectLst/>
                <a:latin typeface="DejaVu Sans Mono"/>
              </a:rPr>
              <a:t> + (e==null ? 0 : </a:t>
            </a:r>
            <a:r>
              <a:rPr lang="en-US" b="0" i="0" dirty="0" err="1">
                <a:solidFill>
                  <a:srgbClr val="474747"/>
                </a:solidFill>
                <a:effectLst/>
                <a:latin typeface="DejaVu Sans Mono"/>
              </a:rPr>
              <a:t>e.hashCode</a:t>
            </a:r>
            <a:r>
              <a:rPr lang="en-US" b="0" i="0" dirty="0">
                <a:solidFill>
                  <a:srgbClr val="474747"/>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ans Mono"/>
              </a:rPr>
              <a:t> </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ensures that </a:t>
            </a:r>
            <a:r>
              <a:rPr lang="en-US" b="0" i="0" dirty="0">
                <a:solidFill>
                  <a:srgbClr val="474747"/>
                </a:solidFill>
                <a:effectLst/>
                <a:latin typeface="DejaVu Sans Mono"/>
              </a:rPr>
              <a:t>list1.equals(list2)</a:t>
            </a:r>
            <a:r>
              <a:rPr lang="en-US" b="0" i="0" dirty="0">
                <a:solidFill>
                  <a:srgbClr val="474747"/>
                </a:solidFill>
                <a:effectLst/>
                <a:latin typeface="DejaVu Serif"/>
              </a:rPr>
              <a:t> implies that </a:t>
            </a:r>
            <a:r>
              <a:rPr lang="en-US" b="0" i="0" dirty="0">
                <a:solidFill>
                  <a:srgbClr val="474747"/>
                </a:solidFill>
                <a:effectLst/>
                <a:latin typeface="DejaVu Sans Mono"/>
              </a:rPr>
              <a:t>list1.hashCode()==list2.hashCode()</a:t>
            </a:r>
            <a:r>
              <a:rPr lang="en-US" b="0" i="0" dirty="0">
                <a:solidFill>
                  <a:srgbClr val="474747"/>
                </a:solidFill>
                <a:effectLst/>
                <a:latin typeface="DejaVu Serif"/>
              </a:rPr>
              <a:t> for any two lists, </a:t>
            </a:r>
            <a:r>
              <a:rPr lang="en-US" b="0" i="0" dirty="0">
                <a:solidFill>
                  <a:srgbClr val="474747"/>
                </a:solidFill>
                <a:effectLst/>
                <a:latin typeface="DejaVu Sans Mono"/>
              </a:rPr>
              <a:t>list1</a:t>
            </a:r>
            <a:r>
              <a:rPr lang="en-US" b="0" i="0" dirty="0">
                <a:solidFill>
                  <a:srgbClr val="474747"/>
                </a:solidFill>
                <a:effectLst/>
                <a:latin typeface="DejaVu Serif"/>
              </a:rPr>
              <a:t> and </a:t>
            </a:r>
            <a:r>
              <a:rPr lang="en-US" b="0" i="0" dirty="0">
                <a:solidFill>
                  <a:srgbClr val="474747"/>
                </a:solidFill>
                <a:effectLst/>
                <a:latin typeface="DejaVu Sans Mono"/>
              </a:rPr>
              <a:t>list2</a:t>
            </a:r>
            <a:r>
              <a:rPr lang="en-US" b="0" i="0" dirty="0">
                <a:solidFill>
                  <a:srgbClr val="474747"/>
                </a:solidFill>
                <a:effectLst/>
                <a:latin typeface="DejaVu Serif"/>
              </a:rPr>
              <a:t>, as required by the general contract of </a:t>
            </a:r>
            <a:r>
              <a:rPr lang="en-US" b="0" i="0" u="none" strike="noStrike" dirty="0" err="1">
                <a:solidFill>
                  <a:srgbClr val="4A6782"/>
                </a:solidFill>
                <a:effectLst/>
                <a:latin typeface="DejaVu Sans Mono"/>
                <a:hlinkClick r:id="rId21"/>
              </a:rPr>
              <a:t>Object.hashCode</a:t>
            </a:r>
            <a:r>
              <a:rPr lang="en-US" b="0" i="0" u="none" strike="noStrike" dirty="0">
                <a:solidFill>
                  <a:srgbClr val="4A6782"/>
                </a:solidFill>
                <a:effectLst/>
                <a:latin typeface="DejaVu Sans Mono"/>
                <a:hlinkClick r:id="rId21"/>
              </a:rPr>
              <a:t>()</a:t>
            </a:r>
            <a:r>
              <a:rPr lang="en-US" b="0" i="0" dirty="0">
                <a:solidFill>
                  <a:srgbClr val="474747"/>
                </a:solidFill>
                <a:effectLst/>
                <a:latin typeface="DejaVu Serif"/>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3"/>
              </a:rPr>
              <a:t>hashCode</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4"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Overrides: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1"/>
              </a:rPr>
              <a:t>hashCode</a:t>
            </a:r>
            <a:r>
              <a:rPr lang="en-US" b="0" i="0" dirty="0">
                <a:solidFill>
                  <a:srgbClr val="353833"/>
                </a:solidFill>
                <a:effectLst/>
                <a:latin typeface="DejaVu Sans Mono"/>
              </a:rPr>
              <a:t> in class </a:t>
            </a:r>
            <a:r>
              <a:rPr lang="en-US" b="0" i="0" u="none" strike="noStrike" dirty="0">
                <a:solidFill>
                  <a:srgbClr val="4A6782"/>
                </a:solidFill>
                <a:effectLst/>
                <a:latin typeface="DejaVu Sans Mono"/>
                <a:hlinkClick r:id="rId18" tooltip="class in java.lang"/>
              </a:rPr>
              <a:t>Object</a:t>
            </a:r>
            <a:endParaRPr lang="en-US" b="0" i="0" dirty="0">
              <a:solidFill>
                <a:srgbClr val="353833"/>
              </a:solidFill>
              <a:effectLst/>
              <a:latin typeface="DejaVu Sans Mono"/>
            </a:endParaRP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hash code value for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See Also:</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20"/>
              </a:rPr>
              <a:t>Object.equals</a:t>
            </a:r>
            <a:r>
              <a:rPr lang="en-US" b="0" i="0" u="none" strike="noStrike" dirty="0">
                <a:solidFill>
                  <a:srgbClr val="4A6782"/>
                </a:solidFill>
                <a:effectLst/>
                <a:latin typeface="DejaVu Sans Mono"/>
                <a:hlinkClick r:id="rId20"/>
              </a:rPr>
              <a:t>(Object)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4"/>
              </a:rPr>
              <a:t>equals(Object)</a:t>
            </a:r>
            <a:endParaRPr lang="en-US" b="0" i="0" dirty="0">
              <a:solidFill>
                <a:srgbClr val="353833"/>
              </a:solidFill>
              <a:effectLst/>
              <a:latin typeface="DejaVu Sans Mono"/>
            </a:endParaRPr>
          </a:p>
          <a:p>
            <a:pPr>
              <a:buNone/>
            </a:pPr>
            <a:br>
              <a:rPr lang="en-US" b="0" i="0" dirty="0">
                <a:solidFill>
                  <a:srgbClr val="353833"/>
                </a:solidFill>
                <a:effectLst/>
                <a:latin typeface="DejaVu Sans"/>
              </a:rPr>
            </a:br>
            <a:endParaRPr lang="en-US" dirty="0"/>
          </a:p>
        </p:txBody>
      </p:sp>
    </p:spTree>
    <p:extLst>
      <p:ext uri="{BB962C8B-B14F-4D97-AF65-F5344CB8AC3E}">
        <p14:creationId xmlns:p14="http://schemas.microsoft.com/office/powerpoint/2010/main" val="1999967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82CBCB-EA5B-7C92-C16E-20914BF65B0C}"/>
              </a:ext>
            </a:extLst>
          </p:cNvPr>
          <p:cNvSpPr txBox="1"/>
          <p:nvPr/>
        </p:nvSpPr>
        <p:spPr>
          <a:xfrm>
            <a:off x="-1242060" y="-13179393"/>
            <a:ext cx="4953000" cy="33216786"/>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get</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get(int index)</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element at the specified position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index of the element to return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element at the specified position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if the index is out of range (index &lt; 0 || index &gt;= size())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set</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set(int index,</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Replaces the element at the specified position in this list with the specified element (optional operation).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index of the element to replace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element - element to be stored at the specified position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element previously at the specified position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UnsupportedOperationException</a:t>
            </a:r>
            <a:r>
              <a:rPr lang="en-US" b="0" i="0" dirty="0">
                <a:solidFill>
                  <a:srgbClr val="353833"/>
                </a:solidFill>
                <a:effectLst/>
                <a:latin typeface="DejaVu Sans Mono"/>
              </a:rPr>
              <a:t> - if the set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class of the specified element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list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IllegalArgumentException</a:t>
            </a:r>
            <a:r>
              <a:rPr lang="en-US" b="0" i="0" dirty="0">
                <a:solidFill>
                  <a:srgbClr val="353833"/>
                </a:solidFill>
                <a:effectLst/>
                <a:latin typeface="DejaVu Sans Mono"/>
              </a:rPr>
              <a:t> - if some property of the specified element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if the index is out of range (index &lt; 0 || index &gt;= size())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add</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void add(int index,</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at the specified position in this list (optional operation). Shifts the element currently at that position (if any) and any subsequent elements to the right (adds one to their indices).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index at which the specified element is to be inserted</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element - element to be inserted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UnsupportedOperationException</a:t>
            </a:r>
            <a:r>
              <a:rPr lang="en-US" b="0" i="0" dirty="0">
                <a:solidFill>
                  <a:srgbClr val="353833"/>
                </a:solidFill>
                <a:effectLst/>
                <a:latin typeface="DejaVu Sans Mono"/>
              </a:rPr>
              <a:t> - if the add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class of the specified element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list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IllegalArgumentException</a:t>
            </a:r>
            <a:r>
              <a:rPr lang="en-US" b="0" i="0" dirty="0">
                <a:solidFill>
                  <a:srgbClr val="353833"/>
                </a:solidFill>
                <a:effectLst/>
                <a:latin typeface="DejaVu Sans Mono"/>
              </a:rPr>
              <a:t> - if some property of the specified element prevents it from being added to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if the index is out of range (index &lt; 0 || index &gt; size())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 remove(int index)</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Removes the element at the specified position in this list (optional operation). Shifts any subsequent elements to the left (subtracts one from their indices). Returns the element that was removed from the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the index of the element to be removed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element previously at the specified position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class in java.lang"/>
              </a:rPr>
              <a:t>UnsupportedOperationException</a:t>
            </a:r>
            <a:r>
              <a:rPr lang="en-US" b="0" i="0" dirty="0">
                <a:solidFill>
                  <a:srgbClr val="353833"/>
                </a:solidFill>
                <a:effectLst/>
                <a:latin typeface="DejaVu Sans Mono"/>
              </a:rPr>
              <a:t> - if the remove operation is not supported by this list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if the index is out of range (index &lt; 0 || index &gt;= size())</a:t>
            </a:r>
          </a:p>
        </p:txBody>
      </p:sp>
      <p:sp>
        <p:nvSpPr>
          <p:cNvPr id="7" name="TextBox 6">
            <a:extLst>
              <a:ext uri="{FF2B5EF4-FFF2-40B4-BE49-F238E27FC236}">
                <a16:creationId xmlns:a16="http://schemas.microsoft.com/office/drawing/2014/main" id="{00545DCB-BEAD-DA80-A249-F662CEB3AFA9}"/>
              </a:ext>
            </a:extLst>
          </p:cNvPr>
          <p:cNvSpPr txBox="1"/>
          <p:nvPr/>
        </p:nvSpPr>
        <p:spPr>
          <a:xfrm>
            <a:off x="1504950" y="-15835099"/>
            <a:ext cx="5600700" cy="38497718"/>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indexOf</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a:t>
            </a:r>
            <a:r>
              <a:rPr lang="en-US" b="0" i="0" dirty="0" err="1">
                <a:solidFill>
                  <a:srgbClr val="353833"/>
                </a:solidFill>
                <a:effectLst/>
                <a:latin typeface="DejaVu Sans Mono"/>
              </a:rPr>
              <a:t>indexOf</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8"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index of the first occurrence of the specified element in this list, or -1 if this list does not contain the element. More formally, returns the lowest index </a:t>
            </a:r>
            <a:r>
              <a:rPr lang="en-US" b="0" i="0" dirty="0" err="1">
                <a:solidFill>
                  <a:srgbClr val="474747"/>
                </a:solidFill>
                <a:effectLst/>
                <a:latin typeface="DejaVu Sans Mono"/>
              </a:rPr>
              <a:t>i</a:t>
            </a:r>
            <a:r>
              <a:rPr lang="en-US" b="0" i="0" dirty="0">
                <a:solidFill>
                  <a:srgbClr val="474747"/>
                </a:solidFill>
                <a:effectLst/>
                <a:latin typeface="DejaVu Serif"/>
              </a:rPr>
              <a:t> such that </a:t>
            </a:r>
            <a:r>
              <a:rPr lang="en-US" b="0" i="0" dirty="0">
                <a:solidFill>
                  <a:srgbClr val="474747"/>
                </a:solidFill>
                <a:effectLst/>
                <a:latin typeface="DejaVu Sans Mono"/>
              </a:rPr>
              <a:t>(o==null ? get(</a:t>
            </a:r>
            <a:r>
              <a:rPr lang="en-US" b="0" i="0" dirty="0" err="1">
                <a:solidFill>
                  <a:srgbClr val="474747"/>
                </a:solidFill>
                <a:effectLst/>
                <a:latin typeface="DejaVu Sans Mono"/>
              </a:rPr>
              <a:t>i</a:t>
            </a:r>
            <a:r>
              <a:rPr lang="en-US" b="0" i="0" dirty="0">
                <a:solidFill>
                  <a:srgbClr val="474747"/>
                </a:solidFill>
                <a:effectLst/>
                <a:latin typeface="DejaVu Sans Mono"/>
              </a:rPr>
              <a:t>)==null : </a:t>
            </a:r>
            <a:r>
              <a:rPr lang="en-US" b="0" i="0" dirty="0" err="1">
                <a:solidFill>
                  <a:srgbClr val="474747"/>
                </a:solidFill>
                <a:effectLst/>
                <a:latin typeface="DejaVu Sans Mono"/>
              </a:rPr>
              <a:t>o.equals</a:t>
            </a:r>
            <a:r>
              <a:rPr lang="en-US" b="0" i="0" dirty="0">
                <a:solidFill>
                  <a:srgbClr val="474747"/>
                </a:solidFill>
                <a:effectLst/>
                <a:latin typeface="DejaVu Sans Mono"/>
              </a:rPr>
              <a:t>(get(</a:t>
            </a:r>
            <a:r>
              <a:rPr lang="en-US" b="0" i="0" dirty="0" err="1">
                <a:solidFill>
                  <a:srgbClr val="474747"/>
                </a:solidFill>
                <a:effectLst/>
                <a:latin typeface="DejaVu Sans Mono"/>
              </a:rPr>
              <a:t>i</a:t>
            </a:r>
            <a:r>
              <a:rPr lang="en-US" b="0" i="0" dirty="0">
                <a:solidFill>
                  <a:srgbClr val="474747"/>
                </a:solidFill>
                <a:effectLst/>
                <a:latin typeface="DejaVu Sans Mono"/>
              </a:rPr>
              <a:t>)))</a:t>
            </a:r>
            <a:r>
              <a:rPr lang="en-US" b="0" i="0" dirty="0">
                <a:solidFill>
                  <a:srgbClr val="474747"/>
                </a:solidFill>
                <a:effectLst/>
                <a:latin typeface="DejaVu Serif"/>
              </a:rPr>
              <a:t>, or -1 if there is no such index.</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search for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index of the first occurrence of the specified element in this list, or -1 if this list does not contain the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type of the specified element is incompatible with this list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list does not permit null elements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lastIndexOf</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int </a:t>
            </a:r>
            <a:r>
              <a:rPr lang="en-US" b="0" i="0" dirty="0" err="1">
                <a:solidFill>
                  <a:srgbClr val="353833"/>
                </a:solidFill>
                <a:effectLst/>
                <a:latin typeface="DejaVu Sans Mono"/>
              </a:rPr>
              <a:t>lastIndexOf</a:t>
            </a:r>
            <a:r>
              <a:rPr lang="en-US" b="0" i="0" dirty="0">
                <a:solidFill>
                  <a:srgbClr val="353833"/>
                </a:solidFill>
                <a:effectLst/>
                <a:latin typeface="DejaVu Sans Mono"/>
              </a:rPr>
              <a:t>(</a:t>
            </a:r>
            <a:r>
              <a:rPr lang="en-US" b="0" i="0" u="none" strike="noStrike" dirty="0">
                <a:solidFill>
                  <a:srgbClr val="4A6782"/>
                </a:solidFill>
                <a:effectLst/>
                <a:latin typeface="DejaVu Sans Mono"/>
                <a:hlinkClick r:id="rId8" tooltip="class in java.lang"/>
              </a:rPr>
              <a:t>Object</a:t>
            </a:r>
            <a:r>
              <a:rPr lang="en-US" b="0" i="0" dirty="0">
                <a:solidFill>
                  <a:srgbClr val="353833"/>
                </a:solidFill>
                <a:effectLst/>
                <a:latin typeface="DejaVu Sans Mono"/>
              </a:rPr>
              <a:t> o)</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the index of the last occurrence of the specified element in this list, or -1 if this list does not contain the element. More formally, returns the highest index </a:t>
            </a:r>
            <a:r>
              <a:rPr lang="en-US" b="0" i="0" dirty="0" err="1">
                <a:solidFill>
                  <a:srgbClr val="474747"/>
                </a:solidFill>
                <a:effectLst/>
                <a:latin typeface="DejaVu Sans Mono"/>
              </a:rPr>
              <a:t>i</a:t>
            </a:r>
            <a:r>
              <a:rPr lang="en-US" b="0" i="0" dirty="0">
                <a:solidFill>
                  <a:srgbClr val="474747"/>
                </a:solidFill>
                <a:effectLst/>
                <a:latin typeface="DejaVu Serif"/>
              </a:rPr>
              <a:t> such that </a:t>
            </a:r>
            <a:r>
              <a:rPr lang="en-US" b="0" i="0" dirty="0">
                <a:solidFill>
                  <a:srgbClr val="474747"/>
                </a:solidFill>
                <a:effectLst/>
                <a:latin typeface="DejaVu Sans Mono"/>
              </a:rPr>
              <a:t>(o==null ? get(</a:t>
            </a:r>
            <a:r>
              <a:rPr lang="en-US" b="0" i="0" dirty="0" err="1">
                <a:solidFill>
                  <a:srgbClr val="474747"/>
                </a:solidFill>
                <a:effectLst/>
                <a:latin typeface="DejaVu Sans Mono"/>
              </a:rPr>
              <a:t>i</a:t>
            </a:r>
            <a:r>
              <a:rPr lang="en-US" b="0" i="0" dirty="0">
                <a:solidFill>
                  <a:srgbClr val="474747"/>
                </a:solidFill>
                <a:effectLst/>
                <a:latin typeface="DejaVu Sans Mono"/>
              </a:rPr>
              <a:t>)==null : </a:t>
            </a:r>
            <a:r>
              <a:rPr lang="en-US" b="0" i="0" dirty="0" err="1">
                <a:solidFill>
                  <a:srgbClr val="474747"/>
                </a:solidFill>
                <a:effectLst/>
                <a:latin typeface="DejaVu Sans Mono"/>
              </a:rPr>
              <a:t>o.equals</a:t>
            </a:r>
            <a:r>
              <a:rPr lang="en-US" b="0" i="0" dirty="0">
                <a:solidFill>
                  <a:srgbClr val="474747"/>
                </a:solidFill>
                <a:effectLst/>
                <a:latin typeface="DejaVu Sans Mono"/>
              </a:rPr>
              <a:t>(get(</a:t>
            </a:r>
            <a:r>
              <a:rPr lang="en-US" b="0" i="0" dirty="0" err="1">
                <a:solidFill>
                  <a:srgbClr val="474747"/>
                </a:solidFill>
                <a:effectLst/>
                <a:latin typeface="DejaVu Sans Mono"/>
              </a:rPr>
              <a:t>i</a:t>
            </a:r>
            <a:r>
              <a:rPr lang="en-US" b="0" i="0" dirty="0">
                <a:solidFill>
                  <a:srgbClr val="474747"/>
                </a:solidFill>
                <a:effectLst/>
                <a:latin typeface="DejaVu Sans Mono"/>
              </a:rPr>
              <a:t>)))</a:t>
            </a:r>
            <a:r>
              <a:rPr lang="en-US" b="0" i="0" dirty="0">
                <a:solidFill>
                  <a:srgbClr val="474747"/>
                </a:solidFill>
                <a:effectLst/>
                <a:latin typeface="DejaVu Serif"/>
              </a:rPr>
              <a:t>, or -1 if there is no such index.</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o - element to search for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index of the last occurrence of the specified element in this list, or -1 if this list does not contain the element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ClassCastException</a:t>
            </a:r>
            <a:r>
              <a:rPr lang="en-US" b="0" i="0" dirty="0">
                <a:solidFill>
                  <a:srgbClr val="353833"/>
                </a:solidFill>
                <a:effectLst/>
                <a:latin typeface="DejaVu Sans Mono"/>
              </a:rPr>
              <a:t> - if the type of the specified element is incompatible with this list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NullPointerException</a:t>
            </a:r>
            <a:r>
              <a:rPr lang="en-US" b="0" i="0" dirty="0">
                <a:solidFill>
                  <a:srgbClr val="353833"/>
                </a:solidFill>
                <a:effectLst/>
                <a:latin typeface="DejaVu Sans Mono"/>
              </a:rPr>
              <a:t> - if the specified element is null and this list does not permit null elements (</a:t>
            </a:r>
            <a:r>
              <a:rPr lang="en-US" b="0" i="0" u="none" strike="noStrike" dirty="0">
                <a:solidFill>
                  <a:srgbClr val="4A6782"/>
                </a:solidFill>
                <a:effectLst/>
                <a:latin typeface="DejaVu Sans Mono"/>
                <a:hlinkClick r:id="rId9"/>
              </a:rPr>
              <a:t>optional</a:t>
            </a:r>
            <a:r>
              <a:rPr lang="en-US" b="0" i="0" dirty="0">
                <a:solidFill>
                  <a:srgbClr val="353833"/>
                </a:solidFill>
                <a:effectLst/>
                <a:latin typeface="DejaVu Sans Mono"/>
              </a:rPr>
              <a:t>)</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listIterator</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10" tooltip="interface in java.util"/>
              </a:rPr>
              <a:t>ListIterator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 </a:t>
            </a:r>
            <a:r>
              <a:rPr lang="en-US" b="0" i="0" dirty="0" err="1">
                <a:solidFill>
                  <a:srgbClr val="353833"/>
                </a:solidFill>
                <a:effectLst/>
                <a:latin typeface="DejaVu Sans Mono"/>
              </a:rPr>
              <a:t>listIterator</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 list iterator over the elements in this list (in proper sequence).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list iterator over the elements in this list (in proper sequence)</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listIterator</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10" tooltip="interface in java.util"/>
              </a:rPr>
              <a:t>ListIterator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 </a:t>
            </a:r>
            <a:r>
              <a:rPr lang="en-US" b="0" i="0" dirty="0" err="1">
                <a:solidFill>
                  <a:srgbClr val="353833"/>
                </a:solidFill>
                <a:effectLst/>
                <a:latin typeface="DejaVu Sans Mono"/>
              </a:rPr>
              <a:t>listIterator</a:t>
            </a:r>
            <a:r>
              <a:rPr lang="en-US" b="0" i="0" dirty="0">
                <a:solidFill>
                  <a:srgbClr val="353833"/>
                </a:solidFill>
                <a:effectLst/>
                <a:latin typeface="DejaVu Sans Mono"/>
              </a:rPr>
              <a:t>(int index)</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 list iterator over the elements in this list (in proper sequence), starting at the specified position in the list. The specified index indicates the first element that would be returned by an initial call to </a:t>
            </a:r>
            <a:r>
              <a:rPr lang="en-US" b="0" i="0" u="none" strike="noStrike" dirty="0">
                <a:solidFill>
                  <a:srgbClr val="4A6782"/>
                </a:solidFill>
                <a:effectLst/>
                <a:latin typeface="DejaVu Sans Mono"/>
                <a:hlinkClick r:id="rId11"/>
              </a:rPr>
              <a:t>next</a:t>
            </a:r>
            <a:r>
              <a:rPr lang="en-US" b="0" i="0" dirty="0">
                <a:solidFill>
                  <a:srgbClr val="474747"/>
                </a:solidFill>
                <a:effectLst/>
                <a:latin typeface="DejaVu Serif"/>
              </a:rPr>
              <a:t>. An initial call to </a:t>
            </a:r>
            <a:r>
              <a:rPr lang="en-US" b="0" i="0" u="none" strike="noStrike" dirty="0">
                <a:solidFill>
                  <a:srgbClr val="4A6782"/>
                </a:solidFill>
                <a:effectLst/>
                <a:latin typeface="DejaVu Sans Mono"/>
                <a:hlinkClick r:id="rId12"/>
              </a:rPr>
              <a:t>previous</a:t>
            </a:r>
            <a:r>
              <a:rPr lang="en-US" b="0" i="0" dirty="0">
                <a:solidFill>
                  <a:srgbClr val="474747"/>
                </a:solidFill>
                <a:effectLst/>
                <a:latin typeface="DejaVu Serif"/>
              </a:rPr>
              <a:t> would return the element with the specified index minus one.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index - index of the first element to be returned from the list iterator (by a call to </a:t>
            </a:r>
            <a:r>
              <a:rPr lang="en-US" b="0" i="0" u="none" strike="noStrike" dirty="0">
                <a:solidFill>
                  <a:srgbClr val="4A6782"/>
                </a:solidFill>
                <a:effectLst/>
                <a:latin typeface="DejaVu Sans Mono"/>
                <a:hlinkClick r:id="rId11"/>
              </a:rPr>
              <a:t>next</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list iterator over the elements in this list (in proper sequence), starting at the specified position in the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if the index is out of range (index &lt; 0 || index &gt; size())</a:t>
            </a:r>
          </a:p>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subList</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List</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List"/>
              </a:rPr>
              <a:t>E</a:t>
            </a:r>
            <a:r>
              <a:rPr lang="en-US" b="0" i="0" dirty="0">
                <a:solidFill>
                  <a:srgbClr val="353833"/>
                </a:solidFill>
                <a:effectLst/>
                <a:latin typeface="DejaVu Sans Mono"/>
              </a:rPr>
              <a:t>&gt; </a:t>
            </a:r>
            <a:r>
              <a:rPr lang="en-US" b="0" i="0" dirty="0" err="1">
                <a:solidFill>
                  <a:srgbClr val="353833"/>
                </a:solidFill>
                <a:effectLst/>
                <a:latin typeface="DejaVu Sans Mono"/>
              </a:rPr>
              <a:t>subList</a:t>
            </a:r>
            <a:r>
              <a:rPr lang="en-US" b="0" i="0" dirty="0">
                <a:solidFill>
                  <a:srgbClr val="353833"/>
                </a:solidFill>
                <a:effectLst/>
                <a:latin typeface="DejaVu Sans Mono"/>
              </a:rPr>
              <a:t>(int </a:t>
            </a:r>
            <a:r>
              <a:rPr lang="en-US" b="0" i="0" dirty="0" err="1">
                <a:solidFill>
                  <a:srgbClr val="353833"/>
                </a:solidFill>
                <a:effectLst/>
                <a:latin typeface="DejaVu Sans Mono"/>
              </a:rPr>
              <a:t>fromIndex</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                int </a:t>
            </a:r>
            <a:r>
              <a:rPr lang="en-US" b="0" i="0" dirty="0" err="1">
                <a:solidFill>
                  <a:srgbClr val="353833"/>
                </a:solidFill>
                <a:effectLst/>
                <a:latin typeface="DejaVu Sans Mono"/>
              </a:rPr>
              <a:t>toIndex</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Returns a view of the portion of this list between the specified </a:t>
            </a:r>
            <a:r>
              <a:rPr lang="en-US" b="0" i="0" dirty="0" err="1">
                <a:solidFill>
                  <a:srgbClr val="474747"/>
                </a:solidFill>
                <a:effectLst/>
                <a:latin typeface="DejaVu Sans Mono"/>
              </a:rPr>
              <a:t>fromIndex</a:t>
            </a:r>
            <a:r>
              <a:rPr lang="en-US" b="0" i="0" dirty="0">
                <a:solidFill>
                  <a:srgbClr val="474747"/>
                </a:solidFill>
                <a:effectLst/>
                <a:latin typeface="DejaVu Serif"/>
              </a:rPr>
              <a:t>, inclusive, and </a:t>
            </a:r>
            <a:r>
              <a:rPr lang="en-US" b="0" i="0" dirty="0" err="1">
                <a:solidFill>
                  <a:srgbClr val="474747"/>
                </a:solidFill>
                <a:effectLst/>
                <a:latin typeface="DejaVu Sans Mono"/>
              </a:rPr>
              <a:t>toIndex</a:t>
            </a:r>
            <a:r>
              <a:rPr lang="en-US" b="0" i="0" dirty="0">
                <a:solidFill>
                  <a:srgbClr val="474747"/>
                </a:solidFill>
                <a:effectLst/>
                <a:latin typeface="DejaVu Serif"/>
              </a:rPr>
              <a:t>, exclusive. (If </a:t>
            </a:r>
            <a:r>
              <a:rPr lang="en-US" b="0" i="0" dirty="0" err="1">
                <a:solidFill>
                  <a:srgbClr val="474747"/>
                </a:solidFill>
                <a:effectLst/>
                <a:latin typeface="DejaVu Sans Mono"/>
              </a:rPr>
              <a:t>fromIndex</a:t>
            </a:r>
            <a:r>
              <a:rPr lang="en-US" b="0" i="0" dirty="0">
                <a:solidFill>
                  <a:srgbClr val="474747"/>
                </a:solidFill>
                <a:effectLst/>
                <a:latin typeface="DejaVu Serif"/>
              </a:rPr>
              <a:t> and </a:t>
            </a:r>
            <a:r>
              <a:rPr lang="en-US" b="0" i="0" dirty="0" err="1">
                <a:solidFill>
                  <a:srgbClr val="474747"/>
                </a:solidFill>
                <a:effectLst/>
                <a:latin typeface="DejaVu Sans Mono"/>
              </a:rPr>
              <a:t>toIndex</a:t>
            </a:r>
            <a:r>
              <a:rPr lang="en-US" b="0" i="0" dirty="0">
                <a:solidFill>
                  <a:srgbClr val="474747"/>
                </a:solidFill>
                <a:effectLst/>
                <a:latin typeface="DejaVu Serif"/>
              </a:rPr>
              <a:t> are equal, the returned list is empty.) The returned list is backed by this list, so non-structural changes in the returned list are reflected in this list, and vice-versa. The returned list supports all of the optional list operations supported by this list.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This method eliminates the need for explicit range operations (of the sort that commonly exist for arrays). Any operation that expects a list can be used as a range operation by passing a </a:t>
            </a:r>
            <a:r>
              <a:rPr lang="en-US" b="0" i="0" dirty="0" err="1">
                <a:solidFill>
                  <a:srgbClr val="474747"/>
                </a:solidFill>
                <a:effectLst/>
                <a:latin typeface="DejaVu Serif"/>
              </a:rPr>
              <a:t>subList</a:t>
            </a:r>
            <a:r>
              <a:rPr lang="en-US" b="0" i="0" dirty="0">
                <a:solidFill>
                  <a:srgbClr val="474747"/>
                </a:solidFill>
                <a:effectLst/>
                <a:latin typeface="DejaVu Serif"/>
              </a:rPr>
              <a:t> view instead of a whole list. For example, the following idiom removes a range of elements from a list:</a:t>
            </a:r>
          </a:p>
          <a:p>
            <a:pPr algn="l">
              <a:spcBef>
                <a:spcPts val="600"/>
              </a:spcBef>
              <a:spcAft>
                <a:spcPts val="150"/>
              </a:spcAft>
              <a:buFont typeface="Arial" panose="020B0604020202020204" pitchFamily="34" charset="0"/>
              <a:buChar char="•"/>
            </a:pPr>
            <a:endParaRPr lang="en-US" b="0" i="0" dirty="0">
              <a:solidFill>
                <a:srgbClr val="474747"/>
              </a:solidFill>
              <a:effectLst/>
              <a:latin typeface="DejaVu Sans Mono"/>
            </a:endParaRPr>
          </a:p>
          <a:p>
            <a:pPr algn="l">
              <a:spcBef>
                <a:spcPts val="600"/>
              </a:spcBef>
              <a:spcAft>
                <a:spcPts val="150"/>
              </a:spcAft>
              <a:buFont typeface="Arial" panose="020B0604020202020204" pitchFamily="34" charset="0"/>
              <a:buChar char="•"/>
            </a:pPr>
            <a:r>
              <a:rPr lang="en-US" b="0" i="0" dirty="0">
                <a:solidFill>
                  <a:srgbClr val="474747"/>
                </a:solidFill>
                <a:effectLst/>
                <a:latin typeface="DejaVu Sans Mono"/>
              </a:rPr>
              <a:t>      </a:t>
            </a:r>
            <a:r>
              <a:rPr lang="en-US" b="0" i="0" dirty="0" err="1">
                <a:solidFill>
                  <a:srgbClr val="474747"/>
                </a:solidFill>
                <a:effectLst/>
                <a:latin typeface="DejaVu Sans Mono"/>
              </a:rPr>
              <a:t>list.subList</a:t>
            </a:r>
            <a:r>
              <a:rPr lang="en-US" b="0" i="0" dirty="0">
                <a:solidFill>
                  <a:srgbClr val="474747"/>
                </a:solidFill>
                <a:effectLst/>
                <a:latin typeface="DejaVu Sans Mono"/>
              </a:rPr>
              <a:t>(from, to).clear();</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ans Mono"/>
              </a:rPr>
              <a:t> </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Similar idioms may be constructed for </a:t>
            </a:r>
            <a:r>
              <a:rPr lang="en-US" b="0" i="0" dirty="0" err="1">
                <a:solidFill>
                  <a:srgbClr val="474747"/>
                </a:solidFill>
                <a:effectLst/>
                <a:latin typeface="DejaVu Sans Mono"/>
              </a:rPr>
              <a:t>indexOf</a:t>
            </a:r>
            <a:r>
              <a:rPr lang="en-US" b="0" i="0" dirty="0">
                <a:solidFill>
                  <a:srgbClr val="474747"/>
                </a:solidFill>
                <a:effectLst/>
                <a:latin typeface="DejaVu Serif"/>
              </a:rPr>
              <a:t> and </a:t>
            </a:r>
            <a:r>
              <a:rPr lang="en-US" b="0" i="0" dirty="0" err="1">
                <a:solidFill>
                  <a:srgbClr val="474747"/>
                </a:solidFill>
                <a:effectLst/>
                <a:latin typeface="DejaVu Sans Mono"/>
              </a:rPr>
              <a:t>lastIndexOf</a:t>
            </a:r>
            <a:r>
              <a:rPr lang="en-US" b="0" i="0" dirty="0">
                <a:solidFill>
                  <a:srgbClr val="474747"/>
                </a:solidFill>
                <a:effectLst/>
                <a:latin typeface="DejaVu Serif"/>
              </a:rPr>
              <a:t>, and all of the algorithms in the </a:t>
            </a:r>
            <a:r>
              <a:rPr lang="en-US" b="0" i="0" dirty="0">
                <a:solidFill>
                  <a:srgbClr val="474747"/>
                </a:solidFill>
                <a:effectLst/>
                <a:latin typeface="DejaVu Sans Mono"/>
              </a:rPr>
              <a:t>Collections</a:t>
            </a:r>
            <a:r>
              <a:rPr lang="en-US" b="0" i="0" dirty="0">
                <a:solidFill>
                  <a:srgbClr val="474747"/>
                </a:solidFill>
                <a:effectLst/>
                <a:latin typeface="DejaVu Serif"/>
              </a:rPr>
              <a:t> class can be applied to a </a:t>
            </a:r>
            <a:r>
              <a:rPr lang="en-US" b="0" i="0" dirty="0" err="1">
                <a:solidFill>
                  <a:srgbClr val="474747"/>
                </a:solidFill>
                <a:effectLst/>
                <a:latin typeface="DejaVu Serif"/>
              </a:rPr>
              <a:t>subList</a:t>
            </a:r>
            <a:r>
              <a:rPr lang="en-US" b="0" i="0" dirty="0">
                <a:solidFill>
                  <a:srgbClr val="474747"/>
                </a:solidFill>
                <a:effectLst/>
                <a:latin typeface="DejaVu Serif"/>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 semantics of the list returned by this method become undefined if the backing list (i.e., this list) is </a:t>
            </a:r>
            <a:r>
              <a:rPr lang="en-US" b="0" i="1" dirty="0">
                <a:solidFill>
                  <a:srgbClr val="474747"/>
                </a:solidFill>
                <a:effectLst/>
                <a:latin typeface="DejaVu Serif"/>
              </a:rPr>
              <a:t>structurally modified</a:t>
            </a:r>
            <a:r>
              <a:rPr lang="en-US" b="0" i="0" dirty="0">
                <a:solidFill>
                  <a:srgbClr val="474747"/>
                </a:solidFill>
                <a:effectLst/>
                <a:latin typeface="DejaVu Serif"/>
              </a:rPr>
              <a:t> in any way other than via the returned list. (Structural modifications are those that change the size of this list, or otherwise perturb it in such a fashion that iterations in progress may yield incorrect results.)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err="1">
                <a:solidFill>
                  <a:srgbClr val="353833"/>
                </a:solidFill>
                <a:effectLst/>
                <a:latin typeface="DejaVu Sans Mono"/>
              </a:rPr>
              <a:t>fromIndex</a:t>
            </a:r>
            <a:r>
              <a:rPr lang="en-US" b="0" i="0" dirty="0">
                <a:solidFill>
                  <a:srgbClr val="353833"/>
                </a:solidFill>
                <a:effectLst/>
                <a:latin typeface="DejaVu Sans Mono"/>
              </a:rPr>
              <a:t> - low endpoint (inclusive) of the </a:t>
            </a:r>
            <a:r>
              <a:rPr lang="en-US" b="0" i="0" dirty="0" err="1">
                <a:solidFill>
                  <a:srgbClr val="353833"/>
                </a:solidFill>
                <a:effectLst/>
                <a:latin typeface="DejaVu Sans Mono"/>
              </a:rPr>
              <a:t>subList</a:t>
            </a:r>
            <a:endParaRPr lang="en-US" b="0" i="0" dirty="0">
              <a:solidFill>
                <a:srgbClr val="353833"/>
              </a:solidFill>
              <a:effectLst/>
              <a:latin typeface="DejaVu Sans Mono"/>
            </a:endParaRPr>
          </a:p>
          <a:p>
            <a:pPr algn="l">
              <a:spcBef>
                <a:spcPts val="375"/>
              </a:spcBef>
              <a:spcAft>
                <a:spcPts val="750"/>
              </a:spcAft>
              <a:buFont typeface="Arial" panose="020B0604020202020204" pitchFamily="34" charset="0"/>
              <a:buChar char="•"/>
            </a:pPr>
            <a:r>
              <a:rPr lang="en-US" b="0" i="0" dirty="0" err="1">
                <a:solidFill>
                  <a:srgbClr val="353833"/>
                </a:solidFill>
                <a:effectLst/>
                <a:latin typeface="DejaVu Sans Mono"/>
              </a:rPr>
              <a:t>toIndex</a:t>
            </a:r>
            <a:r>
              <a:rPr lang="en-US" b="0" i="0" dirty="0">
                <a:solidFill>
                  <a:srgbClr val="353833"/>
                </a:solidFill>
                <a:effectLst/>
                <a:latin typeface="DejaVu Sans Mono"/>
              </a:rPr>
              <a:t> - high endpoint (exclusive) of the </a:t>
            </a:r>
            <a:r>
              <a:rPr lang="en-US" b="0" i="0" dirty="0" err="1">
                <a:solidFill>
                  <a:srgbClr val="353833"/>
                </a:solidFill>
                <a:effectLst/>
                <a:latin typeface="DejaVu Sans Mono"/>
              </a:rPr>
              <a:t>subList</a:t>
            </a:r>
            <a:endParaRPr lang="en-US" b="0" i="0" dirty="0">
              <a:solidFill>
                <a:srgbClr val="353833"/>
              </a:solidFill>
              <a:effectLst/>
              <a:latin typeface="DejaVu Sans Mono"/>
            </a:endParaRP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view of the specified range within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3" tooltip="class in java.lang"/>
              </a:rPr>
              <a:t>IndexOutOfBoundsException</a:t>
            </a:r>
            <a:r>
              <a:rPr lang="en-US" b="0" i="0" dirty="0">
                <a:solidFill>
                  <a:srgbClr val="353833"/>
                </a:solidFill>
                <a:effectLst/>
                <a:latin typeface="DejaVu Sans Mono"/>
              </a:rPr>
              <a:t> - for an illegal endpoint index value (</a:t>
            </a:r>
            <a:r>
              <a:rPr lang="en-US" b="0" i="0" dirty="0" err="1">
                <a:solidFill>
                  <a:srgbClr val="353833"/>
                </a:solidFill>
                <a:effectLst/>
                <a:latin typeface="DejaVu Sans Mono"/>
              </a:rPr>
              <a:t>fromIndex</a:t>
            </a:r>
            <a:r>
              <a:rPr lang="en-US" b="0" i="0" dirty="0">
                <a:solidFill>
                  <a:srgbClr val="353833"/>
                </a:solidFill>
                <a:effectLst/>
                <a:latin typeface="DejaVu Sans Mono"/>
              </a:rPr>
              <a:t> &lt; 0 || </a:t>
            </a:r>
            <a:r>
              <a:rPr lang="en-US" b="0" i="0" dirty="0" err="1">
                <a:solidFill>
                  <a:srgbClr val="353833"/>
                </a:solidFill>
                <a:effectLst/>
                <a:latin typeface="DejaVu Sans Mono"/>
              </a:rPr>
              <a:t>toIndex</a:t>
            </a:r>
            <a:r>
              <a:rPr lang="en-US" b="0" i="0" dirty="0">
                <a:solidFill>
                  <a:srgbClr val="353833"/>
                </a:solidFill>
                <a:effectLst/>
                <a:latin typeface="DejaVu Sans Mono"/>
              </a:rPr>
              <a:t> &gt; size || </a:t>
            </a:r>
            <a:r>
              <a:rPr lang="en-US" b="0" i="0" dirty="0" err="1">
                <a:solidFill>
                  <a:srgbClr val="353833"/>
                </a:solidFill>
                <a:effectLst/>
                <a:latin typeface="DejaVu Sans Mono"/>
              </a:rPr>
              <a:t>fromIndex</a:t>
            </a:r>
            <a:r>
              <a:rPr lang="en-US" b="0" i="0" dirty="0">
                <a:solidFill>
                  <a:srgbClr val="353833"/>
                </a:solidFill>
                <a:effectLst/>
                <a:latin typeface="DejaVu Sans Mono"/>
              </a:rPr>
              <a:t> &gt; </a:t>
            </a:r>
            <a:r>
              <a:rPr lang="en-US" b="0" i="0" dirty="0" err="1">
                <a:solidFill>
                  <a:srgbClr val="353833"/>
                </a:solidFill>
                <a:effectLst/>
                <a:latin typeface="DejaVu Sans Mono"/>
              </a:rPr>
              <a:t>toIndex</a:t>
            </a:r>
            <a:r>
              <a:rPr lang="en-US" b="0" i="0" dirty="0">
                <a:solidFill>
                  <a:srgbClr val="353833"/>
                </a:solidFill>
                <a:effectLst/>
                <a:latin typeface="DejaVu Sans Mono"/>
              </a:rPr>
              <a:t>)</a:t>
            </a:r>
          </a:p>
          <a:p>
            <a:pPr>
              <a:buNone/>
            </a:pPr>
            <a:br>
              <a:rPr lang="en-US" b="0" i="0" dirty="0">
                <a:solidFill>
                  <a:srgbClr val="353833"/>
                </a:solidFill>
                <a:effectLst/>
                <a:latin typeface="DejaVu Sans"/>
              </a:rPr>
            </a:br>
            <a:endParaRPr lang="en-US" dirty="0"/>
          </a:p>
        </p:txBody>
      </p:sp>
    </p:spTree>
    <p:extLst>
      <p:ext uri="{BB962C8B-B14F-4D97-AF65-F5344CB8AC3E}">
        <p14:creationId xmlns:p14="http://schemas.microsoft.com/office/powerpoint/2010/main" val="416480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2B6BA3-0DA9-56EA-3A24-6AFE50BC63AA}"/>
              </a:ext>
            </a:extLst>
          </p:cNvPr>
          <p:cNvSpPr txBox="1"/>
          <p:nvPr/>
        </p:nvSpPr>
        <p:spPr>
          <a:xfrm>
            <a:off x="2476500" y="-1564674"/>
            <a:ext cx="4953000" cy="9987349"/>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err="1">
                <a:solidFill>
                  <a:srgbClr val="353833"/>
                </a:solidFill>
                <a:effectLst/>
                <a:latin typeface="DejaVu Sans"/>
              </a:rPr>
              <a:t>spliterator</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dirty="0">
                <a:solidFill>
                  <a:srgbClr val="353833"/>
                </a:solidFill>
                <a:effectLst/>
                <a:latin typeface="DejaVu Sans Mono"/>
              </a:rPr>
              <a:t>default </a:t>
            </a:r>
            <a:r>
              <a:rPr lang="en-US" b="0" i="0" u="none" strike="noStrike" dirty="0" err="1">
                <a:solidFill>
                  <a:srgbClr val="4A6782"/>
                </a:solidFill>
                <a:effectLst/>
                <a:latin typeface="DejaVu Sans Mono"/>
                <a:hlinkClick r:id="rId2" tooltip="interface in java.util"/>
              </a:rPr>
              <a:t>Spliterator</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 </a:t>
            </a:r>
            <a:r>
              <a:rPr lang="en-US" b="0" i="0" dirty="0" err="1">
                <a:solidFill>
                  <a:srgbClr val="353833"/>
                </a:solidFill>
                <a:effectLst/>
                <a:latin typeface="DejaVu Sans Mono"/>
              </a:rPr>
              <a:t>spliterator</a:t>
            </a:r>
            <a:r>
              <a:rPr lang="en-US" b="0" i="0" dirty="0">
                <a:solidFill>
                  <a:srgbClr val="353833"/>
                </a:solidFill>
                <a:effectLst/>
                <a:latin typeface="DejaVu Sans Mono"/>
              </a:rPr>
              <a: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Creates a </a:t>
            </a:r>
            <a:r>
              <a:rPr lang="en-US" b="0" i="0" u="none" strike="noStrike" dirty="0" err="1">
                <a:solidFill>
                  <a:srgbClr val="4A6782"/>
                </a:solidFill>
                <a:effectLst/>
                <a:latin typeface="DejaVu Sans Mono"/>
                <a:hlinkClick r:id="rId2" tooltip="interface in java.util"/>
              </a:rPr>
              <a:t>Spliterator</a:t>
            </a:r>
            <a:r>
              <a:rPr lang="en-US" b="0" i="0" dirty="0">
                <a:solidFill>
                  <a:srgbClr val="474747"/>
                </a:solidFill>
                <a:effectLst/>
                <a:latin typeface="DejaVu Serif"/>
              </a:rPr>
              <a:t> over the elements in this list.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The </a:t>
            </a:r>
            <a:r>
              <a:rPr lang="en-US" b="0" i="0" dirty="0" err="1">
                <a:solidFill>
                  <a:srgbClr val="474747"/>
                </a:solidFill>
                <a:effectLst/>
                <a:latin typeface="DejaVu Sans Mono"/>
              </a:rPr>
              <a:t>Spliterator</a:t>
            </a:r>
            <a:r>
              <a:rPr lang="en-US" b="0" i="0" dirty="0">
                <a:solidFill>
                  <a:srgbClr val="474747"/>
                </a:solidFill>
                <a:effectLst/>
                <a:latin typeface="DejaVu Serif"/>
              </a:rPr>
              <a:t> reports </a:t>
            </a:r>
            <a:r>
              <a:rPr lang="en-US" b="0" i="0" u="none" strike="noStrike" dirty="0" err="1">
                <a:solidFill>
                  <a:srgbClr val="4A6782"/>
                </a:solidFill>
                <a:effectLst/>
                <a:latin typeface="DejaVu Sans Mono"/>
                <a:hlinkClick r:id="rId4"/>
              </a:rPr>
              <a:t>Spliterator.SIZED</a:t>
            </a:r>
            <a:r>
              <a:rPr lang="en-US" b="0" i="0" dirty="0">
                <a:solidFill>
                  <a:srgbClr val="474747"/>
                </a:solidFill>
                <a:effectLst/>
                <a:latin typeface="DejaVu Serif"/>
              </a:rPr>
              <a:t> and </a:t>
            </a:r>
            <a:r>
              <a:rPr lang="en-US" b="0" i="0" u="none" strike="noStrike" dirty="0" err="1">
                <a:solidFill>
                  <a:srgbClr val="4A6782"/>
                </a:solidFill>
                <a:effectLst/>
                <a:latin typeface="DejaVu Sans Mono"/>
                <a:hlinkClick r:id="rId5"/>
              </a:rPr>
              <a:t>Spliterator.ORDERED</a:t>
            </a:r>
            <a:r>
              <a:rPr lang="en-US" b="0" i="0" dirty="0">
                <a:solidFill>
                  <a:srgbClr val="474747"/>
                </a:solidFill>
                <a:effectLst/>
                <a:latin typeface="DejaVu Serif"/>
              </a:rPr>
              <a:t>. Implementations should document the reporting of additional characteristic values.</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a:rPr>
              <a:t>spliterator</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7"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a:rPr>
              <a:t>spliterator</a:t>
            </a:r>
            <a:r>
              <a:rPr lang="en-US" b="0" i="0" dirty="0">
                <a:solidFill>
                  <a:srgbClr val="353833"/>
                </a:solidFill>
                <a:effectLst/>
                <a:latin typeface="DejaVu Sans Mono"/>
              </a:rPr>
              <a:t> in interface </a:t>
            </a:r>
            <a:r>
              <a:rPr lang="en-US" b="0" i="0" u="none" strike="noStrike" dirty="0" err="1">
                <a:solidFill>
                  <a:srgbClr val="4A6782"/>
                </a:solidFill>
                <a:effectLst/>
                <a:latin typeface="DejaVu Sans Mono"/>
                <a:hlinkClick r:id="rId9" tooltip="interface in java.lang"/>
              </a:rPr>
              <a:t>Iterable</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3" tooltip="type parameter in List"/>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Requirements: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default implementation creates a </a:t>
            </a:r>
            <a:r>
              <a:rPr lang="en-US" b="0" i="1" u="none" strike="noStrike" dirty="0">
                <a:solidFill>
                  <a:srgbClr val="4A6782"/>
                </a:solidFill>
                <a:effectLst/>
                <a:latin typeface="DejaVu Sans Mono"/>
                <a:hlinkClick r:id="rId10"/>
              </a:rPr>
              <a:t>late-binding</a:t>
            </a:r>
            <a:r>
              <a:rPr lang="en-US" b="0" i="0" dirty="0">
                <a:solidFill>
                  <a:srgbClr val="353833"/>
                </a:solidFill>
                <a:effectLst/>
                <a:latin typeface="DejaVu Sans Mono"/>
              </a:rPr>
              <a:t> </a:t>
            </a:r>
            <a:r>
              <a:rPr lang="en-US" b="0" i="0" dirty="0" err="1">
                <a:solidFill>
                  <a:srgbClr val="353833"/>
                </a:solidFill>
                <a:effectLst/>
                <a:latin typeface="DejaVu Sans Mono"/>
              </a:rPr>
              <a:t>spliterator</a:t>
            </a:r>
            <a:r>
              <a:rPr lang="en-US" b="0" i="0" dirty="0">
                <a:solidFill>
                  <a:srgbClr val="353833"/>
                </a:solidFill>
                <a:effectLst/>
                <a:latin typeface="DejaVu Sans Mono"/>
              </a:rPr>
              <a:t> from the list's Iterator. The </a:t>
            </a:r>
            <a:r>
              <a:rPr lang="en-US" b="0" i="0" dirty="0" err="1">
                <a:solidFill>
                  <a:srgbClr val="353833"/>
                </a:solidFill>
                <a:effectLst/>
                <a:latin typeface="DejaVu Sans Mono"/>
              </a:rPr>
              <a:t>spliterator</a:t>
            </a:r>
            <a:r>
              <a:rPr lang="en-US" b="0" i="0" dirty="0">
                <a:solidFill>
                  <a:srgbClr val="353833"/>
                </a:solidFill>
                <a:effectLst/>
                <a:latin typeface="DejaVu Sans Mono"/>
              </a:rPr>
              <a:t> inherits the </a:t>
            </a:r>
            <a:r>
              <a:rPr lang="en-US" b="0" i="1" dirty="0">
                <a:solidFill>
                  <a:srgbClr val="353833"/>
                </a:solidFill>
                <a:effectLst/>
                <a:latin typeface="DejaVu Sans Mono"/>
              </a:rPr>
              <a:t>fail-fast</a:t>
            </a:r>
            <a:r>
              <a:rPr lang="en-US" b="0" i="0" dirty="0">
                <a:solidFill>
                  <a:srgbClr val="353833"/>
                </a:solidFill>
                <a:effectLst/>
                <a:latin typeface="DejaVu Sans Mono"/>
              </a:rPr>
              <a:t> properties of the list's iterator.</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Implementation Note: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created </a:t>
            </a:r>
            <a:r>
              <a:rPr lang="en-US" b="0" i="0" dirty="0" err="1">
                <a:solidFill>
                  <a:srgbClr val="353833"/>
                </a:solidFill>
                <a:effectLst/>
                <a:latin typeface="DejaVu Sans Mono"/>
              </a:rPr>
              <a:t>Spliterator</a:t>
            </a:r>
            <a:r>
              <a:rPr lang="en-US" b="0" i="0" dirty="0">
                <a:solidFill>
                  <a:srgbClr val="353833"/>
                </a:solidFill>
                <a:effectLst/>
                <a:latin typeface="DejaVu Sans Mono"/>
              </a:rPr>
              <a:t> additionally reports </a:t>
            </a:r>
            <a:r>
              <a:rPr lang="en-US" b="0" i="0" u="none" strike="noStrike" dirty="0" err="1">
                <a:solidFill>
                  <a:srgbClr val="4A6782"/>
                </a:solidFill>
                <a:effectLst/>
                <a:latin typeface="DejaVu Sans Mono"/>
                <a:hlinkClick r:id="rId11"/>
              </a:rPr>
              <a:t>Spliterator.SUBSIZED</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a </a:t>
            </a:r>
            <a:r>
              <a:rPr lang="en-US" b="0" i="0" dirty="0" err="1">
                <a:solidFill>
                  <a:srgbClr val="353833"/>
                </a:solidFill>
                <a:effectLst/>
                <a:latin typeface="DejaVu Sans Mono"/>
              </a:rPr>
              <a:t>Spliterator</a:t>
            </a:r>
            <a:r>
              <a:rPr lang="en-US" b="0" i="0" dirty="0">
                <a:solidFill>
                  <a:srgbClr val="353833"/>
                </a:solidFill>
                <a:effectLst/>
                <a:latin typeface="DejaVu Sans Mono"/>
              </a:rPr>
              <a:t> over the elements in this list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Since:</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1.8</a:t>
            </a:r>
          </a:p>
        </p:txBody>
      </p:sp>
    </p:spTree>
    <p:extLst>
      <p:ext uri="{BB962C8B-B14F-4D97-AF65-F5344CB8AC3E}">
        <p14:creationId xmlns:p14="http://schemas.microsoft.com/office/powerpoint/2010/main" val="1871189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C85109-72F6-B0EF-4BF9-739F419EBE4F}"/>
              </a:ext>
            </a:extLst>
          </p:cNvPr>
          <p:cNvSpPr txBox="1"/>
          <p:nvPr/>
        </p:nvSpPr>
        <p:spPr>
          <a:xfrm>
            <a:off x="685800" y="233254"/>
            <a:ext cx="8793480" cy="5006499"/>
          </a:xfrm>
          <a:prstGeom prst="rect">
            <a:avLst/>
          </a:prstGeom>
          <a:noFill/>
        </p:spPr>
        <p:txBody>
          <a:bodyPr wrap="square">
            <a:spAutoFit/>
          </a:bodyPr>
          <a:lstStyle/>
          <a:p>
            <a:pPr algn="l">
              <a:spcBef>
                <a:spcPts val="750"/>
              </a:spcBef>
              <a:spcAft>
                <a:spcPts val="750"/>
              </a:spcAft>
              <a:buNone/>
            </a:pPr>
            <a:r>
              <a:rPr lang="en-US" b="1" i="0" dirty="0">
                <a:solidFill>
                  <a:srgbClr val="2C4557"/>
                </a:solidFill>
                <a:effectLst/>
                <a:latin typeface="DejaVu Sans"/>
              </a:rPr>
              <a:t>Interface Queue&lt;E&gt;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type of elements held in this collection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a:t>
            </a:r>
            <a:r>
              <a:rPr lang="en-US" b="1" i="0" dirty="0" err="1">
                <a:solidFill>
                  <a:srgbClr val="4E4E4E"/>
                </a:solidFill>
                <a:effectLst/>
                <a:latin typeface="DejaVu Sans"/>
              </a:rPr>
              <a:t>Superinterfaces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3" tooltip="interface in java.lang"/>
              </a:rPr>
              <a:t>Iterable</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a:t>
            </a:r>
            <a:r>
              <a:rPr lang="en-US" b="1" i="0" dirty="0" err="1">
                <a:solidFill>
                  <a:srgbClr val="4E4E4E"/>
                </a:solidFill>
                <a:effectLst/>
                <a:latin typeface="DejaVu Sans"/>
              </a:rPr>
              <a:t>Subinterfaces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interface in java.util.concurrent"/>
              </a:rPr>
              <a:t>BlockingDeque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5" tooltip="interface in java.util.concurrent"/>
              </a:rPr>
              <a:t>BlockingQueue</a:t>
            </a:r>
            <a:r>
              <a:rPr lang="en-US" b="0" i="0" dirty="0">
                <a:solidFill>
                  <a:srgbClr val="353833"/>
                </a:solidFill>
                <a:effectLst/>
                <a:latin typeface="DejaVu Sans Mono"/>
              </a:rPr>
              <a:t>&lt;E&gt;, </a:t>
            </a:r>
            <a:r>
              <a:rPr lang="en-US" b="0" i="0" u="none" strike="noStrike" dirty="0">
                <a:solidFill>
                  <a:srgbClr val="4A6782"/>
                </a:solidFill>
                <a:effectLst/>
                <a:latin typeface="DejaVu Sans Mono"/>
                <a:hlinkClick r:id="rId6" tooltip="interface in java.util"/>
              </a:rPr>
              <a:t>Deque</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7" tooltip="interface in java.util.concurrent"/>
              </a:rPr>
              <a:t>TransferQueue</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Implementing Classes: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util"/>
              </a:rPr>
              <a:t>AbstractQueue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9" tooltip="class in java.util.concurrent"/>
              </a:rPr>
              <a:t>ArrayBlockingQueue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0" tooltip="class in java.util"/>
              </a:rPr>
              <a:t>ArrayDeque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1" tooltip="class in java.util.concurrent"/>
              </a:rPr>
              <a:t>ConcurrentLinkedDeque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2" tooltip="class in java.util.concurrent"/>
              </a:rPr>
              <a:t>ConcurrentLinkedQueue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3" tooltip="class in java.util.concurrent"/>
              </a:rPr>
              <a:t>DelayQueue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4" tooltip="class in java.util.concurrent"/>
              </a:rPr>
              <a:t>LinkedBlockingDeque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5" tooltip="class in java.util.concurrent"/>
              </a:rPr>
              <a:t>LinkedBlockingQueue</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6" tooltip="class in java.util"/>
              </a:rPr>
              <a:t>LinkedList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7" tooltip="class in java.util.concurrent"/>
              </a:rPr>
              <a:t>LinkedTransferQueue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8" tooltip="class in java.util.concurrent"/>
              </a:rPr>
              <a:t>PriorityBlockingQueue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9" tooltip="class in java.util"/>
              </a:rPr>
              <a:t>PriorityQueue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0" tooltip="class in java.util.concurrent"/>
              </a:rPr>
              <a:t>SynchronousQueue</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6679459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C350772-4AE0-67AD-1D53-6E0C677C5E48}"/>
              </a:ext>
            </a:extLst>
          </p:cNvPr>
          <p:cNvSpPr txBox="1"/>
          <p:nvPr/>
        </p:nvSpPr>
        <p:spPr>
          <a:xfrm>
            <a:off x="0" y="-853643"/>
            <a:ext cx="4953000" cy="3718967"/>
          </a:xfrm>
          <a:prstGeom prst="rect">
            <a:avLst/>
          </a:prstGeom>
          <a:noFill/>
        </p:spPr>
        <p:txBody>
          <a:bodyPr wrap="square">
            <a:spAutoFit/>
          </a:bodyPr>
          <a:lstStyle/>
          <a:p>
            <a:pPr algn="l">
              <a:buNone/>
            </a:pPr>
            <a:r>
              <a:rPr lang="en-US" b="0" i="0" dirty="0">
                <a:solidFill>
                  <a:srgbClr val="353833"/>
                </a:solidFill>
                <a:effectLst/>
                <a:latin typeface="DejaVu Sans Mono"/>
              </a:rPr>
              <a:t>public interface </a:t>
            </a:r>
            <a:r>
              <a:rPr lang="en-US" b="1" i="0" dirty="0">
                <a:solidFill>
                  <a:srgbClr val="353833"/>
                </a:solidFill>
                <a:effectLst/>
                <a:latin typeface="DejaVu Sans Mono"/>
              </a:rPr>
              <a:t>Queue&lt;E&gt;</a:t>
            </a:r>
            <a:endParaRPr lang="en-US" b="0" i="0" dirty="0">
              <a:solidFill>
                <a:srgbClr val="353833"/>
              </a:solidFill>
              <a:effectLst/>
              <a:latin typeface="DejaVu Sans Mono"/>
            </a:endParaRPr>
          </a:p>
          <a:p>
            <a:pPr algn="l">
              <a:buNone/>
            </a:pPr>
            <a:r>
              <a:rPr lang="en-US" b="0" i="0" dirty="0">
                <a:solidFill>
                  <a:srgbClr val="353833"/>
                </a:solidFill>
                <a:effectLst/>
                <a:latin typeface="DejaVu Sans Mono"/>
              </a:rPr>
              <a:t>extends </a:t>
            </a: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&lt;E&gt;</a:t>
            </a:r>
          </a:p>
          <a:p>
            <a:pPr algn="l">
              <a:spcBef>
                <a:spcPts val="225"/>
              </a:spcBef>
              <a:spcAft>
                <a:spcPts val="150"/>
              </a:spcAft>
              <a:buNone/>
            </a:pPr>
            <a:r>
              <a:rPr lang="en-US" b="0" i="0" dirty="0">
                <a:solidFill>
                  <a:srgbClr val="474747"/>
                </a:solidFill>
                <a:effectLst/>
                <a:latin typeface="DejaVu Serif"/>
              </a:rPr>
              <a:t>A collection designed for holding elements prior to processing. Besides basic </a:t>
            </a:r>
            <a:r>
              <a:rPr lang="en-US" b="0" i="0" u="none" strike="noStrike" dirty="0">
                <a:solidFill>
                  <a:srgbClr val="4A6782"/>
                </a:solidFill>
                <a:effectLst/>
                <a:latin typeface="DejaVu Sans Mono"/>
                <a:hlinkClick r:id="rId2" tooltip="interface in java.util"/>
              </a:rPr>
              <a:t>Collection</a:t>
            </a:r>
            <a:r>
              <a:rPr lang="en-US" b="0" i="0" dirty="0">
                <a:solidFill>
                  <a:srgbClr val="474747"/>
                </a:solidFill>
                <a:effectLst/>
                <a:latin typeface="DejaVu Serif"/>
              </a:rPr>
              <a:t> operations, queues provide additional insertion, extraction, and inspection operations. Each of these methods exists in two forms: one throws an exception if the operation fails, the other returns a special value (either </a:t>
            </a:r>
            <a:r>
              <a:rPr lang="en-US" b="0" i="0" dirty="0">
                <a:solidFill>
                  <a:srgbClr val="474747"/>
                </a:solidFill>
                <a:effectLst/>
                <a:latin typeface="DejaVu Sans Mono"/>
              </a:rPr>
              <a:t>null</a:t>
            </a:r>
            <a:r>
              <a:rPr lang="en-US" b="0" i="0" dirty="0">
                <a:solidFill>
                  <a:srgbClr val="474747"/>
                </a:solidFill>
                <a:effectLst/>
                <a:latin typeface="DejaVu Serif"/>
              </a:rPr>
              <a:t> or </a:t>
            </a:r>
            <a:r>
              <a:rPr lang="en-US" b="0" i="0" dirty="0">
                <a:solidFill>
                  <a:srgbClr val="474747"/>
                </a:solidFill>
                <a:effectLst/>
                <a:latin typeface="DejaVu Sans Mono"/>
              </a:rPr>
              <a:t>false</a:t>
            </a:r>
            <a:r>
              <a:rPr lang="en-US" b="0" i="0" dirty="0">
                <a:solidFill>
                  <a:srgbClr val="474747"/>
                </a:solidFill>
                <a:effectLst/>
                <a:latin typeface="DejaVu Serif"/>
              </a:rPr>
              <a:t>, depending on the operation). The latter form of the insert operation is designed specifically for use with capacity-restricted </a:t>
            </a:r>
            <a:r>
              <a:rPr lang="en-US" b="0" i="0" dirty="0">
                <a:solidFill>
                  <a:srgbClr val="474747"/>
                </a:solidFill>
                <a:effectLst/>
                <a:latin typeface="DejaVu Sans Mono"/>
              </a:rPr>
              <a:t>Queue</a:t>
            </a:r>
            <a:r>
              <a:rPr lang="en-US" b="0" i="0" dirty="0">
                <a:solidFill>
                  <a:srgbClr val="474747"/>
                </a:solidFill>
                <a:effectLst/>
                <a:latin typeface="DejaVu Serif"/>
              </a:rPr>
              <a:t> implementations; in most implementations, insert operations cannot fail.</a:t>
            </a:r>
          </a:p>
        </p:txBody>
      </p:sp>
      <p:graphicFrame>
        <p:nvGraphicFramePr>
          <p:cNvPr id="8" name="Table 7">
            <a:extLst>
              <a:ext uri="{FF2B5EF4-FFF2-40B4-BE49-F238E27FC236}">
                <a16:creationId xmlns:a16="http://schemas.microsoft.com/office/drawing/2014/main" id="{B1B29029-1525-5C0C-5658-CF669D313F1E}"/>
              </a:ext>
            </a:extLst>
          </p:cNvPr>
          <p:cNvGraphicFramePr>
            <a:graphicFrameLocks noGrp="1"/>
          </p:cNvGraphicFramePr>
          <p:nvPr>
            <p:extLst>
              <p:ext uri="{D42A27DB-BD31-4B8C-83A1-F6EECF244321}">
                <p14:modId xmlns:p14="http://schemas.microsoft.com/office/powerpoint/2010/main" val="1725285818"/>
              </p:ext>
            </p:extLst>
          </p:nvPr>
        </p:nvGraphicFramePr>
        <p:xfrm>
          <a:off x="1717358" y="397034"/>
          <a:ext cx="8543925" cy="1600200"/>
        </p:xfrm>
        <a:graphic>
          <a:graphicData uri="http://schemas.openxmlformats.org/drawingml/2006/table">
            <a:tbl>
              <a:tblPr/>
              <a:tblGrid>
                <a:gridCol w="2847975">
                  <a:extLst>
                    <a:ext uri="{9D8B030D-6E8A-4147-A177-3AD203B41FA5}">
                      <a16:colId xmlns:a16="http://schemas.microsoft.com/office/drawing/2014/main" val="3954553807"/>
                    </a:ext>
                  </a:extLst>
                </a:gridCol>
                <a:gridCol w="2847975">
                  <a:extLst>
                    <a:ext uri="{9D8B030D-6E8A-4147-A177-3AD203B41FA5}">
                      <a16:colId xmlns:a16="http://schemas.microsoft.com/office/drawing/2014/main" val="2190141497"/>
                    </a:ext>
                  </a:extLst>
                </a:gridCol>
                <a:gridCol w="2847975">
                  <a:extLst>
                    <a:ext uri="{9D8B030D-6E8A-4147-A177-3AD203B41FA5}">
                      <a16:colId xmlns:a16="http://schemas.microsoft.com/office/drawing/2014/main" val="4156652134"/>
                    </a:ext>
                  </a:extLst>
                </a:gridCol>
              </a:tblGrid>
              <a:tr h="0">
                <a:tc gridSpan="3">
                  <a:txBody>
                    <a:bodyPr/>
                    <a:lstStyle/>
                    <a:p>
                      <a:pPr>
                        <a:buNone/>
                      </a:pPr>
                      <a:r>
                        <a:rPr lang="en-US"/>
                        <a:t>Summary of Queue methods</a:t>
                      </a:r>
                    </a:p>
                  </a:txBody>
                  <a:tcPr marL="22860" marR="22860" marT="22860" marB="22860" anchor="ctr">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3186312"/>
                  </a:ext>
                </a:extLst>
              </a:tr>
              <a:tr h="0">
                <a:tc>
                  <a:txBody>
                    <a:bodyPr/>
                    <a:lstStyle/>
                    <a:p>
                      <a:pPr>
                        <a:buNone/>
                      </a:pPr>
                      <a:endParaRPr lang="en-US"/>
                    </a:p>
                  </a:txBody>
                  <a:tcPr marL="22860" marR="22860" marT="22860" marB="22860" anchor="ctr">
                    <a:lnL>
                      <a:noFill/>
                    </a:lnL>
                    <a:lnR>
                      <a:noFill/>
                    </a:lnR>
                    <a:lnB>
                      <a:noFill/>
                    </a:lnB>
                    <a:solidFill>
                      <a:srgbClr val="FFFFFF"/>
                    </a:solidFill>
                  </a:tcPr>
                </a:tc>
                <a:tc>
                  <a:txBody>
                    <a:bodyPr/>
                    <a:lstStyle/>
                    <a:p>
                      <a:pPr algn="ctr">
                        <a:buNone/>
                      </a:pPr>
                      <a:r>
                        <a:rPr lang="en-US" i="1"/>
                        <a:t>Throws exception</a:t>
                      </a:r>
                      <a:endParaRPr lang="en-US"/>
                    </a:p>
                  </a:txBody>
                  <a:tcPr marL="22860" marR="22860" marT="22860" marB="22860" anchor="ctr">
                    <a:lnL>
                      <a:noFill/>
                    </a:lnL>
                    <a:lnR>
                      <a:noFill/>
                    </a:lnR>
                    <a:lnT>
                      <a:noFill/>
                    </a:lnT>
                    <a:lnB>
                      <a:noFill/>
                    </a:lnB>
                    <a:solidFill>
                      <a:srgbClr val="FFFFFF"/>
                    </a:solidFill>
                  </a:tcPr>
                </a:tc>
                <a:tc>
                  <a:txBody>
                    <a:bodyPr/>
                    <a:lstStyle/>
                    <a:p>
                      <a:pPr algn="ctr">
                        <a:buNone/>
                      </a:pPr>
                      <a:r>
                        <a:rPr lang="en-US" i="1"/>
                        <a:t>Returns special value</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958888507"/>
                  </a:ext>
                </a:extLst>
              </a:tr>
              <a:tr h="0">
                <a:tc>
                  <a:txBody>
                    <a:bodyPr/>
                    <a:lstStyle/>
                    <a:p>
                      <a:pPr>
                        <a:buNone/>
                      </a:pPr>
                      <a:r>
                        <a:rPr lang="en-US" b="1"/>
                        <a:t>Insert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3"/>
                        </a:rPr>
                        <a:t>add(e)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4"/>
                        </a:rPr>
                        <a:t>offer(e)</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262958331"/>
                  </a:ext>
                </a:extLst>
              </a:tr>
              <a:tr h="0">
                <a:tc>
                  <a:txBody>
                    <a:bodyPr/>
                    <a:lstStyle/>
                    <a:p>
                      <a:pPr>
                        <a:buNone/>
                      </a:pPr>
                      <a:r>
                        <a:rPr lang="en-US" b="1"/>
                        <a:t>Remove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5"/>
                        </a:rPr>
                        <a:t>remove()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6"/>
                        </a:rPr>
                        <a:t>poll()</a:t>
                      </a:r>
                      <a:endParaRPr lang="en-US"/>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724342750"/>
                  </a:ext>
                </a:extLst>
              </a:tr>
              <a:tr h="0">
                <a:tc>
                  <a:txBody>
                    <a:bodyPr/>
                    <a:lstStyle/>
                    <a:p>
                      <a:pPr>
                        <a:buNone/>
                      </a:pPr>
                      <a:r>
                        <a:rPr lang="en-US" b="1"/>
                        <a:t>Examine</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a:solidFill>
                            <a:srgbClr val="4A6782"/>
                          </a:solidFill>
                          <a:effectLst/>
                          <a:latin typeface="DejaVu Sans Mono"/>
                          <a:hlinkClick r:id="rId7"/>
                        </a:rPr>
                        <a:t>element()</a:t>
                      </a:r>
                      <a:endParaRPr lang="en-US"/>
                    </a:p>
                  </a:txBody>
                  <a:tcPr marL="22860" marR="22860" marT="22860" marB="22860" anchor="ctr">
                    <a:lnL>
                      <a:noFill/>
                    </a:lnL>
                    <a:lnR>
                      <a:noFill/>
                    </a:lnR>
                    <a:lnT>
                      <a:noFill/>
                    </a:lnT>
                    <a:lnB>
                      <a:noFill/>
                    </a:lnB>
                    <a:solidFill>
                      <a:srgbClr val="FFFFFF"/>
                    </a:solidFill>
                  </a:tcPr>
                </a:tc>
                <a:tc>
                  <a:txBody>
                    <a:bodyPr/>
                    <a:lstStyle/>
                    <a:p>
                      <a:pPr>
                        <a:buNone/>
                      </a:pPr>
                      <a:r>
                        <a:rPr lang="en-US" u="none" strike="noStrike" dirty="0">
                          <a:solidFill>
                            <a:srgbClr val="4A6782"/>
                          </a:solidFill>
                          <a:effectLst/>
                          <a:latin typeface="DejaVu Sans Mono"/>
                          <a:hlinkClick r:id="rId8"/>
                        </a:rPr>
                        <a:t>peek()</a:t>
                      </a:r>
                      <a:endParaRPr lang="en-US" dirty="0"/>
                    </a:p>
                  </a:txBody>
                  <a:tcPr marL="22860" marR="22860" marT="22860" marB="22860" anchor="ctr">
                    <a:lnL>
                      <a:noFill/>
                    </a:lnL>
                    <a:lnR>
                      <a:noFill/>
                    </a:lnR>
                    <a:lnT>
                      <a:noFill/>
                    </a:lnT>
                    <a:lnB>
                      <a:noFill/>
                    </a:lnB>
                    <a:solidFill>
                      <a:srgbClr val="FFFFFF"/>
                    </a:solidFill>
                  </a:tcPr>
                </a:tc>
                <a:extLst>
                  <a:ext uri="{0D108BD9-81ED-4DB2-BD59-A6C34878D82A}">
                    <a16:rowId xmlns:a16="http://schemas.microsoft.com/office/drawing/2014/main" val="135521412"/>
                  </a:ext>
                </a:extLst>
              </a:tr>
            </a:tbl>
          </a:graphicData>
        </a:graphic>
      </p:graphicFrame>
      <p:sp>
        <p:nvSpPr>
          <p:cNvPr id="9" name="Rectangle 2">
            <a:extLst>
              <a:ext uri="{FF2B5EF4-FFF2-40B4-BE49-F238E27FC236}">
                <a16:creationId xmlns:a16="http://schemas.microsoft.com/office/drawing/2014/main" id="{58B70ACA-8F11-1CA0-83A5-888DB64BFFF4}"/>
              </a:ext>
            </a:extLst>
          </p:cNvPr>
          <p:cNvSpPr>
            <a:spLocks noChangeArrowheads="1"/>
          </p:cNvSpPr>
          <p:nvPr/>
        </p:nvSpPr>
        <p:spPr bwMode="auto">
          <a:xfrm>
            <a:off x="1717358" y="397828"/>
            <a:ext cx="990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1216B9F1-F4F1-E6D5-CD05-A7F35DA9D77E}"/>
              </a:ext>
            </a:extLst>
          </p:cNvPr>
          <p:cNvSpPr txBox="1"/>
          <p:nvPr/>
        </p:nvSpPr>
        <p:spPr>
          <a:xfrm>
            <a:off x="0" y="2865324"/>
            <a:ext cx="10744200" cy="9751387"/>
          </a:xfrm>
          <a:prstGeom prst="rect">
            <a:avLst/>
          </a:prstGeom>
          <a:noFill/>
        </p:spPr>
        <p:txBody>
          <a:bodyPr wrap="square">
            <a:spAutoFit/>
          </a:bodyPr>
          <a:lstStyle/>
          <a:p>
            <a:pPr algn="l">
              <a:spcBef>
                <a:spcPts val="225"/>
              </a:spcBef>
              <a:spcAft>
                <a:spcPts val="150"/>
              </a:spcAft>
              <a:buNone/>
            </a:pPr>
            <a:r>
              <a:rPr lang="en-US" b="0" i="0" dirty="0">
                <a:solidFill>
                  <a:srgbClr val="474747"/>
                </a:solidFill>
                <a:effectLst/>
                <a:latin typeface="DejaVu Serif"/>
              </a:rPr>
              <a:t>Queues typically, but do not necessarily, order elements in a FIFO (first-in-first-out) manner. Among the exceptions are priority queues, which order elements according to a supplied comparator, or the elements' natural ordering, and LIFO queues (or stacks) which order the elements LIFO (last-in-first-out). Whatever the ordering used, the </a:t>
            </a:r>
            <a:r>
              <a:rPr lang="en-US" b="0" i="1" dirty="0">
                <a:solidFill>
                  <a:srgbClr val="474747"/>
                </a:solidFill>
                <a:effectLst/>
                <a:latin typeface="DejaVu Serif"/>
              </a:rPr>
              <a:t>head</a:t>
            </a:r>
            <a:r>
              <a:rPr lang="en-US" b="0" i="0" dirty="0">
                <a:solidFill>
                  <a:srgbClr val="474747"/>
                </a:solidFill>
                <a:effectLst/>
                <a:latin typeface="DejaVu Serif"/>
              </a:rPr>
              <a:t> of the queue is that element which would be removed by a call to </a:t>
            </a:r>
            <a:r>
              <a:rPr lang="en-US" b="0" i="0" u="none" strike="noStrike" dirty="0">
                <a:solidFill>
                  <a:srgbClr val="4A6782"/>
                </a:solidFill>
                <a:effectLst/>
                <a:latin typeface="DejaVu Sans Mono"/>
                <a:hlinkClick r:id="rId5"/>
              </a:rPr>
              <a:t>remove()</a:t>
            </a:r>
            <a:r>
              <a:rPr lang="en-US" b="0" i="0" dirty="0">
                <a:solidFill>
                  <a:srgbClr val="474747"/>
                </a:solidFill>
                <a:effectLst/>
                <a:latin typeface="DejaVu Serif"/>
              </a:rPr>
              <a:t> or </a:t>
            </a:r>
            <a:r>
              <a:rPr lang="en-US" b="0" i="0" u="none" strike="noStrike" dirty="0">
                <a:solidFill>
                  <a:srgbClr val="4A6782"/>
                </a:solidFill>
                <a:effectLst/>
                <a:latin typeface="DejaVu Sans Mono"/>
                <a:hlinkClick r:id="rId6"/>
              </a:rPr>
              <a:t>poll()</a:t>
            </a:r>
            <a:r>
              <a:rPr lang="en-US" b="0" i="0" dirty="0">
                <a:solidFill>
                  <a:srgbClr val="474747"/>
                </a:solidFill>
                <a:effectLst/>
                <a:latin typeface="DejaVu Serif"/>
              </a:rPr>
              <a:t>. In a FIFO queue, all new elements are inserted at the </a:t>
            </a:r>
            <a:r>
              <a:rPr lang="en-US" b="0" i="1" dirty="0">
                <a:solidFill>
                  <a:srgbClr val="474747"/>
                </a:solidFill>
                <a:effectLst/>
                <a:latin typeface="DejaVu Serif"/>
              </a:rPr>
              <a:t>tail</a:t>
            </a:r>
            <a:r>
              <a:rPr lang="en-US" b="0" i="0" dirty="0">
                <a:solidFill>
                  <a:srgbClr val="474747"/>
                </a:solidFill>
                <a:effectLst/>
                <a:latin typeface="DejaVu Serif"/>
              </a:rPr>
              <a:t> of the queue. Other kinds of queues may use different placement rules. Every </a:t>
            </a:r>
            <a:r>
              <a:rPr lang="en-US" b="0" i="0" dirty="0">
                <a:solidFill>
                  <a:srgbClr val="474747"/>
                </a:solidFill>
                <a:effectLst/>
                <a:latin typeface="DejaVu Sans Mono"/>
              </a:rPr>
              <a:t>Queue</a:t>
            </a:r>
            <a:r>
              <a:rPr lang="en-US" b="0" i="0" dirty="0">
                <a:solidFill>
                  <a:srgbClr val="474747"/>
                </a:solidFill>
                <a:effectLst/>
                <a:latin typeface="DejaVu Serif"/>
              </a:rPr>
              <a:t> implementation must specify its ordering properties.</a:t>
            </a:r>
          </a:p>
          <a:p>
            <a:pPr algn="l">
              <a:spcBef>
                <a:spcPts val="225"/>
              </a:spcBef>
              <a:spcAft>
                <a:spcPts val="150"/>
              </a:spcAft>
              <a:buNone/>
            </a:pPr>
            <a:r>
              <a:rPr lang="en-US" b="0" i="0" dirty="0">
                <a:solidFill>
                  <a:srgbClr val="474747"/>
                </a:solidFill>
                <a:effectLst/>
                <a:latin typeface="DejaVu Serif"/>
              </a:rPr>
              <a:t>The </a:t>
            </a:r>
            <a:r>
              <a:rPr lang="en-US" b="0" i="0" u="none" strike="noStrike" dirty="0">
                <a:solidFill>
                  <a:srgbClr val="4A6782"/>
                </a:solidFill>
                <a:effectLst/>
                <a:latin typeface="DejaVu Sans Mono"/>
                <a:hlinkClick r:id="rId4"/>
              </a:rPr>
              <a:t>offer</a:t>
            </a:r>
            <a:r>
              <a:rPr lang="en-US" b="0" i="0" dirty="0">
                <a:solidFill>
                  <a:srgbClr val="474747"/>
                </a:solidFill>
                <a:effectLst/>
                <a:latin typeface="DejaVu Serif"/>
              </a:rPr>
              <a:t> method inserts an element if possible, otherwise returning </a:t>
            </a:r>
            <a:r>
              <a:rPr lang="en-US" b="0" i="0" dirty="0">
                <a:solidFill>
                  <a:srgbClr val="474747"/>
                </a:solidFill>
                <a:effectLst/>
                <a:latin typeface="DejaVu Sans Mono"/>
              </a:rPr>
              <a:t>false</a:t>
            </a:r>
            <a:r>
              <a:rPr lang="en-US" b="0" i="0" dirty="0">
                <a:solidFill>
                  <a:srgbClr val="474747"/>
                </a:solidFill>
                <a:effectLst/>
                <a:latin typeface="DejaVu Serif"/>
              </a:rPr>
              <a:t>. This differs from the </a:t>
            </a:r>
            <a:r>
              <a:rPr lang="en-US" b="0" i="0" u="none" strike="noStrike" dirty="0" err="1">
                <a:solidFill>
                  <a:srgbClr val="4A6782"/>
                </a:solidFill>
                <a:effectLst/>
                <a:latin typeface="DejaVu Sans Mono"/>
                <a:hlinkClick r:id="rId9"/>
              </a:rPr>
              <a:t>Collection.add</a:t>
            </a:r>
            <a:r>
              <a:rPr lang="en-US" b="0" i="0" dirty="0">
                <a:solidFill>
                  <a:srgbClr val="474747"/>
                </a:solidFill>
                <a:effectLst/>
                <a:latin typeface="DejaVu Serif"/>
              </a:rPr>
              <a:t> method, which can fail to add an element only by throwing an unchecked exception. The </a:t>
            </a:r>
            <a:r>
              <a:rPr lang="en-US" b="0" i="0" dirty="0">
                <a:solidFill>
                  <a:srgbClr val="474747"/>
                </a:solidFill>
                <a:effectLst/>
                <a:latin typeface="DejaVu Sans Mono"/>
              </a:rPr>
              <a:t>offer</a:t>
            </a:r>
            <a:r>
              <a:rPr lang="en-US" b="0" i="0" dirty="0">
                <a:solidFill>
                  <a:srgbClr val="474747"/>
                </a:solidFill>
                <a:effectLst/>
                <a:latin typeface="DejaVu Serif"/>
              </a:rPr>
              <a:t> method is designed for use when failure is a normal, rather than exceptional occurrence, for example, in fixed-capacity (or "bounded") queues.</a:t>
            </a:r>
          </a:p>
          <a:p>
            <a:pPr algn="l">
              <a:spcBef>
                <a:spcPts val="225"/>
              </a:spcBef>
              <a:spcAft>
                <a:spcPts val="150"/>
              </a:spcAft>
              <a:buNone/>
            </a:pPr>
            <a:r>
              <a:rPr lang="en-US" b="0" i="0" dirty="0">
                <a:solidFill>
                  <a:srgbClr val="474747"/>
                </a:solidFill>
                <a:effectLst/>
                <a:latin typeface="DejaVu Serif"/>
              </a:rPr>
              <a:t>The </a:t>
            </a:r>
            <a:r>
              <a:rPr lang="en-US" b="0" i="0" u="none" strike="noStrike" dirty="0">
                <a:solidFill>
                  <a:srgbClr val="4A6782"/>
                </a:solidFill>
                <a:effectLst/>
                <a:latin typeface="DejaVu Sans Mono"/>
                <a:hlinkClick r:id="rId5"/>
              </a:rPr>
              <a:t>remove()</a:t>
            </a:r>
            <a:r>
              <a:rPr lang="en-US" b="0" i="0" dirty="0">
                <a:solidFill>
                  <a:srgbClr val="474747"/>
                </a:solidFill>
                <a:effectLst/>
                <a:latin typeface="DejaVu Serif"/>
              </a:rPr>
              <a:t> and </a:t>
            </a:r>
            <a:r>
              <a:rPr lang="en-US" b="0" i="0" u="none" strike="noStrike" dirty="0">
                <a:solidFill>
                  <a:srgbClr val="4A6782"/>
                </a:solidFill>
                <a:effectLst/>
                <a:latin typeface="DejaVu Sans Mono"/>
                <a:hlinkClick r:id="rId6"/>
              </a:rPr>
              <a:t>poll()</a:t>
            </a:r>
            <a:r>
              <a:rPr lang="en-US" b="0" i="0" dirty="0">
                <a:solidFill>
                  <a:srgbClr val="474747"/>
                </a:solidFill>
                <a:effectLst/>
                <a:latin typeface="DejaVu Serif"/>
              </a:rPr>
              <a:t> methods remove and return the head of the queue. Exactly which element is removed from the queue is a function of the queue's ordering policy, which differs from implementation to implementation. The </a:t>
            </a:r>
            <a:r>
              <a:rPr lang="en-US" b="0" i="0" dirty="0">
                <a:solidFill>
                  <a:srgbClr val="474747"/>
                </a:solidFill>
                <a:effectLst/>
                <a:latin typeface="DejaVu Sans Mono"/>
              </a:rPr>
              <a:t>remove()</a:t>
            </a:r>
            <a:r>
              <a:rPr lang="en-US" b="0" i="0" dirty="0">
                <a:solidFill>
                  <a:srgbClr val="474747"/>
                </a:solidFill>
                <a:effectLst/>
                <a:latin typeface="DejaVu Serif"/>
              </a:rPr>
              <a:t> and </a:t>
            </a:r>
            <a:r>
              <a:rPr lang="en-US" b="0" i="0" dirty="0">
                <a:solidFill>
                  <a:srgbClr val="474747"/>
                </a:solidFill>
                <a:effectLst/>
                <a:latin typeface="DejaVu Sans Mono"/>
              </a:rPr>
              <a:t>poll()</a:t>
            </a:r>
            <a:r>
              <a:rPr lang="en-US" b="0" i="0" dirty="0">
                <a:solidFill>
                  <a:srgbClr val="474747"/>
                </a:solidFill>
                <a:effectLst/>
                <a:latin typeface="DejaVu Serif"/>
              </a:rPr>
              <a:t> methods differ only in their behavior when the queue is empty: the </a:t>
            </a:r>
            <a:r>
              <a:rPr lang="en-US" b="0" i="0" dirty="0">
                <a:solidFill>
                  <a:srgbClr val="474747"/>
                </a:solidFill>
                <a:effectLst/>
                <a:latin typeface="DejaVu Sans Mono"/>
              </a:rPr>
              <a:t>remove()</a:t>
            </a:r>
            <a:r>
              <a:rPr lang="en-US" b="0" i="0" dirty="0">
                <a:solidFill>
                  <a:srgbClr val="474747"/>
                </a:solidFill>
                <a:effectLst/>
                <a:latin typeface="DejaVu Serif"/>
              </a:rPr>
              <a:t> method throws an exception, while the </a:t>
            </a:r>
            <a:r>
              <a:rPr lang="en-US" b="0" i="0" dirty="0">
                <a:solidFill>
                  <a:srgbClr val="474747"/>
                </a:solidFill>
                <a:effectLst/>
                <a:latin typeface="DejaVu Sans Mono"/>
              </a:rPr>
              <a:t>poll()</a:t>
            </a:r>
            <a:r>
              <a:rPr lang="en-US" b="0" i="0" dirty="0">
                <a:solidFill>
                  <a:srgbClr val="474747"/>
                </a:solidFill>
                <a:effectLst/>
                <a:latin typeface="DejaVu Serif"/>
              </a:rPr>
              <a:t> method returns </a:t>
            </a:r>
            <a:r>
              <a:rPr lang="en-US" b="0" i="0" dirty="0">
                <a:solidFill>
                  <a:srgbClr val="474747"/>
                </a:solidFill>
                <a:effectLst/>
                <a:latin typeface="DejaVu Sans Mono"/>
              </a:rPr>
              <a:t>null</a:t>
            </a:r>
            <a:r>
              <a:rPr lang="en-US" b="0" i="0" dirty="0">
                <a:solidFill>
                  <a:srgbClr val="474747"/>
                </a:solidFill>
                <a:effectLst/>
                <a:latin typeface="DejaVu Serif"/>
              </a:rPr>
              <a:t>.</a:t>
            </a:r>
          </a:p>
          <a:p>
            <a:pPr algn="l">
              <a:spcBef>
                <a:spcPts val="225"/>
              </a:spcBef>
              <a:spcAft>
                <a:spcPts val="150"/>
              </a:spcAft>
              <a:buNone/>
            </a:pPr>
            <a:r>
              <a:rPr lang="en-US" b="0" i="0" dirty="0">
                <a:solidFill>
                  <a:srgbClr val="474747"/>
                </a:solidFill>
                <a:effectLst/>
                <a:latin typeface="DejaVu Serif"/>
              </a:rPr>
              <a:t>The </a:t>
            </a:r>
            <a:r>
              <a:rPr lang="en-US" b="0" i="0" u="none" strike="noStrike" dirty="0">
                <a:solidFill>
                  <a:srgbClr val="4A6782"/>
                </a:solidFill>
                <a:effectLst/>
                <a:latin typeface="DejaVu Sans Mono"/>
                <a:hlinkClick r:id="rId7"/>
              </a:rPr>
              <a:t>element()</a:t>
            </a:r>
            <a:r>
              <a:rPr lang="en-US" b="0" i="0" dirty="0">
                <a:solidFill>
                  <a:srgbClr val="474747"/>
                </a:solidFill>
                <a:effectLst/>
                <a:latin typeface="DejaVu Serif"/>
              </a:rPr>
              <a:t> and </a:t>
            </a:r>
            <a:r>
              <a:rPr lang="en-US" b="0" i="0" u="none" strike="noStrike" dirty="0">
                <a:solidFill>
                  <a:srgbClr val="4A6782"/>
                </a:solidFill>
                <a:effectLst/>
                <a:latin typeface="DejaVu Sans Mono"/>
                <a:hlinkClick r:id="rId8"/>
              </a:rPr>
              <a:t>peek()</a:t>
            </a:r>
            <a:r>
              <a:rPr lang="en-US" b="0" i="0" dirty="0">
                <a:solidFill>
                  <a:srgbClr val="474747"/>
                </a:solidFill>
                <a:effectLst/>
                <a:latin typeface="DejaVu Serif"/>
              </a:rPr>
              <a:t> methods return, but do not remove, the head of the queue.</a:t>
            </a:r>
          </a:p>
          <a:p>
            <a:pPr algn="l">
              <a:spcBef>
                <a:spcPts val="225"/>
              </a:spcBef>
              <a:spcAft>
                <a:spcPts val="150"/>
              </a:spcAft>
              <a:buNone/>
            </a:pPr>
            <a:r>
              <a:rPr lang="en-US" b="0" i="0" dirty="0">
                <a:solidFill>
                  <a:srgbClr val="474747"/>
                </a:solidFill>
                <a:effectLst/>
                <a:latin typeface="DejaVu Serif"/>
              </a:rPr>
              <a:t>The </a:t>
            </a:r>
            <a:r>
              <a:rPr lang="en-US" b="0" i="0" dirty="0">
                <a:solidFill>
                  <a:srgbClr val="474747"/>
                </a:solidFill>
                <a:effectLst/>
                <a:latin typeface="DejaVu Sans Mono"/>
              </a:rPr>
              <a:t>Queue</a:t>
            </a:r>
            <a:r>
              <a:rPr lang="en-US" b="0" i="0" dirty="0">
                <a:solidFill>
                  <a:srgbClr val="474747"/>
                </a:solidFill>
                <a:effectLst/>
                <a:latin typeface="DejaVu Serif"/>
              </a:rPr>
              <a:t> interface does not define the </a:t>
            </a:r>
            <a:r>
              <a:rPr lang="en-US" b="0" i="1" dirty="0">
                <a:solidFill>
                  <a:srgbClr val="474747"/>
                </a:solidFill>
                <a:effectLst/>
                <a:latin typeface="DejaVu Serif"/>
              </a:rPr>
              <a:t>blocking queue methods</a:t>
            </a:r>
            <a:r>
              <a:rPr lang="en-US" b="0" i="0" dirty="0">
                <a:solidFill>
                  <a:srgbClr val="474747"/>
                </a:solidFill>
                <a:effectLst/>
                <a:latin typeface="DejaVu Serif"/>
              </a:rPr>
              <a:t>, which are common in concurrent programming. These methods, which wait for elements to appear or for space to become available, are defined in the </a:t>
            </a:r>
            <a:r>
              <a:rPr lang="en-US" b="0" i="0" u="none" strike="noStrike" dirty="0">
                <a:solidFill>
                  <a:srgbClr val="4A6782"/>
                </a:solidFill>
                <a:effectLst/>
                <a:latin typeface="DejaVu Sans Mono"/>
                <a:hlinkClick r:id="rId10" tooltip="interface in java.util.concurrent"/>
              </a:rPr>
              <a:t>BlockingQueue</a:t>
            </a:r>
            <a:r>
              <a:rPr lang="en-US" b="0" i="0" dirty="0">
                <a:solidFill>
                  <a:srgbClr val="474747"/>
                </a:solidFill>
                <a:effectLst/>
                <a:latin typeface="DejaVu Serif"/>
              </a:rPr>
              <a:t> interface, which extends this interface.</a:t>
            </a:r>
          </a:p>
          <a:p>
            <a:pPr algn="l">
              <a:spcBef>
                <a:spcPts val="225"/>
              </a:spcBef>
              <a:spcAft>
                <a:spcPts val="150"/>
              </a:spcAft>
              <a:buNone/>
            </a:pPr>
            <a:r>
              <a:rPr lang="en-US" b="0" i="0" dirty="0">
                <a:solidFill>
                  <a:srgbClr val="474747"/>
                </a:solidFill>
                <a:effectLst/>
                <a:latin typeface="DejaVu Sans Mono"/>
              </a:rPr>
              <a:t>Queue</a:t>
            </a:r>
            <a:r>
              <a:rPr lang="en-US" b="0" i="0" dirty="0">
                <a:solidFill>
                  <a:srgbClr val="474747"/>
                </a:solidFill>
                <a:effectLst/>
                <a:latin typeface="DejaVu Serif"/>
              </a:rPr>
              <a:t> implementations generally do not allow insertion of </a:t>
            </a:r>
            <a:r>
              <a:rPr lang="en-US" b="0" i="0" dirty="0">
                <a:solidFill>
                  <a:srgbClr val="474747"/>
                </a:solidFill>
                <a:effectLst/>
                <a:latin typeface="DejaVu Sans Mono"/>
              </a:rPr>
              <a:t>null</a:t>
            </a:r>
            <a:r>
              <a:rPr lang="en-US" b="0" i="0" dirty="0">
                <a:solidFill>
                  <a:srgbClr val="474747"/>
                </a:solidFill>
                <a:effectLst/>
                <a:latin typeface="DejaVu Serif"/>
              </a:rPr>
              <a:t> elements, although some implementations, such as </a:t>
            </a:r>
            <a:r>
              <a:rPr lang="en-US" b="0" i="0" u="none" strike="noStrike" dirty="0">
                <a:solidFill>
                  <a:srgbClr val="4A6782"/>
                </a:solidFill>
                <a:effectLst/>
                <a:latin typeface="DejaVu Sans Mono"/>
                <a:hlinkClick r:id="rId11" tooltip="class in java.util"/>
              </a:rPr>
              <a:t>LinkedList</a:t>
            </a:r>
            <a:r>
              <a:rPr lang="en-US" b="0" i="0" dirty="0">
                <a:solidFill>
                  <a:srgbClr val="474747"/>
                </a:solidFill>
                <a:effectLst/>
                <a:latin typeface="DejaVu Serif"/>
              </a:rPr>
              <a:t>, do not prohibit insertion of </a:t>
            </a:r>
            <a:r>
              <a:rPr lang="en-US" b="0" i="0" dirty="0">
                <a:solidFill>
                  <a:srgbClr val="474747"/>
                </a:solidFill>
                <a:effectLst/>
                <a:latin typeface="DejaVu Sans Mono"/>
              </a:rPr>
              <a:t>null</a:t>
            </a:r>
            <a:r>
              <a:rPr lang="en-US" b="0" i="0" dirty="0">
                <a:solidFill>
                  <a:srgbClr val="474747"/>
                </a:solidFill>
                <a:effectLst/>
                <a:latin typeface="DejaVu Serif"/>
              </a:rPr>
              <a:t>. Even in the implementations that permit it, </a:t>
            </a:r>
            <a:r>
              <a:rPr lang="en-US" b="0" i="0" dirty="0">
                <a:solidFill>
                  <a:srgbClr val="474747"/>
                </a:solidFill>
                <a:effectLst/>
                <a:latin typeface="DejaVu Sans Mono"/>
              </a:rPr>
              <a:t>null</a:t>
            </a:r>
            <a:r>
              <a:rPr lang="en-US" b="0" i="0" dirty="0">
                <a:solidFill>
                  <a:srgbClr val="474747"/>
                </a:solidFill>
                <a:effectLst/>
                <a:latin typeface="DejaVu Serif"/>
              </a:rPr>
              <a:t> should not be inserted into a </a:t>
            </a:r>
            <a:r>
              <a:rPr lang="en-US" b="0" i="0" dirty="0">
                <a:solidFill>
                  <a:srgbClr val="474747"/>
                </a:solidFill>
                <a:effectLst/>
                <a:latin typeface="DejaVu Sans Mono"/>
              </a:rPr>
              <a:t>Queue</a:t>
            </a:r>
            <a:r>
              <a:rPr lang="en-US" b="0" i="0" dirty="0">
                <a:solidFill>
                  <a:srgbClr val="474747"/>
                </a:solidFill>
                <a:effectLst/>
                <a:latin typeface="DejaVu Serif"/>
              </a:rPr>
              <a:t>, as </a:t>
            </a:r>
            <a:r>
              <a:rPr lang="en-US" b="0" i="0" dirty="0">
                <a:solidFill>
                  <a:srgbClr val="474747"/>
                </a:solidFill>
                <a:effectLst/>
                <a:latin typeface="DejaVu Sans Mono"/>
              </a:rPr>
              <a:t>null</a:t>
            </a:r>
            <a:r>
              <a:rPr lang="en-US" b="0" i="0" dirty="0">
                <a:solidFill>
                  <a:srgbClr val="474747"/>
                </a:solidFill>
                <a:effectLst/>
                <a:latin typeface="DejaVu Serif"/>
              </a:rPr>
              <a:t> is also used as a special return value by the </a:t>
            </a:r>
            <a:r>
              <a:rPr lang="en-US" b="0" i="0" dirty="0">
                <a:solidFill>
                  <a:srgbClr val="474747"/>
                </a:solidFill>
                <a:effectLst/>
                <a:latin typeface="DejaVu Sans Mono"/>
              </a:rPr>
              <a:t>poll</a:t>
            </a:r>
            <a:r>
              <a:rPr lang="en-US" b="0" i="0" dirty="0">
                <a:solidFill>
                  <a:srgbClr val="474747"/>
                </a:solidFill>
                <a:effectLst/>
                <a:latin typeface="DejaVu Serif"/>
              </a:rPr>
              <a:t> method to indicate that the queue contains no elements.</a:t>
            </a:r>
          </a:p>
          <a:p>
            <a:pPr algn="l">
              <a:spcBef>
                <a:spcPts val="225"/>
              </a:spcBef>
              <a:spcAft>
                <a:spcPts val="150"/>
              </a:spcAft>
              <a:buNone/>
            </a:pPr>
            <a:r>
              <a:rPr lang="en-US" b="0" i="0" dirty="0">
                <a:solidFill>
                  <a:srgbClr val="474747"/>
                </a:solidFill>
                <a:effectLst/>
                <a:latin typeface="DejaVu Sans Mono"/>
              </a:rPr>
              <a:t>Queue</a:t>
            </a:r>
            <a:r>
              <a:rPr lang="en-US" b="0" i="0" dirty="0">
                <a:solidFill>
                  <a:srgbClr val="474747"/>
                </a:solidFill>
                <a:effectLst/>
                <a:latin typeface="DejaVu Serif"/>
              </a:rPr>
              <a:t> implementations generally do not define element-based versions of methods </a:t>
            </a:r>
            <a:r>
              <a:rPr lang="en-US" b="0" i="0" dirty="0">
                <a:solidFill>
                  <a:srgbClr val="474747"/>
                </a:solidFill>
                <a:effectLst/>
                <a:latin typeface="DejaVu Sans Mono"/>
              </a:rPr>
              <a:t>equals</a:t>
            </a:r>
            <a:r>
              <a:rPr lang="en-US" b="0" i="0" dirty="0">
                <a:solidFill>
                  <a:srgbClr val="474747"/>
                </a:solidFill>
                <a:effectLst/>
                <a:latin typeface="DejaVu Serif"/>
              </a:rPr>
              <a:t> and </a:t>
            </a:r>
            <a:r>
              <a:rPr lang="en-US" b="0" i="0" dirty="0" err="1">
                <a:solidFill>
                  <a:srgbClr val="474747"/>
                </a:solidFill>
                <a:effectLst/>
                <a:latin typeface="DejaVu Sans Mono"/>
              </a:rPr>
              <a:t>hashCode</a:t>
            </a:r>
            <a:r>
              <a:rPr lang="en-US" b="0" i="0" dirty="0">
                <a:solidFill>
                  <a:srgbClr val="474747"/>
                </a:solidFill>
                <a:effectLst/>
                <a:latin typeface="DejaVu Serif"/>
              </a:rPr>
              <a:t> but instead inherit the identity based versions from class </a:t>
            </a:r>
            <a:r>
              <a:rPr lang="en-US" b="0" i="0" dirty="0">
                <a:solidFill>
                  <a:srgbClr val="474747"/>
                </a:solidFill>
                <a:effectLst/>
                <a:latin typeface="DejaVu Sans Mono"/>
              </a:rPr>
              <a:t>Object</a:t>
            </a:r>
            <a:r>
              <a:rPr lang="en-US" b="0" i="0" dirty="0">
                <a:solidFill>
                  <a:srgbClr val="474747"/>
                </a:solidFill>
                <a:effectLst/>
                <a:latin typeface="DejaVu Serif"/>
              </a:rPr>
              <a:t>, because element-based equality is not always well-defined for queues with the same elements but different ordering properties.</a:t>
            </a:r>
          </a:p>
          <a:p>
            <a:pPr algn="l">
              <a:spcBef>
                <a:spcPts val="225"/>
              </a:spcBef>
              <a:spcAft>
                <a:spcPts val="150"/>
              </a:spcAft>
              <a:buNone/>
            </a:pPr>
            <a:r>
              <a:rPr lang="en-US" b="0" i="0" dirty="0">
                <a:solidFill>
                  <a:srgbClr val="474747"/>
                </a:solidFill>
                <a:effectLst/>
                <a:latin typeface="DejaVu Serif"/>
              </a:rPr>
              <a:t>This interface is a member of the </a:t>
            </a:r>
            <a:r>
              <a:rPr lang="en-US" b="0" i="0" u="none" strike="noStrike" dirty="0">
                <a:solidFill>
                  <a:srgbClr val="4A6782"/>
                </a:solidFill>
                <a:effectLst/>
                <a:latin typeface="DejaVu Serif"/>
                <a:hlinkClick r:id="rId12"/>
              </a:rPr>
              <a:t>Java Collections Framework</a:t>
            </a:r>
            <a:r>
              <a:rPr lang="en-US" b="0" i="0" dirty="0">
                <a:solidFill>
                  <a:srgbClr val="474747"/>
                </a:solidFill>
                <a:effectLst/>
                <a:latin typeface="DejaVu Serif"/>
              </a:rPr>
              <a:t>.</a:t>
            </a:r>
          </a:p>
          <a:p>
            <a:pPr algn="l">
              <a:spcBef>
                <a:spcPts val="750"/>
              </a:spcBef>
              <a:buNone/>
            </a:pPr>
            <a:r>
              <a:rPr lang="en-US" b="1" i="0" dirty="0">
                <a:solidFill>
                  <a:srgbClr val="4E4E4E"/>
                </a:solidFill>
                <a:effectLst/>
                <a:latin typeface="DejaVu Sans"/>
              </a:rPr>
              <a:t>Since:</a:t>
            </a:r>
          </a:p>
          <a:p>
            <a:pPr algn="l">
              <a:spcBef>
                <a:spcPts val="375"/>
              </a:spcBef>
              <a:spcAft>
                <a:spcPts val="750"/>
              </a:spcAft>
              <a:buNone/>
            </a:pPr>
            <a:r>
              <a:rPr lang="en-US" b="0" i="0" dirty="0">
                <a:solidFill>
                  <a:srgbClr val="353833"/>
                </a:solidFill>
                <a:effectLst/>
                <a:latin typeface="DejaVu Sans Mono"/>
              </a:rPr>
              <a:t>1.5</a:t>
            </a:r>
          </a:p>
          <a:p>
            <a:pPr algn="l">
              <a:spcBef>
                <a:spcPts val="750"/>
              </a:spcBef>
              <a:buNone/>
            </a:pPr>
            <a:r>
              <a:rPr lang="en-US" b="1" i="0" dirty="0">
                <a:solidFill>
                  <a:srgbClr val="4E4E4E"/>
                </a:solidFill>
                <a:effectLst/>
                <a:latin typeface="DejaVu Sans"/>
              </a:rPr>
              <a:t>See Also:</a:t>
            </a:r>
          </a:p>
          <a:p>
            <a:pPr algn="l">
              <a:spcBef>
                <a:spcPts val="375"/>
              </a:spcBef>
              <a:spcAft>
                <a:spcPts val="750"/>
              </a:spcAft>
              <a:buNone/>
            </a:pP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1" tooltip="class in java.util"/>
              </a:rPr>
              <a:t>LinkedList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3" tooltip="class in java.util"/>
              </a:rPr>
              <a:t>PriorityQueue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4" tooltip="class in java.util.concurrent"/>
              </a:rPr>
              <a:t>LinkedBlockingQueue</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0" tooltip="interface in java.util.concurrent"/>
              </a:rPr>
              <a:t>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5" tooltip="class in java.util.concurrent"/>
              </a:rPr>
              <a:t>ArrayBlockingQueue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4" tooltip="class in java.util.concurrent"/>
              </a:rPr>
              <a:t>LinkedBlockingQueue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6" tooltip="class in java.util.concurrent"/>
              </a:rPr>
              <a:t>PriorityBlockingQueue</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1695643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A528673B-B937-B39F-8A0C-15C14EF90901}"/>
              </a:ext>
            </a:extLst>
          </p:cNvPr>
          <p:cNvGraphicFramePr>
            <a:graphicFrameLocks noGrp="1"/>
          </p:cNvGraphicFramePr>
          <p:nvPr>
            <p:extLst>
              <p:ext uri="{D42A27DB-BD31-4B8C-83A1-F6EECF244321}">
                <p14:modId xmlns:p14="http://schemas.microsoft.com/office/powerpoint/2010/main" val="2102158499"/>
              </p:ext>
            </p:extLst>
          </p:nvPr>
        </p:nvGraphicFramePr>
        <p:xfrm>
          <a:off x="912972" y="469265"/>
          <a:ext cx="3447096" cy="4351339"/>
        </p:xfrm>
        <a:graphic>
          <a:graphicData uri="http://schemas.openxmlformats.org/drawingml/2006/table">
            <a:tbl>
              <a:tblPr/>
              <a:tblGrid>
                <a:gridCol w="816514">
                  <a:extLst>
                    <a:ext uri="{9D8B030D-6E8A-4147-A177-3AD203B41FA5}">
                      <a16:colId xmlns:a16="http://schemas.microsoft.com/office/drawing/2014/main" val="4157446007"/>
                    </a:ext>
                  </a:extLst>
                </a:gridCol>
                <a:gridCol w="816514">
                  <a:extLst>
                    <a:ext uri="{9D8B030D-6E8A-4147-A177-3AD203B41FA5}">
                      <a16:colId xmlns:a16="http://schemas.microsoft.com/office/drawing/2014/main" val="1275994804"/>
                    </a:ext>
                  </a:extLst>
                </a:gridCol>
                <a:gridCol w="1814068">
                  <a:extLst>
                    <a:ext uri="{9D8B030D-6E8A-4147-A177-3AD203B41FA5}">
                      <a16:colId xmlns:a16="http://schemas.microsoft.com/office/drawing/2014/main" val="2799022116"/>
                    </a:ext>
                  </a:extLst>
                </a:gridCol>
              </a:tblGrid>
              <a:tr h="179349">
                <a:tc gridSpan="3">
                  <a:txBody>
                    <a:bodyPr/>
                    <a:lstStyle/>
                    <a:p>
                      <a:pPr>
                        <a:buNone/>
                      </a:pPr>
                      <a:r>
                        <a:rPr lang="en-US" sz="1000"/>
                        <a:t>All MethodsInstance MethodsAbstract Methods</a:t>
                      </a:r>
                    </a:p>
                  </a:txBody>
                  <a:tcPr marL="12811" marR="12811" marT="12811" marB="12811" anchor="c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66411203"/>
                  </a:ext>
                </a:extLst>
              </a:tr>
              <a:tr h="354427">
                <a:tc>
                  <a:txBody>
                    <a:bodyPr/>
                    <a:lstStyle/>
                    <a:p>
                      <a:pPr algn="l" fontAlgn="t">
                        <a:buNone/>
                      </a:pPr>
                      <a:r>
                        <a:rPr lang="en-US" sz="1000">
                          <a:effectLst/>
                        </a:rPr>
                        <a:t>Modifier and Type</a:t>
                      </a: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000">
                          <a:effectLst/>
                        </a:rPr>
                        <a:t>Method</a:t>
                      </a: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tc>
                  <a:txBody>
                    <a:bodyPr/>
                    <a:lstStyle/>
                    <a:p>
                      <a:pPr algn="l" fontAlgn="t">
                        <a:buNone/>
                      </a:pPr>
                      <a:r>
                        <a:rPr lang="en-US" sz="1000">
                          <a:effectLst/>
                        </a:rPr>
                        <a:t>Description</a:t>
                      </a: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a:noFill/>
                    </a:lnT>
                    <a:lnB w="7620" cap="flat" cmpd="sng" algn="ctr">
                      <a:solidFill>
                        <a:srgbClr val="EEEEEE"/>
                      </a:solidFill>
                      <a:prstDash val="solid"/>
                      <a:round/>
                      <a:headEnd type="none" w="med" len="med"/>
                      <a:tailEnd type="none" w="med" len="med"/>
                    </a:lnB>
                    <a:solidFill>
                      <a:srgbClr val="DEE3E9"/>
                    </a:solidFill>
                  </a:tcPr>
                </a:tc>
                <a:extLst>
                  <a:ext uri="{0D108BD9-81ED-4DB2-BD59-A6C34878D82A}">
                    <a16:rowId xmlns:a16="http://schemas.microsoft.com/office/drawing/2014/main" val="2318688989"/>
                  </a:ext>
                </a:extLst>
              </a:tr>
              <a:tr h="1276791">
                <a:tc>
                  <a:txBody>
                    <a:bodyPr/>
                    <a:lstStyle/>
                    <a:p>
                      <a:pPr algn="l" fontAlgn="t">
                        <a:buNone/>
                      </a:pPr>
                      <a:r>
                        <a:rPr lang="en-US" sz="1000">
                          <a:effectLst/>
                          <a:latin typeface="DejaVu Sans Mono"/>
                        </a:rPr>
                        <a:t>boolean</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000" b="1" u="none" strike="noStrike">
                          <a:solidFill>
                            <a:srgbClr val="4A6782"/>
                          </a:solidFill>
                          <a:effectLst/>
                          <a:latin typeface="DejaVu Sans Mono"/>
                          <a:hlinkClick r:id="rId2"/>
                        </a:rPr>
                        <a:t>add</a:t>
                      </a:r>
                      <a:r>
                        <a:rPr lang="en-US" sz="1000" b="0">
                          <a:effectLst/>
                          <a:latin typeface="DejaVu Sans Mono"/>
                        </a:rPr>
                        <a:t>(</a:t>
                      </a:r>
                      <a:r>
                        <a:rPr lang="en-US" sz="1000" b="1" u="none" strike="noStrike">
                          <a:solidFill>
                            <a:srgbClr val="4A6782"/>
                          </a:solidFill>
                          <a:effectLst/>
                          <a:latin typeface="DejaVu Sans Mono"/>
                          <a:hlinkClick r:id="rId3" tooltip="type parameter in Queue"/>
                        </a:rPr>
                        <a:t>E</a:t>
                      </a:r>
                      <a:r>
                        <a:rPr lang="en-US" sz="1000" b="0">
                          <a:effectLst/>
                          <a:latin typeface="DejaVu Sans Mono"/>
                        </a:rPr>
                        <a:t> e)</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000">
                          <a:solidFill>
                            <a:srgbClr val="474747"/>
                          </a:solidFill>
                          <a:effectLst/>
                          <a:latin typeface="DejaVu Serif"/>
                        </a:rPr>
                        <a:t>Inserts the specified element into this queue if it is possible to do so immediately without violating capacity restrictions, returning </a:t>
                      </a:r>
                      <a:r>
                        <a:rPr lang="en-US" sz="1000">
                          <a:solidFill>
                            <a:srgbClr val="474747"/>
                          </a:solidFill>
                          <a:effectLst/>
                          <a:latin typeface="DejaVu Sans Mono"/>
                        </a:rPr>
                        <a:t>true</a:t>
                      </a:r>
                      <a:r>
                        <a:rPr lang="en-US" sz="1000">
                          <a:solidFill>
                            <a:srgbClr val="474747"/>
                          </a:solidFill>
                          <a:effectLst/>
                          <a:latin typeface="DejaVu Serif"/>
                        </a:rPr>
                        <a:t> upon success and throwing an </a:t>
                      </a:r>
                      <a:r>
                        <a:rPr lang="en-US" sz="1000">
                          <a:solidFill>
                            <a:srgbClr val="474747"/>
                          </a:solidFill>
                          <a:effectLst/>
                          <a:latin typeface="DejaVu Sans Mono"/>
                        </a:rPr>
                        <a:t>IllegalStateException</a:t>
                      </a:r>
                      <a:r>
                        <a:rPr lang="en-US" sz="1000">
                          <a:solidFill>
                            <a:srgbClr val="474747"/>
                          </a:solidFill>
                          <a:effectLst/>
                          <a:latin typeface="DejaVu Serif"/>
                        </a:rPr>
                        <a:t> if no space is currently available.</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709637978"/>
                  </a:ext>
                </a:extLst>
              </a:tr>
              <a:tr h="354427">
                <a:tc>
                  <a:txBody>
                    <a:bodyPr/>
                    <a:lstStyle/>
                    <a:p>
                      <a:pPr algn="l" fontAlgn="t">
                        <a:buNone/>
                      </a:pPr>
                      <a:r>
                        <a:rPr lang="en-US" sz="1000" b="1" u="none" strike="noStrike">
                          <a:solidFill>
                            <a:srgbClr val="4A6782"/>
                          </a:solidFill>
                          <a:effectLst/>
                          <a:latin typeface="DejaVu Sans Mono"/>
                          <a:hlinkClick r:id="rId3" tooltip="type parameter in Queue"/>
                        </a:rPr>
                        <a:t>E</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000" b="1" u="none" strike="noStrike">
                          <a:solidFill>
                            <a:srgbClr val="4A6782"/>
                          </a:solidFill>
                          <a:effectLst/>
                          <a:latin typeface="DejaVu Sans Mono"/>
                          <a:hlinkClick r:id="rId4"/>
                        </a:rPr>
                        <a:t>element</a:t>
                      </a:r>
                      <a:r>
                        <a:rPr lang="en-US" sz="1000" b="0">
                          <a:effectLst/>
                          <a:latin typeface="DejaVu Sans Mono"/>
                        </a:rPr>
                        <a:t>()</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000">
                          <a:solidFill>
                            <a:srgbClr val="474747"/>
                          </a:solidFill>
                          <a:effectLst/>
                          <a:latin typeface="DejaVu Serif"/>
                        </a:rPr>
                        <a:t>Retrieves, but does not remove, the head of this queue.</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64504908"/>
                  </a:ext>
                </a:extLst>
              </a:tr>
              <a:tr h="661882">
                <a:tc>
                  <a:txBody>
                    <a:bodyPr/>
                    <a:lstStyle/>
                    <a:p>
                      <a:pPr algn="l" fontAlgn="t">
                        <a:buNone/>
                      </a:pPr>
                      <a:r>
                        <a:rPr lang="en-US" sz="1000">
                          <a:effectLst/>
                          <a:latin typeface="DejaVu Sans Mono"/>
                        </a:rPr>
                        <a:t>boolean</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000" b="1" u="none" strike="noStrike">
                          <a:solidFill>
                            <a:srgbClr val="4A6782"/>
                          </a:solidFill>
                          <a:effectLst/>
                          <a:latin typeface="DejaVu Sans Mono"/>
                          <a:hlinkClick r:id="rId5"/>
                        </a:rPr>
                        <a:t>offer</a:t>
                      </a:r>
                      <a:r>
                        <a:rPr lang="en-US" sz="1000" b="0">
                          <a:effectLst/>
                          <a:latin typeface="DejaVu Sans Mono"/>
                        </a:rPr>
                        <a:t>(</a:t>
                      </a:r>
                      <a:r>
                        <a:rPr lang="en-US" sz="1000" b="1" u="none" strike="noStrike">
                          <a:solidFill>
                            <a:srgbClr val="4A6782"/>
                          </a:solidFill>
                          <a:effectLst/>
                          <a:latin typeface="DejaVu Sans Mono"/>
                          <a:hlinkClick r:id="rId3" tooltip="type parameter in Queue"/>
                        </a:rPr>
                        <a:t>E</a:t>
                      </a:r>
                      <a:r>
                        <a:rPr lang="en-US" sz="1000" b="0">
                          <a:effectLst/>
                          <a:latin typeface="DejaVu Sans Mono"/>
                        </a:rPr>
                        <a:t> e)</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000">
                          <a:solidFill>
                            <a:srgbClr val="474747"/>
                          </a:solidFill>
                          <a:effectLst/>
                          <a:latin typeface="DejaVu Serif"/>
                        </a:rPr>
                        <a:t>Inserts the specified element into this queue if it is possible to do so immediately without violating capacity restrictions.</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42426071"/>
                  </a:ext>
                </a:extLst>
              </a:tr>
              <a:tr h="661882">
                <a:tc>
                  <a:txBody>
                    <a:bodyPr/>
                    <a:lstStyle/>
                    <a:p>
                      <a:pPr algn="l" fontAlgn="t">
                        <a:buNone/>
                      </a:pPr>
                      <a:r>
                        <a:rPr lang="en-US" sz="1000" b="1" u="none" strike="noStrike">
                          <a:solidFill>
                            <a:srgbClr val="4A6782"/>
                          </a:solidFill>
                          <a:effectLst/>
                          <a:latin typeface="DejaVu Sans Mono"/>
                          <a:hlinkClick r:id="rId3" tooltip="type parameter in Queue"/>
                        </a:rPr>
                        <a:t>E</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000" b="1" u="none" strike="noStrike">
                          <a:solidFill>
                            <a:srgbClr val="4A6782"/>
                          </a:solidFill>
                          <a:effectLst/>
                          <a:latin typeface="DejaVu Sans Mono"/>
                          <a:hlinkClick r:id="rId6"/>
                        </a:rPr>
                        <a:t>peek</a:t>
                      </a:r>
                      <a:r>
                        <a:rPr lang="en-US" sz="1000" b="0">
                          <a:effectLst/>
                          <a:latin typeface="DejaVu Sans Mono"/>
                        </a:rPr>
                        <a:t>()</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000">
                          <a:solidFill>
                            <a:srgbClr val="474747"/>
                          </a:solidFill>
                          <a:effectLst/>
                          <a:latin typeface="DejaVu Serif"/>
                        </a:rPr>
                        <a:t>Retrieves, but does not remove, the head of this queue, or returns </a:t>
                      </a:r>
                      <a:r>
                        <a:rPr lang="en-US" sz="1000">
                          <a:solidFill>
                            <a:srgbClr val="474747"/>
                          </a:solidFill>
                          <a:effectLst/>
                          <a:latin typeface="DejaVu Sans Mono"/>
                        </a:rPr>
                        <a:t>null</a:t>
                      </a:r>
                      <a:r>
                        <a:rPr lang="en-US" sz="1000">
                          <a:solidFill>
                            <a:srgbClr val="474747"/>
                          </a:solidFill>
                          <a:effectLst/>
                          <a:latin typeface="DejaVu Serif"/>
                        </a:rPr>
                        <a:t> if this queue is empty.</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692530483"/>
                  </a:ext>
                </a:extLst>
              </a:tr>
              <a:tr h="508154">
                <a:tc>
                  <a:txBody>
                    <a:bodyPr/>
                    <a:lstStyle/>
                    <a:p>
                      <a:pPr algn="l" fontAlgn="t">
                        <a:buNone/>
                      </a:pPr>
                      <a:r>
                        <a:rPr lang="en-US" sz="1000" b="1" u="none" strike="noStrike">
                          <a:solidFill>
                            <a:srgbClr val="4A6782"/>
                          </a:solidFill>
                          <a:effectLst/>
                          <a:latin typeface="DejaVu Sans Mono"/>
                          <a:hlinkClick r:id="rId3" tooltip="type parameter in Queue"/>
                        </a:rPr>
                        <a:t>E</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buNone/>
                      </a:pPr>
                      <a:r>
                        <a:rPr lang="en-US" sz="1000" b="1" u="none" strike="noStrike">
                          <a:solidFill>
                            <a:srgbClr val="4A6782"/>
                          </a:solidFill>
                          <a:effectLst/>
                          <a:latin typeface="DejaVu Sans Mono"/>
                          <a:hlinkClick r:id="rId7"/>
                        </a:rPr>
                        <a:t>poll</a:t>
                      </a:r>
                      <a:r>
                        <a:rPr lang="en-US" sz="1000" b="0">
                          <a:effectLst/>
                          <a:latin typeface="DejaVu Sans Mono"/>
                        </a:rPr>
                        <a:t>()</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l" fontAlgn="t">
                        <a:spcBef>
                          <a:spcPts val="225"/>
                        </a:spcBef>
                        <a:spcAft>
                          <a:spcPts val="150"/>
                        </a:spcAft>
                        <a:buNone/>
                      </a:pPr>
                      <a:r>
                        <a:rPr lang="en-US" sz="1000">
                          <a:solidFill>
                            <a:srgbClr val="474747"/>
                          </a:solidFill>
                          <a:effectLst/>
                          <a:latin typeface="DejaVu Serif"/>
                        </a:rPr>
                        <a:t>Retrieves and removes the head of this queue, or returns </a:t>
                      </a:r>
                      <a:r>
                        <a:rPr lang="en-US" sz="1000">
                          <a:solidFill>
                            <a:srgbClr val="474747"/>
                          </a:solidFill>
                          <a:effectLst/>
                          <a:latin typeface="DejaVu Sans Mono"/>
                        </a:rPr>
                        <a:t>null</a:t>
                      </a:r>
                      <a:r>
                        <a:rPr lang="en-US" sz="1000">
                          <a:solidFill>
                            <a:srgbClr val="474747"/>
                          </a:solidFill>
                          <a:effectLst/>
                          <a:latin typeface="DejaVu Serif"/>
                        </a:rPr>
                        <a:t> if this queue is empty.</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290983091"/>
                  </a:ext>
                </a:extLst>
              </a:tr>
              <a:tr h="354427">
                <a:tc>
                  <a:txBody>
                    <a:bodyPr/>
                    <a:lstStyle/>
                    <a:p>
                      <a:pPr algn="l" fontAlgn="t">
                        <a:buNone/>
                      </a:pPr>
                      <a:r>
                        <a:rPr lang="en-US" sz="1000" b="1" u="none" strike="noStrike">
                          <a:solidFill>
                            <a:srgbClr val="4A6782"/>
                          </a:solidFill>
                          <a:effectLst/>
                          <a:latin typeface="DejaVu Sans Mono"/>
                          <a:hlinkClick r:id="rId3" tooltip="type parameter in Queue"/>
                        </a:rPr>
                        <a:t>E</a:t>
                      </a:r>
                      <a:endParaRPr lang="en-US" sz="1000">
                        <a:effectLst/>
                      </a:endParaRP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buNone/>
                      </a:pPr>
                      <a:r>
                        <a:rPr lang="en-US" sz="1000" b="1" u="none" strike="noStrike">
                          <a:solidFill>
                            <a:srgbClr val="4A6782"/>
                          </a:solidFill>
                          <a:effectLst/>
                          <a:latin typeface="DejaVu Sans Mono"/>
                          <a:hlinkClick r:id="rId8"/>
                        </a:rPr>
                        <a:t>remove</a:t>
                      </a:r>
                      <a:r>
                        <a:rPr lang="en-US" sz="1000" b="0">
                          <a:effectLst/>
                          <a:latin typeface="DejaVu Sans Mono"/>
                        </a:rPr>
                        <a:t>()</a:t>
                      </a:r>
                      <a:endParaRPr lang="en-US" sz="1000" b="0">
                        <a:effectLst/>
                      </a:endParaRPr>
                    </a:p>
                  </a:txBody>
                  <a:tcPr marL="29891"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tc>
                  <a:txBody>
                    <a:bodyPr/>
                    <a:lstStyle/>
                    <a:p>
                      <a:pPr algn="l" fontAlgn="t">
                        <a:spcBef>
                          <a:spcPts val="225"/>
                        </a:spcBef>
                        <a:spcAft>
                          <a:spcPts val="150"/>
                        </a:spcAft>
                        <a:buNone/>
                      </a:pPr>
                      <a:r>
                        <a:rPr lang="en-US" sz="1000" dirty="0">
                          <a:solidFill>
                            <a:srgbClr val="474747"/>
                          </a:solidFill>
                          <a:effectLst/>
                          <a:latin typeface="DejaVu Serif"/>
                        </a:rPr>
                        <a:t>Retrieves and removes the head of this queue.</a:t>
                      </a:r>
                    </a:p>
                  </a:txBody>
                  <a:tcPr marL="42702" marR="12811" marT="34162" marB="12811">
                    <a:lnL w="7620" cap="flat" cmpd="sng" algn="ctr">
                      <a:solidFill>
                        <a:srgbClr val="EEEEEE"/>
                      </a:solidFill>
                      <a:prstDash val="solid"/>
                      <a:round/>
                      <a:headEnd type="none" w="med" len="med"/>
                      <a:tailEnd type="none" w="med" len="med"/>
                    </a:lnL>
                    <a:lnR w="7620" cap="flat" cmpd="sng" algn="ctr">
                      <a:solidFill>
                        <a:srgbClr val="EEEEEE"/>
                      </a:solidFill>
                      <a:prstDash val="solid"/>
                      <a:round/>
                      <a:headEnd type="none" w="med" len="med"/>
                      <a:tailEnd type="none" w="med" len="med"/>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EEEEEF"/>
                    </a:solidFill>
                  </a:tcPr>
                </a:tc>
                <a:extLst>
                  <a:ext uri="{0D108BD9-81ED-4DB2-BD59-A6C34878D82A}">
                    <a16:rowId xmlns:a16="http://schemas.microsoft.com/office/drawing/2014/main" val="1176039988"/>
                  </a:ext>
                </a:extLst>
              </a:tr>
            </a:tbl>
          </a:graphicData>
        </a:graphic>
      </p:graphicFrame>
      <p:sp>
        <p:nvSpPr>
          <p:cNvPr id="8" name="TextBox 7">
            <a:extLst>
              <a:ext uri="{FF2B5EF4-FFF2-40B4-BE49-F238E27FC236}">
                <a16:creationId xmlns:a16="http://schemas.microsoft.com/office/drawing/2014/main" id="{63975CBE-6BE9-C7DD-0FE2-208299202625}"/>
              </a:ext>
            </a:extLst>
          </p:cNvPr>
          <p:cNvSpPr txBox="1"/>
          <p:nvPr/>
        </p:nvSpPr>
        <p:spPr>
          <a:xfrm>
            <a:off x="4953000" y="810139"/>
            <a:ext cx="4953000" cy="3439403"/>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java.util.</a:t>
            </a:r>
            <a:r>
              <a:rPr lang="en-US" b="1" i="0" u="none" strike="noStrike" dirty="0" err="1">
                <a:solidFill>
                  <a:srgbClr val="4A6782"/>
                </a:solidFill>
                <a:effectLst/>
                <a:latin typeface="DejaVu Sans"/>
                <a:hlinkClick r:id="rId9" tooltip="interface in java.util"/>
              </a:rPr>
              <a:t>Collection</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10"/>
              </a:rPr>
              <a:t>addAll</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1"/>
              </a:rPr>
              <a:t>clear</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2"/>
              </a:rPr>
              <a:t>contains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3"/>
              </a:rPr>
              <a:t>containsAll</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4"/>
              </a:rPr>
              <a:t>equals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5"/>
              </a:rPr>
              <a:t>hashCode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6"/>
              </a:rPr>
              <a:t>isEmpty</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7"/>
              </a:rPr>
              <a:t>iterator</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8"/>
              </a:rPr>
              <a:t>parallelStream</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9"/>
              </a:rPr>
              <a:t>remove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0"/>
              </a:rPr>
              <a:t>removeAll</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1"/>
              </a:rPr>
              <a:t>removeIf</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2"/>
              </a:rPr>
              <a:t>retainAll</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3"/>
              </a:rPr>
              <a:t>size</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4"/>
              </a:rPr>
              <a:t>spliterator</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25"/>
              </a:rPr>
              <a:t>stream</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6"/>
              </a:rPr>
              <a:t>toArray</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27"/>
              </a:rPr>
              <a:t>toArray</a:t>
            </a:r>
            <a:endParaRPr lang="en-US" b="0" i="0" dirty="0">
              <a:solidFill>
                <a:srgbClr val="353833"/>
              </a:solidFill>
              <a:effectLst/>
              <a:latin typeface="DejaVu Sans"/>
            </a:endParaRP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Methods inherited from interface </a:t>
            </a:r>
            <a:r>
              <a:rPr lang="en-US" b="1" i="0" dirty="0" err="1">
                <a:solidFill>
                  <a:srgbClr val="353833"/>
                </a:solidFill>
                <a:effectLst/>
                <a:latin typeface="DejaVu Sans"/>
              </a:rPr>
              <a:t>java.lang.</a:t>
            </a:r>
            <a:r>
              <a:rPr lang="en-US" b="1" i="0" u="none" strike="noStrike" dirty="0" err="1">
                <a:solidFill>
                  <a:srgbClr val="4A6782"/>
                </a:solidFill>
                <a:effectLst/>
                <a:latin typeface="DejaVu Sans"/>
                <a:hlinkClick r:id="rId28" tooltip="interface in java.lang"/>
              </a:rPr>
              <a:t>Iterable</a:t>
            </a:r>
            <a:endParaRPr lang="en-US" b="1" i="0" dirty="0">
              <a:solidFill>
                <a:srgbClr val="353833"/>
              </a:solidFill>
              <a:effectLst/>
              <a:latin typeface="DejaVu Sans"/>
            </a:endParaRPr>
          </a:p>
          <a:p>
            <a:pPr algn="l">
              <a:spcBef>
                <a:spcPts val="750"/>
              </a:spcBef>
              <a:spcAft>
                <a:spcPts val="1125"/>
              </a:spcAft>
              <a:buFont typeface="Arial" panose="020B0604020202020204" pitchFamily="34" charset="0"/>
              <a:buChar char="•"/>
            </a:pPr>
            <a:r>
              <a:rPr lang="en-US" b="0" i="0" u="none" strike="noStrike" dirty="0" err="1">
                <a:solidFill>
                  <a:srgbClr val="4A6782"/>
                </a:solidFill>
                <a:effectLst/>
                <a:latin typeface="DejaVu Sans Mono"/>
                <a:hlinkClick r:id="rId29"/>
              </a:rPr>
              <a:t>forEach</a:t>
            </a:r>
            <a:endParaRPr lang="en-US" b="0" i="0" dirty="0">
              <a:solidFill>
                <a:srgbClr val="353833"/>
              </a:solidFill>
              <a:effectLst/>
              <a:latin typeface="DejaVu Sans"/>
            </a:endParaRPr>
          </a:p>
        </p:txBody>
      </p:sp>
    </p:spTree>
    <p:extLst>
      <p:ext uri="{BB962C8B-B14F-4D97-AF65-F5344CB8AC3E}">
        <p14:creationId xmlns:p14="http://schemas.microsoft.com/office/powerpoint/2010/main" val="5994037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6BEECA-F053-143C-E152-0FE90CD98ABE}"/>
              </a:ext>
            </a:extLst>
          </p:cNvPr>
          <p:cNvSpPr txBox="1"/>
          <p:nvPr/>
        </p:nvSpPr>
        <p:spPr>
          <a:xfrm>
            <a:off x="2476500" y="-12363785"/>
            <a:ext cx="4953000" cy="31585570"/>
          </a:xfrm>
          <a:prstGeom prst="rect">
            <a:avLst/>
          </a:prstGeom>
          <a:noFill/>
        </p:spPr>
        <p:txBody>
          <a:bodyPr wrap="square">
            <a:spAutoFit/>
          </a:bodyPr>
          <a:lstStyle/>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add</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add(</a:t>
            </a: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into this queue if it is possible to do so immediately without violating capacity restrictions, returning </a:t>
            </a:r>
            <a:r>
              <a:rPr lang="en-US" b="0" i="0" dirty="0">
                <a:solidFill>
                  <a:srgbClr val="474747"/>
                </a:solidFill>
                <a:effectLst/>
                <a:latin typeface="DejaVu Sans Mono"/>
              </a:rPr>
              <a:t>true</a:t>
            </a:r>
            <a:r>
              <a:rPr lang="en-US" b="0" i="0" dirty="0">
                <a:solidFill>
                  <a:srgbClr val="474747"/>
                </a:solidFill>
                <a:effectLst/>
                <a:latin typeface="DejaVu Serif"/>
              </a:rPr>
              <a:t> upon success and throwing an </a:t>
            </a:r>
            <a:r>
              <a:rPr lang="en-US" b="0" i="0" dirty="0" err="1">
                <a:solidFill>
                  <a:srgbClr val="474747"/>
                </a:solidFill>
                <a:effectLst/>
                <a:latin typeface="DejaVu Sans Mono"/>
              </a:rPr>
              <a:t>IllegalStateException</a:t>
            </a:r>
            <a:r>
              <a:rPr lang="en-US" b="0" i="0" dirty="0">
                <a:solidFill>
                  <a:srgbClr val="474747"/>
                </a:solidFill>
                <a:effectLst/>
                <a:latin typeface="DejaVu Serif"/>
              </a:rPr>
              <a:t> if no space is currently available.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Specified by:</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3"/>
              </a:rPr>
              <a:t>add</a:t>
            </a:r>
            <a:r>
              <a:rPr lang="en-US" b="0" i="0" dirty="0">
                <a:solidFill>
                  <a:srgbClr val="353833"/>
                </a:solidFill>
                <a:effectLst/>
                <a:latin typeface="DejaVu Sans Mono"/>
              </a:rPr>
              <a:t> in interface </a:t>
            </a:r>
            <a:r>
              <a:rPr lang="en-US" b="0" i="0" u="none" strike="noStrike" dirty="0">
                <a:solidFill>
                  <a:srgbClr val="4A6782"/>
                </a:solidFill>
                <a:effectLst/>
                <a:latin typeface="DejaVu Sans Mono"/>
                <a:hlinkClick r:id="rId4" tooltip="interface in java.util"/>
              </a:rPr>
              <a:t>Collection</a:t>
            </a:r>
            <a:r>
              <a:rPr lang="en-US" b="0" i="0" dirty="0">
                <a:solidFill>
                  <a:srgbClr val="353833"/>
                </a:solidFill>
                <a:effectLst/>
                <a:latin typeface="DejaVu Sans Mono"/>
              </a:rPr>
              <a:t>&lt;</a:t>
            </a: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(as specified by </a:t>
            </a:r>
            <a:r>
              <a:rPr lang="en-US" b="0" i="0" u="none" strike="noStrike" dirty="0" err="1">
                <a:solidFill>
                  <a:srgbClr val="4A6782"/>
                </a:solidFill>
                <a:effectLst/>
                <a:latin typeface="DejaVu Sans Mono"/>
                <a:hlinkClick r:id="rId3"/>
              </a:rPr>
              <a:t>Collection.add</a:t>
            </a:r>
            <a:r>
              <a:rPr lang="en-US" b="0" i="0" u="none" strike="noStrike" dirty="0">
                <a:solidFill>
                  <a:srgbClr val="4A6782"/>
                </a:solidFill>
                <a:effectLst/>
                <a:latin typeface="DejaVu Sans Mono"/>
                <a:hlinkClick r:id="rId3"/>
              </a:rPr>
              <a:t>(E)</a:t>
            </a:r>
            <a:r>
              <a:rPr lang="en-US" b="0" i="0" dirty="0">
                <a:solidFill>
                  <a:srgbClr val="353833"/>
                </a:solidFill>
                <a:effectLst/>
                <a:latin typeface="DejaVu Sans Mono"/>
              </a:rPr>
              <a: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5" tooltip="class in java.lang"/>
              </a:rPr>
              <a:t>IllegalStateException</a:t>
            </a:r>
            <a:r>
              <a:rPr lang="en-US" b="0" i="0" dirty="0">
                <a:solidFill>
                  <a:srgbClr val="353833"/>
                </a:solidFill>
                <a:effectLst/>
                <a:latin typeface="DejaVu Sans Mono"/>
              </a:rPr>
              <a:t> - if the element cannot be added at this time due to capacity restrictions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the specified element prevents it from being added to this queue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element is null and this queue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IllegalArgumentException</a:t>
            </a:r>
            <a:r>
              <a:rPr lang="en-US" b="0" i="0" dirty="0">
                <a:solidFill>
                  <a:srgbClr val="353833"/>
                </a:solidFill>
                <a:effectLst/>
                <a:latin typeface="DejaVu Sans Mono"/>
              </a:rPr>
              <a:t> - if some property of this element prevents it from being added to this queue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offer</a:t>
            </a:r>
          </a:p>
          <a:p>
            <a:pPr algn="l">
              <a:spcBef>
                <a:spcPts val="750"/>
              </a:spcBef>
              <a:spcAft>
                <a:spcPts val="1125"/>
              </a:spcAft>
              <a:buFont typeface="Arial" panose="020B0604020202020204" pitchFamily="34" charset="0"/>
              <a:buChar char="•"/>
            </a:pPr>
            <a:r>
              <a:rPr lang="en-US" b="0" i="0" dirty="0" err="1">
                <a:solidFill>
                  <a:srgbClr val="353833"/>
                </a:solidFill>
                <a:effectLst/>
                <a:latin typeface="DejaVu Sans Mono"/>
              </a:rPr>
              <a:t>boolean</a:t>
            </a:r>
            <a:r>
              <a:rPr lang="en-US" b="0" i="0" dirty="0">
                <a:solidFill>
                  <a:srgbClr val="353833"/>
                </a:solidFill>
                <a:effectLst/>
                <a:latin typeface="DejaVu Sans Mono"/>
              </a:rPr>
              <a:t> offer(</a:t>
            </a: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Inserts the specified element into this queue if it is possible to do so immediately without violating capacity restrictions. When using a capacity-restricted queue, this method is generally preferable to </a:t>
            </a:r>
            <a:r>
              <a:rPr lang="en-US" b="0" i="0" u="none" strike="noStrike" dirty="0">
                <a:solidFill>
                  <a:srgbClr val="4A6782"/>
                </a:solidFill>
                <a:effectLst/>
                <a:latin typeface="DejaVu Sans Mono"/>
                <a:hlinkClick r:id="rId9"/>
              </a:rPr>
              <a:t>add(E)</a:t>
            </a:r>
            <a:r>
              <a:rPr lang="en-US" b="0" i="0" dirty="0">
                <a:solidFill>
                  <a:srgbClr val="474747"/>
                </a:solidFill>
                <a:effectLst/>
                <a:latin typeface="DejaVu Serif"/>
              </a:rPr>
              <a:t>, which can fail to insert an element only by throwing an exception.</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element to add</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true if the element was added to this queue, else false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lang"/>
              </a:rPr>
              <a:t>ClassCastException</a:t>
            </a:r>
            <a:r>
              <a:rPr lang="en-US" b="0" i="0" dirty="0">
                <a:solidFill>
                  <a:srgbClr val="353833"/>
                </a:solidFill>
                <a:effectLst/>
                <a:latin typeface="DejaVu Sans Mono"/>
              </a:rPr>
              <a:t> - if the class of the specified element prevents it from being added to this queue</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7" tooltip="class in java.lang"/>
              </a:rPr>
              <a:t>NullPointerException</a:t>
            </a:r>
            <a:r>
              <a:rPr lang="en-US" b="0" i="0" dirty="0">
                <a:solidFill>
                  <a:srgbClr val="353833"/>
                </a:solidFill>
                <a:effectLst/>
                <a:latin typeface="DejaVu Sans Mono"/>
              </a:rPr>
              <a:t> - if the specified element is null and this queue does not permit null elements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8" tooltip="class in java.lang"/>
              </a:rPr>
              <a:t>IllegalArgumentException</a:t>
            </a:r>
            <a:r>
              <a:rPr lang="en-US" b="0" i="0" dirty="0">
                <a:solidFill>
                  <a:srgbClr val="353833"/>
                </a:solidFill>
                <a:effectLst/>
                <a:latin typeface="DejaVu Sans Mono"/>
              </a:rPr>
              <a:t> - if some property of this element prevents it from being added to this queue</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remove</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remove()</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head of this queue. This method differs from </a:t>
            </a:r>
            <a:r>
              <a:rPr lang="en-US" b="0" i="0" u="none" strike="noStrike" dirty="0">
                <a:solidFill>
                  <a:srgbClr val="4A6782"/>
                </a:solidFill>
                <a:effectLst/>
                <a:latin typeface="DejaVu Sans Mono"/>
                <a:hlinkClick r:id="rId10"/>
              </a:rPr>
              <a:t>poll</a:t>
            </a:r>
            <a:r>
              <a:rPr lang="en-US" b="0" i="0" dirty="0">
                <a:solidFill>
                  <a:srgbClr val="474747"/>
                </a:solidFill>
                <a:effectLst/>
                <a:latin typeface="DejaVu Serif"/>
              </a:rPr>
              <a:t> only in that it throws an exception if this queue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queue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1" tooltip="class in java.util"/>
              </a:rPr>
              <a:t>NoSuchElementException</a:t>
            </a:r>
            <a:r>
              <a:rPr lang="en-US" b="0" i="0" dirty="0">
                <a:solidFill>
                  <a:srgbClr val="353833"/>
                </a:solidFill>
                <a:effectLst/>
                <a:latin typeface="DejaVu Sans Mono"/>
              </a:rPr>
              <a:t> - if this queue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poll</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poll()</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and removes the head of this queue, or returns </a:t>
            </a:r>
            <a:r>
              <a:rPr lang="en-US" b="0" i="0" dirty="0">
                <a:solidFill>
                  <a:srgbClr val="474747"/>
                </a:solidFill>
                <a:effectLst/>
                <a:latin typeface="DejaVu Sans Mono"/>
              </a:rPr>
              <a:t>null</a:t>
            </a:r>
            <a:r>
              <a:rPr lang="en-US" b="0" i="0" dirty="0">
                <a:solidFill>
                  <a:srgbClr val="474747"/>
                </a:solidFill>
                <a:effectLst/>
                <a:latin typeface="DejaVu Serif"/>
              </a:rPr>
              <a:t> if this queue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queue, or null if this queue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element</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element()</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head of this queue. This method differs from </a:t>
            </a:r>
            <a:r>
              <a:rPr lang="en-US" b="0" i="0" u="none" strike="noStrike" dirty="0">
                <a:solidFill>
                  <a:srgbClr val="4A6782"/>
                </a:solidFill>
                <a:effectLst/>
                <a:latin typeface="DejaVu Sans Mono"/>
                <a:hlinkClick r:id="rId12"/>
              </a:rPr>
              <a:t>peek</a:t>
            </a:r>
            <a:r>
              <a:rPr lang="en-US" b="0" i="0" dirty="0">
                <a:solidFill>
                  <a:srgbClr val="474747"/>
                </a:solidFill>
                <a:effectLst/>
                <a:latin typeface="DejaVu Serif"/>
              </a:rPr>
              <a:t> only in that it throws an exception if this queue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queue</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Throws: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11" tooltip="class in java.util"/>
              </a:rPr>
              <a:t>NoSuchElementException</a:t>
            </a:r>
            <a:r>
              <a:rPr lang="en-US" b="0" i="0" dirty="0">
                <a:solidFill>
                  <a:srgbClr val="353833"/>
                </a:solidFill>
                <a:effectLst/>
                <a:latin typeface="DejaVu Sans Mono"/>
              </a:rPr>
              <a:t> - if this queue is empty</a:t>
            </a:r>
          </a:p>
          <a:p>
            <a:pPr algn="l">
              <a:spcBef>
                <a:spcPts val="750"/>
              </a:spcBef>
              <a:spcAft>
                <a:spcPts val="450"/>
              </a:spcAft>
              <a:buFont typeface="Arial" panose="020B0604020202020204" pitchFamily="34" charset="0"/>
              <a:buChar char="•"/>
            </a:pPr>
            <a:r>
              <a:rPr lang="en-US" b="1" i="0" dirty="0">
                <a:solidFill>
                  <a:srgbClr val="353833"/>
                </a:solidFill>
                <a:effectLst/>
                <a:latin typeface="DejaVu Sans"/>
              </a:rPr>
              <a:t>peek</a:t>
            </a:r>
          </a:p>
          <a:p>
            <a:pPr algn="l">
              <a:spcBef>
                <a:spcPts val="750"/>
              </a:spcBef>
              <a:spcAft>
                <a:spcPts val="1125"/>
              </a:spcAft>
              <a:buFont typeface="Arial" panose="020B0604020202020204" pitchFamily="34" charset="0"/>
              <a:buChar char="•"/>
            </a:pPr>
            <a:r>
              <a:rPr lang="en-US" b="0" i="0" u="none" strike="noStrike" dirty="0">
                <a:solidFill>
                  <a:srgbClr val="4A6782"/>
                </a:solidFill>
                <a:effectLst/>
                <a:latin typeface="DejaVu Sans Mono"/>
                <a:hlinkClick r:id="rId2" tooltip="type parameter in Queue"/>
              </a:rPr>
              <a:t>E</a:t>
            </a:r>
            <a:r>
              <a:rPr lang="en-US" b="0" i="0" dirty="0">
                <a:solidFill>
                  <a:srgbClr val="353833"/>
                </a:solidFill>
                <a:effectLst/>
                <a:latin typeface="DejaVu Sans Mono"/>
              </a:rPr>
              <a:t> peek()</a:t>
            </a:r>
          </a:p>
          <a:p>
            <a:pPr algn="l">
              <a:spcBef>
                <a:spcPts val="225"/>
              </a:spcBef>
              <a:spcAft>
                <a:spcPts val="150"/>
              </a:spcAft>
              <a:buFont typeface="Arial" panose="020B0604020202020204" pitchFamily="34" charset="0"/>
              <a:buChar char="•"/>
            </a:pPr>
            <a:r>
              <a:rPr lang="en-US" b="0" i="0" dirty="0">
                <a:solidFill>
                  <a:srgbClr val="474747"/>
                </a:solidFill>
                <a:effectLst/>
                <a:latin typeface="DejaVu Serif"/>
              </a:rPr>
              <a:t>Retrieves, but does not remove, the head of this queue, or returns </a:t>
            </a:r>
            <a:r>
              <a:rPr lang="en-US" b="0" i="0" dirty="0">
                <a:solidFill>
                  <a:srgbClr val="474747"/>
                </a:solidFill>
                <a:effectLst/>
                <a:latin typeface="DejaVu Sans Mono"/>
              </a:rPr>
              <a:t>null</a:t>
            </a:r>
            <a:r>
              <a:rPr lang="en-US" b="0" i="0" dirty="0">
                <a:solidFill>
                  <a:srgbClr val="474747"/>
                </a:solidFill>
                <a:effectLst/>
                <a:latin typeface="DejaVu Serif"/>
              </a:rPr>
              <a:t> if this queue is empty.</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Returns: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the head of this queue, or null if this queue is empty</a:t>
            </a:r>
          </a:p>
        </p:txBody>
      </p:sp>
    </p:spTree>
    <p:extLst>
      <p:ext uri="{BB962C8B-B14F-4D97-AF65-F5344CB8AC3E}">
        <p14:creationId xmlns:p14="http://schemas.microsoft.com/office/powerpoint/2010/main" val="32102393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518296-927A-8D03-A7FB-910468C6458C}"/>
              </a:ext>
            </a:extLst>
          </p:cNvPr>
          <p:cNvSpPr txBox="1"/>
          <p:nvPr/>
        </p:nvSpPr>
        <p:spPr>
          <a:xfrm>
            <a:off x="2476500" y="787251"/>
            <a:ext cx="4953000" cy="5283498"/>
          </a:xfrm>
          <a:prstGeom prst="rect">
            <a:avLst/>
          </a:prstGeom>
          <a:noFill/>
        </p:spPr>
        <p:txBody>
          <a:bodyPr wrap="square">
            <a:spAutoFit/>
          </a:bodyPr>
          <a:lstStyle/>
          <a:p>
            <a:pPr algn="l">
              <a:spcBef>
                <a:spcPts val="750"/>
              </a:spcBef>
              <a:spcAft>
                <a:spcPts val="750"/>
              </a:spcAft>
              <a:buNone/>
            </a:pPr>
            <a:r>
              <a:rPr lang="en-US" b="1" i="0" dirty="0">
                <a:solidFill>
                  <a:srgbClr val="2C4557"/>
                </a:solidFill>
                <a:effectLst/>
                <a:latin typeface="DejaVu Sans"/>
              </a:rPr>
              <a:t>Interface Set&lt;E&gt;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Type Parameters:</a:t>
            </a:r>
          </a:p>
          <a:p>
            <a:pPr algn="l">
              <a:spcBef>
                <a:spcPts val="375"/>
              </a:spcBef>
              <a:spcAft>
                <a:spcPts val="750"/>
              </a:spcAft>
              <a:buFont typeface="Arial" panose="020B0604020202020204" pitchFamily="34" charset="0"/>
              <a:buChar char="•"/>
            </a:pPr>
            <a:r>
              <a:rPr lang="en-US" b="0" i="0" dirty="0">
                <a:solidFill>
                  <a:srgbClr val="353833"/>
                </a:solidFill>
                <a:effectLst/>
                <a:latin typeface="DejaVu Sans Mono"/>
              </a:rPr>
              <a:t>E - the type of elements maintained by this set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a:t>
            </a:r>
            <a:r>
              <a:rPr lang="en-US" b="1" i="0" dirty="0" err="1">
                <a:solidFill>
                  <a:srgbClr val="4E4E4E"/>
                </a:solidFill>
                <a:effectLst/>
                <a:latin typeface="DejaVu Sans"/>
              </a:rPr>
              <a:t>Superinterfaces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a:solidFill>
                  <a:srgbClr val="4A6782"/>
                </a:solidFill>
                <a:effectLst/>
                <a:latin typeface="DejaVu Sans Mono"/>
                <a:hlinkClick r:id="rId2" tooltip="interface in java.util"/>
              </a:rPr>
              <a:t>Collection</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3" tooltip="interface in java.lang"/>
              </a:rPr>
              <a:t>Iterable</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a:t>
            </a:r>
            <a:r>
              <a:rPr lang="en-US" b="1" i="0" dirty="0" err="1">
                <a:solidFill>
                  <a:srgbClr val="4E4E4E"/>
                </a:solidFill>
                <a:effectLst/>
                <a:latin typeface="DejaVu Sans"/>
              </a:rPr>
              <a:t>Subinterfaces</a:t>
            </a:r>
            <a:r>
              <a:rPr lang="en-US" b="1" i="0" dirty="0">
                <a:solidFill>
                  <a:srgbClr val="4E4E4E"/>
                </a:solidFill>
                <a:effectLst/>
                <a:latin typeface="DejaVu Sans"/>
              </a:rPr>
              <a:t>:</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4" tooltip="interface in java.util"/>
              </a:rPr>
              <a:t>NavigableSet</a:t>
            </a:r>
            <a:r>
              <a:rPr lang="en-US" b="0" i="0" dirty="0">
                <a:solidFill>
                  <a:srgbClr val="353833"/>
                </a:solidFill>
                <a:effectLst/>
                <a:latin typeface="DejaVu Sans Mono"/>
              </a:rPr>
              <a:t>&lt;E&gt;, </a:t>
            </a:r>
            <a:r>
              <a:rPr lang="en-US" b="0" i="0" u="none" strike="noStrike" dirty="0" err="1">
                <a:solidFill>
                  <a:srgbClr val="4A6782"/>
                </a:solidFill>
                <a:effectLst/>
                <a:latin typeface="DejaVu Sans Mono"/>
                <a:hlinkClick r:id="rId5" tooltip="interface in java.util"/>
              </a:rPr>
              <a:t>SortedSet</a:t>
            </a:r>
            <a:r>
              <a:rPr lang="en-US" b="0" i="0" dirty="0">
                <a:solidFill>
                  <a:srgbClr val="353833"/>
                </a:solidFill>
                <a:effectLst/>
                <a:latin typeface="DejaVu Sans Mono"/>
              </a:rPr>
              <a:t>&lt;E&gt;</a:t>
            </a:r>
          </a:p>
          <a:p>
            <a:pPr algn="l">
              <a:spcBef>
                <a:spcPts val="750"/>
              </a:spcBef>
              <a:spcAft>
                <a:spcPts val="1125"/>
              </a:spcAft>
              <a:buFont typeface="Arial" panose="020B0604020202020204" pitchFamily="34" charset="0"/>
              <a:buChar char="•"/>
            </a:pPr>
            <a:r>
              <a:rPr lang="en-US" b="1" i="0" dirty="0">
                <a:solidFill>
                  <a:srgbClr val="4E4E4E"/>
                </a:solidFill>
                <a:effectLst/>
                <a:latin typeface="DejaVu Sans"/>
              </a:rPr>
              <a:t>All Known Implementing Classes:</a:t>
            </a:r>
          </a:p>
          <a:p>
            <a:pPr algn="l">
              <a:spcBef>
                <a:spcPts val="375"/>
              </a:spcBef>
              <a:spcAft>
                <a:spcPts val="750"/>
              </a:spcAft>
              <a:buFont typeface="Arial" panose="020B0604020202020204" pitchFamily="34" charset="0"/>
              <a:buChar char="•"/>
            </a:pPr>
            <a:r>
              <a:rPr lang="en-US" b="0" i="0" u="none" strike="noStrike" dirty="0" err="1">
                <a:solidFill>
                  <a:srgbClr val="4A6782"/>
                </a:solidFill>
                <a:effectLst/>
                <a:latin typeface="DejaVu Sans Mono"/>
                <a:hlinkClick r:id="rId6" tooltip="class in java.util"/>
              </a:rPr>
              <a:t>AbstractSet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7" tooltip="class in java.util.concurrent"/>
              </a:rPr>
              <a:t>ConcurrentHashMap.KeySetView</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8" tooltip="class in java.util.concurrent"/>
              </a:rPr>
              <a:t>ConcurrentSkipListSet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9" tooltip="class in java.util.concurrent"/>
              </a:rPr>
              <a:t>CopyOnWriteArraySet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0" tooltip="class in java.util"/>
              </a:rPr>
              <a:t>EnumSet</a:t>
            </a:r>
            <a:r>
              <a:rPr lang="en-US" b="0" i="0" dirty="0">
                <a:solidFill>
                  <a:srgbClr val="353833"/>
                </a:solidFill>
                <a:effectLst/>
                <a:latin typeface="DejaVu Sans Mono"/>
              </a:rPr>
              <a:t>, </a:t>
            </a:r>
            <a:r>
              <a:rPr lang="en-US" b="0" i="0" u="none" strike="noStrike" dirty="0">
                <a:solidFill>
                  <a:srgbClr val="4A6782"/>
                </a:solidFill>
                <a:effectLst/>
                <a:latin typeface="DejaVu Sans Mono"/>
                <a:hlinkClick r:id="rId11" tooltip="class in java.util"/>
              </a:rPr>
              <a:t>HashSet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2" tooltip="class in javax.print.attribute.standard"/>
              </a:rPr>
              <a:t>JobStateReasons</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3" tooltip="class in java.util"/>
              </a:rPr>
              <a:t>LinkedHashSet</a:t>
            </a:r>
            <a:r>
              <a:rPr lang="en-US" b="0" i="0" dirty="0">
                <a:solidFill>
                  <a:srgbClr val="353833"/>
                </a:solidFill>
                <a:effectLst/>
                <a:latin typeface="DejaVu Sans Mono"/>
              </a:rPr>
              <a:t>, </a:t>
            </a:r>
            <a:r>
              <a:rPr lang="en-US" b="0" i="0" u="none" strike="noStrike" dirty="0" err="1">
                <a:solidFill>
                  <a:srgbClr val="4A6782"/>
                </a:solidFill>
                <a:effectLst/>
                <a:latin typeface="DejaVu Sans Mono"/>
                <a:hlinkClick r:id="rId14" tooltip="class in java.util"/>
              </a:rPr>
              <a:t>TreeSet</a:t>
            </a:r>
            <a:endParaRPr lang="en-US" b="0" i="0" dirty="0">
              <a:solidFill>
                <a:srgbClr val="353833"/>
              </a:solidFill>
              <a:effectLst/>
              <a:latin typeface="DejaVu Sans Mono"/>
            </a:endParaRPr>
          </a:p>
        </p:txBody>
      </p:sp>
    </p:spTree>
    <p:extLst>
      <p:ext uri="{BB962C8B-B14F-4D97-AF65-F5344CB8AC3E}">
        <p14:creationId xmlns:p14="http://schemas.microsoft.com/office/powerpoint/2010/main" val="394135367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299</TotalTime>
  <Words>17240</Words>
  <Application>Microsoft Office PowerPoint</Application>
  <PresentationFormat>A4 Paper (210x297 mm)</PresentationFormat>
  <Paragraphs>1699</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Aptos</vt:lpstr>
      <vt:lpstr>Aptos Display</vt:lpstr>
      <vt:lpstr>Arial</vt:lpstr>
      <vt:lpstr>DejaVu Sans</vt:lpstr>
      <vt:lpstr>DejaVu Sans Mono</vt:lpstr>
      <vt:lpstr>DejaVu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44</cp:revision>
  <dcterms:created xsi:type="dcterms:W3CDTF">2026-02-06T21:19:28Z</dcterms:created>
  <dcterms:modified xsi:type="dcterms:W3CDTF">2026-02-07T03:17:00Z</dcterms:modified>
</cp:coreProperties>
</file>