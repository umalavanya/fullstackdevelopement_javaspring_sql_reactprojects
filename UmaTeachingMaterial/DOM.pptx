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36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p:scale>
          <a:sx n="73" d="100"/>
          <a:sy n="73" d="100"/>
        </p:scale>
        <p:origin x="1003" y="1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2/28/2026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590EC7-75A4-020F-31BA-4672C7258028}"/>
              </a:ext>
            </a:extLst>
          </p:cNvPr>
          <p:cNvSpPr txBox="1"/>
          <p:nvPr/>
        </p:nvSpPr>
        <p:spPr>
          <a:xfrm>
            <a:off x="163774" y="189651"/>
            <a:ext cx="4299044" cy="6478697"/>
          </a:xfrm>
          <a:prstGeom prst="rect">
            <a:avLst/>
          </a:prstGeom>
          <a:noFill/>
        </p:spPr>
        <p:txBody>
          <a:bodyPr wrap="square">
            <a:spAutoFit/>
          </a:bodyPr>
          <a:lstStyle/>
          <a:p>
            <a:pPr algn="l">
              <a:lnSpc>
                <a:spcPts val="1650"/>
              </a:lnSpc>
              <a:spcAft>
                <a:spcPts val="1200"/>
              </a:spcAft>
              <a:buNone/>
            </a:pPr>
            <a:r>
              <a:rPr lang="en-US" b="0" i="0" dirty="0">
                <a:solidFill>
                  <a:srgbClr val="0F1115"/>
                </a:solidFill>
                <a:effectLst/>
                <a:latin typeface="quote-cjk-patch"/>
              </a:rPr>
              <a:t>Imagine you've just moved to a new city. This city is called </a:t>
            </a:r>
            <a:r>
              <a:rPr lang="en-US" b="1" i="0" dirty="0" err="1">
                <a:solidFill>
                  <a:srgbClr val="0F1115"/>
                </a:solidFill>
                <a:effectLst/>
                <a:latin typeface="quote-cjk-patch"/>
              </a:rPr>
              <a:t>Documentown</a:t>
            </a:r>
            <a:r>
              <a:rPr lang="en-US" b="0" i="0" dirty="0">
                <a:solidFill>
                  <a:srgbClr val="0F1115"/>
                </a:solidFill>
                <a:effectLst/>
                <a:latin typeface="quote-cjk-patch"/>
              </a:rPr>
              <a:t>, and it's where every single website lives. Right now, you're standing in the middle of your very own house inside this city. This house is called </a:t>
            </a:r>
            <a:r>
              <a:rPr lang="en-US" b="0" i="0" dirty="0">
                <a:solidFill>
                  <a:srgbClr val="0F1115"/>
                </a:solidFill>
                <a:effectLst/>
                <a:latin typeface="Menlo"/>
              </a:rPr>
              <a:t>index.html</a:t>
            </a:r>
            <a:r>
              <a:rPr lang="en-US" b="0" i="0" dirty="0">
                <a:solidFill>
                  <a:srgbClr val="0F1115"/>
                </a:solidFill>
                <a:effectLst/>
                <a:latin typeface="quote-cjk-patch"/>
              </a:rPr>
              <a:t>.</a:t>
            </a:r>
          </a:p>
          <a:p>
            <a:pPr algn="l">
              <a:spcBef>
                <a:spcPts val="1200"/>
              </a:spcBef>
              <a:spcAft>
                <a:spcPts val="1200"/>
              </a:spcAft>
              <a:buNone/>
            </a:pPr>
            <a:r>
              <a:rPr lang="en-US" b="0" i="0" dirty="0">
                <a:solidFill>
                  <a:srgbClr val="0F1115"/>
                </a:solidFill>
                <a:effectLst/>
                <a:latin typeface="quote-cjk-patch"/>
              </a:rPr>
              <a:t>You're not just a resident here. You've been given a very special power. You are a </a:t>
            </a:r>
            <a:r>
              <a:rPr lang="en-US" b="1" i="0" dirty="0">
                <a:solidFill>
                  <a:srgbClr val="0F1115"/>
                </a:solidFill>
                <a:effectLst/>
                <a:latin typeface="quote-cjk-patch"/>
              </a:rPr>
              <a:t>Construction Manager</a:t>
            </a:r>
            <a:r>
              <a:rPr lang="en-US" b="0" i="0" dirty="0">
                <a:solidFill>
                  <a:srgbClr val="0F1115"/>
                </a:solidFill>
                <a:effectLst/>
                <a:latin typeface="quote-cjk-patch"/>
              </a:rPr>
              <a:t> with a direct line to the City Planner's office (that's the </a:t>
            </a:r>
            <a:r>
              <a:rPr lang="en-US" b="1" i="0" dirty="0">
                <a:solidFill>
                  <a:srgbClr val="0F1115"/>
                </a:solidFill>
                <a:effectLst/>
                <a:latin typeface="quote-cjk-patch"/>
              </a:rPr>
              <a:t>Browser</a:t>
            </a:r>
            <a:r>
              <a:rPr lang="en-US" b="0" i="0" dirty="0">
                <a:solidFill>
                  <a:srgbClr val="0F1115"/>
                </a:solidFill>
                <a:effectLst/>
                <a:latin typeface="quote-cjk-patch"/>
              </a:rPr>
              <a:t>).</a:t>
            </a:r>
          </a:p>
          <a:p>
            <a:pPr algn="l">
              <a:spcBef>
                <a:spcPts val="1200"/>
              </a:spcBef>
              <a:spcAft>
                <a:spcPts val="1200"/>
              </a:spcAft>
              <a:buNone/>
            </a:pPr>
            <a:r>
              <a:rPr lang="en-US" b="0" i="0" dirty="0">
                <a:solidFill>
                  <a:srgbClr val="0F1115"/>
                </a:solidFill>
                <a:effectLst/>
                <a:latin typeface="quote-cjk-patch"/>
              </a:rPr>
              <a:t>Your job? To understand every single brick, wire, and pipe in your house, and to have the power to change them instantly with your thoughts. But your thoughts aren't just random wishes. They are spoken in a specific language the city understands: </a:t>
            </a:r>
            <a:r>
              <a:rPr lang="en-US" b="1" i="0" dirty="0">
                <a:solidFill>
                  <a:srgbClr val="0F1115"/>
                </a:solidFill>
                <a:effectLst/>
                <a:latin typeface="quote-cjk-patch"/>
              </a:rPr>
              <a:t>JavaScript</a:t>
            </a:r>
            <a:r>
              <a:rPr lang="en-US" b="0" i="0" dirty="0">
                <a:solidFill>
                  <a:srgbClr val="0F1115"/>
                </a:solidFill>
                <a:effectLst/>
                <a:latin typeface="quote-cjk-patch"/>
              </a:rPr>
              <a:t>.</a:t>
            </a:r>
          </a:p>
          <a:p>
            <a:pPr algn="l">
              <a:spcBef>
                <a:spcPts val="1200"/>
              </a:spcBef>
              <a:spcAft>
                <a:spcPts val="1200"/>
              </a:spcAft>
              <a:buNone/>
            </a:pPr>
            <a:r>
              <a:rPr lang="en-US" b="0" i="0" dirty="0">
                <a:solidFill>
                  <a:srgbClr val="0F1115"/>
                </a:solidFill>
                <a:effectLst/>
                <a:latin typeface="quote-cjk-patch"/>
              </a:rPr>
              <a:t>This is the story of how you become the ultimate </a:t>
            </a:r>
            <a:r>
              <a:rPr lang="en-US" b="1" i="0" dirty="0">
                <a:solidFill>
                  <a:srgbClr val="0F1115"/>
                </a:solidFill>
                <a:effectLst/>
                <a:latin typeface="quote-cjk-patch"/>
              </a:rPr>
              <a:t>Master of the DOM (Document Object Model)</a:t>
            </a:r>
            <a:r>
              <a:rPr lang="en-US" b="0" i="0" dirty="0">
                <a:solidFill>
                  <a:srgbClr val="0F1115"/>
                </a:solidFill>
                <a:effectLst/>
                <a:latin typeface="quote-cjk-patch"/>
              </a:rPr>
              <a:t>.</a:t>
            </a:r>
          </a:p>
        </p:txBody>
      </p:sp>
      <p:sp>
        <p:nvSpPr>
          <p:cNvPr id="4" name="Rectangle: Rounded Corners 3">
            <a:extLst>
              <a:ext uri="{FF2B5EF4-FFF2-40B4-BE49-F238E27FC236}">
                <a16:creationId xmlns:a16="http://schemas.microsoft.com/office/drawing/2014/main" id="{4E6DE937-4065-F6B2-27C2-F14327CDA8DE}"/>
              </a:ext>
            </a:extLst>
          </p:cNvPr>
          <p:cNvSpPr/>
          <p:nvPr/>
        </p:nvSpPr>
        <p:spPr>
          <a:xfrm>
            <a:off x="4831307" y="189651"/>
            <a:ext cx="4910919" cy="622479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solidFill>
                <a:srgbClr val="FF0000"/>
              </a:solidFill>
            </a:endParaRPr>
          </a:p>
        </p:txBody>
      </p:sp>
      <p:sp>
        <p:nvSpPr>
          <p:cNvPr id="5" name="Rectangle: Rounded Corners 4">
            <a:extLst>
              <a:ext uri="{FF2B5EF4-FFF2-40B4-BE49-F238E27FC236}">
                <a16:creationId xmlns:a16="http://schemas.microsoft.com/office/drawing/2014/main" id="{89E4C608-D75A-1FD7-4DB8-2DC8E89977D0}"/>
              </a:ext>
            </a:extLst>
          </p:cNvPr>
          <p:cNvSpPr/>
          <p:nvPr/>
        </p:nvSpPr>
        <p:spPr>
          <a:xfrm>
            <a:off x="5336275" y="641444"/>
            <a:ext cx="759725" cy="5066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solidFill>
                <a:srgbClr val="FF0000"/>
              </a:solidFill>
            </a:endParaRPr>
          </a:p>
        </p:txBody>
      </p:sp>
      <p:sp>
        <p:nvSpPr>
          <p:cNvPr id="6" name="Rectangle: Rounded Corners 5">
            <a:extLst>
              <a:ext uri="{FF2B5EF4-FFF2-40B4-BE49-F238E27FC236}">
                <a16:creationId xmlns:a16="http://schemas.microsoft.com/office/drawing/2014/main" id="{0398C9FC-DF0C-0FB9-03D6-627012EC6B11}"/>
              </a:ext>
            </a:extLst>
          </p:cNvPr>
          <p:cNvSpPr/>
          <p:nvPr/>
        </p:nvSpPr>
        <p:spPr>
          <a:xfrm>
            <a:off x="6464489" y="641444"/>
            <a:ext cx="759725" cy="5066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solidFill>
                <a:srgbClr val="FF0000"/>
              </a:solidFill>
            </a:endParaRPr>
          </a:p>
        </p:txBody>
      </p:sp>
      <p:sp>
        <p:nvSpPr>
          <p:cNvPr id="7" name="Rectangle: Rounded Corners 6">
            <a:extLst>
              <a:ext uri="{FF2B5EF4-FFF2-40B4-BE49-F238E27FC236}">
                <a16:creationId xmlns:a16="http://schemas.microsoft.com/office/drawing/2014/main" id="{B80BB28F-BC39-0175-2E4F-48E2A7CADF0C}"/>
              </a:ext>
            </a:extLst>
          </p:cNvPr>
          <p:cNvSpPr/>
          <p:nvPr/>
        </p:nvSpPr>
        <p:spPr>
          <a:xfrm>
            <a:off x="7480489" y="641444"/>
            <a:ext cx="759725" cy="5066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solidFill>
                <a:srgbClr val="FF0000"/>
              </a:solidFill>
            </a:endParaRPr>
          </a:p>
        </p:txBody>
      </p:sp>
      <p:sp>
        <p:nvSpPr>
          <p:cNvPr id="8" name="Rectangle: Rounded Corners 7">
            <a:extLst>
              <a:ext uri="{FF2B5EF4-FFF2-40B4-BE49-F238E27FC236}">
                <a16:creationId xmlns:a16="http://schemas.microsoft.com/office/drawing/2014/main" id="{B6E21F42-0391-9C0B-6FB7-2E9B0F7C46B4}"/>
              </a:ext>
            </a:extLst>
          </p:cNvPr>
          <p:cNvSpPr/>
          <p:nvPr/>
        </p:nvSpPr>
        <p:spPr>
          <a:xfrm>
            <a:off x="8496489" y="641444"/>
            <a:ext cx="759725" cy="5066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solidFill>
                <a:srgbClr val="FF0000"/>
              </a:solidFill>
            </a:endParaRPr>
          </a:p>
        </p:txBody>
      </p:sp>
      <p:sp>
        <p:nvSpPr>
          <p:cNvPr id="9" name="Rectangle: Rounded Corners 8">
            <a:extLst>
              <a:ext uri="{FF2B5EF4-FFF2-40B4-BE49-F238E27FC236}">
                <a16:creationId xmlns:a16="http://schemas.microsoft.com/office/drawing/2014/main" id="{D2C424AF-370D-EE6C-AE70-73BB98FB3DF0}"/>
              </a:ext>
            </a:extLst>
          </p:cNvPr>
          <p:cNvSpPr/>
          <p:nvPr/>
        </p:nvSpPr>
        <p:spPr>
          <a:xfrm>
            <a:off x="5377369" y="1346555"/>
            <a:ext cx="759725" cy="5066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FF0000"/>
                </a:solidFill>
              </a:rPr>
              <a:t>Index.html</a:t>
            </a:r>
          </a:p>
          <a:p>
            <a:pPr algn="ctr"/>
            <a:r>
              <a:rPr lang="en-US" sz="900" dirty="0" err="1">
                <a:solidFill>
                  <a:srgbClr val="FF0000"/>
                </a:solidFill>
              </a:rPr>
              <a:t>Costruction</a:t>
            </a:r>
            <a:r>
              <a:rPr lang="en-US" sz="900" dirty="0">
                <a:solidFill>
                  <a:srgbClr val="FF0000"/>
                </a:solidFill>
              </a:rPr>
              <a:t> manager</a:t>
            </a:r>
          </a:p>
        </p:txBody>
      </p:sp>
      <p:sp>
        <p:nvSpPr>
          <p:cNvPr id="10" name="Rectangle: Rounded Corners 9">
            <a:extLst>
              <a:ext uri="{FF2B5EF4-FFF2-40B4-BE49-F238E27FC236}">
                <a16:creationId xmlns:a16="http://schemas.microsoft.com/office/drawing/2014/main" id="{53361696-F67C-5B2B-23A9-7B56F336F20F}"/>
              </a:ext>
            </a:extLst>
          </p:cNvPr>
          <p:cNvSpPr/>
          <p:nvPr/>
        </p:nvSpPr>
        <p:spPr>
          <a:xfrm>
            <a:off x="6464488" y="1346555"/>
            <a:ext cx="759725" cy="5066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rgbClr val="FF0000"/>
                </a:solidFill>
              </a:rPr>
              <a:t>Browser</a:t>
            </a:r>
          </a:p>
        </p:txBody>
      </p:sp>
      <p:sp>
        <p:nvSpPr>
          <p:cNvPr id="11" name="Rectangle: Rounded Corners 10">
            <a:extLst>
              <a:ext uri="{FF2B5EF4-FFF2-40B4-BE49-F238E27FC236}">
                <a16:creationId xmlns:a16="http://schemas.microsoft.com/office/drawing/2014/main" id="{F6A75641-7341-CF6D-266C-864DECDC7F9E}"/>
              </a:ext>
            </a:extLst>
          </p:cNvPr>
          <p:cNvSpPr/>
          <p:nvPr/>
        </p:nvSpPr>
        <p:spPr>
          <a:xfrm>
            <a:off x="7532196" y="1346555"/>
            <a:ext cx="759725" cy="5066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solidFill>
                <a:srgbClr val="FF0000"/>
              </a:solidFill>
            </a:endParaRPr>
          </a:p>
        </p:txBody>
      </p:sp>
      <p:sp>
        <p:nvSpPr>
          <p:cNvPr id="12" name="Rectangle: Rounded Corners 11">
            <a:extLst>
              <a:ext uri="{FF2B5EF4-FFF2-40B4-BE49-F238E27FC236}">
                <a16:creationId xmlns:a16="http://schemas.microsoft.com/office/drawing/2014/main" id="{72551D46-D2A4-99C2-A9D1-45037C408FB5}"/>
              </a:ext>
            </a:extLst>
          </p:cNvPr>
          <p:cNvSpPr/>
          <p:nvPr/>
        </p:nvSpPr>
        <p:spPr>
          <a:xfrm>
            <a:off x="8548196" y="1346555"/>
            <a:ext cx="759725" cy="5066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solidFill>
                <a:srgbClr val="FF0000"/>
              </a:solidFill>
            </a:endParaRP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84F464-D717-6446-DF5A-AB828E0303E7}"/>
              </a:ext>
            </a:extLst>
          </p:cNvPr>
          <p:cNvSpPr txBox="1"/>
          <p:nvPr/>
        </p:nvSpPr>
        <p:spPr>
          <a:xfrm>
            <a:off x="327546" y="128687"/>
            <a:ext cx="9578454" cy="6449201"/>
          </a:xfrm>
          <a:prstGeom prst="rect">
            <a:avLst/>
          </a:prstGeom>
          <a:noFill/>
        </p:spPr>
        <p:txBody>
          <a:bodyPr wrap="square">
            <a:spAutoFit/>
          </a:bodyPr>
          <a:lstStyle/>
          <a:p>
            <a:pPr algn="l">
              <a:lnSpc>
                <a:spcPts val="2250"/>
              </a:lnSpc>
              <a:spcBef>
                <a:spcPts val="2400"/>
              </a:spcBef>
              <a:spcAft>
                <a:spcPts val="1200"/>
              </a:spcAft>
              <a:buNone/>
            </a:pPr>
            <a:r>
              <a:rPr lang="en-US" b="1" dirty="0">
                <a:solidFill>
                  <a:srgbClr val="0F1115"/>
                </a:solidFill>
                <a:effectLst/>
                <a:latin typeface="quote-cjk-patch"/>
              </a:rPr>
              <a:t>Chapter 1: The Blueprint (What is the DOM?)</a:t>
            </a:r>
          </a:p>
          <a:p>
            <a:pPr algn="l">
              <a:spcBef>
                <a:spcPts val="1200"/>
              </a:spcBef>
              <a:spcAft>
                <a:spcPts val="1200"/>
              </a:spcAft>
              <a:buNone/>
            </a:pPr>
            <a:r>
              <a:rPr lang="en-US" b="0" i="0" dirty="0">
                <a:solidFill>
                  <a:srgbClr val="0F1115"/>
                </a:solidFill>
                <a:effectLst/>
                <a:latin typeface="quote-cjk-patch"/>
              </a:rPr>
              <a:t>You walk into your new house. To a normal person, they just see a finished home. A living room, a kitchen, a bedroom.</a:t>
            </a:r>
          </a:p>
          <a:p>
            <a:pPr algn="l">
              <a:spcBef>
                <a:spcPts val="1200"/>
              </a:spcBef>
              <a:spcAft>
                <a:spcPts val="1200"/>
              </a:spcAft>
              <a:buNone/>
            </a:pPr>
            <a:r>
              <a:rPr lang="en-US" b="0" i="0" dirty="0">
                <a:solidFill>
                  <a:srgbClr val="0F1115"/>
                </a:solidFill>
                <a:effectLst/>
                <a:latin typeface="quote-cjk-patch"/>
              </a:rPr>
              <a:t>But as the Construction Manager, you don't just see a house. You see a </a:t>
            </a:r>
            <a:r>
              <a:rPr lang="en-US" b="1" i="0" dirty="0">
                <a:solidFill>
                  <a:srgbClr val="0F1115"/>
                </a:solidFill>
                <a:effectLst/>
                <a:latin typeface="quote-cjk-patch"/>
              </a:rPr>
              <a:t>living, breathing, interconnected model</a:t>
            </a:r>
            <a:r>
              <a:rPr lang="en-US" b="0" i="0" dirty="0">
                <a:solidFill>
                  <a:srgbClr val="0F1115"/>
                </a:solidFill>
                <a:effectLst/>
                <a:latin typeface="quote-cjk-patch"/>
              </a:rPr>
              <a:t> of the house. The City Planner has given you a magical, interactive blueprint. This blueprint isn't a flat piece of paper; it's a </a:t>
            </a:r>
            <a:r>
              <a:rPr lang="en-US" b="1" i="0" dirty="0">
                <a:solidFill>
                  <a:srgbClr val="0F1115"/>
                </a:solidFill>
                <a:effectLst/>
                <a:latin typeface="quote-cjk-patch"/>
              </a:rPr>
              <a:t>tree</a:t>
            </a:r>
            <a:r>
              <a:rPr lang="en-US" b="0" i="0" dirty="0">
                <a:solidFill>
                  <a:srgbClr val="0F1115"/>
                </a:solidFill>
                <a:effectLst/>
                <a:latin typeface="quote-cjk-patch"/>
              </a:rPr>
              <a:t>.</a:t>
            </a:r>
          </a:p>
          <a:p>
            <a:pPr algn="l">
              <a:spcBef>
                <a:spcPts val="1200"/>
              </a:spcBef>
              <a:spcAft>
                <a:spcPts val="1200"/>
              </a:spcAft>
              <a:buNone/>
            </a:pPr>
            <a:r>
              <a:rPr lang="en-US" b="0" i="0" dirty="0">
                <a:solidFill>
                  <a:srgbClr val="0F1115"/>
                </a:solidFill>
                <a:effectLst/>
                <a:latin typeface="quote-cjk-patch"/>
              </a:rPr>
              <a:t>At the very top of the tree is the </a:t>
            </a:r>
            <a:r>
              <a:rPr lang="en-US" b="0" i="0" dirty="0">
                <a:solidFill>
                  <a:srgbClr val="0F1115"/>
                </a:solidFill>
                <a:effectLst/>
                <a:latin typeface="Menlo"/>
              </a:rPr>
              <a:t>document</a:t>
            </a:r>
            <a:r>
              <a:rPr lang="en-US" b="0" i="0" dirty="0">
                <a:solidFill>
                  <a:srgbClr val="0F1115"/>
                </a:solidFill>
                <a:effectLst/>
                <a:latin typeface="quote-cjk-patch"/>
              </a:rPr>
              <a:t> itself—the foundation and the root of everything.</a:t>
            </a:r>
          </a:p>
          <a:p>
            <a:pPr algn="l">
              <a:lnSpc>
                <a:spcPts val="1650"/>
              </a:lnSpc>
              <a:spcBef>
                <a:spcPts val="1200"/>
              </a:spcBef>
              <a:spcAft>
                <a:spcPts val="1200"/>
              </a:spcAft>
              <a:buNone/>
            </a:pPr>
            <a:r>
              <a:rPr lang="en-US" b="0" i="0" dirty="0">
                <a:solidFill>
                  <a:srgbClr val="0F1115"/>
                </a:solidFill>
                <a:effectLst/>
                <a:latin typeface="quote-cjk-patch"/>
              </a:rPr>
              <a:t>From the </a:t>
            </a:r>
            <a:r>
              <a:rPr lang="en-US" b="0" i="0" dirty="0">
                <a:solidFill>
                  <a:srgbClr val="0F1115"/>
                </a:solidFill>
                <a:effectLst/>
                <a:latin typeface="Menlo"/>
              </a:rPr>
              <a:t>document</a:t>
            </a:r>
            <a:r>
              <a:rPr lang="en-US" b="0" i="0" dirty="0">
                <a:solidFill>
                  <a:srgbClr val="0F1115"/>
                </a:solidFill>
                <a:effectLst/>
                <a:latin typeface="quote-cjk-patch"/>
              </a:rPr>
              <a:t>, the trunk of the tree grows: </a:t>
            </a:r>
            <a:r>
              <a:rPr lang="en-US" b="0" i="0" dirty="0">
                <a:solidFill>
                  <a:srgbClr val="0F1115"/>
                </a:solidFill>
                <a:effectLst/>
                <a:latin typeface="Menlo"/>
              </a:rPr>
              <a:t>&lt;html&gt;</a:t>
            </a:r>
            <a:r>
              <a:rPr lang="en-US" b="0" i="0" dirty="0">
                <a:solidFill>
                  <a:srgbClr val="0F1115"/>
                </a:solidFill>
                <a:effectLst/>
                <a:latin typeface="quote-cjk-patch"/>
              </a:rPr>
              <a:t>. This is the main structure.</a:t>
            </a:r>
            <a:br>
              <a:rPr lang="en-US" b="0" i="0" dirty="0">
                <a:solidFill>
                  <a:srgbClr val="0F1115"/>
                </a:solidFill>
                <a:effectLst/>
                <a:latin typeface="quote-cjk-patch"/>
              </a:rPr>
            </a:br>
            <a:r>
              <a:rPr lang="en-US" b="0" i="0" dirty="0">
                <a:solidFill>
                  <a:srgbClr val="0F1115"/>
                </a:solidFill>
                <a:effectLst/>
                <a:latin typeface="quote-cjk-patch"/>
              </a:rPr>
              <a:t>The </a:t>
            </a:r>
            <a:r>
              <a:rPr lang="en-US" b="0" i="0" dirty="0">
                <a:solidFill>
                  <a:srgbClr val="0F1115"/>
                </a:solidFill>
                <a:effectLst/>
                <a:latin typeface="Menlo"/>
              </a:rPr>
              <a:t>&lt;html&gt;</a:t>
            </a:r>
            <a:r>
              <a:rPr lang="en-US" b="0" i="0" dirty="0">
                <a:solidFill>
                  <a:srgbClr val="0F1115"/>
                </a:solidFill>
                <a:effectLst/>
                <a:latin typeface="quote-cjk-patch"/>
              </a:rPr>
              <a:t> trunk then splits into two major branches: </a:t>
            </a:r>
            <a:r>
              <a:rPr lang="en-US" b="0" i="0" dirty="0">
                <a:solidFill>
                  <a:srgbClr val="0F1115"/>
                </a:solidFill>
                <a:effectLst/>
                <a:latin typeface="Menlo"/>
              </a:rPr>
              <a:t>&lt;head&gt;</a:t>
            </a:r>
            <a:r>
              <a:rPr lang="en-US" b="0" i="0" dirty="0">
                <a:solidFill>
                  <a:srgbClr val="0F1115"/>
                </a:solidFill>
                <a:effectLst/>
                <a:latin typeface="quote-cjk-patch"/>
              </a:rPr>
              <a:t> and </a:t>
            </a:r>
            <a:r>
              <a:rPr lang="en-US" b="0" i="0" dirty="0">
                <a:solidFill>
                  <a:srgbClr val="0F1115"/>
                </a:solidFill>
                <a:effectLst/>
                <a:latin typeface="Menlo"/>
              </a:rPr>
              <a:t>&lt;body&gt;</a:t>
            </a:r>
            <a:r>
              <a:rPr lang="en-US" b="0" i="0" dirty="0">
                <a:solidFill>
                  <a:srgbClr val="0F1115"/>
                </a:solidFill>
                <a:effectLst/>
                <a:latin typeface="quote-cjk-patch"/>
              </a:rPr>
              <a:t>.</a:t>
            </a:r>
          </a:p>
          <a:p>
            <a:pPr algn="l">
              <a:spcBef>
                <a:spcPts val="1200"/>
              </a:spcBef>
              <a:spcAft>
                <a:spcPts val="1200"/>
              </a:spcAft>
              <a:buNone/>
            </a:pPr>
            <a:r>
              <a:rPr lang="en-US" b="0" i="0" dirty="0">
                <a:solidFill>
                  <a:srgbClr val="0F1115"/>
                </a:solidFill>
                <a:effectLst/>
                <a:latin typeface="quote-cjk-patch"/>
              </a:rPr>
              <a:t>And from those branches, all the leaves and smaller branches grow.</a:t>
            </a:r>
          </a:p>
          <a:p>
            <a:pPr algn="l">
              <a:lnSpc>
                <a:spcPts val="1650"/>
              </a:lnSpc>
              <a:spcBef>
                <a:spcPts val="1200"/>
              </a:spcBef>
              <a:spcAft>
                <a:spcPts val="1200"/>
              </a:spcAft>
              <a:buFont typeface="Arial" panose="020B0604020202020204" pitchFamily="34" charset="0"/>
              <a:buChar char="•"/>
            </a:pPr>
            <a:r>
              <a:rPr lang="en-US" b="0" i="0" dirty="0">
                <a:solidFill>
                  <a:srgbClr val="0F1115"/>
                </a:solidFill>
                <a:effectLst/>
                <a:latin typeface="quote-cjk-patch"/>
              </a:rPr>
              <a:t>From </a:t>
            </a:r>
            <a:r>
              <a:rPr lang="en-US" b="0" i="0" dirty="0">
                <a:solidFill>
                  <a:srgbClr val="0F1115"/>
                </a:solidFill>
                <a:effectLst/>
                <a:latin typeface="Menlo"/>
              </a:rPr>
              <a:t>&lt;body&gt;</a:t>
            </a:r>
            <a:r>
              <a:rPr lang="en-US" b="0" i="0" dirty="0">
                <a:solidFill>
                  <a:srgbClr val="0F1115"/>
                </a:solidFill>
                <a:effectLst/>
                <a:latin typeface="quote-cjk-patch"/>
              </a:rPr>
              <a:t>, you might have a </a:t>
            </a:r>
            <a:r>
              <a:rPr lang="en-US" b="0" i="0" dirty="0">
                <a:solidFill>
                  <a:srgbClr val="0F1115"/>
                </a:solidFill>
                <a:effectLst/>
                <a:latin typeface="Menlo"/>
              </a:rPr>
              <a:t>&lt;header&gt;</a:t>
            </a:r>
            <a:r>
              <a:rPr lang="en-US" b="0" i="0" dirty="0">
                <a:solidFill>
                  <a:srgbClr val="0F1115"/>
                </a:solidFill>
                <a:effectLst/>
                <a:latin typeface="quote-cjk-patch"/>
              </a:rPr>
              <a:t> branch, which has a </a:t>
            </a:r>
            <a:r>
              <a:rPr lang="en-US" b="0" i="0" dirty="0">
                <a:solidFill>
                  <a:srgbClr val="0F1115"/>
                </a:solidFill>
                <a:effectLst/>
                <a:latin typeface="Menlo"/>
              </a:rPr>
              <a:t>&lt;h1&gt;</a:t>
            </a:r>
            <a:r>
              <a:rPr lang="en-US" b="0" i="0" dirty="0">
                <a:solidFill>
                  <a:srgbClr val="0F1115"/>
                </a:solidFill>
                <a:effectLst/>
                <a:latin typeface="quote-cjk-patch"/>
              </a:rPr>
              <a:t> leaf that says "Welcome!"</a:t>
            </a:r>
          </a:p>
          <a:p>
            <a:pPr algn="l">
              <a:lnSpc>
                <a:spcPts val="1650"/>
              </a:lnSpc>
              <a:spcBef>
                <a:spcPts val="450"/>
              </a:spcBef>
              <a:spcAft>
                <a:spcPts val="1200"/>
              </a:spcAft>
              <a:buFont typeface="Arial" panose="020B0604020202020204" pitchFamily="34" charset="0"/>
              <a:buChar char="•"/>
            </a:pPr>
            <a:r>
              <a:rPr lang="en-US" b="0" i="0" dirty="0">
                <a:solidFill>
                  <a:srgbClr val="0F1115"/>
                </a:solidFill>
                <a:effectLst/>
                <a:latin typeface="quote-cjk-patch"/>
              </a:rPr>
              <a:t>Another branch, </a:t>
            </a:r>
            <a:r>
              <a:rPr lang="en-US" b="0" i="0" dirty="0">
                <a:solidFill>
                  <a:srgbClr val="0F1115"/>
                </a:solidFill>
                <a:effectLst/>
                <a:latin typeface="Menlo"/>
              </a:rPr>
              <a:t>&lt;main&gt;</a:t>
            </a:r>
            <a:r>
              <a:rPr lang="en-US" b="0" i="0" dirty="0">
                <a:solidFill>
                  <a:srgbClr val="0F1115"/>
                </a:solidFill>
                <a:effectLst/>
                <a:latin typeface="quote-cjk-patch"/>
              </a:rPr>
              <a:t>, might have a </a:t>
            </a:r>
            <a:r>
              <a:rPr lang="en-US" b="0" i="0" dirty="0">
                <a:solidFill>
                  <a:srgbClr val="0F1115"/>
                </a:solidFill>
                <a:effectLst/>
                <a:latin typeface="Menlo"/>
              </a:rPr>
              <a:t>&lt;p&gt;</a:t>
            </a:r>
            <a:r>
              <a:rPr lang="en-US" b="0" i="0" dirty="0">
                <a:solidFill>
                  <a:srgbClr val="0F1115"/>
                </a:solidFill>
                <a:effectLst/>
                <a:latin typeface="quote-cjk-patch"/>
              </a:rPr>
              <a:t> leaf with a paragraph of text, and a </a:t>
            </a:r>
            <a:r>
              <a:rPr lang="en-US" b="0" i="0" dirty="0">
                <a:solidFill>
                  <a:srgbClr val="0F1115"/>
                </a:solidFill>
                <a:effectLst/>
                <a:latin typeface="Menlo"/>
              </a:rPr>
              <a:t>&lt;button&gt;</a:t>
            </a:r>
            <a:r>
              <a:rPr lang="en-US" b="0" i="0" dirty="0">
                <a:solidFill>
                  <a:srgbClr val="0F1115"/>
                </a:solidFill>
                <a:effectLst/>
                <a:latin typeface="quote-cjk-patch"/>
              </a:rPr>
              <a:t> bud waiting to be activated.</a:t>
            </a:r>
          </a:p>
          <a:p>
            <a:pPr algn="l">
              <a:lnSpc>
                <a:spcPts val="1650"/>
              </a:lnSpc>
              <a:spcBef>
                <a:spcPts val="1200"/>
              </a:spcBef>
              <a:spcAft>
                <a:spcPts val="1200"/>
              </a:spcAft>
              <a:buNone/>
            </a:pPr>
            <a:r>
              <a:rPr lang="en-US" b="0" i="0" dirty="0">
                <a:solidFill>
                  <a:srgbClr val="0F1115"/>
                </a:solidFill>
                <a:effectLst/>
                <a:latin typeface="quote-cjk-patch"/>
              </a:rPr>
              <a:t>This entire tree—from the root </a:t>
            </a:r>
            <a:r>
              <a:rPr lang="en-US" b="0" i="0" dirty="0">
                <a:solidFill>
                  <a:srgbClr val="0F1115"/>
                </a:solidFill>
                <a:effectLst/>
                <a:latin typeface="Menlo"/>
              </a:rPr>
              <a:t>document</a:t>
            </a:r>
            <a:r>
              <a:rPr lang="en-US" b="0" i="0" dirty="0">
                <a:solidFill>
                  <a:srgbClr val="0F1115"/>
                </a:solidFill>
                <a:effectLst/>
                <a:latin typeface="quote-cjk-patch"/>
              </a:rPr>
              <a:t> to the tiniest text leaf—is the </a:t>
            </a:r>
            <a:r>
              <a:rPr lang="en-US" b="1" i="0" dirty="0">
                <a:solidFill>
                  <a:srgbClr val="0F1115"/>
                </a:solidFill>
                <a:effectLst/>
                <a:latin typeface="quote-cjk-patch"/>
              </a:rPr>
              <a:t>DOM</a:t>
            </a:r>
            <a:r>
              <a:rPr lang="en-US" b="0" i="0" dirty="0">
                <a:solidFill>
                  <a:srgbClr val="0F1115"/>
                </a:solidFill>
                <a:effectLst/>
                <a:latin typeface="quote-cjk-patch"/>
              </a:rPr>
              <a:t>. It's your interactive blueprint. Change something on this blueprint, and the real house changes instantly. </a:t>
            </a:r>
            <a:r>
              <a:rPr lang="en-US" b="1" i="0" dirty="0">
                <a:solidFill>
                  <a:srgbClr val="0F1115"/>
                </a:solidFill>
                <a:effectLst/>
                <a:latin typeface="quote-cjk-patch"/>
              </a:rPr>
              <a:t>You don't rebuild the house; you just update the blueprint, and the magic happens.</a:t>
            </a:r>
            <a:endParaRPr lang="en-US" b="0" i="0" dirty="0">
              <a:solidFill>
                <a:srgbClr val="0F1115"/>
              </a:solidFill>
              <a:effectLst/>
              <a:latin typeface="quote-cjk-patch"/>
            </a:endParaRPr>
          </a:p>
        </p:txBody>
      </p:sp>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4" name="Rectangle 1033">
            <a:extLst>
              <a:ext uri="{FF2B5EF4-FFF2-40B4-BE49-F238E27FC236}">
                <a16:creationId xmlns:a16="http://schemas.microsoft.com/office/drawing/2014/main" id="{7BDAC5B6-20CE-447F-8BA1-F2274AC7A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id="{D1D22B31-BF8F-446B-9009-8A251FB17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906000" cy="6858000"/>
          </a:xfrm>
          <a:custGeom>
            <a:avLst/>
            <a:gdLst>
              <a:gd name="connsiteX0" fmla="*/ 3094406 w 12192000"/>
              <a:gd name="connsiteY0" fmla="*/ 283966 h 6858000"/>
              <a:gd name="connsiteX1" fmla="*/ 3038833 w 12192000"/>
              <a:gd name="connsiteY1" fmla="*/ 309661 h 6858000"/>
              <a:gd name="connsiteX2" fmla="*/ 3348384 w 12192000"/>
              <a:gd name="connsiteY2" fmla="*/ 406000 h 6858000"/>
              <a:gd name="connsiteX3" fmla="*/ 2864309 w 12192000"/>
              <a:gd name="connsiteY3" fmla="*/ 355295 h 6858000"/>
              <a:gd name="connsiteX4" fmla="*/ 2856039 w 12192000"/>
              <a:gd name="connsiteY4" fmla="*/ 388058 h 6858000"/>
              <a:gd name="connsiteX5" fmla="*/ 3405794 w 12192000"/>
              <a:gd name="connsiteY5" fmla="*/ 512089 h 6858000"/>
              <a:gd name="connsiteX6" fmla="*/ 3356651 w 12192000"/>
              <a:gd name="connsiteY6" fmla="*/ 531204 h 6858000"/>
              <a:gd name="connsiteX7" fmla="*/ 3064552 w 12192000"/>
              <a:gd name="connsiteY7" fmla="*/ 483228 h 6858000"/>
              <a:gd name="connsiteX8" fmla="*/ 3005765 w 12192000"/>
              <a:gd name="connsiteY8" fmla="*/ 495708 h 6858000"/>
              <a:gd name="connsiteX9" fmla="*/ 3034700 w 12192000"/>
              <a:gd name="connsiteY9" fmla="*/ 553823 h 6858000"/>
              <a:gd name="connsiteX10" fmla="*/ 3161459 w 12192000"/>
              <a:gd name="connsiteY10" fmla="*/ 576445 h 6858000"/>
              <a:gd name="connsiteX11" fmla="*/ 3358949 w 12192000"/>
              <a:gd name="connsiteY11" fmla="*/ 712961 h 6858000"/>
              <a:gd name="connsiteX12" fmla="*/ 3059960 w 12192000"/>
              <a:gd name="connsiteY12" fmla="*/ 696576 h 6858000"/>
              <a:gd name="connsiteX13" fmla="*/ 3007143 w 12192000"/>
              <a:gd name="connsiteY13" fmla="*/ 729732 h 6858000"/>
              <a:gd name="connsiteX14" fmla="*/ 2986935 w 12192000"/>
              <a:gd name="connsiteY14" fmla="*/ 772635 h 6858000"/>
              <a:gd name="connsiteX15" fmla="*/ 2871197 w 12192000"/>
              <a:gd name="connsiteY15" fmla="*/ 808127 h 6858000"/>
              <a:gd name="connsiteX16" fmla="*/ 3053071 w 12192000"/>
              <a:gd name="connsiteY16" fmla="*/ 847913 h 6858000"/>
              <a:gd name="connsiteX17" fmla="*/ 2858796 w 12192000"/>
              <a:gd name="connsiteY17" fmla="*/ 847913 h 6858000"/>
              <a:gd name="connsiteX18" fmla="*/ 2635588 w 12192000"/>
              <a:gd name="connsiteY18" fmla="*/ 820611 h 6858000"/>
              <a:gd name="connsiteX19" fmla="*/ 2397683 w 12192000"/>
              <a:gd name="connsiteY19" fmla="*/ 829190 h 6858000"/>
              <a:gd name="connsiteX20" fmla="*/ 1921874 w 12192000"/>
              <a:gd name="connsiteY20" fmla="*/ 778877 h 6858000"/>
              <a:gd name="connsiteX21" fmla="*/ 1695450 w 12192000"/>
              <a:gd name="connsiteY21" fmla="*/ 782386 h 6858000"/>
              <a:gd name="connsiteX22" fmla="*/ 2954324 w 12192000"/>
              <a:gd name="connsiteY22" fmla="*/ 1120940 h 6858000"/>
              <a:gd name="connsiteX23" fmla="*/ 2890028 w 12192000"/>
              <a:gd name="connsiteY23" fmla="*/ 1195435 h 6858000"/>
              <a:gd name="connsiteX24" fmla="*/ 3153652 w 12192000"/>
              <a:gd name="connsiteY24" fmla="*/ 1276563 h 6858000"/>
              <a:gd name="connsiteX25" fmla="*/ 3218410 w 12192000"/>
              <a:gd name="connsiteY25" fmla="*/ 1356911 h 6858000"/>
              <a:gd name="connsiteX26" fmla="*/ 3137118 w 12192000"/>
              <a:gd name="connsiteY26" fmla="*/ 1349891 h 6858000"/>
              <a:gd name="connsiteX27" fmla="*/ 3067309 w 12192000"/>
              <a:gd name="connsiteY27" fmla="*/ 1365102 h 6858000"/>
              <a:gd name="connsiteX28" fmla="*/ 3096243 w 12192000"/>
              <a:gd name="connsiteY28" fmla="*/ 1467292 h 6858000"/>
              <a:gd name="connsiteX29" fmla="*/ 3468716 w 12192000"/>
              <a:gd name="connsiteY29" fmla="*/ 1599125 h 6858000"/>
              <a:gd name="connsiteX30" fmla="*/ 3502241 w 12192000"/>
              <a:gd name="connsiteY30" fmla="*/ 1642029 h 6858000"/>
              <a:gd name="connsiteX31" fmla="*/ 3457692 w 12192000"/>
              <a:gd name="connsiteY31" fmla="*/ 1672453 h 6858000"/>
              <a:gd name="connsiteX32" fmla="*/ 3337362 w 12192000"/>
              <a:gd name="connsiteY32" fmla="*/ 1688053 h 6858000"/>
              <a:gd name="connsiteX33" fmla="*/ 3505915 w 12192000"/>
              <a:gd name="connsiteY33" fmla="*/ 1834318 h 6858000"/>
              <a:gd name="connsiteX34" fmla="*/ 3567458 w 12192000"/>
              <a:gd name="connsiteY34" fmla="*/ 1874880 h 6858000"/>
              <a:gd name="connsiteX35" fmla="*/ 3672634 w 12192000"/>
              <a:gd name="connsiteY35" fmla="*/ 1937678 h 6858000"/>
              <a:gd name="connsiteX36" fmla="*/ 3674470 w 12192000"/>
              <a:gd name="connsiteY36" fmla="*/ 1956789 h 6858000"/>
              <a:gd name="connsiteX37" fmla="*/ 3531176 w 12192000"/>
              <a:gd name="connsiteY37" fmla="*/ 2024266 h 6858000"/>
              <a:gd name="connsiteX38" fmla="*/ 3272604 w 12192000"/>
              <a:gd name="connsiteY38" fmla="*/ 2005933 h 6858000"/>
              <a:gd name="connsiteX39" fmla="*/ 3654720 w 12192000"/>
              <a:gd name="connsiteY39" fmla="*/ 2106564 h 6858000"/>
              <a:gd name="connsiteX40" fmla="*/ 2417892 w 12192000"/>
              <a:gd name="connsiteY40" fmla="*/ 1866690 h 6858000"/>
              <a:gd name="connsiteX41" fmla="*/ 2496888 w 12192000"/>
              <a:gd name="connsiteY41" fmla="*/ 1929487 h 6858000"/>
              <a:gd name="connsiteX42" fmla="*/ 2929526 w 12192000"/>
              <a:gd name="connsiteY42" fmla="*/ 2094862 h 6858000"/>
              <a:gd name="connsiteX43" fmla="*/ 3052152 w 12192000"/>
              <a:gd name="connsiteY43" fmla="*/ 2198613 h 6858000"/>
              <a:gd name="connsiteX44" fmla="*/ 3180748 w 12192000"/>
              <a:gd name="connsiteY44" fmla="*/ 2255948 h 6858000"/>
              <a:gd name="connsiteX45" fmla="*/ 3361244 w 12192000"/>
              <a:gd name="connsiteY45" fmla="*/ 2254777 h 6858000"/>
              <a:gd name="connsiteX46" fmla="*/ 3489382 w 12192000"/>
              <a:gd name="connsiteY46" fmla="*/ 2342926 h 6858000"/>
              <a:gd name="connsiteX47" fmla="*/ 3355733 w 12192000"/>
              <a:gd name="connsiteY47" fmla="*/ 2361649 h 6858000"/>
              <a:gd name="connsiteX48" fmla="*/ 3199121 w 12192000"/>
              <a:gd name="connsiteY48" fmla="*/ 2347216 h 6858000"/>
              <a:gd name="connsiteX49" fmla="*/ 2861091 w 12192000"/>
              <a:gd name="connsiteY49" fmla="*/ 2351896 h 6858000"/>
              <a:gd name="connsiteX50" fmla="*/ 2667278 w 12192000"/>
              <a:gd name="connsiteY50" fmla="*/ 2369058 h 6858000"/>
              <a:gd name="connsiteX51" fmla="*/ 2221781 w 12192000"/>
              <a:gd name="connsiteY51" fmla="*/ 2339805 h 6858000"/>
              <a:gd name="connsiteX52" fmla="*/ 2247961 w 12192000"/>
              <a:gd name="connsiteY52" fmla="*/ 2414693 h 6858000"/>
              <a:gd name="connsiteX53" fmla="*/ 2231425 w 12192000"/>
              <a:gd name="connsiteY53" fmla="*/ 2479828 h 6858000"/>
              <a:gd name="connsiteX54" fmla="*/ 2224996 w 12192000"/>
              <a:gd name="connsiteY54" fmla="*/ 2621414 h 6858000"/>
              <a:gd name="connsiteX55" fmla="*/ 2229131 w 12192000"/>
              <a:gd name="connsiteY55" fmla="*/ 2644426 h 6858000"/>
              <a:gd name="connsiteX56" fmla="*/ 2129466 w 12192000"/>
              <a:gd name="connsiteY56" fmla="*/ 2659247 h 6858000"/>
              <a:gd name="connsiteX57" fmla="*/ 2723312 w 12192000"/>
              <a:gd name="connsiteY57" fmla="*/ 2953726 h 6858000"/>
              <a:gd name="connsiteX58" fmla="*/ 2326496 w 12192000"/>
              <a:gd name="connsiteY58" fmla="*/ 2878838 h 6858000"/>
              <a:gd name="connsiteX59" fmla="*/ 2272759 w 12192000"/>
              <a:gd name="connsiteY59" fmla="*/ 3002480 h 6858000"/>
              <a:gd name="connsiteX60" fmla="*/ 2459226 w 12192000"/>
              <a:gd name="connsiteY60" fmla="*/ 3112471 h 6858000"/>
              <a:gd name="connsiteX61" fmla="*/ 2528117 w 12192000"/>
              <a:gd name="connsiteY61" fmla="*/ 3330111 h 6858000"/>
              <a:gd name="connsiteX62" fmla="*/ 2494590 w 12192000"/>
              <a:gd name="connsiteY62" fmla="*/ 3529029 h 6858000"/>
              <a:gd name="connsiteX63" fmla="*/ 2414677 w 12192000"/>
              <a:gd name="connsiteY63" fmla="*/ 3592215 h 6858000"/>
              <a:gd name="connsiteX64" fmla="*/ 2298940 w 12192000"/>
              <a:gd name="connsiteY64" fmla="*/ 3705716 h 6858000"/>
              <a:gd name="connsiteX65" fmla="*/ 2227294 w 12192000"/>
              <a:gd name="connsiteY65" fmla="*/ 3775921 h 6858000"/>
              <a:gd name="connsiteX66" fmla="*/ 1978366 w 12192000"/>
              <a:gd name="connsiteY66" fmla="*/ 3748620 h 6858000"/>
              <a:gd name="connsiteX67" fmla="*/ 2310421 w 12192000"/>
              <a:gd name="connsiteY67" fmla="*/ 3926868 h 6858000"/>
              <a:gd name="connsiteX68" fmla="*/ 2041285 w 12192000"/>
              <a:gd name="connsiteY68" fmla="*/ 3904635 h 6858000"/>
              <a:gd name="connsiteX69" fmla="*/ 1953565 w 12192000"/>
              <a:gd name="connsiteY69" fmla="*/ 3917116 h 6858000"/>
              <a:gd name="connsiteX70" fmla="*/ 2003623 w 12192000"/>
              <a:gd name="connsiteY70" fmla="*/ 3974842 h 6858000"/>
              <a:gd name="connsiteX71" fmla="*/ 2201114 w 12192000"/>
              <a:gd name="connsiteY71" fmla="*/ 4072742 h 6858000"/>
              <a:gd name="connsiteX72" fmla="*/ 2608032 w 12192000"/>
              <a:gd name="connsiteY72" fmla="*/ 4337967 h 6858000"/>
              <a:gd name="connsiteX73" fmla="*/ 2213973 w 12192000"/>
              <a:gd name="connsiteY73" fmla="*/ 4216277 h 6858000"/>
              <a:gd name="connsiteX74" fmla="*/ 2629158 w 12192000"/>
              <a:gd name="connsiteY74" fmla="*/ 4488911 h 6858000"/>
              <a:gd name="connsiteX75" fmla="*/ 2721471 w 12192000"/>
              <a:gd name="connsiteY75" fmla="*/ 4579399 h 6858000"/>
              <a:gd name="connsiteX76" fmla="*/ 2907939 w 12192000"/>
              <a:gd name="connsiteY76" fmla="*/ 4804062 h 6858000"/>
              <a:gd name="connsiteX77" fmla="*/ 2898753 w 12192000"/>
              <a:gd name="connsiteY77" fmla="*/ 4829414 h 6858000"/>
              <a:gd name="connsiteX78" fmla="*/ 2683352 w 12192000"/>
              <a:gd name="connsiteY78" fmla="*/ 4793141 h 6858000"/>
              <a:gd name="connsiteX79" fmla="*/ 2962594 w 12192000"/>
              <a:gd name="connsiteY79" fmla="*/ 4981920 h 6858000"/>
              <a:gd name="connsiteX80" fmla="*/ 3251019 w 12192000"/>
              <a:gd name="connsiteY80" fmla="*/ 5127012 h 6858000"/>
              <a:gd name="connsiteX81" fmla="*/ 3046180 w 12192000"/>
              <a:gd name="connsiteY81" fmla="*/ 5104781 h 6858000"/>
              <a:gd name="connsiteX82" fmla="*/ 2764646 w 12192000"/>
              <a:gd name="connsiteY82" fmla="*/ 5021703 h 6858000"/>
              <a:gd name="connsiteX83" fmla="*/ 2666820 w 12192000"/>
              <a:gd name="connsiteY83" fmla="*/ 5052905 h 6858000"/>
              <a:gd name="connsiteX84" fmla="*/ 2933657 w 12192000"/>
              <a:gd name="connsiteY84" fmla="*/ 5190198 h 6858000"/>
              <a:gd name="connsiteX85" fmla="*/ 3086598 w 12192000"/>
              <a:gd name="connsiteY85" fmla="*/ 5253776 h 6858000"/>
              <a:gd name="connsiteX86" fmla="*/ 3147680 w 12192000"/>
              <a:gd name="connsiteY86" fmla="*/ 5302531 h 6858000"/>
              <a:gd name="connsiteX87" fmla="*/ 3322204 w 12192000"/>
              <a:gd name="connsiteY87" fmla="*/ 5476487 h 6858000"/>
              <a:gd name="connsiteX88" fmla="*/ 3834758 w 12192000"/>
              <a:gd name="connsiteY88" fmla="*/ 5666434 h 6858000"/>
              <a:gd name="connsiteX89" fmla="*/ 4314240 w 12192000"/>
              <a:gd name="connsiteY89" fmla="*/ 5902409 h 6858000"/>
              <a:gd name="connsiteX90" fmla="*/ 4688552 w 12192000"/>
              <a:gd name="connsiteY90" fmla="*/ 6049453 h 6858000"/>
              <a:gd name="connsiteX91" fmla="*/ 5634660 w 12192000"/>
              <a:gd name="connsiteY91" fmla="*/ 6238620 h 6858000"/>
              <a:gd name="connsiteX92" fmla="*/ 9222980 w 12192000"/>
              <a:gd name="connsiteY92" fmla="*/ 4955397 h 6858000"/>
              <a:gd name="connsiteX93" fmla="*/ 9268448 w 12192000"/>
              <a:gd name="connsiteY93" fmla="*/ 4917173 h 6858000"/>
              <a:gd name="connsiteX94" fmla="*/ 9442512 w 12192000"/>
              <a:gd name="connsiteY94" fmla="*/ 4773251 h 6858000"/>
              <a:gd name="connsiteX95" fmla="*/ 9590400 w 12192000"/>
              <a:gd name="connsiteY95" fmla="*/ 4643756 h 6858000"/>
              <a:gd name="connsiteX96" fmla="*/ 9513242 w 12192000"/>
              <a:gd name="connsiteY96" fmla="*/ 4600073 h 6858000"/>
              <a:gd name="connsiteX97" fmla="*/ 9617498 w 12192000"/>
              <a:gd name="connsiteY97" fmla="*/ 4476430 h 6858000"/>
              <a:gd name="connsiteX98" fmla="*/ 9949094 w 12192000"/>
              <a:gd name="connsiteY98" fmla="*/ 4095364 h 6858000"/>
              <a:gd name="connsiteX99" fmla="*/ 10094686 w 12192000"/>
              <a:gd name="connsiteY99" fmla="*/ 4011507 h 6858000"/>
              <a:gd name="connsiteX100" fmla="*/ 10271967 w 12192000"/>
              <a:gd name="connsiteY100" fmla="*/ 3800497 h 6858000"/>
              <a:gd name="connsiteX101" fmla="*/ 10297226 w 12192000"/>
              <a:gd name="connsiteY101" fmla="*/ 3751742 h 6858000"/>
              <a:gd name="connsiteX102" fmla="*/ 10260943 w 12192000"/>
              <a:gd name="connsiteY102" fmla="*/ 3689723 h 6858000"/>
              <a:gd name="connsiteX103" fmla="*/ 10233847 w 12192000"/>
              <a:gd name="connsiteY103" fmla="*/ 3627319 h 6858000"/>
              <a:gd name="connsiteX104" fmla="*/ 10269209 w 12192000"/>
              <a:gd name="connsiteY104" fmla="*/ 3608986 h 6858000"/>
              <a:gd name="connsiteX105" fmla="*/ 10496550 w 12192000"/>
              <a:gd name="connsiteY105" fmla="*/ 3577393 h 6858000"/>
              <a:gd name="connsiteX106" fmla="*/ 10364738 w 12192000"/>
              <a:gd name="connsiteY106" fmla="*/ 3458823 h 6858000"/>
              <a:gd name="connsiteX107" fmla="*/ 10132346 w 12192000"/>
              <a:gd name="connsiteY107" fmla="*/ 3282137 h 6858000"/>
              <a:gd name="connsiteX108" fmla="*/ 10026712 w 12192000"/>
              <a:gd name="connsiteY108" fmla="*/ 3156543 h 6858000"/>
              <a:gd name="connsiteX109" fmla="*/ 10014312 w 12192000"/>
              <a:gd name="connsiteY109" fmla="*/ 3044213 h 6858000"/>
              <a:gd name="connsiteX110" fmla="*/ 9806718 w 12192000"/>
              <a:gd name="connsiteY110" fmla="*/ 2977907 h 6858000"/>
              <a:gd name="connsiteX111" fmla="*/ 10001912 w 12192000"/>
              <a:gd name="connsiteY111" fmla="*/ 2740374 h 6858000"/>
              <a:gd name="connsiteX112" fmla="*/ 10021662 w 12192000"/>
              <a:gd name="connsiteY112" fmla="*/ 2691231 h 6858000"/>
              <a:gd name="connsiteX113" fmla="*/ 9904546 w 12192000"/>
              <a:gd name="connsiteY113" fmla="*/ 2515322 h 6858000"/>
              <a:gd name="connsiteX114" fmla="*/ 9885256 w 12192000"/>
              <a:gd name="connsiteY114" fmla="*/ 2487240 h 6858000"/>
              <a:gd name="connsiteX115" fmla="*/ 9842085 w 12192000"/>
              <a:gd name="connsiteY115" fmla="*/ 2431074 h 6858000"/>
              <a:gd name="connsiteX116" fmla="*/ 9718078 w 12192000"/>
              <a:gd name="connsiteY116" fmla="*/ 2417424 h 6858000"/>
              <a:gd name="connsiteX117" fmla="*/ 9782378 w 12192000"/>
              <a:gd name="connsiteY117" fmla="*/ 2377641 h 6858000"/>
              <a:gd name="connsiteX118" fmla="*/ 9907302 w 12192000"/>
              <a:gd name="connsiteY118" fmla="*/ 2243078 h 6858000"/>
              <a:gd name="connsiteX119" fmla="*/ 9824171 w 12192000"/>
              <a:gd name="connsiteY119" fmla="*/ 2114365 h 6858000"/>
              <a:gd name="connsiteX120" fmla="*/ 9818662 w 12192000"/>
              <a:gd name="connsiteY120" fmla="*/ 2043377 h 6858000"/>
              <a:gd name="connsiteX121" fmla="*/ 9958740 w 12192000"/>
              <a:gd name="connsiteY121" fmla="*/ 1952499 h 6858000"/>
              <a:gd name="connsiteX122" fmla="*/ 10064374 w 12192000"/>
              <a:gd name="connsiteY122" fmla="*/ 1916615 h 6858000"/>
              <a:gd name="connsiteX123" fmla="*/ 10113055 w 12192000"/>
              <a:gd name="connsiteY123" fmla="*/ 1865131 h 6858000"/>
              <a:gd name="connsiteX124" fmla="*/ 10055646 w 12192000"/>
              <a:gd name="connsiteY124" fmla="*/ 1822227 h 6858000"/>
              <a:gd name="connsiteX125" fmla="*/ 9800748 w 12192000"/>
              <a:gd name="connsiteY125" fmla="*/ 1720036 h 6858000"/>
              <a:gd name="connsiteX126" fmla="*/ 9938071 w 12192000"/>
              <a:gd name="connsiteY126" fmla="*/ 1634617 h 6858000"/>
              <a:gd name="connsiteX127" fmla="*/ 9220224 w 12192000"/>
              <a:gd name="connsiteY127" fmla="*/ 1231709 h 6858000"/>
              <a:gd name="connsiteX128" fmla="*/ 9133419 w 12192000"/>
              <a:gd name="connsiteY128" fmla="*/ 1170083 h 6858000"/>
              <a:gd name="connsiteX129" fmla="*/ 8672768 w 12192000"/>
              <a:gd name="connsiteY129" fmla="*/ 1020699 h 6858000"/>
              <a:gd name="connsiteX130" fmla="*/ 8198797 w 12192000"/>
              <a:gd name="connsiteY130" fmla="*/ 915000 h 6858000"/>
              <a:gd name="connsiteX131" fmla="*/ 8528095 w 12192000"/>
              <a:gd name="connsiteY131" fmla="*/ 691898 h 6858000"/>
              <a:gd name="connsiteX132" fmla="*/ 8025190 w 12192000"/>
              <a:gd name="connsiteY132" fmla="*/ 640021 h 6858000"/>
              <a:gd name="connsiteX133" fmla="*/ 7976047 w 12192000"/>
              <a:gd name="connsiteY133" fmla="*/ 641584 h 6858000"/>
              <a:gd name="connsiteX134" fmla="*/ 6988604 w 12192000"/>
              <a:gd name="connsiteY134" fmla="*/ 607260 h 6858000"/>
              <a:gd name="connsiteX135" fmla="*/ 5573116 w 12192000"/>
              <a:gd name="connsiteY135" fmla="*/ 493368 h 6858000"/>
              <a:gd name="connsiteX136" fmla="*/ 4401503 w 12192000"/>
              <a:gd name="connsiteY136" fmla="*/ 425112 h 6858000"/>
              <a:gd name="connsiteX137" fmla="*/ 3154109 w 12192000"/>
              <a:gd name="connsiteY137" fmla="*/ 292499 h 6858000"/>
              <a:gd name="connsiteX138" fmla="*/ 3094406 w 12192000"/>
              <a:gd name="connsiteY138" fmla="*/ 283966 h 6858000"/>
              <a:gd name="connsiteX139" fmla="*/ 0 w 12192000"/>
              <a:gd name="connsiteY139" fmla="*/ 0 h 6858000"/>
              <a:gd name="connsiteX140" fmla="*/ 12192000 w 12192000"/>
              <a:gd name="connsiteY140" fmla="*/ 0 h 6858000"/>
              <a:gd name="connsiteX141" fmla="*/ 12192000 w 12192000"/>
              <a:gd name="connsiteY141" fmla="*/ 6858000 h 6858000"/>
              <a:gd name="connsiteX142" fmla="*/ 0 w 12192000"/>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2192000" h="6858000">
                <a:moveTo>
                  <a:pt x="3094406" y="283966"/>
                </a:moveTo>
                <a:cubicBezTo>
                  <a:pt x="3074312" y="283528"/>
                  <a:pt x="3054907" y="288795"/>
                  <a:pt x="3038833" y="309661"/>
                </a:cubicBezTo>
                <a:cubicBezTo>
                  <a:pt x="3124259" y="364657"/>
                  <a:pt x="3233105" y="343983"/>
                  <a:pt x="3348384" y="406000"/>
                </a:cubicBezTo>
                <a:cubicBezTo>
                  <a:pt x="3161001" y="386497"/>
                  <a:pt x="3012653" y="370896"/>
                  <a:pt x="2864309" y="355295"/>
                </a:cubicBezTo>
                <a:cubicBezTo>
                  <a:pt x="2861553" y="366216"/>
                  <a:pt x="2858796" y="377136"/>
                  <a:pt x="2856039" y="388058"/>
                </a:cubicBezTo>
                <a:cubicBezTo>
                  <a:pt x="3045722" y="411070"/>
                  <a:pt x="3221166" y="470356"/>
                  <a:pt x="3405794" y="512089"/>
                </a:cubicBezTo>
                <a:cubicBezTo>
                  <a:pt x="3388799" y="537835"/>
                  <a:pt x="3371808" y="532763"/>
                  <a:pt x="3356651" y="531204"/>
                </a:cubicBezTo>
                <a:cubicBezTo>
                  <a:pt x="3257907" y="521062"/>
                  <a:pt x="3159164" y="510922"/>
                  <a:pt x="3064552" y="483228"/>
                </a:cubicBezTo>
                <a:cubicBezTo>
                  <a:pt x="3043427" y="476987"/>
                  <a:pt x="3017704" y="476987"/>
                  <a:pt x="3005765" y="495708"/>
                </a:cubicBezTo>
                <a:cubicBezTo>
                  <a:pt x="2988771" y="522231"/>
                  <a:pt x="3013113" y="539393"/>
                  <a:pt x="3034700" y="553823"/>
                </a:cubicBezTo>
                <a:cubicBezTo>
                  <a:pt x="3072360" y="578787"/>
                  <a:pt x="3117827" y="571767"/>
                  <a:pt x="3161459" y="576445"/>
                </a:cubicBezTo>
                <a:cubicBezTo>
                  <a:pt x="3277655" y="588537"/>
                  <a:pt x="3333228" y="626370"/>
                  <a:pt x="3358949" y="712961"/>
                </a:cubicBezTo>
                <a:cubicBezTo>
                  <a:pt x="3256987" y="677857"/>
                  <a:pt x="3158703" y="721151"/>
                  <a:pt x="3059960" y="696576"/>
                </a:cubicBezTo>
                <a:cubicBezTo>
                  <a:pt x="3034240" y="690338"/>
                  <a:pt x="2993364" y="699698"/>
                  <a:pt x="3007143" y="729732"/>
                </a:cubicBezTo>
                <a:cubicBezTo>
                  <a:pt x="3020003" y="757814"/>
                  <a:pt x="3062716" y="778096"/>
                  <a:pt x="2986935" y="772635"/>
                </a:cubicBezTo>
                <a:cubicBezTo>
                  <a:pt x="2932740" y="768735"/>
                  <a:pt x="2826647" y="800329"/>
                  <a:pt x="2871197" y="808127"/>
                </a:cubicBezTo>
                <a:cubicBezTo>
                  <a:pt x="2927228" y="817881"/>
                  <a:pt x="2981883" y="831921"/>
                  <a:pt x="3053071" y="847913"/>
                </a:cubicBezTo>
                <a:cubicBezTo>
                  <a:pt x="2974533" y="874043"/>
                  <a:pt x="2918042" y="868584"/>
                  <a:pt x="2858796" y="847913"/>
                </a:cubicBezTo>
                <a:cubicBezTo>
                  <a:pt x="2787150" y="822949"/>
                  <a:pt x="2693916" y="792528"/>
                  <a:pt x="2635588" y="820611"/>
                </a:cubicBezTo>
                <a:cubicBezTo>
                  <a:pt x="2548326" y="862734"/>
                  <a:pt x="2475760" y="836211"/>
                  <a:pt x="2397683" y="829190"/>
                </a:cubicBezTo>
                <a:cubicBezTo>
                  <a:pt x="2238775" y="814759"/>
                  <a:pt x="2081241" y="790576"/>
                  <a:pt x="1921874" y="778877"/>
                </a:cubicBezTo>
                <a:cubicBezTo>
                  <a:pt x="1858036" y="774195"/>
                  <a:pt x="1789143" y="751964"/>
                  <a:pt x="1695450" y="782386"/>
                </a:cubicBezTo>
                <a:cubicBezTo>
                  <a:pt x="2119822" y="938012"/>
                  <a:pt x="2575423" y="928262"/>
                  <a:pt x="2954324" y="1120940"/>
                </a:cubicBezTo>
                <a:cubicBezTo>
                  <a:pt x="2938251" y="1139269"/>
                  <a:pt x="2856502" y="1191535"/>
                  <a:pt x="2890028" y="1195435"/>
                </a:cubicBezTo>
                <a:cubicBezTo>
                  <a:pt x="2984178" y="1206748"/>
                  <a:pt x="3067767" y="1244971"/>
                  <a:pt x="3153652" y="1276563"/>
                </a:cubicBezTo>
                <a:cubicBezTo>
                  <a:pt x="3190855" y="1290216"/>
                  <a:pt x="3235862" y="1308157"/>
                  <a:pt x="3218410" y="1356911"/>
                </a:cubicBezTo>
                <a:cubicBezTo>
                  <a:pt x="3186719" y="1370562"/>
                  <a:pt x="3163296" y="1351451"/>
                  <a:pt x="3137118" y="1349891"/>
                </a:cubicBezTo>
                <a:cubicBezTo>
                  <a:pt x="3110480" y="1348331"/>
                  <a:pt x="3050773" y="1358471"/>
                  <a:pt x="3067309" y="1365102"/>
                </a:cubicBezTo>
                <a:cubicBezTo>
                  <a:pt x="3142629" y="1395136"/>
                  <a:pt x="3007143" y="1467292"/>
                  <a:pt x="3096243" y="1467292"/>
                </a:cubicBezTo>
                <a:cubicBezTo>
                  <a:pt x="3245506" y="1467681"/>
                  <a:pt x="3324961" y="1595613"/>
                  <a:pt x="3468716" y="1599125"/>
                </a:cubicBezTo>
                <a:cubicBezTo>
                  <a:pt x="3491677" y="1599513"/>
                  <a:pt x="3502700" y="1622137"/>
                  <a:pt x="3502241" y="1642029"/>
                </a:cubicBezTo>
                <a:cubicBezTo>
                  <a:pt x="3502241" y="1665822"/>
                  <a:pt x="3481116" y="1670112"/>
                  <a:pt x="3457692" y="1672453"/>
                </a:cubicBezTo>
                <a:cubicBezTo>
                  <a:pt x="3421868" y="1675962"/>
                  <a:pt x="3384667" y="1642029"/>
                  <a:pt x="3337362" y="1688053"/>
                </a:cubicBezTo>
                <a:cubicBezTo>
                  <a:pt x="3422329" y="1714966"/>
                  <a:pt x="3507294" y="1741878"/>
                  <a:pt x="3505915" y="1834318"/>
                </a:cubicBezTo>
                <a:cubicBezTo>
                  <a:pt x="3505457" y="1859279"/>
                  <a:pt x="3540820" y="1868640"/>
                  <a:pt x="3567458" y="1874880"/>
                </a:cubicBezTo>
                <a:cubicBezTo>
                  <a:pt x="3611549" y="1885023"/>
                  <a:pt x="3648750" y="1902965"/>
                  <a:pt x="3672634" y="1937678"/>
                </a:cubicBezTo>
                <a:cubicBezTo>
                  <a:pt x="3672172" y="1944308"/>
                  <a:pt x="3671715" y="1951329"/>
                  <a:pt x="3674470" y="1956789"/>
                </a:cubicBezTo>
                <a:cubicBezTo>
                  <a:pt x="3666664" y="2040646"/>
                  <a:pt x="3602363" y="2038306"/>
                  <a:pt x="3531176" y="2024266"/>
                </a:cubicBezTo>
                <a:cubicBezTo>
                  <a:pt x="3446211" y="2007103"/>
                  <a:pt x="3362164" y="1975900"/>
                  <a:pt x="3272604" y="2005933"/>
                </a:cubicBezTo>
                <a:cubicBezTo>
                  <a:pt x="3398905" y="2046107"/>
                  <a:pt x="3536229" y="2049228"/>
                  <a:pt x="3654720" y="2106564"/>
                </a:cubicBezTo>
                <a:cubicBezTo>
                  <a:pt x="3221166" y="2117095"/>
                  <a:pt x="2838130" y="1936116"/>
                  <a:pt x="2417892" y="1866690"/>
                </a:cubicBezTo>
                <a:cubicBezTo>
                  <a:pt x="2432130" y="1913105"/>
                  <a:pt x="2466114" y="1922465"/>
                  <a:pt x="2496888" y="1929487"/>
                </a:cubicBezTo>
                <a:cubicBezTo>
                  <a:pt x="2652123" y="1964590"/>
                  <a:pt x="2788067" y="2034408"/>
                  <a:pt x="2929526" y="2094862"/>
                </a:cubicBezTo>
                <a:cubicBezTo>
                  <a:pt x="2987851" y="2119825"/>
                  <a:pt x="3030106" y="2144789"/>
                  <a:pt x="3052152" y="2198613"/>
                </a:cubicBezTo>
                <a:cubicBezTo>
                  <a:pt x="3071903" y="2247367"/>
                  <a:pt x="3110021" y="2269990"/>
                  <a:pt x="3180748" y="2255948"/>
                </a:cubicBezTo>
                <a:cubicBezTo>
                  <a:pt x="3238157" y="2244246"/>
                  <a:pt x="3301078" y="2250487"/>
                  <a:pt x="3361244" y="2254777"/>
                </a:cubicBezTo>
                <a:cubicBezTo>
                  <a:pt x="3430596" y="2259459"/>
                  <a:pt x="3508213" y="2314455"/>
                  <a:pt x="3489382" y="2342926"/>
                </a:cubicBezTo>
                <a:cubicBezTo>
                  <a:pt x="3457233" y="2391292"/>
                  <a:pt x="3403498" y="2367110"/>
                  <a:pt x="3355733" y="2361649"/>
                </a:cubicBezTo>
                <a:cubicBezTo>
                  <a:pt x="3301537" y="2355018"/>
                  <a:pt x="3200957" y="2341367"/>
                  <a:pt x="3199121" y="2347216"/>
                </a:cubicBezTo>
                <a:cubicBezTo>
                  <a:pt x="3163754" y="2468518"/>
                  <a:pt x="2914827" y="2362819"/>
                  <a:pt x="2861091" y="2351896"/>
                </a:cubicBezTo>
                <a:cubicBezTo>
                  <a:pt x="2794038" y="2338245"/>
                  <a:pt x="2731116" y="2363208"/>
                  <a:pt x="2667278" y="2369058"/>
                </a:cubicBezTo>
                <a:cubicBezTo>
                  <a:pt x="2610328" y="2374518"/>
                  <a:pt x="2288376" y="2391292"/>
                  <a:pt x="2221781" y="2339805"/>
                </a:cubicBezTo>
                <a:cubicBezTo>
                  <a:pt x="2212595" y="2379978"/>
                  <a:pt x="2231884" y="2396361"/>
                  <a:pt x="2247961" y="2414693"/>
                </a:cubicBezTo>
                <a:cubicBezTo>
                  <a:pt x="2270465" y="2440824"/>
                  <a:pt x="2274138" y="2459157"/>
                  <a:pt x="2231425" y="2479828"/>
                </a:cubicBezTo>
                <a:cubicBezTo>
                  <a:pt x="2109717" y="2539115"/>
                  <a:pt x="2111557" y="2541065"/>
                  <a:pt x="2224996" y="2621414"/>
                </a:cubicBezTo>
                <a:cubicBezTo>
                  <a:pt x="2230509" y="2624923"/>
                  <a:pt x="2228211" y="2636624"/>
                  <a:pt x="2229131" y="2644426"/>
                </a:cubicBezTo>
                <a:cubicBezTo>
                  <a:pt x="2199276" y="2656906"/>
                  <a:pt x="2164373" y="2625703"/>
                  <a:pt x="2129466" y="2659247"/>
                </a:cubicBezTo>
                <a:cubicBezTo>
                  <a:pt x="2281487" y="2806680"/>
                  <a:pt x="2513421" y="2842953"/>
                  <a:pt x="2723312" y="2953726"/>
                </a:cubicBezTo>
                <a:cubicBezTo>
                  <a:pt x="2553377" y="2990389"/>
                  <a:pt x="2451419" y="2862456"/>
                  <a:pt x="2326496" y="2878838"/>
                </a:cubicBezTo>
                <a:cubicBezTo>
                  <a:pt x="2264036" y="2919012"/>
                  <a:pt x="2449582" y="2983367"/>
                  <a:pt x="2272759" y="3002480"/>
                </a:cubicBezTo>
                <a:cubicBezTo>
                  <a:pt x="2349461" y="3037583"/>
                  <a:pt x="2406411" y="3071905"/>
                  <a:pt x="2459226" y="3112471"/>
                </a:cubicBezTo>
                <a:cubicBezTo>
                  <a:pt x="2553377" y="3185016"/>
                  <a:pt x="2571749" y="3232602"/>
                  <a:pt x="2528117" y="3330111"/>
                </a:cubicBezTo>
                <a:cubicBezTo>
                  <a:pt x="2499642" y="3394076"/>
                  <a:pt x="2457848" y="3452973"/>
                  <a:pt x="2494590" y="3529029"/>
                </a:cubicBezTo>
                <a:cubicBezTo>
                  <a:pt x="2520308" y="3581294"/>
                  <a:pt x="2510206" y="3615617"/>
                  <a:pt x="2414677" y="3592215"/>
                </a:cubicBezTo>
                <a:cubicBezTo>
                  <a:pt x="2311799" y="3567251"/>
                  <a:pt x="2273221" y="3614057"/>
                  <a:pt x="2298940" y="3705716"/>
                </a:cubicBezTo>
                <a:cubicBezTo>
                  <a:pt x="2315473" y="3764612"/>
                  <a:pt x="2298020" y="3782553"/>
                  <a:pt x="2227294" y="3775921"/>
                </a:cubicBezTo>
                <a:cubicBezTo>
                  <a:pt x="2149215" y="3768512"/>
                  <a:pt x="2074811" y="3729898"/>
                  <a:pt x="1978366" y="3748620"/>
                </a:cubicBezTo>
                <a:cubicBezTo>
                  <a:pt x="2055522" y="3855492"/>
                  <a:pt x="2220403" y="3825068"/>
                  <a:pt x="2310421" y="3926868"/>
                </a:cubicBezTo>
                <a:cubicBezTo>
                  <a:pt x="2202950" y="3927259"/>
                  <a:pt x="2120739" y="3926868"/>
                  <a:pt x="2041285" y="3904635"/>
                </a:cubicBezTo>
                <a:cubicBezTo>
                  <a:pt x="2008216" y="3895664"/>
                  <a:pt x="1971934" y="3886305"/>
                  <a:pt x="1953565" y="3917116"/>
                </a:cubicBezTo>
                <a:cubicBezTo>
                  <a:pt x="1931978" y="3954170"/>
                  <a:pt x="1976527" y="3968211"/>
                  <a:pt x="2003623" y="3974842"/>
                </a:cubicBezTo>
                <a:cubicBezTo>
                  <a:pt x="2079866" y="3993563"/>
                  <a:pt x="2138192" y="4038028"/>
                  <a:pt x="2201114" y="4072742"/>
                </a:cubicBezTo>
                <a:cubicBezTo>
                  <a:pt x="2339356" y="4148800"/>
                  <a:pt x="2490917" y="4212375"/>
                  <a:pt x="2608032" y="4337967"/>
                </a:cubicBezTo>
                <a:cubicBezTo>
                  <a:pt x="2460606" y="4305983"/>
                  <a:pt x="2350838" y="4231487"/>
                  <a:pt x="2213973" y="4216277"/>
                </a:cubicBezTo>
                <a:cubicBezTo>
                  <a:pt x="2332467" y="4330557"/>
                  <a:pt x="2484945" y="4405834"/>
                  <a:pt x="2629158" y="4488911"/>
                </a:cubicBezTo>
                <a:cubicBezTo>
                  <a:pt x="2670494" y="4512315"/>
                  <a:pt x="2712289" y="4528306"/>
                  <a:pt x="2721471" y="4579399"/>
                </a:cubicBezTo>
                <a:cubicBezTo>
                  <a:pt x="2739385" y="4678470"/>
                  <a:pt x="2793121" y="4760378"/>
                  <a:pt x="2907939" y="4804062"/>
                </a:cubicBezTo>
                <a:cubicBezTo>
                  <a:pt x="2908859" y="4804452"/>
                  <a:pt x="2902428" y="4819274"/>
                  <a:pt x="2898753" y="4829414"/>
                </a:cubicBezTo>
                <a:cubicBezTo>
                  <a:pt x="2828485" y="4832536"/>
                  <a:pt x="2772912" y="4774028"/>
                  <a:pt x="2683352" y="4793141"/>
                </a:cubicBezTo>
                <a:cubicBezTo>
                  <a:pt x="2769239" y="4872708"/>
                  <a:pt x="2840885" y="4944087"/>
                  <a:pt x="2962594" y="4981920"/>
                </a:cubicBezTo>
                <a:cubicBezTo>
                  <a:pt x="3059960" y="5011952"/>
                  <a:pt x="3180289" y="5029503"/>
                  <a:pt x="3251019" y="5127012"/>
                </a:cubicBezTo>
                <a:cubicBezTo>
                  <a:pt x="3168808" y="5146126"/>
                  <a:pt x="3107723" y="5121944"/>
                  <a:pt x="3046180" y="5104781"/>
                </a:cubicBezTo>
                <a:cubicBezTo>
                  <a:pt x="2952030" y="5078258"/>
                  <a:pt x="2858796" y="5048226"/>
                  <a:pt x="2764646" y="5021703"/>
                </a:cubicBezTo>
                <a:cubicBezTo>
                  <a:pt x="2728821" y="5011563"/>
                  <a:pt x="2689782" y="5004540"/>
                  <a:pt x="2666820" y="5052905"/>
                </a:cubicBezTo>
                <a:cubicBezTo>
                  <a:pt x="2786691" y="5063047"/>
                  <a:pt x="2858337" y="5128575"/>
                  <a:pt x="2933657" y="5190198"/>
                </a:cubicBezTo>
                <a:cubicBezTo>
                  <a:pt x="2975911" y="5224912"/>
                  <a:pt x="3010358" y="5271328"/>
                  <a:pt x="3086598" y="5253776"/>
                </a:cubicBezTo>
                <a:cubicBezTo>
                  <a:pt x="3126554" y="5244415"/>
                  <a:pt x="3151814" y="5270547"/>
                  <a:pt x="3147680" y="5302531"/>
                </a:cubicBezTo>
                <a:cubicBezTo>
                  <a:pt x="3132525" y="5415251"/>
                  <a:pt x="3225759" y="5454645"/>
                  <a:pt x="3322204" y="5476487"/>
                </a:cubicBezTo>
                <a:cubicBezTo>
                  <a:pt x="3504998" y="5517440"/>
                  <a:pt x="3657018" y="5613779"/>
                  <a:pt x="3834758" y="5666434"/>
                </a:cubicBezTo>
                <a:cubicBezTo>
                  <a:pt x="4007445" y="5717529"/>
                  <a:pt x="4141095" y="5838830"/>
                  <a:pt x="4314240" y="5902409"/>
                </a:cubicBezTo>
                <a:cubicBezTo>
                  <a:pt x="4439624" y="5948433"/>
                  <a:pt x="4559494" y="6007718"/>
                  <a:pt x="4688552" y="6049453"/>
                </a:cubicBezTo>
                <a:cubicBezTo>
                  <a:pt x="4993968" y="6148131"/>
                  <a:pt x="5305360" y="6227308"/>
                  <a:pt x="5634660" y="6238620"/>
                </a:cubicBezTo>
                <a:cubicBezTo>
                  <a:pt x="5906549" y="6247590"/>
                  <a:pt x="8264931" y="6239010"/>
                  <a:pt x="9222980" y="4955397"/>
                </a:cubicBezTo>
                <a:cubicBezTo>
                  <a:pt x="9241350" y="4949155"/>
                  <a:pt x="9262017" y="4932775"/>
                  <a:pt x="9268448" y="4917173"/>
                </a:cubicBezTo>
                <a:cubicBezTo>
                  <a:pt x="9299220" y="4844235"/>
                  <a:pt x="9374540" y="4812644"/>
                  <a:pt x="9442512" y="4773251"/>
                </a:cubicBezTo>
                <a:cubicBezTo>
                  <a:pt x="9502220" y="4738536"/>
                  <a:pt x="9565600" y="4702263"/>
                  <a:pt x="9590400" y="4643756"/>
                </a:cubicBezTo>
                <a:cubicBezTo>
                  <a:pt x="9623008" y="4565749"/>
                  <a:pt x="9530236" y="4629716"/>
                  <a:pt x="9513242" y="4600073"/>
                </a:cubicBezTo>
                <a:cubicBezTo>
                  <a:pt x="9548605" y="4559509"/>
                  <a:pt x="9603261" y="4522454"/>
                  <a:pt x="9617498" y="4476430"/>
                </a:cubicBezTo>
                <a:cubicBezTo>
                  <a:pt x="9669394" y="4310276"/>
                  <a:pt x="9781460" y="4189364"/>
                  <a:pt x="9949094" y="4095364"/>
                </a:cubicBezTo>
                <a:cubicBezTo>
                  <a:pt x="9997318" y="4068452"/>
                  <a:pt x="10029007" y="4019306"/>
                  <a:pt x="10094686" y="4011507"/>
                </a:cubicBezTo>
                <a:cubicBezTo>
                  <a:pt x="10240735" y="3994345"/>
                  <a:pt x="10194808" y="3860171"/>
                  <a:pt x="10271967" y="3800497"/>
                </a:cubicBezTo>
                <a:cubicBezTo>
                  <a:pt x="10286662" y="3789184"/>
                  <a:pt x="10299980" y="3766953"/>
                  <a:pt x="10297226" y="3751742"/>
                </a:cubicBezTo>
                <a:cubicBezTo>
                  <a:pt x="10293091" y="3729898"/>
                  <a:pt x="10275639" y="3709227"/>
                  <a:pt x="10260943" y="3689723"/>
                </a:cubicBezTo>
                <a:cubicBezTo>
                  <a:pt x="10245786" y="3670222"/>
                  <a:pt x="10222825" y="3653061"/>
                  <a:pt x="10233847" y="3627319"/>
                </a:cubicBezTo>
                <a:cubicBezTo>
                  <a:pt x="10238437" y="3616788"/>
                  <a:pt x="10235225" y="3580125"/>
                  <a:pt x="10269209" y="3608986"/>
                </a:cubicBezTo>
                <a:cubicBezTo>
                  <a:pt x="10362443" y="3688165"/>
                  <a:pt x="10416637" y="3613279"/>
                  <a:pt x="10496550" y="3577393"/>
                </a:cubicBezTo>
                <a:cubicBezTo>
                  <a:pt x="10432253" y="3540340"/>
                  <a:pt x="10374383" y="3514208"/>
                  <a:pt x="10364738" y="3458823"/>
                </a:cubicBezTo>
                <a:cubicBezTo>
                  <a:pt x="10344991" y="3344542"/>
                  <a:pt x="10260485" y="3292277"/>
                  <a:pt x="10132346" y="3282137"/>
                </a:cubicBezTo>
                <a:cubicBezTo>
                  <a:pt x="10179650" y="3171757"/>
                  <a:pt x="10179650" y="3171757"/>
                  <a:pt x="10026712" y="3156543"/>
                </a:cubicBezTo>
                <a:cubicBezTo>
                  <a:pt x="10085499" y="3086337"/>
                  <a:pt x="10085499" y="3068396"/>
                  <a:pt x="10014312" y="3044213"/>
                </a:cubicBezTo>
                <a:cubicBezTo>
                  <a:pt x="9945880" y="3021201"/>
                  <a:pt x="9870100" y="3013401"/>
                  <a:pt x="9806718" y="2977907"/>
                </a:cubicBezTo>
                <a:cubicBezTo>
                  <a:pt x="9865047" y="2888199"/>
                  <a:pt x="9881580" y="2784060"/>
                  <a:pt x="10001912" y="2740374"/>
                </a:cubicBezTo>
                <a:cubicBezTo>
                  <a:pt x="10020741" y="2733743"/>
                  <a:pt x="10033600" y="2706830"/>
                  <a:pt x="10021662" y="2691231"/>
                </a:cubicBezTo>
                <a:cubicBezTo>
                  <a:pt x="9978030" y="2634675"/>
                  <a:pt x="10040492" y="2527414"/>
                  <a:pt x="9904546" y="2515322"/>
                </a:cubicBezTo>
                <a:cubicBezTo>
                  <a:pt x="9887552" y="2514152"/>
                  <a:pt x="9871936" y="2502450"/>
                  <a:pt x="9885256" y="2487240"/>
                </a:cubicBezTo>
                <a:cubicBezTo>
                  <a:pt x="9931184" y="2434196"/>
                  <a:pt x="9875611" y="2437706"/>
                  <a:pt x="9842085" y="2431074"/>
                </a:cubicBezTo>
                <a:cubicBezTo>
                  <a:pt x="9801668" y="2422884"/>
                  <a:pt x="9755740" y="2446287"/>
                  <a:pt x="9718078" y="2417424"/>
                </a:cubicBezTo>
                <a:cubicBezTo>
                  <a:pt x="9726806" y="2386999"/>
                  <a:pt x="9759413" y="2387390"/>
                  <a:pt x="9782378" y="2377641"/>
                </a:cubicBezTo>
                <a:cubicBezTo>
                  <a:pt x="9849430" y="2349558"/>
                  <a:pt x="9904086" y="2316013"/>
                  <a:pt x="9907302" y="2243078"/>
                </a:cubicBezTo>
                <a:cubicBezTo>
                  <a:pt x="9909596" y="2184182"/>
                  <a:pt x="9916946" y="2132305"/>
                  <a:pt x="9824171" y="2114365"/>
                </a:cubicBezTo>
                <a:cubicBezTo>
                  <a:pt x="9785593" y="2106953"/>
                  <a:pt x="9796616" y="2064440"/>
                  <a:pt x="9818662" y="2043377"/>
                </a:cubicBezTo>
                <a:cubicBezTo>
                  <a:pt x="9858160" y="2005933"/>
                  <a:pt x="9890766" y="1956008"/>
                  <a:pt x="9958740" y="1952499"/>
                </a:cubicBezTo>
                <a:cubicBezTo>
                  <a:pt x="10000075" y="1950158"/>
                  <a:pt x="10031764" y="1934556"/>
                  <a:pt x="10064374" y="1916615"/>
                </a:cubicBezTo>
                <a:cubicBezTo>
                  <a:pt x="10087795" y="1903743"/>
                  <a:pt x="10115810" y="1892823"/>
                  <a:pt x="10113055" y="1865131"/>
                </a:cubicBezTo>
                <a:cubicBezTo>
                  <a:pt x="10110302" y="1838607"/>
                  <a:pt x="10083203" y="1827686"/>
                  <a:pt x="10055646" y="1822227"/>
                </a:cubicBezTo>
                <a:cubicBezTo>
                  <a:pt x="9963792" y="1804675"/>
                  <a:pt x="9877448" y="1778933"/>
                  <a:pt x="9800748" y="1720036"/>
                </a:cubicBezTo>
                <a:cubicBezTo>
                  <a:pt x="9851726" y="1688834"/>
                  <a:pt x="9900410" y="1666211"/>
                  <a:pt x="9938071" y="1634617"/>
                </a:cubicBezTo>
                <a:cubicBezTo>
                  <a:pt x="10029007" y="1558172"/>
                  <a:pt x="9258802" y="1317517"/>
                  <a:pt x="9220224" y="1231709"/>
                </a:cubicBezTo>
                <a:cubicBezTo>
                  <a:pt x="9208284" y="1205187"/>
                  <a:pt x="9167410" y="1177883"/>
                  <a:pt x="9133419" y="1170083"/>
                </a:cubicBezTo>
                <a:cubicBezTo>
                  <a:pt x="8974052" y="1133420"/>
                  <a:pt x="8835810" y="1051123"/>
                  <a:pt x="8672768" y="1020699"/>
                </a:cubicBezTo>
                <a:cubicBezTo>
                  <a:pt x="8518912" y="991837"/>
                  <a:pt x="8367350" y="953222"/>
                  <a:pt x="8198797" y="915000"/>
                </a:cubicBezTo>
                <a:cubicBezTo>
                  <a:pt x="8302134" y="819048"/>
                  <a:pt x="8485382" y="830361"/>
                  <a:pt x="8528095" y="691898"/>
                </a:cubicBezTo>
                <a:cubicBezTo>
                  <a:pt x="8361379" y="656013"/>
                  <a:pt x="8185937" y="696968"/>
                  <a:pt x="8025190" y="640021"/>
                </a:cubicBezTo>
                <a:cubicBezTo>
                  <a:pt x="8011411" y="634954"/>
                  <a:pt x="7992579" y="640021"/>
                  <a:pt x="7976047" y="641584"/>
                </a:cubicBezTo>
                <a:cubicBezTo>
                  <a:pt x="7644909" y="672005"/>
                  <a:pt x="7315149" y="645484"/>
                  <a:pt x="6988604" y="607260"/>
                </a:cubicBezTo>
                <a:cubicBezTo>
                  <a:pt x="6518305" y="552656"/>
                  <a:pt x="6046170" y="517941"/>
                  <a:pt x="5573116" y="493368"/>
                </a:cubicBezTo>
                <a:cubicBezTo>
                  <a:pt x="5182272" y="473086"/>
                  <a:pt x="4790511" y="464116"/>
                  <a:pt x="4401503" y="425112"/>
                </a:cubicBezTo>
                <a:cubicBezTo>
                  <a:pt x="3985401" y="383379"/>
                  <a:pt x="3569756" y="336184"/>
                  <a:pt x="3154109" y="292499"/>
                </a:cubicBezTo>
                <a:cubicBezTo>
                  <a:pt x="3135280" y="290549"/>
                  <a:pt x="3114499" y="284406"/>
                  <a:pt x="3094406" y="283966"/>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1026" name="Picture 2" descr="How to Draw a Cartoon Tree | Easy Step ...">
            <a:extLst>
              <a:ext uri="{FF2B5EF4-FFF2-40B4-BE49-F238E27FC236}">
                <a16:creationId xmlns:a16="http://schemas.microsoft.com/office/drawing/2014/main" id="{0726CA9E-1C05-12E6-AB63-5713E3C9D10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318" b="96209" l="8787" r="89540">
                        <a14:foregroundMark x1="38912" y1="7109" x2="38912" y2="7109"/>
                        <a14:foregroundMark x1="66527" y1="5687" x2="66527" y2="5687"/>
                        <a14:foregroundMark x1="40586" y1="4265" x2="40586" y2="4265"/>
                        <a14:foregroundMark x1="89540" y1="41706" x2="89540" y2="41706"/>
                        <a14:foregroundMark x1="89958" y1="33649" x2="89958" y2="33649"/>
                        <a14:foregroundMark x1="53556" y1="91943" x2="53556" y2="91943"/>
                        <a14:foregroundMark x1="57741" y1="96209" x2="57741" y2="96209"/>
                        <a14:backgroundMark x1="57322" y1="95261" x2="57322" y2="95261"/>
                        <a14:backgroundMark x1="58159" y1="96682" x2="58159" y2="96682"/>
                        <a14:backgroundMark x1="57741" y1="96682" x2="57741" y2="96682"/>
                        <a14:backgroundMark x1="64435" y1="56872" x2="64435" y2="56872"/>
                        <a14:backgroundMark x1="62343" y1="63507" x2="62343" y2="63507"/>
                      </a14:backgroundRemoval>
                    </a14:imgEffect>
                  </a14:imgLayer>
                </a14:imgProps>
              </a:ext>
              <a:ext uri="{28A0092B-C50C-407E-A947-70E740481C1C}">
                <a14:useLocalDpi xmlns:a14="http://schemas.microsoft.com/office/drawing/2010/main" val="0"/>
              </a:ext>
            </a:extLst>
          </a:blip>
          <a:stretch>
            <a:fillRect/>
          </a:stretch>
        </p:blipFill>
        <p:spPr bwMode="auto">
          <a:xfrm>
            <a:off x="1684233" y="876667"/>
            <a:ext cx="6395293" cy="5646053"/>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47F9920C-B70A-19F8-A6A6-BACC14586C9B}"/>
              </a:ext>
            </a:extLst>
          </p:cNvPr>
          <p:cNvSpPr/>
          <p:nvPr/>
        </p:nvSpPr>
        <p:spPr>
          <a:xfrm>
            <a:off x="4302759" y="5683786"/>
            <a:ext cx="1158240" cy="365760"/>
          </a:xfrm>
          <a:prstGeom prst="ellipse">
            <a:avLst/>
          </a:prstGeom>
          <a:solidFill>
            <a:srgbClr val="C00000">
              <a:alpha val="75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Document</a:t>
            </a:r>
          </a:p>
        </p:txBody>
      </p:sp>
      <p:sp>
        <p:nvSpPr>
          <p:cNvPr id="5" name="Oval 4">
            <a:extLst>
              <a:ext uri="{FF2B5EF4-FFF2-40B4-BE49-F238E27FC236}">
                <a16:creationId xmlns:a16="http://schemas.microsoft.com/office/drawing/2014/main" id="{1F6B7006-4C8F-B6EF-5B54-F1CF30CC4EA7}"/>
              </a:ext>
            </a:extLst>
          </p:cNvPr>
          <p:cNvSpPr/>
          <p:nvPr/>
        </p:nvSpPr>
        <p:spPr>
          <a:xfrm>
            <a:off x="4432299" y="4181559"/>
            <a:ext cx="970280" cy="365760"/>
          </a:xfrm>
          <a:prstGeom prst="ellipse">
            <a:avLst/>
          </a:prstGeom>
          <a:solidFill>
            <a:srgbClr val="C00000">
              <a:alpha val="75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HTML</a:t>
            </a:r>
          </a:p>
        </p:txBody>
      </p:sp>
      <p:sp>
        <p:nvSpPr>
          <p:cNvPr id="6" name="Oval 5">
            <a:extLst>
              <a:ext uri="{FF2B5EF4-FFF2-40B4-BE49-F238E27FC236}">
                <a16:creationId xmlns:a16="http://schemas.microsoft.com/office/drawing/2014/main" id="{D6E540F1-8410-CEF1-D3B2-D24268B28925}"/>
              </a:ext>
            </a:extLst>
          </p:cNvPr>
          <p:cNvSpPr/>
          <p:nvPr/>
        </p:nvSpPr>
        <p:spPr>
          <a:xfrm>
            <a:off x="4175759" y="3468906"/>
            <a:ext cx="858519" cy="365760"/>
          </a:xfrm>
          <a:prstGeom prst="ellipse">
            <a:avLst/>
          </a:prstGeom>
          <a:solidFill>
            <a:srgbClr val="C00000">
              <a:alpha val="75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&lt;head&gt;</a:t>
            </a:r>
          </a:p>
        </p:txBody>
      </p:sp>
      <p:sp>
        <p:nvSpPr>
          <p:cNvPr id="7" name="Oval 6">
            <a:extLst>
              <a:ext uri="{FF2B5EF4-FFF2-40B4-BE49-F238E27FC236}">
                <a16:creationId xmlns:a16="http://schemas.microsoft.com/office/drawing/2014/main" id="{217EE69D-227E-2073-6590-4C4F5DD46FDE}"/>
              </a:ext>
            </a:extLst>
          </p:cNvPr>
          <p:cNvSpPr/>
          <p:nvPr/>
        </p:nvSpPr>
        <p:spPr>
          <a:xfrm>
            <a:off x="5034279" y="3439879"/>
            <a:ext cx="736601" cy="365760"/>
          </a:xfrm>
          <a:prstGeom prst="ellipse">
            <a:avLst/>
          </a:prstGeom>
          <a:solidFill>
            <a:srgbClr val="C00000">
              <a:alpha val="75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Body</a:t>
            </a:r>
          </a:p>
        </p:txBody>
      </p:sp>
    </p:spTree>
    <p:extLst>
      <p:ext uri="{BB962C8B-B14F-4D97-AF65-F5344CB8AC3E}">
        <p14:creationId xmlns:p14="http://schemas.microsoft.com/office/powerpoint/2010/main" val="239591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12087F-808F-245D-D5FF-EC6C3B3B6FB1}"/>
              </a:ext>
            </a:extLst>
          </p:cNvPr>
          <p:cNvSpPr txBox="1"/>
          <p:nvPr/>
        </p:nvSpPr>
        <p:spPr>
          <a:xfrm>
            <a:off x="109789" y="81930"/>
            <a:ext cx="4954136" cy="5113195"/>
          </a:xfrm>
          <a:prstGeom prst="rect">
            <a:avLst/>
          </a:prstGeom>
          <a:noFill/>
        </p:spPr>
        <p:txBody>
          <a:bodyPr wrap="square">
            <a:spAutoFit/>
          </a:bodyPr>
          <a:lstStyle/>
          <a:p>
            <a:pPr algn="l">
              <a:lnSpc>
                <a:spcPts val="2250"/>
              </a:lnSpc>
              <a:spcBef>
                <a:spcPts val="2400"/>
              </a:spcBef>
              <a:spcAft>
                <a:spcPts val="1200"/>
              </a:spcAft>
              <a:buNone/>
            </a:pPr>
            <a:r>
              <a:rPr lang="en-US" sz="1200" b="1" dirty="0">
                <a:solidFill>
                  <a:srgbClr val="0F1115"/>
                </a:solidFill>
                <a:effectLst/>
                <a:latin typeface="quote-cjk-patch"/>
              </a:rPr>
              <a:t>Chapter 2: The Tools of the Trade (Selecting Elements)</a:t>
            </a:r>
          </a:p>
          <a:p>
            <a:pPr algn="l">
              <a:spcBef>
                <a:spcPts val="1200"/>
              </a:spcBef>
              <a:spcAft>
                <a:spcPts val="1200"/>
              </a:spcAft>
              <a:buNone/>
            </a:pPr>
            <a:r>
              <a:rPr lang="en-US" sz="1200" b="0" i="0" dirty="0">
                <a:solidFill>
                  <a:srgbClr val="0F1115"/>
                </a:solidFill>
                <a:effectLst/>
                <a:latin typeface="quote-cjk-patch"/>
              </a:rPr>
              <a:t>To change something on your blueprint, you first have to </a:t>
            </a:r>
            <a:r>
              <a:rPr lang="en-US" sz="1200" b="0" i="1" dirty="0">
                <a:solidFill>
                  <a:srgbClr val="0F1115"/>
                </a:solidFill>
                <a:effectLst/>
                <a:latin typeface="quote-cjk-patch"/>
              </a:rPr>
              <a:t>find</a:t>
            </a:r>
            <a:r>
              <a:rPr lang="en-US" sz="1200" b="0" i="0" dirty="0">
                <a:solidFill>
                  <a:srgbClr val="0F1115"/>
                </a:solidFill>
                <a:effectLst/>
                <a:latin typeface="quote-cjk-patch"/>
              </a:rPr>
              <a:t> it. The City Planner has given you a toolbox with four incredibly powerful tools.</a:t>
            </a:r>
          </a:p>
          <a:p>
            <a:pPr algn="l">
              <a:spcBef>
                <a:spcPts val="1200"/>
              </a:spcBef>
              <a:spcAft>
                <a:spcPts val="1200"/>
              </a:spcAft>
              <a:buNone/>
            </a:pPr>
            <a:r>
              <a:rPr lang="en-US" sz="1200" b="1" i="0" dirty="0">
                <a:solidFill>
                  <a:srgbClr val="0F1115"/>
                </a:solidFill>
                <a:effectLst/>
                <a:latin typeface="quote-cjk-patch"/>
              </a:rPr>
              <a:t>Your First Tool: The Super-Sleuth Magnifying Glass (</a:t>
            </a:r>
            <a:r>
              <a:rPr lang="en-US" sz="1200" b="0" i="0" dirty="0" err="1">
                <a:solidFill>
                  <a:srgbClr val="0F1115"/>
                </a:solidFill>
                <a:effectLst/>
                <a:latin typeface="Menlo"/>
              </a:rPr>
              <a:t>getElementById</a:t>
            </a:r>
            <a:r>
              <a:rPr lang="en-US" sz="1200" b="1" i="0" dirty="0">
                <a:solidFill>
                  <a:srgbClr val="0F1115"/>
                </a:solidFill>
                <a:effectLst/>
                <a:latin typeface="quote-cjk-patch"/>
              </a:rPr>
              <a:t>)</a:t>
            </a:r>
            <a:endParaRPr lang="en-US" sz="1200" b="0" i="0" dirty="0">
              <a:solidFill>
                <a:srgbClr val="0F1115"/>
              </a:solidFill>
              <a:effectLst/>
              <a:latin typeface="quote-cjk-patch"/>
            </a:endParaRPr>
          </a:p>
          <a:p>
            <a:pPr algn="l">
              <a:lnSpc>
                <a:spcPts val="1650"/>
              </a:lnSpc>
              <a:spcBef>
                <a:spcPts val="1200"/>
              </a:spcBef>
              <a:spcAft>
                <a:spcPts val="1200"/>
              </a:spcAft>
              <a:buNone/>
            </a:pPr>
            <a:r>
              <a:rPr lang="en-US" sz="1200" b="0" i="0" dirty="0">
                <a:solidFill>
                  <a:srgbClr val="0F1115"/>
                </a:solidFill>
                <a:effectLst/>
                <a:latin typeface="quote-cjk-patch"/>
              </a:rPr>
              <a:t>You need to fix a lightbulb in a specific room. Luckily, every room has a unique ID tag on its doorframe. "Living Room," "Kitchen," "Bedroom." In your HTML, this is the </a:t>
            </a:r>
            <a:r>
              <a:rPr lang="en-US" sz="1200" b="0" i="0" dirty="0">
                <a:solidFill>
                  <a:srgbClr val="0F1115"/>
                </a:solidFill>
                <a:effectLst/>
                <a:latin typeface="Menlo"/>
              </a:rPr>
              <a:t>id</a:t>
            </a:r>
            <a:r>
              <a:rPr lang="en-US" sz="1200" b="0" i="0" dirty="0">
                <a:solidFill>
                  <a:srgbClr val="0F1115"/>
                </a:solidFill>
                <a:effectLst/>
                <a:latin typeface="quote-cjk-patch"/>
              </a:rPr>
              <a:t> attribute.</a:t>
            </a:r>
          </a:p>
          <a:p>
            <a:pPr algn="l">
              <a:spcBef>
                <a:spcPts val="1200"/>
              </a:spcBef>
              <a:spcAft>
                <a:spcPts val="1200"/>
              </a:spcAft>
              <a:buNone/>
            </a:pPr>
            <a:r>
              <a:rPr lang="en-US" sz="1200" b="0" i="0" dirty="0">
                <a:solidFill>
                  <a:srgbClr val="0F1115"/>
                </a:solidFill>
                <a:effectLst/>
                <a:latin typeface="quote-cjk-patch"/>
              </a:rPr>
              <a:t>You pick up your magnifying glass and say:</a:t>
            </a:r>
          </a:p>
          <a:p>
            <a:pPr algn="l">
              <a:lnSpc>
                <a:spcPts val="1350"/>
              </a:lnSpc>
              <a:spcBef>
                <a:spcPts val="1200"/>
              </a:spcBef>
              <a:spcAft>
                <a:spcPts val="857"/>
              </a:spcAft>
              <a:buNone/>
            </a:pPr>
            <a:r>
              <a:rPr lang="en-US" sz="1200" b="0" i="0" dirty="0" err="1">
                <a:solidFill>
                  <a:srgbClr val="0F1115"/>
                </a:solidFill>
                <a:effectLst/>
                <a:latin typeface="Menlo"/>
              </a:rPr>
              <a:t>javascript</a:t>
            </a:r>
            <a:endParaRPr lang="en-US" sz="1200" b="0" i="0" dirty="0">
              <a:solidFill>
                <a:srgbClr val="0F1115"/>
              </a:solidFill>
              <a:effectLst/>
              <a:latin typeface="quote-cjk-patch"/>
            </a:endParaRPr>
          </a:p>
          <a:p>
            <a:pPr algn="l" latinLnBrk="1">
              <a:lnSpc>
                <a:spcPts val="1650"/>
              </a:lnSpc>
              <a:spcBef>
                <a:spcPts val="1200"/>
              </a:spcBef>
              <a:spcAft>
                <a:spcPts val="857"/>
              </a:spcAft>
              <a:buNone/>
            </a:pPr>
            <a:r>
              <a:rPr lang="en-US" sz="1200" b="0" i="0" dirty="0">
                <a:solidFill>
                  <a:srgbClr val="A626A4"/>
                </a:solidFill>
                <a:effectLst/>
                <a:latin typeface="Menlo"/>
              </a:rPr>
              <a:t>let</a:t>
            </a:r>
            <a:r>
              <a:rPr lang="en-US" sz="1200" b="0" i="0" dirty="0">
                <a:solidFill>
                  <a:srgbClr val="0F1115"/>
                </a:solidFill>
                <a:effectLst/>
                <a:latin typeface="Menlo"/>
              </a:rPr>
              <a:t> </a:t>
            </a:r>
            <a:r>
              <a:rPr lang="en-US" sz="1200" b="0" i="0" dirty="0" err="1">
                <a:solidFill>
                  <a:srgbClr val="0F1115"/>
                </a:solidFill>
                <a:effectLst/>
                <a:latin typeface="Menlo"/>
              </a:rPr>
              <a:t>mainHeading</a:t>
            </a:r>
            <a:r>
              <a:rPr lang="en-US" sz="1200" b="0" i="0" dirty="0">
                <a:solidFill>
                  <a:srgbClr val="0F1115"/>
                </a:solidFill>
                <a:effectLst/>
                <a:latin typeface="Menlo"/>
              </a:rPr>
              <a:t> </a:t>
            </a:r>
            <a:r>
              <a:rPr lang="en-US" sz="1200" b="0" i="0" dirty="0">
                <a:solidFill>
                  <a:srgbClr val="4078F2"/>
                </a:solidFill>
                <a:effectLst/>
                <a:latin typeface="Menlo"/>
              </a:rPr>
              <a:t>=</a:t>
            </a:r>
            <a:r>
              <a:rPr lang="en-US" sz="1200" b="0" i="0" dirty="0">
                <a:solidFill>
                  <a:srgbClr val="0F1115"/>
                </a:solidFill>
                <a:effectLst/>
                <a:latin typeface="Menlo"/>
              </a:rPr>
              <a:t> </a:t>
            </a:r>
            <a:r>
              <a:rPr lang="en-US" sz="1200" b="0" i="0" dirty="0" err="1">
                <a:solidFill>
                  <a:srgbClr val="0F1115"/>
                </a:solidFill>
                <a:effectLst/>
                <a:latin typeface="Menlo"/>
              </a:rPr>
              <a:t>document</a:t>
            </a:r>
            <a:r>
              <a:rPr lang="en-US" sz="1200" b="0" i="0" dirty="0" err="1">
                <a:solidFill>
                  <a:srgbClr val="383A42"/>
                </a:solidFill>
                <a:effectLst/>
                <a:latin typeface="Menlo"/>
              </a:rPr>
              <a:t>.</a:t>
            </a:r>
            <a:r>
              <a:rPr lang="en-US" sz="1200" b="0" i="0" dirty="0" err="1">
                <a:solidFill>
                  <a:srgbClr val="4078F2"/>
                </a:solidFill>
                <a:effectLst/>
                <a:latin typeface="Menlo"/>
              </a:rPr>
              <a:t>getElementById</a:t>
            </a:r>
            <a:r>
              <a:rPr lang="en-US" sz="1200" b="0" i="0" dirty="0">
                <a:solidFill>
                  <a:srgbClr val="383A42"/>
                </a:solidFill>
                <a:effectLst/>
                <a:latin typeface="Menlo"/>
              </a:rPr>
              <a:t>(</a:t>
            </a:r>
            <a:r>
              <a:rPr lang="en-US" sz="1200" b="0" i="0" dirty="0">
                <a:solidFill>
                  <a:srgbClr val="50A14F"/>
                </a:solidFill>
                <a:effectLst/>
                <a:latin typeface="Menlo"/>
              </a:rPr>
              <a:t>'main-title'</a:t>
            </a:r>
            <a:r>
              <a:rPr lang="en-US" sz="1200" b="0" i="0" dirty="0">
                <a:solidFill>
                  <a:srgbClr val="383A42"/>
                </a:solidFill>
                <a:effectLst/>
                <a:latin typeface="Menlo"/>
              </a:rPr>
              <a:t>);</a:t>
            </a:r>
            <a:endParaRPr lang="en-US" sz="1200" b="0" i="0" dirty="0">
              <a:solidFill>
                <a:srgbClr val="0F1115"/>
              </a:solidFill>
              <a:effectLst/>
              <a:latin typeface="Menlo"/>
            </a:endParaRPr>
          </a:p>
          <a:p>
            <a:pPr algn="l">
              <a:lnSpc>
                <a:spcPts val="1650"/>
              </a:lnSpc>
              <a:spcBef>
                <a:spcPts val="1200"/>
              </a:spcBef>
              <a:spcAft>
                <a:spcPts val="1200"/>
              </a:spcAft>
              <a:buNone/>
            </a:pPr>
            <a:r>
              <a:rPr lang="en-US" sz="1200" b="0" i="1" dirty="0">
                <a:solidFill>
                  <a:srgbClr val="0F1115"/>
                </a:solidFill>
                <a:effectLst/>
                <a:latin typeface="quote-cjk-patch"/>
              </a:rPr>
              <a:t>Whoosh!</a:t>
            </a:r>
            <a:r>
              <a:rPr lang="en-US" sz="1200" b="0" i="0" dirty="0">
                <a:solidFill>
                  <a:srgbClr val="0F1115"/>
                </a:solidFill>
                <a:effectLst/>
                <a:latin typeface="quote-cjk-patch"/>
              </a:rPr>
              <a:t> The magnifying glass instantly flies to the element with the ID </a:t>
            </a:r>
            <a:r>
              <a:rPr lang="en-US" sz="1200" b="0" i="0" dirty="0">
                <a:solidFill>
                  <a:srgbClr val="0F1115"/>
                </a:solidFill>
                <a:effectLst/>
                <a:latin typeface="Menlo"/>
              </a:rPr>
              <a:t>main-title</a:t>
            </a:r>
            <a:r>
              <a:rPr lang="en-US" sz="1200" b="0" i="0" dirty="0">
                <a:solidFill>
                  <a:srgbClr val="0F1115"/>
                </a:solidFill>
                <a:effectLst/>
                <a:latin typeface="quote-cjk-patch"/>
              </a:rPr>
              <a:t> and brings it back to you. You're now holding that specific element in your hand (well, in a variable called </a:t>
            </a:r>
            <a:r>
              <a:rPr lang="en-US" sz="1200" b="0" i="0" dirty="0" err="1">
                <a:solidFill>
                  <a:srgbClr val="0F1115"/>
                </a:solidFill>
                <a:effectLst/>
                <a:latin typeface="Menlo"/>
              </a:rPr>
              <a:t>mainHeading</a:t>
            </a:r>
            <a:r>
              <a:rPr lang="en-US" sz="1200" b="0" i="0" dirty="0">
                <a:solidFill>
                  <a:srgbClr val="0F1115"/>
                </a:solidFill>
                <a:effectLst/>
                <a:latin typeface="quote-cjk-patch"/>
              </a:rPr>
              <a:t>). It's the fastest and most precise tool in the box.</a:t>
            </a:r>
          </a:p>
        </p:txBody>
      </p:sp>
      <p:pic>
        <p:nvPicPr>
          <p:cNvPr id="5" name="Graphic 4" descr="Magnifying glass outline">
            <a:extLst>
              <a:ext uri="{FF2B5EF4-FFF2-40B4-BE49-F238E27FC236}">
                <a16:creationId xmlns:a16="http://schemas.microsoft.com/office/drawing/2014/main" id="{1ABDC803-A497-F4C6-FED3-A72E6E485B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7000" y="482600"/>
            <a:ext cx="914400" cy="914400"/>
          </a:xfrm>
          <a:prstGeom prst="rect">
            <a:avLst/>
          </a:prstGeom>
        </p:spPr>
      </p:pic>
      <p:sp>
        <p:nvSpPr>
          <p:cNvPr id="7" name="TextBox 6">
            <a:extLst>
              <a:ext uri="{FF2B5EF4-FFF2-40B4-BE49-F238E27FC236}">
                <a16:creationId xmlns:a16="http://schemas.microsoft.com/office/drawing/2014/main" id="{873E6350-1AAB-0AB9-EF43-DBF774C14E54}"/>
              </a:ext>
            </a:extLst>
          </p:cNvPr>
          <p:cNvSpPr txBox="1"/>
          <p:nvPr/>
        </p:nvSpPr>
        <p:spPr>
          <a:xfrm>
            <a:off x="6121400" y="570468"/>
            <a:ext cx="1722120" cy="369332"/>
          </a:xfrm>
          <a:prstGeom prst="rect">
            <a:avLst/>
          </a:prstGeom>
          <a:noFill/>
        </p:spPr>
        <p:txBody>
          <a:bodyPr wrap="square">
            <a:spAutoFit/>
          </a:bodyPr>
          <a:lstStyle/>
          <a:p>
            <a:r>
              <a:rPr lang="en-US" sz="1800" b="0" i="0" dirty="0" err="1">
                <a:solidFill>
                  <a:srgbClr val="0F1115"/>
                </a:solidFill>
                <a:effectLst/>
                <a:latin typeface="Menlo"/>
              </a:rPr>
              <a:t>getElementById</a:t>
            </a:r>
            <a:endParaRPr lang="en-US" dirty="0"/>
          </a:p>
        </p:txBody>
      </p:sp>
    </p:spTree>
    <p:extLst>
      <p:ext uri="{BB962C8B-B14F-4D97-AF65-F5344CB8AC3E}">
        <p14:creationId xmlns:p14="http://schemas.microsoft.com/office/powerpoint/2010/main" val="300373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D223FC-D6C2-B0C6-B13F-A9E1A34957F9}"/>
              </a:ext>
            </a:extLst>
          </p:cNvPr>
          <p:cNvSpPr txBox="1"/>
          <p:nvPr/>
        </p:nvSpPr>
        <p:spPr>
          <a:xfrm>
            <a:off x="211389" y="231849"/>
            <a:ext cx="4954136" cy="3713837"/>
          </a:xfrm>
          <a:prstGeom prst="rect">
            <a:avLst/>
          </a:prstGeom>
          <a:noFill/>
        </p:spPr>
        <p:txBody>
          <a:bodyPr wrap="square">
            <a:spAutoFit/>
          </a:bodyPr>
          <a:lstStyle/>
          <a:p>
            <a:pPr algn="l">
              <a:spcBef>
                <a:spcPts val="1200"/>
              </a:spcBef>
              <a:spcAft>
                <a:spcPts val="1200"/>
              </a:spcAft>
              <a:buNone/>
            </a:pPr>
            <a:r>
              <a:rPr lang="en-US" sz="1200" b="1" i="0" dirty="0">
                <a:solidFill>
                  <a:srgbClr val="0F1115"/>
                </a:solidFill>
                <a:effectLst/>
                <a:latin typeface="quote-cjk-patch"/>
              </a:rPr>
              <a:t>Your Second Tool: The Butterfly Net (</a:t>
            </a:r>
            <a:r>
              <a:rPr lang="en-US" sz="1200" b="0" i="0" dirty="0" err="1">
                <a:solidFill>
                  <a:srgbClr val="0F1115"/>
                </a:solidFill>
                <a:effectLst/>
                <a:latin typeface="Menlo"/>
              </a:rPr>
              <a:t>getElementsByClassName</a:t>
            </a:r>
            <a:r>
              <a:rPr lang="en-US" sz="1200" b="1" i="0" dirty="0">
                <a:solidFill>
                  <a:srgbClr val="0F1115"/>
                </a:solidFill>
                <a:effectLst/>
                <a:latin typeface="quote-cjk-patch"/>
              </a:rPr>
              <a:t>)</a:t>
            </a:r>
            <a:endParaRPr lang="en-US" sz="1200" b="0" i="0" dirty="0">
              <a:solidFill>
                <a:srgbClr val="0F1115"/>
              </a:solidFill>
              <a:effectLst/>
              <a:latin typeface="quote-cjk-patch"/>
            </a:endParaRPr>
          </a:p>
          <a:p>
            <a:pPr algn="l">
              <a:lnSpc>
                <a:spcPts val="1650"/>
              </a:lnSpc>
              <a:spcBef>
                <a:spcPts val="1200"/>
              </a:spcBef>
              <a:spcAft>
                <a:spcPts val="1200"/>
              </a:spcAft>
              <a:buNone/>
            </a:pPr>
            <a:r>
              <a:rPr lang="en-US" sz="1200" b="0" i="0" dirty="0">
                <a:solidFill>
                  <a:srgbClr val="0F1115"/>
                </a:solidFill>
                <a:effectLst/>
                <a:latin typeface="quote-cjk-patch"/>
              </a:rPr>
              <a:t>Now, you want to paint all the doors in the house blue. They don't have unique IDs, but they all have a little sticker on them that says "interior-door." In HTML, this is the </a:t>
            </a:r>
            <a:r>
              <a:rPr lang="en-US" sz="1200" b="0" i="0" dirty="0">
                <a:solidFill>
                  <a:srgbClr val="0F1115"/>
                </a:solidFill>
                <a:effectLst/>
                <a:latin typeface="Menlo"/>
              </a:rPr>
              <a:t>class</a:t>
            </a:r>
            <a:r>
              <a:rPr lang="en-US" sz="1200" b="0" i="0" dirty="0">
                <a:solidFill>
                  <a:srgbClr val="0F1115"/>
                </a:solidFill>
                <a:effectLst/>
                <a:latin typeface="quote-cjk-patch"/>
              </a:rPr>
              <a:t> attribute.</a:t>
            </a:r>
          </a:p>
          <a:p>
            <a:pPr algn="l">
              <a:spcBef>
                <a:spcPts val="1200"/>
              </a:spcBef>
              <a:spcAft>
                <a:spcPts val="1200"/>
              </a:spcAft>
              <a:buNone/>
            </a:pPr>
            <a:r>
              <a:rPr lang="en-US" sz="1200" b="0" i="0" dirty="0">
                <a:solidFill>
                  <a:srgbClr val="0F1115"/>
                </a:solidFill>
                <a:effectLst/>
                <a:latin typeface="quote-cjk-patch"/>
              </a:rPr>
              <a:t>You grab your butterfly net, swing it wide, and shout:</a:t>
            </a:r>
          </a:p>
          <a:p>
            <a:pPr algn="l">
              <a:lnSpc>
                <a:spcPts val="1350"/>
              </a:lnSpc>
              <a:spcBef>
                <a:spcPts val="1200"/>
              </a:spcBef>
              <a:spcAft>
                <a:spcPts val="857"/>
              </a:spcAft>
              <a:buNone/>
            </a:pPr>
            <a:r>
              <a:rPr lang="en-US" sz="1200" b="0" i="0" dirty="0" err="1">
                <a:solidFill>
                  <a:srgbClr val="0F1115"/>
                </a:solidFill>
                <a:effectLst/>
                <a:latin typeface="Menlo"/>
              </a:rPr>
              <a:t>javascript</a:t>
            </a:r>
            <a:endParaRPr lang="en-US" sz="1200" b="0" i="0" dirty="0">
              <a:solidFill>
                <a:srgbClr val="0F1115"/>
              </a:solidFill>
              <a:effectLst/>
              <a:latin typeface="quote-cjk-patch"/>
            </a:endParaRPr>
          </a:p>
          <a:p>
            <a:pPr algn="l" latinLnBrk="1">
              <a:lnSpc>
                <a:spcPts val="1650"/>
              </a:lnSpc>
              <a:spcBef>
                <a:spcPts val="1200"/>
              </a:spcBef>
              <a:spcAft>
                <a:spcPts val="857"/>
              </a:spcAft>
              <a:buNone/>
            </a:pPr>
            <a:r>
              <a:rPr lang="en-US" sz="1200" b="0" i="0" dirty="0">
                <a:solidFill>
                  <a:srgbClr val="A626A4"/>
                </a:solidFill>
                <a:effectLst/>
                <a:latin typeface="Menlo"/>
              </a:rPr>
              <a:t>let</a:t>
            </a:r>
            <a:r>
              <a:rPr lang="en-US" sz="1200" b="0" i="0" dirty="0">
                <a:solidFill>
                  <a:srgbClr val="0F1115"/>
                </a:solidFill>
                <a:effectLst/>
                <a:latin typeface="Menlo"/>
              </a:rPr>
              <a:t> </a:t>
            </a:r>
            <a:r>
              <a:rPr lang="en-US" sz="1200" b="0" i="0" dirty="0" err="1">
                <a:solidFill>
                  <a:srgbClr val="0F1115"/>
                </a:solidFill>
                <a:effectLst/>
                <a:latin typeface="Menlo"/>
              </a:rPr>
              <a:t>allDoors</a:t>
            </a:r>
            <a:r>
              <a:rPr lang="en-US" sz="1200" b="0" i="0" dirty="0">
                <a:solidFill>
                  <a:srgbClr val="0F1115"/>
                </a:solidFill>
                <a:effectLst/>
                <a:latin typeface="Menlo"/>
              </a:rPr>
              <a:t> </a:t>
            </a:r>
            <a:r>
              <a:rPr lang="en-US" sz="1200" b="0" i="0" dirty="0">
                <a:solidFill>
                  <a:srgbClr val="4078F2"/>
                </a:solidFill>
                <a:effectLst/>
                <a:latin typeface="Menlo"/>
              </a:rPr>
              <a:t>=</a:t>
            </a:r>
            <a:r>
              <a:rPr lang="en-US" sz="1200" b="0" i="0" dirty="0">
                <a:solidFill>
                  <a:srgbClr val="0F1115"/>
                </a:solidFill>
                <a:effectLst/>
                <a:latin typeface="Menlo"/>
              </a:rPr>
              <a:t> </a:t>
            </a:r>
            <a:r>
              <a:rPr lang="en-US" sz="1200" b="0" i="0" dirty="0" err="1">
                <a:solidFill>
                  <a:srgbClr val="0F1115"/>
                </a:solidFill>
                <a:effectLst/>
                <a:latin typeface="Menlo"/>
              </a:rPr>
              <a:t>document</a:t>
            </a:r>
            <a:r>
              <a:rPr lang="en-US" sz="1200" b="0" i="0" dirty="0" err="1">
                <a:solidFill>
                  <a:srgbClr val="383A42"/>
                </a:solidFill>
                <a:effectLst/>
                <a:latin typeface="Menlo"/>
              </a:rPr>
              <a:t>.</a:t>
            </a:r>
            <a:r>
              <a:rPr lang="en-US" sz="1200" b="0" i="0" dirty="0" err="1">
                <a:solidFill>
                  <a:srgbClr val="4078F2"/>
                </a:solidFill>
                <a:effectLst/>
                <a:latin typeface="Menlo"/>
              </a:rPr>
              <a:t>getElementsByClassName</a:t>
            </a:r>
            <a:r>
              <a:rPr lang="en-US" sz="1200" b="0" i="0" dirty="0">
                <a:solidFill>
                  <a:srgbClr val="383A42"/>
                </a:solidFill>
                <a:effectLst/>
                <a:latin typeface="Menlo"/>
              </a:rPr>
              <a:t>(</a:t>
            </a:r>
            <a:r>
              <a:rPr lang="en-US" sz="1200" b="0" i="0" dirty="0">
                <a:solidFill>
                  <a:srgbClr val="50A14F"/>
                </a:solidFill>
                <a:effectLst/>
                <a:latin typeface="Menlo"/>
              </a:rPr>
              <a:t>'interior-door'</a:t>
            </a:r>
            <a:r>
              <a:rPr lang="en-US" sz="1200" b="0" i="0" dirty="0">
                <a:solidFill>
                  <a:srgbClr val="383A42"/>
                </a:solidFill>
                <a:effectLst/>
                <a:latin typeface="Menlo"/>
              </a:rPr>
              <a:t>);</a:t>
            </a:r>
            <a:endParaRPr lang="en-US" sz="1200" b="0" i="0" dirty="0">
              <a:solidFill>
                <a:srgbClr val="0F1115"/>
              </a:solidFill>
              <a:effectLst/>
              <a:latin typeface="Menlo"/>
            </a:endParaRPr>
          </a:p>
          <a:p>
            <a:pPr algn="l">
              <a:spcBef>
                <a:spcPts val="1200"/>
              </a:spcBef>
              <a:spcAft>
                <a:spcPts val="1200"/>
              </a:spcAft>
              <a:buNone/>
            </a:pPr>
            <a:r>
              <a:rPr lang="en-US" sz="1200" b="0" i="1" dirty="0">
                <a:solidFill>
                  <a:srgbClr val="0F1115"/>
                </a:solidFill>
                <a:effectLst/>
                <a:latin typeface="quote-cjk-patch"/>
              </a:rPr>
              <a:t>Swish!</a:t>
            </a:r>
            <a:r>
              <a:rPr lang="en-US" sz="1200" b="0" i="0" dirty="0">
                <a:solidFill>
                  <a:srgbClr val="0F1115"/>
                </a:solidFill>
                <a:effectLst/>
                <a:latin typeface="quote-cjk-patch"/>
              </a:rPr>
              <a:t> The net swoops through the house and catches </a:t>
            </a:r>
            <a:r>
              <a:rPr lang="en-US" sz="1200" b="1" i="0" dirty="0">
                <a:solidFill>
                  <a:srgbClr val="0F1115"/>
                </a:solidFill>
                <a:effectLst/>
                <a:latin typeface="quote-cjk-patch"/>
              </a:rPr>
              <a:t>all</a:t>
            </a:r>
            <a:r>
              <a:rPr lang="en-US" sz="1200" b="0" i="0" dirty="0">
                <a:solidFill>
                  <a:srgbClr val="0F1115"/>
                </a:solidFill>
                <a:effectLst/>
                <a:latin typeface="quote-cjk-patch"/>
              </a:rPr>
              <a:t> the elements with that class. It doesn't just bring one back; it brings back a live collection—a list—of every single door. You now have them all lined up in front of you, ready for their new coat of paint.</a:t>
            </a:r>
          </a:p>
        </p:txBody>
      </p:sp>
      <p:pic>
        <p:nvPicPr>
          <p:cNvPr id="2050" name="Picture 2" descr="Butterfly net - Free animals icons">
            <a:extLst>
              <a:ext uri="{FF2B5EF4-FFF2-40B4-BE49-F238E27FC236}">
                <a16:creationId xmlns:a16="http://schemas.microsoft.com/office/drawing/2014/main" id="{AF0AFE1B-3E90-0A14-2136-EBDE05CF3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0431" y="581191"/>
            <a:ext cx="619442" cy="61944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83D83F0-F5A0-E738-63A1-C15BDCF6574A}"/>
              </a:ext>
            </a:extLst>
          </p:cNvPr>
          <p:cNvSpPr txBox="1"/>
          <p:nvPr/>
        </p:nvSpPr>
        <p:spPr>
          <a:xfrm>
            <a:off x="6524297" y="581191"/>
            <a:ext cx="2651234" cy="369332"/>
          </a:xfrm>
          <a:prstGeom prst="rect">
            <a:avLst/>
          </a:prstGeom>
          <a:noFill/>
        </p:spPr>
        <p:txBody>
          <a:bodyPr wrap="square">
            <a:spAutoFit/>
          </a:bodyPr>
          <a:lstStyle/>
          <a:p>
            <a:r>
              <a:rPr lang="en-US" sz="1800" b="0" i="0" dirty="0" err="1">
                <a:solidFill>
                  <a:srgbClr val="0F1115"/>
                </a:solidFill>
                <a:effectLst/>
                <a:latin typeface="Menlo"/>
              </a:rPr>
              <a:t>getElementsByClassName</a:t>
            </a:r>
            <a:endParaRPr lang="en-US" dirty="0"/>
          </a:p>
        </p:txBody>
      </p:sp>
    </p:spTree>
    <p:extLst>
      <p:ext uri="{BB962C8B-B14F-4D97-AF65-F5344CB8AC3E}">
        <p14:creationId xmlns:p14="http://schemas.microsoft.com/office/powerpoint/2010/main" val="3258457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371CF9-9642-6A92-D679-BF283874D41C}"/>
              </a:ext>
            </a:extLst>
          </p:cNvPr>
          <p:cNvSpPr txBox="1"/>
          <p:nvPr/>
        </p:nvSpPr>
        <p:spPr>
          <a:xfrm>
            <a:off x="82201" y="215465"/>
            <a:ext cx="4311123" cy="5601533"/>
          </a:xfrm>
          <a:prstGeom prst="rect">
            <a:avLst/>
          </a:prstGeom>
          <a:noFill/>
        </p:spPr>
        <p:txBody>
          <a:bodyPr wrap="square">
            <a:spAutoFit/>
          </a:bodyPr>
          <a:lstStyle/>
          <a:p>
            <a:pPr algn="l">
              <a:spcBef>
                <a:spcPts val="1200"/>
              </a:spcBef>
              <a:spcAft>
                <a:spcPts val="1200"/>
              </a:spcAft>
              <a:buNone/>
            </a:pPr>
            <a:r>
              <a:rPr lang="en-US" sz="1200" b="1" i="0" dirty="0">
                <a:solidFill>
                  <a:srgbClr val="0F1115"/>
                </a:solidFill>
                <a:effectLst/>
                <a:latin typeface="quote-cjk-patch"/>
              </a:rPr>
              <a:t>Your Third Tool: The All-Seeing Eye (</a:t>
            </a:r>
            <a:r>
              <a:rPr lang="en-US" sz="1200" b="0" i="0" dirty="0" err="1">
                <a:solidFill>
                  <a:srgbClr val="0F1115"/>
                </a:solidFill>
                <a:effectLst/>
                <a:latin typeface="Menlo"/>
              </a:rPr>
              <a:t>querySelector</a:t>
            </a:r>
            <a:r>
              <a:rPr lang="en-US" sz="1200" b="1" i="0" dirty="0">
                <a:solidFill>
                  <a:srgbClr val="0F1115"/>
                </a:solidFill>
                <a:effectLst/>
                <a:latin typeface="quote-cjk-patch"/>
              </a:rPr>
              <a:t>)</a:t>
            </a:r>
            <a:endParaRPr lang="en-US" sz="1200" b="0" i="0" dirty="0">
              <a:solidFill>
                <a:srgbClr val="0F1115"/>
              </a:solidFill>
              <a:effectLst/>
              <a:latin typeface="quote-cjk-patch"/>
            </a:endParaRPr>
          </a:p>
          <a:p>
            <a:pPr algn="l">
              <a:spcBef>
                <a:spcPts val="1200"/>
              </a:spcBef>
              <a:spcAft>
                <a:spcPts val="1200"/>
              </a:spcAft>
              <a:buNone/>
            </a:pPr>
            <a:r>
              <a:rPr lang="en-US" sz="1200" b="0" i="0" dirty="0">
                <a:solidFill>
                  <a:srgbClr val="0F1115"/>
                </a:solidFill>
                <a:effectLst/>
                <a:latin typeface="quote-cjk-patch"/>
              </a:rPr>
              <a:t>This is a special tool. It's like an eye that can understand complex descriptions. You don't need to know if it's an ID or a class. You just describe what you're looking for using the secret language of </a:t>
            </a:r>
            <a:r>
              <a:rPr lang="en-US" sz="1200" b="1" i="0" dirty="0">
                <a:solidFill>
                  <a:srgbClr val="0F1115"/>
                </a:solidFill>
                <a:effectLst/>
                <a:latin typeface="quote-cjk-patch"/>
              </a:rPr>
              <a:t>CSS selectors</a:t>
            </a:r>
            <a:r>
              <a:rPr lang="en-US" sz="1200" b="0" i="0" dirty="0">
                <a:solidFill>
                  <a:srgbClr val="0F1115"/>
                </a:solidFill>
                <a:effectLst/>
                <a:latin typeface="quote-cjk-patch"/>
              </a:rPr>
              <a:t>.</a:t>
            </a:r>
          </a:p>
          <a:p>
            <a:pPr algn="l">
              <a:spcBef>
                <a:spcPts val="1200"/>
              </a:spcBef>
              <a:spcAft>
                <a:spcPts val="1200"/>
              </a:spcAft>
              <a:buNone/>
            </a:pPr>
            <a:r>
              <a:rPr lang="en-US" sz="1200" b="0" i="0" dirty="0">
                <a:solidFill>
                  <a:srgbClr val="0F1115"/>
                </a:solidFill>
                <a:effectLst/>
                <a:latin typeface="quote-cjk-patch"/>
              </a:rPr>
              <a:t>You close your eyes, concentrate, and say:</a:t>
            </a:r>
          </a:p>
          <a:p>
            <a:pPr algn="l">
              <a:lnSpc>
                <a:spcPts val="1350"/>
              </a:lnSpc>
              <a:spcBef>
                <a:spcPts val="1200"/>
              </a:spcBef>
              <a:spcAft>
                <a:spcPts val="857"/>
              </a:spcAft>
              <a:buNone/>
            </a:pPr>
            <a:r>
              <a:rPr lang="en-US" sz="1200" b="0" i="0" dirty="0" err="1">
                <a:solidFill>
                  <a:srgbClr val="0F1115"/>
                </a:solidFill>
                <a:effectLst/>
                <a:latin typeface="Menlo"/>
              </a:rPr>
              <a:t>javascript</a:t>
            </a:r>
            <a:endParaRPr lang="en-US" sz="1200" b="0" i="0" dirty="0">
              <a:solidFill>
                <a:srgbClr val="0F1115"/>
              </a:solidFill>
              <a:effectLst/>
              <a:latin typeface="quote-cjk-patch"/>
            </a:endParaRPr>
          </a:p>
          <a:p>
            <a:pPr algn="l" latinLnBrk="1">
              <a:lnSpc>
                <a:spcPts val="1650"/>
              </a:lnSpc>
              <a:spcBef>
                <a:spcPts val="1200"/>
              </a:spcBef>
              <a:spcAft>
                <a:spcPts val="857"/>
              </a:spcAft>
              <a:buNone/>
            </a:pPr>
            <a:r>
              <a:rPr lang="en-US" sz="1200" b="0" i="0" dirty="0">
                <a:solidFill>
                  <a:srgbClr val="A626A4"/>
                </a:solidFill>
                <a:effectLst/>
                <a:latin typeface="Menlo"/>
              </a:rPr>
              <a:t>let</a:t>
            </a:r>
            <a:r>
              <a:rPr lang="en-US" sz="1200" b="0" i="0" dirty="0">
                <a:solidFill>
                  <a:srgbClr val="0F1115"/>
                </a:solidFill>
                <a:effectLst/>
                <a:latin typeface="Menlo"/>
              </a:rPr>
              <a:t> </a:t>
            </a:r>
            <a:r>
              <a:rPr lang="en-US" sz="1200" b="0" i="0" dirty="0" err="1">
                <a:solidFill>
                  <a:srgbClr val="0F1115"/>
                </a:solidFill>
                <a:effectLst/>
                <a:latin typeface="Menlo"/>
              </a:rPr>
              <a:t>firstParagraphInsideMain</a:t>
            </a:r>
            <a:r>
              <a:rPr lang="en-US" sz="1200" b="0" i="0" dirty="0">
                <a:solidFill>
                  <a:srgbClr val="0F1115"/>
                </a:solidFill>
                <a:effectLst/>
                <a:latin typeface="Menlo"/>
              </a:rPr>
              <a:t> </a:t>
            </a:r>
            <a:r>
              <a:rPr lang="en-US" sz="1200" b="0" i="0" dirty="0">
                <a:solidFill>
                  <a:srgbClr val="4078F2"/>
                </a:solidFill>
                <a:effectLst/>
                <a:latin typeface="Menlo"/>
              </a:rPr>
              <a:t>=</a:t>
            </a:r>
            <a:r>
              <a:rPr lang="en-US" sz="1200" b="0" i="0" dirty="0">
                <a:solidFill>
                  <a:srgbClr val="0F1115"/>
                </a:solidFill>
                <a:effectLst/>
                <a:latin typeface="Menlo"/>
              </a:rPr>
              <a:t> </a:t>
            </a:r>
            <a:r>
              <a:rPr lang="en-US" sz="1200" b="0" i="0" dirty="0" err="1">
                <a:solidFill>
                  <a:srgbClr val="0F1115"/>
                </a:solidFill>
                <a:effectLst/>
                <a:latin typeface="Menlo"/>
              </a:rPr>
              <a:t>document</a:t>
            </a:r>
            <a:r>
              <a:rPr lang="en-US" sz="1200" b="0" i="0" dirty="0" err="1">
                <a:solidFill>
                  <a:srgbClr val="383A42"/>
                </a:solidFill>
                <a:effectLst/>
                <a:latin typeface="Menlo"/>
              </a:rPr>
              <a:t>.</a:t>
            </a:r>
            <a:r>
              <a:rPr lang="en-US" sz="1200" b="0" i="0" dirty="0" err="1">
                <a:solidFill>
                  <a:srgbClr val="4078F2"/>
                </a:solidFill>
                <a:effectLst/>
                <a:latin typeface="Menlo"/>
              </a:rPr>
              <a:t>querySelector</a:t>
            </a:r>
            <a:r>
              <a:rPr lang="en-US" sz="1200" b="0" i="0" dirty="0">
                <a:solidFill>
                  <a:srgbClr val="383A42"/>
                </a:solidFill>
                <a:effectLst/>
                <a:latin typeface="Menlo"/>
              </a:rPr>
              <a:t>(</a:t>
            </a:r>
            <a:r>
              <a:rPr lang="en-US" sz="1200" b="0" i="0" dirty="0">
                <a:solidFill>
                  <a:srgbClr val="50A14F"/>
                </a:solidFill>
                <a:effectLst/>
                <a:latin typeface="Menlo"/>
              </a:rPr>
              <a:t>'main p'</a:t>
            </a:r>
            <a:r>
              <a:rPr lang="en-US" sz="1200" b="0" i="0" dirty="0">
                <a:solidFill>
                  <a:srgbClr val="383A42"/>
                </a:solidFill>
                <a:effectLst/>
                <a:latin typeface="Menlo"/>
              </a:rPr>
              <a:t>);</a:t>
            </a:r>
            <a:endParaRPr lang="en-US" sz="1200" b="0" i="0" dirty="0">
              <a:solidFill>
                <a:srgbClr val="0F1115"/>
              </a:solidFill>
              <a:effectLst/>
              <a:latin typeface="Menlo"/>
            </a:endParaRPr>
          </a:p>
          <a:p>
            <a:pPr algn="l">
              <a:lnSpc>
                <a:spcPts val="1650"/>
              </a:lnSpc>
              <a:spcBef>
                <a:spcPts val="1200"/>
              </a:spcBef>
              <a:spcAft>
                <a:spcPts val="1200"/>
              </a:spcAft>
              <a:buNone/>
            </a:pPr>
            <a:r>
              <a:rPr lang="en-US" sz="1200" b="0" i="0" dirty="0">
                <a:solidFill>
                  <a:srgbClr val="0F1115"/>
                </a:solidFill>
                <a:effectLst/>
                <a:latin typeface="quote-cjk-patch"/>
              </a:rPr>
              <a:t>The All-Seeing Eye scans the entire blueprint and finds the </a:t>
            </a:r>
            <a:r>
              <a:rPr lang="en-US" sz="1200" b="1" i="0" dirty="0">
                <a:solidFill>
                  <a:srgbClr val="0F1115"/>
                </a:solidFill>
                <a:effectLst/>
                <a:latin typeface="quote-cjk-patch"/>
              </a:rPr>
              <a:t>first</a:t>
            </a:r>
            <a:r>
              <a:rPr lang="en-US" sz="1200" b="0" i="0" dirty="0">
                <a:solidFill>
                  <a:srgbClr val="0F1115"/>
                </a:solidFill>
                <a:effectLst/>
                <a:latin typeface="quote-cjk-patch"/>
              </a:rPr>
              <a:t> paragraph (</a:t>
            </a:r>
            <a:r>
              <a:rPr lang="en-US" sz="1200" b="0" i="0" dirty="0">
                <a:solidFill>
                  <a:srgbClr val="0F1115"/>
                </a:solidFill>
                <a:effectLst/>
                <a:latin typeface="Menlo"/>
              </a:rPr>
              <a:t>&lt;p&gt;</a:t>
            </a:r>
            <a:r>
              <a:rPr lang="en-US" sz="1200" b="0" i="0" dirty="0">
                <a:solidFill>
                  <a:srgbClr val="0F1115"/>
                </a:solidFill>
                <a:effectLst/>
                <a:latin typeface="quote-cjk-patch"/>
              </a:rPr>
              <a:t>) that lives inside the </a:t>
            </a:r>
            <a:r>
              <a:rPr lang="en-US" sz="1200" b="0" i="0" dirty="0">
                <a:solidFill>
                  <a:srgbClr val="0F1115"/>
                </a:solidFill>
                <a:effectLst/>
                <a:latin typeface="Menlo"/>
              </a:rPr>
              <a:t>&lt;main&gt;</a:t>
            </a:r>
            <a:r>
              <a:rPr lang="en-US" sz="1200" b="0" i="0" dirty="0">
                <a:solidFill>
                  <a:srgbClr val="0F1115"/>
                </a:solidFill>
                <a:effectLst/>
                <a:latin typeface="quote-cjk-patch"/>
              </a:rPr>
              <a:t> section. It's incredibly flexible. Need the element with </a:t>
            </a:r>
            <a:r>
              <a:rPr lang="en-US" sz="1200" b="0" i="0" dirty="0">
                <a:solidFill>
                  <a:srgbClr val="0F1115"/>
                </a:solidFill>
                <a:effectLst/>
                <a:latin typeface="Menlo"/>
              </a:rPr>
              <a:t>id="header"</a:t>
            </a:r>
            <a:r>
              <a:rPr lang="en-US" sz="1200" b="0" i="0" dirty="0">
                <a:solidFill>
                  <a:srgbClr val="0F1115"/>
                </a:solidFill>
                <a:effectLst/>
                <a:latin typeface="quote-cjk-patch"/>
              </a:rPr>
              <a:t>? </a:t>
            </a:r>
            <a:r>
              <a:rPr lang="en-US" sz="1200" b="0" i="0" dirty="0" err="1">
                <a:solidFill>
                  <a:srgbClr val="0F1115"/>
                </a:solidFill>
                <a:effectLst/>
                <a:latin typeface="Menlo"/>
              </a:rPr>
              <a:t>document.querySelector</a:t>
            </a:r>
            <a:r>
              <a:rPr lang="en-US" sz="1200" b="0" i="0" dirty="0">
                <a:solidFill>
                  <a:srgbClr val="0F1115"/>
                </a:solidFill>
                <a:effectLst/>
                <a:latin typeface="Menlo"/>
              </a:rPr>
              <a:t>('#header')</a:t>
            </a:r>
            <a:r>
              <a:rPr lang="en-US" sz="1200" b="0" i="0" dirty="0">
                <a:solidFill>
                  <a:srgbClr val="0F1115"/>
                </a:solidFill>
                <a:effectLst/>
                <a:latin typeface="quote-cjk-patch"/>
              </a:rPr>
              <a:t>. Need all the buttons with the class </a:t>
            </a:r>
            <a:r>
              <a:rPr lang="en-US" sz="1200" b="0" i="0" dirty="0">
                <a:solidFill>
                  <a:srgbClr val="0F1115"/>
                </a:solidFill>
                <a:effectLst/>
                <a:latin typeface="Menlo"/>
              </a:rPr>
              <a:t>buy-now</a:t>
            </a:r>
            <a:r>
              <a:rPr lang="en-US" sz="1200" b="0" i="0" dirty="0">
                <a:solidFill>
                  <a:srgbClr val="0F1115"/>
                </a:solidFill>
                <a:effectLst/>
                <a:latin typeface="quote-cjk-patch"/>
              </a:rPr>
              <a:t>? You'd use its sibling, </a:t>
            </a:r>
            <a:r>
              <a:rPr lang="en-US" sz="1200" b="0" i="0" dirty="0" err="1">
                <a:solidFill>
                  <a:srgbClr val="0F1115"/>
                </a:solidFill>
                <a:effectLst/>
                <a:latin typeface="Menlo"/>
              </a:rPr>
              <a:t>document.querySelectorAll</a:t>
            </a:r>
            <a:r>
              <a:rPr lang="en-US" sz="1200" b="0" i="0" dirty="0">
                <a:solidFill>
                  <a:srgbClr val="0F1115"/>
                </a:solidFill>
                <a:effectLst/>
                <a:latin typeface="Menlo"/>
              </a:rPr>
              <a:t>('</a:t>
            </a:r>
            <a:r>
              <a:rPr lang="en-US" sz="1200" b="0" i="0" dirty="0" err="1">
                <a:solidFill>
                  <a:srgbClr val="0F1115"/>
                </a:solidFill>
                <a:effectLst/>
                <a:latin typeface="Menlo"/>
              </a:rPr>
              <a:t>button.buy</a:t>
            </a:r>
            <a:r>
              <a:rPr lang="en-US" sz="1200" b="0" i="0" dirty="0">
                <a:solidFill>
                  <a:srgbClr val="0F1115"/>
                </a:solidFill>
                <a:effectLst/>
                <a:latin typeface="Menlo"/>
              </a:rPr>
              <a:t>-now')</a:t>
            </a:r>
            <a:r>
              <a:rPr lang="en-US" sz="1200" b="0" i="0" dirty="0">
                <a:solidFill>
                  <a:srgbClr val="0F1115"/>
                </a:solidFill>
                <a:effectLst/>
                <a:latin typeface="quote-cjk-patch"/>
              </a:rPr>
              <a:t>, which, like the butterfly net, brings back a list of every match.</a:t>
            </a:r>
          </a:p>
          <a:p>
            <a:pPr algn="l">
              <a:spcBef>
                <a:spcPts val="1200"/>
              </a:spcBef>
              <a:spcAft>
                <a:spcPts val="1200"/>
              </a:spcAft>
              <a:buNone/>
            </a:pPr>
            <a:r>
              <a:rPr lang="en-US" sz="1200" b="0" i="0" dirty="0">
                <a:solidFill>
                  <a:srgbClr val="0F1115"/>
                </a:solidFill>
                <a:effectLst/>
                <a:latin typeface="quote-cjk-patch"/>
              </a:rPr>
              <a:t>Now you can find </a:t>
            </a:r>
            <a:r>
              <a:rPr lang="en-US" sz="1200" b="0" i="1" dirty="0">
                <a:solidFill>
                  <a:srgbClr val="0F1115"/>
                </a:solidFill>
                <a:effectLst/>
                <a:latin typeface="quote-cjk-patch"/>
              </a:rPr>
              <a:t>anything</a:t>
            </a:r>
            <a:r>
              <a:rPr lang="en-US" sz="1200" b="0" i="0" dirty="0">
                <a:solidFill>
                  <a:srgbClr val="0F1115"/>
                </a:solidFill>
                <a:effectLst/>
                <a:latin typeface="quote-cjk-patch"/>
              </a:rPr>
              <a:t> in your house.</a:t>
            </a:r>
          </a:p>
          <a:p>
            <a:pPr>
              <a:buNone/>
            </a:pPr>
            <a:br>
              <a:rPr lang="en-US" sz="1200" dirty="0"/>
            </a:br>
            <a:endParaRPr lang="en-US" sz="1200" dirty="0"/>
          </a:p>
        </p:txBody>
      </p:sp>
      <p:pic>
        <p:nvPicPr>
          <p:cNvPr id="5" name="Graphic 4" descr="Eye with solid fill">
            <a:extLst>
              <a:ext uri="{FF2B5EF4-FFF2-40B4-BE49-F238E27FC236}">
                <a16:creationId xmlns:a16="http://schemas.microsoft.com/office/drawing/2014/main" id="{DEC0DE5E-859E-9A07-DBAE-E70A5248C6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98278" y="215465"/>
            <a:ext cx="914400" cy="914400"/>
          </a:xfrm>
          <a:prstGeom prst="rect">
            <a:avLst/>
          </a:prstGeom>
        </p:spPr>
      </p:pic>
      <p:sp>
        <p:nvSpPr>
          <p:cNvPr id="7" name="TextBox 6">
            <a:extLst>
              <a:ext uri="{FF2B5EF4-FFF2-40B4-BE49-F238E27FC236}">
                <a16:creationId xmlns:a16="http://schemas.microsoft.com/office/drawing/2014/main" id="{2712DB28-71BA-E036-8439-5BB1312D2995}"/>
              </a:ext>
            </a:extLst>
          </p:cNvPr>
          <p:cNvSpPr txBox="1"/>
          <p:nvPr/>
        </p:nvSpPr>
        <p:spPr>
          <a:xfrm>
            <a:off x="5641428" y="487999"/>
            <a:ext cx="4955626" cy="369332"/>
          </a:xfrm>
          <a:prstGeom prst="rect">
            <a:avLst/>
          </a:prstGeom>
          <a:noFill/>
        </p:spPr>
        <p:txBody>
          <a:bodyPr wrap="square">
            <a:spAutoFit/>
          </a:bodyPr>
          <a:lstStyle/>
          <a:p>
            <a:r>
              <a:rPr lang="en-US" sz="1800" b="0" i="0" dirty="0" err="1">
                <a:solidFill>
                  <a:srgbClr val="4078F2"/>
                </a:solidFill>
                <a:effectLst/>
                <a:latin typeface="Menlo"/>
              </a:rPr>
              <a:t>querySelector</a:t>
            </a:r>
            <a:endParaRPr lang="en-US" dirty="0"/>
          </a:p>
        </p:txBody>
      </p:sp>
    </p:spTree>
    <p:extLst>
      <p:ext uri="{BB962C8B-B14F-4D97-AF65-F5344CB8AC3E}">
        <p14:creationId xmlns:p14="http://schemas.microsoft.com/office/powerpoint/2010/main" val="2928365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C1352A-5A15-7848-68DF-9B3111E6E01D}"/>
              </a:ext>
            </a:extLst>
          </p:cNvPr>
          <p:cNvSpPr txBox="1"/>
          <p:nvPr/>
        </p:nvSpPr>
        <p:spPr>
          <a:xfrm>
            <a:off x="300251" y="0"/>
            <a:ext cx="4652749" cy="6299160"/>
          </a:xfrm>
          <a:prstGeom prst="rect">
            <a:avLst/>
          </a:prstGeom>
          <a:noFill/>
        </p:spPr>
        <p:txBody>
          <a:bodyPr wrap="square">
            <a:spAutoFit/>
          </a:bodyPr>
          <a:lstStyle/>
          <a:p>
            <a:pPr algn="l">
              <a:lnSpc>
                <a:spcPts val="2250"/>
              </a:lnSpc>
              <a:spcBef>
                <a:spcPts val="2400"/>
              </a:spcBef>
              <a:spcAft>
                <a:spcPts val="1200"/>
              </a:spcAft>
              <a:buNone/>
            </a:pPr>
            <a:r>
              <a:rPr lang="en-US" sz="1200" b="1" dirty="0">
                <a:solidFill>
                  <a:srgbClr val="0F1115"/>
                </a:solidFill>
                <a:effectLst/>
                <a:latin typeface="quote-cjk-patch"/>
              </a:rPr>
              <a:t>Chapter 3: The Power to Change (Manipulating Elements)</a:t>
            </a:r>
          </a:p>
          <a:p>
            <a:pPr algn="l">
              <a:spcBef>
                <a:spcPts val="1200"/>
              </a:spcBef>
              <a:spcAft>
                <a:spcPts val="1200"/>
              </a:spcAft>
              <a:buNone/>
            </a:pPr>
            <a:r>
              <a:rPr lang="en-US" sz="1200" b="0" i="0" dirty="0">
                <a:solidFill>
                  <a:srgbClr val="0F1115"/>
                </a:solidFill>
                <a:effectLst/>
                <a:latin typeface="quote-cjk-patch"/>
              </a:rPr>
              <a:t>Finding things is useless unless you can change them. Now comes the real power.</a:t>
            </a:r>
          </a:p>
          <a:p>
            <a:pPr algn="l">
              <a:spcBef>
                <a:spcPts val="1200"/>
              </a:spcBef>
              <a:spcAft>
                <a:spcPts val="1200"/>
              </a:spcAft>
              <a:buNone/>
            </a:pPr>
            <a:r>
              <a:rPr lang="en-US" sz="1200" b="1" i="0" dirty="0">
                <a:solidFill>
                  <a:srgbClr val="0F1115"/>
                </a:solidFill>
                <a:effectLst/>
                <a:latin typeface="quote-cjk-patch"/>
              </a:rPr>
              <a:t>Changing the Words on the Page (</a:t>
            </a:r>
            <a:r>
              <a:rPr lang="en-US" sz="1200" b="0" i="0" dirty="0">
                <a:solidFill>
                  <a:srgbClr val="0F1115"/>
                </a:solidFill>
                <a:effectLst/>
                <a:latin typeface="Menlo"/>
              </a:rPr>
              <a:t>.</a:t>
            </a:r>
            <a:r>
              <a:rPr lang="en-US" sz="1200" b="0" i="0" dirty="0" err="1">
                <a:solidFill>
                  <a:srgbClr val="0F1115"/>
                </a:solidFill>
                <a:effectLst/>
                <a:latin typeface="Menlo"/>
              </a:rPr>
              <a:t>textContent</a:t>
            </a:r>
            <a:r>
              <a:rPr lang="en-US" sz="1200" b="1" i="0" dirty="0">
                <a:solidFill>
                  <a:srgbClr val="0F1115"/>
                </a:solidFill>
                <a:effectLst/>
                <a:latin typeface="quote-cjk-patch"/>
              </a:rPr>
              <a:t> &amp; </a:t>
            </a:r>
            <a:r>
              <a:rPr lang="en-US" sz="1200" b="0" i="0" dirty="0">
                <a:solidFill>
                  <a:srgbClr val="0F1115"/>
                </a:solidFill>
                <a:effectLst/>
                <a:latin typeface="Menlo"/>
              </a:rPr>
              <a:t>.</a:t>
            </a:r>
            <a:r>
              <a:rPr lang="en-US" sz="1200" b="0" i="0" dirty="0" err="1">
                <a:solidFill>
                  <a:srgbClr val="0F1115"/>
                </a:solidFill>
                <a:effectLst/>
                <a:latin typeface="Menlo"/>
              </a:rPr>
              <a:t>innerHTML</a:t>
            </a:r>
            <a:r>
              <a:rPr lang="en-US" sz="1200" b="1" i="0" dirty="0">
                <a:solidFill>
                  <a:srgbClr val="0F1115"/>
                </a:solidFill>
                <a:effectLst/>
                <a:latin typeface="quote-cjk-patch"/>
              </a:rPr>
              <a:t>)</a:t>
            </a:r>
            <a:endParaRPr lang="en-US" sz="1200" b="0" i="0" dirty="0">
              <a:solidFill>
                <a:srgbClr val="0F1115"/>
              </a:solidFill>
              <a:effectLst/>
              <a:latin typeface="quote-cjk-patch"/>
            </a:endParaRPr>
          </a:p>
          <a:p>
            <a:pPr algn="l">
              <a:spcBef>
                <a:spcPts val="1200"/>
              </a:spcBef>
              <a:spcAft>
                <a:spcPts val="1200"/>
              </a:spcAft>
              <a:buNone/>
            </a:pPr>
            <a:r>
              <a:rPr lang="en-US" sz="1200" b="0" i="0" dirty="0">
                <a:solidFill>
                  <a:srgbClr val="0F1115"/>
                </a:solidFill>
                <a:effectLst/>
                <a:latin typeface="quote-cjk-patch"/>
              </a:rPr>
              <a:t>You look at the welcome mat by the front door. It currently says "Welcome." But you want it to say "Welcome, Master!" in fancy letters.</a:t>
            </a:r>
          </a:p>
          <a:p>
            <a:pPr algn="l">
              <a:lnSpc>
                <a:spcPts val="1650"/>
              </a:lnSpc>
              <a:spcBef>
                <a:spcPts val="1200"/>
              </a:spcBef>
              <a:spcAft>
                <a:spcPts val="1200"/>
              </a:spcAft>
              <a:buNone/>
            </a:pPr>
            <a:r>
              <a:rPr lang="en-US" sz="1200" b="0" i="0" dirty="0">
                <a:solidFill>
                  <a:srgbClr val="0F1115"/>
                </a:solidFill>
                <a:effectLst/>
                <a:latin typeface="quote-cjk-patch"/>
              </a:rPr>
              <a:t>You've already found the mat using your magnifying glass: </a:t>
            </a:r>
            <a:r>
              <a:rPr lang="en-US" sz="1200" b="0" i="0" dirty="0">
                <a:solidFill>
                  <a:srgbClr val="0F1115"/>
                </a:solidFill>
                <a:effectLst/>
                <a:latin typeface="Menlo"/>
              </a:rPr>
              <a:t>let </a:t>
            </a:r>
            <a:r>
              <a:rPr lang="en-US" sz="1200" b="0" i="0" dirty="0" err="1">
                <a:solidFill>
                  <a:srgbClr val="0F1115"/>
                </a:solidFill>
                <a:effectLst/>
                <a:latin typeface="Menlo"/>
              </a:rPr>
              <a:t>welcomeMat</a:t>
            </a:r>
            <a:r>
              <a:rPr lang="en-US" sz="1200" b="0" i="0" dirty="0">
                <a:solidFill>
                  <a:srgbClr val="0F1115"/>
                </a:solidFill>
                <a:effectLst/>
                <a:latin typeface="Menlo"/>
              </a:rPr>
              <a:t> = </a:t>
            </a:r>
            <a:r>
              <a:rPr lang="en-US" sz="1200" b="0" i="0" dirty="0" err="1">
                <a:solidFill>
                  <a:srgbClr val="0F1115"/>
                </a:solidFill>
                <a:effectLst/>
                <a:latin typeface="Menlo"/>
              </a:rPr>
              <a:t>document.getElementById</a:t>
            </a:r>
            <a:r>
              <a:rPr lang="en-US" sz="1200" b="0" i="0" dirty="0">
                <a:solidFill>
                  <a:srgbClr val="0F1115"/>
                </a:solidFill>
                <a:effectLst/>
                <a:latin typeface="Menlo"/>
              </a:rPr>
              <a:t>('welcome-mat');</a:t>
            </a:r>
            <a:endParaRPr lang="en-US" sz="1200" b="0" i="0" dirty="0">
              <a:solidFill>
                <a:srgbClr val="0F1115"/>
              </a:solidFill>
              <a:effectLst/>
              <a:latin typeface="quote-cjk-patch"/>
            </a:endParaRPr>
          </a:p>
          <a:p>
            <a:pPr algn="l">
              <a:spcBef>
                <a:spcPts val="1200"/>
              </a:spcBef>
              <a:spcAft>
                <a:spcPts val="1200"/>
              </a:spcAft>
              <a:buNone/>
            </a:pPr>
            <a:r>
              <a:rPr lang="en-US" sz="1200" b="0" i="0" dirty="0">
                <a:solidFill>
                  <a:srgbClr val="0F1115"/>
                </a:solidFill>
                <a:effectLst/>
                <a:latin typeface="quote-cjk-patch"/>
              </a:rPr>
              <a:t>Now, you speak the words of power:</a:t>
            </a:r>
          </a:p>
          <a:p>
            <a:pPr algn="l">
              <a:lnSpc>
                <a:spcPts val="1350"/>
              </a:lnSpc>
              <a:spcBef>
                <a:spcPts val="1200"/>
              </a:spcBef>
              <a:spcAft>
                <a:spcPts val="857"/>
              </a:spcAft>
              <a:buNone/>
            </a:pPr>
            <a:r>
              <a:rPr lang="en-US" sz="1200" b="0" i="0" dirty="0" err="1">
                <a:solidFill>
                  <a:srgbClr val="0F1115"/>
                </a:solidFill>
                <a:effectLst/>
                <a:latin typeface="Menlo"/>
              </a:rPr>
              <a:t>javascript</a:t>
            </a:r>
            <a:endParaRPr lang="en-US" sz="1200" b="0" i="0" dirty="0">
              <a:solidFill>
                <a:srgbClr val="0F1115"/>
              </a:solidFill>
              <a:effectLst/>
              <a:latin typeface="quote-cjk-patch"/>
            </a:endParaRPr>
          </a:p>
          <a:p>
            <a:pPr algn="l" latinLnBrk="1">
              <a:lnSpc>
                <a:spcPts val="1650"/>
              </a:lnSpc>
              <a:spcBef>
                <a:spcPts val="1200"/>
              </a:spcBef>
              <a:spcAft>
                <a:spcPts val="857"/>
              </a:spcAft>
              <a:buNone/>
            </a:pPr>
            <a:r>
              <a:rPr lang="en-US" sz="1200" b="0" i="0" dirty="0" err="1">
                <a:solidFill>
                  <a:srgbClr val="0F1115"/>
                </a:solidFill>
                <a:effectLst/>
                <a:latin typeface="Menlo"/>
              </a:rPr>
              <a:t>welcomeMat</a:t>
            </a:r>
            <a:r>
              <a:rPr lang="en-US" sz="1200" b="0" i="0" dirty="0" err="1">
                <a:solidFill>
                  <a:srgbClr val="383A42"/>
                </a:solidFill>
                <a:effectLst/>
                <a:latin typeface="Menlo"/>
              </a:rPr>
              <a:t>.</a:t>
            </a:r>
            <a:r>
              <a:rPr lang="en-US" sz="1200" b="0" i="0" dirty="0" err="1">
                <a:solidFill>
                  <a:srgbClr val="0F1115"/>
                </a:solidFill>
                <a:effectLst/>
                <a:latin typeface="Menlo"/>
              </a:rPr>
              <a:t>textContent</a:t>
            </a:r>
            <a:r>
              <a:rPr lang="en-US" sz="1200" b="0" i="0" dirty="0">
                <a:solidFill>
                  <a:srgbClr val="0F1115"/>
                </a:solidFill>
                <a:effectLst/>
                <a:latin typeface="Menlo"/>
              </a:rPr>
              <a:t> </a:t>
            </a:r>
            <a:r>
              <a:rPr lang="en-US" sz="1200" b="0" i="0" dirty="0">
                <a:solidFill>
                  <a:srgbClr val="4078F2"/>
                </a:solidFill>
                <a:effectLst/>
                <a:latin typeface="Menlo"/>
              </a:rPr>
              <a:t>=</a:t>
            </a:r>
            <a:r>
              <a:rPr lang="en-US" sz="1200" b="0" i="0" dirty="0">
                <a:solidFill>
                  <a:srgbClr val="0F1115"/>
                </a:solidFill>
                <a:effectLst/>
                <a:latin typeface="Menlo"/>
              </a:rPr>
              <a:t> </a:t>
            </a:r>
            <a:r>
              <a:rPr lang="en-US" sz="1200" b="0" i="0" dirty="0">
                <a:solidFill>
                  <a:srgbClr val="50A14F"/>
                </a:solidFill>
                <a:effectLst/>
                <a:latin typeface="Menlo"/>
              </a:rPr>
              <a:t>"Welcome, Master!"</a:t>
            </a:r>
            <a:r>
              <a:rPr lang="en-US" sz="1200" b="0" i="0" dirty="0">
                <a:solidFill>
                  <a:srgbClr val="383A42"/>
                </a:solidFill>
                <a:effectLst/>
                <a:latin typeface="Menlo"/>
              </a:rPr>
              <a:t>;</a:t>
            </a:r>
            <a:r>
              <a:rPr lang="en-US" sz="1200" b="0" i="0" dirty="0">
                <a:solidFill>
                  <a:srgbClr val="0F1115"/>
                </a:solidFill>
                <a:effectLst/>
                <a:latin typeface="Menlo"/>
              </a:rPr>
              <a:t> </a:t>
            </a:r>
          </a:p>
          <a:p>
            <a:pPr algn="l">
              <a:spcBef>
                <a:spcPts val="1200"/>
              </a:spcBef>
              <a:spcAft>
                <a:spcPts val="1200"/>
              </a:spcAft>
              <a:buNone/>
            </a:pPr>
            <a:r>
              <a:rPr lang="en-US" sz="1200" b="0" i="1" dirty="0">
                <a:solidFill>
                  <a:srgbClr val="0F1115"/>
                </a:solidFill>
                <a:effectLst/>
                <a:latin typeface="quote-cjk-patch"/>
              </a:rPr>
              <a:t>Poof!</a:t>
            </a:r>
            <a:r>
              <a:rPr lang="en-US" sz="1200" b="0" i="0" dirty="0">
                <a:solidFill>
                  <a:srgbClr val="0F1115"/>
                </a:solidFill>
                <a:effectLst/>
                <a:latin typeface="quote-cjk-patch"/>
              </a:rPr>
              <a:t> The text changes on the blueprint, and instantly, the real welcome mat changes. The text is now plain and simple.</a:t>
            </a:r>
            <a:br>
              <a:rPr lang="en-US" sz="1200" b="0" i="0" dirty="0">
                <a:solidFill>
                  <a:srgbClr val="0F1115"/>
                </a:solidFill>
                <a:effectLst/>
                <a:latin typeface="quote-cjk-patch"/>
              </a:rPr>
            </a:br>
            <a:r>
              <a:rPr lang="en-US" sz="1200" b="0" i="0" dirty="0">
                <a:solidFill>
                  <a:srgbClr val="0F1115"/>
                </a:solidFill>
                <a:effectLst/>
                <a:latin typeface="quote-cjk-patch"/>
              </a:rPr>
              <a:t>But what if you wanted it to be bold and italic? You'd use a slightly more powerful, and dangerous, spell:</a:t>
            </a:r>
          </a:p>
          <a:p>
            <a:pPr algn="l">
              <a:lnSpc>
                <a:spcPts val="1350"/>
              </a:lnSpc>
              <a:spcBef>
                <a:spcPts val="1200"/>
              </a:spcBef>
              <a:spcAft>
                <a:spcPts val="857"/>
              </a:spcAft>
              <a:buNone/>
            </a:pPr>
            <a:r>
              <a:rPr lang="en-US" sz="1200" b="0" i="0" dirty="0" err="1">
                <a:solidFill>
                  <a:srgbClr val="0F1115"/>
                </a:solidFill>
                <a:effectLst/>
                <a:latin typeface="Menlo"/>
              </a:rPr>
              <a:t>Javascript</a:t>
            </a:r>
            <a:br>
              <a:rPr lang="en-US" sz="1200" dirty="0">
                <a:solidFill>
                  <a:srgbClr val="0F1115"/>
                </a:solidFill>
                <a:latin typeface="quote-cjk-patch"/>
              </a:rPr>
            </a:br>
            <a:r>
              <a:rPr lang="en-US" sz="1200" b="0" i="0" dirty="0" err="1">
                <a:solidFill>
                  <a:srgbClr val="0F1115"/>
                </a:solidFill>
                <a:effectLst/>
                <a:latin typeface="Menlo"/>
              </a:rPr>
              <a:t>welcomeMat</a:t>
            </a:r>
            <a:r>
              <a:rPr lang="en-US" sz="1200" b="0" i="0" dirty="0" err="1">
                <a:solidFill>
                  <a:srgbClr val="383A42"/>
                </a:solidFill>
                <a:effectLst/>
                <a:latin typeface="Menlo"/>
              </a:rPr>
              <a:t>.</a:t>
            </a:r>
            <a:r>
              <a:rPr lang="en-US" sz="1200" b="0" i="0" dirty="0" err="1">
                <a:solidFill>
                  <a:srgbClr val="0F1115"/>
                </a:solidFill>
                <a:effectLst/>
                <a:latin typeface="Menlo"/>
              </a:rPr>
              <a:t>innerHTML</a:t>
            </a:r>
            <a:r>
              <a:rPr lang="en-US" sz="1200" b="0" i="0" dirty="0">
                <a:solidFill>
                  <a:srgbClr val="0F1115"/>
                </a:solidFill>
                <a:effectLst/>
                <a:latin typeface="Menlo"/>
              </a:rPr>
              <a:t> </a:t>
            </a:r>
            <a:r>
              <a:rPr lang="en-US" sz="1200" b="0" i="0" dirty="0">
                <a:solidFill>
                  <a:srgbClr val="4078F2"/>
                </a:solidFill>
                <a:effectLst/>
                <a:latin typeface="Menlo"/>
              </a:rPr>
              <a:t>=</a:t>
            </a:r>
            <a:r>
              <a:rPr lang="en-US" sz="1200" b="0" i="0" dirty="0">
                <a:solidFill>
                  <a:srgbClr val="0F1115"/>
                </a:solidFill>
                <a:effectLst/>
                <a:latin typeface="Menlo"/>
              </a:rPr>
              <a:t> </a:t>
            </a:r>
            <a:r>
              <a:rPr lang="en-US" sz="1200" b="0" i="0" dirty="0">
                <a:solidFill>
                  <a:srgbClr val="50A14F"/>
                </a:solidFill>
                <a:effectLst/>
                <a:latin typeface="Menlo"/>
              </a:rPr>
              <a:t>"&lt;strong&gt;Welcome, &lt;</a:t>
            </a:r>
            <a:r>
              <a:rPr lang="en-US" sz="1200" b="0" i="0" dirty="0" err="1">
                <a:solidFill>
                  <a:srgbClr val="50A14F"/>
                </a:solidFill>
                <a:effectLst/>
                <a:latin typeface="Menlo"/>
              </a:rPr>
              <a:t>em</a:t>
            </a:r>
            <a:r>
              <a:rPr lang="en-US" sz="1200" b="0" i="0" dirty="0">
                <a:solidFill>
                  <a:srgbClr val="50A14F"/>
                </a:solidFill>
                <a:effectLst/>
                <a:latin typeface="Menlo"/>
              </a:rPr>
              <a:t>&gt;Master!&lt;/</a:t>
            </a:r>
            <a:r>
              <a:rPr lang="en-US" sz="1200" b="0" i="0" dirty="0" err="1">
                <a:solidFill>
                  <a:srgbClr val="50A14F"/>
                </a:solidFill>
                <a:effectLst/>
                <a:latin typeface="Menlo"/>
              </a:rPr>
              <a:t>em</a:t>
            </a:r>
            <a:r>
              <a:rPr lang="en-US" sz="1200" b="0" i="0" dirty="0">
                <a:solidFill>
                  <a:srgbClr val="50A14F"/>
                </a:solidFill>
                <a:effectLst/>
                <a:latin typeface="Menlo"/>
              </a:rPr>
              <a:t>&gt;&lt;/strong&gt;"</a:t>
            </a:r>
            <a:r>
              <a:rPr lang="en-US" sz="1200" b="0" i="0" dirty="0">
                <a:solidFill>
                  <a:srgbClr val="383A42"/>
                </a:solidFill>
                <a:effectLst/>
                <a:latin typeface="Menlo"/>
              </a:rPr>
              <a:t>;</a:t>
            </a:r>
            <a:endParaRPr lang="en-US" sz="1200" b="0" i="0" dirty="0">
              <a:solidFill>
                <a:srgbClr val="0F1115"/>
              </a:solidFill>
              <a:effectLst/>
              <a:latin typeface="Menlo"/>
            </a:endParaRPr>
          </a:p>
        </p:txBody>
      </p:sp>
    </p:spTree>
    <p:extLst>
      <p:ext uri="{BB962C8B-B14F-4D97-AF65-F5344CB8AC3E}">
        <p14:creationId xmlns:p14="http://schemas.microsoft.com/office/powerpoint/2010/main" val="1327046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BD5725-2C77-86C4-A42F-28850797FEF6}"/>
              </a:ext>
            </a:extLst>
          </p:cNvPr>
          <p:cNvSpPr txBox="1"/>
          <p:nvPr/>
        </p:nvSpPr>
        <p:spPr>
          <a:xfrm>
            <a:off x="300251" y="85342"/>
            <a:ext cx="9457898" cy="5168081"/>
          </a:xfrm>
          <a:prstGeom prst="rect">
            <a:avLst/>
          </a:prstGeom>
          <a:noFill/>
        </p:spPr>
        <p:txBody>
          <a:bodyPr wrap="square">
            <a:spAutoFit/>
          </a:bodyPr>
          <a:lstStyle/>
          <a:p>
            <a:pPr algn="l">
              <a:lnSpc>
                <a:spcPts val="1650"/>
              </a:lnSpc>
              <a:spcBef>
                <a:spcPts val="1200"/>
              </a:spcBef>
              <a:spcAft>
                <a:spcPts val="1200"/>
              </a:spcAft>
              <a:buNone/>
            </a:pPr>
            <a:r>
              <a:rPr lang="en-US" b="0" i="1" dirty="0">
                <a:solidFill>
                  <a:srgbClr val="0F1115"/>
                </a:solidFill>
                <a:effectLst/>
                <a:latin typeface="quote-cjk-patch"/>
              </a:rPr>
              <a:t>Poof!</a:t>
            </a:r>
            <a:r>
              <a:rPr lang="en-US" b="0" i="0" dirty="0">
                <a:solidFill>
                  <a:srgbClr val="0F1115"/>
                </a:solidFill>
                <a:effectLst/>
                <a:latin typeface="quote-cjk-patch"/>
              </a:rPr>
              <a:t> Now the text is bold and italic. But be careful! The </a:t>
            </a:r>
            <a:r>
              <a:rPr lang="en-US" b="0" i="0" dirty="0" err="1">
                <a:solidFill>
                  <a:srgbClr val="0F1115"/>
                </a:solidFill>
                <a:effectLst/>
                <a:latin typeface="Menlo"/>
              </a:rPr>
              <a:t>innerHTML</a:t>
            </a:r>
            <a:r>
              <a:rPr lang="en-US" b="0" i="0" dirty="0">
                <a:solidFill>
                  <a:srgbClr val="0F1115"/>
                </a:solidFill>
                <a:effectLst/>
                <a:latin typeface="quote-cjk-patch"/>
              </a:rPr>
              <a:t> spell is powerful. If you're not careful and just shove random code into it, you could accidentally summon a gremlin (this is a </a:t>
            </a:r>
            <a:r>
              <a:rPr lang="en-US" b="1" i="0" dirty="0">
                <a:solidFill>
                  <a:srgbClr val="0F1115"/>
                </a:solidFill>
                <a:effectLst/>
                <a:latin typeface="quote-cjk-patch"/>
              </a:rPr>
              <a:t>security risk</a:t>
            </a:r>
            <a:r>
              <a:rPr lang="en-US" b="0" i="0" dirty="0">
                <a:solidFill>
                  <a:srgbClr val="0F1115"/>
                </a:solidFill>
                <a:effectLst/>
                <a:latin typeface="quote-cjk-patch"/>
              </a:rPr>
              <a:t> called XSS). Use </a:t>
            </a:r>
            <a:r>
              <a:rPr lang="en-US" b="0" i="0" dirty="0" err="1">
                <a:solidFill>
                  <a:srgbClr val="0F1115"/>
                </a:solidFill>
                <a:effectLst/>
                <a:latin typeface="Menlo"/>
              </a:rPr>
              <a:t>textContent</a:t>
            </a:r>
            <a:r>
              <a:rPr lang="en-US" b="0" i="0" dirty="0">
                <a:solidFill>
                  <a:srgbClr val="0F1115"/>
                </a:solidFill>
                <a:effectLst/>
                <a:latin typeface="quote-cjk-patch"/>
              </a:rPr>
              <a:t> for plain text unless you specifically need to create HTML.</a:t>
            </a:r>
          </a:p>
          <a:p>
            <a:pPr algn="l">
              <a:spcBef>
                <a:spcPts val="1200"/>
              </a:spcBef>
              <a:spcAft>
                <a:spcPts val="1200"/>
              </a:spcAft>
              <a:buNone/>
            </a:pPr>
            <a:r>
              <a:rPr lang="en-US" b="1" i="0" dirty="0">
                <a:solidFill>
                  <a:srgbClr val="0F1115"/>
                </a:solidFill>
                <a:effectLst/>
                <a:latin typeface="quote-cjk-patch"/>
              </a:rPr>
              <a:t>Changing the Look and Feel (</a:t>
            </a:r>
            <a:r>
              <a:rPr lang="en-US" b="0" i="0" dirty="0">
                <a:solidFill>
                  <a:srgbClr val="0F1115"/>
                </a:solidFill>
                <a:effectLst/>
                <a:latin typeface="Menlo"/>
              </a:rPr>
              <a:t>.style</a:t>
            </a:r>
            <a:r>
              <a:rPr lang="en-US" b="1" i="0" dirty="0">
                <a:solidFill>
                  <a:srgbClr val="0F1115"/>
                </a:solidFill>
                <a:effectLst/>
                <a:latin typeface="quote-cjk-patch"/>
              </a:rPr>
              <a:t>)</a:t>
            </a:r>
            <a:endParaRPr lang="en-US" b="0" i="0" dirty="0">
              <a:solidFill>
                <a:srgbClr val="0F1115"/>
              </a:solidFill>
              <a:effectLst/>
              <a:latin typeface="quote-cjk-patch"/>
            </a:endParaRPr>
          </a:p>
          <a:p>
            <a:pPr algn="l">
              <a:lnSpc>
                <a:spcPts val="1650"/>
              </a:lnSpc>
              <a:spcBef>
                <a:spcPts val="1200"/>
              </a:spcBef>
              <a:spcAft>
                <a:spcPts val="1200"/>
              </a:spcAft>
              <a:buNone/>
            </a:pPr>
            <a:r>
              <a:rPr lang="en-US" b="0" i="0" dirty="0">
                <a:solidFill>
                  <a:srgbClr val="0F1115"/>
                </a:solidFill>
                <a:effectLst/>
                <a:latin typeface="quote-cjk-patch"/>
              </a:rPr>
              <a:t>Now, let's paint that door blue. Remember you have the list of doors from your butterfly net? You walk up to the first one in the list ( </a:t>
            </a:r>
            <a:r>
              <a:rPr lang="en-US" b="0" i="0" dirty="0" err="1">
                <a:solidFill>
                  <a:srgbClr val="0F1115"/>
                </a:solidFill>
                <a:effectLst/>
                <a:latin typeface="Menlo"/>
              </a:rPr>
              <a:t>allDoors</a:t>
            </a:r>
            <a:r>
              <a:rPr lang="en-US" b="0" i="0" dirty="0">
                <a:solidFill>
                  <a:srgbClr val="0F1115"/>
                </a:solidFill>
                <a:effectLst/>
                <a:latin typeface="Menlo"/>
              </a:rPr>
              <a:t>[0]</a:t>
            </a:r>
            <a:r>
              <a:rPr lang="en-US" b="0" i="0" dirty="0">
                <a:solidFill>
                  <a:srgbClr val="0F1115"/>
                </a:solidFill>
                <a:effectLst/>
                <a:latin typeface="quote-cjk-patch"/>
              </a:rPr>
              <a:t> ) and point your finger.</a:t>
            </a:r>
          </a:p>
          <a:p>
            <a:pPr algn="l">
              <a:lnSpc>
                <a:spcPts val="1350"/>
              </a:lnSpc>
              <a:spcBef>
                <a:spcPts val="1200"/>
              </a:spcBef>
              <a:spcAft>
                <a:spcPts val="857"/>
              </a:spcAft>
              <a:buNone/>
            </a:pPr>
            <a:r>
              <a:rPr lang="en-US" b="0" i="0" dirty="0" err="1">
                <a:solidFill>
                  <a:srgbClr val="0F1115"/>
                </a:solidFill>
                <a:effectLst/>
                <a:latin typeface="Menlo"/>
              </a:rPr>
              <a:t>javascript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err="1">
                <a:solidFill>
                  <a:srgbClr val="0F1115"/>
                </a:solidFill>
                <a:effectLst/>
                <a:latin typeface="Menlo"/>
              </a:rPr>
              <a:t>allDoors</a:t>
            </a:r>
            <a:r>
              <a:rPr lang="en-US" b="0" i="0" dirty="0">
                <a:solidFill>
                  <a:srgbClr val="383A42"/>
                </a:solidFill>
                <a:effectLst/>
                <a:latin typeface="Menlo"/>
              </a:rPr>
              <a:t>[</a:t>
            </a:r>
            <a:r>
              <a:rPr lang="en-US" b="0" i="0" dirty="0">
                <a:solidFill>
                  <a:srgbClr val="B76B01"/>
                </a:solidFill>
                <a:effectLst/>
                <a:latin typeface="Menlo"/>
              </a:rPr>
              <a:t>0</a:t>
            </a:r>
            <a:r>
              <a:rPr lang="en-US" b="0" i="0" dirty="0">
                <a:solidFill>
                  <a:srgbClr val="383A42"/>
                </a:solidFill>
                <a:effectLst/>
                <a:latin typeface="Menlo"/>
              </a:rPr>
              <a:t>].</a:t>
            </a:r>
            <a:r>
              <a:rPr lang="en-US" b="0" i="0" dirty="0" err="1">
                <a:solidFill>
                  <a:srgbClr val="0F1115"/>
                </a:solidFill>
                <a:effectLst/>
                <a:latin typeface="Menlo"/>
              </a:rPr>
              <a:t>style</a:t>
            </a:r>
            <a:r>
              <a:rPr lang="en-US" b="0" i="0" dirty="0" err="1">
                <a:solidFill>
                  <a:srgbClr val="383A42"/>
                </a:solidFill>
                <a:effectLst/>
                <a:latin typeface="Menlo"/>
              </a:rPr>
              <a:t>.</a:t>
            </a:r>
            <a:r>
              <a:rPr lang="en-US" b="0" i="0" dirty="0" err="1">
                <a:solidFill>
                  <a:srgbClr val="0F1115"/>
                </a:solidFill>
                <a:effectLst/>
                <a:latin typeface="Menlo"/>
              </a:rPr>
              <a:t>backgroundColor</a:t>
            </a:r>
            <a:r>
              <a:rPr lang="en-US" b="0" i="0" dirty="0">
                <a:solidFill>
                  <a:srgbClr val="0F1115"/>
                </a:solidFill>
                <a:effectLst/>
                <a:latin typeface="Menlo"/>
              </a:rPr>
              <a:t> </a:t>
            </a:r>
            <a:r>
              <a:rPr lang="en-US" b="0" i="0" dirty="0">
                <a:solidFill>
                  <a:srgbClr val="4078F2"/>
                </a:solidFill>
                <a:effectLst/>
                <a:latin typeface="Menlo"/>
              </a:rPr>
              <a:t>=</a:t>
            </a:r>
            <a:r>
              <a:rPr lang="en-US" b="0" i="0" dirty="0">
                <a:solidFill>
                  <a:srgbClr val="0F1115"/>
                </a:solidFill>
                <a:effectLst/>
                <a:latin typeface="Menlo"/>
              </a:rPr>
              <a:t> </a:t>
            </a:r>
            <a:r>
              <a:rPr lang="en-US" b="0" i="0" dirty="0">
                <a:solidFill>
                  <a:srgbClr val="50A14F"/>
                </a:solidFill>
                <a:effectLst/>
                <a:latin typeface="Menlo"/>
              </a:rPr>
              <a:t>'blue'</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err="1">
                <a:solidFill>
                  <a:srgbClr val="0F1115"/>
                </a:solidFill>
                <a:effectLst/>
                <a:latin typeface="Menlo"/>
              </a:rPr>
              <a:t>allDoors</a:t>
            </a:r>
            <a:r>
              <a:rPr lang="en-US" b="0" i="0" dirty="0">
                <a:solidFill>
                  <a:srgbClr val="383A42"/>
                </a:solidFill>
                <a:effectLst/>
                <a:latin typeface="Menlo"/>
              </a:rPr>
              <a:t>[</a:t>
            </a:r>
            <a:r>
              <a:rPr lang="en-US" b="0" i="0" dirty="0">
                <a:solidFill>
                  <a:srgbClr val="B76B01"/>
                </a:solidFill>
                <a:effectLst/>
                <a:latin typeface="Menlo"/>
              </a:rPr>
              <a:t>0</a:t>
            </a:r>
            <a:r>
              <a:rPr lang="en-US" b="0" i="0" dirty="0">
                <a:solidFill>
                  <a:srgbClr val="383A42"/>
                </a:solidFill>
                <a:effectLst/>
                <a:latin typeface="Menlo"/>
              </a:rPr>
              <a:t>].</a:t>
            </a:r>
            <a:r>
              <a:rPr lang="en-US" b="0" i="0" dirty="0" err="1">
                <a:solidFill>
                  <a:srgbClr val="0F1115"/>
                </a:solidFill>
                <a:effectLst/>
                <a:latin typeface="Menlo"/>
              </a:rPr>
              <a:t>style</a:t>
            </a:r>
            <a:r>
              <a:rPr lang="en-US" b="0" i="0" dirty="0" err="1">
                <a:solidFill>
                  <a:srgbClr val="383A42"/>
                </a:solidFill>
                <a:effectLst/>
                <a:latin typeface="Menlo"/>
              </a:rPr>
              <a:t>.</a:t>
            </a:r>
            <a:r>
              <a:rPr lang="en-US" b="0" i="0" dirty="0" err="1">
                <a:solidFill>
                  <a:srgbClr val="0F1115"/>
                </a:solidFill>
                <a:effectLst/>
                <a:latin typeface="Menlo"/>
              </a:rPr>
              <a:t>fontSize</a:t>
            </a:r>
            <a:r>
              <a:rPr lang="en-US" b="0" i="0" dirty="0">
                <a:solidFill>
                  <a:srgbClr val="0F1115"/>
                </a:solidFill>
                <a:effectLst/>
                <a:latin typeface="Menlo"/>
              </a:rPr>
              <a:t> </a:t>
            </a:r>
            <a:r>
              <a:rPr lang="en-US" b="0" i="0" dirty="0">
                <a:solidFill>
                  <a:srgbClr val="4078F2"/>
                </a:solidFill>
                <a:effectLst/>
                <a:latin typeface="Menlo"/>
              </a:rPr>
              <a:t>=</a:t>
            </a:r>
            <a:r>
              <a:rPr lang="en-US" b="0" i="0" dirty="0">
                <a:solidFill>
                  <a:srgbClr val="0F1115"/>
                </a:solidFill>
                <a:effectLst/>
                <a:latin typeface="Menlo"/>
              </a:rPr>
              <a:t> </a:t>
            </a:r>
            <a:r>
              <a:rPr lang="en-US" b="0" i="0" dirty="0">
                <a:solidFill>
                  <a:srgbClr val="50A14F"/>
                </a:solidFill>
                <a:effectLst/>
                <a:latin typeface="Menlo"/>
              </a:rPr>
              <a:t>'20px'</a:t>
            </a:r>
            <a:r>
              <a:rPr lang="en-US" b="0" i="0" dirty="0">
                <a:solidFill>
                  <a:srgbClr val="383A42"/>
                </a:solidFill>
                <a:effectLst/>
                <a:latin typeface="Menlo"/>
              </a:rPr>
              <a:t>;</a:t>
            </a:r>
            <a:r>
              <a:rPr lang="en-US" b="0" i="0" dirty="0">
                <a:solidFill>
                  <a:srgbClr val="0F1115"/>
                </a:solidFill>
                <a:effectLst/>
                <a:latin typeface="Menlo"/>
              </a:rPr>
              <a:t> </a:t>
            </a:r>
          </a:p>
          <a:p>
            <a:pPr algn="l">
              <a:lnSpc>
                <a:spcPts val="1650"/>
              </a:lnSpc>
              <a:spcBef>
                <a:spcPts val="1200"/>
              </a:spcBef>
              <a:spcAft>
                <a:spcPts val="1200"/>
              </a:spcAft>
              <a:buNone/>
            </a:pPr>
            <a:r>
              <a:rPr lang="en-US" b="0" i="0" dirty="0">
                <a:solidFill>
                  <a:srgbClr val="0F1115"/>
                </a:solidFill>
                <a:effectLst/>
                <a:latin typeface="quote-cjk-patch"/>
              </a:rPr>
              <a:t>You're not writing CSS in a file somewhere. You're reaching directly into the element's </a:t>
            </a:r>
            <a:r>
              <a:rPr lang="en-US" b="0" i="0" dirty="0">
                <a:solidFill>
                  <a:srgbClr val="0F1115"/>
                </a:solidFill>
                <a:effectLst/>
                <a:latin typeface="Menlo"/>
              </a:rPr>
              <a:t>style</a:t>
            </a:r>
            <a:r>
              <a:rPr lang="en-US" b="0" i="0" dirty="0">
                <a:solidFill>
                  <a:srgbClr val="0F1115"/>
                </a:solidFill>
                <a:effectLst/>
                <a:latin typeface="quote-cjk-patch"/>
              </a:rPr>
              <a:t> object and telling it exactly how to look. It's like giving direct orders to the paint and the carpenter.</a:t>
            </a:r>
          </a:p>
          <a:p>
            <a:pPr>
              <a:buNone/>
            </a:pPr>
            <a:br>
              <a:rPr lang="en-US" dirty="0"/>
            </a:br>
            <a:endParaRPr lang="en-US" dirty="0"/>
          </a:p>
        </p:txBody>
      </p:sp>
    </p:spTree>
    <p:extLst>
      <p:ext uri="{BB962C8B-B14F-4D97-AF65-F5344CB8AC3E}">
        <p14:creationId xmlns:p14="http://schemas.microsoft.com/office/powerpoint/2010/main" val="81685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6B9E1A-1BA7-74CB-455F-B46F544DC134}"/>
              </a:ext>
            </a:extLst>
          </p:cNvPr>
          <p:cNvSpPr txBox="1"/>
          <p:nvPr/>
        </p:nvSpPr>
        <p:spPr>
          <a:xfrm>
            <a:off x="456062" y="108309"/>
            <a:ext cx="8993875" cy="7190430"/>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Changing the Clothes (</a:t>
            </a:r>
            <a:r>
              <a:rPr lang="en-US" b="0" i="0" dirty="0">
                <a:solidFill>
                  <a:srgbClr val="0F1115"/>
                </a:solidFill>
                <a:effectLst/>
                <a:latin typeface="Menlo"/>
              </a:rPr>
              <a:t>.</a:t>
            </a:r>
            <a:r>
              <a:rPr lang="en-US" b="0" i="0" dirty="0" err="1">
                <a:solidFill>
                  <a:srgbClr val="0F1115"/>
                </a:solidFill>
                <a:effectLst/>
                <a:latin typeface="Menlo"/>
              </a:rPr>
              <a:t>className</a:t>
            </a:r>
            <a:r>
              <a:rPr lang="en-US" b="1" i="0" dirty="0">
                <a:solidFill>
                  <a:srgbClr val="0F1115"/>
                </a:solidFill>
                <a:effectLst/>
                <a:latin typeface="quote-cjk-patch"/>
              </a:rPr>
              <a:t> &amp; </a:t>
            </a:r>
            <a:r>
              <a:rPr lang="en-US" b="0" i="0" dirty="0">
                <a:solidFill>
                  <a:srgbClr val="0F1115"/>
                </a:solidFill>
                <a:effectLst/>
                <a:latin typeface="Menlo"/>
              </a:rPr>
              <a:t>.</a:t>
            </a:r>
            <a:r>
              <a:rPr lang="en-US" b="0" i="0" dirty="0" err="1">
                <a:solidFill>
                  <a:srgbClr val="0F1115"/>
                </a:solidFill>
                <a:effectLst/>
                <a:latin typeface="Menlo"/>
              </a:rPr>
              <a:t>classList</a:t>
            </a:r>
            <a:r>
              <a:rPr lang="en-US" b="1" i="0" dirty="0">
                <a:solidFill>
                  <a:srgbClr val="0F1115"/>
                </a:solidFill>
                <a:effectLst/>
                <a:latin typeface="quote-cjk-patch"/>
              </a:rPr>
              <a:t>)</a:t>
            </a:r>
            <a:endParaRPr lang="en-US" b="0" i="0" dirty="0">
              <a:solidFill>
                <a:srgbClr val="0F1115"/>
              </a:solidFill>
              <a:effectLst/>
              <a:latin typeface="quote-cjk-patch"/>
            </a:endParaRPr>
          </a:p>
          <a:p>
            <a:pPr algn="l">
              <a:spcBef>
                <a:spcPts val="1200"/>
              </a:spcBef>
              <a:spcAft>
                <a:spcPts val="1200"/>
              </a:spcAft>
              <a:buNone/>
            </a:pPr>
            <a:r>
              <a:rPr lang="en-US" b="0" i="0" dirty="0">
                <a:solidFill>
                  <a:srgbClr val="0F1115"/>
                </a:solidFill>
                <a:effectLst/>
                <a:latin typeface="quote-cjk-patch"/>
              </a:rPr>
              <a:t>Giving orders to each individual style is messy. It's better to define a whole "look" as a CSS class, like a pre-made outfit.</a:t>
            </a:r>
          </a:p>
          <a:p>
            <a:pPr algn="l">
              <a:spcBef>
                <a:spcPts val="1200"/>
              </a:spcBef>
              <a:spcAft>
                <a:spcPts val="1200"/>
              </a:spcAft>
              <a:buNone/>
            </a:pPr>
            <a:r>
              <a:rPr lang="en-US" b="0" i="0" dirty="0">
                <a:solidFill>
                  <a:srgbClr val="0F1115"/>
                </a:solidFill>
                <a:effectLst/>
                <a:latin typeface="quote-cjk-patch"/>
              </a:rPr>
              <a:t>In your CSS file, you have an outfit defined:</a:t>
            </a:r>
          </a:p>
          <a:p>
            <a:pPr algn="l">
              <a:lnSpc>
                <a:spcPts val="1350"/>
              </a:lnSpc>
              <a:spcBef>
                <a:spcPts val="1200"/>
              </a:spcBef>
              <a:spcAft>
                <a:spcPts val="857"/>
              </a:spcAft>
              <a:buNone/>
            </a:pPr>
            <a:r>
              <a:rPr lang="en-US" b="0" i="0" dirty="0" err="1">
                <a:solidFill>
                  <a:srgbClr val="0F1115"/>
                </a:solidFill>
                <a:effectLst/>
                <a:latin typeface="Menlo"/>
              </a:rPr>
              <a:t>css</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50A14F"/>
                </a:solidFill>
                <a:effectLst/>
                <a:latin typeface="Menlo"/>
              </a:rPr>
              <a:t>.master-class</a:t>
            </a:r>
            <a:r>
              <a:rPr lang="en-US" b="0" i="0" dirty="0">
                <a:solidFill>
                  <a:srgbClr val="0F1115"/>
                </a:solidFill>
                <a:effectLst/>
                <a:latin typeface="Menlo"/>
              </a:rPr>
              <a:t> </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a:solidFill>
                  <a:srgbClr val="E45649"/>
                </a:solidFill>
                <a:effectLst/>
                <a:latin typeface="Menlo"/>
              </a:rPr>
              <a:t>background-color</a:t>
            </a:r>
            <a:r>
              <a:rPr lang="en-US" b="0" i="0" dirty="0">
                <a:solidFill>
                  <a:srgbClr val="383A42"/>
                </a:solidFill>
                <a:effectLst/>
                <a:latin typeface="Menlo"/>
              </a:rPr>
              <a:t>:</a:t>
            </a:r>
            <a:r>
              <a:rPr lang="en-US" b="0" i="0" dirty="0">
                <a:solidFill>
                  <a:srgbClr val="0F1115"/>
                </a:solidFill>
                <a:effectLst/>
                <a:latin typeface="Menlo"/>
              </a:rPr>
              <a:t> gold</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a:solidFill>
                  <a:srgbClr val="E45649"/>
                </a:solidFill>
                <a:effectLst/>
                <a:latin typeface="Menlo"/>
              </a:rPr>
              <a:t>border</a:t>
            </a:r>
            <a:r>
              <a:rPr lang="en-US" b="0" i="0" dirty="0">
                <a:solidFill>
                  <a:srgbClr val="383A42"/>
                </a:solidFill>
                <a:effectLst/>
                <a:latin typeface="Menlo"/>
              </a:rPr>
              <a:t>:</a:t>
            </a:r>
            <a:r>
              <a:rPr lang="en-US" b="0" i="0" dirty="0">
                <a:solidFill>
                  <a:srgbClr val="0F1115"/>
                </a:solidFill>
                <a:effectLst/>
                <a:latin typeface="Menlo"/>
              </a:rPr>
              <a:t> 5px solid purple</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a:solidFill>
                  <a:srgbClr val="E45649"/>
                </a:solidFill>
                <a:effectLst/>
                <a:latin typeface="Menlo"/>
              </a:rPr>
              <a:t>font-weight</a:t>
            </a:r>
            <a:r>
              <a:rPr lang="en-US" b="0" i="0" dirty="0">
                <a:solidFill>
                  <a:srgbClr val="383A42"/>
                </a:solidFill>
                <a:effectLst/>
                <a:latin typeface="Menlo"/>
              </a:rPr>
              <a:t>:</a:t>
            </a:r>
            <a:r>
              <a:rPr lang="en-US" b="0" i="0" dirty="0">
                <a:solidFill>
                  <a:srgbClr val="0F1115"/>
                </a:solidFill>
                <a:effectLst/>
                <a:latin typeface="Menlo"/>
              </a:rPr>
              <a:t> bold</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383A42"/>
                </a:solidFill>
                <a:effectLst/>
                <a:latin typeface="Menlo"/>
              </a:rPr>
              <a:t>}</a:t>
            </a:r>
            <a:endParaRPr lang="en-US" b="0" i="0" dirty="0">
              <a:solidFill>
                <a:srgbClr val="0F1115"/>
              </a:solidFill>
              <a:effectLst/>
              <a:latin typeface="Menlo"/>
            </a:endParaRPr>
          </a:p>
          <a:p>
            <a:pPr algn="l">
              <a:spcBef>
                <a:spcPts val="1200"/>
              </a:spcBef>
              <a:spcAft>
                <a:spcPts val="1200"/>
              </a:spcAft>
              <a:buNone/>
            </a:pPr>
            <a:r>
              <a:rPr lang="en-US" b="0" i="0" dirty="0">
                <a:solidFill>
                  <a:srgbClr val="0F1115"/>
                </a:solidFill>
                <a:effectLst/>
                <a:latin typeface="quote-cjk-patch"/>
              </a:rPr>
              <a:t>Now, you can just dress your element in that outfit.</a:t>
            </a:r>
          </a:p>
          <a:p>
            <a:pPr algn="l">
              <a:lnSpc>
                <a:spcPts val="1350"/>
              </a:lnSpc>
              <a:spcBef>
                <a:spcPts val="1200"/>
              </a:spcBef>
              <a:spcAft>
                <a:spcPts val="857"/>
              </a:spcAft>
              <a:buNone/>
            </a:pPr>
            <a:r>
              <a:rPr lang="en-US" b="0" i="0" dirty="0" err="1">
                <a:solidFill>
                  <a:srgbClr val="0F1115"/>
                </a:solidFill>
                <a:effectLst/>
                <a:latin typeface="Menlo"/>
              </a:rPr>
              <a:t>javascript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err="1">
                <a:solidFill>
                  <a:srgbClr val="0F1115"/>
                </a:solidFill>
                <a:effectLst/>
                <a:latin typeface="Menlo"/>
              </a:rPr>
              <a:t>mainHeading</a:t>
            </a:r>
            <a:r>
              <a:rPr lang="en-US" b="0" i="0" dirty="0" err="1">
                <a:solidFill>
                  <a:srgbClr val="383A42"/>
                </a:solidFill>
                <a:effectLst/>
                <a:latin typeface="Menlo"/>
              </a:rPr>
              <a:t>.</a:t>
            </a:r>
            <a:r>
              <a:rPr lang="en-US" b="0" i="0" dirty="0" err="1">
                <a:solidFill>
                  <a:srgbClr val="0F1115"/>
                </a:solidFill>
                <a:effectLst/>
                <a:latin typeface="Menlo"/>
              </a:rPr>
              <a:t>className</a:t>
            </a:r>
            <a:r>
              <a:rPr lang="en-US" b="0" i="0" dirty="0">
                <a:solidFill>
                  <a:srgbClr val="0F1115"/>
                </a:solidFill>
                <a:effectLst/>
                <a:latin typeface="Menlo"/>
              </a:rPr>
              <a:t> </a:t>
            </a:r>
            <a:r>
              <a:rPr lang="en-US" b="0" i="0" dirty="0">
                <a:solidFill>
                  <a:srgbClr val="4078F2"/>
                </a:solidFill>
                <a:effectLst/>
                <a:latin typeface="Menlo"/>
              </a:rPr>
              <a:t>=</a:t>
            </a:r>
            <a:r>
              <a:rPr lang="en-US" b="0" i="0" dirty="0">
                <a:solidFill>
                  <a:srgbClr val="0F1115"/>
                </a:solidFill>
                <a:effectLst/>
                <a:latin typeface="Menlo"/>
              </a:rPr>
              <a:t> </a:t>
            </a:r>
            <a:r>
              <a:rPr lang="en-US" b="0" i="0" dirty="0">
                <a:solidFill>
                  <a:srgbClr val="50A14F"/>
                </a:solidFill>
                <a:effectLst/>
                <a:latin typeface="Menlo"/>
              </a:rPr>
              <a:t>'master-class'</a:t>
            </a:r>
            <a:r>
              <a:rPr lang="en-US" b="0" i="0" dirty="0">
                <a:solidFill>
                  <a:srgbClr val="383A42"/>
                </a:solidFill>
                <a:effectLst/>
                <a:latin typeface="Menlo"/>
              </a:rPr>
              <a:t>;</a:t>
            </a:r>
            <a:endParaRPr lang="en-US" b="0" i="0" dirty="0">
              <a:solidFill>
                <a:srgbClr val="0F1115"/>
              </a:solidFill>
              <a:effectLst/>
              <a:latin typeface="Menlo"/>
            </a:endParaRPr>
          </a:p>
          <a:p>
            <a:pPr algn="l">
              <a:lnSpc>
                <a:spcPts val="1650"/>
              </a:lnSpc>
              <a:spcBef>
                <a:spcPts val="1200"/>
              </a:spcBef>
              <a:spcAft>
                <a:spcPts val="1200"/>
              </a:spcAft>
              <a:buNone/>
            </a:pPr>
            <a:r>
              <a:rPr lang="en-US" b="0" i="0" dirty="0">
                <a:solidFill>
                  <a:srgbClr val="0F1115"/>
                </a:solidFill>
                <a:effectLst/>
                <a:latin typeface="quote-cjk-patch"/>
              </a:rPr>
              <a:t>But </a:t>
            </a:r>
            <a:r>
              <a:rPr lang="en-US" b="0" i="0" dirty="0" err="1">
                <a:solidFill>
                  <a:srgbClr val="0F1115"/>
                </a:solidFill>
                <a:effectLst/>
                <a:latin typeface="Menlo"/>
              </a:rPr>
              <a:t>className</a:t>
            </a:r>
            <a:r>
              <a:rPr lang="en-US" b="0" i="0" dirty="0">
                <a:solidFill>
                  <a:srgbClr val="0F1115"/>
                </a:solidFill>
                <a:effectLst/>
                <a:latin typeface="quote-cjk-patch"/>
              </a:rPr>
              <a:t> is a bit clumsy. It puts on the new outfit and rips off the old one. What if you just want to </a:t>
            </a:r>
            <a:r>
              <a:rPr lang="en-US" b="0" i="1" dirty="0">
                <a:solidFill>
                  <a:srgbClr val="0F1115"/>
                </a:solidFill>
                <a:effectLst/>
                <a:latin typeface="quote-cjk-patch"/>
              </a:rPr>
              <a:t>add</a:t>
            </a:r>
            <a:r>
              <a:rPr lang="en-US" b="0" i="0" dirty="0">
                <a:solidFill>
                  <a:srgbClr val="0F1115"/>
                </a:solidFill>
                <a:effectLst/>
                <a:latin typeface="quote-cjk-patch"/>
              </a:rPr>
              <a:t> a new accessory, like a hat, without taking off the shirt?</a:t>
            </a:r>
          </a:p>
        </p:txBody>
      </p:sp>
    </p:spTree>
    <p:extLst>
      <p:ext uri="{BB962C8B-B14F-4D97-AF65-F5344CB8AC3E}">
        <p14:creationId xmlns:p14="http://schemas.microsoft.com/office/powerpoint/2010/main" val="2145761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846324-91F4-F34A-280B-9C4388C50064}"/>
              </a:ext>
            </a:extLst>
          </p:cNvPr>
          <p:cNvSpPr txBox="1"/>
          <p:nvPr/>
        </p:nvSpPr>
        <p:spPr>
          <a:xfrm>
            <a:off x="2477069" y="1363897"/>
            <a:ext cx="4954136" cy="4137030"/>
          </a:xfrm>
          <a:prstGeom prst="rect">
            <a:avLst/>
          </a:prstGeom>
          <a:noFill/>
        </p:spPr>
        <p:txBody>
          <a:bodyPr wrap="square">
            <a:spAutoFit/>
          </a:bodyPr>
          <a:lstStyle/>
          <a:p>
            <a:pPr algn="l">
              <a:spcBef>
                <a:spcPts val="1200"/>
              </a:spcBef>
              <a:spcAft>
                <a:spcPts val="1200"/>
              </a:spcAft>
              <a:buNone/>
            </a:pPr>
            <a:r>
              <a:rPr lang="en-US" b="0" i="0" dirty="0">
                <a:solidFill>
                  <a:srgbClr val="0F1115"/>
                </a:solidFill>
                <a:effectLst/>
                <a:latin typeface="quote-cjk-patch"/>
              </a:rPr>
              <a:t>That's where the elegant </a:t>
            </a:r>
            <a:r>
              <a:rPr lang="en-US" b="0" i="0" dirty="0" err="1">
                <a:solidFill>
                  <a:srgbClr val="0F1115"/>
                </a:solidFill>
                <a:effectLst/>
                <a:latin typeface="Menlo"/>
              </a:rPr>
              <a:t>classList</a:t>
            </a:r>
            <a:r>
              <a:rPr lang="en-US" b="0" i="0" dirty="0">
                <a:solidFill>
                  <a:srgbClr val="0F1115"/>
                </a:solidFill>
                <a:effectLst/>
                <a:latin typeface="quote-cjk-patch"/>
              </a:rPr>
              <a:t> comes in. It's your personal stylist.</a:t>
            </a:r>
          </a:p>
          <a:p>
            <a:pPr algn="l">
              <a:lnSpc>
                <a:spcPts val="1350"/>
              </a:lnSpc>
              <a:spcBef>
                <a:spcPts val="1200"/>
              </a:spcBef>
              <a:spcAft>
                <a:spcPts val="857"/>
              </a:spcAft>
              <a:buNone/>
            </a:pPr>
            <a:r>
              <a:rPr lang="en-US" b="0" i="0" dirty="0" err="1">
                <a:solidFill>
                  <a:srgbClr val="0F1115"/>
                </a:solidFill>
                <a:effectLst/>
                <a:latin typeface="Menlo"/>
              </a:rPr>
              <a:t>javascript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err="1">
                <a:solidFill>
                  <a:srgbClr val="0F1115"/>
                </a:solidFill>
                <a:effectLst/>
                <a:latin typeface="Menlo"/>
              </a:rPr>
              <a:t>mainHeading</a:t>
            </a:r>
            <a:r>
              <a:rPr lang="en-US" b="0" i="0" dirty="0" err="1">
                <a:solidFill>
                  <a:srgbClr val="383A42"/>
                </a:solidFill>
                <a:effectLst/>
                <a:latin typeface="Menlo"/>
              </a:rPr>
              <a:t>.</a:t>
            </a:r>
            <a:r>
              <a:rPr lang="en-US" b="0" i="0" dirty="0" err="1">
                <a:solidFill>
                  <a:srgbClr val="0F1115"/>
                </a:solidFill>
                <a:effectLst/>
                <a:latin typeface="Menlo"/>
              </a:rPr>
              <a:t>classList</a:t>
            </a:r>
            <a:r>
              <a:rPr lang="en-US" b="0" i="0" dirty="0" err="1">
                <a:solidFill>
                  <a:srgbClr val="383A42"/>
                </a:solidFill>
                <a:effectLst/>
                <a:latin typeface="Menlo"/>
              </a:rPr>
              <a:t>.</a:t>
            </a:r>
            <a:r>
              <a:rPr lang="en-US" b="0" i="0" dirty="0" err="1">
                <a:solidFill>
                  <a:srgbClr val="4078F2"/>
                </a:solidFill>
                <a:effectLst/>
                <a:latin typeface="Menlo"/>
              </a:rPr>
              <a:t>add</a:t>
            </a:r>
            <a:r>
              <a:rPr lang="en-US" b="0" i="0" dirty="0">
                <a:solidFill>
                  <a:srgbClr val="383A42"/>
                </a:solidFill>
                <a:effectLst/>
                <a:latin typeface="Menlo"/>
              </a:rPr>
              <a:t>(</a:t>
            </a:r>
            <a:r>
              <a:rPr lang="en-US" b="0" i="0" dirty="0">
                <a:solidFill>
                  <a:srgbClr val="50A14F"/>
                </a:solidFill>
                <a:effectLst/>
                <a:latin typeface="Menlo"/>
              </a:rPr>
              <a:t>'master-</a:t>
            </a:r>
            <a:r>
              <a:rPr lang="en-US" b="0" i="0" dirty="0" err="1">
                <a:solidFill>
                  <a:srgbClr val="50A14F"/>
                </a:solidFill>
                <a:effectLst/>
                <a:latin typeface="Menlo"/>
              </a:rPr>
              <a:t>class'</a:t>
            </a:r>
            <a:r>
              <a:rPr lang="en-US" b="0" i="0" dirty="0">
                <a:solidFill>
                  <a:srgbClr val="383A42"/>
                </a:solidFill>
                <a:effectLst/>
                <a:latin typeface="Menlo"/>
              </a:rPr>
              <a:t>);</a:t>
            </a:r>
            <a:r>
              <a:rPr lang="en-US" b="0" i="0" dirty="0">
                <a:solidFill>
                  <a:srgbClr val="0F1115"/>
                </a:solidFill>
                <a:effectLst/>
                <a:latin typeface="Menlo"/>
              </a:rPr>
              <a:t>      </a:t>
            </a:r>
            <a:r>
              <a:rPr lang="en-US" b="0" i="1" dirty="0">
                <a:solidFill>
                  <a:srgbClr val="A0A1A7"/>
                </a:solidFill>
                <a:effectLst/>
                <a:latin typeface="Menlo"/>
              </a:rPr>
              <a:t>// Puts on the hat.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err="1">
                <a:solidFill>
                  <a:srgbClr val="0F1115"/>
                </a:solidFill>
                <a:effectLst/>
                <a:latin typeface="Menlo"/>
              </a:rPr>
              <a:t>mainHeading</a:t>
            </a:r>
            <a:r>
              <a:rPr lang="en-US" b="0" i="0" dirty="0" err="1">
                <a:solidFill>
                  <a:srgbClr val="383A42"/>
                </a:solidFill>
                <a:effectLst/>
                <a:latin typeface="Menlo"/>
              </a:rPr>
              <a:t>.</a:t>
            </a:r>
            <a:r>
              <a:rPr lang="en-US" b="0" i="0" dirty="0" err="1">
                <a:solidFill>
                  <a:srgbClr val="0F1115"/>
                </a:solidFill>
                <a:effectLst/>
                <a:latin typeface="Menlo"/>
              </a:rPr>
              <a:t>classList</a:t>
            </a:r>
            <a:r>
              <a:rPr lang="en-US" b="0" i="0" dirty="0" err="1">
                <a:solidFill>
                  <a:srgbClr val="383A42"/>
                </a:solidFill>
                <a:effectLst/>
                <a:latin typeface="Menlo"/>
              </a:rPr>
              <a:t>.</a:t>
            </a:r>
            <a:r>
              <a:rPr lang="en-US" b="0" i="0" dirty="0" err="1">
                <a:solidFill>
                  <a:srgbClr val="4078F2"/>
                </a:solidFill>
                <a:effectLst/>
                <a:latin typeface="Menlo"/>
              </a:rPr>
              <a:t>remove</a:t>
            </a:r>
            <a:r>
              <a:rPr lang="en-US" b="0" i="0" dirty="0">
                <a:solidFill>
                  <a:srgbClr val="383A42"/>
                </a:solidFill>
                <a:effectLst/>
                <a:latin typeface="Menlo"/>
              </a:rPr>
              <a:t>(</a:t>
            </a:r>
            <a:r>
              <a:rPr lang="en-US" b="0" i="0" dirty="0">
                <a:solidFill>
                  <a:srgbClr val="50A14F"/>
                </a:solidFill>
                <a:effectLst/>
                <a:latin typeface="Menlo"/>
              </a:rPr>
              <a:t>'old-</a:t>
            </a:r>
            <a:r>
              <a:rPr lang="en-US" b="0" i="0" dirty="0" err="1">
                <a:solidFill>
                  <a:srgbClr val="50A14F"/>
                </a:solidFill>
                <a:effectLst/>
                <a:latin typeface="Menlo"/>
              </a:rPr>
              <a:t>class'</a:t>
            </a:r>
            <a:r>
              <a:rPr lang="en-US" b="0" i="0" dirty="0">
                <a:solidFill>
                  <a:srgbClr val="383A42"/>
                </a:solidFill>
                <a:effectLst/>
                <a:latin typeface="Menlo"/>
              </a:rPr>
              <a:t>);</a:t>
            </a:r>
            <a:r>
              <a:rPr lang="en-US" b="0" i="0" dirty="0">
                <a:solidFill>
                  <a:srgbClr val="0F1115"/>
                </a:solidFill>
                <a:effectLst/>
                <a:latin typeface="Menlo"/>
              </a:rPr>
              <a:t>      </a:t>
            </a:r>
            <a:r>
              <a:rPr lang="en-US" b="0" i="1" dirty="0">
                <a:solidFill>
                  <a:srgbClr val="A0A1A7"/>
                </a:solidFill>
                <a:effectLst/>
                <a:latin typeface="Menlo"/>
              </a:rPr>
              <a:t>// Takes off the old shirt.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err="1">
                <a:solidFill>
                  <a:srgbClr val="0F1115"/>
                </a:solidFill>
                <a:effectLst/>
                <a:latin typeface="Menlo"/>
              </a:rPr>
              <a:t>mainHeading</a:t>
            </a:r>
            <a:r>
              <a:rPr lang="en-US" b="0" i="0" dirty="0" err="1">
                <a:solidFill>
                  <a:srgbClr val="383A42"/>
                </a:solidFill>
                <a:effectLst/>
                <a:latin typeface="Menlo"/>
              </a:rPr>
              <a:t>.</a:t>
            </a:r>
            <a:r>
              <a:rPr lang="en-US" b="0" i="0" dirty="0" err="1">
                <a:solidFill>
                  <a:srgbClr val="0F1115"/>
                </a:solidFill>
                <a:effectLst/>
                <a:latin typeface="Menlo"/>
              </a:rPr>
              <a:t>classList</a:t>
            </a:r>
            <a:r>
              <a:rPr lang="en-US" b="0" i="0" dirty="0" err="1">
                <a:solidFill>
                  <a:srgbClr val="383A42"/>
                </a:solidFill>
                <a:effectLst/>
                <a:latin typeface="Menlo"/>
              </a:rPr>
              <a:t>.</a:t>
            </a:r>
            <a:r>
              <a:rPr lang="en-US" b="0" i="0" dirty="0" err="1">
                <a:solidFill>
                  <a:srgbClr val="4078F2"/>
                </a:solidFill>
                <a:effectLst/>
                <a:latin typeface="Menlo"/>
              </a:rPr>
              <a:t>toggle</a:t>
            </a:r>
            <a:r>
              <a:rPr lang="en-US" b="0" i="0" dirty="0">
                <a:solidFill>
                  <a:srgbClr val="383A42"/>
                </a:solidFill>
                <a:effectLst/>
                <a:latin typeface="Menlo"/>
              </a:rPr>
              <a:t>(</a:t>
            </a:r>
            <a:r>
              <a:rPr lang="en-US" b="0" i="0" dirty="0">
                <a:solidFill>
                  <a:srgbClr val="50A14F"/>
                </a:solidFill>
                <a:effectLst/>
                <a:latin typeface="Menlo"/>
              </a:rPr>
              <a:t>'fancy-mode'</a:t>
            </a:r>
            <a:r>
              <a:rPr lang="en-US" b="0" i="0" dirty="0">
                <a:solidFill>
                  <a:srgbClr val="383A42"/>
                </a:solidFill>
                <a:effectLst/>
                <a:latin typeface="Menlo"/>
              </a:rPr>
              <a:t>);</a:t>
            </a:r>
            <a:r>
              <a:rPr lang="en-US" b="0" i="0" dirty="0">
                <a:solidFill>
                  <a:srgbClr val="0F1115"/>
                </a:solidFill>
                <a:effectLst/>
                <a:latin typeface="Menlo"/>
              </a:rPr>
              <a:t>     </a:t>
            </a:r>
            <a:r>
              <a:rPr lang="en-US" b="0" i="1" dirty="0">
                <a:solidFill>
                  <a:srgbClr val="A0A1A7"/>
                </a:solidFill>
                <a:effectLst/>
                <a:latin typeface="Menlo"/>
              </a:rPr>
              <a:t>// If the shirt is 'fancy-mode', take it off. If it's not, put it on. Perfect for light/dark mode toggles!</a:t>
            </a:r>
            <a:endParaRPr lang="en-US" b="0" i="0" dirty="0">
              <a:solidFill>
                <a:srgbClr val="0F1115"/>
              </a:solidFill>
              <a:effectLst/>
              <a:latin typeface="Menlo"/>
            </a:endParaRPr>
          </a:p>
          <a:p>
            <a:pPr>
              <a:buNone/>
            </a:pPr>
            <a:br>
              <a:rPr lang="en-US" dirty="0"/>
            </a:br>
            <a:endParaRPr lang="en-US" dirty="0"/>
          </a:p>
        </p:txBody>
      </p:sp>
    </p:spTree>
    <p:extLst>
      <p:ext uri="{BB962C8B-B14F-4D97-AF65-F5344CB8AC3E}">
        <p14:creationId xmlns:p14="http://schemas.microsoft.com/office/powerpoint/2010/main" val="2555033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D7260F-FFDE-C2DF-F336-EA515715C8DC}"/>
              </a:ext>
            </a:extLst>
          </p:cNvPr>
          <p:cNvSpPr txBox="1"/>
          <p:nvPr/>
        </p:nvSpPr>
        <p:spPr>
          <a:xfrm>
            <a:off x="2477069" y="493787"/>
            <a:ext cx="4954136" cy="5877250"/>
          </a:xfrm>
          <a:prstGeom prst="rect">
            <a:avLst/>
          </a:prstGeom>
          <a:noFill/>
        </p:spPr>
        <p:txBody>
          <a:bodyPr wrap="square">
            <a:spAutoFit/>
          </a:bodyPr>
          <a:lstStyle/>
          <a:p>
            <a:pPr algn="l">
              <a:lnSpc>
                <a:spcPts val="2250"/>
              </a:lnSpc>
              <a:spcBef>
                <a:spcPts val="2400"/>
              </a:spcBef>
              <a:spcAft>
                <a:spcPts val="1200"/>
              </a:spcAft>
              <a:buNone/>
            </a:pPr>
            <a:r>
              <a:rPr lang="en-US" b="1" dirty="0">
                <a:solidFill>
                  <a:srgbClr val="0F1115"/>
                </a:solidFill>
                <a:effectLst/>
                <a:latin typeface="quote-cjk-patch"/>
              </a:rPr>
              <a:t>Chapter 4: Adding and Removing Rooms (Creating &amp; Removing Elements)</a:t>
            </a:r>
          </a:p>
          <a:p>
            <a:pPr algn="l">
              <a:spcBef>
                <a:spcPts val="1200"/>
              </a:spcBef>
              <a:spcAft>
                <a:spcPts val="1200"/>
              </a:spcAft>
              <a:buNone/>
            </a:pPr>
            <a:r>
              <a:rPr lang="en-US" b="0" i="0" dirty="0">
                <a:solidFill>
                  <a:srgbClr val="0F1115"/>
                </a:solidFill>
                <a:effectLst/>
                <a:latin typeface="quote-cjk-patch"/>
              </a:rPr>
              <a:t>Sometimes, you need to build a whole new room. Your power extends to creation.</a:t>
            </a:r>
          </a:p>
          <a:p>
            <a:pPr algn="l">
              <a:spcBef>
                <a:spcPts val="1200"/>
              </a:spcBef>
              <a:spcAft>
                <a:spcPts val="1200"/>
              </a:spcAft>
              <a:buNone/>
            </a:pPr>
            <a:r>
              <a:rPr lang="en-US" b="1" i="0" dirty="0">
                <a:solidFill>
                  <a:srgbClr val="0F1115"/>
                </a:solidFill>
                <a:effectLst/>
                <a:latin typeface="quote-cjk-patch"/>
              </a:rPr>
              <a:t>Creating a New Element</a:t>
            </a:r>
            <a:endParaRPr lang="en-US" b="0" i="0" dirty="0">
              <a:solidFill>
                <a:srgbClr val="0F1115"/>
              </a:solidFill>
              <a:effectLst/>
              <a:latin typeface="quote-cjk-patch"/>
            </a:endParaRPr>
          </a:p>
          <a:p>
            <a:pPr algn="l">
              <a:spcBef>
                <a:spcPts val="1200"/>
              </a:spcBef>
              <a:spcAft>
                <a:spcPts val="1200"/>
              </a:spcAft>
              <a:buNone/>
            </a:pPr>
            <a:r>
              <a:rPr lang="en-US" b="0" i="0" dirty="0">
                <a:solidFill>
                  <a:srgbClr val="0F1115"/>
                </a:solidFill>
                <a:effectLst/>
                <a:latin typeface="quote-cjk-patch"/>
              </a:rPr>
              <a:t>You need a new bookshelf in the living room. You speak it into existence, but it's just a ghost, a blueprint idea. It's not in the house yet.</a:t>
            </a:r>
          </a:p>
          <a:p>
            <a:pPr algn="l">
              <a:lnSpc>
                <a:spcPts val="1350"/>
              </a:lnSpc>
              <a:spcBef>
                <a:spcPts val="1200"/>
              </a:spcBef>
              <a:spcAft>
                <a:spcPts val="857"/>
              </a:spcAft>
              <a:buNone/>
            </a:pPr>
            <a:r>
              <a:rPr lang="en-US" b="0" i="0" dirty="0" err="1">
                <a:solidFill>
                  <a:srgbClr val="0F1115"/>
                </a:solidFill>
                <a:effectLst/>
                <a:latin typeface="Menlo"/>
              </a:rPr>
              <a:t>javascript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A626A4"/>
                </a:solidFill>
                <a:effectLst/>
                <a:latin typeface="Menlo"/>
              </a:rPr>
              <a:t>let</a:t>
            </a:r>
            <a:r>
              <a:rPr lang="en-US" b="0" i="0" dirty="0">
                <a:solidFill>
                  <a:srgbClr val="0F1115"/>
                </a:solidFill>
                <a:effectLst/>
                <a:latin typeface="Menlo"/>
              </a:rPr>
              <a:t> </a:t>
            </a:r>
            <a:r>
              <a:rPr lang="en-US" b="0" i="0" dirty="0" err="1">
                <a:solidFill>
                  <a:srgbClr val="0F1115"/>
                </a:solidFill>
                <a:effectLst/>
                <a:latin typeface="Menlo"/>
              </a:rPr>
              <a:t>newBookShelf</a:t>
            </a:r>
            <a:r>
              <a:rPr lang="en-US" b="0" i="0" dirty="0">
                <a:solidFill>
                  <a:srgbClr val="0F1115"/>
                </a:solidFill>
                <a:effectLst/>
                <a:latin typeface="Menlo"/>
              </a:rPr>
              <a:t> </a:t>
            </a:r>
            <a:r>
              <a:rPr lang="en-US" b="0" i="0" dirty="0">
                <a:solidFill>
                  <a:srgbClr val="4078F2"/>
                </a:solidFill>
                <a:effectLst/>
                <a:latin typeface="Menlo"/>
              </a:rPr>
              <a:t>=</a:t>
            </a:r>
            <a:r>
              <a:rPr lang="en-US" b="0" i="0" dirty="0">
                <a:solidFill>
                  <a:srgbClr val="0F1115"/>
                </a:solidFill>
                <a:effectLst/>
                <a:latin typeface="Menlo"/>
              </a:rPr>
              <a:t> </a:t>
            </a:r>
            <a:r>
              <a:rPr lang="en-US" b="0" i="0" dirty="0" err="1">
                <a:solidFill>
                  <a:srgbClr val="0F1115"/>
                </a:solidFill>
                <a:effectLst/>
                <a:latin typeface="Menlo"/>
              </a:rPr>
              <a:t>document</a:t>
            </a:r>
            <a:r>
              <a:rPr lang="en-US" b="0" i="0" dirty="0" err="1">
                <a:solidFill>
                  <a:srgbClr val="383A42"/>
                </a:solidFill>
                <a:effectLst/>
                <a:latin typeface="Menlo"/>
              </a:rPr>
              <a:t>.</a:t>
            </a:r>
            <a:r>
              <a:rPr lang="en-US" b="0" i="0" dirty="0" err="1">
                <a:solidFill>
                  <a:srgbClr val="4078F2"/>
                </a:solidFill>
                <a:effectLst/>
                <a:latin typeface="Menlo"/>
              </a:rPr>
              <a:t>createElement</a:t>
            </a:r>
            <a:r>
              <a:rPr lang="en-US" b="0" i="0" dirty="0">
                <a:solidFill>
                  <a:srgbClr val="383A42"/>
                </a:solidFill>
                <a:effectLst/>
                <a:latin typeface="Menlo"/>
              </a:rPr>
              <a:t>(</a:t>
            </a:r>
            <a:r>
              <a:rPr lang="en-US" b="0" i="0" dirty="0">
                <a:solidFill>
                  <a:srgbClr val="50A14F"/>
                </a:solidFill>
                <a:effectLst/>
                <a:latin typeface="Menlo"/>
              </a:rPr>
              <a:t>'div'</a:t>
            </a:r>
            <a:r>
              <a:rPr lang="en-US" b="0" i="0" dirty="0">
                <a:solidFill>
                  <a:srgbClr val="383A42"/>
                </a:solidFill>
                <a:effectLst/>
                <a:latin typeface="Menlo"/>
              </a:rPr>
              <a:t>);</a:t>
            </a:r>
            <a:r>
              <a:rPr lang="en-US" b="0" i="0" dirty="0">
                <a:solidFill>
                  <a:srgbClr val="0F1115"/>
                </a:solidFill>
                <a:effectLst/>
                <a:latin typeface="Menlo"/>
              </a:rPr>
              <a:t> </a:t>
            </a:r>
            <a:r>
              <a:rPr lang="en-US" b="0" i="1" dirty="0">
                <a:solidFill>
                  <a:srgbClr val="A0A1A7"/>
                </a:solidFill>
                <a:effectLst/>
                <a:latin typeface="Menlo"/>
              </a:rPr>
              <a:t>// You create a new empty room (a div).</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err="1">
                <a:solidFill>
                  <a:srgbClr val="0F1115"/>
                </a:solidFill>
                <a:effectLst/>
                <a:latin typeface="Menlo"/>
              </a:rPr>
              <a:t>newBookShelf</a:t>
            </a:r>
            <a:r>
              <a:rPr lang="en-US" b="0" i="0" dirty="0" err="1">
                <a:solidFill>
                  <a:srgbClr val="383A42"/>
                </a:solidFill>
                <a:effectLst/>
                <a:latin typeface="Menlo"/>
              </a:rPr>
              <a:t>.</a:t>
            </a:r>
            <a:r>
              <a:rPr lang="en-US" b="0" i="0" dirty="0" err="1">
                <a:solidFill>
                  <a:srgbClr val="0F1115"/>
                </a:solidFill>
                <a:effectLst/>
                <a:latin typeface="Menlo"/>
              </a:rPr>
              <a:t>textContent</a:t>
            </a:r>
            <a:r>
              <a:rPr lang="en-US" b="0" i="0" dirty="0">
                <a:solidFill>
                  <a:srgbClr val="0F1115"/>
                </a:solidFill>
                <a:effectLst/>
                <a:latin typeface="Menlo"/>
              </a:rPr>
              <a:t> </a:t>
            </a:r>
            <a:r>
              <a:rPr lang="en-US" b="0" i="0" dirty="0">
                <a:solidFill>
                  <a:srgbClr val="4078F2"/>
                </a:solidFill>
                <a:effectLst/>
                <a:latin typeface="Menlo"/>
              </a:rPr>
              <a:t>=</a:t>
            </a:r>
            <a:r>
              <a:rPr lang="en-US" b="0" i="0" dirty="0">
                <a:solidFill>
                  <a:srgbClr val="0F1115"/>
                </a:solidFill>
                <a:effectLst/>
                <a:latin typeface="Menlo"/>
              </a:rPr>
              <a:t> </a:t>
            </a:r>
            <a:r>
              <a:rPr lang="en-US" b="0" i="0" dirty="0">
                <a:solidFill>
                  <a:srgbClr val="50A14F"/>
                </a:solidFill>
                <a:effectLst/>
                <a:latin typeface="Menlo"/>
              </a:rPr>
              <a:t>"My New Books"</a:t>
            </a:r>
            <a:r>
              <a:rPr lang="en-US" b="0" i="0" dirty="0">
                <a:solidFill>
                  <a:srgbClr val="383A42"/>
                </a:solidFill>
                <a:effectLst/>
                <a:latin typeface="Menlo"/>
              </a:rPr>
              <a:t>;</a:t>
            </a:r>
            <a:r>
              <a:rPr lang="en-US" b="0" i="0" dirty="0">
                <a:solidFill>
                  <a:srgbClr val="0F1115"/>
                </a:solidFill>
                <a:effectLst/>
                <a:latin typeface="Menlo"/>
              </a:rPr>
              <a:t>         </a:t>
            </a:r>
            <a:r>
              <a:rPr lang="en-US" b="0" i="1" dirty="0">
                <a:solidFill>
                  <a:srgbClr val="A0A1A7"/>
                </a:solidFill>
                <a:effectLst/>
                <a:latin typeface="Menlo"/>
              </a:rPr>
              <a:t>// You put some books in it.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err="1">
                <a:solidFill>
                  <a:srgbClr val="0F1115"/>
                </a:solidFill>
                <a:effectLst/>
                <a:latin typeface="Menlo"/>
              </a:rPr>
              <a:t>newBookShelf</a:t>
            </a:r>
            <a:r>
              <a:rPr lang="en-US" b="0" i="0" dirty="0" err="1">
                <a:solidFill>
                  <a:srgbClr val="383A42"/>
                </a:solidFill>
                <a:effectLst/>
                <a:latin typeface="Menlo"/>
              </a:rPr>
              <a:t>.</a:t>
            </a:r>
            <a:r>
              <a:rPr lang="en-US" b="0" i="0" dirty="0" err="1">
                <a:solidFill>
                  <a:srgbClr val="0F1115"/>
                </a:solidFill>
                <a:effectLst/>
                <a:latin typeface="Menlo"/>
              </a:rPr>
              <a:t>classList</a:t>
            </a:r>
            <a:r>
              <a:rPr lang="en-US" b="0" i="0" dirty="0" err="1">
                <a:solidFill>
                  <a:srgbClr val="383A42"/>
                </a:solidFill>
                <a:effectLst/>
                <a:latin typeface="Menlo"/>
              </a:rPr>
              <a:t>.</a:t>
            </a:r>
            <a:r>
              <a:rPr lang="en-US" b="0" i="0" dirty="0" err="1">
                <a:solidFill>
                  <a:srgbClr val="4078F2"/>
                </a:solidFill>
                <a:effectLst/>
                <a:latin typeface="Menlo"/>
              </a:rPr>
              <a:t>add</a:t>
            </a:r>
            <a:r>
              <a:rPr lang="en-US" b="0" i="0" dirty="0">
                <a:solidFill>
                  <a:srgbClr val="383A42"/>
                </a:solidFill>
                <a:effectLst/>
                <a:latin typeface="Menlo"/>
              </a:rPr>
              <a:t>(</a:t>
            </a:r>
            <a:r>
              <a:rPr lang="en-US" b="0" i="0" dirty="0">
                <a:solidFill>
                  <a:srgbClr val="50A14F"/>
                </a:solidFill>
                <a:effectLst/>
                <a:latin typeface="Menlo"/>
              </a:rPr>
              <a:t>'bookshelf-style'</a:t>
            </a:r>
            <a:r>
              <a:rPr lang="en-US" b="0" i="0" dirty="0">
                <a:solidFill>
                  <a:srgbClr val="383A42"/>
                </a:solidFill>
                <a:effectLst/>
                <a:latin typeface="Menlo"/>
              </a:rPr>
              <a:t>);</a:t>
            </a:r>
            <a:r>
              <a:rPr lang="en-US" b="0" i="0" dirty="0">
                <a:solidFill>
                  <a:srgbClr val="0F1115"/>
                </a:solidFill>
                <a:effectLst/>
                <a:latin typeface="Menlo"/>
              </a:rPr>
              <a:t>     </a:t>
            </a:r>
            <a:r>
              <a:rPr lang="en-US" b="0" i="1" dirty="0">
                <a:solidFill>
                  <a:srgbClr val="A0A1A7"/>
                </a:solidFill>
                <a:effectLst/>
                <a:latin typeface="Menlo"/>
              </a:rPr>
              <a:t>// You give it a nice style.</a:t>
            </a:r>
            <a:endParaRPr lang="en-US" b="0" i="0" dirty="0">
              <a:solidFill>
                <a:srgbClr val="0F1115"/>
              </a:solidFill>
              <a:effectLst/>
              <a:latin typeface="Menlo"/>
            </a:endParaRPr>
          </a:p>
        </p:txBody>
      </p:sp>
    </p:spTree>
    <p:extLst>
      <p:ext uri="{BB962C8B-B14F-4D97-AF65-F5344CB8AC3E}">
        <p14:creationId xmlns:p14="http://schemas.microsoft.com/office/powerpoint/2010/main" val="2168845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3B48E6-1BA0-C886-F1BF-F462A4EAF26B}"/>
              </a:ext>
            </a:extLst>
          </p:cNvPr>
          <p:cNvSpPr txBox="1"/>
          <p:nvPr/>
        </p:nvSpPr>
        <p:spPr>
          <a:xfrm>
            <a:off x="2477069" y="658576"/>
            <a:ext cx="4954136" cy="5547673"/>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Placing It in the House</a:t>
            </a:r>
            <a:endParaRPr lang="en-US" b="0" i="0" dirty="0">
              <a:solidFill>
                <a:srgbClr val="0F1115"/>
              </a:solidFill>
              <a:effectLst/>
              <a:latin typeface="quote-cjk-patch"/>
            </a:endParaRPr>
          </a:p>
          <a:p>
            <a:pPr algn="l">
              <a:lnSpc>
                <a:spcPts val="1650"/>
              </a:lnSpc>
              <a:spcBef>
                <a:spcPts val="1200"/>
              </a:spcBef>
              <a:spcAft>
                <a:spcPts val="1200"/>
              </a:spcAft>
              <a:buNone/>
            </a:pPr>
            <a:r>
              <a:rPr lang="en-US" b="0" i="0" dirty="0">
                <a:solidFill>
                  <a:srgbClr val="0F1115"/>
                </a:solidFill>
                <a:effectLst/>
                <a:latin typeface="quote-cjk-patch"/>
              </a:rPr>
              <a:t>Now you have a ghostly bookshelf. You need to anchor it to a real place in your house. You find the living room: </a:t>
            </a:r>
            <a:r>
              <a:rPr lang="en-US" b="0" i="0" dirty="0">
                <a:solidFill>
                  <a:srgbClr val="0F1115"/>
                </a:solidFill>
                <a:effectLst/>
                <a:latin typeface="Menlo"/>
              </a:rPr>
              <a:t>let </a:t>
            </a:r>
            <a:r>
              <a:rPr lang="en-US" b="0" i="0" dirty="0" err="1">
                <a:solidFill>
                  <a:srgbClr val="0F1115"/>
                </a:solidFill>
                <a:effectLst/>
                <a:latin typeface="Menlo"/>
              </a:rPr>
              <a:t>livingRoom</a:t>
            </a:r>
            <a:r>
              <a:rPr lang="en-US" b="0" i="0" dirty="0">
                <a:solidFill>
                  <a:srgbClr val="0F1115"/>
                </a:solidFill>
                <a:effectLst/>
                <a:latin typeface="Menlo"/>
              </a:rPr>
              <a:t> = </a:t>
            </a:r>
            <a:r>
              <a:rPr lang="en-US" b="0" i="0" dirty="0" err="1">
                <a:solidFill>
                  <a:srgbClr val="0F1115"/>
                </a:solidFill>
                <a:effectLst/>
                <a:latin typeface="Menlo"/>
              </a:rPr>
              <a:t>document.getElementById</a:t>
            </a:r>
            <a:r>
              <a:rPr lang="en-US" b="0" i="0" dirty="0">
                <a:solidFill>
                  <a:srgbClr val="0F1115"/>
                </a:solidFill>
                <a:effectLst/>
                <a:latin typeface="Menlo"/>
              </a:rPr>
              <a:t>('living-room');</a:t>
            </a:r>
            <a:r>
              <a:rPr lang="en-US" b="0" i="0" dirty="0">
                <a:solidFill>
                  <a:srgbClr val="0F1115"/>
                </a:solidFill>
                <a:effectLst/>
                <a:latin typeface="quote-cjk-patch"/>
              </a:rPr>
              <a:t>.</a:t>
            </a:r>
          </a:p>
          <a:p>
            <a:pPr algn="l">
              <a:spcBef>
                <a:spcPts val="1200"/>
              </a:spcBef>
              <a:spcAft>
                <a:spcPts val="1200"/>
              </a:spcAft>
              <a:buNone/>
            </a:pPr>
            <a:r>
              <a:rPr lang="en-US" b="0" i="0" dirty="0">
                <a:solidFill>
                  <a:srgbClr val="0F1115"/>
                </a:solidFill>
                <a:effectLst/>
                <a:latin typeface="quote-cjk-patch"/>
              </a:rPr>
              <a:t>Now you have two choices:</a:t>
            </a:r>
          </a:p>
          <a:p>
            <a:pPr algn="l">
              <a:lnSpc>
                <a:spcPts val="1650"/>
              </a:lnSpc>
              <a:spcBef>
                <a:spcPts val="1200"/>
              </a:spcBef>
              <a:spcAft>
                <a:spcPts val="1200"/>
              </a:spcAft>
              <a:buFont typeface="+mj-lt"/>
              <a:buAutoNum type="arabicPeriod"/>
            </a:pPr>
            <a:r>
              <a:rPr lang="en-US" b="1" i="0" dirty="0">
                <a:solidFill>
                  <a:srgbClr val="0F1115"/>
                </a:solidFill>
                <a:effectLst/>
                <a:latin typeface="quote-cjk-patch"/>
              </a:rPr>
              <a:t>Add it as the last thing in the room:</a:t>
            </a:r>
            <a:r>
              <a:rPr lang="en-US" b="0" i="0" dirty="0">
                <a:solidFill>
                  <a:srgbClr val="0F1115"/>
                </a:solidFill>
                <a:effectLst/>
                <a:latin typeface="quote-cjk-patch"/>
              </a:rPr>
              <a:t> </a:t>
            </a:r>
            <a:r>
              <a:rPr lang="en-US" b="0" i="0" dirty="0" err="1">
                <a:solidFill>
                  <a:srgbClr val="0F1115"/>
                </a:solidFill>
                <a:effectLst/>
                <a:latin typeface="Menlo"/>
              </a:rPr>
              <a:t>livingRoom.appendChild</a:t>
            </a:r>
            <a:r>
              <a:rPr lang="en-US" b="0" i="0" dirty="0">
                <a:solidFill>
                  <a:srgbClr val="0F1115"/>
                </a:solidFill>
                <a:effectLst/>
                <a:latin typeface="Menlo"/>
              </a:rPr>
              <a:t>(</a:t>
            </a:r>
            <a:r>
              <a:rPr lang="en-US" b="0" i="0" dirty="0" err="1">
                <a:solidFill>
                  <a:srgbClr val="0F1115"/>
                </a:solidFill>
                <a:effectLst/>
                <a:latin typeface="Menlo"/>
              </a:rPr>
              <a:t>newBookShelf</a:t>
            </a:r>
            <a:r>
              <a:rPr lang="en-US" b="0" i="0" dirty="0">
                <a:solidFill>
                  <a:srgbClr val="0F1115"/>
                </a:solidFill>
                <a:effectLst/>
                <a:latin typeface="Menlo"/>
              </a:rPr>
              <a:t>);</a:t>
            </a:r>
            <a:r>
              <a:rPr lang="en-US" b="0" i="0" dirty="0">
                <a:solidFill>
                  <a:srgbClr val="0F1115"/>
                </a:solidFill>
                <a:effectLst/>
                <a:latin typeface="quote-cjk-patch"/>
              </a:rPr>
              <a:t> The bookshelf appears at the end, against the far wall.</a:t>
            </a:r>
          </a:p>
          <a:p>
            <a:pPr algn="l">
              <a:lnSpc>
                <a:spcPts val="1650"/>
              </a:lnSpc>
              <a:spcBef>
                <a:spcPts val="450"/>
              </a:spcBef>
              <a:spcAft>
                <a:spcPts val="1200"/>
              </a:spcAft>
              <a:buFont typeface="+mj-lt"/>
              <a:buAutoNum type="arabicPeriod"/>
            </a:pPr>
            <a:r>
              <a:rPr lang="en-US" b="1" i="0" dirty="0">
                <a:solidFill>
                  <a:srgbClr val="0F1115"/>
                </a:solidFill>
                <a:effectLst/>
                <a:latin typeface="quote-cjk-patch"/>
              </a:rPr>
              <a:t>Insert it before something specific:</a:t>
            </a:r>
            <a:r>
              <a:rPr lang="en-US" b="0" i="0" dirty="0">
                <a:solidFill>
                  <a:srgbClr val="0F1115"/>
                </a:solidFill>
                <a:effectLst/>
                <a:latin typeface="quote-cjk-patch"/>
              </a:rPr>
              <a:t> You find the old rug: </a:t>
            </a:r>
            <a:r>
              <a:rPr lang="en-US" b="0" i="0" dirty="0">
                <a:solidFill>
                  <a:srgbClr val="0F1115"/>
                </a:solidFill>
                <a:effectLst/>
                <a:latin typeface="Menlo"/>
              </a:rPr>
              <a:t>let </a:t>
            </a:r>
            <a:r>
              <a:rPr lang="en-US" b="0" i="0" dirty="0" err="1">
                <a:solidFill>
                  <a:srgbClr val="0F1115"/>
                </a:solidFill>
                <a:effectLst/>
                <a:latin typeface="Menlo"/>
              </a:rPr>
              <a:t>oldRug</a:t>
            </a:r>
            <a:r>
              <a:rPr lang="en-US" b="0" i="0" dirty="0">
                <a:solidFill>
                  <a:srgbClr val="0F1115"/>
                </a:solidFill>
                <a:effectLst/>
                <a:latin typeface="Menlo"/>
              </a:rPr>
              <a:t> = </a:t>
            </a:r>
            <a:r>
              <a:rPr lang="en-US" b="0" i="0" dirty="0" err="1">
                <a:solidFill>
                  <a:srgbClr val="0F1115"/>
                </a:solidFill>
                <a:effectLst/>
                <a:latin typeface="Menlo"/>
              </a:rPr>
              <a:t>document.getElementById</a:t>
            </a:r>
            <a:r>
              <a:rPr lang="en-US" b="0" i="0" dirty="0">
                <a:solidFill>
                  <a:srgbClr val="0F1115"/>
                </a:solidFill>
                <a:effectLst/>
                <a:latin typeface="Menlo"/>
              </a:rPr>
              <a:t>('old-rug');</a:t>
            </a:r>
            <a:r>
              <a:rPr lang="en-US" b="0" i="0" dirty="0">
                <a:solidFill>
                  <a:srgbClr val="0F1115"/>
                </a:solidFill>
                <a:effectLst/>
                <a:latin typeface="quote-cjk-patch"/>
              </a:rPr>
              <a:t>. Then you say: </a:t>
            </a:r>
            <a:r>
              <a:rPr lang="en-US" b="0" i="0" dirty="0" err="1">
                <a:solidFill>
                  <a:srgbClr val="0F1115"/>
                </a:solidFill>
                <a:effectLst/>
                <a:latin typeface="Menlo"/>
              </a:rPr>
              <a:t>livingRoom.insertBefore</a:t>
            </a:r>
            <a:r>
              <a:rPr lang="en-US" b="0" i="0" dirty="0">
                <a:solidFill>
                  <a:srgbClr val="0F1115"/>
                </a:solidFill>
                <a:effectLst/>
                <a:latin typeface="Menlo"/>
              </a:rPr>
              <a:t>(</a:t>
            </a:r>
            <a:r>
              <a:rPr lang="en-US" b="0" i="0" dirty="0" err="1">
                <a:solidFill>
                  <a:srgbClr val="0F1115"/>
                </a:solidFill>
                <a:effectLst/>
                <a:latin typeface="Menlo"/>
              </a:rPr>
              <a:t>newBookShelf</a:t>
            </a:r>
            <a:r>
              <a:rPr lang="en-US" b="0" i="0" dirty="0">
                <a:solidFill>
                  <a:srgbClr val="0F1115"/>
                </a:solidFill>
                <a:effectLst/>
                <a:latin typeface="Menlo"/>
              </a:rPr>
              <a:t>, </a:t>
            </a:r>
            <a:r>
              <a:rPr lang="en-US" b="0" i="0" dirty="0" err="1">
                <a:solidFill>
                  <a:srgbClr val="0F1115"/>
                </a:solidFill>
                <a:effectLst/>
                <a:latin typeface="Menlo"/>
              </a:rPr>
              <a:t>oldRug</a:t>
            </a:r>
            <a:r>
              <a:rPr lang="en-US" b="0" i="0" dirty="0">
                <a:solidFill>
                  <a:srgbClr val="0F1115"/>
                </a:solidFill>
                <a:effectLst/>
                <a:latin typeface="Menlo"/>
              </a:rPr>
              <a:t>);</a:t>
            </a:r>
            <a:r>
              <a:rPr lang="en-US" b="0" i="0" dirty="0">
                <a:solidFill>
                  <a:srgbClr val="0F1115"/>
                </a:solidFill>
                <a:effectLst/>
                <a:latin typeface="quote-cjk-patch"/>
              </a:rPr>
              <a:t>. The bookshelf appears right before the rug.</a:t>
            </a:r>
          </a:p>
          <a:p>
            <a:pPr>
              <a:buNone/>
            </a:pPr>
            <a:br>
              <a:rPr lang="en-US" dirty="0"/>
            </a:br>
            <a:endParaRPr lang="en-US" dirty="0"/>
          </a:p>
        </p:txBody>
      </p:sp>
    </p:spTree>
    <p:extLst>
      <p:ext uri="{BB962C8B-B14F-4D97-AF65-F5344CB8AC3E}">
        <p14:creationId xmlns:p14="http://schemas.microsoft.com/office/powerpoint/2010/main" val="2026343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4F8387-798F-3128-FA9A-83693691F405}"/>
              </a:ext>
            </a:extLst>
          </p:cNvPr>
          <p:cNvSpPr txBox="1"/>
          <p:nvPr/>
        </p:nvSpPr>
        <p:spPr>
          <a:xfrm>
            <a:off x="2477069" y="1702451"/>
            <a:ext cx="4954136" cy="3459922"/>
          </a:xfrm>
          <a:prstGeom prst="rect">
            <a:avLst/>
          </a:prstGeom>
          <a:noFill/>
        </p:spPr>
        <p:txBody>
          <a:bodyPr wrap="square">
            <a:spAutoFit/>
          </a:bodyPr>
          <a:lstStyle/>
          <a:p>
            <a:pPr algn="l">
              <a:spcBef>
                <a:spcPts val="1200"/>
              </a:spcBef>
              <a:spcAft>
                <a:spcPts val="1200"/>
              </a:spcAft>
              <a:buNone/>
            </a:pPr>
            <a:r>
              <a:rPr lang="en-US" b="1" i="0" dirty="0">
                <a:solidFill>
                  <a:srgbClr val="0F1115"/>
                </a:solidFill>
                <a:effectLst/>
                <a:latin typeface="quote-cjk-patch"/>
              </a:rPr>
              <a:t>Removing an Element</a:t>
            </a:r>
            <a:endParaRPr lang="en-US" b="0" i="0" dirty="0">
              <a:solidFill>
                <a:srgbClr val="0F1115"/>
              </a:solidFill>
              <a:effectLst/>
              <a:latin typeface="quote-cjk-patch"/>
            </a:endParaRPr>
          </a:p>
          <a:p>
            <a:pPr algn="l">
              <a:spcBef>
                <a:spcPts val="1200"/>
              </a:spcBef>
              <a:spcAft>
                <a:spcPts val="1200"/>
              </a:spcAft>
              <a:buNone/>
            </a:pPr>
            <a:r>
              <a:rPr lang="en-US" b="0" i="0" dirty="0">
                <a:solidFill>
                  <a:srgbClr val="0F1115"/>
                </a:solidFill>
                <a:effectLst/>
                <a:latin typeface="quote-cjk-patch"/>
              </a:rPr>
              <a:t>That old rug is ugly. Let's get rid of it.</a:t>
            </a:r>
          </a:p>
          <a:p>
            <a:pPr algn="l">
              <a:lnSpc>
                <a:spcPts val="1350"/>
              </a:lnSpc>
              <a:spcBef>
                <a:spcPts val="1200"/>
              </a:spcBef>
              <a:spcAft>
                <a:spcPts val="857"/>
              </a:spcAft>
              <a:buNone/>
            </a:pPr>
            <a:r>
              <a:rPr lang="en-US" b="0" i="0" dirty="0" err="1">
                <a:solidFill>
                  <a:srgbClr val="0F1115"/>
                </a:solidFill>
                <a:effectLst/>
                <a:latin typeface="Menlo"/>
              </a:rPr>
              <a:t>javascript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err="1">
                <a:solidFill>
                  <a:srgbClr val="0F1115"/>
                </a:solidFill>
                <a:effectLst/>
                <a:latin typeface="Menlo"/>
              </a:rPr>
              <a:t>oldRug</a:t>
            </a:r>
            <a:r>
              <a:rPr lang="en-US" b="0" i="0" dirty="0" err="1">
                <a:solidFill>
                  <a:srgbClr val="383A42"/>
                </a:solidFill>
                <a:effectLst/>
                <a:latin typeface="Menlo"/>
              </a:rPr>
              <a:t>.</a:t>
            </a:r>
            <a:r>
              <a:rPr lang="en-US" b="0" i="0" dirty="0" err="1">
                <a:solidFill>
                  <a:srgbClr val="4078F2"/>
                </a:solidFill>
                <a:effectLst/>
                <a:latin typeface="Menlo"/>
              </a:rPr>
              <a:t>remove</a:t>
            </a:r>
            <a:r>
              <a:rPr lang="en-US" b="0" i="0" dirty="0">
                <a:solidFill>
                  <a:srgbClr val="383A42"/>
                </a:solidFill>
                <a:effectLst/>
                <a:latin typeface="Menlo"/>
              </a:rPr>
              <a:t>();</a:t>
            </a:r>
            <a:r>
              <a:rPr lang="en-US" b="0" i="0" dirty="0">
                <a:solidFill>
                  <a:srgbClr val="0F1115"/>
                </a:solidFill>
                <a:effectLst/>
                <a:latin typeface="Menlo"/>
              </a:rPr>
              <a:t> </a:t>
            </a:r>
          </a:p>
          <a:p>
            <a:pPr algn="l">
              <a:spcBef>
                <a:spcPts val="1200"/>
              </a:spcBef>
              <a:spcAft>
                <a:spcPts val="1200"/>
              </a:spcAft>
              <a:buNone/>
            </a:pPr>
            <a:r>
              <a:rPr lang="en-US" b="0" i="1" dirty="0">
                <a:solidFill>
                  <a:srgbClr val="0F1115"/>
                </a:solidFill>
                <a:effectLst/>
                <a:latin typeface="quote-cjk-patch"/>
              </a:rPr>
              <a:t>Poof!</a:t>
            </a:r>
            <a:r>
              <a:rPr lang="en-US" b="0" i="0" dirty="0">
                <a:solidFill>
                  <a:srgbClr val="0F1115"/>
                </a:solidFill>
                <a:effectLst/>
                <a:latin typeface="quote-cjk-patch"/>
              </a:rPr>
              <a:t> The rug is gone from the blueprint and from the house. It's that simple.</a:t>
            </a:r>
          </a:p>
          <a:p>
            <a:pPr>
              <a:buNone/>
            </a:pPr>
            <a:br>
              <a:rPr lang="en-US" dirty="0"/>
            </a:br>
            <a:endParaRPr lang="en-US" dirty="0"/>
          </a:p>
        </p:txBody>
      </p:sp>
    </p:spTree>
    <p:extLst>
      <p:ext uri="{BB962C8B-B14F-4D97-AF65-F5344CB8AC3E}">
        <p14:creationId xmlns:p14="http://schemas.microsoft.com/office/powerpoint/2010/main" val="4249377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1E30E9-09F1-6AD7-1004-ED7813FFFAD3}"/>
              </a:ext>
            </a:extLst>
          </p:cNvPr>
          <p:cNvSpPr txBox="1"/>
          <p:nvPr/>
        </p:nvSpPr>
        <p:spPr>
          <a:xfrm>
            <a:off x="136476" y="-2811137"/>
            <a:ext cx="9362366" cy="9629559"/>
          </a:xfrm>
          <a:prstGeom prst="rect">
            <a:avLst/>
          </a:prstGeom>
          <a:noFill/>
        </p:spPr>
        <p:txBody>
          <a:bodyPr wrap="square">
            <a:spAutoFit/>
          </a:bodyPr>
          <a:lstStyle/>
          <a:p>
            <a:pPr algn="l">
              <a:lnSpc>
                <a:spcPts val="2250"/>
              </a:lnSpc>
              <a:spcBef>
                <a:spcPts val="2400"/>
              </a:spcBef>
              <a:spcAft>
                <a:spcPts val="1200"/>
              </a:spcAft>
              <a:buNone/>
            </a:pPr>
            <a:r>
              <a:rPr lang="en-US" b="1" dirty="0">
                <a:solidFill>
                  <a:srgbClr val="0F1115"/>
                </a:solidFill>
                <a:effectLst/>
                <a:latin typeface="quote-cjk-patch"/>
              </a:rPr>
              <a:t>Chapter 5: Listening to the People (Events)</a:t>
            </a:r>
          </a:p>
          <a:p>
            <a:pPr algn="l">
              <a:spcBef>
                <a:spcPts val="1200"/>
              </a:spcBef>
              <a:spcAft>
                <a:spcPts val="1200"/>
              </a:spcAft>
              <a:buNone/>
            </a:pPr>
            <a:r>
              <a:rPr lang="en-US" b="0" i="0" dirty="0">
                <a:solidFill>
                  <a:srgbClr val="0F1115"/>
                </a:solidFill>
                <a:effectLst/>
                <a:latin typeface="quote-cjk-patch"/>
              </a:rPr>
              <a:t>Your house is now beautiful. But a house isn't a home without people interacting with it. A master builder doesn't just build; they listen.</a:t>
            </a:r>
          </a:p>
          <a:p>
            <a:pPr algn="l">
              <a:spcBef>
                <a:spcPts val="1200"/>
              </a:spcBef>
              <a:spcAft>
                <a:spcPts val="1200"/>
              </a:spcAft>
              <a:buNone/>
            </a:pPr>
            <a:r>
              <a:rPr lang="en-US" b="0" i="0" dirty="0">
                <a:solidFill>
                  <a:srgbClr val="0F1115"/>
                </a:solidFill>
                <a:effectLst/>
                <a:latin typeface="quote-cjk-patch"/>
              </a:rPr>
              <a:t>You need to know when someone does something. When a user clicks a button, hovers over an image, or submits a form, the house (the browser) sends out a little signal, a whisper on the wind. You need to be ready to listen and respond.</a:t>
            </a:r>
          </a:p>
          <a:p>
            <a:pPr algn="l">
              <a:lnSpc>
                <a:spcPts val="1650"/>
              </a:lnSpc>
              <a:spcBef>
                <a:spcPts val="1200"/>
              </a:spcBef>
              <a:spcAft>
                <a:spcPts val="1200"/>
              </a:spcAft>
              <a:buNone/>
            </a:pPr>
            <a:r>
              <a:rPr lang="en-US" b="0" i="0" dirty="0">
                <a:solidFill>
                  <a:srgbClr val="0F1115"/>
                </a:solidFill>
                <a:effectLst/>
                <a:latin typeface="quote-cjk-patch"/>
              </a:rPr>
              <a:t>You find the front doorbell (a button with the </a:t>
            </a:r>
            <a:r>
              <a:rPr lang="en-US" b="0" i="0" dirty="0">
                <a:solidFill>
                  <a:srgbClr val="0F1115"/>
                </a:solidFill>
                <a:effectLst/>
                <a:latin typeface="Menlo"/>
              </a:rPr>
              <a:t>id="doorbell"</a:t>
            </a:r>
            <a:r>
              <a:rPr lang="en-US" b="0" i="0" dirty="0">
                <a:solidFill>
                  <a:srgbClr val="0F1115"/>
                </a:solidFill>
                <a:effectLst/>
                <a:latin typeface="quote-cjk-patch"/>
              </a:rPr>
              <a:t>). You want to know when it's rung.</a:t>
            </a:r>
          </a:p>
          <a:p>
            <a:pPr algn="l">
              <a:spcBef>
                <a:spcPts val="1200"/>
              </a:spcBef>
              <a:spcAft>
                <a:spcPts val="1200"/>
              </a:spcAft>
              <a:buNone/>
            </a:pPr>
            <a:r>
              <a:rPr lang="en-US" b="0" i="0" dirty="0">
                <a:solidFill>
                  <a:srgbClr val="0F1115"/>
                </a:solidFill>
                <a:effectLst/>
                <a:latin typeface="quote-cjk-patch"/>
              </a:rPr>
              <a:t>You use your most important tool: </a:t>
            </a:r>
            <a:r>
              <a:rPr lang="en-US" b="0" i="0" dirty="0" err="1">
                <a:solidFill>
                  <a:srgbClr val="0F1115"/>
                </a:solidFill>
                <a:effectLst/>
                <a:latin typeface="Menlo"/>
              </a:rPr>
              <a:t>addEventListener</a:t>
            </a:r>
            <a:r>
              <a:rPr lang="en-US" b="0" i="0" dirty="0">
                <a:solidFill>
                  <a:srgbClr val="0F1115"/>
                </a:solidFill>
                <a:effectLst/>
                <a:latin typeface="quote-cjk-patch"/>
              </a:rPr>
              <a:t>. You tell the doorbell, "Hey, I'm listening. When you hear a 'click', I want you to run this special set of instructions (a function)."</a:t>
            </a:r>
          </a:p>
          <a:p>
            <a:pPr algn="l">
              <a:lnSpc>
                <a:spcPts val="1350"/>
              </a:lnSpc>
              <a:spcBef>
                <a:spcPts val="1200"/>
              </a:spcBef>
              <a:spcAft>
                <a:spcPts val="857"/>
              </a:spcAft>
              <a:buNone/>
            </a:pPr>
            <a:r>
              <a:rPr lang="en-US" b="0" i="0" dirty="0" err="1">
                <a:solidFill>
                  <a:srgbClr val="0F1115"/>
                </a:solidFill>
                <a:effectLst/>
                <a:latin typeface="Menlo"/>
              </a:rPr>
              <a:t>javascript</a:t>
            </a:r>
            <a:endParaRPr lang="en-US" b="0" i="0" dirty="0">
              <a:solidFill>
                <a:srgbClr val="0F1115"/>
              </a:solidFill>
              <a:effectLst/>
              <a:latin typeface="quote-cjk-patch"/>
            </a:endParaRPr>
          </a:p>
          <a:p>
            <a:pPr algn="l" latinLnBrk="1">
              <a:lnSpc>
                <a:spcPts val="1650"/>
              </a:lnSpc>
              <a:spcBef>
                <a:spcPts val="1200"/>
              </a:spcBef>
              <a:spcAft>
                <a:spcPts val="857"/>
              </a:spcAft>
              <a:buNone/>
            </a:pPr>
            <a:r>
              <a:rPr lang="en-US" b="0" i="0" dirty="0">
                <a:solidFill>
                  <a:srgbClr val="A626A4"/>
                </a:solidFill>
                <a:effectLst/>
                <a:latin typeface="Menlo"/>
              </a:rPr>
              <a:t>let</a:t>
            </a:r>
            <a:r>
              <a:rPr lang="en-US" b="0" i="0" dirty="0">
                <a:solidFill>
                  <a:srgbClr val="0F1115"/>
                </a:solidFill>
                <a:effectLst/>
                <a:latin typeface="Menlo"/>
              </a:rPr>
              <a:t> </a:t>
            </a:r>
            <a:r>
              <a:rPr lang="en-US" b="0" i="0" dirty="0" err="1">
                <a:solidFill>
                  <a:srgbClr val="0F1115"/>
                </a:solidFill>
                <a:effectLst/>
                <a:latin typeface="Menlo"/>
              </a:rPr>
              <a:t>doorbellButton</a:t>
            </a:r>
            <a:r>
              <a:rPr lang="en-US" b="0" i="0" dirty="0">
                <a:solidFill>
                  <a:srgbClr val="0F1115"/>
                </a:solidFill>
                <a:effectLst/>
                <a:latin typeface="Menlo"/>
              </a:rPr>
              <a:t> </a:t>
            </a:r>
            <a:r>
              <a:rPr lang="en-US" b="0" i="0" dirty="0">
                <a:solidFill>
                  <a:srgbClr val="4078F2"/>
                </a:solidFill>
                <a:effectLst/>
                <a:latin typeface="Menlo"/>
              </a:rPr>
              <a:t>=</a:t>
            </a:r>
            <a:r>
              <a:rPr lang="en-US" b="0" i="0" dirty="0">
                <a:solidFill>
                  <a:srgbClr val="0F1115"/>
                </a:solidFill>
                <a:effectLst/>
                <a:latin typeface="Menlo"/>
              </a:rPr>
              <a:t> </a:t>
            </a:r>
            <a:r>
              <a:rPr lang="en-US" b="0" i="0" dirty="0" err="1">
                <a:solidFill>
                  <a:srgbClr val="0F1115"/>
                </a:solidFill>
                <a:effectLst/>
                <a:latin typeface="Menlo"/>
              </a:rPr>
              <a:t>document</a:t>
            </a:r>
            <a:r>
              <a:rPr lang="en-US" b="0" i="0" dirty="0" err="1">
                <a:solidFill>
                  <a:srgbClr val="383A42"/>
                </a:solidFill>
                <a:effectLst/>
                <a:latin typeface="Menlo"/>
              </a:rPr>
              <a:t>.</a:t>
            </a:r>
            <a:r>
              <a:rPr lang="en-US" b="0" i="0" dirty="0" err="1">
                <a:solidFill>
                  <a:srgbClr val="4078F2"/>
                </a:solidFill>
                <a:effectLst/>
                <a:latin typeface="Menlo"/>
              </a:rPr>
              <a:t>getElementById</a:t>
            </a:r>
            <a:r>
              <a:rPr lang="en-US" b="0" i="0" dirty="0">
                <a:solidFill>
                  <a:srgbClr val="383A42"/>
                </a:solidFill>
                <a:effectLst/>
                <a:latin typeface="Menlo"/>
              </a:rPr>
              <a:t>(</a:t>
            </a:r>
            <a:r>
              <a:rPr lang="en-US" b="0" i="0" dirty="0">
                <a:solidFill>
                  <a:srgbClr val="50A14F"/>
                </a:solidFill>
                <a:effectLst/>
                <a:latin typeface="Menlo"/>
              </a:rPr>
              <a:t>'doorbell'</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1" dirty="0">
                <a:solidFill>
                  <a:srgbClr val="A0A1A7"/>
                </a:solidFill>
                <a:effectLst/>
                <a:latin typeface="Menlo"/>
              </a:rPr>
              <a:t>// Define the special instructions</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A626A4"/>
                </a:solidFill>
                <a:effectLst/>
                <a:latin typeface="Menlo"/>
              </a:rPr>
              <a:t>function</a:t>
            </a:r>
            <a:r>
              <a:rPr lang="en-US" b="0" i="0" dirty="0">
                <a:solidFill>
                  <a:srgbClr val="0F1115"/>
                </a:solidFill>
                <a:effectLst/>
                <a:latin typeface="Menlo"/>
              </a:rPr>
              <a:t> </a:t>
            </a:r>
            <a:r>
              <a:rPr lang="en-US" b="0" i="0" dirty="0" err="1">
                <a:solidFill>
                  <a:srgbClr val="4078F2"/>
                </a:solidFill>
                <a:effectLst/>
                <a:latin typeface="Menlo"/>
              </a:rPr>
              <a:t>ringTheBell</a:t>
            </a:r>
            <a:r>
              <a:rPr lang="en-US" b="0" i="0" dirty="0">
                <a:solidFill>
                  <a:srgbClr val="383A42"/>
                </a:solidFill>
                <a:effectLst/>
                <a:latin typeface="Menlo"/>
              </a:rPr>
              <a:t>()</a:t>
            </a:r>
            <a:r>
              <a:rPr lang="en-US" b="0" i="0" dirty="0">
                <a:solidFill>
                  <a:srgbClr val="0F1115"/>
                </a:solidFill>
                <a:effectLst/>
                <a:latin typeface="Menlo"/>
              </a:rPr>
              <a:t> </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console</a:t>
            </a:r>
            <a:r>
              <a:rPr lang="en-US" b="0" i="0" dirty="0">
                <a:solidFill>
                  <a:srgbClr val="383A42"/>
                </a:solidFill>
                <a:effectLst/>
                <a:latin typeface="Menlo"/>
              </a:rPr>
              <a:t>.</a:t>
            </a:r>
            <a:r>
              <a:rPr lang="en-US" b="0" i="0" dirty="0">
                <a:solidFill>
                  <a:srgbClr val="4078F2"/>
                </a:solidFill>
                <a:effectLst/>
                <a:latin typeface="Menlo"/>
              </a:rPr>
              <a:t>log</a:t>
            </a:r>
            <a:r>
              <a:rPr lang="en-US" b="0" i="0" dirty="0">
                <a:solidFill>
                  <a:srgbClr val="383A42"/>
                </a:solidFill>
                <a:effectLst/>
                <a:latin typeface="Menlo"/>
              </a:rPr>
              <a:t>(</a:t>
            </a:r>
            <a:r>
              <a:rPr lang="en-US" b="0" i="0" dirty="0">
                <a:solidFill>
                  <a:srgbClr val="50A14F"/>
                </a:solidFill>
                <a:effectLst/>
                <a:latin typeface="Menlo"/>
              </a:rPr>
              <a:t>"DING DONG!"</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a:solidFill>
                  <a:srgbClr val="4078F2"/>
                </a:solidFill>
                <a:effectLst/>
                <a:latin typeface="Menlo"/>
              </a:rPr>
              <a:t>alert</a:t>
            </a:r>
            <a:r>
              <a:rPr lang="en-US" b="0" i="0" dirty="0">
                <a:solidFill>
                  <a:srgbClr val="383A42"/>
                </a:solidFill>
                <a:effectLst/>
                <a:latin typeface="Menlo"/>
              </a:rPr>
              <a:t>(</a:t>
            </a:r>
            <a:r>
              <a:rPr lang="en-US" b="0" i="0" dirty="0">
                <a:solidFill>
                  <a:srgbClr val="50A14F"/>
                </a:solidFill>
                <a:effectLst/>
                <a:latin typeface="Menlo"/>
              </a:rPr>
              <a:t>"Someone's at the door!"</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0F1115"/>
                </a:solidFill>
                <a:effectLst/>
                <a:latin typeface="Menlo"/>
              </a:rPr>
              <a:t>    </a:t>
            </a:r>
            <a:r>
              <a:rPr lang="en-US" b="0" i="0" dirty="0" err="1">
                <a:solidFill>
                  <a:srgbClr val="0F1115"/>
                </a:solidFill>
                <a:effectLst/>
                <a:latin typeface="Menlo"/>
              </a:rPr>
              <a:t>doorbellButton</a:t>
            </a:r>
            <a:r>
              <a:rPr lang="en-US" b="0" i="0" dirty="0" err="1">
                <a:solidFill>
                  <a:srgbClr val="383A42"/>
                </a:solidFill>
                <a:effectLst/>
                <a:latin typeface="Menlo"/>
              </a:rPr>
              <a:t>.</a:t>
            </a:r>
            <a:r>
              <a:rPr lang="en-US" b="0" i="0" dirty="0" err="1">
                <a:solidFill>
                  <a:srgbClr val="0F1115"/>
                </a:solidFill>
                <a:effectLst/>
                <a:latin typeface="Menlo"/>
              </a:rPr>
              <a:t>textContent</a:t>
            </a:r>
            <a:r>
              <a:rPr lang="en-US" b="0" i="0" dirty="0">
                <a:solidFill>
                  <a:srgbClr val="0F1115"/>
                </a:solidFill>
                <a:effectLst/>
                <a:latin typeface="Menlo"/>
              </a:rPr>
              <a:t> </a:t>
            </a:r>
            <a:r>
              <a:rPr lang="en-US" b="0" i="0" dirty="0">
                <a:solidFill>
                  <a:srgbClr val="4078F2"/>
                </a:solidFill>
                <a:effectLst/>
                <a:latin typeface="Menlo"/>
              </a:rPr>
              <a:t>=</a:t>
            </a:r>
            <a:r>
              <a:rPr lang="en-US" b="0" i="0" dirty="0">
                <a:solidFill>
                  <a:srgbClr val="0F1115"/>
                </a:solidFill>
                <a:effectLst/>
                <a:latin typeface="Menlo"/>
              </a:rPr>
              <a:t> </a:t>
            </a:r>
            <a:r>
              <a:rPr lang="en-US" b="0" i="0" dirty="0">
                <a:solidFill>
                  <a:srgbClr val="50A14F"/>
                </a:solidFill>
                <a:effectLst/>
                <a:latin typeface="Menlo"/>
              </a:rPr>
              <a:t>"Rung!"</a:t>
            </a: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a:solidFill>
                  <a:srgbClr val="383A42"/>
                </a:solidFill>
                <a:effectLst/>
                <a:latin typeface="Menlo"/>
              </a:rPr>
              <a:t>}</a:t>
            </a:r>
            <a:endParaRPr lang="en-US" b="0" i="0" dirty="0">
              <a:solidFill>
                <a:srgbClr val="0F1115"/>
              </a:solidFill>
              <a:effectLst/>
              <a:latin typeface="Menlo"/>
            </a:endParaRPr>
          </a:p>
          <a:p>
            <a:pPr algn="l" latinLnBrk="1">
              <a:lnSpc>
                <a:spcPts val="1650"/>
              </a:lnSpc>
              <a:spcBef>
                <a:spcPts val="1200"/>
              </a:spcBef>
              <a:spcAft>
                <a:spcPts val="857"/>
              </a:spcAft>
              <a:buNone/>
            </a:pPr>
            <a:endParaRPr lang="en-US" b="0" i="0" dirty="0">
              <a:solidFill>
                <a:srgbClr val="0F1115"/>
              </a:solidFill>
              <a:effectLst/>
              <a:latin typeface="Menlo"/>
            </a:endParaRPr>
          </a:p>
          <a:p>
            <a:pPr algn="l" latinLnBrk="1">
              <a:lnSpc>
                <a:spcPts val="1650"/>
              </a:lnSpc>
              <a:spcBef>
                <a:spcPts val="1200"/>
              </a:spcBef>
              <a:spcAft>
                <a:spcPts val="857"/>
              </a:spcAft>
              <a:buNone/>
            </a:pPr>
            <a:r>
              <a:rPr lang="en-US" b="0" i="1" dirty="0">
                <a:solidFill>
                  <a:srgbClr val="A0A1A7"/>
                </a:solidFill>
                <a:effectLst/>
                <a:latin typeface="Menlo"/>
              </a:rPr>
              <a:t>// Start listening</a:t>
            </a:r>
            <a:endParaRPr lang="en-US" b="0" i="0" dirty="0">
              <a:solidFill>
                <a:srgbClr val="0F1115"/>
              </a:solidFill>
              <a:effectLst/>
              <a:latin typeface="Menlo"/>
            </a:endParaRPr>
          </a:p>
          <a:p>
            <a:pPr algn="l" latinLnBrk="1">
              <a:lnSpc>
                <a:spcPts val="1650"/>
              </a:lnSpc>
              <a:spcBef>
                <a:spcPts val="1200"/>
              </a:spcBef>
              <a:spcAft>
                <a:spcPts val="857"/>
              </a:spcAft>
              <a:buNone/>
            </a:pPr>
            <a:r>
              <a:rPr lang="en-US" b="0" i="0" dirty="0" err="1">
                <a:solidFill>
                  <a:srgbClr val="0F1115"/>
                </a:solidFill>
                <a:effectLst/>
                <a:latin typeface="Menlo"/>
              </a:rPr>
              <a:t>doorbellButton</a:t>
            </a:r>
            <a:r>
              <a:rPr lang="en-US" b="0" i="0" dirty="0" err="1">
                <a:solidFill>
                  <a:srgbClr val="383A42"/>
                </a:solidFill>
                <a:effectLst/>
                <a:latin typeface="Menlo"/>
              </a:rPr>
              <a:t>.</a:t>
            </a:r>
            <a:r>
              <a:rPr lang="en-US" b="0" i="0" dirty="0" err="1">
                <a:solidFill>
                  <a:srgbClr val="4078F2"/>
                </a:solidFill>
                <a:effectLst/>
                <a:latin typeface="Menlo"/>
              </a:rPr>
              <a:t>addEventListener</a:t>
            </a:r>
            <a:r>
              <a:rPr lang="en-US" b="0" i="0" dirty="0">
                <a:solidFill>
                  <a:srgbClr val="383A42"/>
                </a:solidFill>
                <a:effectLst/>
                <a:latin typeface="Menlo"/>
              </a:rPr>
              <a:t>(</a:t>
            </a:r>
            <a:r>
              <a:rPr lang="en-US" b="0" i="0" dirty="0">
                <a:solidFill>
                  <a:srgbClr val="50A14F"/>
                </a:solidFill>
                <a:effectLst/>
                <a:latin typeface="Menlo"/>
              </a:rPr>
              <a:t>'click'</a:t>
            </a:r>
            <a:r>
              <a:rPr lang="en-US" b="0" i="0" dirty="0">
                <a:solidFill>
                  <a:srgbClr val="383A42"/>
                </a:solidFill>
                <a:effectLst/>
                <a:latin typeface="Menlo"/>
              </a:rPr>
              <a:t>,</a:t>
            </a:r>
            <a:r>
              <a:rPr lang="en-US" b="0" i="0" dirty="0">
                <a:solidFill>
                  <a:srgbClr val="0F1115"/>
                </a:solidFill>
                <a:effectLst/>
                <a:latin typeface="Menlo"/>
              </a:rPr>
              <a:t> </a:t>
            </a:r>
            <a:r>
              <a:rPr lang="en-US" b="0" i="0" dirty="0" err="1">
                <a:solidFill>
                  <a:srgbClr val="0F1115"/>
                </a:solidFill>
                <a:effectLst/>
                <a:latin typeface="Menlo"/>
              </a:rPr>
              <a:t>ringTheBell</a:t>
            </a:r>
            <a:r>
              <a:rPr lang="en-US" b="0" i="0" dirty="0">
                <a:solidFill>
                  <a:srgbClr val="383A42"/>
                </a:solidFill>
                <a:effectLst/>
                <a:latin typeface="Menlo"/>
              </a:rPr>
              <a:t>);</a:t>
            </a:r>
            <a:endParaRPr lang="en-US" b="0" i="0" dirty="0">
              <a:solidFill>
                <a:srgbClr val="0F1115"/>
              </a:solidFill>
              <a:effectLst/>
              <a:latin typeface="Menlo"/>
            </a:endParaRPr>
          </a:p>
        </p:txBody>
      </p:sp>
    </p:spTree>
    <p:extLst>
      <p:ext uri="{BB962C8B-B14F-4D97-AF65-F5344CB8AC3E}">
        <p14:creationId xmlns:p14="http://schemas.microsoft.com/office/powerpoint/2010/main" val="3227933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1FCB1C-67BF-388B-1207-675D2B4D6E02}"/>
              </a:ext>
            </a:extLst>
          </p:cNvPr>
          <p:cNvSpPr txBox="1"/>
          <p:nvPr/>
        </p:nvSpPr>
        <p:spPr>
          <a:xfrm>
            <a:off x="2477069" y="2248114"/>
            <a:ext cx="4954136" cy="2368597"/>
          </a:xfrm>
          <a:prstGeom prst="rect">
            <a:avLst/>
          </a:prstGeom>
          <a:noFill/>
        </p:spPr>
        <p:txBody>
          <a:bodyPr wrap="square">
            <a:spAutoFit/>
          </a:bodyPr>
          <a:lstStyle/>
          <a:p>
            <a:pPr algn="l">
              <a:lnSpc>
                <a:spcPts val="1650"/>
              </a:lnSpc>
              <a:spcBef>
                <a:spcPts val="1200"/>
              </a:spcBef>
              <a:spcAft>
                <a:spcPts val="1200"/>
              </a:spcAft>
              <a:buNone/>
            </a:pPr>
            <a:r>
              <a:rPr lang="en-US" b="0" i="0" dirty="0">
                <a:solidFill>
                  <a:srgbClr val="0F1115"/>
                </a:solidFill>
                <a:effectLst/>
                <a:latin typeface="quote-cjk-patch"/>
              </a:rPr>
              <a:t>Now, you're not constantly checking if the bell is being rung. You've set up a listener. The moment a </a:t>
            </a:r>
            <a:r>
              <a:rPr lang="en-US" b="0" i="0" dirty="0">
                <a:solidFill>
                  <a:srgbClr val="0F1115"/>
                </a:solidFill>
                <a:effectLst/>
                <a:latin typeface="Menlo"/>
              </a:rPr>
              <a:t>click</a:t>
            </a:r>
            <a:r>
              <a:rPr lang="en-US" b="0" i="0" dirty="0">
                <a:solidFill>
                  <a:srgbClr val="0F1115"/>
                </a:solidFill>
                <a:effectLst/>
                <a:latin typeface="quote-cjk-patch"/>
              </a:rPr>
              <a:t> event happens on that button, your </a:t>
            </a:r>
            <a:r>
              <a:rPr lang="en-US" b="0" i="0" dirty="0" err="1">
                <a:solidFill>
                  <a:srgbClr val="0F1115"/>
                </a:solidFill>
                <a:effectLst/>
                <a:latin typeface="Menlo"/>
              </a:rPr>
              <a:t>ringTheBell</a:t>
            </a:r>
            <a:r>
              <a:rPr lang="en-US" b="0" i="0" dirty="0">
                <a:solidFill>
                  <a:srgbClr val="0F1115"/>
                </a:solidFill>
                <a:effectLst/>
                <a:latin typeface="quote-cjk-patch"/>
              </a:rPr>
              <a:t> function springs to life. This is the heart of interactive websites.</a:t>
            </a:r>
          </a:p>
          <a:p>
            <a:pPr algn="l">
              <a:lnSpc>
                <a:spcPts val="1650"/>
              </a:lnSpc>
              <a:spcBef>
                <a:spcPts val="1200"/>
              </a:spcBef>
              <a:spcAft>
                <a:spcPts val="1200"/>
              </a:spcAft>
              <a:buNone/>
            </a:pPr>
            <a:r>
              <a:rPr lang="en-US" b="0" i="0" dirty="0">
                <a:solidFill>
                  <a:srgbClr val="0F1115"/>
                </a:solidFill>
                <a:effectLst/>
                <a:latin typeface="quote-cjk-patch"/>
              </a:rPr>
              <a:t>You can listen for </a:t>
            </a:r>
            <a:r>
              <a:rPr lang="en-US" b="0" i="0" dirty="0">
                <a:solidFill>
                  <a:srgbClr val="0F1115"/>
                </a:solidFill>
                <a:effectLst/>
                <a:latin typeface="Menlo"/>
              </a:rPr>
              <a:t>'mouseover'</a:t>
            </a:r>
            <a:r>
              <a:rPr lang="en-US" b="0" i="0" dirty="0">
                <a:solidFill>
                  <a:srgbClr val="0F1115"/>
                </a:solidFill>
                <a:effectLst/>
                <a:latin typeface="quote-cjk-patch"/>
              </a:rPr>
              <a:t>, </a:t>
            </a:r>
            <a:r>
              <a:rPr lang="en-US" b="0" i="0" dirty="0">
                <a:solidFill>
                  <a:srgbClr val="0F1115"/>
                </a:solidFill>
                <a:effectLst/>
                <a:latin typeface="Menlo"/>
              </a:rPr>
              <a:t>'</a:t>
            </a:r>
            <a:r>
              <a:rPr lang="en-US" b="0" i="0" dirty="0" err="1">
                <a:solidFill>
                  <a:srgbClr val="0F1115"/>
                </a:solidFill>
                <a:effectLst/>
                <a:latin typeface="Menlo"/>
              </a:rPr>
              <a:t>keydown</a:t>
            </a:r>
            <a:r>
              <a:rPr lang="en-US" b="0" i="0" dirty="0">
                <a:solidFill>
                  <a:srgbClr val="0F1115"/>
                </a:solidFill>
                <a:effectLst/>
                <a:latin typeface="Menlo"/>
              </a:rPr>
              <a:t>'</a:t>
            </a:r>
            <a:r>
              <a:rPr lang="en-US" b="0" i="0" dirty="0">
                <a:solidFill>
                  <a:srgbClr val="0F1115"/>
                </a:solidFill>
                <a:effectLst/>
                <a:latin typeface="quote-cjk-patch"/>
              </a:rPr>
              <a:t>, </a:t>
            </a:r>
            <a:r>
              <a:rPr lang="en-US" b="0" i="0" dirty="0">
                <a:solidFill>
                  <a:srgbClr val="0F1115"/>
                </a:solidFill>
                <a:effectLst/>
                <a:latin typeface="Menlo"/>
              </a:rPr>
              <a:t>'submit'</a:t>
            </a:r>
            <a:r>
              <a:rPr lang="en-US" b="0" i="0" dirty="0">
                <a:solidFill>
                  <a:srgbClr val="0F1115"/>
                </a:solidFill>
                <a:effectLst/>
                <a:latin typeface="quote-cjk-patch"/>
              </a:rPr>
              <a:t>, and hundreds of other events. You become the master of interaction, making your website come alive in response to your visitors.</a:t>
            </a:r>
          </a:p>
        </p:txBody>
      </p:sp>
    </p:spTree>
    <p:extLst>
      <p:ext uri="{BB962C8B-B14F-4D97-AF65-F5344CB8AC3E}">
        <p14:creationId xmlns:p14="http://schemas.microsoft.com/office/powerpoint/2010/main" val="248224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F4D89A-E08D-4402-DB5A-B68BD78074D2}"/>
              </a:ext>
            </a:extLst>
          </p:cNvPr>
          <p:cNvSpPr txBox="1"/>
          <p:nvPr/>
        </p:nvSpPr>
        <p:spPr>
          <a:xfrm>
            <a:off x="183107" y="190934"/>
            <a:ext cx="9539785" cy="6476132"/>
          </a:xfrm>
          <a:prstGeom prst="rect">
            <a:avLst/>
          </a:prstGeom>
          <a:noFill/>
        </p:spPr>
        <p:txBody>
          <a:bodyPr wrap="square">
            <a:spAutoFit/>
          </a:bodyPr>
          <a:lstStyle/>
          <a:p>
            <a:pPr algn="l">
              <a:lnSpc>
                <a:spcPts val="2250"/>
              </a:lnSpc>
              <a:spcBef>
                <a:spcPts val="2400"/>
              </a:spcBef>
              <a:spcAft>
                <a:spcPts val="1200"/>
              </a:spcAft>
              <a:buNone/>
            </a:pPr>
            <a:r>
              <a:rPr lang="en-US" b="1" dirty="0">
                <a:solidFill>
                  <a:srgbClr val="0F1115"/>
                </a:solidFill>
                <a:effectLst/>
                <a:latin typeface="quote-cjk-patch"/>
              </a:rPr>
              <a:t>The Master's Journey</a:t>
            </a:r>
          </a:p>
          <a:p>
            <a:pPr algn="l">
              <a:spcBef>
                <a:spcPts val="1200"/>
              </a:spcBef>
              <a:spcAft>
                <a:spcPts val="1200"/>
              </a:spcAft>
              <a:buNone/>
            </a:pPr>
            <a:r>
              <a:rPr lang="en-US" b="0" i="0" dirty="0">
                <a:solidFill>
                  <a:srgbClr val="0F1115"/>
                </a:solidFill>
                <a:effectLst/>
                <a:latin typeface="quote-cjk-patch"/>
              </a:rPr>
              <a:t>So, how do you become the Master?</a:t>
            </a:r>
          </a:p>
          <a:p>
            <a:pPr algn="l">
              <a:spcBef>
                <a:spcPts val="1200"/>
              </a:spcBef>
              <a:spcAft>
                <a:spcPts val="1200"/>
              </a:spcAft>
              <a:buFont typeface="+mj-lt"/>
              <a:buAutoNum type="arabicPeriod"/>
            </a:pPr>
            <a:r>
              <a:rPr lang="en-US" b="1" i="0" dirty="0">
                <a:solidFill>
                  <a:srgbClr val="0F1115"/>
                </a:solidFill>
                <a:effectLst/>
                <a:latin typeface="quote-cjk-patch"/>
              </a:rPr>
              <a:t>Live in the Blueprint:</a:t>
            </a:r>
            <a:r>
              <a:rPr lang="en-US" b="0" i="0" dirty="0">
                <a:solidFill>
                  <a:srgbClr val="0F1115"/>
                </a:solidFill>
                <a:effectLst/>
                <a:latin typeface="quote-cjk-patch"/>
              </a:rPr>
              <a:t> Open your browser's Developer Tools (F12). Look at the </a:t>
            </a:r>
            <a:r>
              <a:rPr lang="en-US" b="1" i="0" dirty="0">
                <a:solidFill>
                  <a:srgbClr val="0F1115"/>
                </a:solidFill>
                <a:effectLst/>
                <a:latin typeface="quote-cjk-patch"/>
              </a:rPr>
              <a:t>Elements</a:t>
            </a:r>
            <a:r>
              <a:rPr lang="en-US" b="0" i="0" dirty="0">
                <a:solidFill>
                  <a:srgbClr val="0F1115"/>
                </a:solidFill>
                <a:effectLst/>
                <a:latin typeface="quote-cjk-patch"/>
              </a:rPr>
              <a:t> tab. That's your DOM tree. Play with it. Delete things, change text, adjust styles </a:t>
            </a:r>
            <a:r>
              <a:rPr lang="en-US" b="0" i="1" dirty="0">
                <a:solidFill>
                  <a:srgbClr val="0F1115"/>
                </a:solidFill>
                <a:effectLst/>
                <a:latin typeface="quote-cjk-patch"/>
              </a:rPr>
              <a:t>live</a:t>
            </a:r>
            <a:r>
              <a:rPr lang="en-US" b="0" i="0" dirty="0">
                <a:solidFill>
                  <a:srgbClr val="0F1115"/>
                </a:solidFill>
                <a:effectLst/>
                <a:latin typeface="quote-cjk-patch"/>
              </a:rPr>
              <a:t> on any website (don't worry, it resets when you refresh!). This is your training ground.</a:t>
            </a:r>
          </a:p>
          <a:p>
            <a:pPr algn="l">
              <a:lnSpc>
                <a:spcPts val="1650"/>
              </a:lnSpc>
              <a:spcBef>
                <a:spcPts val="450"/>
              </a:spcBef>
              <a:spcAft>
                <a:spcPts val="1200"/>
              </a:spcAft>
              <a:buFont typeface="+mj-lt"/>
              <a:buAutoNum type="arabicPeriod"/>
            </a:pPr>
            <a:r>
              <a:rPr lang="en-US" b="1" i="0" dirty="0">
                <a:solidFill>
                  <a:srgbClr val="0F1115"/>
                </a:solidFill>
                <a:effectLst/>
                <a:latin typeface="quote-cjk-patch"/>
              </a:rPr>
              <a:t>Practice Your Spells:</a:t>
            </a:r>
            <a:r>
              <a:rPr lang="en-US" b="0" i="0" dirty="0">
                <a:solidFill>
                  <a:srgbClr val="0F1115"/>
                </a:solidFill>
                <a:effectLst/>
                <a:latin typeface="quote-cjk-patch"/>
              </a:rPr>
              <a:t> Don't just read the story. Open a blank HTML file and start experimenting. </a:t>
            </a:r>
            <a:r>
              <a:rPr lang="en-US" b="0" i="0" dirty="0" err="1">
                <a:solidFill>
                  <a:srgbClr val="0F1115"/>
                </a:solidFill>
                <a:effectLst/>
                <a:latin typeface="Menlo"/>
              </a:rPr>
              <a:t>getElementById</a:t>
            </a:r>
            <a:r>
              <a:rPr lang="en-US" b="0" i="0" dirty="0">
                <a:solidFill>
                  <a:srgbClr val="0F1115"/>
                </a:solidFill>
                <a:effectLst/>
                <a:latin typeface="quote-cjk-patch"/>
              </a:rPr>
              <a:t> a button, then change its </a:t>
            </a:r>
            <a:r>
              <a:rPr lang="en-US" b="0" i="0" dirty="0">
                <a:solidFill>
                  <a:srgbClr val="0F1115"/>
                </a:solidFill>
                <a:effectLst/>
                <a:latin typeface="Menlo"/>
              </a:rPr>
              <a:t>.style</a:t>
            </a:r>
            <a:r>
              <a:rPr lang="en-US" b="0" i="0" dirty="0">
                <a:solidFill>
                  <a:srgbClr val="0F1115"/>
                </a:solidFill>
                <a:effectLst/>
                <a:latin typeface="quote-cjk-patch"/>
              </a:rPr>
              <a:t> when it's clicked. Create a new </a:t>
            </a:r>
            <a:r>
              <a:rPr lang="en-US" b="0" i="0" dirty="0">
                <a:solidFill>
                  <a:srgbClr val="0F1115"/>
                </a:solidFill>
                <a:effectLst/>
                <a:latin typeface="Menlo"/>
              </a:rPr>
              <a:t>&lt;li&gt;</a:t>
            </a:r>
            <a:r>
              <a:rPr lang="en-US" b="0" i="0" dirty="0">
                <a:solidFill>
                  <a:srgbClr val="0F1115"/>
                </a:solidFill>
                <a:effectLst/>
                <a:latin typeface="quote-cjk-patch"/>
              </a:rPr>
              <a:t> and </a:t>
            </a:r>
            <a:r>
              <a:rPr lang="en-US" b="0" i="0" dirty="0" err="1">
                <a:solidFill>
                  <a:srgbClr val="0F1115"/>
                </a:solidFill>
                <a:effectLst/>
                <a:latin typeface="Menlo"/>
              </a:rPr>
              <a:t>appendChild</a:t>
            </a:r>
            <a:r>
              <a:rPr lang="en-US" b="0" i="0" dirty="0">
                <a:solidFill>
                  <a:srgbClr val="0F1115"/>
                </a:solidFill>
                <a:effectLst/>
                <a:latin typeface="quote-cjk-patch"/>
              </a:rPr>
              <a:t> it to a list.</a:t>
            </a:r>
          </a:p>
          <a:p>
            <a:pPr algn="l">
              <a:spcBef>
                <a:spcPts val="450"/>
              </a:spcBef>
              <a:spcAft>
                <a:spcPts val="600"/>
              </a:spcAft>
              <a:buFont typeface="+mj-lt"/>
              <a:buAutoNum type="arabicPeriod"/>
            </a:pPr>
            <a:r>
              <a:rPr lang="en-US" b="1" i="0" dirty="0">
                <a:solidFill>
                  <a:srgbClr val="0F1115"/>
                </a:solidFill>
                <a:effectLst/>
                <a:latin typeface="quote-cjk-patch"/>
              </a:rPr>
              <a:t>Build Small Projects:</a:t>
            </a:r>
            <a:endParaRPr lang="en-US" b="0" i="0" dirty="0">
              <a:solidFill>
                <a:srgbClr val="0F1115"/>
              </a:solidFill>
              <a:effectLst/>
              <a:latin typeface="quote-cjk-patch"/>
            </a:endParaRPr>
          </a:p>
          <a:p>
            <a:pPr marL="742950" lvl="1" indent="-285750" algn="l">
              <a:lnSpc>
                <a:spcPts val="1650"/>
              </a:lnSpc>
              <a:spcBef>
                <a:spcPts val="300"/>
              </a:spcBef>
              <a:spcAft>
                <a:spcPts val="1200"/>
              </a:spcAft>
              <a:buFont typeface="+mj-lt"/>
              <a:buAutoNum type="arabicPeriod"/>
            </a:pPr>
            <a:r>
              <a:rPr lang="en-US" b="1" i="0" dirty="0">
                <a:solidFill>
                  <a:srgbClr val="0F1115"/>
                </a:solidFill>
                <a:effectLst/>
                <a:latin typeface="quote-cjk-patch"/>
              </a:rPr>
              <a:t>Build a To-Do List:</a:t>
            </a:r>
            <a:r>
              <a:rPr lang="en-US" b="0" i="0" dirty="0">
                <a:solidFill>
                  <a:srgbClr val="0F1115"/>
                </a:solidFill>
                <a:effectLst/>
                <a:latin typeface="quote-cjk-patch"/>
              </a:rPr>
              <a:t> You need to create new elements (the to-do items) and remove them (</a:t>
            </a:r>
            <a:r>
              <a:rPr lang="en-US" b="0" i="0" dirty="0">
                <a:solidFill>
                  <a:srgbClr val="0F1115"/>
                </a:solidFill>
                <a:effectLst/>
                <a:latin typeface="Menlo"/>
              </a:rPr>
              <a:t>.remove()</a:t>
            </a:r>
            <a:r>
              <a:rPr lang="en-US" b="0" i="0" dirty="0">
                <a:solidFill>
                  <a:srgbClr val="0F1115"/>
                </a:solidFill>
                <a:effectLst/>
                <a:latin typeface="quote-cjk-patch"/>
              </a:rPr>
              <a:t>). You need to listen for clicks on a "submit" button.</a:t>
            </a:r>
          </a:p>
          <a:p>
            <a:pPr marL="742950" lvl="1" indent="-285750" algn="l">
              <a:lnSpc>
                <a:spcPts val="1650"/>
              </a:lnSpc>
              <a:spcBef>
                <a:spcPts val="450"/>
              </a:spcBef>
              <a:spcAft>
                <a:spcPts val="1200"/>
              </a:spcAft>
              <a:buFont typeface="+mj-lt"/>
              <a:buAutoNum type="arabicPeriod"/>
            </a:pPr>
            <a:r>
              <a:rPr lang="en-US" b="1" i="0" dirty="0">
                <a:solidFill>
                  <a:srgbClr val="0F1115"/>
                </a:solidFill>
                <a:effectLst/>
                <a:latin typeface="quote-cjk-patch"/>
              </a:rPr>
              <a:t>Create a Light/Dark Mode Toggle:</a:t>
            </a:r>
            <a:r>
              <a:rPr lang="en-US" b="0" i="0" dirty="0">
                <a:solidFill>
                  <a:srgbClr val="0F1115"/>
                </a:solidFill>
                <a:effectLst/>
                <a:latin typeface="quote-cjk-patch"/>
              </a:rPr>
              <a:t> Use </a:t>
            </a:r>
            <a:r>
              <a:rPr lang="en-US" b="0" i="0" dirty="0" err="1">
                <a:solidFill>
                  <a:srgbClr val="0F1115"/>
                </a:solidFill>
                <a:effectLst/>
                <a:latin typeface="Menlo"/>
              </a:rPr>
              <a:t>classList.toggle</a:t>
            </a:r>
            <a:r>
              <a:rPr lang="en-US" b="0" i="0" dirty="0">
                <a:solidFill>
                  <a:srgbClr val="0F1115"/>
                </a:solidFill>
                <a:effectLst/>
                <a:latin typeface="Menlo"/>
              </a:rPr>
              <a:t>()</a:t>
            </a:r>
            <a:r>
              <a:rPr lang="en-US" b="0" i="0" dirty="0">
                <a:solidFill>
                  <a:srgbClr val="0F1115"/>
                </a:solidFill>
                <a:effectLst/>
                <a:latin typeface="quote-cjk-patch"/>
              </a:rPr>
              <a:t> on the </a:t>
            </a:r>
            <a:r>
              <a:rPr lang="en-US" b="0" i="0" dirty="0">
                <a:solidFill>
                  <a:srgbClr val="0F1115"/>
                </a:solidFill>
                <a:effectLst/>
                <a:latin typeface="Menlo"/>
              </a:rPr>
              <a:t>body</a:t>
            </a:r>
            <a:r>
              <a:rPr lang="en-US" b="0" i="0" dirty="0">
                <a:solidFill>
                  <a:srgbClr val="0F1115"/>
                </a:solidFill>
                <a:effectLst/>
                <a:latin typeface="quote-cjk-patch"/>
              </a:rPr>
              <a:t> element when a button is clicked.</a:t>
            </a:r>
          </a:p>
          <a:p>
            <a:pPr marL="742950" lvl="1" indent="-285750" algn="l">
              <a:lnSpc>
                <a:spcPts val="1650"/>
              </a:lnSpc>
              <a:spcBef>
                <a:spcPts val="450"/>
              </a:spcBef>
              <a:spcAft>
                <a:spcPts val="1200"/>
              </a:spcAft>
              <a:buFont typeface="+mj-lt"/>
              <a:buAutoNum type="arabicPeriod"/>
            </a:pPr>
            <a:r>
              <a:rPr lang="en-US" b="1" i="0" dirty="0">
                <a:solidFill>
                  <a:srgbClr val="0F1115"/>
                </a:solidFill>
                <a:effectLst/>
                <a:latin typeface="quote-cjk-patch"/>
              </a:rPr>
              <a:t>Make a Simple Calculator:</a:t>
            </a:r>
            <a:r>
              <a:rPr lang="en-US" b="0" i="0" dirty="0">
                <a:solidFill>
                  <a:srgbClr val="0F1115"/>
                </a:solidFill>
                <a:effectLst/>
                <a:latin typeface="quote-cjk-patch"/>
              </a:rPr>
              <a:t> You'll need to get the </a:t>
            </a:r>
            <a:r>
              <a:rPr lang="en-US" b="0" i="0" dirty="0">
                <a:solidFill>
                  <a:srgbClr val="0F1115"/>
                </a:solidFill>
                <a:effectLst/>
                <a:latin typeface="Menlo"/>
              </a:rPr>
              <a:t>.value</a:t>
            </a:r>
            <a:r>
              <a:rPr lang="en-US" b="0" i="0" dirty="0">
                <a:solidFill>
                  <a:srgbClr val="0F1115"/>
                </a:solidFill>
                <a:effectLst/>
                <a:latin typeface="quote-cjk-patch"/>
              </a:rPr>
              <a:t> from input fields, do some math, and then change the </a:t>
            </a:r>
            <a:r>
              <a:rPr lang="en-US" b="0" i="0" dirty="0">
                <a:solidFill>
                  <a:srgbClr val="0F1115"/>
                </a:solidFill>
                <a:effectLst/>
                <a:latin typeface="Menlo"/>
              </a:rPr>
              <a:t>.</a:t>
            </a:r>
            <a:r>
              <a:rPr lang="en-US" b="0" i="0" dirty="0" err="1">
                <a:solidFill>
                  <a:srgbClr val="0F1115"/>
                </a:solidFill>
                <a:effectLst/>
                <a:latin typeface="Menlo"/>
              </a:rPr>
              <a:t>textContent</a:t>
            </a:r>
            <a:r>
              <a:rPr lang="en-US" b="0" i="0" dirty="0">
                <a:solidFill>
                  <a:srgbClr val="0F1115"/>
                </a:solidFill>
                <a:effectLst/>
                <a:latin typeface="quote-cjk-patch"/>
              </a:rPr>
              <a:t> of a results </a:t>
            </a:r>
            <a:r>
              <a:rPr lang="en-US" b="0" i="0" dirty="0">
                <a:solidFill>
                  <a:srgbClr val="0F1115"/>
                </a:solidFill>
                <a:effectLst/>
                <a:latin typeface="Menlo"/>
              </a:rPr>
              <a:t>&lt;div&gt;</a:t>
            </a:r>
            <a:r>
              <a:rPr lang="en-US" b="0" i="0" dirty="0">
                <a:solidFill>
                  <a:srgbClr val="0F1115"/>
                </a:solidFill>
                <a:effectLst/>
                <a:latin typeface="quote-cjk-patch"/>
              </a:rPr>
              <a:t>.</a:t>
            </a:r>
          </a:p>
          <a:p>
            <a:pPr algn="l">
              <a:spcBef>
                <a:spcPts val="1200"/>
              </a:spcBef>
              <a:buNone/>
            </a:pPr>
            <a:r>
              <a:rPr lang="en-US" b="0" i="0" dirty="0">
                <a:solidFill>
                  <a:srgbClr val="0F1115"/>
                </a:solidFill>
                <a:effectLst/>
                <a:latin typeface="quote-cjk-patch"/>
              </a:rPr>
              <a:t>The DOM is not just an API. It's a living, breathing city, and you are its master architect. You have the tools to find anything, the power to change anything, and the wisdom to listen to its inhabitants. Now go forth and build.</a:t>
            </a:r>
          </a:p>
        </p:txBody>
      </p:sp>
    </p:spTree>
    <p:extLst>
      <p:ext uri="{BB962C8B-B14F-4D97-AF65-F5344CB8AC3E}">
        <p14:creationId xmlns:p14="http://schemas.microsoft.com/office/powerpoint/2010/main" val="3982434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Tree>
    <p:extLst>
      <p:ext uri="{BB962C8B-B14F-4D97-AF65-F5344CB8AC3E}">
        <p14:creationId xmlns:p14="http://schemas.microsoft.com/office/powerpoint/2010/main" val="3211495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Tree>
    <p:extLst>
      <p:ext uri="{BB962C8B-B14F-4D97-AF65-F5344CB8AC3E}">
        <p14:creationId xmlns:p14="http://schemas.microsoft.com/office/powerpoint/2010/main" val="3296601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Tree>
    <p:extLst>
      <p:ext uri="{BB962C8B-B14F-4D97-AF65-F5344CB8AC3E}">
        <p14:creationId xmlns:p14="http://schemas.microsoft.com/office/powerpoint/2010/main" val="189434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Tree>
    <p:extLst>
      <p:ext uri="{BB962C8B-B14F-4D97-AF65-F5344CB8AC3E}">
        <p14:creationId xmlns:p14="http://schemas.microsoft.com/office/powerpoint/2010/main" val="4164324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Tree>
    <p:extLst>
      <p:ext uri="{BB962C8B-B14F-4D97-AF65-F5344CB8AC3E}">
        <p14:creationId xmlns:p14="http://schemas.microsoft.com/office/powerpoint/2010/main" val="1980907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Tree>
    <p:extLst>
      <p:ext uri="{BB962C8B-B14F-4D97-AF65-F5344CB8AC3E}">
        <p14:creationId xmlns:p14="http://schemas.microsoft.com/office/powerpoint/2010/main" val="1029820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Tree>
    <p:extLst>
      <p:ext uri="{BB962C8B-B14F-4D97-AF65-F5344CB8AC3E}">
        <p14:creationId xmlns:p14="http://schemas.microsoft.com/office/powerpoint/2010/main" val="53744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Tree>
    <p:extLst>
      <p:ext uri="{BB962C8B-B14F-4D97-AF65-F5344CB8AC3E}">
        <p14:creationId xmlns:p14="http://schemas.microsoft.com/office/powerpoint/2010/main" val="4268402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Tree>
    <p:extLst>
      <p:ext uri="{BB962C8B-B14F-4D97-AF65-F5344CB8AC3E}">
        <p14:creationId xmlns:p14="http://schemas.microsoft.com/office/powerpoint/2010/main" val="4077645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Tree>
    <p:extLst>
      <p:ext uri="{BB962C8B-B14F-4D97-AF65-F5344CB8AC3E}">
        <p14:creationId xmlns:p14="http://schemas.microsoft.com/office/powerpoint/2010/main" val="3528220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Tree>
    <p:extLst>
      <p:ext uri="{BB962C8B-B14F-4D97-AF65-F5344CB8AC3E}">
        <p14:creationId xmlns:p14="http://schemas.microsoft.com/office/powerpoint/2010/main" val="1250078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Tree>
    <p:extLst>
      <p:ext uri="{BB962C8B-B14F-4D97-AF65-F5344CB8AC3E}">
        <p14:creationId xmlns:p14="http://schemas.microsoft.com/office/powerpoint/2010/main" val="763064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Tree>
    <p:extLst>
      <p:ext uri="{BB962C8B-B14F-4D97-AF65-F5344CB8AC3E}">
        <p14:creationId xmlns:p14="http://schemas.microsoft.com/office/powerpoint/2010/main" val="21651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Tree>
    <p:extLst>
      <p:ext uri="{BB962C8B-B14F-4D97-AF65-F5344CB8AC3E}">
        <p14:creationId xmlns:p14="http://schemas.microsoft.com/office/powerpoint/2010/main" val="2623613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Tree>
    <p:extLst>
      <p:ext uri="{BB962C8B-B14F-4D97-AF65-F5344CB8AC3E}">
        <p14:creationId xmlns:p14="http://schemas.microsoft.com/office/powerpoint/2010/main" val="1008188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Tree>
    <p:extLst>
      <p:ext uri="{BB962C8B-B14F-4D97-AF65-F5344CB8AC3E}">
        <p14:creationId xmlns:p14="http://schemas.microsoft.com/office/powerpoint/2010/main" val="2335781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Tree>
    <p:extLst>
      <p:ext uri="{BB962C8B-B14F-4D97-AF65-F5344CB8AC3E}">
        <p14:creationId xmlns:p14="http://schemas.microsoft.com/office/powerpoint/2010/main" val="2726483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Tree>
    <p:extLst>
      <p:ext uri="{BB962C8B-B14F-4D97-AF65-F5344CB8AC3E}">
        <p14:creationId xmlns:p14="http://schemas.microsoft.com/office/powerpoint/2010/main" val="2551614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Tree>
    <p:extLst>
      <p:ext uri="{BB962C8B-B14F-4D97-AF65-F5344CB8AC3E}">
        <p14:creationId xmlns:p14="http://schemas.microsoft.com/office/powerpoint/2010/main" val="1750804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Tree>
    <p:extLst>
      <p:ext uri="{BB962C8B-B14F-4D97-AF65-F5344CB8AC3E}">
        <p14:creationId xmlns:p14="http://schemas.microsoft.com/office/powerpoint/2010/main" val="41301174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Tree>
    <p:extLst>
      <p:ext uri="{BB962C8B-B14F-4D97-AF65-F5344CB8AC3E}">
        <p14:creationId xmlns:p14="http://schemas.microsoft.com/office/powerpoint/2010/main" val="15231954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Tree>
    <p:extLst>
      <p:ext uri="{BB962C8B-B14F-4D97-AF65-F5344CB8AC3E}">
        <p14:creationId xmlns:p14="http://schemas.microsoft.com/office/powerpoint/2010/main" val="3958588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Tree>
    <p:extLst>
      <p:ext uri="{BB962C8B-B14F-4D97-AF65-F5344CB8AC3E}">
        <p14:creationId xmlns:p14="http://schemas.microsoft.com/office/powerpoint/2010/main" val="3133931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Tree>
    <p:extLst>
      <p:ext uri="{BB962C8B-B14F-4D97-AF65-F5344CB8AC3E}">
        <p14:creationId xmlns:p14="http://schemas.microsoft.com/office/powerpoint/2010/main" val="2848079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Tree>
    <p:extLst>
      <p:ext uri="{BB962C8B-B14F-4D97-AF65-F5344CB8AC3E}">
        <p14:creationId xmlns:p14="http://schemas.microsoft.com/office/powerpoint/2010/main" val="2366702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Tree>
    <p:extLst>
      <p:ext uri="{BB962C8B-B14F-4D97-AF65-F5344CB8AC3E}">
        <p14:creationId xmlns:p14="http://schemas.microsoft.com/office/powerpoint/2010/main" val="2440559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Tree>
    <p:extLst>
      <p:ext uri="{BB962C8B-B14F-4D97-AF65-F5344CB8AC3E}">
        <p14:creationId xmlns:p14="http://schemas.microsoft.com/office/powerpoint/2010/main" val="4701438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Tree>
    <p:extLst>
      <p:ext uri="{BB962C8B-B14F-4D97-AF65-F5344CB8AC3E}">
        <p14:creationId xmlns:p14="http://schemas.microsoft.com/office/powerpoint/2010/main" val="4103662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Tree>
    <p:extLst>
      <p:ext uri="{BB962C8B-B14F-4D97-AF65-F5344CB8AC3E}">
        <p14:creationId xmlns:p14="http://schemas.microsoft.com/office/powerpoint/2010/main" val="2393153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Tree>
    <p:extLst>
      <p:ext uri="{BB962C8B-B14F-4D97-AF65-F5344CB8AC3E}">
        <p14:creationId xmlns:p14="http://schemas.microsoft.com/office/powerpoint/2010/main" val="20796822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Tree>
    <p:extLst>
      <p:ext uri="{BB962C8B-B14F-4D97-AF65-F5344CB8AC3E}">
        <p14:creationId xmlns:p14="http://schemas.microsoft.com/office/powerpoint/2010/main" val="129193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Tree>
    <p:extLst>
      <p:ext uri="{BB962C8B-B14F-4D97-AF65-F5344CB8AC3E}">
        <p14:creationId xmlns:p14="http://schemas.microsoft.com/office/powerpoint/2010/main" val="8707807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Tree>
    <p:extLst>
      <p:ext uri="{BB962C8B-B14F-4D97-AF65-F5344CB8AC3E}">
        <p14:creationId xmlns:p14="http://schemas.microsoft.com/office/powerpoint/2010/main" val="39548803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Tree>
    <p:extLst>
      <p:ext uri="{BB962C8B-B14F-4D97-AF65-F5344CB8AC3E}">
        <p14:creationId xmlns:p14="http://schemas.microsoft.com/office/powerpoint/2010/main" val="14352370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Tree>
    <p:extLst>
      <p:ext uri="{BB962C8B-B14F-4D97-AF65-F5344CB8AC3E}">
        <p14:creationId xmlns:p14="http://schemas.microsoft.com/office/powerpoint/2010/main" val="243527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Tree>
    <p:extLst>
      <p:ext uri="{BB962C8B-B14F-4D97-AF65-F5344CB8AC3E}">
        <p14:creationId xmlns:p14="http://schemas.microsoft.com/office/powerpoint/2010/main" val="26230847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Tree>
    <p:extLst>
      <p:ext uri="{BB962C8B-B14F-4D97-AF65-F5344CB8AC3E}">
        <p14:creationId xmlns:p14="http://schemas.microsoft.com/office/powerpoint/2010/main" val="281360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Tree>
    <p:extLst>
      <p:ext uri="{BB962C8B-B14F-4D97-AF65-F5344CB8AC3E}">
        <p14:creationId xmlns:p14="http://schemas.microsoft.com/office/powerpoint/2010/main" val="32548526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Tree>
    <p:extLst>
      <p:ext uri="{BB962C8B-B14F-4D97-AF65-F5344CB8AC3E}">
        <p14:creationId xmlns:p14="http://schemas.microsoft.com/office/powerpoint/2010/main" val="7415128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Tree>
    <p:extLst>
      <p:ext uri="{BB962C8B-B14F-4D97-AF65-F5344CB8AC3E}">
        <p14:creationId xmlns:p14="http://schemas.microsoft.com/office/powerpoint/2010/main" val="26190612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Tree>
    <p:extLst>
      <p:ext uri="{BB962C8B-B14F-4D97-AF65-F5344CB8AC3E}">
        <p14:creationId xmlns:p14="http://schemas.microsoft.com/office/powerpoint/2010/main" val="22578588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Tree>
    <p:extLst>
      <p:ext uri="{BB962C8B-B14F-4D97-AF65-F5344CB8AC3E}">
        <p14:creationId xmlns:p14="http://schemas.microsoft.com/office/powerpoint/2010/main" val="15510496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Tree>
    <p:extLst>
      <p:ext uri="{BB962C8B-B14F-4D97-AF65-F5344CB8AC3E}">
        <p14:creationId xmlns:p14="http://schemas.microsoft.com/office/powerpoint/2010/main" val="30713279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Tree>
    <p:extLst>
      <p:ext uri="{BB962C8B-B14F-4D97-AF65-F5344CB8AC3E}">
        <p14:creationId xmlns:p14="http://schemas.microsoft.com/office/powerpoint/2010/main" val="1570452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Tree>
    <p:extLst>
      <p:ext uri="{BB962C8B-B14F-4D97-AF65-F5344CB8AC3E}">
        <p14:creationId xmlns:p14="http://schemas.microsoft.com/office/powerpoint/2010/main" val="10884244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Tree>
    <p:extLst>
      <p:ext uri="{BB962C8B-B14F-4D97-AF65-F5344CB8AC3E}">
        <p14:creationId xmlns:p14="http://schemas.microsoft.com/office/powerpoint/2010/main" val="39775751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Tree>
    <p:extLst>
      <p:ext uri="{BB962C8B-B14F-4D97-AF65-F5344CB8AC3E}">
        <p14:creationId xmlns:p14="http://schemas.microsoft.com/office/powerpoint/2010/main" val="18625177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Tree>
    <p:extLst>
      <p:ext uri="{BB962C8B-B14F-4D97-AF65-F5344CB8AC3E}">
        <p14:creationId xmlns:p14="http://schemas.microsoft.com/office/powerpoint/2010/main" val="20199127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Tree>
    <p:extLst>
      <p:ext uri="{BB962C8B-B14F-4D97-AF65-F5344CB8AC3E}">
        <p14:creationId xmlns:p14="http://schemas.microsoft.com/office/powerpoint/2010/main" val="16776248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Tree>
    <p:extLst>
      <p:ext uri="{BB962C8B-B14F-4D97-AF65-F5344CB8AC3E}">
        <p14:creationId xmlns:p14="http://schemas.microsoft.com/office/powerpoint/2010/main" val="29966819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Tree>
    <p:extLst>
      <p:ext uri="{BB962C8B-B14F-4D97-AF65-F5344CB8AC3E}">
        <p14:creationId xmlns:p14="http://schemas.microsoft.com/office/powerpoint/2010/main" val="29060760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Tree>
    <p:extLst>
      <p:ext uri="{BB962C8B-B14F-4D97-AF65-F5344CB8AC3E}">
        <p14:creationId xmlns:p14="http://schemas.microsoft.com/office/powerpoint/2010/main" val="40264529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Tree>
    <p:extLst>
      <p:ext uri="{BB962C8B-B14F-4D97-AF65-F5344CB8AC3E}">
        <p14:creationId xmlns:p14="http://schemas.microsoft.com/office/powerpoint/2010/main" val="23174730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440</TotalTime>
  <Words>2280</Words>
  <Application>Microsoft Office PowerPoint</Application>
  <PresentationFormat>A4 Paper (210x297 mm)</PresentationFormat>
  <Paragraphs>130</Paragraphs>
  <Slides>105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105</vt:i4>
      </vt:variant>
    </vt:vector>
  </HeadingPairs>
  <TitlesOfParts>
    <vt:vector size="111" baseType="lpstr">
      <vt:lpstr>Aptos</vt:lpstr>
      <vt:lpstr>Aptos Display</vt:lpstr>
      <vt:lpstr>Arial</vt:lpstr>
      <vt:lpstr>Menlo</vt:lpstr>
      <vt:lpstr>quote-cjk-patch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51</cp:revision>
  <dcterms:created xsi:type="dcterms:W3CDTF">2026-02-06T21:19:28Z</dcterms:created>
  <dcterms:modified xsi:type="dcterms:W3CDTF">2026-02-28T20:20:12Z</dcterms:modified>
</cp:coreProperties>
</file>