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285" autoAdjust="0"/>
    <p:restoredTop sz="94660"/>
  </p:normalViewPr>
  <p:slideViewPr>
    <p:cSldViewPr snapToGrid="0">
      <p:cViewPr varScale="1">
        <p:scale>
          <a:sx n="56" d="100"/>
          <a:sy n="56" d="100"/>
        </p:scale>
        <p:origin x="58" y="3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07" Type="http://schemas.openxmlformats.org/officeDocument/2006/relationships/viewProps" Target="viewProps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theme" Target="theme/theme1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tableStyles" Target="tableStyles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FB5FC-1629-4A0D-9573-785FAC7ED015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C504-7F0E-4585-832D-B71C6D9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057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FB5FC-1629-4A0D-9573-785FAC7ED015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C504-7F0E-4585-832D-B71C6D9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4479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FB5FC-1629-4A0D-9573-785FAC7ED015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C504-7F0E-4585-832D-B71C6D9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8332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FB5FC-1629-4A0D-9573-785FAC7ED015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C504-7F0E-4585-832D-B71C6D9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600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FB5FC-1629-4A0D-9573-785FAC7ED015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C504-7F0E-4585-832D-B71C6D9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3811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FB5FC-1629-4A0D-9573-785FAC7ED015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C504-7F0E-4585-832D-B71C6D9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0241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FB5FC-1629-4A0D-9573-785FAC7ED015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C504-7F0E-4585-832D-B71C6D9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2246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FB5FC-1629-4A0D-9573-785FAC7ED015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C504-7F0E-4585-832D-B71C6D9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1197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FB5FC-1629-4A0D-9573-785FAC7ED015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C504-7F0E-4585-832D-B71C6D9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6138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FB5FC-1629-4A0D-9573-785FAC7ED015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C504-7F0E-4585-832D-B71C6D9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614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FB5FC-1629-4A0D-9573-785FAC7ED015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C504-7F0E-4585-832D-B71C6D9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6502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1FB5FC-1629-4A0D-9573-785FAC7ED015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83C504-7F0E-4585-832D-B71C6D9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406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ww.freecodecamp.org/news/var-let-and-const-whats-the-difference/" TargetMode="Externa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dev.to/dharamgfx/the-hidden-dangers-of-using-var-in-javascript-why-its-time-to-move-on-2jgm" TargetMode="External"/><Relationship Id="rId4" Type="http://schemas.openxmlformats.org/officeDocument/2006/relationships/hyperlink" Target="https://developer.mozilla.org/en-US/docs/Web/JavaScript/Reference/Statements/const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dev.to/edriso/demystifying-const-in-for-loops-traditional-vs-forof-3aif" TargetMode="Externa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javascript.plainenglish.io/hoisting-in-javascript-an-important-interview-question-ae5879d8f3fa" TargetMode="External"/><Relationship Id="rId3" Type="http://schemas.openxmlformats.org/officeDocument/2006/relationships/hyperlink" Target="https://teamtreehouse.com/community/let-vs-const" TargetMode="External"/><Relationship Id="rId7" Type="http://schemas.openxmlformats.org/officeDocument/2006/relationships/hyperlink" Target="https://javascript.plainenglish.io/var-vs-let-vs-const-use-cases-that-matter-2d4c681a76f6" TargetMode="External"/><Relationship Id="rId2" Type="http://schemas.openxmlformats.org/officeDocument/2006/relationships/hyperlink" Target="https://forum.freecodecamp.org/t/when-to-use-let-when-to-use-const/202497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dev.to/dharamgfx/the-hidden-dangers-of-using-var-in-javascript-why-its-time-to-move-on-2jgm" TargetMode="External"/><Relationship Id="rId5" Type="http://schemas.openxmlformats.org/officeDocument/2006/relationships/hyperlink" Target="https://alexandermgabriel.medium.com/the-difference-between-var-let-and-const-in-javascript-30db9aa7b6df" TargetMode="External"/><Relationship Id="rId4" Type="http://schemas.openxmlformats.org/officeDocument/2006/relationships/hyperlink" Target="https://developer.mozilla.org/en-US/docs/Web/JavaScript/Reference/Statements/const" TargetMode="External"/><Relationship Id="rId9" Type="http://schemas.openxmlformats.org/officeDocument/2006/relationships/hyperlink" Target="https://medium.com/@primekings.kc/understanding-let-const-and-var-in-javascript-practical-and-useful-examples-for-daily-94c5f427f421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freecodecamp.org/news/var-let-and-const-whats-the-difference/" TargetMode="Externa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A03E33F-16AB-1BCE-4743-4874108BB133}"/>
              </a:ext>
            </a:extLst>
          </p:cNvPr>
          <p:cNvSpPr txBox="1"/>
          <p:nvPr/>
        </p:nvSpPr>
        <p:spPr>
          <a:xfrm>
            <a:off x="252483" y="143639"/>
            <a:ext cx="913717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In modern JavaScript, the choice between </a:t>
            </a: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var</a:t>
            </a:r>
            <a:r>
              <a:rPr lang="en-US" b="0" i="0" dirty="0">
                <a:solidFill>
                  <a:srgbClr val="0A0A0A"/>
                </a:solidFill>
                <a:effectLst/>
                <a:latin typeface="Google Sans"/>
              </a:rPr>
              <a:t>, </a:t>
            </a: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let</a:t>
            </a:r>
            <a:r>
              <a:rPr lang="en-US" b="0" i="0" dirty="0">
                <a:solidFill>
                  <a:srgbClr val="0A0A0A"/>
                </a:solidFill>
                <a:effectLst/>
                <a:latin typeface="Google Sans"/>
              </a:rPr>
              <a:t>, and </a:t>
            </a: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const</a:t>
            </a:r>
            <a:r>
              <a:rPr lang="en-US" b="0" i="0" dirty="0">
                <a:solidFill>
                  <a:srgbClr val="0A0A0A"/>
                </a:solidFill>
                <a:effectLst/>
                <a:latin typeface="Google Sans"/>
              </a:rPr>
              <a:t> depends on how you want to handle </a:t>
            </a:r>
            <a:r>
              <a:rPr lang="en-US" b="0" i="0" u="sng" dirty="0">
                <a:solidFill>
                  <a:srgbClr val="1A0DAB"/>
                </a:solidFill>
                <a:effectLst/>
                <a:latin typeface="Google Sans"/>
                <a:hlinkClick r:id="rId2"/>
              </a:rPr>
              <a:t>scoping, reassignment, and hoisting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AD99CF5-E38D-E65B-4C54-7617ADFFA6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018" y="789970"/>
            <a:ext cx="5509737" cy="2278577"/>
          </a:xfrm>
          <a:prstGeom prst="rect">
            <a:avLst/>
          </a:prstGeom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8DCB8DDC-66AB-E1B8-FEE2-4938595196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4412" y="3267263"/>
            <a:ext cx="9137176" cy="3447098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Key Differences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const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(Constant)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rgbClr val="0A0A0A"/>
              </a:solidFill>
              <a:effectLst/>
              <a:latin typeface="Google San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Default choice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for modern development.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It creates an 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immutable binding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, meaning you cannot reassign the variable to a new value once set.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Note: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While you can't reassign the variable itself, you 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can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still 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1A0DAB"/>
                </a:solidFill>
                <a:effectLst/>
                <a:latin typeface="Google Sans"/>
                <a:hlinkClick r:id="rId4"/>
              </a:rPr>
              <a:t>mutate the properties of an object or array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declared with 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const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let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rgbClr val="0A0A0A"/>
              </a:solidFill>
              <a:effectLst/>
              <a:latin typeface="Google San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Used for variables that 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need to change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later (e.g., counters in a loop).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It is 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block-scoped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, meaning it only exists within the curly braces 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{}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where it was defined (like inside an 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if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statement or a 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for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loop).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var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rgbClr val="0A0A0A"/>
              </a:solidFill>
              <a:effectLst/>
              <a:latin typeface="Google San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The original keyword, now mostly 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1A0DAB"/>
                </a:solidFill>
                <a:effectLst/>
                <a:latin typeface="Google Sans"/>
                <a:hlinkClick r:id="rId5"/>
              </a:rPr>
              <a:t>considered obsolete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It is 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function-scoped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, which can lead to bugs because it "leaks" out of blocks like 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if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or 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for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It is 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hoisted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and initialized as 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undefined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, allowing it to be accessed before the actual line of code where it is declared (though this is usually poor practice).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Summary Recommendation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Use </a:t>
            </a: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const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by default.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Use </a:t>
            </a: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let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only if you know the value will be reassigned.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Avoid </a:t>
            </a: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var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in modern production code to prevent scoping issues.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67814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D047F0-2EEC-3B96-C431-447C7F2D0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952A042-E5D8-9367-7E64-F3255BEC96B6}"/>
              </a:ext>
            </a:extLst>
          </p:cNvPr>
          <p:cNvSpPr txBox="1"/>
          <p:nvPr/>
        </p:nvSpPr>
        <p:spPr>
          <a:xfrm>
            <a:off x="143300" y="114321"/>
            <a:ext cx="947837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To see how these keywords really differ, look at how they handle </a:t>
            </a:r>
            <a:r>
              <a:rPr lang="en-US" b="1" i="0" dirty="0">
                <a:solidFill>
                  <a:srgbClr val="0A0A0A"/>
                </a:solidFill>
                <a:effectLst/>
                <a:latin typeface="Google Sans"/>
              </a:rPr>
              <a:t>asynchronous code</a:t>
            </a:r>
            <a:r>
              <a:rPr lang="en-US" b="0" i="0" dirty="0">
                <a:solidFill>
                  <a:srgbClr val="0A0A0A"/>
                </a:solidFill>
                <a:effectLst/>
                <a:latin typeface="Google Sans"/>
              </a:rPr>
              <a:t> (like </a:t>
            </a:r>
            <a:r>
              <a:rPr lang="en-US" b="0" i="0" dirty="0" err="1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setTimeout</a:t>
            </a:r>
            <a:r>
              <a:rPr lang="en-US" b="0" i="0" dirty="0">
                <a:solidFill>
                  <a:srgbClr val="0A0A0A"/>
                </a:solidFill>
                <a:effectLst/>
                <a:latin typeface="Google Sans"/>
              </a:rPr>
              <a:t>) inside a loop. This is a classic interview question and a common source of bugs.</a:t>
            </a: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BE249C7-4DBE-3886-5DC4-CB77F584D4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299" y="1012953"/>
            <a:ext cx="9273655" cy="4832092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1. The </a:t>
            </a:r>
            <a:r>
              <a:rPr kumimoji="0" lang="en-US" altLang="en-US" sz="1400" b="1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var</a:t>
            </a:r>
            <a:r>
              <a:rPr kumimoji="0" lang="en-US" altLang="en-US" sz="1400" b="1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Trap (Shared Scope)</a:t>
            </a:r>
            <a:endParaRPr kumimoji="0" lang="en-US" altLang="en-US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Because 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var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is function-scoped, the loop shares a </a:t>
            </a:r>
            <a:r>
              <a:rPr kumimoji="0" lang="en-US" altLang="en-US" sz="1400" b="1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single variable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i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across every iteration. By the time the 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setTimeout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actually runs (after 100ms), the loop has already finished, and the shared 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i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is now 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3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. </a:t>
            </a:r>
            <a:endParaRPr kumimoji="0" lang="en-US" altLang="en-US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javascript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9334E6"/>
                </a:solidFill>
                <a:effectLst/>
                <a:latin typeface="Arial Unicode MS"/>
              </a:rPr>
              <a:t>for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 (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9334E6"/>
                </a:solidFill>
                <a:effectLst/>
                <a:latin typeface="Arial Unicode MS"/>
              </a:rPr>
              <a:t>var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 i = 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B45908"/>
                </a:solidFill>
                <a:effectLst/>
                <a:latin typeface="Arial Unicode MS"/>
              </a:rPr>
              <a:t>0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; i &lt; 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B45908"/>
                </a:solidFill>
                <a:effectLst/>
                <a:latin typeface="Arial Unicode MS"/>
              </a:rPr>
              <a:t>3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; i++) { setTimeout(() =&gt; { console.log(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188038"/>
                </a:solidFill>
                <a:effectLst/>
                <a:latin typeface="Arial Unicode MS"/>
              </a:rPr>
              <a:t>"var:"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, i); }, 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B45908"/>
                </a:solidFill>
                <a:effectLst/>
                <a:latin typeface="Arial Unicode MS"/>
              </a:rPr>
              <a:t>100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); } </a:t>
            </a:r>
            <a:r>
              <a:rPr kumimoji="0" lang="en-US" altLang="en-US" sz="1400" b="0" i="1" u="none" strike="noStrike" cap="none" normalizeH="0" baseline="0">
                <a:ln>
                  <a:noFill/>
                </a:ln>
                <a:solidFill>
                  <a:srgbClr val="80868B"/>
                </a:solidFill>
                <a:effectLst/>
                <a:latin typeface="Arial Unicode MS"/>
              </a:rPr>
              <a:t>// Output after 100ms: // var: 3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 </a:t>
            </a:r>
            <a:r>
              <a:rPr kumimoji="0" lang="en-US" altLang="en-US" sz="1400" b="0" i="1" u="none" strike="noStrike" cap="none" normalizeH="0" baseline="0">
                <a:ln>
                  <a:noFill/>
                </a:ln>
                <a:solidFill>
                  <a:srgbClr val="80868B"/>
                </a:solidFill>
                <a:effectLst/>
                <a:latin typeface="Arial Unicode MS"/>
              </a:rPr>
              <a:t>// var: 3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 </a:t>
            </a:r>
            <a:r>
              <a:rPr kumimoji="0" lang="en-US" altLang="en-US" sz="1400" b="0" i="1" u="none" strike="noStrike" cap="none" normalizeH="0" baseline="0">
                <a:ln>
                  <a:noFill/>
                </a:ln>
                <a:solidFill>
                  <a:srgbClr val="80868B"/>
                </a:solidFill>
                <a:effectLst/>
                <a:latin typeface="Arial Unicode MS"/>
              </a:rPr>
              <a:t>// var: 3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 </a:t>
            </a:r>
            <a:endParaRPr kumimoji="0" lang="en-US" altLang="en-US" sz="1400" b="0" i="0" u="none" strike="noStrike" cap="none" normalizeH="0" baseline="0">
              <a:ln>
                <a:noFill/>
              </a:ln>
              <a:solidFill>
                <a:srgbClr val="0A0A0A"/>
              </a:solidFill>
              <a:effectLst/>
              <a:latin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Use code with caution.</a:t>
            </a:r>
            <a:endParaRPr kumimoji="0" lang="en-US" altLang="en-US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2. The </a:t>
            </a:r>
            <a:r>
              <a:rPr kumimoji="0" lang="en-US" altLang="en-US" sz="1400" b="1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let</a:t>
            </a:r>
            <a:r>
              <a:rPr kumimoji="0" lang="en-US" altLang="en-US" sz="1400" b="1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Solution (New Scope per Iteration)</a:t>
            </a:r>
            <a:endParaRPr kumimoji="0" lang="en-US" altLang="en-US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When you use 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let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, JavaScript creates a </a:t>
            </a:r>
            <a:r>
              <a:rPr kumimoji="0" lang="en-US" altLang="en-US" sz="1400" b="1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new, fresh variable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i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for every single loop iteration. Each 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setTimeout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"remembers" the specific value of 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i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from its own iteration. </a:t>
            </a:r>
            <a:endParaRPr kumimoji="0" lang="en-US" altLang="en-US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javascript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9334E6"/>
                </a:solidFill>
                <a:effectLst/>
                <a:latin typeface="Arial Unicode MS"/>
              </a:rPr>
              <a:t>for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 (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9334E6"/>
                </a:solidFill>
                <a:effectLst/>
                <a:latin typeface="Arial Unicode MS"/>
              </a:rPr>
              <a:t>let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 i = 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B45908"/>
                </a:solidFill>
                <a:effectLst/>
                <a:latin typeface="Arial Unicode MS"/>
              </a:rPr>
              <a:t>0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; i &lt; 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B45908"/>
                </a:solidFill>
                <a:effectLst/>
                <a:latin typeface="Arial Unicode MS"/>
              </a:rPr>
              <a:t>3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; i++) { setTimeout(() =&gt; { console.log(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188038"/>
                </a:solidFill>
                <a:effectLst/>
                <a:latin typeface="Arial Unicode MS"/>
              </a:rPr>
              <a:t>"let:"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, i); }, 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B45908"/>
                </a:solidFill>
                <a:effectLst/>
                <a:latin typeface="Arial Unicode MS"/>
              </a:rPr>
              <a:t>100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); } </a:t>
            </a:r>
            <a:r>
              <a:rPr kumimoji="0" lang="en-US" altLang="en-US" sz="1400" b="0" i="1" u="none" strike="noStrike" cap="none" normalizeH="0" baseline="0">
                <a:ln>
                  <a:noFill/>
                </a:ln>
                <a:solidFill>
                  <a:srgbClr val="80868B"/>
                </a:solidFill>
                <a:effectLst/>
                <a:latin typeface="Arial Unicode MS"/>
              </a:rPr>
              <a:t>// Output after 100ms: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 </a:t>
            </a:r>
            <a:r>
              <a:rPr kumimoji="0" lang="en-US" altLang="en-US" sz="1400" b="0" i="1" u="none" strike="noStrike" cap="none" normalizeH="0" baseline="0">
                <a:ln>
                  <a:noFill/>
                </a:ln>
                <a:solidFill>
                  <a:srgbClr val="80868B"/>
                </a:solidFill>
                <a:effectLst/>
                <a:latin typeface="Arial Unicode MS"/>
              </a:rPr>
              <a:t>// let: 0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 </a:t>
            </a:r>
            <a:r>
              <a:rPr kumimoji="0" lang="en-US" altLang="en-US" sz="1400" b="0" i="1" u="none" strike="noStrike" cap="none" normalizeH="0" baseline="0">
                <a:ln>
                  <a:noFill/>
                </a:ln>
                <a:solidFill>
                  <a:srgbClr val="80868B"/>
                </a:solidFill>
                <a:effectLst/>
                <a:latin typeface="Arial Unicode MS"/>
              </a:rPr>
              <a:t>// let: 1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 </a:t>
            </a:r>
            <a:r>
              <a:rPr kumimoji="0" lang="en-US" altLang="en-US" sz="1400" b="0" i="1" u="none" strike="noStrike" cap="none" normalizeH="0" baseline="0">
                <a:ln>
                  <a:noFill/>
                </a:ln>
                <a:solidFill>
                  <a:srgbClr val="80868B"/>
                </a:solidFill>
                <a:effectLst/>
                <a:latin typeface="Arial Unicode MS"/>
              </a:rPr>
              <a:t>// let: 2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 </a:t>
            </a:r>
            <a:endParaRPr kumimoji="0" lang="en-US" altLang="en-US" sz="1400" b="0" i="0" u="none" strike="noStrike" cap="none" normalizeH="0" baseline="0">
              <a:ln>
                <a:noFill/>
              </a:ln>
              <a:solidFill>
                <a:srgbClr val="0A0A0A"/>
              </a:solidFill>
              <a:effectLst/>
              <a:latin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Use code with caution.</a:t>
            </a:r>
            <a:endParaRPr kumimoji="0" lang="en-US" altLang="en-US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3. The </a:t>
            </a:r>
            <a:r>
              <a:rPr kumimoji="0" lang="en-US" altLang="en-US" sz="1400" b="1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const</a:t>
            </a:r>
            <a:r>
              <a:rPr kumimoji="0" lang="en-US" altLang="en-US" sz="1400" b="1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Error (Immutable)</a:t>
            </a:r>
            <a:endParaRPr kumimoji="0" lang="en-US" altLang="en-US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Using 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const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in a traditional 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for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loop will cause an immediate </a:t>
            </a:r>
            <a:r>
              <a:rPr kumimoji="0" lang="en-US" altLang="en-US" sz="1400" b="1" i="0" u="none" strike="noStrike" cap="none" normalizeH="0" baseline="0">
                <a:ln>
                  <a:noFill/>
                </a:ln>
                <a:solidFill>
                  <a:srgbClr val="1A0DAB"/>
                </a:solidFill>
                <a:effectLst/>
                <a:latin typeface="Google Sans"/>
                <a:hlinkClick r:id="rId2"/>
              </a:rPr>
              <a:t>TypeError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. This is because the loop needs to increment 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i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(which is a reassignment), and 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const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forbids this. </a:t>
            </a:r>
            <a:endParaRPr kumimoji="0" lang="en-US" altLang="en-US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javascript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9334E6"/>
                </a:solidFill>
                <a:effectLst/>
                <a:latin typeface="Arial Unicode MS"/>
              </a:rPr>
              <a:t>for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 (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9334E6"/>
                </a:solidFill>
                <a:effectLst/>
                <a:latin typeface="Arial Unicode MS"/>
              </a:rPr>
              <a:t>const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 i = 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B45908"/>
                </a:solidFill>
                <a:effectLst/>
                <a:latin typeface="Arial Unicode MS"/>
              </a:rPr>
              <a:t>0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; i &lt; 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B45908"/>
                </a:solidFill>
                <a:effectLst/>
                <a:latin typeface="Arial Unicode MS"/>
              </a:rPr>
              <a:t>3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; i++) { </a:t>
            </a:r>
            <a:r>
              <a:rPr kumimoji="0" lang="en-US" altLang="en-US" sz="1400" b="0" i="1" u="none" strike="noStrike" cap="none" normalizeH="0" baseline="0">
                <a:ln>
                  <a:noFill/>
                </a:ln>
                <a:solidFill>
                  <a:srgbClr val="80868B"/>
                </a:solidFill>
                <a:effectLst/>
                <a:latin typeface="Arial Unicode MS"/>
              </a:rPr>
              <a:t>// ❌ TypeError: Assignment to constant variable.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 } </a:t>
            </a:r>
            <a:endParaRPr kumimoji="0" lang="en-US" altLang="en-US" sz="1400" b="0" i="0" u="none" strike="noStrike" cap="none" normalizeH="0" baseline="0">
              <a:ln>
                <a:noFill/>
              </a:ln>
              <a:solidFill>
                <a:srgbClr val="0A0A0A"/>
              </a:solidFill>
              <a:effectLst/>
              <a:latin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Use code with caution.</a:t>
            </a:r>
            <a:endParaRPr kumimoji="0" lang="en-US" altLang="en-US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Pro Tip: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You </a:t>
            </a:r>
            <a:r>
              <a:rPr kumimoji="0" lang="en-US" altLang="en-US" sz="1400" b="0" i="1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can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use 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const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in a 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for...of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or 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for...in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loop because a new constant is created for each item, rather than reassigning the same one. </a:t>
            </a:r>
            <a:endParaRPr kumimoji="0" lang="en-US" altLang="en-US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1573936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34D29A-B4F1-7845-01A9-9FC7E064E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2677029-F79E-F265-17B8-EB67CCB6C0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841" y="212046"/>
            <a:ext cx="5347648" cy="180049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1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Scenario 1: The "Shopping Cart" Problem</a:t>
            </a:r>
            <a:endParaRPr kumimoji="0" lang="en-US" altLang="en-US" sz="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Question: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You are building a checkout page. You have a 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totalPrice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that increases as items are added, and a 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TAX_RATE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that never changes. Which keywords do you use? </a:t>
            </a:r>
            <a:endParaRPr kumimoji="0" lang="en-US" altLang="en-US" sz="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Answer:</a:t>
            </a:r>
            <a:endParaRPr kumimoji="0" lang="en-US" altLang="en-US" sz="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Use </a:t>
            </a:r>
            <a:r>
              <a:rPr kumimoji="0" lang="en-US" altLang="en-US" sz="1000" b="1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let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for 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totalPrice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because its value must be 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1A0DAB"/>
                </a:solidFill>
                <a:effectLst/>
                <a:latin typeface="Google Sans"/>
                <a:hlinkClick r:id="rId2"/>
              </a:rPr>
              <a:t>reassigned every time an item is added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Use </a:t>
            </a:r>
            <a:r>
              <a:rPr kumimoji="0" lang="en-US" altLang="en-US" sz="1000" b="1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const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for 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TAX_RATE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because it is a 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1A0DAB"/>
                </a:solidFill>
                <a:effectLst/>
                <a:latin typeface="Google Sans"/>
                <a:hlinkClick r:id="rId3"/>
              </a:rPr>
              <a:t>fixed configuration value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that should not be accidentally overwritten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72E743A-CD89-F933-D771-39F71BBBB4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841" y="1908413"/>
            <a:ext cx="5798024" cy="124649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Scenario 2: The "API Response" Object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Question: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If you fetch user data and store it in a 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const user = {}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, can you still update 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user.name = "Alice"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? Why or why not?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Answer: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Yes.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const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creates an 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1A0DAB"/>
                </a:solidFill>
                <a:effectLst/>
                <a:latin typeface="Google Sans"/>
                <a:hlinkClick r:id="rId4"/>
              </a:rPr>
              <a:t>immutable binding, not an immutable value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. You cannot reassign the variable 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user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to a 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new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object, but you 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1A0DAB"/>
                </a:solidFill>
                <a:effectLst/>
                <a:latin typeface="Google Sans"/>
                <a:hlinkClick r:id="rId5"/>
              </a:rPr>
              <a:t>can mutate the properties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of the existing object. 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F8C2A09-06A2-6198-39D9-5C08D568FD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841" y="3260719"/>
            <a:ext cx="5513697" cy="170816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Scenario 3: The "Accidental Global" Bug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Question: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You have a function with a loop inside it. Using 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var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i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inside that loop, you notice 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i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is still accessible after the loop finishes. How do you fix this and why does it happen?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Answer: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Fix: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Change 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var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i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to 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let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i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Reason: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var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is 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1A0DAB"/>
                </a:solidFill>
                <a:effectLst/>
                <a:latin typeface="Google Sans"/>
                <a:hlinkClick r:id="rId6"/>
              </a:rPr>
              <a:t>function-scoped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, so it "leaks" outside of the 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for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block but stays inside the function. 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let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is 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1A0DAB"/>
                </a:solidFill>
                <a:effectLst/>
                <a:latin typeface="Google Sans"/>
                <a:hlinkClick r:id="rId7"/>
              </a:rPr>
              <a:t>block-scoped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, so it exists 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only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inside the loop's curly braces 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{}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and is deleted immediately after. 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E96BC0-776B-92AF-E945-65E1FA13EF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0569" y="5107378"/>
            <a:ext cx="5291919" cy="1523494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Scenario 4: The "Temporal Dead Zone" (TDZ)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Question: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What happens if you try to 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console.log(x)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before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you declare 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let x = 5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? How does this differ from 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var x = 5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?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Answer: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With </a:t>
            </a: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let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, you get a 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ReferenceError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because the variable is in the Temporal Dead Zone (TDZ).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With </a:t>
            </a: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var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, you get 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undefined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because 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var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is 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1A0DAB"/>
                </a:solidFill>
                <a:effectLst/>
                <a:latin typeface="Google Sans"/>
                <a:hlinkClick r:id="rId8"/>
              </a:rPr>
              <a:t>hoisted and initialized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with 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undefined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at the start of the script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8A53DC5-BDDD-B20A-C194-1213A46BB8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8538" y="212046"/>
            <a:ext cx="3928279" cy="1523494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Scenario 5: Modern Best Practices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Question: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You are starting a new React or Node.js project. What is the community-accepted "rule of thumb" for choosing between these three?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Answer: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Use </a:t>
            </a: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const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for everything by default.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If you find you 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must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reassign the value, change it to </a:t>
            </a: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let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1A0DAB"/>
                </a:solidFill>
                <a:effectLst/>
                <a:latin typeface="Google Sans"/>
                <a:hlinkClick r:id="rId9"/>
              </a:rPr>
              <a:t>Never use </a:t>
            </a: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rgbClr val="1A0DAB"/>
                </a:solidFill>
                <a:effectLst/>
                <a:latin typeface="Arial Unicode MS"/>
                <a:hlinkClick r:id="rId9"/>
              </a:rPr>
              <a:t>var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in modern development.</a:t>
            </a:r>
          </a:p>
        </p:txBody>
      </p:sp>
    </p:spTree>
    <p:extLst>
      <p:ext uri="{BB962C8B-B14F-4D97-AF65-F5344CB8AC3E}">
        <p14:creationId xmlns:p14="http://schemas.microsoft.com/office/powerpoint/2010/main" val="30037378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9FD1ED-AE24-6A7F-06AD-E8D52398C3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EA2B0C4-2385-488A-7881-5FCC6EDCF8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2012" y="166568"/>
            <a:ext cx="9128078" cy="6524863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Question 1: The Scoping Test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What will be logged to the console here?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javascript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rgbClr val="0A0A0A"/>
              </a:solidFill>
              <a:effectLst/>
              <a:latin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{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9334E6"/>
                </a:solidFill>
                <a:effectLst/>
                <a:latin typeface="Arial Unicode MS"/>
              </a:rPr>
              <a:t>var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 a =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188038"/>
                </a:solidFill>
                <a:effectLst/>
                <a:latin typeface="Arial Unicode MS"/>
              </a:rPr>
              <a:t>"Apple"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;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9334E6"/>
                </a:solidFill>
                <a:effectLst/>
                <a:latin typeface="Arial Unicode MS"/>
              </a:rPr>
              <a:t>let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 b =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188038"/>
                </a:solidFill>
                <a:effectLst/>
                <a:latin typeface="Arial Unicode MS"/>
              </a:rPr>
              <a:t>"Banana"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; } console.log(a); console.log(b); 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rgbClr val="0A0A0A"/>
              </a:solidFill>
              <a:effectLst/>
              <a:latin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Use code with caution.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Answer: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logs 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"Apple"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because 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var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ignores the curly braces (it’s not a function).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b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throws a 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ReferenceError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because 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let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is block-scoped and died inside the 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{}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Question 2: The Object Mutation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Will this code throw an error?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javascript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rgbClr val="0A0A0A"/>
              </a:solidFill>
              <a:effectLst/>
              <a:latin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9334E6"/>
                </a:solidFill>
                <a:effectLst/>
                <a:latin typeface="Arial Unicode MS"/>
              </a:rPr>
              <a:t>const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 laptop = { brand: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188038"/>
                </a:solidFill>
                <a:effectLst/>
                <a:latin typeface="Arial Unicode MS"/>
              </a:rPr>
              <a:t>"Dell"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 };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laptop.brand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 =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188038"/>
                </a:solidFill>
                <a:effectLst/>
                <a:latin typeface="Arial Unicode MS"/>
              </a:rPr>
              <a:t>"Apple"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; console.log(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laptop.brand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); 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rgbClr val="0A0A0A"/>
              </a:solidFill>
              <a:effectLst/>
              <a:latin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Use code with caution.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Answer: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No error.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It logs 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"Apple"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Why? You didn't reassign the variable 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laptop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itself; you only mutated a property inside the object. 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const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only stops you from doing 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laptop = { brand: "HP" }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Question 3: The Hoisting Race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What is the result of this execution?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javascript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rgbClr val="0A0A0A"/>
              </a:solidFill>
              <a:effectLst/>
              <a:latin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console.log(x);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9334E6"/>
                </a:solidFill>
                <a:effectLst/>
                <a:latin typeface="Arial Unicode MS"/>
              </a:rPr>
              <a:t>var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 x =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B45908"/>
                </a:solidFill>
                <a:effectLst/>
                <a:latin typeface="Arial Unicode MS"/>
              </a:rPr>
              <a:t>10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; console.log(y);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9334E6"/>
                </a:solidFill>
                <a:effectLst/>
                <a:latin typeface="Arial Unicode MS"/>
              </a:rPr>
              <a:t>let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 y =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B45908"/>
                </a:solidFill>
                <a:effectLst/>
                <a:latin typeface="Arial Unicode MS"/>
              </a:rPr>
              <a:t>20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; 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rgbClr val="0A0A0A"/>
              </a:solidFill>
              <a:effectLst/>
              <a:latin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Use code with caution.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Answer: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console.log(x)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logs </a:t>
            </a: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undefined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(it's hoisted but not assigned).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console.log(y)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throws a 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ReferenceError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because 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let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is in the Temporal Dead Zone until the code actually hits the declaration.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Question 4: The Redefinition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Which of these will work without crashing?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javascript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rgbClr val="0A0A0A"/>
              </a:solidFill>
              <a:effectLst/>
              <a:latin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1" u="none" strike="noStrike" cap="none" normalizeH="0" baseline="0" dirty="0">
                <a:ln>
                  <a:noFill/>
                </a:ln>
                <a:solidFill>
                  <a:srgbClr val="80868B"/>
                </a:solidFill>
                <a:effectLst/>
                <a:latin typeface="Arial Unicode MS"/>
              </a:rPr>
              <a:t>// Case A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9334E6"/>
                </a:solidFill>
                <a:effectLst/>
                <a:latin typeface="Arial Unicode MS"/>
              </a:rPr>
              <a:t>var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 name =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188038"/>
                </a:solidFill>
                <a:effectLst/>
                <a:latin typeface="Arial Unicode MS"/>
              </a:rPr>
              <a:t>"John"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;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9334E6"/>
                </a:solidFill>
                <a:effectLst/>
                <a:latin typeface="Arial Unicode MS"/>
              </a:rPr>
              <a:t>var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 name =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188038"/>
                </a:solidFill>
                <a:effectLst/>
                <a:latin typeface="Arial Unicode MS"/>
              </a:rPr>
              <a:t>"Pete"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; </a:t>
            </a:r>
            <a:r>
              <a:rPr kumimoji="0" lang="en-US" altLang="en-US" sz="1000" b="0" i="1" u="none" strike="noStrike" cap="none" normalizeH="0" baseline="0" dirty="0">
                <a:ln>
                  <a:noFill/>
                </a:ln>
                <a:solidFill>
                  <a:srgbClr val="80868B"/>
                </a:solidFill>
                <a:effectLst/>
                <a:latin typeface="Arial Unicode MS"/>
              </a:rPr>
              <a:t>// Case B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9334E6"/>
                </a:solidFill>
                <a:effectLst/>
                <a:latin typeface="Arial Unicode MS"/>
              </a:rPr>
              <a:t>let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 age =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B45908"/>
                </a:solidFill>
                <a:effectLst/>
                <a:latin typeface="Arial Unicode MS"/>
              </a:rPr>
              <a:t>25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;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9334E6"/>
                </a:solidFill>
                <a:effectLst/>
                <a:latin typeface="Arial Unicode MS"/>
              </a:rPr>
              <a:t>let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 age =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B45908"/>
                </a:solidFill>
                <a:effectLst/>
                <a:latin typeface="Arial Unicode MS"/>
              </a:rPr>
              <a:t>30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; 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rgbClr val="0A0A0A"/>
              </a:solidFill>
              <a:effectLst/>
              <a:latin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Use code with caution.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Answer: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Case A works fine.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var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allows 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1A0DAB"/>
                </a:solidFill>
                <a:effectLst/>
                <a:latin typeface="Google Sans"/>
                <a:hlinkClick r:id="rId2"/>
              </a:rPr>
              <a:t>redeclaration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, which is actually a major source of bugs.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Case B crashes.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let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(and 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const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) will throw a 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SyntaxError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if you try to declare the same name in the same scope.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84577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77EBBE-70C4-1F8D-8A27-CED0ABFBD1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83656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ADA10F-2D85-0FDB-FDC3-AC4C4EFA20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70467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6EF776-5122-9D9C-1832-6BA7A8725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68516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DA56DC-4F95-0F27-C495-4C63757B1A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57615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77B41F-6114-4AA2-952A-6083A34CF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50331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5E068-DA3F-7C9A-61FF-2FCD6CDF20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88457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38208D-0985-00C8-9982-1D94173FE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63430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AA536A-EED8-A427-E116-F5A6BD812F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493771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216295-F736-4541-E380-60D1680D5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79331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67C126-04A2-CF97-FE38-E47FAAC339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2244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42B9A-8337-6E47-F8F4-F1FF3D654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824342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8D39D9-771D-1A99-8C9D-AF905F417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114950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5F51D3-0345-00B0-8AB0-A45023E74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966014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85CCC6-E6E7-B7C6-6CCC-9091F85AE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4340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498316-616B-E845-43AD-535703B176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43242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4FC741-BE3B-1381-C1C3-531DD4C166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809076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F1F3F0-8E3C-9EC2-08A0-4468CCE58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98206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8392F3-1F7B-EAA1-D24C-5CD66DFD52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37445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7F4734-C1A0-211C-519C-3E66DD6585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84021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8A05F5-03AA-D92D-60A8-B08A3E4A0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776458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89E505-40D9-4ED7-D016-8A821BFA10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82200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309C2D-F040-78E6-DD9B-00AC84CAA3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0078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5263D5-F352-EAA7-74F0-A6DE67CBD0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306400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CB1E5E-CDE1-A6B0-BC87-662752729A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5103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BC157C-7E71-00DD-B11C-77BDBC4BF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361355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F93A60-7F4A-4075-E419-85EE761A0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081883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D2FCAA-5208-4115-0033-78F3F505C6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578140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3C0856-9563-310D-DEF0-85E9C971EA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648387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33E893-EB80-1190-5E28-1A084D7EE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161413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44B80D-341B-56C8-4F0C-D26AC95F9B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080494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5234C0-6502-085A-59CD-B3BA280ADD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3011743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051C90-DE80-B1CD-912A-A7A37C5C75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319547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857C93-02CB-83DE-E1F8-98A3723CEC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858857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5CB1A1-0DEC-6A82-7852-7AC16BEEC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393178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F61950-3DA7-C568-07AB-C3FB6F741B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4807900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4B8FA2-6EE9-149C-BAA5-4FFE22C58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6670297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A697DF-8BB5-DE2D-7CE6-B2DAADF3E5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055994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224DFC-0410-FAEF-2FD3-2EFE4E34CF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014388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23DD83-FC48-35DC-EE12-F4F024213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0366206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25D96C-C62F-EB3B-7E8E-E40D8A48B1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315309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F7EA5B-5860-8236-5200-570E15993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968224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787591-80CB-26EA-34F3-73F841B64F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19321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329448-9945-8A2D-3E98-C1980A160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078075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7925CC-42D1-6EEB-DB87-1B280C3ED4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488033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830842-FD4D-9C8C-D56A-B4C3542A74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523700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01AC70-F469-28D6-0E0E-BA1071CB9F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35279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206E0F-50CD-3B11-1DFD-FC7299033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308476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F11B39-F064-775A-9411-E73929C1D2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3603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265BB2-BFB1-CCC2-B55F-CF392C3DE1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485262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3386E9-3127-3EDA-6557-CEF76A86D7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4151286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8B79DE-BA72-F671-6D57-9F372D2224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906123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0C9F7E-9983-7851-B4B5-4B43F29EA4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785881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CCDBD1-6A27-5F93-91B3-91C2B7F6AC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104960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47AA9C-661F-B1F3-C775-9B8565CE5B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132792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1CA5E3-BD05-87C9-6C1C-F7FAAF33B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04524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769677-3E7F-9607-7299-044FAC57B4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842440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8AF79C-90CB-21CE-4937-EB56E77B59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757512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6DF3B4-10A3-F97C-DE8D-A21ED2B1B4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251777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2B5A51-AA7F-ECAF-41AE-666585F46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991277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6408AB-3FEA-D9E8-2260-D0EB5D402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762487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3D11B9-028C-5DD4-A32D-5F68742A9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668196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A433DC-6598-AE34-6561-657045E651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607602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AA9814-5741-BF68-57BD-61191B08B0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2645298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6B12D9-7743-8E75-BF87-F74CE4157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747306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BC3C42-195E-1AA6-666E-9DDDDC7291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014673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FDCFC9-20DE-11FF-066F-212F321A7C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376541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73B9AB-DD08-57A9-3937-3178F40B8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203408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931B59-6FFA-DE4E-A87E-7C2F448F35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9381589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A4660-17B1-E4B5-CE8C-A6BA4F0334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084530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0D92DC-5F54-1150-3E2B-D0217D6B46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39417560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E69C64-8DDE-13EF-04ED-E030FEAF91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9649389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E08D3A-A235-1877-D051-FCC3A9ADAD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7634299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F26905-7CCD-FCB2-1A7E-E8BB36BCA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4257372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56F266-AAFE-19DB-00DC-19E75491FC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3219724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90D1BF-A172-3FF0-903F-2AD081E8C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403714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370E42-E71B-A766-657B-A4466062A4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5820187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AE7962-935A-C6CA-3B98-1DCA176402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4818361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DC3D3E-7A80-5937-D445-0BC611F6D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9052732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C39288-3934-3EE8-8DA0-8B55FB44D7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3561146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444358-7458-9EBA-410C-00B1A20E7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2760758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3474C8-E1F0-54A0-7DB7-A4F186252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27413637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08BA5F-0737-1C9E-B34A-C8D0C6CC1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3626091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CD7587-E788-2173-9FCE-ABF5926BAC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8660153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CC10DC-3F44-09D6-0EF4-E117C7AFB1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8223311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C9AB0F-A5F4-4582-FC01-5E689CFFF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29987184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084FF4-E87B-CEE7-4340-4A8CF2BFB6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12733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5430E2-575B-DE05-1E7C-0285A3ECC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0373175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6C7C7E-2D31-F5DA-2FCC-908AF031C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9098951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4DCCDD-1A76-AF1A-CCB5-9A78AF6F8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09892506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3D685A-5937-3C52-2F3B-74955B1FF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45056232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09A74E-5113-4DFD-160C-4238D2609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8861037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F71383-6B34-E468-1316-F7BB6A02D0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0075722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32D463-FC14-8CA8-6D2C-26A46C3531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2684734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7045A3-7F9A-3D1E-9952-CB829B421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77706002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ABD669-6DBE-F77D-D40F-7C6D96C5C1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6719689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4E25A9-6E07-F074-80C0-B8D1E6741B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3212897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2965A7-8CF5-3E06-19C9-4886680E1B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316656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85E8E8-9926-55CC-14D3-10A08BDEC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7951312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38A96-9E7C-76A2-3967-042D834D1C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0887478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05AA9C-307F-F804-9057-56F9D9873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16626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394</TotalTime>
  <Words>1322</Words>
  <Application>Microsoft Office PowerPoint</Application>
  <PresentationFormat>A4 Paper (210x297 mm)</PresentationFormat>
  <Paragraphs>91</Paragraphs>
  <Slides>104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104</vt:i4>
      </vt:variant>
    </vt:vector>
  </HeadingPairs>
  <TitlesOfParts>
    <vt:vector size="111" baseType="lpstr">
      <vt:lpstr>Aptos</vt:lpstr>
      <vt:lpstr>Aptos Display</vt:lpstr>
      <vt:lpstr>Arial</vt:lpstr>
      <vt:lpstr>Arial Unicode MS</vt:lpstr>
      <vt:lpstr>Courier New</vt:lpstr>
      <vt:lpstr>Google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umalavanya7@gmail.com</dc:creator>
  <cp:lastModifiedBy>umalavanya7@gmail.com</cp:lastModifiedBy>
  <cp:revision>49</cp:revision>
  <dcterms:created xsi:type="dcterms:W3CDTF">2026-02-06T21:19:28Z</dcterms:created>
  <dcterms:modified xsi:type="dcterms:W3CDTF">2026-03-01T17:27:28Z</dcterms:modified>
</cp:coreProperties>
</file>