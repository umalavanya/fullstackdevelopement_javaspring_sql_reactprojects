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freecodecamp.org/news/var-let-and-const-whats-the-difference/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ev.to/dharamgfx/the-hidden-dangers-of-using-var-in-javascript-why-its-time-to-move-on-2jgm" TargetMode="External"/><Relationship Id="rId4" Type="http://schemas.openxmlformats.org/officeDocument/2006/relationships/hyperlink" Target="https://developer.mozilla.org/en-US/docs/Web/JavaScript/Reference/Statements/cons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to/edriso/demystifying-const-in-for-loops-traditional-vs-forof-3aif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javascript.plainenglish.io/hoisting-in-javascript-an-important-interview-question-ae5879d8f3fa" TargetMode="External"/><Relationship Id="rId3" Type="http://schemas.openxmlformats.org/officeDocument/2006/relationships/hyperlink" Target="https://teamtreehouse.com/community/let-vs-const" TargetMode="External"/><Relationship Id="rId7" Type="http://schemas.openxmlformats.org/officeDocument/2006/relationships/hyperlink" Target="https://javascript.plainenglish.io/var-vs-let-vs-const-use-cases-that-matter-2d4c681a76f6" TargetMode="External"/><Relationship Id="rId2" Type="http://schemas.openxmlformats.org/officeDocument/2006/relationships/hyperlink" Target="https://forum.freecodecamp.org/t/when-to-use-let-when-to-use-const/202497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.to/dharamgfx/the-hidden-dangers-of-using-var-in-javascript-why-its-time-to-move-on-2jgm" TargetMode="External"/><Relationship Id="rId5" Type="http://schemas.openxmlformats.org/officeDocument/2006/relationships/hyperlink" Target="https://alexandermgabriel.medium.com/the-difference-between-var-let-and-const-in-javascript-30db9aa7b6df" TargetMode="External"/><Relationship Id="rId4" Type="http://schemas.openxmlformats.org/officeDocument/2006/relationships/hyperlink" Target="https://developer.mozilla.org/en-US/docs/Web/JavaScript/Reference/Statements/const" TargetMode="External"/><Relationship Id="rId9" Type="http://schemas.openxmlformats.org/officeDocument/2006/relationships/hyperlink" Target="https://medium.com/@primekings.kc/understanding-let-const-and-var-in-javascript-practical-and-useful-examples-for-daily-94c5f427f421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reecodecamp.org/news/var-let-and-const-whats-the-difference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03E33F-16AB-1BCE-4743-4874108BB133}"/>
              </a:ext>
            </a:extLst>
          </p:cNvPr>
          <p:cNvSpPr txBox="1"/>
          <p:nvPr/>
        </p:nvSpPr>
        <p:spPr>
          <a:xfrm>
            <a:off x="252483" y="143639"/>
            <a:ext cx="9137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 modern JavaScript, the choice between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var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let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, and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const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depends on how you want to handle </a:t>
            </a:r>
            <a:r>
              <a:rPr lang="en-US" b="0" i="0" u="sng" dirty="0">
                <a:solidFill>
                  <a:srgbClr val="1A0DAB"/>
                </a:solidFill>
                <a:effectLst/>
                <a:latin typeface="Google Sans"/>
                <a:hlinkClick r:id="rId2"/>
              </a:rPr>
              <a:t>scoping, reassignment, and hoisting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D99CF5-E38D-E65B-4C54-7617ADFFA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18" y="789970"/>
            <a:ext cx="5509737" cy="2278577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8DCB8DDC-66AB-E1B8-FEE2-493859519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12" y="3267263"/>
            <a:ext cx="9137176" cy="344709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Key Differences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(Constant)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Default choice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modern development.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creates an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immutable binding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meaning you cannot reassign the variable to a new value once set.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Note: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While you can't reassign the variable itself, you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still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4"/>
              </a:rPr>
              <a:t>mutate the properties of an object or array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declared with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Used for variables that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need to change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later (e.g., counters in a loop).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block-scoped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meaning it only exists within the curly braces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where it was defined (like inside an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 or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loop).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original keyword, now mostly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5"/>
              </a:rPr>
              <a:t>considered obsolete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function-scoped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which can lead to bugs because it "leaks" out of blocks like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hoisted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 initialized as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allowing it to be accessed before the actual line of code where it is declared (though this is usually poor practice).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Summary Recommendation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by default.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only if you know the value will be reassigned.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Avoid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modern production code to prevent scoping issues.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52A042-E5D8-9367-7E64-F3255BEC96B6}"/>
              </a:ext>
            </a:extLst>
          </p:cNvPr>
          <p:cNvSpPr txBox="1"/>
          <p:nvPr/>
        </p:nvSpPr>
        <p:spPr>
          <a:xfrm>
            <a:off x="143300" y="114321"/>
            <a:ext cx="9478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 see how these keywords really differ, look at how they handle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asynchronous code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(like </a:t>
            </a:r>
            <a:r>
              <a:rPr lang="en-US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setTimeout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) inside a loop. This is a classic interview question and a common source of bugs.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BE249C7-4DBE-3886-5DC4-CB77F584D4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99" y="1012953"/>
            <a:ext cx="9273655" cy="4832092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The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Trap (Shared Scope)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Because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function-scoped, the loop shares a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single variable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across every iteration. By the time the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setTimeout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actually runs (after 100ms), the loop has already finished, and the shared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now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i =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 &lt;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i++) { setTimeout(() =&gt; { console.log(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"var:"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i); },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); }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Output after 100ms: // var: 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var: 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var: 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The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Solution (New Scope per Iteration)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When you use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JavaScript creates a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new, fresh variable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every single loop iteration. Each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setTimeout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"remembers" the specific value of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from its own iteration.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i =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 &lt;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i++) { setTimeout(() =&gt; { console.log(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"let:"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i); },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); }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Output after 100ms: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let: 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let: 1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let: 2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The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Error (Immutable)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Using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a traditional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loop will cause an immediate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2"/>
              </a:rPr>
              <a:t>TypeError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This is because the loop needs to increment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(which is a reassignment), and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forbids this.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i =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 &lt;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i++) {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❌ TypeError: Assignment to constant variable.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} 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Pro Tip: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 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can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a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for...of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for...in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loop because a new constant is created for each item, rather than reassigning the same one.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77029-F79E-F265-17B8-EB67CCB6C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41" y="212046"/>
            <a:ext cx="5347648" cy="18004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1: The "Shopping Cart" Problem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are building a checkout page. You have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totalPrice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increases as items are added, and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TAX_RATE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never changes. Which keywords do you use?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totalPrice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 its value must be 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2"/>
              </a:rPr>
              <a:t>reassigned every time an item is added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TAX_RATE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 it is a 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3"/>
              </a:rPr>
              <a:t>fixed configuration value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should not be accidentally overwritten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2E743A-CD89-F933-D771-39F71BBBB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41" y="1908413"/>
            <a:ext cx="5798024" cy="12464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2: The "API Response" Object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you fetch user data and store it in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 user = 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can you still update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user.name = "Alice"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? Why or why not?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Yes.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creates an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4"/>
              </a:rPr>
              <a:t>immutable binding, not an immutable value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You cannot reassign the variable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user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 a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object, but you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5"/>
              </a:rPr>
              <a:t>can mutate the properties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of the existing object. 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8C2A09-06A2-6198-39D9-5C08D568F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41" y="3260719"/>
            <a:ext cx="5513697" cy="1708160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3: The "Accidental Global" Bug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have a function with a loop inside it. Using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inside that loop, you notice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still accessible after the loop finishes. How do you fix this and why does it happen?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Fix: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Change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Reason: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6"/>
              </a:rPr>
              <a:t>function-scoped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so it "leaks" outside of the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 but stays inside the function.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7"/>
              </a:rPr>
              <a:t>block-scoped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so it exists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only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inside the loop's curly braces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 is deleted immediately after. 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E96BC0-776B-92AF-E945-65E1FA13E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69" y="5107378"/>
            <a:ext cx="5291919" cy="1523494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4: The "Temporal Dead Zone" (TDZ)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What happens if you try to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console.log(x)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before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declare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 x = 5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? How does this differ from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 x = 5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With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you get a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ReferenceError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 the variable is in the Temporal Dead Zone (TDZ).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With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you get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8"/>
              </a:rPr>
              <a:t>hoisted and initialized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with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at the start of the script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53DC5-BDDD-B20A-C194-1213A46BB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538" y="212046"/>
            <a:ext cx="3928279" cy="1523494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5: Modern Best Practices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are starting a new React or Node.js project. What is the community-accepted "rule of thumb" for choosing between these three?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everything by default.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If you find you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must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reassign the value, change it to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9"/>
              </a:rPr>
              <a:t>Never 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Arial Unicode MS"/>
                <a:hlinkClick r:id="rId9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modern development.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A2B0C4-2385-488A-7881-5FCC6EDCF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012" y="166568"/>
            <a:ext cx="9128078" cy="6524863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1: The Scoping Test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What will be logged to the console here?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a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"Apple"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b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"Banana"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} console.log(a); console.log(b);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logs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"Apple"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ignores the curly braces (it’s not a function).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throws a 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ReferenceError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block-scoped and died inside the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2: The Object Mutation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Will this code throw an error?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laptop = { brand: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"Dell"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};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laptop.brand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"Apple"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console.log(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laptop.brand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);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No error.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 logs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"Apple"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Why? You didn't reassign the variable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itself; you only mutated a property inside the object.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only stops you from doing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 = { brand: "HP" 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3: The Hoisting Race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What is the result of this execution?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console.log(x);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x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console.log(y);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y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20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console.log(x)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logs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(it's hoisted but not assigned).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console.log(y)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throws a 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ReferenceError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in the Temporal Dead Zone until the code actually hits the declaration.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4: The Redefinition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Which of these will work without crashing?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Case A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name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"John"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name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"Pete"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1" u="none" strike="noStrike" cap="none" normalizeH="0" baseline="0" dirty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Case B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age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25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age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Case A works fine.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allows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2"/>
              </a:rPr>
              <a:t>redeclaration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which is actually a major source of bugs.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Case B crashes.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(and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will throw a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SyntaxError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you try to declare the same name in the same scope.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2B9130-7137-5891-EC90-22823C3FB50E}"/>
              </a:ext>
            </a:extLst>
          </p:cNvPr>
          <p:cNvSpPr txBox="1"/>
          <p:nvPr/>
        </p:nvSpPr>
        <p:spPr>
          <a:xfrm>
            <a:off x="129654" y="0"/>
            <a:ext cx="97763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13130"/>
                </a:solidFill>
                <a:effectLst/>
                <a:latin typeface="BlinkMacSystemFont"/>
              </a:rPr>
              <a:t>there are eight data types in JavaScript. Seven of them are called “primitive”, because their values contain only a single thing (be it a string or a number or whatever).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B54B4-CFD4-D7D2-22E0-E20767571BDB}"/>
              </a:ext>
            </a:extLst>
          </p:cNvPr>
          <p:cNvSpPr txBox="1"/>
          <p:nvPr/>
        </p:nvSpPr>
        <p:spPr>
          <a:xfrm>
            <a:off x="129653" y="646331"/>
            <a:ext cx="92736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"object constructor" syntax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{};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"object literal" syntax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0516B-88DF-DA7C-6667-740F2C0D3358}"/>
              </a:ext>
            </a:extLst>
          </p:cNvPr>
          <p:cNvSpPr txBox="1"/>
          <p:nvPr/>
        </p:nvSpPr>
        <p:spPr>
          <a:xfrm>
            <a:off x="129653" y="1338828"/>
            <a:ext cx="95466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an object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  <a:t>	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"John"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by key "name" store value "John"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  <a:t>	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by key "age" store value 30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DC476-B170-2D0F-7D9A-89AECB6030A4}"/>
              </a:ext>
            </a:extLst>
          </p:cNvPr>
          <p:cNvSpPr txBox="1"/>
          <p:nvPr/>
        </p:nvSpPr>
        <p:spPr>
          <a:xfrm>
            <a:off x="129653" y="2539157"/>
            <a:ext cx="49746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get property values of the object: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John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i="0" dirty="0" err="1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30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23556E-D833-F14C-773C-5AC5626E52E9}"/>
              </a:ext>
            </a:extLst>
          </p:cNvPr>
          <p:cNvSpPr txBox="1"/>
          <p:nvPr/>
        </p:nvSpPr>
        <p:spPr>
          <a:xfrm>
            <a:off x="150127" y="3554820"/>
            <a:ext cx="2210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i="0" dirty="0" err="1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BFEC01-D87F-D495-B51D-25EF0C252E67}"/>
              </a:ext>
            </a:extLst>
          </p:cNvPr>
          <p:cNvSpPr txBox="1"/>
          <p:nvPr/>
        </p:nvSpPr>
        <p:spPr>
          <a:xfrm>
            <a:off x="150126" y="4016485"/>
            <a:ext cx="3425587" cy="2464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ts val="1500"/>
              </a:lnSpc>
              <a:spcBef>
                <a:spcPts val="1650"/>
              </a:spcBef>
              <a:spcAft>
                <a:spcPts val="1650"/>
              </a:spcAft>
              <a:buNone/>
            </a:pPr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</a:b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 name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"John"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  <a:t>  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</a:b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i="0" dirty="0">
              <a:solidFill>
                <a:srgbClr val="313130"/>
              </a:solidFill>
              <a:effectLst/>
              <a:latin typeface="Consolas" panose="020B0609020204030204" pitchFamily="49" charset="0"/>
            </a:endParaRPr>
          </a:p>
          <a:p>
            <a:pPr algn="l">
              <a:spcAft>
                <a:spcPts val="900"/>
              </a:spcAft>
              <a:buNone/>
            </a:pPr>
            <a:r>
              <a:rPr lang="en-US" b="0" i="0" dirty="0">
                <a:solidFill>
                  <a:srgbClr val="313130"/>
                </a:solidFill>
                <a:effectLst/>
                <a:latin typeface="BlinkMacSystemFont"/>
              </a:rPr>
              <a:t>That is called a “trailing” or “hanging” comma. Makes it easier to add/remove/move around properties, because all lines become alike.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408</TotalTime>
  <Words>1496</Words>
  <Application>Microsoft Office PowerPoint</Application>
  <PresentationFormat>A4 Paper (210x297 mm)</PresentationFormat>
  <Paragraphs>104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Aptos</vt:lpstr>
      <vt:lpstr>Aptos Display</vt:lpstr>
      <vt:lpstr>Arial</vt:lpstr>
      <vt:lpstr>Arial Unicode MS</vt:lpstr>
      <vt:lpstr>BlinkMacSystemFont</vt:lpstr>
      <vt:lpstr>Consolas</vt:lpstr>
      <vt:lpstr>Courier New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52</cp:revision>
  <dcterms:created xsi:type="dcterms:W3CDTF">2026-02-06T21:19:28Z</dcterms:created>
  <dcterms:modified xsi:type="dcterms:W3CDTF">2026-03-01T23:31:41Z</dcterms:modified>
</cp:coreProperties>
</file>