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85" autoAdjust="0"/>
    <p:restoredTop sz="94660"/>
  </p:normalViewPr>
  <p:slideViewPr>
    <p:cSldViewPr snapToGrid="0">
      <p:cViewPr varScale="1">
        <p:scale>
          <a:sx n="87" d="100"/>
          <a:sy n="87" d="100"/>
        </p:scale>
        <p:origin x="133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05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4479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332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600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3811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02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24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19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3613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614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650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FB5FC-1629-4A0D-9573-785FAC7ED015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83C504-7F0E-4585-832D-B71C6D96F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6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freecodecamp.org/news/var-let-and-const-whats-the-difference/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dev.to/dharamgfx/the-hidden-dangers-of-using-var-in-javascript-why-its-time-to-move-on-2jgm" TargetMode="External"/><Relationship Id="rId4" Type="http://schemas.openxmlformats.org/officeDocument/2006/relationships/hyperlink" Target="https://developer.mozilla.org/en-US/docs/Web/JavaScript/Reference/Statements/const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dev.to/edriso/demystifying-const-in-for-loops-traditional-vs-forof-3aif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javascript.plainenglish.io/hoisting-in-javascript-an-important-interview-question-ae5879d8f3fa" TargetMode="External"/><Relationship Id="rId3" Type="http://schemas.openxmlformats.org/officeDocument/2006/relationships/hyperlink" Target="https://teamtreehouse.com/community/let-vs-const" TargetMode="External"/><Relationship Id="rId7" Type="http://schemas.openxmlformats.org/officeDocument/2006/relationships/hyperlink" Target="https://javascript.plainenglish.io/var-vs-let-vs-const-use-cases-that-matter-2d4c681a76f6" TargetMode="External"/><Relationship Id="rId2" Type="http://schemas.openxmlformats.org/officeDocument/2006/relationships/hyperlink" Target="https://forum.freecodecamp.org/t/when-to-use-let-when-to-use-const/202497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ev.to/dharamgfx/the-hidden-dangers-of-using-var-in-javascript-why-its-time-to-move-on-2jgm" TargetMode="External"/><Relationship Id="rId5" Type="http://schemas.openxmlformats.org/officeDocument/2006/relationships/hyperlink" Target="https://alexandermgabriel.medium.com/the-difference-between-var-let-and-const-in-javascript-30db9aa7b6df" TargetMode="External"/><Relationship Id="rId4" Type="http://schemas.openxmlformats.org/officeDocument/2006/relationships/hyperlink" Target="https://developer.mozilla.org/en-US/docs/Web/JavaScript/Reference/Statements/const" TargetMode="External"/><Relationship Id="rId9" Type="http://schemas.openxmlformats.org/officeDocument/2006/relationships/hyperlink" Target="https://medium.com/@primekings.kc/understanding-let-const-and-var-in-javascript-practical-and-useful-examples-for-daily-94c5f427f421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reecodecamp.org/news/var-let-and-const-whats-the-difference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A03E33F-16AB-1BCE-4743-4874108BB133}"/>
              </a:ext>
            </a:extLst>
          </p:cNvPr>
          <p:cNvSpPr txBox="1"/>
          <p:nvPr/>
        </p:nvSpPr>
        <p:spPr>
          <a:xfrm>
            <a:off x="252483" y="143639"/>
            <a:ext cx="91371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 modern JavaScript, the choice between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var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,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let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, and </a:t>
            </a:r>
            <a:r>
              <a:rPr lang="en-US" b="0" i="0" dirty="0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const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depends on how you want to handle </a:t>
            </a:r>
            <a:r>
              <a:rPr lang="en-US" b="0" i="0" u="sng" dirty="0">
                <a:solidFill>
                  <a:srgbClr val="1A0DAB"/>
                </a:solidFill>
                <a:effectLst/>
                <a:latin typeface="Google Sans"/>
                <a:hlinkClick r:id="rId2"/>
              </a:rPr>
              <a:t>scoping, reassignment, and hoisting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D99CF5-E38D-E65B-4C54-7617ADFFA6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018" y="789970"/>
            <a:ext cx="5509737" cy="2278577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8DCB8DDC-66AB-E1B8-FEE2-493859519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4412" y="3267263"/>
            <a:ext cx="9137176" cy="3447098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Key Differences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(Constant)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Default choice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modern development.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creates an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immutable binding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meaning you cannot reassign the variable to a new value once set.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Note: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While you can't reassign the variable itself, you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still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4"/>
              </a:rPr>
              <a:t>mutate the properties of an object or array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declared with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Used for variables that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need to change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later (e.g., counters in a loop).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block-scoped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meaning it only exists within the curly braces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where it was defined (like inside an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statement or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loop).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The original keyword, now mostly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5"/>
              </a:rPr>
              <a:t>considered obsolete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function-scoped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which can lead to bugs because it "leaks" out of blocks like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if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It is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hoisted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 initialized as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allowing it to be accessed before the actual line of code where it is declared (though this is usually poor practice).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Summary Recommendation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by default.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only if you know the value will be reassigned.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Avoid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modern production code to prevent scoping issues.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7814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047F0-2EEC-3B96-C431-447C7F2D0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952A042-E5D8-9367-7E64-F3255BEC96B6}"/>
              </a:ext>
            </a:extLst>
          </p:cNvPr>
          <p:cNvSpPr txBox="1"/>
          <p:nvPr/>
        </p:nvSpPr>
        <p:spPr>
          <a:xfrm>
            <a:off x="143300" y="114321"/>
            <a:ext cx="94783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 see how these keywords really differ, look at how they handle </a:t>
            </a:r>
            <a:r>
              <a:rPr lang="en-US" b="1" i="0" dirty="0">
                <a:solidFill>
                  <a:srgbClr val="0A0A0A"/>
                </a:solidFill>
                <a:effectLst/>
                <a:latin typeface="Google Sans"/>
              </a:rPr>
              <a:t>asynchronous code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 (like </a:t>
            </a:r>
            <a:r>
              <a:rPr lang="en-US" b="0" i="0" dirty="0" err="1">
                <a:solidFill>
                  <a:srgbClr val="0A0A0A"/>
                </a:solidFill>
                <a:effectLst/>
                <a:latin typeface="Courier New" panose="02070309020205020404" pitchFamily="49" charset="0"/>
              </a:rPr>
              <a:t>setTimeout</a:t>
            </a:r>
            <a:r>
              <a:rPr lang="en-US" b="0" i="0" dirty="0">
                <a:solidFill>
                  <a:srgbClr val="0A0A0A"/>
                </a:solidFill>
                <a:effectLst/>
                <a:latin typeface="Google Sans"/>
              </a:rPr>
              <a:t>) inside a loop. This is a classic interview question and a common source of bugs.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BE249C7-4DBE-3886-5DC4-CB77F584D4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99" y="1012953"/>
            <a:ext cx="9273655" cy="4832092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1. The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Trap (Shared Scope)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Because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function-scoped, the loop shares a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single variable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across every iteration. By the time the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setTimeout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actually runs (after 100ms), the loop has already finished, and the shared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now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i =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 &lt;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i++) { setTimeout(() =&gt; { console.log(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"var:"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i); },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); }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Output after 100ms: // var: 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var: 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var: 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2. The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Solution (New Scope per Iteration)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When you use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JavaScript creates a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new, fresh variable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every single loop iteration. Each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setTimeout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"remembers" the specific value of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from its own iteration.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i =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 &lt;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i++) { setTimeout(() =&gt; { console.log(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"let:"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, i); },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); }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Output after 100ms: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let: 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let: 1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let: 2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3. The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Error (Immutable)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Using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a traditional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loop will cause an immediate </a:t>
            </a: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2"/>
              </a:rPr>
              <a:t>TypeError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This is because the loop needs to increment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(which is a reassignment), and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forbids this.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for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(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i =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0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 &lt; 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i++) { 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❌ TypeError: Assignment to constant variable.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} 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Pro Tip: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 </a:t>
            </a:r>
            <a:r>
              <a:rPr kumimoji="0" lang="en-US" altLang="en-US" sz="1400" b="0" i="1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can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use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a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for...of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or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for...in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loop because a new constant is created for each item, rather than reassigning the same one. </a:t>
            </a:r>
            <a:endParaRPr kumimoji="0" lang="en-US" altLang="en-US" sz="1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57393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4D29A-B4F1-7845-01A9-9FC7E064E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77029-F79E-F265-17B8-EB67CCB6C0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41" y="212046"/>
            <a:ext cx="5347648" cy="180049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1: The "Shopping Cart" Problem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are building a checkout page. You have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totalPrice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increases as items are added, and a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TAX_RATE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never changes. Which keywords do you use? 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totalPrice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 its value must be 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2"/>
              </a:rPr>
              <a:t>reassigned every time an item is added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 </a:t>
            </a:r>
            <a: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TAX_RATE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 it is a 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3"/>
              </a:rPr>
              <a:t>fixed configuration value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that should not be accidentally overwritten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72E743A-CD89-F933-D771-39F71BBBB4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41" y="1908413"/>
            <a:ext cx="5798024" cy="124649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2: The "API Response" Object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you fetch user data and store it in a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 user = 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can you still update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user.name = "Alice"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? Why or why not?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Yes.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creates an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4"/>
              </a:rPr>
              <a:t>immutable binding, not an immutable value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 You cannot reassign the variable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user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 a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new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object, but you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5"/>
              </a:rPr>
              <a:t>can mutate the properties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of the existing object. 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F8C2A09-06A2-6198-39D9-5C08D568F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841" y="3260719"/>
            <a:ext cx="5513697" cy="1708160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3: The "Accidental Global" Bug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have a function with a loop inside it. Using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inside that loop, you notice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still accessible after the loop finishes. How do you fix this and why does it happen?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Fix: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Change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to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i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Reason: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6"/>
              </a:rPr>
              <a:t>function-scoped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so it "leaks" outside of the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for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block but stays inside the function.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7"/>
              </a:rPr>
              <a:t>block-scoped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so it exists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only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inside the loop's curly braces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and is deleted immediately after. 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E96BC0-776B-92AF-E945-65E1FA13EF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0569" y="5107378"/>
            <a:ext cx="5291919" cy="1523494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4: The "Temporal Dead Zone" (TDZ)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What happens if you try to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console.log(x)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before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declare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 x = 5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? How does this differ from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 x = 5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With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you get a 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ReferenceError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 the variable is in the Temporal Dead Zone (TDZ).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With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you get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8"/>
              </a:rPr>
              <a:t>hoisted and initialized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with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at the start of the script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53DC5-BDDD-B20A-C194-1213A46BB8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538" y="212046"/>
            <a:ext cx="3928279" cy="1523494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Scenario 5: Modern Best Practices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You are starting a new React or Node.js project. What is the community-accepted "rule of thumb" for choosing between these three?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for everything by default.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If you find you 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must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reassign the value, change it to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9"/>
              </a:rPr>
              <a:t>Never use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Arial Unicode MS"/>
                <a:hlinkClick r:id="rId9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in modern development.</a:t>
            </a:r>
          </a:p>
        </p:txBody>
      </p:sp>
    </p:spTree>
    <p:extLst>
      <p:ext uri="{BB962C8B-B14F-4D97-AF65-F5344CB8AC3E}">
        <p14:creationId xmlns:p14="http://schemas.microsoft.com/office/powerpoint/2010/main" val="30037378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FD1ED-AE24-6A7F-06AD-E8D52398C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A2B0C4-2385-488A-7881-5FCC6EDCF8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2012" y="166568"/>
            <a:ext cx="9128078" cy="6524863"/>
          </a:xfrm>
          <a:prstGeom prst="rect">
            <a:avLst/>
          </a:prstGeom>
          <a:solidFill>
            <a:srgbClr val="F0F2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1: The Scoping Test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What will be logged to the console here?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a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"Apple"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b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"Banana"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} console.log(a); console.log(b);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a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logs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"Apple"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ignores the curly braces (it’s not a function).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b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throws a 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ReferenceError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 block-scoped and died inside the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{}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2: The Object Mutation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Will this code throw an error?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laptop = { brand: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"Dell"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}; 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laptop.brand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"Apple"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console.log(</a:t>
            </a:r>
            <a:r>
              <a:rPr kumimoji="0" lang="en-US" altLang="en-US" sz="10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laptop.brand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);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No error.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 logs 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"Apple"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Why? You didn't reassign the variable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itself; you only mutated a property inside the object.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only stops you from doing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laptop = { brand: "HP" }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3: The Hoisting Race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What is the result of this execution?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console.log(x);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x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10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console.log(y);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y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20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console.log(x)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logs 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undefined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(it's hoisted but not assigned).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console.log(y)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throws a </a:t>
            </a:r>
            <a:r>
              <a:rPr kumimoji="0" lang="en-US" altLang="en-US" sz="1200" b="1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ReferenceError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because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is in the Temporal Dead Zone until the code actually hits the declaration.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Question 4: The Redefinition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Which of these will work without crashing?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javascript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Case A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name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"John"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var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name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188038"/>
                </a:solidFill>
                <a:effectLst/>
                <a:latin typeface="Arial Unicode MS"/>
              </a:rPr>
              <a:t>"Pete"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1" u="none" strike="noStrike" cap="none" normalizeH="0" baseline="0" dirty="0">
                <a:ln>
                  <a:noFill/>
                </a:ln>
                <a:solidFill>
                  <a:srgbClr val="80868B"/>
                </a:solidFill>
                <a:effectLst/>
                <a:latin typeface="Arial Unicode MS"/>
              </a:rPr>
              <a:t>// Case B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age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25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9334E6"/>
                </a:solidFill>
                <a:effectLst/>
                <a:latin typeface="Arial Unicode MS"/>
              </a:rPr>
              <a:t>let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 age = 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B45908"/>
                </a:solidFill>
                <a:effectLst/>
                <a:latin typeface="Arial Unicode MS"/>
              </a:rPr>
              <a:t>30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; 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solidFill>
                <a:srgbClr val="0A0A0A"/>
              </a:solidFill>
              <a:effectLst/>
              <a:latin typeface="Google San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9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Use code with caution.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Answer:</a:t>
            </a:r>
            <a:endParaRPr kumimoji="0" lang="en-US" altLang="en-US" sz="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Case A works fine.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var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allows 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A0DAB"/>
                </a:solidFill>
                <a:effectLst/>
                <a:latin typeface="Google Sans"/>
                <a:hlinkClick r:id="rId2"/>
              </a:rPr>
              <a:t>redeclaration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, which is actually a major source of bugs.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Case B crashes.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let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(and 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Arial Unicode MS"/>
              </a:rPr>
              <a:t>const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) will throw a 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SyntaxError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A0A0A"/>
                </a:solidFill>
                <a:effectLst/>
                <a:latin typeface="Google Sans"/>
              </a:rPr>
              <a:t> if you try to declare the same name in the same scope.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84577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BBE-70C4-1F8D-8A27-CED0ABFBD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2B9130-7137-5891-EC90-22823C3FB50E}"/>
              </a:ext>
            </a:extLst>
          </p:cNvPr>
          <p:cNvSpPr txBox="1"/>
          <p:nvPr/>
        </p:nvSpPr>
        <p:spPr>
          <a:xfrm>
            <a:off x="129654" y="0"/>
            <a:ext cx="97763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313130"/>
                </a:solidFill>
                <a:effectLst/>
                <a:latin typeface="BlinkMacSystemFont"/>
              </a:rPr>
              <a:t>there are eight data types in JavaScript. Seven of them are called “primitive”, because their values contain only a single thing (be it a string or a number or whatever).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B54B4-CFD4-D7D2-22E0-E20767571BDB}"/>
              </a:ext>
            </a:extLst>
          </p:cNvPr>
          <p:cNvSpPr txBox="1"/>
          <p:nvPr/>
        </p:nvSpPr>
        <p:spPr>
          <a:xfrm>
            <a:off x="129653" y="646331"/>
            <a:ext cx="927365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"object constructor" syntax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{};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"object literal" syntax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F0516B-88DF-DA7C-6667-740F2C0D3358}"/>
              </a:ext>
            </a:extLst>
          </p:cNvPr>
          <p:cNvSpPr txBox="1"/>
          <p:nvPr/>
        </p:nvSpPr>
        <p:spPr>
          <a:xfrm>
            <a:off x="129653" y="1338828"/>
            <a:ext cx="954661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an object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  <a:t>	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"John"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by key "name" store value "John"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  <a:t>	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by key "age" store value 30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3DC476-B170-2D0F-7D9A-89AECB6030A4}"/>
              </a:ext>
            </a:extLst>
          </p:cNvPr>
          <p:cNvSpPr txBox="1"/>
          <p:nvPr/>
        </p:nvSpPr>
        <p:spPr>
          <a:xfrm>
            <a:off x="129653" y="2539157"/>
            <a:ext cx="497461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get property values of the object: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name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John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i="0" dirty="0">
                <a:solidFill>
                  <a:srgbClr val="DD4A68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i="0" dirty="0" err="1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// 30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23556E-D833-F14C-773C-5AC5626E52E9}"/>
              </a:ext>
            </a:extLst>
          </p:cNvPr>
          <p:cNvSpPr txBox="1"/>
          <p:nvPr/>
        </p:nvSpPr>
        <p:spPr>
          <a:xfrm>
            <a:off x="150127" y="3554820"/>
            <a:ext cx="22109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delete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user</a:t>
            </a:r>
            <a:r>
              <a:rPr lang="en-US" b="0" i="0" dirty="0" err="1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i="0" dirty="0" err="1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BFEC01-D87F-D495-B51D-25EF0C252E67}"/>
              </a:ext>
            </a:extLst>
          </p:cNvPr>
          <p:cNvSpPr txBox="1"/>
          <p:nvPr/>
        </p:nvSpPr>
        <p:spPr>
          <a:xfrm>
            <a:off x="150126" y="4016485"/>
            <a:ext cx="3425587" cy="2464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ts val="1500"/>
              </a:lnSpc>
              <a:spcBef>
                <a:spcPts val="1650"/>
              </a:spcBef>
              <a:spcAft>
                <a:spcPts val="1650"/>
              </a:spcAft>
              <a:buNone/>
            </a:pPr>
            <a:r>
              <a:rPr lang="en-US" b="0" i="0" dirty="0">
                <a:solidFill>
                  <a:srgbClr val="0077AA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user 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</a:b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 name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669900"/>
                </a:solidFill>
                <a:effectLst/>
                <a:latin typeface="Consolas" panose="020B0609020204030204" pitchFamily="49" charset="0"/>
              </a:rPr>
              <a:t>"John"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</a:br>
            <a: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  <a:t>  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age</a:t>
            </a:r>
            <a:r>
              <a:rPr lang="en-US" b="0" i="0" dirty="0">
                <a:solidFill>
                  <a:srgbClr val="A67F59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i="0" dirty="0">
                <a:solidFill>
                  <a:srgbClr val="31313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i="0" dirty="0">
                <a:solidFill>
                  <a:srgbClr val="990055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dirty="0">
                <a:solidFill>
                  <a:srgbClr val="313130"/>
                </a:solidFill>
                <a:latin typeface="Consolas" panose="020B0609020204030204" pitchFamily="49" charset="0"/>
              </a:rPr>
            </a:br>
            <a:r>
              <a:rPr lang="en-US" b="0" i="0" dirty="0">
                <a:solidFill>
                  <a:srgbClr val="70809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i="0" dirty="0">
              <a:solidFill>
                <a:srgbClr val="313130"/>
              </a:solidFill>
              <a:effectLst/>
              <a:latin typeface="Consolas" panose="020B0609020204030204" pitchFamily="49" charset="0"/>
            </a:endParaRPr>
          </a:p>
          <a:p>
            <a:pPr algn="l">
              <a:spcAft>
                <a:spcPts val="900"/>
              </a:spcAft>
              <a:buNone/>
            </a:pPr>
            <a:r>
              <a:rPr lang="en-US" b="0" i="0" dirty="0">
                <a:solidFill>
                  <a:srgbClr val="313130"/>
                </a:solidFill>
                <a:effectLst/>
                <a:latin typeface="BlinkMacSystemFont"/>
              </a:rPr>
              <a:t>That is called a “trailing” or “hanging” comma. Makes it easier to add/remove/move around properties, because all lines become alike.</a:t>
            </a:r>
          </a:p>
        </p:txBody>
      </p:sp>
    </p:spTree>
    <p:extLst>
      <p:ext uri="{BB962C8B-B14F-4D97-AF65-F5344CB8AC3E}">
        <p14:creationId xmlns:p14="http://schemas.microsoft.com/office/powerpoint/2010/main" val="29283656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DA10F-2D85-0FDB-FDC3-AC4C4EFA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27046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EF776-5122-9D9C-1832-6BA7A8725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685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A56DC-4F95-0F27-C495-4C63757B1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7615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7B41F-6114-4AA2-952A-6083A34CF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50331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5E068-DA3F-7C9A-61FF-2FCD6CDF20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88457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38208D-0985-00C8-9982-1D94173FE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6343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A536A-EED8-A427-E116-F5A6BD812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9377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16295-F736-4541-E380-60D1680D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9331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7C126-04A2-CF97-FE38-E47FAAC33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2244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42B9A-8337-6E47-F8F4-F1FF3D654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24342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D39D9-771D-1A99-8C9D-AF905F417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14950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5F51D3-0345-00B0-8AB0-A45023E74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66014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5CCC6-E6E7-B7C6-6CCC-9091F85AE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434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8316-616B-E845-43AD-535703B17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3242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4FC741-BE3B-1381-C1C3-531DD4C16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80907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1F3F0-8E3C-9EC2-08A0-4468CCE5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98206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392F3-1F7B-EAA1-D24C-5CD66DFD5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74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F4734-C1A0-211C-519C-3E66DD658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4021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05F5-03AA-D92D-60A8-B08A3E4A0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776458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9E505-40D9-4ED7-D016-8A821BFA1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8220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09C2D-F040-78E6-DD9B-00AC84CAA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0078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263D5-F352-EAA7-74F0-A6DE67CB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630640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1E5E-CDE1-A6B0-BC87-662752729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10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BC157C-7E71-00DD-B11C-77BDBC4BF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6135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3A60-7F4A-4075-E419-85EE761A0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81883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2FCAA-5208-4115-0033-78F3F505C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578140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3C0856-9563-310D-DEF0-85E9C971E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64838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3E893-EB80-1190-5E28-1A084D7EE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161413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4B80D-341B-56C8-4F0C-D26AC95F9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804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234C0-6502-085A-59CD-B3BA280AD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01174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051C90-DE80-B1CD-912A-A7A37C5C7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31954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57C93-02CB-83DE-E1F8-98A3723CE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858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CB1A1-0DEC-6A82-7852-7AC16BEEC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3931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F61950-3DA7-C568-07AB-C3FB6F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8079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B8FA2-6EE9-149C-BAA5-4FFE22C58C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6702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97DF-8BB5-DE2D-7CE6-B2DAADF3E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05599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24DFC-0410-FAEF-2FD3-2EFE4E34C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01438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3DD83-FC48-35DC-EE12-F4F024213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03662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D96C-C62F-EB3B-7E8E-E40D8A48B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93153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7EA5B-5860-8236-5200-570E15993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96822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87591-80CB-26EA-34F3-73F841B64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1932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29448-9945-8A2D-3E98-C1980A160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78075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7925CC-42D1-6EEB-DB87-1B280C3ED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5488033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30842-FD4D-9C8C-D56A-B4C3542A7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5237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01AC70-F469-28D6-0E0E-BA1071CB9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527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206E0F-50CD-3B11-1DFD-FC729903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847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11B39-F064-775A-9411-E73929C1D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3603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65BB2-BFB1-CCC2-B55F-CF392C3DE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48526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3386E9-3127-3EDA-6557-CEF76A86D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512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B79DE-BA72-F671-6D57-9F372D22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06123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C9F7E-9983-7851-B4B5-4B43F29E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785881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CDBD1-6A27-5F93-91B3-91C2B7F6A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0496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7AA9C-661F-B1F3-C775-9B8565CE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132792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CA5E3-BD05-87C9-6C1C-F7FAAF33B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0452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69677-3E7F-9607-7299-044FAC57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84244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AF79C-90CB-21CE-4937-EB56E77B5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77575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DF3B4-10A3-F97C-DE8D-A21ED2B1B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5177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B5A51-AA7F-ECAF-41AE-666585F46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99127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408AB-3FEA-D9E8-2260-D0EB5D40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7762487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3D11B9-028C-5DD4-A32D-5F68742A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668196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A433DC-6598-AE34-6561-657045E65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60760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A9814-5741-BF68-57BD-61191B08B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645298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12D9-7743-8E75-BF87-F74CE415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747306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C3C42-195E-1AA6-666E-9DDDDC729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0146734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FDCFC9-20DE-11FF-066F-212F321A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76541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3B9AB-DD08-57A9-3937-3178F40B8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20340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31B59-6FFA-DE4E-A87E-7C2F448F3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93815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A4660-17B1-E4B5-CE8C-A6BA4F03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308453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D92DC-5F54-1150-3E2B-D0217D6B4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941756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69C64-8DDE-13EF-04ED-E030FEAF9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96493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08D3A-A235-1877-D051-FCC3A9ADA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976342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26905-7CCD-FCB2-1A7E-E8BB36BCA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425737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6F266-AAFE-19DB-00DC-19E75491F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321972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0D1BF-A172-3FF0-903F-2AD081E8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4037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70E42-E71B-A766-657B-A4466062A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582018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E7962-935A-C6CA-3B98-1DCA17640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481836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C3D3E-7A80-5937-D445-0BC611F6D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905273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39288-3934-3EE8-8DA0-8B55FB44D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6114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44358-7458-9EBA-410C-00B1A20E7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276075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474C8-E1F0-54A0-7DB7-A4F186252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41363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8BA5F-0737-1C9E-B34A-C8D0C6CC1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2609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D7587-E788-2173-9FCE-ABF5926BA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601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C10DC-3F44-09D6-0EF4-E117C7AFB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822331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B0F-A5F4-4582-FC01-5E689CFFF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998718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84FF4-E87B-CEE7-4340-4A8CF2BFB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1273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430E2-575B-DE05-1E7C-0285A3ECC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037317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C7C7E-2D31-F5DA-2FCC-908AF031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909895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DCCDD-1A76-AF1A-CCB5-9A78AF6F8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0989250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D685A-5937-3C52-2F3B-74955B1FF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4505623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9A74E-5113-4DFD-160C-4238D2609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86103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71383-6B34-E468-1316-F7BB6A02D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07572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2D463-FC14-8CA8-6D2C-26A46C353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68473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045A3-7F9A-3D1E-9952-CB829B421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7706002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BD669-6DBE-F77D-D40F-7C6D96C5C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671968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E25A9-6E07-F074-80C0-B8D1E6741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321289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965A7-8CF5-3E06-19C9-4886680E1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316656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5E8E8-9926-55CC-14D3-10A08BDEC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795131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8A96-9E7C-76A2-3967-042D834D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887478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5AA9C-307F-F804-9057-56F9D9873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626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</TotalTime>
  <Words>1496</Words>
  <Application>Microsoft Office PowerPoint</Application>
  <PresentationFormat>A4 Paper (210x297 mm)</PresentationFormat>
  <Paragraphs>104</Paragraphs>
  <Slides>104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104</vt:i4>
      </vt:variant>
    </vt:vector>
  </HeadingPairs>
  <TitlesOfParts>
    <vt:vector size="113" baseType="lpstr">
      <vt:lpstr>Aptos</vt:lpstr>
      <vt:lpstr>Aptos Display</vt:lpstr>
      <vt:lpstr>Arial</vt:lpstr>
      <vt:lpstr>Arial Unicode MS</vt:lpstr>
      <vt:lpstr>BlinkMacSystemFont</vt:lpstr>
      <vt:lpstr>Consolas</vt:lpstr>
      <vt:lpstr>Courier New</vt:lpstr>
      <vt:lpstr>Google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umalavanya7@gmail.com</dc:creator>
  <cp:lastModifiedBy>umalavanya7@gmail.com</cp:lastModifiedBy>
  <cp:revision>52</cp:revision>
  <dcterms:created xsi:type="dcterms:W3CDTF">2026-02-06T21:19:28Z</dcterms:created>
  <dcterms:modified xsi:type="dcterms:W3CDTF">2026-03-07T00:05:53Z</dcterms:modified>
</cp:coreProperties>
</file>