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bookmarkIdSeed="3">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285" autoAdjust="0"/>
    <p:restoredTop sz="94660"/>
  </p:normalViewPr>
  <p:slideViewPr>
    <p:cSldViewPr snapToGrid="0">
      <p:cViewPr>
        <p:scale>
          <a:sx n="81" d="100"/>
          <a:sy n="81" d="100"/>
        </p:scale>
        <p:origin x="1522" y="25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viewProps" Target="viewProp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theme" Target="theme/theme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tableStyles" Target="tableStyles.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910579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7574479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D1FB5FC-1629-4A0D-9573-785FAC7ED01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2808332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D1FB5FC-1629-4A0D-9573-785FAC7ED01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28660089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D1FB5FC-1629-4A0D-9573-785FAC7ED015}" type="datetimeFigureOut">
              <a:rPr lang="en-US" smtClean="0"/>
              <a:t>3/6/2026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11073811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D1FB5FC-1629-4A0D-9573-785FAC7ED015}" type="datetimeFigureOut">
              <a:rPr lang="en-US" smtClean="0"/>
              <a:t>3/6/2026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5120241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D1FB5FC-1629-4A0D-9573-785FAC7ED015}" type="datetimeFigureOut">
              <a:rPr lang="en-US" smtClean="0"/>
              <a:t>3/6/2026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382022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41791197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D1FB5FC-1629-4A0D-9573-785FAC7ED015}" type="datetimeFigureOut">
              <a:rPr lang="en-US" smtClean="0"/>
              <a:t>3/6/2026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4536138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6136143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D1FB5FC-1629-4A0D-9573-785FAC7ED015}" type="datetimeFigureOut">
              <a:rPr lang="en-US" smtClean="0"/>
              <a:t>3/6/2026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483C504-7F0E-4585-832D-B71C6D96FE19}" type="slidenum">
              <a:rPr lang="en-US" smtClean="0"/>
              <a:t>‹#›</a:t>
            </a:fld>
            <a:endParaRPr lang="en-US"/>
          </a:p>
        </p:txBody>
      </p:sp>
    </p:spTree>
    <p:extLst>
      <p:ext uri="{BB962C8B-B14F-4D97-AF65-F5344CB8AC3E}">
        <p14:creationId xmlns:p14="http://schemas.microsoft.com/office/powerpoint/2010/main" val="216965029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D1FB5FC-1629-4A0D-9573-785FAC7ED015}" type="datetimeFigureOut">
              <a:rPr lang="en-US" smtClean="0"/>
              <a:t>3/6/2026</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483C504-7F0E-4585-832D-B71C6D96FE19}" type="slidenum">
              <a:rPr lang="en-US" smtClean="0"/>
              <a:t>‹#›</a:t>
            </a:fld>
            <a:endParaRPr lang="en-US"/>
          </a:p>
        </p:txBody>
      </p:sp>
    </p:spTree>
    <p:extLst>
      <p:ext uri="{BB962C8B-B14F-4D97-AF65-F5344CB8AC3E}">
        <p14:creationId xmlns:p14="http://schemas.microsoft.com/office/powerpoint/2010/main" val="20904060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intellipaat.com/blog/javascript-objects/" TargetMode="External"/><Relationship Id="rId2" Type="http://schemas.openxmlformats.org/officeDocument/2006/relationships/hyperlink" Target="https://intellipaat.com/blog/javascript-data-types/" TargetMode="External"/><Relationship Id="rId1" Type="http://schemas.openxmlformats.org/officeDocument/2006/relationships/slideLayout" Target="../slideLayouts/slideLayout1.xml"/><Relationship Id="rId4" Type="http://schemas.openxmlformats.org/officeDocument/2006/relationships/hyperlink" Target="https://intellipaat.com/blog/javascript-highest-integer-value/"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intellipaat.com/blog/javascript-var-keyword/"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https://intellipaat.com/blog/what-is-callback-function-in-javascript/" TargetMode="External"/><Relationship Id="rId2" Type="http://schemas.openxmlformats.org/officeDocument/2006/relationships/hyperlink" Target="https://intellipaat.com/blog/arrow-function-in-javascript/" TargetMode="Externa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hyperlink" Target="https://intellipaat.com/blog/javascript-filter/" TargetMode="External"/><Relationship Id="rId2" Type="http://schemas.openxmlformats.org/officeDocument/2006/relationships/hyperlink" Target="https://intellipaat.com/blog/javascript-map/" TargetMode="Externa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hyperlink" Target="https://intellipaat.com/blog/difference-between-and-in-javascript/" TargetMode="Externa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hyperlink" Target="https://intellipaat.com/blog/javascript-array-methods/" TargetMode="External"/><Relationship Id="rId2" Type="http://schemas.openxmlformats.org/officeDocument/2006/relationships/hyperlink" Target="https://intellipaat.com/blog/why-you-should-avoid-the-javascript-eval-function/" TargetMode="Externa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hyperlink" Target="https://intellipaat.com/blog/why-is-document-write-considered-a-bad-practice-in-javascript/" TargetMode="External"/><Relationship Id="rId2" Type="http://schemas.openxmlformats.org/officeDocument/2006/relationships/hyperlink" Target="https://intellipaat.com/blog/javascript-html-dom/" TargetMode="Externa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hyperlink" Target="https://intellipaat.com/blog/event-bubbling-in-javascript/"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hyperlink" Target="https://intellipaat.com/blog/event-delegation-in-javascript/" TargetMode="Externa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hyperlink" Target="https://intellipaat.com/blog/change-an-element-class-with-javascript/" TargetMode="Externa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hyperlink" Target="https://intellipaat.com/blog/javascript-plus-sign-concatenates-instead-of-giving-sum/" TargetMode="Externa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hyperlink" Target="https://intellipaat.com/blog/how-to-return-value-from-an-asynchronous-callback-function-in-javascript/" TargetMode="External"/><Relationship Id="rId2" Type="http://schemas.openxmlformats.org/officeDocument/2006/relationships/hyperlink" Target="https://intellipaat.com/blog/javascript-promise/" TargetMode="Externa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hyperlink" Target="https://intellipaat.com/blog/difference-between-java-and-javascript/" TargetMode="Externa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hyperlink" Target="https://intellipaat.com/blog/javascript-inheritance/" TargetMode="Externa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hyperlink" Target="https://intellipaat.com/blog/javascript-for-loop/" TargetMode="Externa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E7ACF58-84D3-B82F-A47F-54B6696E9703}"/>
              </a:ext>
            </a:extLst>
          </p:cNvPr>
          <p:cNvSpPr txBox="1"/>
          <p:nvPr/>
        </p:nvSpPr>
        <p:spPr>
          <a:xfrm>
            <a:off x="94397" y="74235"/>
            <a:ext cx="9717206" cy="4054956"/>
          </a:xfrm>
          <a:prstGeom prst="rect">
            <a:avLst/>
          </a:prstGeom>
          <a:noFill/>
          <a:ln>
            <a:solidFill>
              <a:schemeClr val="tx1">
                <a:lumMod val="50000"/>
                <a:lumOff val="50000"/>
              </a:schemeClr>
            </a:solidFill>
          </a:ln>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Basic </a:t>
            </a: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 Is JavaScript a Dynamic or Static language?</a:t>
            </a:r>
          </a:p>
          <a:p>
            <a:pPr algn="just">
              <a:lnSpc>
                <a:spcPts val="2100"/>
              </a:lnSpc>
              <a:spcBef>
                <a:spcPts val="1650"/>
              </a:spcBef>
              <a:buNone/>
            </a:pPr>
            <a:r>
              <a:rPr lang="en-US" b="0" i="0" dirty="0" err="1">
                <a:solidFill>
                  <a:srgbClr val="3A3A3A"/>
                </a:solidFill>
                <a:effectLst/>
                <a:latin typeface="Roboto" panose="02000000000000000000" pitchFamily="2" charset="0"/>
              </a:rPr>
              <a:t>Javascript</a:t>
            </a:r>
            <a:r>
              <a:rPr lang="en-US" b="0" i="0" dirty="0">
                <a:solidFill>
                  <a:srgbClr val="3A3A3A"/>
                </a:solidFill>
                <a:effectLst/>
                <a:latin typeface="Roboto" panose="02000000000000000000" pitchFamily="2" charset="0"/>
              </a:rPr>
              <a:t> is a Dynamic language. It does not ask you to declare the types of the variables. In JavaScript, variables can hold different data types at different times. The variables are assigned a type during runtime depending on what value it is storing at that particular time.</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br>
              <a:rPr lang="en-US" b="0" i="0" dirty="0">
                <a:solidFill>
                  <a:srgbClr val="212529"/>
                </a:solidFill>
                <a:effectLst/>
                <a:latin typeface="Courier New" panose="02070309020205020404" pitchFamily="49" charset="0"/>
              </a:rPr>
            </a:br>
            <a:r>
              <a:rPr lang="en-US" b="0" i="0" dirty="0">
                <a:solidFill>
                  <a:srgbClr val="212529"/>
                </a:solidFill>
                <a:effectLst/>
                <a:latin typeface="Courier New" panose="02070309020205020404" pitchFamily="49" charset="0"/>
              </a:rPr>
              <a:t>let x = 111;&lt;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br>
              <a:rPr lang="en-US" b="0" i="0" dirty="0">
                <a:solidFill>
                  <a:srgbClr val="212529"/>
                </a:solidFill>
                <a:effectLst/>
                <a:latin typeface="Courier New" panose="02070309020205020404" pitchFamily="49" charset="0"/>
              </a:rPr>
            </a:br>
            <a:r>
              <a:rPr lang="en-US" b="0" i="0" dirty="0">
                <a:solidFill>
                  <a:srgbClr val="212529"/>
                </a:solidFill>
                <a:effectLst/>
                <a:latin typeface="Courier New" panose="02070309020205020404" pitchFamily="49" charset="0"/>
              </a:rPr>
              <a:t>Here ‘x’ has data type of Number</a:t>
            </a:r>
            <a:br>
              <a:rPr lang="en-US" b="0" i="0" dirty="0">
                <a:solidFill>
                  <a:srgbClr val="212529"/>
                </a:solidFill>
                <a:effectLst/>
                <a:latin typeface="Courier New" panose="02070309020205020404" pitchFamily="49" charset="0"/>
              </a:rPr>
            </a:br>
            <a:r>
              <a:rPr lang="en-US" b="0" i="0" dirty="0">
                <a:solidFill>
                  <a:srgbClr val="212529"/>
                </a:solidFill>
                <a:effectLst/>
                <a:latin typeface="Courier New" panose="02070309020205020404" pitchFamily="49" charset="0"/>
              </a:rPr>
              <a:t>x =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br>
              <a:rPr lang="en-US" b="0" i="0" dirty="0">
                <a:solidFill>
                  <a:srgbClr val="212529"/>
                </a:solidFill>
                <a:effectLst/>
                <a:latin typeface="Courier New" panose="02070309020205020404" pitchFamily="49" charset="0"/>
              </a:rPr>
            </a:br>
            <a:r>
              <a:rPr lang="en-US" b="0" i="0" dirty="0">
                <a:solidFill>
                  <a:srgbClr val="212529"/>
                </a:solidFill>
                <a:effectLst/>
                <a:latin typeface="Courier New" panose="02070309020205020404" pitchFamily="49" charset="0"/>
              </a:rPr>
              <a:t>Here ‘x’ has data type of String&lt;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
        <p:nvSpPr>
          <p:cNvPr id="4" name="TextBox 3">
            <a:extLst>
              <a:ext uri="{FF2B5EF4-FFF2-40B4-BE49-F238E27FC236}">
                <a16:creationId xmlns:a16="http://schemas.microsoft.com/office/drawing/2014/main" id="{1E2F056A-16E9-E357-D189-F4E18D95D2FB}"/>
              </a:ext>
            </a:extLst>
          </p:cNvPr>
          <p:cNvSpPr txBox="1"/>
          <p:nvPr/>
        </p:nvSpPr>
        <p:spPr>
          <a:xfrm>
            <a:off x="94397" y="4405133"/>
            <a:ext cx="9559557" cy="1618392"/>
          </a:xfrm>
          <a:prstGeom prst="rect">
            <a:avLst/>
          </a:prstGeom>
          <a:noFill/>
          <a:ln>
            <a:solidFill>
              <a:schemeClr val="tx1">
                <a:lumMod val="50000"/>
                <a:lumOff val="50000"/>
              </a:schemeClr>
            </a:solidFill>
          </a:ln>
        </p:spPr>
        <p:txBody>
          <a:bodyPr wrap="square">
            <a:spAutoFit/>
          </a:bodyPr>
          <a:lstStyle/>
          <a:p>
            <a:pPr marL="0" marR="0" lvl="0" indent="0" algn="l" defTabSz="457200" rtl="0" eaLnBrk="1" fontAlgn="auto" latinLnBrk="0" hangingPunct="1">
              <a:lnSpc>
                <a:spcPts val="2100"/>
              </a:lnSpc>
              <a:spcBef>
                <a:spcPts val="2400"/>
              </a:spcBef>
              <a:spcAft>
                <a:spcPts val="1800"/>
              </a:spcAft>
              <a:buClrTx/>
              <a:buSzTx/>
              <a:buFontTx/>
              <a:buNone/>
              <a:tabLst/>
              <a:defRPr/>
            </a:pPr>
            <a:r>
              <a:rPr kumimoji="0" lang="en-US" sz="1800" b="0" i="0" u="none" strike="noStrike" kern="1200" cap="none" spc="0" normalizeH="0" baseline="0" noProof="0" dirty="0">
                <a:ln>
                  <a:noFill/>
                </a:ln>
                <a:solidFill>
                  <a:srgbClr val="272C37"/>
                </a:solidFill>
                <a:effectLst/>
                <a:uLnTx/>
                <a:uFillTx/>
                <a:latin typeface="Roboto" panose="02000000000000000000" pitchFamily="2" charset="0"/>
                <a:ea typeface="+mn-ea"/>
                <a:cs typeface="+mn-cs"/>
              </a:rPr>
              <a:t>2. Is JavaScript synchronous or asynchronous?</a:t>
            </a:r>
          </a:p>
          <a:p>
            <a:pPr marL="0" marR="0" lvl="0" indent="0" algn="just" defTabSz="457200" rtl="0" eaLnBrk="1" fontAlgn="auto" latinLnBrk="0" hangingPunct="1">
              <a:lnSpc>
                <a:spcPts val="2100"/>
              </a:lnSpc>
              <a:spcBef>
                <a:spcPts val="1650"/>
              </a:spcBef>
              <a:spcAft>
                <a:spcPts val="0"/>
              </a:spcAft>
              <a:buClrTx/>
              <a:buSzTx/>
              <a:buFontTx/>
              <a:buNone/>
              <a:tabLst/>
              <a:defRPr/>
            </a:pPr>
            <a:r>
              <a:rPr kumimoji="0" lang="en-US" sz="1800" b="0" i="0" u="none" strike="noStrike" kern="1200" cap="none" spc="0" normalizeH="0" baseline="0" noProof="0" dirty="0">
                <a:ln>
                  <a:noFill/>
                </a:ln>
                <a:solidFill>
                  <a:srgbClr val="3A3A3A"/>
                </a:solidFill>
                <a:effectLst/>
                <a:uLnTx/>
                <a:uFillTx/>
                <a:latin typeface="Roboto" panose="02000000000000000000" pitchFamily="2" charset="0"/>
                <a:ea typeface="+mn-ea"/>
                <a:cs typeface="+mn-cs"/>
              </a:rPr>
              <a:t>JavaScript is synchronous and single-threaded by default. It becomes asynchronous when using asynchronous operations like making HTTP requests, using timers, </a:t>
            </a:r>
            <a:r>
              <a:rPr kumimoji="0" lang="en-US" sz="1800" b="0" i="0" u="none" strike="noStrike" kern="1200" cap="none" spc="0" normalizeH="0" baseline="0" noProof="0" dirty="0" err="1">
                <a:ln>
                  <a:noFill/>
                </a:ln>
                <a:solidFill>
                  <a:srgbClr val="3A3A3A"/>
                </a:solidFill>
                <a:effectLst/>
                <a:uLnTx/>
                <a:uFillTx/>
                <a:latin typeface="Roboto" panose="02000000000000000000" pitchFamily="2" charset="0"/>
                <a:ea typeface="+mn-ea"/>
                <a:cs typeface="+mn-cs"/>
              </a:rPr>
              <a:t>etc</a:t>
            </a:r>
            <a:r>
              <a:rPr kumimoji="0" lang="en-US" sz="1800" b="0" i="0" u="none" strike="noStrike" kern="1200" cap="none" spc="0" normalizeH="0" baseline="0" noProof="0" dirty="0">
                <a:ln>
                  <a:noFill/>
                </a:ln>
                <a:solidFill>
                  <a:srgbClr val="3A3A3A"/>
                </a:solidFill>
                <a:effectLst/>
                <a:uLnTx/>
                <a:uFillTx/>
                <a:latin typeface="Roboto" panose="02000000000000000000" pitchFamily="2" charset="0"/>
                <a:ea typeface="+mn-ea"/>
                <a:cs typeface="+mn-cs"/>
              </a:rPr>
              <a:t>, or using web workers.</a:t>
            </a:r>
          </a:p>
        </p:txBody>
      </p:sp>
    </p:spTree>
    <p:extLst>
      <p:ext uri="{BB962C8B-B14F-4D97-AF65-F5344CB8AC3E}">
        <p14:creationId xmlns:p14="http://schemas.microsoft.com/office/powerpoint/2010/main" val="6867814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D047F0-2EEC-3B96-C431-447C7F2D006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370B1C6-C144-2A01-42BF-A4272458043F}"/>
              </a:ext>
            </a:extLst>
          </p:cNvPr>
          <p:cNvSpPr txBox="1"/>
          <p:nvPr/>
        </p:nvSpPr>
        <p:spPr>
          <a:xfrm>
            <a:off x="256769" y="131312"/>
            <a:ext cx="9649231" cy="3077766"/>
          </a:xfrm>
          <a:prstGeom prst="rect">
            <a:avLst/>
          </a:prstGeom>
          <a:noFill/>
        </p:spPr>
        <p:txBody>
          <a:bodyPr wrap="square">
            <a:spAutoFit/>
          </a:bodyPr>
          <a:lstStyle/>
          <a:p>
            <a:pPr algn="l">
              <a:spcAft>
                <a:spcPts val="1800"/>
              </a:spcAft>
              <a:buNone/>
            </a:pPr>
            <a:r>
              <a:rPr lang="en-US" sz="1200" b="0" i="0" dirty="0">
                <a:solidFill>
                  <a:srgbClr val="272C37"/>
                </a:solidFill>
                <a:effectLst/>
                <a:latin typeface="Roboto" panose="02000000000000000000" pitchFamily="2" charset="0"/>
              </a:rPr>
              <a:t>3. What are the different data types available in JS?</a:t>
            </a:r>
          </a:p>
          <a:p>
            <a:pPr algn="just">
              <a:buNone/>
            </a:pPr>
            <a:r>
              <a:rPr lang="en-US" sz="1200" b="0" i="0" dirty="0">
                <a:solidFill>
                  <a:srgbClr val="3A3A3A"/>
                </a:solidFill>
                <a:effectLst/>
                <a:latin typeface="Roboto" panose="02000000000000000000" pitchFamily="2" charset="0"/>
              </a:rPr>
              <a:t>JavaScript has the following </a:t>
            </a:r>
            <a:r>
              <a:rPr lang="en-US" sz="1200" b="0" i="0" u="none" strike="noStrike" dirty="0">
                <a:solidFill>
                  <a:srgbClr val="0F5A9E"/>
                </a:solidFill>
                <a:effectLst/>
                <a:latin typeface="Roboto" panose="02000000000000000000" pitchFamily="2" charset="0"/>
                <a:hlinkClick r:id="rId2"/>
              </a:rPr>
              <a:t>data types</a:t>
            </a:r>
            <a:r>
              <a:rPr lang="en-US" sz="1200" b="0" i="0" dirty="0">
                <a:solidFill>
                  <a:srgbClr val="3A3A3A"/>
                </a:solidFill>
                <a:effectLst/>
                <a:latin typeface="Roboto" panose="02000000000000000000" pitchFamily="2" charset="0"/>
              </a:rPr>
              <a:t>:</a:t>
            </a:r>
          </a:p>
          <a:p>
            <a:pPr algn="just">
              <a:spcAft>
                <a:spcPts val="600"/>
              </a:spcAft>
              <a:buFont typeface="+mj-lt"/>
              <a:buAutoNum type="arabicPeriod"/>
            </a:pPr>
            <a:r>
              <a:rPr lang="en-US" sz="1200" b="0" i="0" dirty="0">
                <a:solidFill>
                  <a:srgbClr val="3A3A3A"/>
                </a:solidFill>
                <a:effectLst/>
                <a:latin typeface="Roboto" panose="02000000000000000000" pitchFamily="2" charset="0"/>
              </a:rPr>
              <a:t>Number – Stores integer and floating-point values.</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sum = 555;&lt;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share = 55.55;&lt;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spcAft>
                <a:spcPts val="600"/>
              </a:spcAft>
              <a:buFont typeface="+mj-lt"/>
              <a:buAutoNum type="arabicPeriod" startAt="2"/>
            </a:pPr>
            <a:r>
              <a:rPr lang="en-US" sz="1200" b="0" i="0" dirty="0" err="1">
                <a:solidFill>
                  <a:srgbClr val="3A3A3A"/>
                </a:solidFill>
                <a:effectLst/>
                <a:latin typeface="Roboto" panose="02000000000000000000" pitchFamily="2" charset="0"/>
              </a:rPr>
              <a:t>BigInt</a:t>
            </a:r>
            <a:r>
              <a:rPr lang="en-US" sz="1200" b="0" i="0" dirty="0">
                <a:solidFill>
                  <a:srgbClr val="3A3A3A"/>
                </a:solidFill>
                <a:effectLst/>
                <a:latin typeface="Roboto" panose="02000000000000000000" pitchFamily="2" charset="0"/>
              </a:rPr>
              <a:t> – Introduced in ES11(ECMAScript 2020). It handles values which have an exceed maximum safe integer value.</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a:t>
            </a:r>
            <a:r>
              <a:rPr lang="en-US" sz="1200" b="0" i="0" dirty="0" err="1">
                <a:solidFill>
                  <a:srgbClr val="212529"/>
                </a:solidFill>
                <a:effectLst/>
                <a:latin typeface="Courier New" panose="02070309020205020404" pitchFamily="49" charset="0"/>
              </a:rPr>
              <a:t>bigNumber</a:t>
            </a:r>
            <a:r>
              <a:rPr lang="en-US" sz="1200" b="0" i="0" dirty="0">
                <a:solidFill>
                  <a:srgbClr val="212529"/>
                </a:solidFill>
                <a:effectLst/>
                <a:latin typeface="Courier New" panose="02070309020205020404" pitchFamily="49" charset="0"/>
              </a:rPr>
              <a:t> = 8938123748264892374749279272187847874899n;&lt;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spcAft>
                <a:spcPts val="600"/>
              </a:spcAft>
              <a:buFont typeface="+mj-lt"/>
              <a:buAutoNum type="arabicPeriod" startAt="3"/>
            </a:pPr>
            <a:r>
              <a:rPr lang="en-US" sz="1200" b="0" i="0" dirty="0">
                <a:solidFill>
                  <a:srgbClr val="3A3A3A"/>
                </a:solidFill>
                <a:effectLst/>
                <a:latin typeface="Roboto" panose="02000000000000000000" pitchFamily="2" charset="0"/>
              </a:rPr>
              <a:t>String – Stores textual data.</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company = “</a:t>
            </a:r>
            <a:r>
              <a:rPr lang="en-US" sz="1200" b="0" i="0" dirty="0" err="1">
                <a:solidFill>
                  <a:srgbClr val="212529"/>
                </a:solidFill>
                <a:effectLst/>
                <a:latin typeface="Courier New" panose="02070309020205020404" pitchFamily="49" charset="0"/>
              </a:rPr>
              <a:t>Intellipaat</a:t>
            </a: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p:txBody>
      </p:sp>
      <p:sp>
        <p:nvSpPr>
          <p:cNvPr id="5" name="TextBox 4">
            <a:extLst>
              <a:ext uri="{FF2B5EF4-FFF2-40B4-BE49-F238E27FC236}">
                <a16:creationId xmlns:a16="http://schemas.microsoft.com/office/drawing/2014/main" id="{11E6D8D8-EA9A-9B18-BC32-87F566E81E51}"/>
              </a:ext>
            </a:extLst>
          </p:cNvPr>
          <p:cNvSpPr txBox="1"/>
          <p:nvPr/>
        </p:nvSpPr>
        <p:spPr>
          <a:xfrm>
            <a:off x="688157" y="2428944"/>
            <a:ext cx="9217843" cy="3944670"/>
          </a:xfrm>
          <a:prstGeom prst="rect">
            <a:avLst/>
          </a:prstGeom>
          <a:noFill/>
        </p:spPr>
        <p:txBody>
          <a:bodyPr wrap="square">
            <a:spAutoFit/>
          </a:bodyPr>
          <a:lstStyle/>
          <a:p>
            <a:pPr algn="just">
              <a:spcAft>
                <a:spcPts val="600"/>
              </a:spcAft>
              <a:buFont typeface="+mj-lt"/>
              <a:buAutoNum type="arabicPeriod" startAt="4"/>
            </a:pPr>
            <a:r>
              <a:rPr lang="en-US" sz="1200" b="0" i="0" dirty="0">
                <a:solidFill>
                  <a:srgbClr val="3A3A3A"/>
                </a:solidFill>
                <a:effectLst/>
                <a:latin typeface="Roboto" panose="02000000000000000000" pitchFamily="2" charset="0"/>
              </a:rPr>
              <a:t>Boolean – Can store only two values: true or false</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a:t>
            </a:r>
            <a:r>
              <a:rPr lang="en-US" sz="1200" b="0" i="0" dirty="0" err="1">
                <a:solidFill>
                  <a:srgbClr val="212529"/>
                </a:solidFill>
                <a:effectLst/>
                <a:latin typeface="Courier New" panose="02070309020205020404" pitchFamily="49" charset="0"/>
              </a:rPr>
              <a:t>boolValue</a:t>
            </a:r>
            <a:r>
              <a:rPr lang="en-US" sz="1200" b="0" i="0" dirty="0">
                <a:solidFill>
                  <a:srgbClr val="212529"/>
                </a:solidFill>
                <a:effectLst/>
                <a:latin typeface="Courier New" panose="02070309020205020404" pitchFamily="49" charset="0"/>
              </a:rPr>
              <a:t> = false;&lt;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spcAft>
                <a:spcPts val="600"/>
              </a:spcAft>
              <a:buFont typeface="+mj-lt"/>
              <a:buAutoNum type="arabicPeriod" startAt="5"/>
            </a:pPr>
            <a:r>
              <a:rPr lang="en-US" sz="1200" b="0" i="0" dirty="0">
                <a:solidFill>
                  <a:srgbClr val="3A3A3A"/>
                </a:solidFill>
                <a:effectLst/>
                <a:latin typeface="Roboto" panose="02000000000000000000" pitchFamily="2" charset="0"/>
              </a:rPr>
              <a:t>Undefined – Undefined data type is given to a variable that has been declared but has not been given a value to hold.</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a:t>
            </a:r>
            <a:r>
              <a:rPr lang="en-US" sz="1200" b="0" i="0" dirty="0" err="1">
                <a:solidFill>
                  <a:srgbClr val="212529"/>
                </a:solidFill>
                <a:effectLst/>
                <a:latin typeface="Courier New" panose="02070309020205020404" pitchFamily="49" charset="0"/>
              </a:rPr>
              <a:t>myValue</a:t>
            </a: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spcAft>
                <a:spcPts val="600"/>
              </a:spcAft>
              <a:buFont typeface="+mj-lt"/>
              <a:buAutoNum type="arabicPeriod" startAt="6"/>
            </a:pPr>
            <a:r>
              <a:rPr lang="en-US" sz="1200" b="0" i="0" dirty="0">
                <a:solidFill>
                  <a:srgbClr val="3A3A3A"/>
                </a:solidFill>
                <a:effectLst/>
                <a:latin typeface="Roboto" panose="02000000000000000000" pitchFamily="2" charset="0"/>
              </a:rPr>
              <a:t>Null – Null is for specifying that the given variable does not hold any value but null.</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a:t>
            </a:r>
            <a:r>
              <a:rPr lang="en-US" sz="1200" b="0" i="0" dirty="0" err="1">
                <a:solidFill>
                  <a:srgbClr val="212529"/>
                </a:solidFill>
                <a:effectLst/>
                <a:latin typeface="Courier New" panose="02070309020205020404" pitchFamily="49" charset="0"/>
              </a:rPr>
              <a:t>noValue</a:t>
            </a:r>
            <a:r>
              <a:rPr lang="en-US" sz="1200" b="0" i="0" dirty="0">
                <a:solidFill>
                  <a:srgbClr val="212529"/>
                </a:solidFill>
                <a:effectLst/>
                <a:latin typeface="Courier New" panose="02070309020205020404" pitchFamily="49" charset="0"/>
              </a:rPr>
              <a:t> = null;&lt;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spcAft>
                <a:spcPts val="600"/>
              </a:spcAft>
              <a:buFont typeface="+mj-lt"/>
              <a:buAutoNum type="arabicPeriod" startAt="7"/>
            </a:pPr>
            <a:r>
              <a:rPr lang="en-US" sz="1200" b="0" i="0" dirty="0">
                <a:solidFill>
                  <a:srgbClr val="3A3A3A"/>
                </a:solidFill>
                <a:effectLst/>
                <a:latin typeface="Roboto" panose="02000000000000000000" pitchFamily="2" charset="0"/>
              </a:rPr>
              <a:t>Symbol – This was introduced in ES6. It deals with creating unique values.</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a:t>
            </a:r>
            <a:r>
              <a:rPr lang="en-US" sz="1200" b="0" i="0" dirty="0" err="1">
                <a:solidFill>
                  <a:srgbClr val="212529"/>
                </a:solidFill>
                <a:effectLst/>
                <a:latin typeface="Courier New" panose="02070309020205020404" pitchFamily="49" charset="0"/>
              </a:rPr>
              <a:t>uniqueValue</a:t>
            </a:r>
            <a:r>
              <a:rPr lang="en-US" sz="1200" b="0" i="0" dirty="0">
                <a:solidFill>
                  <a:srgbClr val="212529"/>
                </a:solidFill>
                <a:effectLst/>
                <a:latin typeface="Courier New" panose="02070309020205020404" pitchFamily="49" charset="0"/>
              </a:rPr>
              <a:t> = Symbol(“unique”);&lt;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spcAft>
                <a:spcPts val="600"/>
              </a:spcAft>
              <a:buFont typeface="+mj-lt"/>
              <a:buAutoNum type="arabicPeriod" startAt="8"/>
            </a:pPr>
            <a:r>
              <a:rPr lang="en-US" sz="1200" b="0" i="0" dirty="0">
                <a:solidFill>
                  <a:srgbClr val="3A3A3A"/>
                </a:solidFill>
                <a:effectLst/>
                <a:latin typeface="Roboto" panose="02000000000000000000" pitchFamily="2" charset="0"/>
              </a:rPr>
              <a:t>Object – </a:t>
            </a:r>
            <a:r>
              <a:rPr lang="en-US" sz="1200" b="0" i="0" u="none" strike="noStrike" dirty="0">
                <a:solidFill>
                  <a:srgbClr val="0F5A9E"/>
                </a:solidFill>
                <a:effectLst/>
                <a:latin typeface="Roboto" panose="02000000000000000000" pitchFamily="2" charset="0"/>
                <a:hlinkClick r:id="rId3"/>
              </a:rPr>
              <a:t>Objects in JavaScript</a:t>
            </a:r>
            <a:r>
              <a:rPr lang="en-US" sz="1200" b="0" i="0" dirty="0">
                <a:solidFill>
                  <a:srgbClr val="3A3A3A"/>
                </a:solidFill>
                <a:effectLst/>
                <a:latin typeface="Roboto" panose="02000000000000000000" pitchFamily="2" charset="0"/>
              </a:rPr>
              <a:t> are like key-value pairs.</a:t>
            </a:r>
          </a:p>
          <a:p>
            <a:pPr algn="l">
              <a:spcAft>
                <a:spcPts val="375"/>
              </a:spcAft>
              <a:buNone/>
            </a:pPr>
            <a:r>
              <a:rPr lang="en-US" sz="1200" b="0" i="0" dirty="0">
                <a:solidFill>
                  <a:srgbClr val="212529"/>
                </a:solidFill>
                <a:effectLst/>
                <a:latin typeface="Courier New" panose="02070309020205020404" pitchFamily="49" charset="0"/>
              </a:rPr>
              <a:t>&lt;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l">
              <a:spcAft>
                <a:spcPts val="375"/>
              </a:spcAft>
              <a:buNone/>
            </a:pPr>
            <a:r>
              <a:rPr lang="en-US" sz="1200" b="0" i="0" dirty="0">
                <a:solidFill>
                  <a:srgbClr val="212529"/>
                </a:solidFill>
                <a:effectLst/>
                <a:latin typeface="Courier New" panose="02070309020205020404" pitchFamily="49" charset="0"/>
              </a:rPr>
              <a:t>let company = { name: “</a:t>
            </a:r>
            <a:r>
              <a:rPr lang="en-US" sz="1200" b="0" i="0" dirty="0" err="1">
                <a:solidFill>
                  <a:srgbClr val="212529"/>
                </a:solidFill>
                <a:effectLst/>
                <a:latin typeface="Courier New" panose="02070309020205020404" pitchFamily="49" charset="0"/>
              </a:rPr>
              <a:t>Intellipaat</a:t>
            </a:r>
            <a:r>
              <a:rPr lang="en-US" sz="1200" b="0" i="0" dirty="0">
                <a:solidFill>
                  <a:srgbClr val="212529"/>
                </a:solidFill>
                <a:effectLst/>
                <a:latin typeface="Courier New" panose="02070309020205020404" pitchFamily="49" charset="0"/>
              </a:rPr>
              <a:t>”, employees: 200 };&lt;</a:t>
            </a:r>
            <a:r>
              <a:rPr lang="en-US" sz="1200" b="0" i="0" dirty="0" err="1">
                <a:solidFill>
                  <a:srgbClr val="212529"/>
                </a:solidFill>
                <a:effectLst/>
                <a:latin typeface="Courier New" panose="02070309020205020404" pitchFamily="49" charset="0"/>
              </a:rPr>
              <a:t>br</a:t>
            </a:r>
            <a:r>
              <a:rPr lang="en-US" sz="1200" b="0" i="0" dirty="0">
                <a:solidFill>
                  <a:srgbClr val="212529"/>
                </a:solidFill>
                <a:effectLst/>
                <a:latin typeface="Courier New" panose="02070309020205020404" pitchFamily="49" charset="0"/>
              </a:rPr>
              <a:t>&gt;</a:t>
            </a:r>
          </a:p>
          <a:p>
            <a:pPr algn="just">
              <a:buNone/>
            </a:pPr>
            <a:r>
              <a:rPr lang="en-US" sz="1200" b="0" i="0" dirty="0">
                <a:solidFill>
                  <a:srgbClr val="3A3A3A"/>
                </a:solidFill>
                <a:effectLst/>
                <a:latin typeface="Roboto" panose="02000000000000000000" pitchFamily="2" charset="0"/>
              </a:rPr>
              <a:t>Understand what the </a:t>
            </a:r>
            <a:r>
              <a:rPr lang="en-US" sz="1200" b="0" i="0" u="none" strike="noStrike" dirty="0">
                <a:solidFill>
                  <a:srgbClr val="0F5A9E"/>
                </a:solidFill>
                <a:effectLst/>
                <a:latin typeface="Roboto" panose="02000000000000000000" pitchFamily="2" charset="0"/>
                <a:hlinkClick r:id="rId4"/>
              </a:rPr>
              <a:t>highest integer value is in JavaScript</a:t>
            </a:r>
            <a:r>
              <a:rPr lang="en-US" sz="1200" b="0" i="0" dirty="0">
                <a:solidFill>
                  <a:srgbClr val="3A3A3A"/>
                </a:solidFill>
                <a:effectLst/>
                <a:latin typeface="Roboto" panose="02000000000000000000" pitchFamily="2" charset="0"/>
              </a:rPr>
              <a:t> through this blog.</a:t>
            </a:r>
          </a:p>
        </p:txBody>
      </p:sp>
    </p:spTree>
    <p:extLst>
      <p:ext uri="{BB962C8B-B14F-4D97-AF65-F5344CB8AC3E}">
        <p14:creationId xmlns:p14="http://schemas.microsoft.com/office/powerpoint/2010/main" val="11573936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34D29A-B4F1-7845-01A9-9FC7E064E3C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A4C4076-266D-DD9D-A23F-6F10FAA22159}"/>
              </a:ext>
            </a:extLst>
          </p:cNvPr>
          <p:cNvSpPr txBox="1"/>
          <p:nvPr/>
        </p:nvSpPr>
        <p:spPr>
          <a:xfrm>
            <a:off x="-197892" y="-717461"/>
            <a:ext cx="4954136" cy="532453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 State the difference between var, let, and const.</a:t>
            </a:r>
          </a:p>
          <a:p>
            <a:pPr algn="just">
              <a:lnSpc>
                <a:spcPts val="2100"/>
              </a:lnSpc>
              <a:spcBef>
                <a:spcPts val="1650"/>
              </a:spcBef>
              <a:buNone/>
            </a:pPr>
            <a:r>
              <a:rPr lang="en-US" b="0" i="0" dirty="0">
                <a:solidFill>
                  <a:srgbClr val="3A3A3A"/>
                </a:solidFill>
                <a:effectLst/>
                <a:latin typeface="Roboto" panose="02000000000000000000" pitchFamily="2" charset="0"/>
              </a:rPr>
              <a:t>Early </a:t>
            </a:r>
            <a:r>
              <a:rPr lang="en-US" b="0" i="0" dirty="0" err="1">
                <a:solidFill>
                  <a:srgbClr val="3A3A3A"/>
                </a:solidFill>
                <a:effectLst/>
                <a:latin typeface="Roboto" panose="02000000000000000000" pitchFamily="2" charset="0"/>
              </a:rPr>
              <a:t>Javascript</a:t>
            </a:r>
            <a:r>
              <a:rPr lang="en-US" b="0" i="0" dirty="0">
                <a:solidFill>
                  <a:srgbClr val="3A3A3A"/>
                </a:solidFill>
                <a:effectLst/>
                <a:latin typeface="Roboto" panose="02000000000000000000" pitchFamily="2" charset="0"/>
              </a:rPr>
              <a:t> had only </a:t>
            </a:r>
            <a:r>
              <a:rPr lang="en-US" b="0" i="0" u="none" strike="noStrike" dirty="0">
                <a:solidFill>
                  <a:srgbClr val="0F5A9E"/>
                </a:solidFill>
                <a:effectLst/>
                <a:latin typeface="Roboto" panose="02000000000000000000" pitchFamily="2" charset="0"/>
                <a:hlinkClick r:id="rId2"/>
              </a:rPr>
              <a:t>‘var’ keywords</a:t>
            </a:r>
            <a:r>
              <a:rPr lang="en-US" b="0" i="0" dirty="0">
                <a:solidFill>
                  <a:srgbClr val="3A3A3A"/>
                </a:solidFill>
                <a:effectLst/>
                <a:latin typeface="Roboto" panose="02000000000000000000" pitchFamily="2" charset="0"/>
              </a:rPr>
              <a:t> to declare variables. Variables declared as ‘var’ are globally scoped or function scoped. In its given scope it can be redeclared as many times as needed.</a:t>
            </a:r>
          </a:p>
          <a:p>
            <a:pPr algn="just">
              <a:lnSpc>
                <a:spcPts val="2100"/>
              </a:lnSpc>
              <a:spcBef>
                <a:spcPts val="750"/>
              </a:spcBef>
              <a:buNone/>
            </a:pPr>
            <a:r>
              <a:rPr lang="en-US" b="0" i="0" dirty="0">
                <a:solidFill>
                  <a:srgbClr val="3A3A3A"/>
                </a:solidFill>
                <a:effectLst/>
                <a:latin typeface="Roboto" panose="02000000000000000000" pitchFamily="2" charset="0"/>
              </a:rPr>
              <a:t>Modern </a:t>
            </a:r>
            <a:r>
              <a:rPr lang="en-US" b="0" i="0" dirty="0" err="1">
                <a:solidFill>
                  <a:srgbClr val="3A3A3A"/>
                </a:solidFill>
                <a:effectLst/>
                <a:latin typeface="Roboto" panose="02000000000000000000" pitchFamily="2" charset="0"/>
              </a:rPr>
              <a:t>Javascript</a:t>
            </a:r>
            <a:r>
              <a:rPr lang="en-US" b="0" i="0" dirty="0">
                <a:solidFill>
                  <a:srgbClr val="3A3A3A"/>
                </a:solidFill>
                <a:effectLst/>
                <a:latin typeface="Roboto" panose="02000000000000000000" pitchFamily="2" charset="0"/>
              </a:rPr>
              <a:t> (ES6) introduced two new keywords ‘let’ and ‘const’ to declare variables. Variables declared with these two keywords are block-scoped and they cannot be reassigned in their given scope. Variables declared ‘let’ can be reassigned a new value in its scope but variables declared ‘const’ cannot be assigned a new value.</a:t>
            </a:r>
          </a:p>
          <a:p>
            <a:pPr algn="just">
              <a:lnSpc>
                <a:spcPts val="2100"/>
              </a:lnSpc>
              <a:spcBef>
                <a:spcPts val="750"/>
              </a:spcBef>
              <a:buNone/>
            </a:pPr>
            <a:r>
              <a:rPr lang="en-US" b="0" i="0" dirty="0">
                <a:solidFill>
                  <a:srgbClr val="3A3A3A"/>
                </a:solidFill>
                <a:effectLst/>
                <a:latin typeface="Roboto" panose="02000000000000000000" pitchFamily="2" charset="0"/>
              </a:rPr>
              <a:t>The following table will give you a gist of their differences:</a:t>
            </a:r>
          </a:p>
        </p:txBody>
      </p:sp>
      <p:graphicFrame>
        <p:nvGraphicFramePr>
          <p:cNvPr id="4" name="Table 3">
            <a:extLst>
              <a:ext uri="{FF2B5EF4-FFF2-40B4-BE49-F238E27FC236}">
                <a16:creationId xmlns:a16="http://schemas.microsoft.com/office/drawing/2014/main" id="{6828B655-9D0B-341B-8760-ACA89341D7B8}"/>
              </a:ext>
            </a:extLst>
          </p:cNvPr>
          <p:cNvGraphicFramePr>
            <a:graphicFrameLocks noGrp="1"/>
          </p:cNvGraphicFramePr>
          <p:nvPr/>
        </p:nvGraphicFramePr>
        <p:xfrm>
          <a:off x="681038" y="2446814"/>
          <a:ext cx="8543924" cy="3108960"/>
        </p:xfrm>
        <a:graphic>
          <a:graphicData uri="http://schemas.openxmlformats.org/drawingml/2006/table">
            <a:tbl>
              <a:tblPr/>
              <a:tblGrid>
                <a:gridCol w="2135981">
                  <a:extLst>
                    <a:ext uri="{9D8B030D-6E8A-4147-A177-3AD203B41FA5}">
                      <a16:colId xmlns:a16="http://schemas.microsoft.com/office/drawing/2014/main" val="3372296005"/>
                    </a:ext>
                  </a:extLst>
                </a:gridCol>
                <a:gridCol w="2135981">
                  <a:extLst>
                    <a:ext uri="{9D8B030D-6E8A-4147-A177-3AD203B41FA5}">
                      <a16:colId xmlns:a16="http://schemas.microsoft.com/office/drawing/2014/main" val="1251185187"/>
                    </a:ext>
                  </a:extLst>
                </a:gridCol>
                <a:gridCol w="2135981">
                  <a:extLst>
                    <a:ext uri="{9D8B030D-6E8A-4147-A177-3AD203B41FA5}">
                      <a16:colId xmlns:a16="http://schemas.microsoft.com/office/drawing/2014/main" val="4138288428"/>
                    </a:ext>
                  </a:extLst>
                </a:gridCol>
                <a:gridCol w="2135981">
                  <a:extLst>
                    <a:ext uri="{9D8B030D-6E8A-4147-A177-3AD203B41FA5}">
                      <a16:colId xmlns:a16="http://schemas.microsoft.com/office/drawing/2014/main" val="4063018694"/>
                    </a:ext>
                  </a:extLst>
                </a:gridCol>
              </a:tblGrid>
              <a:tr h="0">
                <a:tc>
                  <a:txBody>
                    <a:bodyPr/>
                    <a:lstStyle/>
                    <a:p>
                      <a:pPr algn="ctr" fontAlgn="t">
                        <a:buNone/>
                      </a:pPr>
                      <a:r>
                        <a:rPr lang="en-US" b="0">
                          <a:solidFill>
                            <a:srgbClr val="FFFFFF"/>
                          </a:solidFill>
                          <a:effectLst/>
                        </a:rPr>
                        <a:t>Characteristics</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var</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let</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b="0">
                          <a:solidFill>
                            <a:srgbClr val="FFFFFF"/>
                          </a:solidFill>
                          <a:effectLst/>
                        </a:rPr>
                        <a:t>const</a:t>
                      </a:r>
                      <a:endParaRPr lang="en-US">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223361585"/>
                  </a:ext>
                </a:extLst>
              </a:tr>
              <a:tr h="0">
                <a:tc>
                  <a:txBody>
                    <a:bodyPr/>
                    <a:lstStyle/>
                    <a:p>
                      <a:pPr fontAlgn="t">
                        <a:buNone/>
                      </a:pPr>
                      <a:r>
                        <a:rPr lang="en-US">
                          <a:effectLst/>
                        </a:rPr>
                        <a:t>Scope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Function or Global Scoped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Block-scoped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Block-scoped</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744664697"/>
                  </a:ext>
                </a:extLst>
              </a:tr>
              <a:tr h="0">
                <a:tc>
                  <a:txBody>
                    <a:bodyPr/>
                    <a:lstStyle/>
                    <a:p>
                      <a:pPr fontAlgn="t">
                        <a:buNone/>
                      </a:pPr>
                      <a:r>
                        <a:rPr lang="en-US">
                          <a:effectLst/>
                        </a:rPr>
                        <a:t>Redeclaration(in the same scope)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366910510"/>
                  </a:ext>
                </a:extLst>
              </a:tr>
              <a:tr h="0">
                <a:tc>
                  <a:txBody>
                    <a:bodyPr/>
                    <a:lstStyle/>
                    <a:p>
                      <a:pPr fontAlgn="t">
                        <a:buNone/>
                      </a:pPr>
                      <a:r>
                        <a:rPr lang="en-US">
                          <a:effectLst/>
                        </a:rPr>
                        <a:t>Reassignable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460423342"/>
                  </a:ext>
                </a:extLst>
              </a:tr>
              <a:tr h="0">
                <a:tc>
                  <a:txBody>
                    <a:bodyPr/>
                    <a:lstStyle/>
                    <a:p>
                      <a:pPr fontAlgn="t">
                        <a:buNone/>
                      </a:pPr>
                      <a:r>
                        <a:rPr lang="en-US">
                          <a:effectLst/>
                        </a:rPr>
                        <a:t>Hoisting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Yes</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445934746"/>
                  </a:ext>
                </a:extLst>
              </a:tr>
              <a:tr h="0">
                <a:tc>
                  <a:txBody>
                    <a:bodyPr/>
                    <a:lstStyle/>
                    <a:p>
                      <a:pPr fontAlgn="t">
                        <a:buNone/>
                      </a:pPr>
                      <a:r>
                        <a:rPr lang="en-US">
                          <a:effectLst/>
                        </a:rPr>
                        <a:t>Syntax</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var x = 10;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let x = 10;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const x = 10;</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649292872"/>
                  </a:ext>
                </a:extLst>
              </a:tr>
              <a:tr h="0">
                <a:tc>
                  <a:txBody>
                    <a:bodyPr/>
                    <a:lstStyle/>
                    <a:p>
                      <a:pPr fontAlgn="t">
                        <a:buNone/>
                      </a:pPr>
                      <a:r>
                        <a:rPr lang="en-US">
                          <a:effectLst/>
                        </a:rPr>
                        <a:t>Current Usage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Not used much</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a:effectLst/>
                        </a:rPr>
                        <a:t>Used a lot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tc>
                  <a:txBody>
                    <a:bodyPr/>
                    <a:lstStyle/>
                    <a:p>
                      <a:pPr fontAlgn="t">
                        <a:buNone/>
                      </a:pPr>
                      <a:r>
                        <a:rPr lang="en-US" dirty="0">
                          <a:effectLst/>
                        </a:rPr>
                        <a:t>Used a lot</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FFFFFF"/>
                    </a:solidFill>
                  </a:tcPr>
                </a:tc>
                <a:extLst>
                  <a:ext uri="{0D108BD9-81ED-4DB2-BD59-A6C34878D82A}">
                    <a16:rowId xmlns:a16="http://schemas.microsoft.com/office/drawing/2014/main" val="2865960221"/>
                  </a:ext>
                </a:extLst>
              </a:tr>
            </a:tbl>
          </a:graphicData>
        </a:graphic>
      </p:graphicFrame>
    </p:spTree>
    <p:extLst>
      <p:ext uri="{BB962C8B-B14F-4D97-AF65-F5344CB8AC3E}">
        <p14:creationId xmlns:p14="http://schemas.microsoft.com/office/powerpoint/2010/main" val="300373782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9FD1ED-AE24-6A7F-06AD-E8D52398C3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B151BCA-B324-71A7-E5B0-63E2540D6B0D}"/>
              </a:ext>
            </a:extLst>
          </p:cNvPr>
          <p:cNvSpPr txBox="1"/>
          <p:nvPr/>
        </p:nvSpPr>
        <p:spPr>
          <a:xfrm>
            <a:off x="2477069" y="2219260"/>
            <a:ext cx="4954136" cy="24263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 What is Hoisting in JavaScript?</a:t>
            </a:r>
          </a:p>
          <a:p>
            <a:pPr algn="just">
              <a:lnSpc>
                <a:spcPts val="2100"/>
              </a:lnSpc>
              <a:spcBef>
                <a:spcPts val="1650"/>
              </a:spcBef>
              <a:buNone/>
            </a:pPr>
            <a:r>
              <a:rPr lang="en-US" b="0" i="0" dirty="0">
                <a:solidFill>
                  <a:srgbClr val="3A3A3A"/>
                </a:solidFill>
                <a:effectLst/>
                <a:latin typeface="Roboto" panose="02000000000000000000" pitchFamily="2" charset="0"/>
              </a:rPr>
              <a:t>In </a:t>
            </a:r>
            <a:r>
              <a:rPr lang="en-US" b="0" i="0" dirty="0" err="1">
                <a:solidFill>
                  <a:srgbClr val="3A3A3A"/>
                </a:solidFill>
                <a:effectLst/>
                <a:latin typeface="Roboto" panose="02000000000000000000" pitchFamily="2" charset="0"/>
              </a:rPr>
              <a:t>Javascript</a:t>
            </a:r>
            <a:r>
              <a:rPr lang="en-US" b="0" i="0" dirty="0">
                <a:solidFill>
                  <a:srgbClr val="3A3A3A"/>
                </a:solidFill>
                <a:effectLst/>
                <a:latin typeface="Roboto" panose="02000000000000000000" pitchFamily="2" charset="0"/>
              </a:rPr>
              <a:t>, one can use a variable or call a function even before they are declared in the code. This happens due to Hoisting which is a JavaScript feature. Hoisting declarations are moved to the top of their scope during compilation.</a:t>
            </a:r>
          </a:p>
        </p:txBody>
      </p:sp>
    </p:spTree>
    <p:extLst>
      <p:ext uri="{BB962C8B-B14F-4D97-AF65-F5344CB8AC3E}">
        <p14:creationId xmlns:p14="http://schemas.microsoft.com/office/powerpoint/2010/main" val="32584577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77EBBE-70C4-1F8D-8A27-CED0ABFBD1C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9D30AAB-FB87-D8EF-CDF1-B68BB35AD49C}"/>
              </a:ext>
            </a:extLst>
          </p:cNvPr>
          <p:cNvSpPr txBox="1"/>
          <p:nvPr/>
        </p:nvSpPr>
        <p:spPr>
          <a:xfrm>
            <a:off x="225189" y="283267"/>
            <a:ext cx="4954136" cy="629146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6. Can we change the value of the variable declared as const?</a:t>
            </a:r>
          </a:p>
          <a:p>
            <a:pPr algn="just">
              <a:lnSpc>
                <a:spcPts val="2100"/>
              </a:lnSpc>
              <a:spcBef>
                <a:spcPts val="1650"/>
              </a:spcBef>
              <a:buNone/>
            </a:pPr>
            <a:r>
              <a:rPr lang="en-US" b="0" i="0" dirty="0">
                <a:solidFill>
                  <a:srgbClr val="3A3A3A"/>
                </a:solidFill>
                <a:effectLst/>
                <a:latin typeface="Roboto" panose="02000000000000000000" pitchFamily="2" charset="0"/>
              </a:rPr>
              <a:t>The answer is No. However, there are some situations in which the values can be changed. This can be explained with the help of a couple of examples.</a:t>
            </a:r>
          </a:p>
          <a:p>
            <a:pPr algn="just">
              <a:lnSpc>
                <a:spcPts val="2100"/>
              </a:lnSpc>
              <a:spcBef>
                <a:spcPts val="750"/>
              </a:spcBef>
              <a:buNone/>
            </a:pPr>
            <a:r>
              <a:rPr lang="en-US" b="0" i="0" dirty="0">
                <a:solidFill>
                  <a:srgbClr val="3A3A3A"/>
                </a:solidFill>
                <a:effectLst/>
                <a:latin typeface="Roboto" panose="02000000000000000000" pitchFamily="2" charset="0"/>
              </a:rPr>
              <a:t>Example 1 –</a:t>
            </a:r>
          </a:p>
          <a:p>
            <a:pPr algn="just">
              <a:lnSpc>
                <a:spcPts val="2100"/>
              </a:lnSpc>
              <a:spcBef>
                <a:spcPts val="750"/>
              </a:spcBef>
              <a:buNone/>
            </a:pPr>
            <a:r>
              <a:rPr lang="en-US" b="0" i="0" dirty="0">
                <a:solidFill>
                  <a:srgbClr val="3A3A3A"/>
                </a:solidFill>
                <a:effectLst/>
                <a:latin typeface="Roboto" panose="02000000000000000000" pitchFamily="2" charset="0"/>
              </a:rPr>
              <a:t>Say we have a variable ‘</a:t>
            </a:r>
            <a:r>
              <a:rPr lang="en-US" b="0" i="0" dirty="0" err="1">
                <a:solidFill>
                  <a:srgbClr val="3A3A3A"/>
                </a:solidFill>
                <a:effectLst/>
                <a:latin typeface="Roboto" panose="02000000000000000000" pitchFamily="2" charset="0"/>
              </a:rPr>
              <a:t>iAmConstant</a:t>
            </a:r>
            <a:r>
              <a:rPr lang="en-US" b="0" i="0" dirty="0">
                <a:solidFill>
                  <a:srgbClr val="3A3A3A"/>
                </a:solidFill>
                <a:effectLst/>
                <a:latin typeface="Roboto" panose="02000000000000000000" pitchFamily="2" charset="0"/>
              </a:rPr>
              <a:t>’ declared as const and storing a value of2000.</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iAmConstant</a:t>
            </a:r>
            <a:r>
              <a:rPr lang="en-US" b="0" i="0" dirty="0">
                <a:solidFill>
                  <a:srgbClr val="212529"/>
                </a:solidFill>
                <a:effectLst/>
                <a:latin typeface="Courier New" panose="02070309020205020404" pitchFamily="49" charset="0"/>
              </a:rPr>
              <a:t> = 2000;&lt;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Now, if we want to update its value in the following way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iAmConstant</a:t>
            </a:r>
            <a:r>
              <a:rPr lang="en-US" b="0" i="0" dirty="0">
                <a:solidFill>
                  <a:srgbClr val="212529"/>
                </a:solidFill>
                <a:effectLst/>
                <a:latin typeface="Courier New" panose="02070309020205020404" pitchFamily="49" charset="0"/>
              </a:rPr>
              <a:t> = 5000;&lt;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This won’t work and will throw a </a:t>
            </a:r>
            <a:r>
              <a:rPr lang="en-US" b="0" i="0" dirty="0" err="1">
                <a:solidFill>
                  <a:srgbClr val="3A3A3A"/>
                </a:solidFill>
                <a:effectLst/>
                <a:latin typeface="Roboto" panose="02000000000000000000" pitchFamily="2" charset="0"/>
              </a:rPr>
              <a:t>TypeError</a:t>
            </a:r>
            <a:r>
              <a:rPr lang="en-US" b="0" i="0" dirty="0">
                <a:solidFill>
                  <a:srgbClr val="3A3A3A"/>
                </a:solidFill>
                <a:effectLst/>
                <a:latin typeface="Roboto" panose="02000000000000000000" pitchFamily="2" charset="0"/>
              </a:rPr>
              <a:t>.</a:t>
            </a:r>
          </a:p>
        </p:txBody>
      </p:sp>
      <p:sp>
        <p:nvSpPr>
          <p:cNvPr id="5" name="TextBox 4">
            <a:extLst>
              <a:ext uri="{FF2B5EF4-FFF2-40B4-BE49-F238E27FC236}">
                <a16:creationId xmlns:a16="http://schemas.microsoft.com/office/drawing/2014/main" id="{108E4480-FFC7-BB5F-CE29-2CA21654DF5D}"/>
              </a:ext>
            </a:extLst>
          </p:cNvPr>
          <p:cNvSpPr txBox="1"/>
          <p:nvPr/>
        </p:nvSpPr>
        <p:spPr>
          <a:xfrm>
            <a:off x="4951864" y="177862"/>
            <a:ext cx="4954136" cy="10084812"/>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Example 2 –</a:t>
            </a:r>
          </a:p>
          <a:p>
            <a:pPr algn="just">
              <a:lnSpc>
                <a:spcPts val="2100"/>
              </a:lnSpc>
              <a:spcBef>
                <a:spcPts val="750"/>
              </a:spcBef>
              <a:buNone/>
            </a:pPr>
            <a:r>
              <a:rPr lang="en-US" b="0" i="0" dirty="0">
                <a:solidFill>
                  <a:srgbClr val="3A3A3A"/>
                </a:solidFill>
                <a:effectLst/>
                <a:latin typeface="Roboto" panose="02000000000000000000" pitchFamily="2" charset="0"/>
              </a:rPr>
              <a:t>If we have an object </a:t>
            </a:r>
            <a:r>
              <a:rPr lang="en-US" b="0" i="0" dirty="0" err="1">
                <a:solidFill>
                  <a:srgbClr val="3A3A3A"/>
                </a:solidFill>
                <a:effectLst/>
                <a:latin typeface="Roboto" panose="02000000000000000000" pitchFamily="2" charset="0"/>
              </a:rPr>
              <a:t>xyz</a:t>
            </a:r>
            <a:r>
              <a:rPr lang="en-US" b="0" i="0" dirty="0">
                <a:solidFill>
                  <a:srgbClr val="3A3A3A"/>
                </a:solidFill>
                <a:effectLst/>
                <a:latin typeface="Roboto" panose="02000000000000000000" pitchFamily="2" charset="0"/>
              </a:rPr>
              <a:t> having data type const.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xyz</a:t>
            </a:r>
            <a:r>
              <a:rPr lang="en-US" b="0" i="0" dirty="0">
                <a:solidFill>
                  <a:srgbClr val="212529"/>
                </a:solidFill>
                <a:effectLst/>
                <a:latin typeface="Courier New" panose="02070309020205020404" pitchFamily="49" charset="0"/>
              </a:rPr>
              <a:t>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times: 4&lt;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Now if we want to assign a new value to the entire object </a:t>
            </a:r>
            <a:r>
              <a:rPr lang="en-US" b="0" i="0" dirty="0" err="1">
                <a:solidFill>
                  <a:srgbClr val="3A3A3A"/>
                </a:solidFill>
                <a:effectLst/>
                <a:latin typeface="Roboto" panose="02000000000000000000" pitchFamily="2" charset="0"/>
              </a:rPr>
              <a:t>xyz</a:t>
            </a:r>
            <a:r>
              <a:rPr lang="en-US" b="0" i="0" dirty="0">
                <a:solidFill>
                  <a:srgbClr val="3A3A3A"/>
                </a:solidFill>
                <a:effectLst/>
                <a:latin typeface="Roboto" panose="02000000000000000000" pitchFamily="2" charset="0"/>
              </a:rPr>
              <a:t> like this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xyz</a:t>
            </a:r>
            <a:r>
              <a:rPr lang="en-US" b="0" i="0" dirty="0">
                <a:solidFill>
                  <a:srgbClr val="212529"/>
                </a:solidFill>
                <a:effectLst/>
                <a:latin typeface="Courier New" panose="02070309020205020404" pitchFamily="49" charset="0"/>
              </a:rPr>
              <a:t>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message:”Say</a:t>
            </a:r>
            <a:r>
              <a:rPr lang="en-US" b="0" i="0" dirty="0">
                <a:solidFill>
                  <a:srgbClr val="212529"/>
                </a:solidFill>
                <a:effectLst/>
                <a:latin typeface="Courier New" panose="02070309020205020404" pitchFamily="49" charset="0"/>
              </a:rPr>
              <a:t> Hello”,&lt;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times: 5&lt;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It will again not work because const is block-scoped and cannot be redeclared in the same scope. It will throw an error saying – </a:t>
            </a:r>
            <a:r>
              <a:rPr lang="en-US" b="0" i="0" dirty="0" err="1">
                <a:solidFill>
                  <a:srgbClr val="3A3A3A"/>
                </a:solidFill>
                <a:effectLst/>
                <a:latin typeface="Roboto" panose="02000000000000000000" pitchFamily="2" charset="0"/>
              </a:rPr>
              <a:t>TypeError</a:t>
            </a:r>
            <a:r>
              <a:rPr lang="en-US" b="0" i="0" dirty="0">
                <a:solidFill>
                  <a:srgbClr val="3A3A3A"/>
                </a:solidFill>
                <a:effectLst/>
                <a:latin typeface="Roboto" panose="02000000000000000000" pitchFamily="2" charset="0"/>
              </a:rPr>
              <a:t>: Assignment to constant variable.</a:t>
            </a:r>
          </a:p>
          <a:p>
            <a:pPr algn="just">
              <a:lnSpc>
                <a:spcPts val="2100"/>
              </a:lnSpc>
              <a:spcBef>
                <a:spcPts val="750"/>
              </a:spcBef>
              <a:buNone/>
            </a:pPr>
            <a:r>
              <a:rPr lang="en-US" b="0" i="0" dirty="0">
                <a:solidFill>
                  <a:srgbClr val="3A3A3A"/>
                </a:solidFill>
                <a:effectLst/>
                <a:latin typeface="Roboto" panose="02000000000000000000" pitchFamily="2" charset="0"/>
              </a:rPr>
              <a:t>However, if we update the keys like this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xyz.message</a:t>
            </a:r>
            <a:r>
              <a:rPr lang="en-US" b="0" i="0" dirty="0">
                <a:solidFill>
                  <a:srgbClr val="212529"/>
                </a:solidFill>
                <a:effectLst/>
                <a:latin typeface="Courier New" panose="02070309020205020404" pitchFamily="49" charset="0"/>
              </a:rPr>
              <a:t> = “Say Hello”;&lt;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xyz.times</a:t>
            </a:r>
            <a:r>
              <a:rPr lang="en-US" b="0" i="0" dirty="0">
                <a:solidFill>
                  <a:srgbClr val="212529"/>
                </a:solidFill>
                <a:effectLst/>
                <a:latin typeface="Courier New" panose="02070309020205020404" pitchFamily="49" charset="0"/>
              </a:rPr>
              <a:t> = 5;&lt;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The value of the object will get updated as its values are mutable and it won’t throw any error.</a:t>
            </a:r>
          </a:p>
        </p:txBody>
      </p:sp>
    </p:spTree>
    <p:extLst>
      <p:ext uri="{BB962C8B-B14F-4D97-AF65-F5344CB8AC3E}">
        <p14:creationId xmlns:p14="http://schemas.microsoft.com/office/powerpoint/2010/main" val="29283656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ADA10F-2D85-0FDB-FDC3-AC4C4EFA201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983F851-4ABF-2A6C-52D9-B754B7E70584}"/>
              </a:ext>
            </a:extLst>
          </p:cNvPr>
          <p:cNvSpPr txBox="1"/>
          <p:nvPr/>
        </p:nvSpPr>
        <p:spPr>
          <a:xfrm>
            <a:off x="129655" y="-1471672"/>
            <a:ext cx="4954136" cy="95898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7. In how many ways can we declare a Function in JavaScript?</a:t>
            </a:r>
          </a:p>
          <a:p>
            <a:pPr algn="just">
              <a:lnSpc>
                <a:spcPts val="2100"/>
              </a:lnSpc>
              <a:spcBef>
                <a:spcPts val="1650"/>
              </a:spcBef>
              <a:buNone/>
            </a:pPr>
            <a:r>
              <a:rPr lang="en-US" b="0" i="0" dirty="0">
                <a:solidFill>
                  <a:srgbClr val="3A3A3A"/>
                </a:solidFill>
                <a:effectLst/>
                <a:latin typeface="Roboto" panose="02000000000000000000" pitchFamily="2" charset="0"/>
              </a:rPr>
              <a:t>Functions in JavaScript can be declared in the following ways –</a:t>
            </a:r>
          </a:p>
          <a:p>
            <a:pPr algn="just">
              <a:lnSpc>
                <a:spcPts val="2100"/>
              </a:lnSpc>
              <a:spcBef>
                <a:spcPts val="750"/>
              </a:spcBef>
              <a:spcAft>
                <a:spcPts val="600"/>
              </a:spcAft>
              <a:buFont typeface="+mj-lt"/>
              <a:buAutoNum type="arabicPeriod"/>
            </a:pPr>
            <a:r>
              <a:rPr lang="en-US" b="0" i="0" dirty="0">
                <a:solidFill>
                  <a:srgbClr val="3A3A3A"/>
                </a:solidFill>
                <a:effectLst/>
                <a:latin typeface="Roboto" panose="02000000000000000000" pitchFamily="2" charset="0"/>
              </a:rPr>
              <a:t>Function as a Statement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starts with ‘function’ keyword</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can return value or other function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This function declaration gets hoisted to the top</a:t>
            </a:r>
          </a:p>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statement()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console.log("Hello, I am a function declaration!");&lt;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statement();&lt;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spcAft>
                <a:spcPts val="600"/>
              </a:spcAft>
              <a:buFont typeface="+mj-lt"/>
              <a:buAutoNum type="arabicPeriod" startAt="2"/>
            </a:pPr>
            <a:r>
              <a:rPr lang="en-US" b="0" i="0" dirty="0">
                <a:solidFill>
                  <a:srgbClr val="3A3A3A"/>
                </a:solidFill>
                <a:effectLst/>
                <a:latin typeface="Roboto" panose="02000000000000000000" pitchFamily="2" charset="0"/>
              </a:rPr>
              <a:t>Function Expression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Function is assigned to a variable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Function can be anonymous i.e. not have a name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doesn’t get hoisted to the top</a:t>
            </a:r>
          </a:p>
        </p:txBody>
      </p:sp>
      <p:sp>
        <p:nvSpPr>
          <p:cNvPr id="5" name="TextBox 4">
            <a:extLst>
              <a:ext uri="{FF2B5EF4-FFF2-40B4-BE49-F238E27FC236}">
                <a16:creationId xmlns:a16="http://schemas.microsoft.com/office/drawing/2014/main" id="{F27310A6-F03B-3737-DF40-F7F5E8A86C80}"/>
              </a:ext>
            </a:extLst>
          </p:cNvPr>
          <p:cNvSpPr txBox="1"/>
          <p:nvPr/>
        </p:nvSpPr>
        <p:spPr>
          <a:xfrm>
            <a:off x="2477069" y="-1099729"/>
            <a:ext cx="4954136" cy="8804974"/>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expression = function(num1, num2)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sum = num1 + num2;&lt;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sum;&lt;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spcAft>
                <a:spcPts val="600"/>
              </a:spcAft>
              <a:buFont typeface="+mj-lt"/>
              <a:buAutoNum type="arabicPeriod" startAt="3"/>
            </a:pPr>
            <a:r>
              <a:rPr lang="en-US" b="0" i="0" dirty="0">
                <a:solidFill>
                  <a:srgbClr val="3A3A3A"/>
                </a:solidFill>
                <a:effectLst/>
                <a:latin typeface="Roboto" panose="02000000000000000000" pitchFamily="2" charset="0"/>
              </a:rPr>
              <a:t>Arrow Function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Arrow functions are also known as fat </a:t>
            </a:r>
            <a:r>
              <a:rPr lang="en-US" b="0" i="0" u="none" strike="noStrike" dirty="0">
                <a:solidFill>
                  <a:srgbClr val="0F5A9E"/>
                </a:solidFill>
                <a:effectLst/>
                <a:latin typeface="Roboto" panose="02000000000000000000" pitchFamily="2" charset="0"/>
                <a:hlinkClick r:id="rId2"/>
              </a:rPr>
              <a:t>arrow functions</a:t>
            </a:r>
            <a:r>
              <a:rPr lang="en-US" b="0" i="0" dirty="0">
                <a:solidFill>
                  <a:srgbClr val="3A3A3A"/>
                </a:solidFill>
                <a:effectLst/>
                <a:latin typeface="Roboto" panose="02000000000000000000" pitchFamily="2" charset="0"/>
              </a:rPr>
              <a:t>. They were introduced in ES6. It is a way to shorten the usual traditional function.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It does not have its own value of ‘this’ object</a:t>
            </a:r>
          </a:p>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add = (num1, num2) =&gt; num1 + num2;&lt;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spcAft>
                <a:spcPts val="600"/>
              </a:spcAft>
              <a:buFont typeface="+mj-lt"/>
              <a:buAutoNum type="arabicPeriod" startAt="4"/>
            </a:pPr>
            <a:r>
              <a:rPr lang="en-US" b="0" i="0" dirty="0">
                <a:solidFill>
                  <a:srgbClr val="3A3A3A"/>
                </a:solidFill>
                <a:effectLst/>
                <a:latin typeface="Roboto" panose="02000000000000000000" pitchFamily="2" charset="0"/>
              </a:rPr>
              <a:t>Immediately Invoked Function Expression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Also known as IIFE in short</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This type of function declaration is executed immediately after it is defined.</a:t>
            </a:r>
          </a:p>
        </p:txBody>
      </p:sp>
      <p:sp>
        <p:nvSpPr>
          <p:cNvPr id="7" name="TextBox 6">
            <a:extLst>
              <a:ext uri="{FF2B5EF4-FFF2-40B4-BE49-F238E27FC236}">
                <a16:creationId xmlns:a16="http://schemas.microsoft.com/office/drawing/2014/main" id="{B843DFE2-E197-F7BB-0F6C-705E85F97056}"/>
              </a:ext>
            </a:extLst>
          </p:cNvPr>
          <p:cNvSpPr txBox="1"/>
          <p:nvPr/>
        </p:nvSpPr>
        <p:spPr>
          <a:xfrm>
            <a:off x="5384042" y="535596"/>
            <a:ext cx="4954136" cy="6052939"/>
          </a:xfrm>
          <a:prstGeom prst="rect">
            <a:avLst/>
          </a:prstGeom>
          <a:noFill/>
        </p:spPr>
        <p:txBody>
          <a:bodyPr wrap="square">
            <a:spAutoFit/>
          </a:bodyPr>
          <a:lstStyle/>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console.log("IIFE executed!");&lt;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spcAft>
                <a:spcPts val="600"/>
              </a:spcAft>
              <a:buFont typeface="+mj-lt"/>
              <a:buAutoNum type="arabicPeriod" startAt="5"/>
            </a:pPr>
            <a:r>
              <a:rPr lang="en-US" b="0" i="0" dirty="0">
                <a:solidFill>
                  <a:srgbClr val="3A3A3A"/>
                </a:solidFill>
                <a:effectLst/>
                <a:latin typeface="Roboto" panose="02000000000000000000" pitchFamily="2" charset="0"/>
              </a:rPr>
              <a:t>Anonymous Function</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These are function that do not have a name</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They are used mostly as </a:t>
            </a:r>
            <a:r>
              <a:rPr lang="en-US" b="0" i="0" u="none" strike="noStrike" dirty="0">
                <a:solidFill>
                  <a:srgbClr val="0F5A9E"/>
                </a:solidFill>
                <a:effectLst/>
                <a:latin typeface="Roboto" panose="02000000000000000000" pitchFamily="2" charset="0"/>
                <a:hlinkClick r:id="rId3"/>
              </a:rPr>
              <a:t>callback functions</a:t>
            </a:r>
            <a:endParaRPr lang="en-US" b="0" i="0" dirty="0">
              <a:solidFill>
                <a:srgbClr val="3A3A3A"/>
              </a:solidFill>
              <a:effectLst/>
              <a:latin typeface="Roboto" panose="02000000000000000000" pitchFamily="2" charset="0"/>
            </a:endParaRPr>
          </a:p>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setTimeout</a:t>
            </a:r>
            <a:r>
              <a:rPr lang="en-US" b="0" i="0" dirty="0">
                <a:solidFill>
                  <a:srgbClr val="212529"/>
                </a:solidFill>
                <a:effectLst/>
                <a:latin typeface="Courier New" panose="02070309020205020404" pitchFamily="49" charset="0"/>
              </a:rPr>
              <a:t>(function()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console.log(“This is anonymous function!”);&lt;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13270467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6EF776-5122-9D9C-1832-6BA7A8725792}"/>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122CA9E-1EF1-F4A0-34CC-B8BF5F1103CB}"/>
              </a:ext>
            </a:extLst>
          </p:cNvPr>
          <p:cNvSpPr txBox="1"/>
          <p:nvPr/>
        </p:nvSpPr>
        <p:spPr>
          <a:xfrm>
            <a:off x="2477069" y="-2255042"/>
            <a:ext cx="4954136" cy="11374909"/>
          </a:xfrm>
          <a:prstGeom prst="rect">
            <a:avLst/>
          </a:prstGeom>
          <a:noFill/>
        </p:spPr>
        <p:txBody>
          <a:bodyPr wrap="square">
            <a:spAutoFit/>
          </a:bodyPr>
          <a:lstStyle/>
          <a:p>
            <a:pPr algn="l">
              <a:lnSpc>
                <a:spcPts val="2550"/>
              </a:lnSpc>
              <a:spcBef>
                <a:spcPts val="3000"/>
              </a:spcBef>
              <a:buNone/>
            </a:pP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 Interview Questions for Freshers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8. When do we need to use the ‘return’ statement with the arrow function?</a:t>
            </a:r>
          </a:p>
          <a:p>
            <a:pPr algn="just">
              <a:lnSpc>
                <a:spcPts val="2100"/>
              </a:lnSpc>
              <a:spcBef>
                <a:spcPts val="1650"/>
              </a:spcBef>
              <a:buNone/>
            </a:pPr>
            <a:r>
              <a:rPr lang="en-US" b="0" i="0" dirty="0">
                <a:solidFill>
                  <a:srgbClr val="3A3A3A"/>
                </a:solidFill>
                <a:effectLst/>
                <a:latin typeface="Roboto" panose="02000000000000000000" pitchFamily="2" charset="0"/>
              </a:rPr>
              <a:t>Whenever there is more than one statement inside the arrow function then we need to use a return statement inside it, otherwise it is okay if we do not use it.</a:t>
            </a:r>
          </a:p>
          <a:p>
            <a:pPr algn="just">
              <a:lnSpc>
                <a:spcPts val="2100"/>
              </a:lnSpc>
              <a:spcBef>
                <a:spcPts val="7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add = (num1, num2) =&gt;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if(num2 != 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num1+num2;&lt;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add = (num1, num2) =&gt;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if(num2 != 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num1+num2;&lt;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else return “Cannot be divided by zero”;&lt;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let add = (num1, num2) =&gt;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if(num2 != 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num1+num2;&lt;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8168516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DA56DC-4F95-0F27-C495-4C63757B1AA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DD857F0-975C-C080-DC52-75C2DA96DA00}"/>
              </a:ext>
            </a:extLst>
          </p:cNvPr>
          <p:cNvSpPr txBox="1"/>
          <p:nvPr/>
        </p:nvSpPr>
        <p:spPr>
          <a:xfrm>
            <a:off x="2477069" y="1225398"/>
            <a:ext cx="4954136" cy="441402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9. Explain the map(). How is it different from foreach() method?</a:t>
            </a:r>
          </a:p>
          <a:p>
            <a:pPr algn="just">
              <a:lnSpc>
                <a:spcPts val="2100"/>
              </a:lnSpc>
              <a:spcBef>
                <a:spcPts val="1650"/>
              </a:spcBef>
              <a:buNone/>
            </a:pPr>
            <a:r>
              <a:rPr lang="en-US" b="0" i="0" dirty="0">
                <a:solidFill>
                  <a:srgbClr val="3A3A3A"/>
                </a:solidFill>
                <a:effectLst/>
                <a:latin typeface="Roboto" panose="02000000000000000000" pitchFamily="2" charset="0"/>
              </a:rPr>
              <a:t>In JavaScript, we have a method called </a:t>
            </a:r>
            <a:r>
              <a:rPr lang="en-US" b="0" i="0" u="none" strike="noStrike" dirty="0">
                <a:solidFill>
                  <a:srgbClr val="0F5A9E"/>
                </a:solidFill>
                <a:effectLst/>
                <a:latin typeface="Roboto" panose="02000000000000000000" pitchFamily="2" charset="0"/>
                <a:hlinkClick r:id="rId2"/>
              </a:rPr>
              <a:t>map()</a:t>
            </a:r>
            <a:r>
              <a:rPr lang="en-US" b="0" i="0" dirty="0">
                <a:solidFill>
                  <a:srgbClr val="3A3A3A"/>
                </a:solidFill>
                <a:effectLst/>
                <a:latin typeface="Roboto" panose="02000000000000000000" pitchFamily="2" charset="0"/>
              </a:rPr>
              <a:t>. This method loops over existing array elements and creates a new array post calculations. Since it returns a new array, it can be chained with other methods like </a:t>
            </a:r>
            <a:r>
              <a:rPr lang="en-US" b="0" i="0" u="none" strike="noStrike" dirty="0">
                <a:solidFill>
                  <a:srgbClr val="0F5A9E"/>
                </a:solidFill>
                <a:effectLst/>
                <a:latin typeface="Roboto" panose="02000000000000000000" pitchFamily="2" charset="0"/>
                <a:hlinkClick r:id="rId3"/>
              </a:rPr>
              <a:t>filter()</a:t>
            </a:r>
            <a:r>
              <a:rPr lang="en-US" b="0" i="0" dirty="0">
                <a:solidFill>
                  <a:srgbClr val="3A3A3A"/>
                </a:solidFill>
                <a:effectLst/>
                <a:latin typeface="Roboto" panose="02000000000000000000" pitchFamily="2" charset="0"/>
              </a:rPr>
              <a:t>, reduce(), </a:t>
            </a:r>
            <a:r>
              <a:rPr lang="en-US" b="0" i="0" dirty="0" err="1">
                <a:solidFill>
                  <a:srgbClr val="3A3A3A"/>
                </a:solidFill>
                <a:effectLst/>
                <a:latin typeface="Roboto" panose="02000000000000000000" pitchFamily="2" charset="0"/>
              </a:rPr>
              <a:t>etc</a:t>
            </a:r>
            <a:r>
              <a:rPr lang="en-US" b="0" i="0" dirty="0">
                <a:solidFill>
                  <a:srgbClr val="3A3A3A"/>
                </a:solidFill>
                <a:effectLst/>
                <a:latin typeface="Roboto" panose="02000000000000000000" pitchFamily="2" charset="0"/>
              </a:rPr>
              <a:t> to perform the necessary calculations.</a:t>
            </a:r>
          </a:p>
          <a:p>
            <a:pPr algn="just">
              <a:lnSpc>
                <a:spcPts val="2100"/>
              </a:lnSpc>
              <a:spcBef>
                <a:spcPts val="750"/>
              </a:spcBef>
              <a:buNone/>
            </a:pPr>
            <a:r>
              <a:rPr lang="en-US" b="0" i="0" dirty="0">
                <a:solidFill>
                  <a:srgbClr val="3A3A3A"/>
                </a:solidFill>
                <a:effectLst/>
                <a:latin typeface="Roboto" panose="02000000000000000000" pitchFamily="2" charset="0"/>
              </a:rPr>
              <a:t>The foreach() method in JavaScript returns undefined, so we cannot perform any calculations on it. It can be used to perform side effects in arrays like logging or saving value to the database, etc.</a:t>
            </a:r>
          </a:p>
        </p:txBody>
      </p:sp>
    </p:spTree>
    <p:extLst>
      <p:ext uri="{BB962C8B-B14F-4D97-AF65-F5344CB8AC3E}">
        <p14:creationId xmlns:p14="http://schemas.microsoft.com/office/powerpoint/2010/main" val="21457615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77B41F-6114-4AA2-952A-6083A34CF3D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A17608D-3D72-3918-7DD8-E7510C367432}"/>
              </a:ext>
            </a:extLst>
          </p:cNvPr>
          <p:cNvSpPr txBox="1"/>
          <p:nvPr/>
        </p:nvSpPr>
        <p:spPr>
          <a:xfrm>
            <a:off x="320723" y="414684"/>
            <a:ext cx="4954136" cy="63094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10. What is the difference between ‘===’ and ‘==’ in </a:t>
            </a: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a:t>
            </a:r>
          </a:p>
        </p:txBody>
      </p:sp>
      <p:graphicFrame>
        <p:nvGraphicFramePr>
          <p:cNvPr id="4" name="Table 3">
            <a:extLst>
              <a:ext uri="{FF2B5EF4-FFF2-40B4-BE49-F238E27FC236}">
                <a16:creationId xmlns:a16="http://schemas.microsoft.com/office/drawing/2014/main" id="{E2B54B7E-5EFC-7ADF-B5E3-C9A73926D21B}"/>
              </a:ext>
            </a:extLst>
          </p:cNvPr>
          <p:cNvGraphicFramePr>
            <a:graphicFrameLocks noGrp="1"/>
          </p:cNvGraphicFramePr>
          <p:nvPr/>
        </p:nvGraphicFramePr>
        <p:xfrm>
          <a:off x="681038" y="3178334"/>
          <a:ext cx="8543924" cy="1645920"/>
        </p:xfrm>
        <a:graphic>
          <a:graphicData uri="http://schemas.openxmlformats.org/drawingml/2006/table">
            <a:tbl>
              <a:tblPr/>
              <a:tblGrid>
                <a:gridCol w="4271962">
                  <a:extLst>
                    <a:ext uri="{9D8B030D-6E8A-4147-A177-3AD203B41FA5}">
                      <a16:colId xmlns:a16="http://schemas.microsoft.com/office/drawing/2014/main" val="799611829"/>
                    </a:ext>
                  </a:extLst>
                </a:gridCol>
                <a:gridCol w="4271962">
                  <a:extLst>
                    <a:ext uri="{9D8B030D-6E8A-4147-A177-3AD203B41FA5}">
                      <a16:colId xmlns:a16="http://schemas.microsoft.com/office/drawing/2014/main" val="3316396819"/>
                    </a:ext>
                  </a:extLst>
                </a:gridCol>
              </a:tblGrid>
              <a:tr h="365760">
                <a:tc>
                  <a:txBody>
                    <a:bodyPr/>
                    <a:lstStyle/>
                    <a:p>
                      <a:pPr algn="ctr" fontAlgn="t">
                        <a:buNone/>
                      </a:pPr>
                      <a:r>
                        <a:rPr lang="en-US" sz="1800" b="0">
                          <a:solidFill>
                            <a:srgbClr val="FFFFFF"/>
                          </a:solidFill>
                          <a:effectLst/>
                        </a:rPr>
                        <a:t>===</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tc>
                  <a:txBody>
                    <a:bodyPr/>
                    <a:lstStyle/>
                    <a:p>
                      <a:pPr algn="ctr" fontAlgn="t">
                        <a:buNone/>
                      </a:pPr>
                      <a:r>
                        <a:rPr lang="en-US" sz="1800" b="0">
                          <a:solidFill>
                            <a:srgbClr val="FFFFFF"/>
                          </a:solidFill>
                          <a:effectLst/>
                        </a:rPr>
                        <a:t>==</a:t>
                      </a:r>
                      <a:endParaRPr lang="en-US" sz="1800">
                        <a:solidFill>
                          <a:srgbClr val="FFFFFF"/>
                        </a:solidFill>
                        <a:effectLst/>
                      </a:endParaRP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solidFill>
                      <a:srgbClr val="008DD9"/>
                    </a:solidFill>
                  </a:tcPr>
                </a:tc>
                <a:extLst>
                  <a:ext uri="{0D108BD9-81ED-4DB2-BD59-A6C34878D82A}">
                    <a16:rowId xmlns:a16="http://schemas.microsoft.com/office/drawing/2014/main" val="2492615779"/>
                  </a:ext>
                </a:extLst>
              </a:tr>
              <a:tr h="640080">
                <a:tc>
                  <a:txBody>
                    <a:bodyPr/>
                    <a:lstStyle/>
                    <a:p>
                      <a:pPr fontAlgn="t">
                        <a:buNone/>
                      </a:pPr>
                      <a:r>
                        <a:rPr lang="en-US" sz="1800">
                          <a:effectLst/>
                        </a:rPr>
                        <a:t>Compared both value and type of variable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sz="1800">
                          <a:effectLst/>
                        </a:rPr>
                        <a:t>Compares only the value of the variable</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654323083"/>
                  </a:ext>
                </a:extLst>
              </a:tr>
              <a:tr h="640080">
                <a:tc>
                  <a:txBody>
                    <a:bodyPr/>
                    <a:lstStyle/>
                    <a:p>
                      <a:pPr fontAlgn="t">
                        <a:buNone/>
                      </a:pPr>
                      <a:r>
                        <a:rPr lang="en-US" sz="1800">
                          <a:effectLst/>
                        </a:rPr>
                        <a:t>Does not perform type conversion</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tc>
                  <a:txBody>
                    <a:bodyPr/>
                    <a:lstStyle/>
                    <a:p>
                      <a:pPr fontAlgn="t">
                        <a:buNone/>
                      </a:pPr>
                      <a:r>
                        <a:rPr lang="en-US" sz="1800" dirty="0">
                          <a:effectLst/>
                        </a:rPr>
                        <a:t>Performs type conversion. It Converts value to a similar type before comparing</a:t>
                      </a:r>
                    </a:p>
                  </a:txBody>
                  <a:tcPr>
                    <a:lnL w="7620" cap="flat" cmpd="sng" algn="ctr">
                      <a:solidFill>
                        <a:srgbClr val="DEE2E6"/>
                      </a:solidFill>
                      <a:prstDash val="solid"/>
                      <a:round/>
                      <a:headEnd type="none" w="med" len="med"/>
                      <a:tailEnd type="none" w="med" len="med"/>
                    </a:lnL>
                    <a:lnR w="7620" cap="flat" cmpd="sng" algn="ctr">
                      <a:solidFill>
                        <a:srgbClr val="DEE2E6"/>
                      </a:solidFill>
                      <a:prstDash val="solid"/>
                      <a:round/>
                      <a:headEnd type="none" w="med" len="med"/>
                      <a:tailEnd type="none" w="med" len="med"/>
                    </a:lnR>
                    <a:lnT w="7620" cap="flat" cmpd="sng" algn="ctr">
                      <a:solidFill>
                        <a:srgbClr val="DEE2E6"/>
                      </a:solidFill>
                      <a:prstDash val="solid"/>
                      <a:round/>
                      <a:headEnd type="none" w="med" len="med"/>
                      <a:tailEnd type="none" w="med" len="med"/>
                    </a:lnT>
                    <a:lnB w="7620" cap="flat" cmpd="sng" algn="ctr">
                      <a:solidFill>
                        <a:srgbClr val="DEE2E6"/>
                      </a:solidFill>
                      <a:prstDash val="solid"/>
                      <a:round/>
                      <a:headEnd type="none" w="med" len="med"/>
                      <a:tailEnd type="none" w="med" len="med"/>
                    </a:lnB>
                    <a:noFill/>
                  </a:tcPr>
                </a:tc>
                <a:extLst>
                  <a:ext uri="{0D108BD9-81ED-4DB2-BD59-A6C34878D82A}">
                    <a16:rowId xmlns:a16="http://schemas.microsoft.com/office/drawing/2014/main" val="1911341973"/>
                  </a:ext>
                </a:extLst>
              </a:tr>
            </a:tbl>
          </a:graphicData>
        </a:graphic>
      </p:graphicFrame>
      <p:sp>
        <p:nvSpPr>
          <p:cNvPr id="5" name="Rectangle 1">
            <a:extLst>
              <a:ext uri="{FF2B5EF4-FFF2-40B4-BE49-F238E27FC236}">
                <a16:creationId xmlns:a16="http://schemas.microsoft.com/office/drawing/2014/main" id="{80F11E2A-7614-7766-D1AA-3536572B87EF}"/>
              </a:ext>
            </a:extLst>
          </p:cNvPr>
          <p:cNvSpPr>
            <a:spLocks noChangeArrowheads="1"/>
          </p:cNvSpPr>
          <p:nvPr/>
        </p:nvSpPr>
        <p:spPr bwMode="auto">
          <a:xfrm>
            <a:off x="681038" y="3178175"/>
            <a:ext cx="9906000" cy="457200"/>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altLang="en-US" sz="1200" b="0" i="1" u="none" strike="noStrike" cap="none" normalizeH="0" baseline="0">
                <a:ln>
                  <a:noFill/>
                </a:ln>
                <a:solidFill>
                  <a:srgbClr val="3A3A3A"/>
                </a:solidFill>
                <a:effectLst/>
                <a:latin typeface="Roboto" panose="02000000000000000000" pitchFamily="2" charset="0"/>
              </a:rPr>
              <a:t>Advance your JS skills by exploring the </a:t>
            </a:r>
            <a:r>
              <a:rPr kumimoji="0" lang="en-US" altLang="en-US" sz="1200" b="0" i="1" u="none" strike="noStrike" cap="none" normalizeH="0" baseline="0">
                <a:ln>
                  <a:noFill/>
                </a:ln>
                <a:solidFill>
                  <a:srgbClr val="0F5A9E"/>
                </a:solidFill>
                <a:effectLst/>
                <a:latin typeface="Roboto" panose="02000000000000000000" pitchFamily="2" charset="0"/>
                <a:hlinkClick r:id="rId2"/>
              </a:rPr>
              <a:t>difference between == and ===</a:t>
            </a:r>
            <a:r>
              <a:rPr kumimoji="0" lang="en-US" altLang="en-US" sz="1200" b="0" i="1" u="none" strike="noStrike" cap="none" normalizeH="0" baseline="0">
                <a:ln>
                  <a:noFill/>
                </a:ln>
                <a:solidFill>
                  <a:srgbClr val="3A3A3A"/>
                </a:solidFill>
                <a:effectLst/>
                <a:latin typeface="Roboto" panose="02000000000000000000" pitchFamily="2" charset="0"/>
              </a:rPr>
              <a:t> with real-world use cases!</a:t>
            </a:r>
            <a:endParaRPr kumimoji="0" lang="en-US" altLang="en-US" sz="1800" b="0" i="0" u="none" strike="noStrike" cap="none" normalizeH="0" baseline="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55503317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D5E068-DA3F-7C9A-61FF-2FCD6CDF2022}"/>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27D072-6DC3-8DEE-EDE3-0F241F8B288E}"/>
              </a:ext>
            </a:extLst>
          </p:cNvPr>
          <p:cNvSpPr txBox="1"/>
          <p:nvPr/>
        </p:nvSpPr>
        <p:spPr>
          <a:xfrm>
            <a:off x="2477069" y="-595614"/>
            <a:ext cx="4954136" cy="805605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11. How can we flatten a 2D or 3D array in JavaScript?</a:t>
            </a:r>
          </a:p>
          <a:p>
            <a:pPr algn="just">
              <a:lnSpc>
                <a:spcPts val="2100"/>
              </a:lnSpc>
              <a:spcBef>
                <a:spcPts val="1650"/>
              </a:spcBef>
              <a:buNone/>
            </a:pPr>
            <a:r>
              <a:rPr lang="en-US" b="0" i="0" dirty="0">
                <a:solidFill>
                  <a:srgbClr val="3A3A3A"/>
                </a:solidFill>
                <a:effectLst/>
                <a:latin typeface="Roboto" panose="02000000000000000000" pitchFamily="2" charset="0"/>
              </a:rPr>
              <a:t>Before ES8 to flatten a nested array one would have to make recursive calls to it to achieve it. To ease the work, ES8 has introduced a method called ‘</a:t>
            </a:r>
            <a:r>
              <a:rPr lang="en-US" b="0" i="0" dirty="0" err="1">
                <a:solidFill>
                  <a:srgbClr val="3A3A3A"/>
                </a:solidFill>
                <a:effectLst/>
                <a:latin typeface="Roboto" panose="02000000000000000000" pitchFamily="2" charset="0"/>
              </a:rPr>
              <a:t>array.flat</a:t>
            </a:r>
            <a:r>
              <a:rPr lang="en-US" b="0" i="0" dirty="0">
                <a:solidFill>
                  <a:srgbClr val="3A3A3A"/>
                </a:solidFill>
                <a:effectLst/>
                <a:latin typeface="Roboto" panose="02000000000000000000" pitchFamily="2" charset="0"/>
              </a:rPr>
              <a:t>(depth)’ to flatten any array.</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 default value of depth is 1. Which means by default it will only flatten to one level.</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We can pass parameters like 1, 2, 3, </a:t>
            </a:r>
            <a:r>
              <a:rPr lang="en-US" b="0" i="0" dirty="0" err="1">
                <a:solidFill>
                  <a:srgbClr val="3A3A3A"/>
                </a:solidFill>
                <a:effectLst/>
                <a:latin typeface="Roboto" panose="02000000000000000000" pitchFamily="2" charset="0"/>
              </a:rPr>
              <a:t>etc</a:t>
            </a:r>
            <a:r>
              <a:rPr lang="en-US" b="0" i="0" dirty="0">
                <a:solidFill>
                  <a:srgbClr val="3A3A3A"/>
                </a:solidFill>
                <a:effectLst/>
                <a:latin typeface="Roboto" panose="02000000000000000000" pitchFamily="2" charset="0"/>
              </a:rPr>
              <a:t> to flatten to the corresponding level.</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If the array is highly nested we can directly pass ‘Infinity’ to flatten the complete array at once.</a:t>
            </a:r>
          </a:p>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arr</a:t>
            </a:r>
            <a:r>
              <a:rPr lang="en-US" b="0" i="0" dirty="0">
                <a:solidFill>
                  <a:srgbClr val="212529"/>
                </a:solidFill>
                <a:effectLst/>
                <a:latin typeface="Courier New" panose="02070309020205020404" pitchFamily="49" charset="0"/>
              </a:rPr>
              <a:t> = [1, [2, [3, [4, [5]]]]];&lt;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arr.flat</a:t>
            </a:r>
            <a:r>
              <a:rPr lang="en-US" b="0" i="0" dirty="0">
                <a:solidFill>
                  <a:srgbClr val="212529"/>
                </a:solidFill>
                <a:effectLst/>
                <a:latin typeface="Courier New" panose="02070309020205020404" pitchFamily="49" charset="0"/>
              </a:rPr>
              <a:t>(Infinity));&lt;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 –</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[1,2,3,4,5]</a:t>
            </a:r>
          </a:p>
        </p:txBody>
      </p:sp>
    </p:spTree>
    <p:extLst>
      <p:ext uri="{BB962C8B-B14F-4D97-AF65-F5344CB8AC3E}">
        <p14:creationId xmlns:p14="http://schemas.microsoft.com/office/powerpoint/2010/main" val="21688457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38208D-0985-00C8-9982-1D94173FECE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145A4C3-3418-606E-D10A-EC7827F9B131}"/>
              </a:ext>
            </a:extLst>
          </p:cNvPr>
          <p:cNvSpPr txBox="1"/>
          <p:nvPr/>
        </p:nvSpPr>
        <p:spPr>
          <a:xfrm>
            <a:off x="2477069" y="277702"/>
            <a:ext cx="4954136" cy="630942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12. What are higher-order functions in JavaScript?</a:t>
            </a:r>
          </a:p>
          <a:p>
            <a:pPr algn="just">
              <a:lnSpc>
                <a:spcPts val="2100"/>
              </a:lnSpc>
              <a:spcBef>
                <a:spcPts val="1650"/>
              </a:spcBef>
              <a:buNone/>
            </a:pPr>
            <a:r>
              <a:rPr lang="en-US" b="0" i="0" dirty="0">
                <a:solidFill>
                  <a:srgbClr val="3A3A3A"/>
                </a:solidFill>
                <a:effectLst/>
                <a:latin typeface="Roboto" panose="02000000000000000000" pitchFamily="2" charset="0"/>
              </a:rPr>
              <a:t>Higher order functions are defined as the functions that take one or more functions as arguments, and/or functions that return a function as its value.</a:t>
            </a:r>
          </a:p>
          <a:p>
            <a:pPr algn="just">
              <a:lnSpc>
                <a:spcPts val="2100"/>
              </a:lnSpc>
              <a:spcBef>
                <a:spcPts val="750"/>
              </a:spcBef>
              <a:buNone/>
            </a:pPr>
            <a:r>
              <a:rPr lang="en-US" b="0" i="0" dirty="0">
                <a:solidFill>
                  <a:srgbClr val="3A3A3A"/>
                </a:solidFill>
                <a:effectLst/>
                <a:latin typeface="Roboto" panose="02000000000000000000" pitchFamily="2" charset="0"/>
              </a:rPr>
              <a:t>Example: Let’s look at some examples, of JavaScript inbuilt functions like map() and</a:t>
            </a:r>
          </a:p>
          <a:p>
            <a:pPr algn="l">
              <a:spcBef>
                <a:spcPts val="1125"/>
              </a:spcBef>
              <a:spcAft>
                <a:spcPts val="375"/>
              </a:spcAft>
              <a:buNone/>
            </a:pPr>
            <a:r>
              <a:rPr lang="en-US" b="0" i="0" dirty="0">
                <a:solidFill>
                  <a:srgbClr val="212529"/>
                </a:solidFill>
                <a:effectLst/>
                <a:latin typeface="Courier New" panose="02070309020205020404" pitchFamily="49" charset="0"/>
              </a:rPr>
              <a:t> filter() are higher-order functions.</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const num = [1, 2, 3, 4, 5];</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Let squares = </a:t>
            </a:r>
            <a:r>
              <a:rPr lang="en-US" b="0" i="0" dirty="0" err="1">
                <a:solidFill>
                  <a:srgbClr val="212529"/>
                </a:solidFill>
                <a:effectLst/>
                <a:latin typeface="Courier New" panose="02070309020205020404" pitchFamily="49" charset="0"/>
              </a:rPr>
              <a:t>num.map</a:t>
            </a:r>
            <a:r>
              <a:rPr lang="en-US" b="0" i="0" dirty="0">
                <a:solidFill>
                  <a:srgbClr val="212529"/>
                </a:solidFill>
                <a:effectLst/>
                <a:latin typeface="Courier New" panose="02070309020205020404" pitchFamily="49" charset="0"/>
              </a:rPr>
              <a:t>(x =&gt; x** 2);</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console.log(squares);  </a:t>
            </a:r>
          </a:p>
        </p:txBody>
      </p:sp>
    </p:spTree>
    <p:extLst>
      <p:ext uri="{BB962C8B-B14F-4D97-AF65-F5344CB8AC3E}">
        <p14:creationId xmlns:p14="http://schemas.microsoft.com/office/powerpoint/2010/main" val="20263430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AA536A-EED8-A427-E116-F5A6BD812FA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EAC4ABD-3492-EAAE-E7B7-945877281F91}"/>
              </a:ext>
            </a:extLst>
          </p:cNvPr>
          <p:cNvSpPr txBox="1"/>
          <p:nvPr/>
        </p:nvSpPr>
        <p:spPr>
          <a:xfrm>
            <a:off x="2477069" y="-253212"/>
            <a:ext cx="4954136" cy="737124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13. What are Arrow functions?</a:t>
            </a:r>
          </a:p>
          <a:p>
            <a:pPr algn="just">
              <a:lnSpc>
                <a:spcPts val="2100"/>
              </a:lnSpc>
              <a:spcBef>
                <a:spcPts val="1650"/>
              </a:spcBef>
              <a:buNone/>
            </a:pPr>
            <a:r>
              <a:rPr lang="en-US" b="0" i="0" dirty="0">
                <a:solidFill>
                  <a:srgbClr val="3A3A3A"/>
                </a:solidFill>
                <a:effectLst/>
                <a:latin typeface="Roboto" panose="02000000000000000000" pitchFamily="2" charset="0"/>
              </a:rPr>
              <a:t>Arrow functions are shorthand syntax for writing functions in JavaScript. The arrow functions do not have their own ‘this’ or ‘arguments’.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//Normal function</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function add(</a:t>
            </a:r>
            <a:r>
              <a:rPr lang="en-US" b="0" i="0" dirty="0" err="1">
                <a:solidFill>
                  <a:srgbClr val="212529"/>
                </a:solidFill>
                <a:effectLst/>
                <a:latin typeface="Courier New" panose="02070309020205020404" pitchFamily="49" charset="0"/>
              </a:rPr>
              <a:t>a,b</a:t>
            </a: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return </a:t>
            </a:r>
            <a:r>
              <a:rPr lang="en-US" b="0" i="0" dirty="0" err="1">
                <a:solidFill>
                  <a:srgbClr val="212529"/>
                </a:solidFill>
                <a:effectLst/>
                <a:latin typeface="Courier New" panose="02070309020205020404" pitchFamily="49" charset="0"/>
              </a:rPr>
              <a:t>a+b</a:t>
            </a:r>
            <a:endParaRPr lang="en-US" b="0" i="0" dirty="0">
              <a:solidFill>
                <a:srgbClr val="212529"/>
              </a:solidFill>
              <a:effectLst/>
              <a:latin typeface="Courier New" panose="02070309020205020404" pitchFamily="49" charset="0"/>
            </a:endParaRP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//Arrow function</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const add = (a, b) =&gt; a + b;</a:t>
            </a:r>
          </a:p>
        </p:txBody>
      </p:sp>
    </p:spTree>
    <p:extLst>
      <p:ext uri="{BB962C8B-B14F-4D97-AF65-F5344CB8AC3E}">
        <p14:creationId xmlns:p14="http://schemas.microsoft.com/office/powerpoint/2010/main" val="42493771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216295-F736-4541-E380-60D1680D592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47CDE24-177D-DCB6-38D0-160BC6E9E6C6}"/>
              </a:ext>
            </a:extLst>
          </p:cNvPr>
          <p:cNvSpPr txBox="1"/>
          <p:nvPr/>
        </p:nvSpPr>
        <p:spPr>
          <a:xfrm>
            <a:off x="2477069" y="-155750"/>
            <a:ext cx="4954136" cy="717632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14. What are truthy and </a:t>
            </a:r>
            <a:r>
              <a:rPr lang="en-US" b="0" i="0" dirty="0" err="1">
                <a:solidFill>
                  <a:srgbClr val="272C37"/>
                </a:solidFill>
                <a:effectLst/>
                <a:latin typeface="Roboto" panose="02000000000000000000" pitchFamily="2" charset="0"/>
              </a:rPr>
              <a:t>falsy</a:t>
            </a:r>
            <a:r>
              <a:rPr lang="en-US" b="0" i="0" dirty="0">
                <a:solidFill>
                  <a:srgbClr val="272C37"/>
                </a:solidFill>
                <a:effectLst/>
                <a:latin typeface="Roboto" panose="02000000000000000000" pitchFamily="2" charset="0"/>
              </a:rPr>
              <a:t> values?</a:t>
            </a:r>
          </a:p>
          <a:p>
            <a:pPr algn="just">
              <a:lnSpc>
                <a:spcPts val="2100"/>
              </a:lnSpc>
              <a:spcBef>
                <a:spcPts val="1650"/>
              </a:spcBef>
              <a:buNone/>
            </a:pPr>
            <a:r>
              <a:rPr lang="en-US" b="0" i="0" dirty="0">
                <a:solidFill>
                  <a:srgbClr val="3A3A3A"/>
                </a:solidFill>
                <a:effectLst/>
                <a:latin typeface="Roboto" panose="02000000000000000000" pitchFamily="2" charset="0"/>
              </a:rPr>
              <a:t>Truthy values are values that evaluate to true when coerced to a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 whereas </a:t>
            </a:r>
            <a:r>
              <a:rPr lang="en-US" b="0" i="0" dirty="0" err="1">
                <a:solidFill>
                  <a:srgbClr val="3A3A3A"/>
                </a:solidFill>
                <a:effectLst/>
                <a:latin typeface="Roboto" panose="02000000000000000000" pitchFamily="2" charset="0"/>
              </a:rPr>
              <a:t>Falsy</a:t>
            </a:r>
            <a:r>
              <a:rPr lang="en-US" b="0" i="0" dirty="0">
                <a:solidFill>
                  <a:srgbClr val="3A3A3A"/>
                </a:solidFill>
                <a:effectLst/>
                <a:latin typeface="Roboto" panose="02000000000000000000" pitchFamily="2" charset="0"/>
              </a:rPr>
              <a:t> values are values that evaluate to false when coerced to a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 There are 6 types of </a:t>
            </a:r>
            <a:r>
              <a:rPr lang="en-US" b="0" i="0" dirty="0" err="1">
                <a:solidFill>
                  <a:srgbClr val="3A3A3A"/>
                </a:solidFill>
                <a:effectLst/>
                <a:latin typeface="Roboto" panose="02000000000000000000" pitchFamily="2" charset="0"/>
              </a:rPr>
              <a:t>falsy</a:t>
            </a:r>
            <a:r>
              <a:rPr lang="en-US" b="0" i="0" dirty="0">
                <a:solidFill>
                  <a:srgbClr val="3A3A3A"/>
                </a:solidFill>
                <a:effectLst/>
                <a:latin typeface="Roboto" panose="02000000000000000000" pitchFamily="2" charset="0"/>
              </a:rPr>
              <a:t> values in JavaScript: false, 0, “” empty string, null, undefined, and </a:t>
            </a:r>
            <a:r>
              <a:rPr lang="en-US" b="0" i="0" dirty="0" err="1">
                <a:solidFill>
                  <a:srgbClr val="3A3A3A"/>
                </a:solidFill>
                <a:effectLst/>
                <a:latin typeface="Roboto" panose="02000000000000000000" pitchFamily="2" charset="0"/>
              </a:rPr>
              <a:t>NaN</a:t>
            </a: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Find out </a:t>
            </a:r>
            <a:r>
              <a:rPr lang="en-US" b="0" i="0" u="none" strike="noStrike" dirty="0">
                <a:solidFill>
                  <a:srgbClr val="0F5A9E"/>
                </a:solidFill>
                <a:effectLst/>
                <a:latin typeface="Roboto" panose="02000000000000000000" pitchFamily="2" charset="0"/>
                <a:hlinkClick r:id="rId2"/>
              </a:rPr>
              <a:t>why you should avoid using eval() in JavaScript</a:t>
            </a:r>
            <a:r>
              <a:rPr lang="en-US" b="0" i="0" dirty="0">
                <a:solidFill>
                  <a:srgbClr val="3A3A3A"/>
                </a:solidFill>
                <a:effectLst/>
                <a:latin typeface="Roboto" panose="02000000000000000000" pitchFamily="2" charset="0"/>
              </a:rPr>
              <a:t> in this blog.</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15. What are JavaScript Arrays?</a:t>
            </a:r>
          </a:p>
          <a:p>
            <a:pPr algn="just">
              <a:lnSpc>
                <a:spcPts val="2100"/>
              </a:lnSpc>
              <a:spcBef>
                <a:spcPts val="1650"/>
              </a:spcBef>
              <a:buNone/>
            </a:pPr>
            <a:r>
              <a:rPr lang="en-US" b="0" i="0" dirty="0">
                <a:solidFill>
                  <a:srgbClr val="3A3A3A"/>
                </a:solidFill>
                <a:effectLst/>
                <a:latin typeface="Roboto" panose="02000000000000000000" pitchFamily="2" charset="0"/>
              </a:rPr>
              <a:t>JavaScript Array is a type of object that is used to store a collection of values. The </a:t>
            </a:r>
            <a:r>
              <a:rPr lang="en-US" b="0" i="0" u="none" strike="noStrike" dirty="0">
                <a:solidFill>
                  <a:srgbClr val="0F5A9E"/>
                </a:solidFill>
                <a:effectLst/>
                <a:latin typeface="Roboto" panose="02000000000000000000" pitchFamily="2" charset="0"/>
                <a:hlinkClick r:id="rId3"/>
              </a:rPr>
              <a:t>array</a:t>
            </a:r>
            <a:r>
              <a:rPr lang="en-US" b="0" i="0" dirty="0">
                <a:solidFill>
                  <a:srgbClr val="3A3A3A"/>
                </a:solidFill>
                <a:effectLst/>
                <a:latin typeface="Roboto" panose="02000000000000000000" pitchFamily="2" charset="0"/>
              </a:rPr>
              <a:t> can store values of any data type. Ex: string, number, </a:t>
            </a:r>
            <a:r>
              <a:rPr lang="en-US" b="0" i="0" dirty="0" err="1">
                <a:solidFill>
                  <a:srgbClr val="3A3A3A"/>
                </a:solidFill>
                <a:effectLst/>
                <a:latin typeface="Roboto" panose="02000000000000000000" pitchFamily="2" charset="0"/>
              </a:rPr>
              <a:t>boolean</a:t>
            </a:r>
            <a:r>
              <a:rPr lang="en-US" b="0" i="0" dirty="0">
                <a:solidFill>
                  <a:srgbClr val="3A3A3A"/>
                </a:solidFill>
                <a:effectLst/>
                <a:latin typeface="Roboto" panose="02000000000000000000" pitchFamily="2" charset="0"/>
              </a:rPr>
              <a:t>, or array of objects</a:t>
            </a:r>
          </a:p>
          <a:p>
            <a:pPr algn="just">
              <a:lnSpc>
                <a:spcPts val="2100"/>
              </a:lnSpc>
              <a:spcBef>
                <a:spcPts val="750"/>
              </a:spcBef>
              <a:buNone/>
            </a:pPr>
            <a:r>
              <a:rPr lang="en-US" b="0" i="0" dirty="0">
                <a:solidFill>
                  <a:srgbClr val="3A3A3A"/>
                </a:solidFill>
                <a:effectLst/>
                <a:latin typeface="Roboto" panose="02000000000000000000" pitchFamily="2" charset="0"/>
              </a:rPr>
              <a:t>Example of Array:</a:t>
            </a:r>
          </a:p>
          <a:p>
            <a:pPr algn="l">
              <a:spcBef>
                <a:spcPts val="1125"/>
              </a:spcBef>
              <a:spcAft>
                <a:spcPts val="375"/>
              </a:spcAft>
              <a:buNone/>
            </a:pPr>
            <a:r>
              <a:rPr lang="en-US" b="0" i="0" dirty="0">
                <a:solidFill>
                  <a:srgbClr val="212529"/>
                </a:solidFill>
                <a:effectLst/>
                <a:latin typeface="Courier New" panose="02070309020205020404" pitchFamily="49" charset="0"/>
              </a:rPr>
              <a:t>let </a:t>
            </a:r>
            <a:r>
              <a:rPr lang="en-US" b="0" i="0" dirty="0" err="1">
                <a:solidFill>
                  <a:srgbClr val="212529"/>
                </a:solidFill>
                <a:effectLst/>
                <a:latin typeface="Courier New" panose="02070309020205020404" pitchFamily="49" charset="0"/>
              </a:rPr>
              <a:t>arr</a:t>
            </a:r>
            <a:r>
              <a:rPr lang="en-US" b="0" i="0" dirty="0">
                <a:solidFill>
                  <a:srgbClr val="212529"/>
                </a:solidFill>
                <a:effectLst/>
                <a:latin typeface="Courier New" panose="02070309020205020404" pitchFamily="49" charset="0"/>
              </a:rPr>
              <a:t> = [1,2,3] //number array</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let arr2 = [“</a:t>
            </a: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 string array</a:t>
            </a:r>
          </a:p>
        </p:txBody>
      </p:sp>
    </p:spTree>
    <p:extLst>
      <p:ext uri="{BB962C8B-B14F-4D97-AF65-F5344CB8AC3E}">
        <p14:creationId xmlns:p14="http://schemas.microsoft.com/office/powerpoint/2010/main" val="322793314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7C126-04A2-CF97-FE38-E47FAAC339A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5CDDD94-6324-7ACB-7494-B6672859D714}"/>
              </a:ext>
            </a:extLst>
          </p:cNvPr>
          <p:cNvSpPr txBox="1"/>
          <p:nvPr/>
        </p:nvSpPr>
        <p:spPr>
          <a:xfrm>
            <a:off x="2477069" y="-1095750"/>
            <a:ext cx="4954136" cy="9056325"/>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JavaScript Interview Questions for Experienced</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16. What is the JavaScript DOM?</a:t>
            </a:r>
          </a:p>
          <a:p>
            <a:pPr algn="just">
              <a:lnSpc>
                <a:spcPts val="2100"/>
              </a:lnSpc>
              <a:spcBef>
                <a:spcPts val="1650"/>
              </a:spcBef>
              <a:buNone/>
            </a:pPr>
            <a:r>
              <a:rPr lang="en-US" b="0" i="0" dirty="0">
                <a:solidFill>
                  <a:srgbClr val="3A3A3A"/>
                </a:solidFill>
                <a:effectLst/>
                <a:latin typeface="Roboto" panose="02000000000000000000" pitchFamily="2" charset="0"/>
              </a:rPr>
              <a:t>The Document Object Model, or </a:t>
            </a:r>
            <a:r>
              <a:rPr lang="en-US" b="0" i="0" u="none" strike="noStrike" dirty="0">
                <a:solidFill>
                  <a:srgbClr val="0F5A9E"/>
                </a:solidFill>
                <a:effectLst/>
                <a:latin typeface="Roboto" panose="02000000000000000000" pitchFamily="2" charset="0"/>
                <a:hlinkClick r:id="rId2"/>
              </a:rPr>
              <a:t>DOM</a:t>
            </a:r>
            <a:r>
              <a:rPr lang="en-US" b="0" i="0" dirty="0">
                <a:solidFill>
                  <a:srgbClr val="3A3A3A"/>
                </a:solidFill>
                <a:effectLst/>
                <a:latin typeface="Roboto" panose="02000000000000000000" pitchFamily="2" charset="0"/>
              </a:rPr>
              <a:t>, is a map of a webpage that can be modified by using JavaScript. It represents the webpage as a tree of parts like headings, paragraphs, and links. Each part is a “node” in the tree. With JavaScript, you can find these parts using methods like </a:t>
            </a:r>
            <a:r>
              <a:rPr lang="en-US" b="0" i="0" dirty="0" err="1">
                <a:solidFill>
                  <a:srgbClr val="3A3A3A"/>
                </a:solidFill>
                <a:effectLst/>
                <a:latin typeface="Roboto" panose="02000000000000000000" pitchFamily="2" charset="0"/>
              </a:rPr>
              <a:t>getElementById</a:t>
            </a:r>
            <a:r>
              <a:rPr lang="en-US" b="0" i="0" dirty="0">
                <a:solidFill>
                  <a:srgbClr val="3A3A3A"/>
                </a:solidFill>
                <a:effectLst/>
                <a:latin typeface="Roboto" panose="02000000000000000000" pitchFamily="2" charset="0"/>
              </a:rPr>
              <a:t> and change their content, style, or structure.</a:t>
            </a:r>
          </a:p>
          <a:p>
            <a:pPr algn="just">
              <a:lnSpc>
                <a:spcPts val="2100"/>
              </a:lnSpc>
              <a:spcBef>
                <a:spcPts val="750"/>
              </a:spcBef>
              <a:buNone/>
            </a:pPr>
            <a:r>
              <a:rPr lang="en-US" b="0" i="0" dirty="0">
                <a:solidFill>
                  <a:srgbClr val="3A3A3A"/>
                </a:solidFill>
                <a:effectLst/>
                <a:latin typeface="Roboto" panose="02000000000000000000" pitchFamily="2" charset="0"/>
              </a:rPr>
              <a:t>Find out </a:t>
            </a:r>
            <a:r>
              <a:rPr lang="en-US" b="0" i="0" u="none" strike="noStrike" dirty="0">
                <a:solidFill>
                  <a:srgbClr val="0F5A9E"/>
                </a:solidFill>
                <a:effectLst/>
                <a:latin typeface="Roboto" panose="02000000000000000000" pitchFamily="2" charset="0"/>
                <a:hlinkClick r:id="rId3"/>
              </a:rPr>
              <a:t>why using </a:t>
            </a:r>
            <a:r>
              <a:rPr lang="en-US" b="0" i="0" u="none" strike="noStrike" dirty="0" err="1">
                <a:solidFill>
                  <a:srgbClr val="0F5A9E"/>
                </a:solidFill>
                <a:effectLst/>
                <a:latin typeface="Roboto" panose="02000000000000000000" pitchFamily="2" charset="0"/>
                <a:hlinkClick r:id="rId3"/>
              </a:rPr>
              <a:t>document.write</a:t>
            </a:r>
            <a:r>
              <a:rPr lang="en-US" b="0" i="0" u="none" strike="noStrike" dirty="0">
                <a:solidFill>
                  <a:srgbClr val="0F5A9E"/>
                </a:solidFill>
                <a:effectLst/>
                <a:latin typeface="Roboto" panose="02000000000000000000" pitchFamily="2" charset="0"/>
                <a:hlinkClick r:id="rId3"/>
              </a:rPr>
              <a:t>() in JavaScript is considered bad practice</a:t>
            </a:r>
            <a:r>
              <a:rPr lang="en-US" b="0" i="0" dirty="0">
                <a:solidFill>
                  <a:srgbClr val="3A3A3A"/>
                </a:solidFill>
                <a:effectLst/>
                <a:latin typeface="Roboto" panose="02000000000000000000" pitchFamily="2" charset="0"/>
              </a:rPr>
              <a:t> through this blog.</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17. What would be the result of 5+3+”10″?</a:t>
            </a:r>
          </a:p>
          <a:p>
            <a:pPr algn="just">
              <a:lnSpc>
                <a:spcPts val="2100"/>
              </a:lnSpc>
              <a:spcBef>
                <a:spcPts val="1650"/>
              </a:spcBef>
              <a:buNone/>
            </a:pPr>
            <a:r>
              <a:rPr lang="en-US" b="0" i="0" dirty="0">
                <a:solidFill>
                  <a:srgbClr val="3A3A3A"/>
                </a:solidFill>
                <a:effectLst/>
                <a:latin typeface="Roboto" panose="02000000000000000000" pitchFamily="2" charset="0"/>
              </a:rPr>
              <a:t>Here, 5 and 3 behave like an integer, and “10” behaves like a string. So 5 + 3 will be 8. Then the output will be 5+”10″ = 510.</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18. What is a template literal in JavaScript?</a:t>
            </a:r>
          </a:p>
          <a:p>
            <a:pPr algn="just">
              <a:lnSpc>
                <a:spcPts val="2100"/>
              </a:lnSpc>
              <a:spcBef>
                <a:spcPts val="1650"/>
              </a:spcBef>
              <a:buNone/>
            </a:pPr>
            <a:r>
              <a:rPr lang="en-US" b="0" i="0" dirty="0">
                <a:solidFill>
                  <a:srgbClr val="3A3A3A"/>
                </a:solidFill>
                <a:effectLst/>
                <a:latin typeface="Roboto" panose="02000000000000000000" pitchFamily="2" charset="0"/>
              </a:rPr>
              <a:t>A template literal in JavaScript is a way to create strings using backticks (`), which makes string manipulation easier. Unlike regular strings, template literals allow you to embed expressions inside the string using ${}.</a:t>
            </a:r>
          </a:p>
        </p:txBody>
      </p:sp>
    </p:spTree>
    <p:extLst>
      <p:ext uri="{BB962C8B-B14F-4D97-AF65-F5344CB8AC3E}">
        <p14:creationId xmlns:p14="http://schemas.microsoft.com/office/powerpoint/2010/main" val="248224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742B9A-8337-6E47-F8F4-F1FF3D6546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5CA10AB-738A-39B7-203E-763A3276F1F2}"/>
              </a:ext>
            </a:extLst>
          </p:cNvPr>
          <p:cNvSpPr txBox="1"/>
          <p:nvPr/>
        </p:nvSpPr>
        <p:spPr>
          <a:xfrm>
            <a:off x="2477069" y="-3313024"/>
            <a:ext cx="4954136" cy="1349087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19. What are errors in JavaScript?</a:t>
            </a:r>
          </a:p>
          <a:p>
            <a:pPr algn="just">
              <a:lnSpc>
                <a:spcPts val="2100"/>
              </a:lnSpc>
              <a:spcBef>
                <a:spcPts val="1650"/>
              </a:spcBef>
              <a:buNone/>
            </a:pPr>
            <a:r>
              <a:rPr lang="en-US" b="0" i="0" dirty="0">
                <a:solidFill>
                  <a:srgbClr val="3A3A3A"/>
                </a:solidFill>
                <a:effectLst/>
                <a:latin typeface="Roboto" panose="02000000000000000000" pitchFamily="2" charset="0"/>
              </a:rPr>
              <a:t>There are three types of errors in JavaScript:</a:t>
            </a:r>
          </a:p>
          <a:p>
            <a:pPr algn="just">
              <a:lnSpc>
                <a:spcPts val="2100"/>
              </a:lnSpc>
              <a:spcBef>
                <a:spcPts val="750"/>
              </a:spcBef>
              <a:buNone/>
            </a:pPr>
            <a:r>
              <a:rPr lang="en-US" b="0" i="0" dirty="0">
                <a:solidFill>
                  <a:srgbClr val="3A3A3A"/>
                </a:solidFill>
                <a:effectLst/>
                <a:latin typeface="Roboto" panose="02000000000000000000" pitchFamily="2" charset="0"/>
              </a:rPr>
              <a:t>Syntax error: Syntax error is a type of error that comes when an individual is typing some strings of characters or tokens in some particular programming language.</a:t>
            </a:r>
          </a:p>
          <a:p>
            <a:pPr algn="just">
              <a:lnSpc>
                <a:spcPts val="2100"/>
              </a:lnSpc>
              <a:spcBef>
                <a:spcPts val="750"/>
              </a:spcBef>
              <a:buNone/>
            </a:pPr>
            <a:r>
              <a:rPr lang="en-US" b="0" i="0" dirty="0">
                <a:solidFill>
                  <a:srgbClr val="3A3A3A"/>
                </a:solidFill>
                <a:effectLst/>
                <a:latin typeface="Roboto" panose="02000000000000000000" pitchFamily="2" charset="0"/>
              </a:rPr>
              <a:t>Logical error:  A logical error is a type of tool flaw that makes its execution wrong and its operation incomplete.  </a:t>
            </a:r>
          </a:p>
          <a:p>
            <a:pPr algn="just">
              <a:lnSpc>
                <a:spcPts val="2100"/>
              </a:lnSpc>
              <a:spcBef>
                <a:spcPts val="750"/>
              </a:spcBef>
              <a:buNone/>
            </a:pPr>
            <a:r>
              <a:rPr lang="en-US" b="0" i="0" dirty="0">
                <a:solidFill>
                  <a:srgbClr val="3A3A3A"/>
                </a:solidFill>
                <a:effectLst/>
                <a:latin typeface="Roboto" panose="02000000000000000000" pitchFamily="2" charset="0"/>
              </a:rPr>
              <a:t>Runtime Error: A runtime is an error that is usually encountered when the program is in the process of executing.</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20. What are JavaScript modules?</a:t>
            </a:r>
          </a:p>
          <a:p>
            <a:pPr algn="just">
              <a:lnSpc>
                <a:spcPts val="2100"/>
              </a:lnSpc>
              <a:spcBef>
                <a:spcPts val="1650"/>
              </a:spcBef>
              <a:buNone/>
            </a:pPr>
            <a:r>
              <a:rPr lang="en-US" b="0" i="0" dirty="0">
                <a:solidFill>
                  <a:srgbClr val="3A3A3A"/>
                </a:solidFill>
                <a:effectLst/>
                <a:latin typeface="Roboto" panose="02000000000000000000" pitchFamily="2" charset="0"/>
              </a:rPr>
              <a:t>JavaScript modules are used in order to divide the JavaScript code into certain components. They are applied in order to load several variables, functions, or objects in a file and to send several variables, functions, or objects in another file. The keywords import and export are used to read the files and export write into other files respectively.</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 In file1.js</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export const var1= () =&gt; "Hi user";</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In file2.js</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import { var1} from './file1';</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console.log(var2());</a:t>
            </a:r>
          </a:p>
        </p:txBody>
      </p:sp>
    </p:spTree>
    <p:extLst>
      <p:ext uri="{BB962C8B-B14F-4D97-AF65-F5344CB8AC3E}">
        <p14:creationId xmlns:p14="http://schemas.microsoft.com/office/powerpoint/2010/main" val="39824342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8D39D9-771D-1A99-8C9D-AF905F4171D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A3312FA-69F2-ACAE-CBA5-97EE84CC55CB}"/>
              </a:ext>
            </a:extLst>
          </p:cNvPr>
          <p:cNvSpPr txBox="1"/>
          <p:nvPr/>
        </p:nvSpPr>
        <p:spPr>
          <a:xfrm>
            <a:off x="2477069" y="1142042"/>
            <a:ext cx="4954136" cy="458074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21. What is an event bubbling in JavaScript?</a:t>
            </a:r>
          </a:p>
          <a:p>
            <a:pPr algn="just">
              <a:lnSpc>
                <a:spcPts val="2100"/>
              </a:lnSpc>
              <a:spcBef>
                <a:spcPts val="1650"/>
              </a:spcBef>
              <a:buNone/>
            </a:pPr>
            <a:r>
              <a:rPr lang="en-US" b="0" i="0" dirty="0">
                <a:solidFill>
                  <a:srgbClr val="3A3A3A"/>
                </a:solidFill>
                <a:effectLst/>
                <a:latin typeface="Roboto" panose="02000000000000000000" pitchFamily="2" charset="0"/>
              </a:rPr>
              <a:t>In JavaScript </a:t>
            </a:r>
            <a:r>
              <a:rPr lang="en-US" b="0" i="0" u="none" strike="noStrike" dirty="0">
                <a:solidFill>
                  <a:srgbClr val="0F5A9E"/>
                </a:solidFill>
                <a:effectLst/>
                <a:latin typeface="Roboto" panose="02000000000000000000" pitchFamily="2" charset="0"/>
                <a:hlinkClick r:id="rId2"/>
              </a:rPr>
              <a:t>event bubbling</a:t>
            </a:r>
            <a:r>
              <a:rPr lang="en-US" b="0" i="0" dirty="0">
                <a:solidFill>
                  <a:srgbClr val="3A3A3A"/>
                </a:solidFill>
                <a:effectLst/>
                <a:latin typeface="Roboto" panose="02000000000000000000" pitchFamily="2" charset="0"/>
              </a:rPr>
              <a:t> is the phenomenon where an event, for instance, the click event starts at the element and then moves up through the entire parents DOM nodes. For example, when you click a button inside a div, the event is inaugurated on the button and then bubbles through the div and then through any of its parents contingent on the event’s propagation model, up to the root. This enables one to work with events on parent of which one cannot add a listener to each child. This propagation can be halted by </a:t>
            </a:r>
            <a:r>
              <a:rPr lang="en-US" b="0" i="0" dirty="0" err="1">
                <a:solidFill>
                  <a:srgbClr val="3A3A3A"/>
                </a:solidFill>
                <a:effectLst/>
                <a:latin typeface="Roboto" panose="02000000000000000000" pitchFamily="2" charset="0"/>
              </a:rPr>
              <a:t>event.stopPropagation</a:t>
            </a:r>
            <a:r>
              <a:rPr lang="en-US" b="0" i="0" dirty="0">
                <a:solidFill>
                  <a:srgbClr val="3A3A3A"/>
                </a:solidFill>
                <a:effectLst/>
                <a:latin typeface="Roboto" panose="02000000000000000000" pitchFamily="2" charset="0"/>
              </a:rPr>
              <a:t>() which means that the event does not migrate to the parent element.</a:t>
            </a:r>
          </a:p>
        </p:txBody>
      </p:sp>
    </p:spTree>
    <p:extLst>
      <p:ext uri="{BB962C8B-B14F-4D97-AF65-F5344CB8AC3E}">
        <p14:creationId xmlns:p14="http://schemas.microsoft.com/office/powerpoint/2010/main" val="32114950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5F51D3-0345-00B0-8AB0-A45023E7406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9CC2623-10F0-16FB-66B6-7416DE1F68AD}"/>
              </a:ext>
            </a:extLst>
          </p:cNvPr>
          <p:cNvSpPr txBox="1"/>
          <p:nvPr/>
        </p:nvSpPr>
        <p:spPr>
          <a:xfrm>
            <a:off x="2477069" y="-3492560"/>
            <a:ext cx="4954136" cy="1384994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22. What is </a:t>
            </a:r>
            <a:r>
              <a:rPr lang="en-US" b="0" i="0" dirty="0" err="1">
                <a:solidFill>
                  <a:srgbClr val="272C37"/>
                </a:solidFill>
                <a:effectLst/>
                <a:latin typeface="Roboto" panose="02000000000000000000" pitchFamily="2" charset="0"/>
              </a:rPr>
              <a:t>memoization</a:t>
            </a:r>
            <a:r>
              <a:rPr lang="en-US" b="0" i="0" dirty="0">
                <a:solidFill>
                  <a:srgbClr val="272C37"/>
                </a:solidFill>
                <a:effectLst/>
                <a:latin typeface="Roboto" panose="02000000000000000000" pitchFamily="2" charset="0"/>
              </a:rPr>
              <a:t> in JavaScript?</a:t>
            </a:r>
          </a:p>
          <a:p>
            <a:pPr algn="just">
              <a:lnSpc>
                <a:spcPts val="2100"/>
              </a:lnSpc>
              <a:spcBef>
                <a:spcPts val="1650"/>
              </a:spcBef>
              <a:buNone/>
            </a:pPr>
            <a:r>
              <a:rPr lang="en-US" b="0" i="0" dirty="0" err="1">
                <a:solidFill>
                  <a:srgbClr val="3A3A3A"/>
                </a:solidFill>
                <a:effectLst/>
                <a:latin typeface="Roboto" panose="02000000000000000000" pitchFamily="2" charset="0"/>
              </a:rPr>
              <a:t>Memoization</a:t>
            </a:r>
            <a:r>
              <a:rPr lang="en-US" b="0" i="0" dirty="0">
                <a:solidFill>
                  <a:srgbClr val="3A3A3A"/>
                </a:solidFill>
                <a:effectLst/>
                <a:latin typeface="Roboto" panose="02000000000000000000" pitchFamily="2" charset="0"/>
              </a:rPr>
              <a:t> in JavaScript refers to a technique of optimizing function by storing the values of function calls and instead of executing the function, the result is returned if the parameters match that of the previous calls. This can stop the calculation work from being spread across repeat calls of the function and make it more </a:t>
            </a:r>
            <a:r>
              <a:rPr lang="en-US" b="0" i="0" dirty="0" err="1">
                <a:solidFill>
                  <a:srgbClr val="3A3A3A"/>
                </a:solidFill>
                <a:effectLst/>
                <a:latin typeface="Roboto" panose="02000000000000000000" pitchFamily="2" charset="0"/>
              </a:rPr>
              <a:t>efficient,t</a:t>
            </a:r>
            <a:r>
              <a:rPr lang="en-US" b="0" i="0" dirty="0">
                <a:solidFill>
                  <a:srgbClr val="3A3A3A"/>
                </a:solidFill>
                <a:effectLst/>
                <a:latin typeface="Roboto" panose="02000000000000000000" pitchFamily="2" charset="0"/>
              </a:rPr>
              <a:t> especially when the function uses the same argument values many times.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const cache =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function add(num)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if (num in cache)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cache[num]; // Return cached result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cache[num] = num + 10; // Store result in cache</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cache[num];</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console.log(add(5)); // Calculates and stores 15</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console.log(add(5)); // Returns cached 15</a:t>
            </a:r>
          </a:p>
        </p:txBody>
      </p:sp>
    </p:spTree>
    <p:extLst>
      <p:ext uri="{BB962C8B-B14F-4D97-AF65-F5344CB8AC3E}">
        <p14:creationId xmlns:p14="http://schemas.microsoft.com/office/powerpoint/2010/main" val="32966014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85CCC6-E6E7-B7C6-6CCC-9091F85AE183}"/>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302A7DD5-3D60-E6AB-E51F-1BB910266C0D}"/>
              </a:ext>
            </a:extLst>
          </p:cNvPr>
          <p:cNvSpPr txBox="1"/>
          <p:nvPr/>
        </p:nvSpPr>
        <p:spPr>
          <a:xfrm>
            <a:off x="2477069" y="2219260"/>
            <a:ext cx="4954136" cy="2426305"/>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23. What is event delegation in JavaScript?</a:t>
            </a:r>
          </a:p>
          <a:p>
            <a:pPr algn="just">
              <a:lnSpc>
                <a:spcPts val="2100"/>
              </a:lnSpc>
              <a:spcBef>
                <a:spcPts val="1650"/>
              </a:spcBef>
              <a:buNone/>
            </a:pPr>
            <a:r>
              <a:rPr lang="en-US" b="0" i="0" u="none" strike="noStrike" dirty="0">
                <a:solidFill>
                  <a:srgbClr val="0F5A9E"/>
                </a:solidFill>
                <a:effectLst/>
                <a:latin typeface="Roboto" panose="02000000000000000000" pitchFamily="2" charset="0"/>
                <a:hlinkClick r:id="rId2"/>
              </a:rPr>
              <a:t>Event delegation</a:t>
            </a:r>
            <a:r>
              <a:rPr lang="en-US" b="0" i="0" dirty="0">
                <a:solidFill>
                  <a:srgbClr val="3A3A3A"/>
                </a:solidFill>
                <a:effectLst/>
                <a:latin typeface="Roboto" panose="02000000000000000000" pitchFamily="2" charset="0"/>
              </a:rPr>
              <a:t> is a technique of JavaScript in which a parent element listens to the defined events of the child elements using event bubbling. This also assists in minimizing circumstances when several event listeners are written in the code.</a:t>
            </a:r>
          </a:p>
        </p:txBody>
      </p:sp>
    </p:spTree>
    <p:extLst>
      <p:ext uri="{BB962C8B-B14F-4D97-AF65-F5344CB8AC3E}">
        <p14:creationId xmlns:p14="http://schemas.microsoft.com/office/powerpoint/2010/main" val="18943406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498316-616B-E845-43AD-535703B1767E}"/>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759ED38-E650-A1D2-4792-6F5E1831A6F2}"/>
              </a:ext>
            </a:extLst>
          </p:cNvPr>
          <p:cNvSpPr txBox="1"/>
          <p:nvPr/>
        </p:nvSpPr>
        <p:spPr>
          <a:xfrm>
            <a:off x="545910" y="-3295070"/>
            <a:ext cx="8952932" cy="11767324"/>
          </a:xfrm>
          <a:prstGeom prst="rect">
            <a:avLst/>
          </a:prstGeom>
          <a:noFill/>
        </p:spPr>
        <p:txBody>
          <a:bodyPr wrap="square">
            <a:spAutoFit/>
          </a:bodyPr>
          <a:lstStyle/>
          <a:p>
            <a:pPr algn="l">
              <a:lnSpc>
                <a:spcPts val="2550"/>
              </a:lnSpc>
              <a:spcBef>
                <a:spcPts val="3000"/>
              </a:spcBef>
              <a:buNone/>
            </a:pP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 interview questions for 2 to 5 years Experience</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24. What is debouncing?</a:t>
            </a:r>
          </a:p>
          <a:p>
            <a:pPr algn="just">
              <a:lnSpc>
                <a:spcPts val="2100"/>
              </a:lnSpc>
              <a:spcBef>
                <a:spcPts val="1650"/>
              </a:spcBef>
              <a:buNone/>
            </a:pPr>
            <a:r>
              <a:rPr lang="en-US" b="0" i="0" dirty="0">
                <a:solidFill>
                  <a:srgbClr val="3A3A3A"/>
                </a:solidFill>
                <a:effectLst/>
                <a:latin typeface="Roboto" panose="02000000000000000000" pitchFamily="2" charset="0"/>
              </a:rPr>
              <a:t>Ans. Debouncing is a programming technique used to improve the performance of web applications by limiting the rate at which a function is executed. This is especially useful for event-driven actions like resizing the window, searching as you type, or scrolling, where rapid firing of events can negatively impact performance.</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function debounce(</a:t>
            </a:r>
            <a:r>
              <a:rPr lang="en-US" b="0" i="0" dirty="0" err="1">
                <a:solidFill>
                  <a:srgbClr val="212529"/>
                </a:solidFill>
                <a:effectLst/>
                <a:latin typeface="Courier New" panose="02070309020205020404" pitchFamily="49" charset="0"/>
              </a:rPr>
              <a:t>func</a:t>
            </a:r>
            <a:r>
              <a:rPr lang="en-US" b="0" i="0" dirty="0">
                <a:solidFill>
                  <a:srgbClr val="212529"/>
                </a:solidFill>
                <a:effectLst/>
                <a:latin typeface="Courier New" panose="02070309020205020404" pitchFamily="49" charset="0"/>
              </a:rPr>
              <a:t>, delay)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let timer;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function (...</a:t>
            </a:r>
            <a:r>
              <a:rPr lang="en-US" b="0" i="0" dirty="0" err="1">
                <a:solidFill>
                  <a:srgbClr val="212529"/>
                </a:solidFill>
                <a:effectLst/>
                <a:latin typeface="Courier New" panose="02070309020205020404" pitchFamily="49" charset="0"/>
              </a:rPr>
              <a:t>args</a:t>
            </a: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const context = this;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clearTimeout</a:t>
            </a:r>
            <a:r>
              <a:rPr lang="en-US" b="0" i="0" dirty="0">
                <a:solidFill>
                  <a:srgbClr val="212529"/>
                </a:solidFill>
                <a:effectLst/>
                <a:latin typeface="Courier New" panose="02070309020205020404" pitchFamily="49" charset="0"/>
              </a:rPr>
              <a:t>(timer);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timer = </a:t>
            </a:r>
            <a:r>
              <a:rPr lang="en-US" b="0" i="0" dirty="0" err="1">
                <a:solidFill>
                  <a:srgbClr val="212529"/>
                </a:solidFill>
                <a:effectLst/>
                <a:latin typeface="Courier New" panose="02070309020205020404" pitchFamily="49" charset="0"/>
              </a:rPr>
              <a:t>setTimeout</a:t>
            </a:r>
            <a:r>
              <a:rPr lang="en-US" b="0" i="0" dirty="0">
                <a:solidFill>
                  <a:srgbClr val="212529"/>
                </a:solidFill>
                <a:effectLst/>
                <a:latin typeface="Courier New" panose="02070309020205020404" pitchFamily="49" charset="0"/>
              </a:rPr>
              <a:t>(() =&gt;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func.apply</a:t>
            </a:r>
            <a:r>
              <a:rPr lang="en-US" b="0" i="0" dirty="0">
                <a:solidFill>
                  <a:srgbClr val="212529"/>
                </a:solidFill>
                <a:effectLst/>
                <a:latin typeface="Courier New" panose="02070309020205020404" pitchFamily="49" charset="0"/>
              </a:rPr>
              <a:t>(context, </a:t>
            </a:r>
            <a:r>
              <a:rPr lang="en-US" b="0" i="0" dirty="0" err="1">
                <a:solidFill>
                  <a:srgbClr val="212529"/>
                </a:solidFill>
                <a:effectLst/>
                <a:latin typeface="Courier New" panose="02070309020205020404" pitchFamily="49" charset="0"/>
              </a:rPr>
              <a:t>args</a:t>
            </a: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 delay);</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41643242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4FC741-BE3B-1381-C1C3-531DD4C166C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FB96392A-242B-2255-DA13-B77760FA52BD}"/>
              </a:ext>
            </a:extLst>
          </p:cNvPr>
          <p:cNvSpPr txBox="1"/>
          <p:nvPr/>
        </p:nvSpPr>
        <p:spPr>
          <a:xfrm>
            <a:off x="2477069" y="-2619244"/>
            <a:ext cx="4954136" cy="12103313"/>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25. What is callback hell?</a:t>
            </a:r>
          </a:p>
          <a:p>
            <a:pPr algn="just">
              <a:lnSpc>
                <a:spcPts val="2100"/>
              </a:lnSpc>
              <a:spcBef>
                <a:spcPts val="1650"/>
              </a:spcBef>
              <a:buNone/>
            </a:pPr>
            <a:r>
              <a:rPr lang="en-US" b="0" i="0" dirty="0">
                <a:solidFill>
                  <a:srgbClr val="3A3A3A"/>
                </a:solidFill>
                <a:effectLst/>
                <a:latin typeface="Roboto" panose="02000000000000000000" pitchFamily="2" charset="0"/>
              </a:rPr>
              <a:t>Ans. Callback hell occurs in JavaScript when numerous nested callbacks create a complex, deeply indented code structure, commonly known as the “pyramid of doom.” This makes the code hard to read, debug, and maintain, ultimately resulting in reduced code quality and challenges with scalability.</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err="1">
                <a:solidFill>
                  <a:srgbClr val="212529"/>
                </a:solidFill>
                <a:effectLst/>
                <a:latin typeface="Courier New" panose="02070309020205020404" pitchFamily="49" charset="0"/>
              </a:rPr>
              <a:t>getData</a:t>
            </a:r>
            <a:r>
              <a:rPr lang="en-US" b="0" i="0" dirty="0">
                <a:solidFill>
                  <a:srgbClr val="212529"/>
                </a:solidFill>
                <a:effectLst/>
                <a:latin typeface="Courier New" panose="02070309020205020404" pitchFamily="49" charset="0"/>
              </a:rPr>
              <a:t>(function(data)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processData</a:t>
            </a:r>
            <a:r>
              <a:rPr lang="en-US" b="0" i="0" dirty="0">
                <a:solidFill>
                  <a:srgbClr val="212529"/>
                </a:solidFill>
                <a:effectLst/>
                <a:latin typeface="Courier New" panose="02070309020205020404" pitchFamily="49" charset="0"/>
              </a:rPr>
              <a:t>(data, function(</a:t>
            </a:r>
            <a:r>
              <a:rPr lang="en-US" b="0" i="0" dirty="0" err="1">
                <a:solidFill>
                  <a:srgbClr val="212529"/>
                </a:solidFill>
                <a:effectLst/>
                <a:latin typeface="Courier New" panose="02070309020205020404" pitchFamily="49" charset="0"/>
              </a:rPr>
              <a:t>processedData</a:t>
            </a: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saveData</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processedData</a:t>
            </a:r>
            <a:r>
              <a:rPr lang="en-US" b="0" i="0" dirty="0">
                <a:solidFill>
                  <a:srgbClr val="212529"/>
                </a:solidFill>
                <a:effectLst/>
                <a:latin typeface="Courier New" panose="02070309020205020404" pitchFamily="49" charset="0"/>
              </a:rPr>
              <a:t>, function(</a:t>
            </a:r>
            <a:r>
              <a:rPr lang="en-US" b="0" i="0" dirty="0" err="1">
                <a:solidFill>
                  <a:srgbClr val="212529"/>
                </a:solidFill>
                <a:effectLst/>
                <a:latin typeface="Courier New" panose="02070309020205020404" pitchFamily="49" charset="0"/>
              </a:rPr>
              <a:t>savedData</a:t>
            </a: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sendConfirmation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savedData</a:t>
            </a:r>
            <a:r>
              <a:rPr lang="en-US" b="0" i="0" dirty="0">
                <a:solidFill>
                  <a:srgbClr val="212529"/>
                </a:solidFill>
                <a:effectLst/>
                <a:latin typeface="Courier New" panose="02070309020205020404" pitchFamily="49" charset="0"/>
              </a:rPr>
              <a:t>, function(response)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console.log("Operation completed: " + response);</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198090760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1F3F0-8E3C-9EC2-08A0-4468CCE58EC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8A28287-87D3-E41C-CDF4-419BD67A4379}"/>
              </a:ext>
            </a:extLst>
          </p:cNvPr>
          <p:cNvSpPr txBox="1"/>
          <p:nvPr/>
        </p:nvSpPr>
        <p:spPr>
          <a:xfrm>
            <a:off x="2477069" y="613692"/>
            <a:ext cx="4954136" cy="563744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26. What is the easiest way to add an element to the beginning of an array in JavaScript?</a:t>
            </a:r>
          </a:p>
          <a:p>
            <a:pPr algn="just">
              <a:lnSpc>
                <a:spcPts val="2100"/>
              </a:lnSpc>
              <a:spcBef>
                <a:spcPts val="1650"/>
              </a:spcBef>
              <a:buNone/>
            </a:pPr>
            <a:r>
              <a:rPr lang="en-US" b="0" i="0" dirty="0">
                <a:solidFill>
                  <a:srgbClr val="3A3A3A"/>
                </a:solidFill>
                <a:effectLst/>
                <a:latin typeface="Roboto" panose="02000000000000000000" pitchFamily="2" charset="0"/>
              </a:rPr>
              <a:t>To add an </a:t>
            </a:r>
            <a:r>
              <a:rPr lang="en-US" b="0" i="0" u="none" strike="noStrike" dirty="0">
                <a:solidFill>
                  <a:srgbClr val="0F5A9E"/>
                </a:solidFill>
                <a:effectLst/>
                <a:latin typeface="Roboto" panose="02000000000000000000" pitchFamily="2" charset="0"/>
                <a:hlinkClick r:id="rId2"/>
              </a:rPr>
              <a:t>element to the beginning</a:t>
            </a:r>
            <a:r>
              <a:rPr lang="en-US" b="0" i="0" dirty="0">
                <a:solidFill>
                  <a:srgbClr val="3A3A3A"/>
                </a:solidFill>
                <a:effectLst/>
                <a:latin typeface="Roboto" panose="02000000000000000000" pitchFamily="2" charset="0"/>
              </a:rPr>
              <a:t> of an array, the easiest way is to use the method ‘</a:t>
            </a:r>
            <a:r>
              <a:rPr lang="en-US" b="0" i="0" dirty="0" err="1">
                <a:solidFill>
                  <a:srgbClr val="3A3A3A"/>
                </a:solidFill>
                <a:effectLst/>
                <a:latin typeface="Roboto" panose="02000000000000000000" pitchFamily="2" charset="0"/>
              </a:rPr>
              <a:t>array.unshift</a:t>
            </a: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myArray</a:t>
            </a:r>
            <a:r>
              <a:rPr lang="en-US" b="0" i="0" dirty="0">
                <a:solidFill>
                  <a:srgbClr val="212529"/>
                </a:solidFill>
                <a:effectLst/>
                <a:latin typeface="Courier New" panose="02070309020205020404" pitchFamily="49" charset="0"/>
              </a:rPr>
              <a:t> = [1,2,3,4,5];&lt;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myArray.unshift</a:t>
            </a:r>
            <a:r>
              <a:rPr lang="en-US" b="0" i="0" dirty="0">
                <a:solidFill>
                  <a:srgbClr val="212529"/>
                </a:solidFill>
                <a:effectLst/>
                <a:latin typeface="Courier New" panose="02070309020205020404" pitchFamily="49" charset="0"/>
              </a:rPr>
              <a:t>(10);&lt;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myArray</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 –</a:t>
            </a:r>
          </a:p>
          <a:p>
            <a:pPr algn="just">
              <a:lnSpc>
                <a:spcPts val="2100"/>
              </a:lnSpc>
              <a:spcBef>
                <a:spcPts val="750"/>
              </a:spcBef>
              <a:buNone/>
            </a:pPr>
            <a:r>
              <a:rPr lang="en-US" b="0" i="0" dirty="0">
                <a:solidFill>
                  <a:srgbClr val="3A3A3A"/>
                </a:solidFill>
                <a:effectLst/>
                <a:latin typeface="Roboto" panose="02000000000000000000" pitchFamily="2" charset="0"/>
              </a:rPr>
              <a:t>[10,1,2,3,4,5]</a:t>
            </a:r>
          </a:p>
          <a:p>
            <a:pPr algn="just">
              <a:lnSpc>
                <a:spcPts val="2100"/>
              </a:lnSpc>
              <a:spcBef>
                <a:spcPts val="750"/>
              </a:spcBef>
              <a:buNone/>
            </a:pPr>
            <a:r>
              <a:rPr lang="en-US" b="0" i="0" dirty="0">
                <a:solidFill>
                  <a:srgbClr val="3A3A3A"/>
                </a:solidFill>
                <a:effectLst/>
                <a:latin typeface="Roboto" panose="02000000000000000000" pitchFamily="2" charset="0"/>
              </a:rPr>
              <a:t>Bonus: To remove an element at the beginning of an array use method ‘</a:t>
            </a:r>
            <a:r>
              <a:rPr lang="en-US" b="0" i="0" dirty="0" err="1">
                <a:solidFill>
                  <a:srgbClr val="3A3A3A"/>
                </a:solidFill>
                <a:effectLst/>
                <a:latin typeface="Roboto" panose="02000000000000000000" pitchFamily="2" charset="0"/>
              </a:rPr>
              <a:t>array.shift</a:t>
            </a:r>
            <a:r>
              <a:rPr lang="en-US" b="0" i="0" dirty="0">
                <a:solidFill>
                  <a:srgbClr val="3A3A3A"/>
                </a:solidFill>
                <a:effectLst/>
                <a:latin typeface="Roboto" panose="02000000000000000000" pitchFamily="2" charset="0"/>
              </a:rPr>
              <a:t>()’.</a:t>
            </a:r>
          </a:p>
        </p:txBody>
      </p:sp>
    </p:spTree>
    <p:extLst>
      <p:ext uri="{BB962C8B-B14F-4D97-AF65-F5344CB8AC3E}">
        <p14:creationId xmlns:p14="http://schemas.microsoft.com/office/powerpoint/2010/main" val="102982065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8392F3-1F7B-EAA1-D24C-5CD66DFD5208}"/>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1131C7D2-688F-41FA-BEC1-E48315E47ADB}"/>
              </a:ext>
            </a:extLst>
          </p:cNvPr>
          <p:cNvSpPr txBox="1"/>
          <p:nvPr/>
        </p:nvSpPr>
        <p:spPr>
          <a:xfrm>
            <a:off x="2477069" y="1159995"/>
            <a:ext cx="4954136" cy="454483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27. What is the use of </a:t>
            </a:r>
            <a:r>
              <a:rPr lang="en-US" b="0" i="0" dirty="0" err="1">
                <a:solidFill>
                  <a:srgbClr val="272C37"/>
                </a:solidFill>
                <a:effectLst/>
                <a:latin typeface="Roboto" panose="02000000000000000000" pitchFamily="2" charset="0"/>
              </a:rPr>
              <a:t>Object.freeze</a:t>
            </a:r>
            <a:r>
              <a:rPr lang="en-US" b="0" i="0" dirty="0">
                <a:solidFill>
                  <a:srgbClr val="272C37"/>
                </a:solidFill>
                <a:effectLst/>
                <a:latin typeface="Roboto" panose="02000000000000000000" pitchFamily="2" charset="0"/>
              </a:rPr>
              <a:t>?</a:t>
            </a:r>
          </a:p>
          <a:p>
            <a:pPr algn="just">
              <a:lnSpc>
                <a:spcPts val="2100"/>
              </a:lnSpc>
              <a:spcBef>
                <a:spcPts val="1650"/>
              </a:spcBef>
              <a:buNone/>
            </a:pPr>
            <a:r>
              <a:rPr lang="en-US" b="0" i="0" dirty="0" err="1">
                <a:solidFill>
                  <a:srgbClr val="3A3A3A"/>
                </a:solidFill>
                <a:effectLst/>
                <a:latin typeface="Roboto" panose="02000000000000000000" pitchFamily="2" charset="0"/>
              </a:rPr>
              <a:t>Object.freeze</a:t>
            </a:r>
            <a:r>
              <a:rPr lang="en-US" b="0" i="0" dirty="0">
                <a:solidFill>
                  <a:srgbClr val="3A3A3A"/>
                </a:solidFill>
                <a:effectLst/>
                <a:latin typeface="Roboto" panose="02000000000000000000" pitchFamily="2" charset="0"/>
              </a:rPr>
              <a:t> is used if we want to freeze or fix the values of an object so that it cannot be changed or modified.</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a:t>
            </a:r>
            <a:r>
              <a:rPr lang="en-US" b="0" i="0" dirty="0" err="1">
                <a:solidFill>
                  <a:srgbClr val="212529"/>
                </a:solidFill>
                <a:effectLst/>
                <a:latin typeface="Courier New" panose="02070309020205020404" pitchFamily="49" charset="0"/>
              </a:rPr>
              <a:t>frozenObject</a:t>
            </a:r>
            <a:r>
              <a:rPr lang="en-US" b="0" i="0" dirty="0">
                <a:solidFill>
                  <a:srgbClr val="212529"/>
                </a:solidFill>
                <a:effectLst/>
                <a:latin typeface="Courier New" panose="02070309020205020404" pitchFamily="49" charset="0"/>
              </a:rPr>
              <a:t> = { company: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 employees: 200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Object.freeze</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frozenObject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frozenObject.company</a:t>
            </a:r>
            <a:r>
              <a:rPr lang="en-US" b="0" i="0" dirty="0">
                <a:solidFill>
                  <a:srgbClr val="212529"/>
                </a:solidFill>
                <a:effectLst/>
                <a:latin typeface="Courier New" panose="02070309020205020404" pitchFamily="49" charset="0"/>
              </a:rPr>
              <a:t> = “Google”; // This won’t work&lt;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5374457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7F4734-C1A0-211C-519C-3E66DD65852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C1926742-0BA1-6889-8D23-6E074507C1FE}"/>
              </a:ext>
            </a:extLst>
          </p:cNvPr>
          <p:cNvSpPr txBox="1"/>
          <p:nvPr/>
        </p:nvSpPr>
        <p:spPr>
          <a:xfrm>
            <a:off x="2477069" y="-205763"/>
            <a:ext cx="4954136" cy="727635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28. What are Template Literals in JavaScript?</a:t>
            </a:r>
          </a:p>
          <a:p>
            <a:pPr algn="just">
              <a:lnSpc>
                <a:spcPts val="2100"/>
              </a:lnSpc>
              <a:spcBef>
                <a:spcPts val="1650"/>
              </a:spcBef>
              <a:buNone/>
            </a:pPr>
            <a:r>
              <a:rPr lang="en-US" b="0" i="0" dirty="0">
                <a:solidFill>
                  <a:srgbClr val="3A3A3A"/>
                </a:solidFill>
                <a:effectLst/>
                <a:latin typeface="Roboto" panose="02000000000000000000" pitchFamily="2" charset="0"/>
              </a:rPr>
              <a:t>Template Literals denoted with “(backticks) were introduced in ES6. By using Template Literals we can easily concatenate strings. All we have to do is put the expression inside ‘${}’. This will help get rid of using the ‘+’ operator.</a:t>
            </a:r>
          </a:p>
          <a:p>
            <a:pPr algn="just">
              <a:lnSpc>
                <a:spcPts val="2100"/>
              </a:lnSpc>
              <a:spcBef>
                <a:spcPts val="7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name =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 200;&lt;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console.log(`I am working with ${name}, and it has ${</a:t>
            </a:r>
            <a:r>
              <a:rPr lang="en-US" b="0" i="0" dirty="0" err="1">
                <a:solidFill>
                  <a:srgbClr val="212529"/>
                </a:solidFill>
                <a:effectLst/>
                <a:latin typeface="Courier New" panose="02070309020205020404" pitchFamily="49" charset="0"/>
              </a:rPr>
              <a:t>employeeCount</a:t>
            </a:r>
            <a:r>
              <a:rPr lang="en-US" b="0" i="0" dirty="0">
                <a:solidFill>
                  <a:srgbClr val="212529"/>
                </a:solidFill>
                <a:effectLst/>
                <a:latin typeface="Courier New" panose="02070309020205020404" pitchFamily="49" charset="0"/>
              </a:rPr>
              <a:t>}+ employees at the moment.`);&lt;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 –</a:t>
            </a:r>
          </a:p>
          <a:p>
            <a:pPr algn="just">
              <a:lnSpc>
                <a:spcPts val="2100"/>
              </a:lnSpc>
              <a:spcBef>
                <a:spcPts val="750"/>
              </a:spcBef>
              <a:buNone/>
            </a:pPr>
            <a:r>
              <a:rPr lang="en-US" b="0" i="0" dirty="0">
                <a:solidFill>
                  <a:srgbClr val="3A3A3A"/>
                </a:solidFill>
                <a:effectLst/>
                <a:latin typeface="Roboto" panose="02000000000000000000" pitchFamily="2" charset="0"/>
              </a:rPr>
              <a:t>I am working with </a:t>
            </a:r>
            <a:r>
              <a:rPr lang="en-US" b="0" i="0" dirty="0" err="1">
                <a:solidFill>
                  <a:srgbClr val="3A3A3A"/>
                </a:solidFill>
                <a:effectLst/>
                <a:latin typeface="Roboto" panose="02000000000000000000" pitchFamily="2" charset="0"/>
              </a:rPr>
              <a:t>Intellipaat</a:t>
            </a:r>
            <a:r>
              <a:rPr lang="en-US" b="0" i="0" dirty="0">
                <a:solidFill>
                  <a:srgbClr val="3A3A3A"/>
                </a:solidFill>
                <a:effectLst/>
                <a:latin typeface="Roboto" panose="02000000000000000000" pitchFamily="2" charset="0"/>
              </a:rPr>
              <a:t>, and it has 200+ employees at the moment.</a:t>
            </a:r>
          </a:p>
          <a:p>
            <a:pPr algn="just">
              <a:lnSpc>
                <a:spcPts val="2100"/>
              </a:lnSpc>
              <a:spcBef>
                <a:spcPts val="750"/>
              </a:spcBef>
              <a:buNone/>
            </a:pPr>
            <a:r>
              <a:rPr lang="en-US" b="0" i="0" dirty="0">
                <a:solidFill>
                  <a:srgbClr val="3A3A3A"/>
                </a:solidFill>
                <a:effectLst/>
                <a:latin typeface="Roboto" panose="02000000000000000000" pitchFamily="2" charset="0"/>
              </a:rPr>
              <a:t>Understand why </a:t>
            </a:r>
            <a:r>
              <a:rPr lang="en-US" b="0" i="0" u="none" strike="noStrike" dirty="0">
                <a:solidFill>
                  <a:srgbClr val="0F5A9E"/>
                </a:solidFill>
                <a:effectLst/>
                <a:latin typeface="Roboto" panose="02000000000000000000" pitchFamily="2" charset="0"/>
                <a:hlinkClick r:id="rId2"/>
              </a:rPr>
              <a:t>JavaScript plus sign concatenates instead of giving sum</a:t>
            </a:r>
            <a:r>
              <a:rPr lang="en-US" b="0" i="0" dirty="0">
                <a:solidFill>
                  <a:srgbClr val="3A3A3A"/>
                </a:solidFill>
                <a:effectLst/>
                <a:latin typeface="Roboto" panose="02000000000000000000" pitchFamily="2" charset="0"/>
              </a:rPr>
              <a:t> through this blog.</a:t>
            </a:r>
          </a:p>
        </p:txBody>
      </p:sp>
    </p:spTree>
    <p:extLst>
      <p:ext uri="{BB962C8B-B14F-4D97-AF65-F5344CB8AC3E}">
        <p14:creationId xmlns:p14="http://schemas.microsoft.com/office/powerpoint/2010/main" val="42684021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8A05F5-03AA-D92D-60A8-B08A3E4A0CF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EF169B8-663B-4B7F-71E2-D855DA9F9D78}"/>
              </a:ext>
            </a:extLst>
          </p:cNvPr>
          <p:cNvSpPr txBox="1"/>
          <p:nvPr/>
        </p:nvSpPr>
        <p:spPr>
          <a:xfrm>
            <a:off x="2477069" y="130226"/>
            <a:ext cx="4954136" cy="6604372"/>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29. What is ‘this’ object in JavaScript?</a:t>
            </a:r>
          </a:p>
          <a:p>
            <a:pPr algn="just">
              <a:lnSpc>
                <a:spcPts val="2100"/>
              </a:lnSpc>
              <a:spcBef>
                <a:spcPts val="1650"/>
              </a:spcBef>
              <a:buNone/>
            </a:pPr>
            <a:r>
              <a:rPr lang="en-US" b="0" i="0" dirty="0">
                <a:solidFill>
                  <a:srgbClr val="3A3A3A"/>
                </a:solidFill>
                <a:effectLst/>
                <a:latin typeface="Roboto" panose="02000000000000000000" pitchFamily="2" charset="0"/>
              </a:rPr>
              <a:t>In JavaScript ‘this’ stores the current context or reference of the current object from where it is called.</a:t>
            </a:r>
          </a:p>
          <a:p>
            <a:pPr algn="just">
              <a:lnSpc>
                <a:spcPts val="2100"/>
              </a:lnSpc>
              <a:spcBef>
                <a:spcPts val="7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obj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name: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print: function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console.log(this.name);&lt;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obj.print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 –</a:t>
            </a:r>
          </a:p>
          <a:p>
            <a:pPr algn="just">
              <a:lnSpc>
                <a:spcPts val="2100"/>
              </a:lnSpc>
              <a:spcBef>
                <a:spcPts val="750"/>
              </a:spcBef>
              <a:buNone/>
            </a:pPr>
            <a:r>
              <a:rPr lang="en-US" b="0" i="0" dirty="0" err="1">
                <a:solidFill>
                  <a:srgbClr val="3A3A3A"/>
                </a:solidFill>
                <a:effectLst/>
                <a:latin typeface="Roboto" panose="02000000000000000000" pitchFamily="2" charset="0"/>
              </a:rPr>
              <a:t>Intellipaat</a:t>
            </a:r>
            <a:endParaRPr lang="en-US" b="0" i="0" dirty="0">
              <a:solidFill>
                <a:srgbClr val="3A3A3A"/>
              </a:solidFill>
              <a:effectLst/>
              <a:latin typeface="Roboto" panose="02000000000000000000" pitchFamily="2" charset="0"/>
            </a:endParaRPr>
          </a:p>
        </p:txBody>
      </p:sp>
    </p:spTree>
    <p:extLst>
      <p:ext uri="{BB962C8B-B14F-4D97-AF65-F5344CB8AC3E}">
        <p14:creationId xmlns:p14="http://schemas.microsoft.com/office/powerpoint/2010/main" val="407764586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89E505-40D9-4ED7-D016-8A821BFA101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3B8671-0468-5413-3BFE-8A5702710810}"/>
              </a:ext>
            </a:extLst>
          </p:cNvPr>
          <p:cNvSpPr txBox="1"/>
          <p:nvPr/>
        </p:nvSpPr>
        <p:spPr>
          <a:xfrm>
            <a:off x="2477069" y="-682817"/>
            <a:ext cx="4954136" cy="823045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30. Explain the difference between null and undefined.</a:t>
            </a:r>
          </a:p>
          <a:p>
            <a:pPr algn="just">
              <a:lnSpc>
                <a:spcPts val="2100"/>
              </a:lnSpc>
              <a:spcBef>
                <a:spcPts val="1650"/>
              </a:spcBef>
              <a:buNone/>
            </a:pPr>
            <a:r>
              <a:rPr lang="en-US" b="0" i="0" dirty="0">
                <a:solidFill>
                  <a:srgbClr val="3A3A3A"/>
                </a:solidFill>
                <a:effectLst/>
                <a:latin typeface="Roboto" panose="02000000000000000000" pitchFamily="2" charset="0"/>
              </a:rPr>
              <a:t>If a variable has been intentionally assigned a value of NULL, it means it must store a value of null, which means no value.</a:t>
            </a:r>
          </a:p>
          <a:p>
            <a:pPr algn="just">
              <a:lnSpc>
                <a:spcPts val="2100"/>
              </a:lnSpc>
              <a:spcBef>
                <a:spcPts val="750"/>
              </a:spcBef>
              <a:buNone/>
            </a:pPr>
            <a:r>
              <a:rPr lang="en-US" b="0" i="0" dirty="0">
                <a:solidFill>
                  <a:srgbClr val="3A3A3A"/>
                </a:solidFill>
                <a:effectLst/>
                <a:latin typeface="Roboto" panose="02000000000000000000" pitchFamily="2" charset="0"/>
              </a:rPr>
              <a:t>In JavaScript ‘undefined’ is the default type of a variable. It remains undefined until we assign it a value.</a:t>
            </a:r>
          </a:p>
          <a:p>
            <a:pPr algn="just">
              <a:lnSpc>
                <a:spcPts val="2100"/>
              </a:lnSpc>
              <a:spcBef>
                <a:spcPts val="750"/>
              </a:spcBef>
              <a:buNone/>
            </a:pPr>
            <a:r>
              <a:rPr lang="en-US" b="0" i="0" dirty="0">
                <a:solidFill>
                  <a:srgbClr val="3A3A3A"/>
                </a:solidFill>
                <a:effectLst/>
                <a:latin typeface="Roboto" panose="02000000000000000000" pitchFamily="2" charset="0"/>
              </a:rPr>
              <a:t>Bonus: If we compare null and undefined using ‘==’, it will give the output as true.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console.log(null == undefined);&lt;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a:t>
            </a:r>
          </a:p>
          <a:p>
            <a:pPr algn="just">
              <a:lnSpc>
                <a:spcPts val="2100"/>
              </a:lnSpc>
              <a:spcBef>
                <a:spcPts val="750"/>
              </a:spcBef>
              <a:buNone/>
            </a:pPr>
            <a:r>
              <a:rPr lang="en-US" b="0" i="0" dirty="0">
                <a:solidFill>
                  <a:srgbClr val="3A3A3A"/>
                </a:solidFill>
                <a:effectLst/>
                <a:latin typeface="Roboto" panose="02000000000000000000" pitchFamily="2" charset="0"/>
              </a:rPr>
              <a:t>true</a:t>
            </a:r>
          </a:p>
          <a:p>
            <a:pPr algn="just">
              <a:lnSpc>
                <a:spcPts val="2100"/>
              </a:lnSpc>
              <a:spcBef>
                <a:spcPts val="750"/>
              </a:spcBef>
              <a:buNone/>
            </a:pPr>
            <a:r>
              <a:rPr lang="en-US" b="0" i="0" dirty="0">
                <a:solidFill>
                  <a:srgbClr val="3A3A3A"/>
                </a:solidFill>
                <a:effectLst/>
                <a:latin typeface="Roboto" panose="02000000000000000000" pitchFamily="2" charset="0"/>
              </a:rPr>
              <a:t>However, if we compare using ‘===’, it will give the output as false.</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console.log(null === undefined);&lt;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 –</a:t>
            </a:r>
          </a:p>
          <a:p>
            <a:pPr algn="just">
              <a:lnSpc>
                <a:spcPts val="2100"/>
              </a:lnSpc>
              <a:spcBef>
                <a:spcPts val="750"/>
              </a:spcBef>
              <a:buNone/>
            </a:pPr>
            <a:r>
              <a:rPr lang="en-US" b="0" i="0" dirty="0">
                <a:solidFill>
                  <a:srgbClr val="3A3A3A"/>
                </a:solidFill>
                <a:effectLst/>
                <a:latin typeface="Roboto" panose="02000000000000000000" pitchFamily="2" charset="0"/>
              </a:rPr>
              <a:t>false</a:t>
            </a:r>
          </a:p>
        </p:txBody>
      </p:sp>
    </p:spTree>
    <p:extLst>
      <p:ext uri="{BB962C8B-B14F-4D97-AF65-F5344CB8AC3E}">
        <p14:creationId xmlns:p14="http://schemas.microsoft.com/office/powerpoint/2010/main" val="35282200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09C2D-F040-78E6-DD9B-00AC84CAA3A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EB18CE5-1276-F6B0-2FB1-C4B384DA9946}"/>
              </a:ext>
            </a:extLst>
          </p:cNvPr>
          <p:cNvSpPr txBox="1"/>
          <p:nvPr/>
        </p:nvSpPr>
        <p:spPr>
          <a:xfrm>
            <a:off x="2477069" y="1578058"/>
            <a:ext cx="4954136" cy="370870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31. What do you understand about Mutable and Immutable in the context of JavaScript?</a:t>
            </a:r>
          </a:p>
          <a:p>
            <a:pPr algn="just">
              <a:lnSpc>
                <a:spcPts val="2100"/>
              </a:lnSpc>
              <a:spcBef>
                <a:spcPts val="1650"/>
              </a:spcBef>
              <a:buNone/>
            </a:pPr>
            <a:r>
              <a:rPr lang="en-US" b="0" i="0" dirty="0">
                <a:solidFill>
                  <a:srgbClr val="3A3A3A"/>
                </a:solidFill>
                <a:effectLst/>
                <a:latin typeface="Roboto" panose="02000000000000000000" pitchFamily="2" charset="0"/>
              </a:rPr>
              <a:t>In JavaScript, we have different data types, out of which some are mutable and some are immutable.</a:t>
            </a:r>
          </a:p>
          <a:p>
            <a:pPr algn="just">
              <a:lnSpc>
                <a:spcPts val="2100"/>
              </a:lnSpc>
              <a:spcBef>
                <a:spcPts val="750"/>
              </a:spcBef>
              <a:buNone/>
            </a:pPr>
            <a:r>
              <a:rPr lang="en-US" b="0" i="0" dirty="0">
                <a:solidFill>
                  <a:srgbClr val="3A3A3A"/>
                </a:solidFill>
                <a:effectLst/>
                <a:latin typeface="Roboto" panose="02000000000000000000" pitchFamily="2" charset="0"/>
              </a:rPr>
              <a:t>Mutable means that the value of such variables can be changed directly after their creation. Example – Arrays and Objects.</a:t>
            </a:r>
          </a:p>
          <a:p>
            <a:pPr algn="just">
              <a:lnSpc>
                <a:spcPts val="2100"/>
              </a:lnSpc>
              <a:spcBef>
                <a:spcPts val="750"/>
              </a:spcBef>
              <a:buNone/>
            </a:pPr>
            <a:r>
              <a:rPr lang="en-US" b="0" i="0" dirty="0">
                <a:solidFill>
                  <a:srgbClr val="3A3A3A"/>
                </a:solidFill>
                <a:effectLst/>
                <a:latin typeface="Roboto" panose="02000000000000000000" pitchFamily="2" charset="0"/>
              </a:rPr>
              <a:t>Immutable means their value cannot be changed after their creation. Examples – numbers, and strings.</a:t>
            </a:r>
          </a:p>
        </p:txBody>
      </p:sp>
    </p:spTree>
    <p:extLst>
      <p:ext uri="{BB962C8B-B14F-4D97-AF65-F5344CB8AC3E}">
        <p14:creationId xmlns:p14="http://schemas.microsoft.com/office/powerpoint/2010/main" val="12500789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5263D5-F352-EAA7-74F0-A6DE67CBD0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F1EA540-9A4D-7714-C104-54D3E51AAE90}"/>
              </a:ext>
            </a:extLst>
          </p:cNvPr>
          <p:cNvSpPr txBox="1"/>
          <p:nvPr/>
        </p:nvSpPr>
        <p:spPr>
          <a:xfrm>
            <a:off x="156949" y="441002"/>
            <a:ext cx="4954136" cy="5975995"/>
          </a:xfrm>
          <a:prstGeom prst="rect">
            <a:avLst/>
          </a:prstGeom>
          <a:noFill/>
        </p:spPr>
        <p:txBody>
          <a:bodyPr wrap="square">
            <a:spAutoFit/>
          </a:bodyPr>
          <a:lstStyle/>
          <a:p>
            <a:pPr algn="l">
              <a:lnSpc>
                <a:spcPts val="2550"/>
              </a:lnSpc>
              <a:spcBef>
                <a:spcPts val="3000"/>
              </a:spcBef>
              <a:buNone/>
            </a:pPr>
            <a:r>
              <a:rPr lang="en-US" b="0" i="0" dirty="0">
                <a:solidFill>
                  <a:srgbClr val="272C37"/>
                </a:solidFill>
                <a:effectLst/>
                <a:latin typeface="Roboto" panose="02000000000000000000" pitchFamily="2" charset="0"/>
              </a:rPr>
              <a:t>Advanced </a:t>
            </a: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32. What are Spread Operators in JavaScript?</a:t>
            </a:r>
          </a:p>
          <a:p>
            <a:pPr algn="just">
              <a:lnSpc>
                <a:spcPts val="2100"/>
              </a:lnSpc>
              <a:spcBef>
                <a:spcPts val="1650"/>
              </a:spcBef>
              <a:buNone/>
            </a:pPr>
            <a:r>
              <a:rPr lang="en-US" b="0" i="0" dirty="0">
                <a:solidFill>
                  <a:srgbClr val="3A3A3A"/>
                </a:solidFill>
                <a:effectLst/>
                <a:latin typeface="Roboto" panose="02000000000000000000" pitchFamily="2" charset="0"/>
              </a:rPr>
              <a:t>Spread Operators (. . .) in JavaScript are used to “spread” the elements of an array or in JavaScript. By using Spread Operators we can copy output array/object values, merge them, pass these values to a function efficiently, etc. Let’s understand these concepts with some examples.</a:t>
            </a:r>
          </a:p>
          <a:p>
            <a:pPr algn="just">
              <a:lnSpc>
                <a:spcPts val="2100"/>
              </a:lnSpc>
              <a:spcBef>
                <a:spcPts val="750"/>
              </a:spcBef>
              <a:buNone/>
            </a:pPr>
            <a:r>
              <a:rPr lang="en-US" b="0" i="0" dirty="0">
                <a:solidFill>
                  <a:srgbClr val="3A3A3A"/>
                </a:solidFill>
                <a:effectLst/>
                <a:latin typeface="Roboto" panose="02000000000000000000" pitchFamily="2" charset="0"/>
              </a:rPr>
              <a:t>Example 1-</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arr</a:t>
            </a:r>
            <a:r>
              <a:rPr lang="en-US" b="0" i="0" dirty="0">
                <a:solidFill>
                  <a:srgbClr val="212529"/>
                </a:solidFill>
                <a:effectLst/>
                <a:latin typeface="Courier New" panose="02070309020205020404" pitchFamily="49" charset="0"/>
              </a:rPr>
              <a:t> = [1, 2, 3];&lt;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arr</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a:t>
            </a:r>
          </a:p>
          <a:p>
            <a:pPr algn="just">
              <a:lnSpc>
                <a:spcPts val="2100"/>
              </a:lnSpc>
              <a:spcBef>
                <a:spcPts val="750"/>
              </a:spcBef>
              <a:buNone/>
            </a:pPr>
            <a:r>
              <a:rPr lang="en-US" b="0" i="0" dirty="0">
                <a:solidFill>
                  <a:srgbClr val="3A3A3A"/>
                </a:solidFill>
                <a:effectLst/>
                <a:latin typeface="Roboto" panose="02000000000000000000" pitchFamily="2" charset="0"/>
              </a:rPr>
              <a:t>1 2 3</a:t>
            </a:r>
          </a:p>
        </p:txBody>
      </p:sp>
      <p:sp>
        <p:nvSpPr>
          <p:cNvPr id="5" name="TextBox 4">
            <a:extLst>
              <a:ext uri="{FF2B5EF4-FFF2-40B4-BE49-F238E27FC236}">
                <a16:creationId xmlns:a16="http://schemas.microsoft.com/office/drawing/2014/main" id="{59BFE43C-4EB1-5F00-4DC1-06A2D5F66C39}"/>
              </a:ext>
            </a:extLst>
          </p:cNvPr>
          <p:cNvSpPr txBox="1"/>
          <p:nvPr/>
        </p:nvSpPr>
        <p:spPr>
          <a:xfrm>
            <a:off x="5111085" y="233792"/>
            <a:ext cx="4954136" cy="7789312"/>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Example 2-</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numbers = [1, 2, 3];&lt;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add(a, b, c)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a + b + c;&lt;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console.log(add(...numbers));&lt;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a:t>
            </a:r>
          </a:p>
          <a:p>
            <a:pPr algn="just">
              <a:lnSpc>
                <a:spcPts val="2100"/>
              </a:lnSpc>
              <a:spcBef>
                <a:spcPts val="750"/>
              </a:spcBef>
              <a:buNone/>
            </a:pPr>
            <a:r>
              <a:rPr lang="en-US" b="0" i="0" dirty="0">
                <a:solidFill>
                  <a:srgbClr val="3A3A3A"/>
                </a:solidFill>
                <a:effectLst/>
                <a:latin typeface="Roboto" panose="02000000000000000000" pitchFamily="2" charset="0"/>
              </a:rPr>
              <a:t>6</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Example 3-</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obj1 = { a: 1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obj2 = { b: 2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merged = { ...obj1, ...obj2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console.log(merged);&lt;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1650"/>
              </a:spcBef>
              <a:buNone/>
            </a:pPr>
            <a:r>
              <a:rPr lang="en-US" b="0" i="0" dirty="0">
                <a:solidFill>
                  <a:srgbClr val="3A3A3A"/>
                </a:solidFill>
                <a:effectLst/>
                <a:latin typeface="Roboto" panose="02000000000000000000" pitchFamily="2" charset="0"/>
              </a:rPr>
              <a:t>Output-</a:t>
            </a:r>
          </a:p>
          <a:p>
            <a:pPr algn="just">
              <a:lnSpc>
                <a:spcPts val="2100"/>
              </a:lnSpc>
              <a:spcBef>
                <a:spcPts val="750"/>
              </a:spcBef>
              <a:buNone/>
            </a:pPr>
            <a:r>
              <a:rPr lang="en-US" b="0" i="0" dirty="0">
                <a:solidFill>
                  <a:srgbClr val="3A3A3A"/>
                </a:solidFill>
                <a:effectLst/>
                <a:latin typeface="Roboto" panose="02000000000000000000" pitchFamily="2" charset="0"/>
              </a:rPr>
              <a:t>{ a: 1, b: 2 }</a:t>
            </a:r>
          </a:p>
        </p:txBody>
      </p:sp>
    </p:spTree>
    <p:extLst>
      <p:ext uri="{BB962C8B-B14F-4D97-AF65-F5344CB8AC3E}">
        <p14:creationId xmlns:p14="http://schemas.microsoft.com/office/powerpoint/2010/main" val="7630640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CB1E5E-CDE1-A6B0-BC87-662752729A8D}"/>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72AA92B2-4FB6-5822-F985-9D57679119D1}"/>
              </a:ext>
            </a:extLst>
          </p:cNvPr>
          <p:cNvSpPr txBox="1"/>
          <p:nvPr/>
        </p:nvSpPr>
        <p:spPr>
          <a:xfrm>
            <a:off x="2477069" y="-344263"/>
            <a:ext cx="4954136" cy="755335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33. What do you understand about Array </a:t>
            </a:r>
            <a:r>
              <a:rPr lang="en-US" b="0" i="0" dirty="0" err="1">
                <a:solidFill>
                  <a:srgbClr val="272C37"/>
                </a:solidFill>
                <a:effectLst/>
                <a:latin typeface="Roboto" panose="02000000000000000000" pitchFamily="2" charset="0"/>
              </a:rPr>
              <a:t>destructuring</a:t>
            </a:r>
            <a:r>
              <a:rPr lang="en-US" b="0" i="0" dirty="0">
                <a:solidFill>
                  <a:srgbClr val="272C37"/>
                </a:solidFill>
                <a:effectLst/>
                <a:latin typeface="Roboto" panose="02000000000000000000" pitchFamily="2" charset="0"/>
              </a:rPr>
              <a:t> in JavaScript?</a:t>
            </a:r>
          </a:p>
          <a:p>
            <a:pPr algn="just">
              <a:lnSpc>
                <a:spcPts val="2100"/>
              </a:lnSpc>
              <a:spcBef>
                <a:spcPts val="1650"/>
              </a:spcBef>
              <a:buNone/>
            </a:pPr>
            <a:r>
              <a:rPr lang="en-US" b="0" i="0" dirty="0" err="1">
                <a:solidFill>
                  <a:srgbClr val="3A3A3A"/>
                </a:solidFill>
                <a:effectLst/>
                <a:latin typeface="Roboto" panose="02000000000000000000" pitchFamily="2" charset="0"/>
              </a:rPr>
              <a:t>Destructuring</a:t>
            </a:r>
            <a:r>
              <a:rPr lang="en-US" b="0" i="0" dirty="0">
                <a:solidFill>
                  <a:srgbClr val="3A3A3A"/>
                </a:solidFill>
                <a:effectLst/>
                <a:latin typeface="Roboto" panose="02000000000000000000" pitchFamily="2" charset="0"/>
              </a:rPr>
              <a:t> was introduced in JS ES6. It is used to unpack the values from the given array and assign them to unique variables.</a:t>
            </a:r>
          </a:p>
          <a:p>
            <a:pPr algn="just">
              <a:lnSpc>
                <a:spcPts val="2100"/>
              </a:lnSpc>
              <a:spcBef>
                <a:spcPts val="7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keywords= ["var", "let", "const"];&lt;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[first, second, third] = keywords;</a:t>
            </a:r>
          </a:p>
          <a:p>
            <a:pPr algn="l">
              <a:spcBef>
                <a:spcPts val="1125"/>
              </a:spcBef>
              <a:spcAft>
                <a:spcPts val="375"/>
              </a:spcAft>
              <a:buNone/>
            </a:pPr>
            <a:r>
              <a:rPr lang="en-US" b="0" i="0" dirty="0">
                <a:solidFill>
                  <a:srgbClr val="212529"/>
                </a:solidFill>
                <a:effectLst/>
                <a:latin typeface="Courier New" panose="02070309020205020404" pitchFamily="49" charset="0"/>
              </a:rPr>
              <a:t>console.log(first);&lt;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console.log(second);&lt;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console.log(third);&lt;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750"/>
              </a:spcBef>
              <a:buNone/>
            </a:pPr>
            <a:r>
              <a:rPr lang="en-US" b="0" i="0" dirty="0">
                <a:solidFill>
                  <a:srgbClr val="3A3A3A"/>
                </a:solidFill>
                <a:effectLst/>
                <a:latin typeface="Roboto" panose="02000000000000000000" pitchFamily="2" charset="0"/>
              </a:rPr>
              <a:t>Output-</a:t>
            </a:r>
          </a:p>
          <a:p>
            <a:pPr algn="just">
              <a:lnSpc>
                <a:spcPts val="2100"/>
              </a:lnSpc>
              <a:spcBef>
                <a:spcPts val="750"/>
              </a:spcBef>
              <a:buNone/>
            </a:pPr>
            <a:r>
              <a:rPr lang="en-US" b="0" i="0" dirty="0">
                <a:solidFill>
                  <a:srgbClr val="3A3A3A"/>
                </a:solidFill>
                <a:effectLst/>
                <a:latin typeface="Roboto" panose="02000000000000000000" pitchFamily="2" charset="0"/>
              </a:rPr>
              <a:t>“var”</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“let”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“const”</a:t>
            </a:r>
          </a:p>
          <a:p>
            <a:pPr algn="just">
              <a:lnSpc>
                <a:spcPts val="2100"/>
              </a:lnSpc>
              <a:spcBef>
                <a:spcPts val="750"/>
              </a:spcBef>
              <a:buNone/>
            </a:pPr>
            <a:r>
              <a:rPr lang="en-US" b="0" i="0" dirty="0">
                <a:solidFill>
                  <a:srgbClr val="3A3A3A"/>
                </a:solidFill>
                <a:effectLst/>
                <a:latin typeface="Roboto" panose="02000000000000000000" pitchFamily="2" charset="0"/>
              </a:rPr>
              <a:t>Note: </a:t>
            </a:r>
            <a:r>
              <a:rPr lang="en-US" b="0" i="0" dirty="0" err="1">
                <a:solidFill>
                  <a:srgbClr val="3A3A3A"/>
                </a:solidFill>
                <a:effectLst/>
                <a:latin typeface="Roboto" panose="02000000000000000000" pitchFamily="2" charset="0"/>
              </a:rPr>
              <a:t>Destructuring</a:t>
            </a:r>
            <a:r>
              <a:rPr lang="en-US" b="0" i="0" dirty="0">
                <a:solidFill>
                  <a:srgbClr val="3A3A3A"/>
                </a:solidFill>
                <a:effectLst/>
                <a:latin typeface="Roboto" panose="02000000000000000000" pitchFamily="2" charset="0"/>
              </a:rPr>
              <a:t> can be used in a similar way with Objects as well.</a:t>
            </a:r>
          </a:p>
        </p:txBody>
      </p:sp>
    </p:spTree>
    <p:extLst>
      <p:ext uri="{BB962C8B-B14F-4D97-AF65-F5344CB8AC3E}">
        <p14:creationId xmlns:p14="http://schemas.microsoft.com/office/powerpoint/2010/main" val="2165103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BC157C-7E71-00DD-B11C-77BDBC4BF8C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670D755-A50F-3DE8-70E2-5B80688DB056}"/>
              </a:ext>
            </a:extLst>
          </p:cNvPr>
          <p:cNvSpPr txBox="1"/>
          <p:nvPr/>
        </p:nvSpPr>
        <p:spPr>
          <a:xfrm>
            <a:off x="170597" y="-822055"/>
            <a:ext cx="4954136" cy="878189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34. What do you understand by Lexical Scoping?</a:t>
            </a:r>
          </a:p>
          <a:p>
            <a:pPr algn="just">
              <a:lnSpc>
                <a:spcPts val="2100"/>
              </a:lnSpc>
              <a:spcBef>
                <a:spcPts val="1650"/>
              </a:spcBef>
              <a:buNone/>
            </a:pPr>
            <a:r>
              <a:rPr lang="en-US" b="0" i="0" dirty="0">
                <a:solidFill>
                  <a:srgbClr val="3A3A3A"/>
                </a:solidFill>
                <a:effectLst/>
                <a:latin typeface="Roboto" panose="02000000000000000000" pitchFamily="2" charset="0"/>
              </a:rPr>
              <a:t>Lexical Scoping in JavaScript means a function can use values declared in its parent’s scope but its parent cannot do the same. Lexical Scope implies the block of code in which a function or variable is declared.</a:t>
            </a:r>
          </a:p>
          <a:p>
            <a:pPr algn="just">
              <a:lnSpc>
                <a:spcPts val="2100"/>
              </a:lnSpc>
              <a:spcBef>
                <a:spcPts val="750"/>
              </a:spcBef>
              <a:buNone/>
            </a:pPr>
            <a:r>
              <a:rPr lang="en-US" b="0" i="0" dirty="0">
                <a:solidFill>
                  <a:srgbClr val="3A3A3A"/>
                </a:solidFill>
                <a:effectLst/>
                <a:latin typeface="Roboto" panose="02000000000000000000" pitchFamily="2" charset="0"/>
              </a:rPr>
              <a:t>Variables declared using the ‘var’ keyword are function-scoped which means their lexical scope lies within the function they are declared in.</a:t>
            </a:r>
          </a:p>
          <a:p>
            <a:pPr algn="just">
              <a:lnSpc>
                <a:spcPts val="2100"/>
              </a:lnSpc>
              <a:spcBef>
                <a:spcPts val="750"/>
              </a:spcBef>
              <a:buNone/>
            </a:pPr>
            <a:r>
              <a:rPr lang="en-US" b="0" i="0" dirty="0">
                <a:solidFill>
                  <a:srgbClr val="3A3A3A"/>
                </a:solidFill>
                <a:effectLst/>
                <a:latin typeface="Roboto" panose="02000000000000000000" pitchFamily="2" charset="0"/>
              </a:rPr>
              <a:t>Example:</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testVar</a:t>
            </a:r>
            <a:r>
              <a:rPr lang="en-US" b="0" i="0" dirty="0">
                <a:solidFill>
                  <a:srgbClr val="212529"/>
                </a:solidFill>
                <a:effectLst/>
                <a:latin typeface="Courier New" panose="02070309020205020404" pitchFamily="49" charset="0"/>
              </a:rPr>
              <a: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if (true)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var x = 10; // This variable is “Function” and that is its “Lexical” scope&lt;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console.log(x); // 10 (accessible outside the block)&lt;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testVar</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
        <p:nvSpPr>
          <p:cNvPr id="5" name="TextBox 4">
            <a:extLst>
              <a:ext uri="{FF2B5EF4-FFF2-40B4-BE49-F238E27FC236}">
                <a16:creationId xmlns:a16="http://schemas.microsoft.com/office/drawing/2014/main" id="{2E023696-C81E-0B2F-7A76-6BBFB5180B90}"/>
              </a:ext>
            </a:extLst>
          </p:cNvPr>
          <p:cNvSpPr txBox="1"/>
          <p:nvPr/>
        </p:nvSpPr>
        <p:spPr>
          <a:xfrm>
            <a:off x="5124733" y="0"/>
            <a:ext cx="4954136" cy="6527428"/>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Whereas variables declared with ‘let’ or ‘const’ keywords are block-scoped. This means their lexical scope lies within a block, like, inside if, for, or while blocks.</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testLet</a:t>
            </a:r>
            <a:r>
              <a:rPr lang="en-US" b="0" i="0" dirty="0">
                <a:solidFill>
                  <a:srgbClr val="212529"/>
                </a:solidFill>
                <a:effectLst/>
                <a:latin typeface="Courier New" panose="02070309020205020404" pitchFamily="49" charset="0"/>
              </a:rPr>
              <a: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if (true)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let y = 20; // This variable is “Block” scoped and that is its “Lexical” scope&lt;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console.log(y); // </a:t>
            </a:r>
            <a:r>
              <a:rPr lang="en-US" b="0" i="0" dirty="0" err="1">
                <a:solidFill>
                  <a:srgbClr val="212529"/>
                </a:solidFill>
                <a:effectLst/>
                <a:latin typeface="Courier New" panose="02070309020205020404" pitchFamily="49" charset="0"/>
              </a:rPr>
              <a:t>ReferenceError</a:t>
            </a:r>
            <a:r>
              <a:rPr lang="en-US" b="0" i="0" dirty="0">
                <a:solidFill>
                  <a:srgbClr val="212529"/>
                </a:solidFill>
                <a:effectLst/>
                <a:latin typeface="Courier New" panose="02070309020205020404" pitchFamily="49" charset="0"/>
              </a:rPr>
              <a:t>: y is not defined (as it cannot be accessed outside its lexical scope.&lt;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testLet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262361355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93A60-7F4A-4075-E419-85EE761A0B16}"/>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4079694-5540-258E-B63C-972C2086593E}"/>
              </a:ext>
            </a:extLst>
          </p:cNvPr>
          <p:cNvSpPr txBox="1"/>
          <p:nvPr/>
        </p:nvSpPr>
        <p:spPr>
          <a:xfrm>
            <a:off x="0" y="163952"/>
            <a:ext cx="4954136" cy="582723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35. How to convert an array into an object and vice-versa?</a:t>
            </a:r>
          </a:p>
          <a:p>
            <a:pPr algn="just">
              <a:lnSpc>
                <a:spcPts val="2100"/>
              </a:lnSpc>
              <a:spcBef>
                <a:spcPts val="16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To convert an array into an object we can use a method named ‘</a:t>
            </a:r>
            <a:r>
              <a:rPr lang="en-US" b="0" i="0" dirty="0" err="1">
                <a:solidFill>
                  <a:srgbClr val="3A3A3A"/>
                </a:solidFill>
                <a:effectLst/>
                <a:latin typeface="Roboto" panose="02000000000000000000" pitchFamily="2" charset="0"/>
              </a:rPr>
              <a:t>fromEntries</a:t>
            </a:r>
            <a:r>
              <a:rPr lang="en-US" b="0" i="0" dirty="0">
                <a:solidFill>
                  <a:srgbClr val="3A3A3A"/>
                </a:solidFill>
                <a:effectLst/>
                <a:latin typeface="Roboto" panose="02000000000000000000" pitchFamily="2" charset="0"/>
              </a:rPr>
              <a:t>()’.</a:t>
            </a:r>
          </a:p>
          <a:p>
            <a:pPr algn="just">
              <a:lnSpc>
                <a:spcPts val="2100"/>
              </a:lnSpc>
              <a:spcBef>
                <a:spcPts val="16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entries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["name",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 ["employees", 200]];</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newObject</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Object.fromEntries</a:t>
            </a:r>
            <a:r>
              <a:rPr lang="en-US" b="0" i="0" dirty="0">
                <a:solidFill>
                  <a:srgbClr val="212529"/>
                </a:solidFill>
                <a:effectLst/>
                <a:latin typeface="Courier New" panose="02070309020205020404" pitchFamily="49" charset="0"/>
              </a:rPr>
              <a:t>(entries);&lt;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newObject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just">
              <a:lnSpc>
                <a:spcPts val="2100"/>
              </a:lnSpc>
              <a:spcBef>
                <a:spcPts val="750"/>
              </a:spcBef>
              <a:buNone/>
            </a:pPr>
            <a:r>
              <a:rPr lang="en-US" b="0" i="0" dirty="0">
                <a:solidFill>
                  <a:srgbClr val="3A3A3A"/>
                </a:solidFill>
                <a:effectLst/>
                <a:latin typeface="Roboto" panose="02000000000000000000" pitchFamily="2" charset="0"/>
              </a:rPr>
              <a:t>Output-</a:t>
            </a:r>
          </a:p>
          <a:p>
            <a:pPr algn="just">
              <a:lnSpc>
                <a:spcPts val="2100"/>
              </a:lnSpc>
              <a:spcBef>
                <a:spcPts val="750"/>
              </a:spcBef>
              <a:buNone/>
            </a:pPr>
            <a:r>
              <a:rPr lang="en-US" b="0" i="0" dirty="0">
                <a:solidFill>
                  <a:srgbClr val="3A3A3A"/>
                </a:solidFill>
                <a:effectLst/>
                <a:latin typeface="Roboto" panose="02000000000000000000" pitchFamily="2" charset="0"/>
              </a:rPr>
              <a:t>{ name: ‘</a:t>
            </a:r>
            <a:r>
              <a:rPr lang="en-US" b="0" i="0" dirty="0" err="1">
                <a:solidFill>
                  <a:srgbClr val="3A3A3A"/>
                </a:solidFill>
                <a:effectLst/>
                <a:latin typeface="Roboto" panose="02000000000000000000" pitchFamily="2" charset="0"/>
              </a:rPr>
              <a:t>Intellipaat</a:t>
            </a:r>
            <a:r>
              <a:rPr lang="en-US" b="0" i="0" dirty="0">
                <a:solidFill>
                  <a:srgbClr val="3A3A3A"/>
                </a:solidFill>
                <a:effectLst/>
                <a:latin typeface="Roboto" panose="02000000000000000000" pitchFamily="2" charset="0"/>
              </a:rPr>
              <a:t>’, employees: 200 }</a:t>
            </a:r>
          </a:p>
        </p:txBody>
      </p:sp>
      <p:sp>
        <p:nvSpPr>
          <p:cNvPr id="5" name="TextBox 4">
            <a:extLst>
              <a:ext uri="{FF2B5EF4-FFF2-40B4-BE49-F238E27FC236}">
                <a16:creationId xmlns:a16="http://schemas.microsoft.com/office/drawing/2014/main" id="{590176A1-6BE0-B924-206C-750390F5FE39}"/>
              </a:ext>
            </a:extLst>
          </p:cNvPr>
          <p:cNvSpPr txBox="1"/>
          <p:nvPr/>
        </p:nvSpPr>
        <p:spPr>
          <a:xfrm>
            <a:off x="4688007" y="452544"/>
            <a:ext cx="4981432" cy="5952912"/>
          </a:xfrm>
          <a:prstGeom prst="rect">
            <a:avLst/>
          </a:prstGeom>
          <a:noFill/>
        </p:spPr>
        <p:txBody>
          <a:bodyPr wrap="square">
            <a:spAutoFit/>
          </a:bodyPr>
          <a:lstStyle/>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To convert an Object to an Array we can use a method named ‘entries()’.</a:t>
            </a:r>
          </a:p>
          <a:p>
            <a:pPr algn="just">
              <a:lnSpc>
                <a:spcPts val="2100"/>
              </a:lnSpc>
              <a:spcBef>
                <a:spcPts val="1650"/>
              </a:spcBef>
              <a:buNone/>
            </a:pPr>
            <a:r>
              <a:rPr lang="en-US" b="0" i="0" dirty="0">
                <a:solidFill>
                  <a:srgbClr val="3A3A3A"/>
                </a:solidFill>
                <a:effectLst/>
                <a:latin typeface="Roboto" panose="02000000000000000000" pitchFamily="2" charset="0"/>
              </a:rPr>
              <a:t>Example –</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user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name: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employees: 200&lt;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newArray</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Object.entries</a:t>
            </a:r>
            <a:r>
              <a:rPr lang="en-US" b="0" i="0" dirty="0">
                <a:solidFill>
                  <a:srgbClr val="212529"/>
                </a:solidFill>
                <a:effectLst/>
                <a:latin typeface="Courier New" panose="02070309020205020404" pitchFamily="49" charset="0"/>
              </a:rPr>
              <a:t>(user);&lt;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newArray</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buNone/>
            </a:pPr>
            <a:br>
              <a:rPr lang="en-US" dirty="0"/>
            </a:br>
            <a:r>
              <a:rPr lang="en-US" b="0" i="0" dirty="0">
                <a:solidFill>
                  <a:srgbClr val="3A3A3A"/>
                </a:solidFill>
                <a:effectLst/>
                <a:latin typeface="Roboto" panose="02000000000000000000" pitchFamily="2" charset="0"/>
              </a:rPr>
              <a:t>Output-</a:t>
            </a:r>
            <a:endParaRPr lang="en-US" dirty="0"/>
          </a:p>
          <a:p>
            <a:pPr algn="just">
              <a:lnSpc>
                <a:spcPts val="2100"/>
              </a:lnSpc>
              <a:spcBef>
                <a:spcPts val="750"/>
              </a:spcBef>
              <a:buNone/>
            </a:pPr>
            <a:r>
              <a:rPr lang="en-US" b="0" i="0" dirty="0">
                <a:solidFill>
                  <a:srgbClr val="3A3A3A"/>
                </a:solidFill>
                <a:effectLst/>
                <a:latin typeface="Roboto" panose="02000000000000000000" pitchFamily="2" charset="0"/>
              </a:rPr>
              <a:t>[ [‘name’, ‘</a:t>
            </a:r>
            <a:r>
              <a:rPr lang="en-US" b="0" i="0" dirty="0" err="1">
                <a:solidFill>
                  <a:srgbClr val="3A3A3A"/>
                </a:solidFill>
                <a:effectLst/>
                <a:latin typeface="Roboto" panose="02000000000000000000" pitchFamily="2" charset="0"/>
              </a:rPr>
              <a:t>Intellipaat</a:t>
            </a:r>
            <a:r>
              <a:rPr lang="en-US" b="0" i="0" dirty="0">
                <a:solidFill>
                  <a:srgbClr val="3A3A3A"/>
                </a:solidFill>
                <a:effectLst/>
                <a:latin typeface="Roboto" panose="02000000000000000000" pitchFamily="2" charset="0"/>
              </a:rPr>
              <a:t>’], [’employees’, 200] ]</a:t>
            </a:r>
          </a:p>
        </p:txBody>
      </p:sp>
    </p:spTree>
    <p:extLst>
      <p:ext uri="{BB962C8B-B14F-4D97-AF65-F5344CB8AC3E}">
        <p14:creationId xmlns:p14="http://schemas.microsoft.com/office/powerpoint/2010/main" val="10081883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D2FCAA-5208-4115-0033-78F3F505C61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15DDF44-2F61-4FC8-3F7A-D50BD3479B01}"/>
              </a:ext>
            </a:extLst>
          </p:cNvPr>
          <p:cNvSpPr txBox="1"/>
          <p:nvPr/>
        </p:nvSpPr>
        <p:spPr>
          <a:xfrm>
            <a:off x="2477069" y="-605873"/>
            <a:ext cx="4954136" cy="807657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36. What are async and await keywords in JavaScript?</a:t>
            </a:r>
          </a:p>
          <a:p>
            <a:pPr algn="just">
              <a:lnSpc>
                <a:spcPts val="2100"/>
              </a:lnSpc>
              <a:spcBef>
                <a:spcPts val="1650"/>
              </a:spcBef>
              <a:buNone/>
            </a:pPr>
            <a:r>
              <a:rPr lang="en-US" b="0" i="0" dirty="0">
                <a:solidFill>
                  <a:srgbClr val="3A3A3A"/>
                </a:solidFill>
                <a:effectLst/>
                <a:latin typeface="Roboto" panose="02000000000000000000" pitchFamily="2" charset="0"/>
              </a:rPr>
              <a:t>Async and Await keywords in JavaScript are used for working with asynchronous operations employing </a:t>
            </a:r>
            <a:r>
              <a:rPr lang="en-US" b="0" i="0" u="none" strike="noStrike" dirty="0">
                <a:solidFill>
                  <a:srgbClr val="0F5A9E"/>
                </a:solidFill>
                <a:effectLst/>
                <a:latin typeface="Roboto" panose="02000000000000000000" pitchFamily="2" charset="0"/>
                <a:hlinkClick r:id="rId2"/>
              </a:rPr>
              <a:t>JavaScript promises</a:t>
            </a: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Async</a:t>
            </a:r>
          </a:p>
          <a:p>
            <a:pPr algn="just">
              <a:lnSpc>
                <a:spcPts val="2100"/>
              </a:lnSpc>
              <a:spcBef>
                <a:spcPts val="750"/>
              </a:spcBef>
              <a:buNone/>
            </a:pPr>
            <a:r>
              <a:rPr lang="en-US" b="0" i="0" dirty="0">
                <a:solidFill>
                  <a:srgbClr val="3A3A3A"/>
                </a:solidFill>
                <a:effectLst/>
                <a:latin typeface="Roboto" panose="02000000000000000000" pitchFamily="2" charset="0"/>
              </a:rPr>
              <a:t>Async in JavaScript is used as a tag to describe an </a:t>
            </a:r>
            <a:r>
              <a:rPr lang="en-US" b="0" i="0" u="none" strike="noStrike" dirty="0">
                <a:solidFill>
                  <a:srgbClr val="0F5A9E"/>
                </a:solidFill>
                <a:effectLst/>
                <a:latin typeface="Roboto" panose="02000000000000000000" pitchFamily="2" charset="0"/>
                <a:hlinkClick r:id="rId3"/>
              </a:rPr>
              <a:t>asynchronous function</a:t>
            </a:r>
            <a:r>
              <a:rPr lang="en-US" b="0" i="0" dirty="0">
                <a:solidFill>
                  <a:srgbClr val="3A3A3A"/>
                </a:solidFill>
                <a:effectLst/>
                <a:latin typeface="Roboto" panose="02000000000000000000" pitchFamily="2" charset="0"/>
              </a:rPr>
              <a:t>. The Async keyword results in a promise.</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async function </a:t>
            </a:r>
            <a:r>
              <a:rPr lang="en-US" b="0" i="0" dirty="0" err="1">
                <a:solidFill>
                  <a:srgbClr val="212529"/>
                </a:solidFill>
                <a:effectLst/>
                <a:latin typeface="Courier New" panose="02070309020205020404" pitchFamily="49" charset="0"/>
              </a:rPr>
              <a:t>functionName</a:t>
            </a: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 Function body</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Await</a:t>
            </a:r>
          </a:p>
          <a:p>
            <a:pPr algn="just">
              <a:lnSpc>
                <a:spcPts val="2100"/>
              </a:lnSpc>
              <a:spcBef>
                <a:spcPts val="750"/>
              </a:spcBef>
              <a:buNone/>
            </a:pPr>
            <a:r>
              <a:rPr lang="en-US" b="0" i="0" dirty="0">
                <a:solidFill>
                  <a:srgbClr val="3A3A3A"/>
                </a:solidFill>
                <a:effectLst/>
                <a:latin typeface="Roboto" panose="02000000000000000000" pitchFamily="2" charset="0"/>
              </a:rPr>
              <a:t>Await is used in JavaScript inside the async function and its function is to wait until a promise is either resolved or rejected.</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let result = await </a:t>
            </a:r>
            <a:r>
              <a:rPr lang="en-US" b="0" i="0" dirty="0" err="1">
                <a:solidFill>
                  <a:srgbClr val="212529"/>
                </a:solidFill>
                <a:effectLst/>
                <a:latin typeface="Courier New" panose="02070309020205020404" pitchFamily="49" charset="0"/>
              </a:rPr>
              <a:t>somePromise</a:t>
            </a:r>
            <a:r>
              <a:rPr lang="en-US" b="0" i="0" dirty="0">
                <a:solidFill>
                  <a:srgbClr val="212529"/>
                </a:solidFill>
                <a:effectLst/>
                <a:latin typeface="Courier New" panose="02070309020205020404" pitchFamily="49" charset="0"/>
              </a:rPr>
              <a:t>;</a:t>
            </a:r>
          </a:p>
        </p:txBody>
      </p:sp>
    </p:spTree>
    <p:extLst>
      <p:ext uri="{BB962C8B-B14F-4D97-AF65-F5344CB8AC3E}">
        <p14:creationId xmlns:p14="http://schemas.microsoft.com/office/powerpoint/2010/main" val="233578140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3C0856-9563-310D-DEF0-85E9C971EA8A}"/>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873D89E3-545A-334F-7D66-A48382BF4A96}"/>
              </a:ext>
            </a:extLst>
          </p:cNvPr>
          <p:cNvSpPr txBox="1"/>
          <p:nvPr/>
        </p:nvSpPr>
        <p:spPr>
          <a:xfrm>
            <a:off x="2477069" y="500840"/>
            <a:ext cx="4954136" cy="5863144"/>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37. Difference between Java and JavaScript</a:t>
            </a:r>
          </a:p>
          <a:p>
            <a:pPr algn="just">
              <a:lnSpc>
                <a:spcPts val="2100"/>
              </a:lnSpc>
              <a:spcBef>
                <a:spcPts val="1650"/>
              </a:spcBef>
              <a:buNone/>
            </a:pPr>
            <a:r>
              <a:rPr lang="en-US" b="0" i="0" dirty="0">
                <a:solidFill>
                  <a:srgbClr val="3A3A3A"/>
                </a:solidFill>
                <a:effectLst/>
                <a:latin typeface="Roboto" panose="02000000000000000000" pitchFamily="2" charset="0"/>
              </a:rPr>
              <a:t>The </a:t>
            </a:r>
            <a:r>
              <a:rPr lang="en-US" b="0" i="0" u="none" strike="noStrike" dirty="0">
                <a:solidFill>
                  <a:srgbClr val="0F5A9E"/>
                </a:solidFill>
                <a:effectLst/>
                <a:latin typeface="Roboto" panose="02000000000000000000" pitchFamily="2" charset="0"/>
                <a:hlinkClick r:id="rId2"/>
              </a:rPr>
              <a:t>difference between Java and JavaScript</a:t>
            </a:r>
            <a:r>
              <a:rPr lang="en-US" b="0" i="0" dirty="0">
                <a:solidFill>
                  <a:srgbClr val="3A3A3A"/>
                </a:solidFill>
                <a:effectLst/>
                <a:latin typeface="Roboto" panose="02000000000000000000" pitchFamily="2" charset="0"/>
              </a:rPr>
              <a:t> is </a:t>
            </a:r>
            <a:r>
              <a:rPr lang="en-US" b="0" i="0" dirty="0" err="1">
                <a:solidFill>
                  <a:srgbClr val="3A3A3A"/>
                </a:solidFill>
                <a:effectLst/>
                <a:latin typeface="Roboto" panose="02000000000000000000" pitchFamily="2" charset="0"/>
              </a:rPr>
              <a:t>mentiioned</a:t>
            </a:r>
            <a:r>
              <a:rPr lang="en-US" b="0" i="0" dirty="0">
                <a:solidFill>
                  <a:srgbClr val="3A3A3A"/>
                </a:solidFill>
                <a:effectLst/>
                <a:latin typeface="Roboto" panose="02000000000000000000" pitchFamily="2" charset="0"/>
              </a:rPr>
              <a:t> below:</a:t>
            </a:r>
          </a:p>
          <a:p>
            <a:pPr algn="just">
              <a:lnSpc>
                <a:spcPts val="2100"/>
              </a:lnSpc>
              <a:spcBef>
                <a:spcPts val="750"/>
              </a:spcBef>
              <a:buNone/>
            </a:pPr>
            <a:r>
              <a:rPr lang="en-US" b="0" i="0" dirty="0">
                <a:solidFill>
                  <a:srgbClr val="3A3A3A"/>
                </a:solidFill>
                <a:effectLst/>
                <a:latin typeface="Roboto" panose="02000000000000000000" pitchFamily="2" charset="0"/>
              </a:rPr>
              <a:t>Java:  The basics of Java are that it is an object-oriented programming language. In the years of the rise of computer science and information technologies, it was one of the most popular languages for programming. Because of its virtual machine platform and an object-oriented program language, one can compile programs virtually for any kind of platform. </a:t>
            </a:r>
          </a:p>
          <a:p>
            <a:pPr algn="just">
              <a:lnSpc>
                <a:spcPts val="2100"/>
              </a:lnSpc>
              <a:spcBef>
                <a:spcPts val="750"/>
              </a:spcBef>
              <a:buNone/>
            </a:pPr>
            <a:r>
              <a:rPr lang="en-US" b="0" i="0" dirty="0">
                <a:solidFill>
                  <a:srgbClr val="3A3A3A"/>
                </a:solidFill>
                <a:effectLst/>
                <a:latin typeface="Roboto" panose="02000000000000000000" pitchFamily="2" charset="0"/>
              </a:rPr>
              <a:t>JavaScript: JavaScript is a scripting language of the client side. JavaScript is a lightweight computer language that comes into the category of scripting language which is used to develop an interactive website. It can also animate dynamically added text to HTML components.</a:t>
            </a:r>
          </a:p>
        </p:txBody>
      </p:sp>
    </p:spTree>
    <p:extLst>
      <p:ext uri="{BB962C8B-B14F-4D97-AF65-F5344CB8AC3E}">
        <p14:creationId xmlns:p14="http://schemas.microsoft.com/office/powerpoint/2010/main" val="27264838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33E893-EB80-1190-5E28-1A084D7EEC17}"/>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0C5B8E9-5114-34EA-2A32-04672654D074}"/>
              </a:ext>
            </a:extLst>
          </p:cNvPr>
          <p:cNvSpPr txBox="1"/>
          <p:nvPr/>
        </p:nvSpPr>
        <p:spPr>
          <a:xfrm>
            <a:off x="2477069" y="-2800063"/>
            <a:ext cx="4954136" cy="12464951"/>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38. What are web workers in JavaScript?</a:t>
            </a:r>
          </a:p>
          <a:p>
            <a:pPr algn="just">
              <a:lnSpc>
                <a:spcPts val="2100"/>
              </a:lnSpc>
              <a:spcBef>
                <a:spcPts val="1650"/>
              </a:spcBef>
              <a:buNone/>
            </a:pPr>
            <a:r>
              <a:rPr lang="en-US" b="0" i="0" dirty="0">
                <a:solidFill>
                  <a:srgbClr val="3A3A3A"/>
                </a:solidFill>
                <a:effectLst/>
                <a:latin typeface="Roboto" panose="02000000000000000000" pitchFamily="2" charset="0"/>
              </a:rPr>
              <a:t>In JavaScript, Web Workers let run scripts in background threads apart from the main thread and hence contribute to carrying out heavy tasks that do not lock the interface. They enhance efficiency because certain processes – computations, data processing, image manipulation – can run concurrently. Web Workers use </a:t>
            </a:r>
            <a:r>
              <a:rPr lang="en-US" b="0" i="0" dirty="0" err="1">
                <a:solidFill>
                  <a:srgbClr val="3A3A3A"/>
                </a:solidFill>
                <a:effectLst/>
                <a:latin typeface="Roboto" panose="02000000000000000000" pitchFamily="2" charset="0"/>
              </a:rPr>
              <a:t>postMessage</a:t>
            </a:r>
            <a:r>
              <a:rPr lang="en-US" b="0" i="0" dirty="0">
                <a:solidFill>
                  <a:srgbClr val="3A3A3A"/>
                </a:solidFill>
                <a:effectLst/>
                <a:latin typeface="Roboto" panose="02000000000000000000" pitchFamily="2" charset="0"/>
              </a:rPr>
              <a:t> and </a:t>
            </a:r>
            <a:r>
              <a:rPr lang="en-US" b="0" i="0" dirty="0" err="1">
                <a:solidFill>
                  <a:srgbClr val="3A3A3A"/>
                </a:solidFill>
                <a:effectLst/>
                <a:latin typeface="Roboto" panose="02000000000000000000" pitchFamily="2" charset="0"/>
              </a:rPr>
              <a:t>onmessage</a:t>
            </a:r>
            <a:r>
              <a:rPr lang="en-US" b="0" i="0" dirty="0">
                <a:solidFill>
                  <a:srgbClr val="3A3A3A"/>
                </a:solidFill>
                <a:effectLst/>
                <a:latin typeface="Roboto" panose="02000000000000000000" pitchFamily="2" charset="0"/>
              </a:rPr>
              <a:t> to interact with the main thread but it is prohibited to touch the DOM and window.</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39. What is currying in JavaScript?</a:t>
            </a:r>
          </a:p>
          <a:p>
            <a:pPr algn="just">
              <a:lnSpc>
                <a:spcPts val="2100"/>
              </a:lnSpc>
              <a:spcBef>
                <a:spcPts val="1650"/>
              </a:spcBef>
              <a:buNone/>
            </a:pPr>
            <a:r>
              <a:rPr lang="en-US" b="0" i="0" dirty="0">
                <a:solidFill>
                  <a:srgbClr val="3A3A3A"/>
                </a:solidFill>
                <a:effectLst/>
                <a:latin typeface="Roboto" panose="02000000000000000000" pitchFamily="2" charset="0"/>
              </a:rPr>
              <a:t>Currying in JavaScript is functional programming which is technique that turns a function with multiple arguments into a sequence of functions each of which expects a single argument.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curriedAdd</a:t>
            </a:r>
            <a:r>
              <a:rPr lang="en-US" b="0" i="0" dirty="0">
                <a:solidFill>
                  <a:srgbClr val="212529"/>
                </a:solidFill>
                <a:effectLst/>
                <a:latin typeface="Courier New" panose="02070309020205020404" pitchFamily="49" charset="0"/>
              </a:rPr>
              <a:t>(a)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function(b)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a + b;</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addTwo</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curriedAdd</a:t>
            </a:r>
            <a:r>
              <a:rPr lang="en-US" b="0" i="0" dirty="0">
                <a:solidFill>
                  <a:srgbClr val="212529"/>
                </a:solidFill>
                <a:effectLst/>
                <a:latin typeface="Courier New" panose="02070309020205020404" pitchFamily="49" charset="0"/>
              </a:rPr>
              <a:t>(2);</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addTwo</a:t>
            </a:r>
            <a:r>
              <a:rPr lang="en-US" b="0" i="0" dirty="0">
                <a:solidFill>
                  <a:srgbClr val="212529"/>
                </a:solidFill>
                <a:effectLst/>
                <a:latin typeface="Courier New" panose="02070309020205020404" pitchFamily="49" charset="0"/>
              </a:rPr>
              <a:t>(3)); </a:t>
            </a:r>
          </a:p>
        </p:txBody>
      </p:sp>
    </p:spTree>
    <p:extLst>
      <p:ext uri="{BB962C8B-B14F-4D97-AF65-F5344CB8AC3E}">
        <p14:creationId xmlns:p14="http://schemas.microsoft.com/office/powerpoint/2010/main" val="255161413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44B80D-341B-56C8-4F0C-D26AC95F9B0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4BA35D35-1013-2296-E607-28035B6CA34D}"/>
              </a:ext>
            </a:extLst>
          </p:cNvPr>
          <p:cNvSpPr txBox="1"/>
          <p:nvPr/>
        </p:nvSpPr>
        <p:spPr>
          <a:xfrm>
            <a:off x="2477069" y="-4358182"/>
            <a:ext cx="4954136" cy="1558118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40. What is prototype inheritance?</a:t>
            </a:r>
          </a:p>
          <a:p>
            <a:pPr algn="just">
              <a:lnSpc>
                <a:spcPts val="2100"/>
              </a:lnSpc>
              <a:spcBef>
                <a:spcPts val="1650"/>
              </a:spcBef>
              <a:buNone/>
            </a:pPr>
            <a:r>
              <a:rPr lang="en-US" b="0" i="0" dirty="0">
                <a:solidFill>
                  <a:srgbClr val="3A3A3A"/>
                </a:solidFill>
                <a:effectLst/>
                <a:latin typeface="Roboto" panose="02000000000000000000" pitchFamily="2" charset="0"/>
              </a:rPr>
              <a:t>Prototype </a:t>
            </a:r>
            <a:r>
              <a:rPr lang="en-US" b="0" i="0" u="none" strike="noStrike" dirty="0">
                <a:solidFill>
                  <a:srgbClr val="0F5A9E"/>
                </a:solidFill>
                <a:effectLst/>
                <a:latin typeface="Roboto" panose="02000000000000000000" pitchFamily="2" charset="0"/>
                <a:hlinkClick r:id="rId2"/>
              </a:rPr>
              <a:t>inheritance in JavaScript</a:t>
            </a:r>
            <a:r>
              <a:rPr lang="en-US" b="0" i="0" dirty="0">
                <a:solidFill>
                  <a:srgbClr val="3A3A3A"/>
                </a:solidFill>
                <a:effectLst/>
                <a:latin typeface="Roboto" panose="02000000000000000000" pitchFamily="2" charset="0"/>
              </a:rPr>
              <a:t> is a technique that allows objects to inherit properties and methods from other objects. In JavaScript, every object has an internal link to its prototype, which is another object. The prototype chain is made up of these prototypes.</a:t>
            </a:r>
          </a:p>
          <a:p>
            <a:pPr algn="just">
              <a:lnSpc>
                <a:spcPts val="2100"/>
              </a:lnSpc>
              <a:spcBef>
                <a:spcPts val="750"/>
              </a:spcBef>
              <a:buNone/>
            </a:pPr>
            <a:r>
              <a:rPr lang="en-US" b="0" i="0" dirty="0">
                <a:solidFill>
                  <a:srgbClr val="3A3A3A"/>
                </a:solidFill>
                <a:effectLst/>
                <a:latin typeface="Roboto" panose="02000000000000000000" pitchFamily="2" charset="0"/>
              </a:rPr>
              <a:t>Example:</a:t>
            </a:r>
          </a:p>
          <a:p>
            <a:pPr algn="l">
              <a:spcBef>
                <a:spcPts val="1125"/>
              </a:spcBef>
              <a:spcAft>
                <a:spcPts val="375"/>
              </a:spcAft>
              <a:buNone/>
            </a:pPr>
            <a:r>
              <a:rPr lang="en-US" b="0" i="0" dirty="0">
                <a:solidFill>
                  <a:srgbClr val="212529"/>
                </a:solidFill>
                <a:effectLst/>
                <a:latin typeface="Courier New" panose="02070309020205020404" pitchFamily="49" charset="0"/>
              </a:rPr>
              <a:t>// constructor function</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function fun(name)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this.name = name;</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Add a method to the prototype</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err="1">
                <a:solidFill>
                  <a:srgbClr val="212529"/>
                </a:solidFill>
                <a:effectLst/>
                <a:latin typeface="Courier New" panose="02070309020205020404" pitchFamily="49" charset="0"/>
              </a:rPr>
              <a:t>fun.prototype.var</a:t>
            </a:r>
            <a:r>
              <a:rPr lang="en-US" b="0" i="0" dirty="0">
                <a:solidFill>
                  <a:srgbClr val="212529"/>
                </a:solidFill>
                <a:effectLst/>
                <a:latin typeface="Courier New" panose="02070309020205020404" pitchFamily="49" charset="0"/>
              </a:rPr>
              <a:t> = function()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`Hello, I am ${this.name}.`;</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Create an object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intelli</a:t>
            </a:r>
            <a:r>
              <a:rPr lang="en-US" b="0" i="0" dirty="0">
                <a:solidFill>
                  <a:srgbClr val="212529"/>
                </a:solidFill>
                <a:effectLst/>
                <a:latin typeface="Courier New" panose="02070309020205020404" pitchFamily="49" charset="0"/>
              </a:rPr>
              <a:t> = new fun('</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Access a property and a prototype method</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console.log(intelli.name);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intelli.var</a:t>
            </a:r>
            <a:r>
              <a:rPr lang="en-US" b="0" i="0" dirty="0">
                <a:solidFill>
                  <a:srgbClr val="212529"/>
                </a:solidFill>
                <a:effectLst/>
                <a:latin typeface="Courier New" panose="02070309020205020404" pitchFamily="49" charset="0"/>
              </a:rPr>
              <a:t>());   </a:t>
            </a:r>
          </a:p>
        </p:txBody>
      </p:sp>
    </p:spTree>
    <p:extLst>
      <p:ext uri="{BB962C8B-B14F-4D97-AF65-F5344CB8AC3E}">
        <p14:creationId xmlns:p14="http://schemas.microsoft.com/office/powerpoint/2010/main" val="175080494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5234C0-6502-085A-59CD-B3BA280ADD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DD352D84-6D83-2396-E539-988B36BC69D0}"/>
              </a:ext>
            </a:extLst>
          </p:cNvPr>
          <p:cNvSpPr txBox="1"/>
          <p:nvPr/>
        </p:nvSpPr>
        <p:spPr>
          <a:xfrm>
            <a:off x="0" y="-3286941"/>
            <a:ext cx="4954136" cy="13431882"/>
          </a:xfrm>
          <a:prstGeom prst="rect">
            <a:avLst/>
          </a:prstGeom>
          <a:noFill/>
        </p:spPr>
        <p:txBody>
          <a:bodyPr wrap="square">
            <a:spAutoFit/>
          </a:bodyPr>
          <a:lstStyle/>
          <a:p>
            <a:pPr algn="l">
              <a:lnSpc>
                <a:spcPts val="2550"/>
              </a:lnSpc>
              <a:spcBef>
                <a:spcPts val="3000"/>
              </a:spcBef>
              <a:buNone/>
            </a:pP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 Technical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41. How to perform deep freezing in a nested object?</a:t>
            </a:r>
          </a:p>
          <a:p>
            <a:pPr algn="just">
              <a:lnSpc>
                <a:spcPts val="2100"/>
              </a:lnSpc>
              <a:spcBef>
                <a:spcPts val="1650"/>
              </a:spcBef>
              <a:buNone/>
            </a:pPr>
            <a:r>
              <a:rPr lang="en-US" b="0" i="0" dirty="0">
                <a:solidFill>
                  <a:srgbClr val="3A3A3A"/>
                </a:solidFill>
                <a:effectLst/>
                <a:latin typeface="Roboto" panose="02000000000000000000" pitchFamily="2" charset="0"/>
              </a:rPr>
              <a:t>To perform deep freezing in a nested object in JavaScript, you need to recursively apply </a:t>
            </a:r>
            <a:r>
              <a:rPr lang="en-US" b="0" i="0" dirty="0" err="1">
                <a:solidFill>
                  <a:srgbClr val="3A3A3A"/>
                </a:solidFill>
                <a:effectLst/>
                <a:latin typeface="Roboto" panose="02000000000000000000" pitchFamily="2" charset="0"/>
              </a:rPr>
              <a:t>Object.freeze</a:t>
            </a:r>
            <a:r>
              <a:rPr lang="en-US" b="0" i="0" dirty="0">
                <a:solidFill>
                  <a:srgbClr val="3A3A3A"/>
                </a:solidFill>
                <a:effectLst/>
                <a:latin typeface="Roboto" panose="02000000000000000000" pitchFamily="2" charset="0"/>
              </a:rPr>
              <a:t>() to every level of the object, including its nested properties. You can check if the data is frozen at each level by using </a:t>
            </a:r>
            <a:r>
              <a:rPr lang="en-US" b="0" i="0" dirty="0" err="1">
                <a:solidFill>
                  <a:srgbClr val="3A3A3A"/>
                </a:solidFill>
                <a:effectLst/>
                <a:latin typeface="Roboto" panose="02000000000000000000" pitchFamily="2" charset="0"/>
              </a:rPr>
              <a:t>Object.isFrozen</a:t>
            </a:r>
            <a:r>
              <a:rPr lang="en-US" b="0" i="0" dirty="0">
                <a:solidFill>
                  <a:srgbClr val="3A3A3A"/>
                </a:solidFill>
                <a:effectLst/>
                <a:latin typeface="Roboto" panose="02000000000000000000" pitchFamily="2" charset="0"/>
              </a:rPr>
              <a:t>().</a:t>
            </a:r>
          </a:p>
          <a:p>
            <a:pPr algn="just">
              <a:lnSpc>
                <a:spcPts val="2100"/>
              </a:lnSpc>
              <a:spcBef>
                <a:spcPts val="750"/>
              </a:spcBef>
              <a:buNone/>
            </a:pPr>
            <a:r>
              <a:rPr lang="en-US" b="0" i="0" dirty="0">
                <a:solidFill>
                  <a:srgbClr val="3A3A3A"/>
                </a:solidFill>
                <a:effectLst/>
                <a:latin typeface="Roboto" panose="02000000000000000000" pitchFamily="2" charset="0"/>
              </a:rPr>
              <a:t>You can do so by implementing the following code –</a:t>
            </a:r>
          </a:p>
          <a:p>
            <a:pPr algn="just">
              <a:lnSpc>
                <a:spcPts val="2100"/>
              </a:lnSpc>
              <a:spcBef>
                <a:spcPts val="750"/>
              </a:spcBef>
              <a:buNone/>
            </a:pPr>
            <a:r>
              <a:rPr lang="en-US" b="0" i="0" dirty="0">
                <a:solidFill>
                  <a:srgbClr val="3A3A3A"/>
                </a:solidFill>
                <a:effectLst/>
                <a:latin typeface="Roboto" panose="02000000000000000000" pitchFamily="2" charset="0"/>
              </a:rPr>
              <a:t>Step 1 – Implementing the </a:t>
            </a:r>
            <a:r>
              <a:rPr lang="en-US" b="0" i="0" dirty="0" err="1">
                <a:solidFill>
                  <a:srgbClr val="3A3A3A"/>
                </a:solidFill>
                <a:effectLst/>
                <a:latin typeface="Roboto" panose="02000000000000000000" pitchFamily="2" charset="0"/>
              </a:rPr>
              <a:t>deepFreeze</a:t>
            </a:r>
            <a:r>
              <a:rPr lang="en-US" b="0" i="0" dirty="0">
                <a:solidFill>
                  <a:srgbClr val="3A3A3A"/>
                </a:solidFill>
                <a:effectLst/>
                <a:latin typeface="Roboto" panose="02000000000000000000" pitchFamily="2" charset="0"/>
              </a:rPr>
              <a:t> function to freeze every object recursively.</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deepFreeze</a:t>
            </a:r>
            <a:r>
              <a:rPr lang="en-US" b="0" i="0" dirty="0">
                <a:solidFill>
                  <a:srgbClr val="212529"/>
                </a:solidFill>
                <a:effectLst/>
                <a:latin typeface="Courier New" panose="02070309020205020404" pitchFamily="49" charset="0"/>
              </a:rPr>
              <a:t>(obj)&lt;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Object.freeze</a:t>
            </a:r>
            <a:r>
              <a:rPr lang="en-US" b="0" i="0" dirty="0">
                <a:solidFill>
                  <a:srgbClr val="212529"/>
                </a:solidFill>
                <a:effectLst/>
                <a:latin typeface="Courier New" panose="02070309020205020404" pitchFamily="49" charset="0"/>
              </a:rPr>
              <a:t>(obj); // Iterate over all properties of the object&lt;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Object.getOwnPropertyNames</a:t>
            </a:r>
            <a:r>
              <a:rPr lang="en-US" b="0" i="0" dirty="0">
                <a:solidFill>
                  <a:srgbClr val="212529"/>
                </a:solidFill>
                <a:effectLst/>
                <a:latin typeface="Courier New" panose="02070309020205020404" pitchFamily="49" charset="0"/>
              </a:rPr>
              <a:t>(obj).</a:t>
            </a:r>
            <a:r>
              <a:rPr lang="en-US" b="0" i="0" dirty="0" err="1">
                <a:solidFill>
                  <a:srgbClr val="212529"/>
                </a:solidFill>
                <a:effectLst/>
                <a:latin typeface="Courier New" panose="02070309020205020404" pitchFamily="49" charset="0"/>
              </a:rPr>
              <a:t>forEach</a:t>
            </a:r>
            <a:r>
              <a:rPr lang="en-US" b="0" i="0" dirty="0">
                <a:solidFill>
                  <a:srgbClr val="212529"/>
                </a:solidFill>
                <a:effectLst/>
                <a:latin typeface="Courier New" panose="02070309020205020404" pitchFamily="49" charset="0"/>
              </a:rPr>
              <a:t>((prop) =&gt;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value = obj[prop];&lt;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 If the value is an object and not null, and hasn't been frozen yet, freeze it&lt;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if ( value !== null &amp;&amp; </a:t>
            </a:r>
            <a:r>
              <a:rPr lang="en-US" b="0" i="0" dirty="0" err="1">
                <a:solidFill>
                  <a:srgbClr val="212529"/>
                </a:solidFill>
                <a:effectLst/>
                <a:latin typeface="Courier New" panose="02070309020205020404" pitchFamily="49" charset="0"/>
              </a:rPr>
              <a:t>typeof</a:t>
            </a:r>
            <a:r>
              <a:rPr lang="en-US" b="0" i="0" dirty="0">
                <a:solidFill>
                  <a:srgbClr val="212529"/>
                </a:solidFill>
                <a:effectLst/>
                <a:latin typeface="Courier New" panose="02070309020205020404" pitchFamily="49" charset="0"/>
              </a:rPr>
              <a:t> value === "object" &amp;&amp; !</a:t>
            </a:r>
            <a:r>
              <a:rPr lang="en-US" b="0" i="0" dirty="0" err="1">
                <a:solidFill>
                  <a:srgbClr val="212529"/>
                </a:solidFill>
                <a:effectLst/>
                <a:latin typeface="Courier New" panose="02070309020205020404" pitchFamily="49" charset="0"/>
              </a:rPr>
              <a:t>Object.isFrozen</a:t>
            </a:r>
            <a:r>
              <a:rPr lang="en-US" b="0" i="0" dirty="0">
                <a:solidFill>
                  <a:srgbClr val="212529"/>
                </a:solidFill>
                <a:effectLst/>
                <a:latin typeface="Courier New" panose="02070309020205020404" pitchFamily="49" charset="0"/>
              </a:rPr>
              <a:t>(value)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deepFreeze</a:t>
            </a:r>
            <a:r>
              <a:rPr lang="en-US" b="0" i="0" dirty="0">
                <a:solidFill>
                  <a:srgbClr val="212529"/>
                </a:solidFill>
                <a:effectLst/>
                <a:latin typeface="Courier New" panose="02070309020205020404" pitchFamily="49" charset="0"/>
              </a:rPr>
              <a:t>(value); // This will recursively call </a:t>
            </a:r>
            <a:r>
              <a:rPr lang="en-US" b="0" i="0" dirty="0" err="1">
                <a:solidFill>
                  <a:srgbClr val="212529"/>
                </a:solidFill>
                <a:effectLst/>
                <a:latin typeface="Courier New" panose="02070309020205020404" pitchFamily="49" charset="0"/>
              </a:rPr>
              <a:t>deepFreeze</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obj; // Returns the frozen object&lt;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
        <p:nvSpPr>
          <p:cNvPr id="5" name="TextBox 4">
            <a:extLst>
              <a:ext uri="{FF2B5EF4-FFF2-40B4-BE49-F238E27FC236}">
                <a16:creationId xmlns:a16="http://schemas.microsoft.com/office/drawing/2014/main" id="{A5B5987B-8A2B-A544-99F3-6D0B6DFCD7CD}"/>
              </a:ext>
            </a:extLst>
          </p:cNvPr>
          <p:cNvSpPr txBox="1"/>
          <p:nvPr/>
        </p:nvSpPr>
        <p:spPr>
          <a:xfrm>
            <a:off x="4924568" y="-7713794"/>
            <a:ext cx="4981432" cy="22285588"/>
          </a:xfrm>
          <a:prstGeom prst="rect">
            <a:avLst/>
          </a:prstGeom>
          <a:noFill/>
        </p:spPr>
        <p:txBody>
          <a:bodyPr wrap="square">
            <a:spAutoFit/>
          </a:bodyPr>
          <a:lstStyle/>
          <a:p>
            <a:pPr algn="just">
              <a:lnSpc>
                <a:spcPts val="2100"/>
              </a:lnSpc>
              <a:spcBef>
                <a:spcPts val="750"/>
              </a:spcBef>
              <a:buNone/>
            </a:pPr>
            <a:r>
              <a:rPr lang="en-US" b="0" i="0" dirty="0">
                <a:solidFill>
                  <a:srgbClr val="3A3A3A"/>
                </a:solidFill>
                <a:effectLst/>
                <a:latin typeface="Roboto" panose="02000000000000000000" pitchFamily="2" charset="0"/>
              </a:rPr>
              <a:t>Step 2 – Call the function </a:t>
            </a:r>
            <a:r>
              <a:rPr lang="en-US" b="0" i="0" dirty="0" err="1">
                <a:solidFill>
                  <a:srgbClr val="3A3A3A"/>
                </a:solidFill>
                <a:effectLst/>
                <a:latin typeface="Roboto" panose="02000000000000000000" pitchFamily="2" charset="0"/>
              </a:rPr>
              <a:t>deepFreeze</a:t>
            </a:r>
            <a:r>
              <a:rPr lang="en-US" b="0" i="0" dirty="0">
                <a:solidFill>
                  <a:srgbClr val="3A3A3A"/>
                </a:solidFill>
                <a:effectLst/>
                <a:latin typeface="Roboto" panose="02000000000000000000" pitchFamily="2" charset="0"/>
              </a:rPr>
              <a:t>() and check if each object is frozen or not.</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nestedObject</a:t>
            </a:r>
            <a:r>
              <a:rPr lang="en-US" b="0" i="0" dirty="0">
                <a:solidFill>
                  <a:srgbClr val="212529"/>
                </a:solidFill>
                <a:effectLst/>
                <a:latin typeface="Courier New" panose="02070309020205020404" pitchFamily="49" charset="0"/>
              </a:rPr>
              <a:t>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level1: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level2: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level3: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key: "value",&lt;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anotherKey</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anotherValue</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const </a:t>
            </a:r>
            <a:r>
              <a:rPr lang="en-US" b="0" i="0" dirty="0" err="1">
                <a:solidFill>
                  <a:srgbClr val="212529"/>
                </a:solidFill>
                <a:effectLst/>
                <a:latin typeface="Courier New" panose="02070309020205020404" pitchFamily="49" charset="0"/>
              </a:rPr>
              <a:t>frozenObject</a:t>
            </a:r>
            <a:r>
              <a:rPr lang="en-US" b="0" i="0" dirty="0">
                <a:solidFill>
                  <a:srgbClr val="212529"/>
                </a:solidFill>
                <a:effectLst/>
                <a:latin typeface="Courier New" panose="02070309020205020404" pitchFamily="49" charset="0"/>
              </a:rPr>
              <a:t> = </a:t>
            </a:r>
            <a:r>
              <a:rPr lang="en-US" b="0" i="0" dirty="0" err="1">
                <a:solidFill>
                  <a:srgbClr val="212529"/>
                </a:solidFill>
                <a:effectLst/>
                <a:latin typeface="Courier New" panose="02070309020205020404" pitchFamily="49" charset="0"/>
              </a:rPr>
              <a:t>deepFreeze</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nestedObject</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Trying to modify properties&lt;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frozenObject.level1.level2.level3.key = "</a:t>
            </a:r>
            <a:r>
              <a:rPr lang="en-US" b="0" i="0" dirty="0" err="1">
                <a:solidFill>
                  <a:srgbClr val="212529"/>
                </a:solidFill>
                <a:effectLst/>
                <a:latin typeface="Courier New" panose="02070309020205020404" pitchFamily="49" charset="0"/>
              </a:rPr>
              <a:t>newValue</a:t>
            </a:r>
            <a:r>
              <a:rPr lang="en-US" b="0" i="0" dirty="0">
                <a:solidFill>
                  <a:srgbClr val="212529"/>
                </a:solidFill>
                <a:effectLst/>
                <a:latin typeface="Courier New" panose="02070309020205020404" pitchFamily="49" charset="0"/>
              </a:rPr>
              <a:t>"; // This will not work now&lt;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delete frozenObject.level1.level2; // This will not work now&lt;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frozenObject.newProp</a:t>
            </a:r>
            <a:r>
              <a:rPr lang="en-US" b="0" i="0" dirty="0">
                <a:solidFill>
                  <a:srgbClr val="212529"/>
                </a:solidFill>
                <a:effectLst/>
                <a:latin typeface="Courier New" panose="02070309020205020404" pitchFamily="49" charset="0"/>
              </a:rPr>
              <a:t> = "test"; // This will not work now&lt;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frozenObject</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Check if the object is frozen&lt;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Object.isFrozen</a:t>
            </a:r>
            <a:r>
              <a:rPr lang="en-US" b="0" i="0" dirty="0">
                <a:solidFill>
                  <a:srgbClr val="212529"/>
                </a:solidFill>
                <a:effectLst/>
                <a:latin typeface="Courier New" panose="02070309020205020404" pitchFamily="49" charset="0"/>
              </a:rPr>
              <a:t>(</a:t>
            </a:r>
            <a:r>
              <a:rPr lang="en-US" b="0" i="0" dirty="0" err="1">
                <a:solidFill>
                  <a:srgbClr val="212529"/>
                </a:solidFill>
                <a:effectLst/>
                <a:latin typeface="Courier New" panose="02070309020205020404" pitchFamily="49" charset="0"/>
              </a:rPr>
              <a:t>frozenObject</a:t>
            </a:r>
            <a:r>
              <a:rPr lang="en-US" b="0" i="0" dirty="0">
                <a:solidFill>
                  <a:srgbClr val="212529"/>
                </a:solidFill>
                <a:effectLst/>
                <a:latin typeface="Courier New" panose="02070309020205020404" pitchFamily="49" charset="0"/>
              </a:rPr>
              <a:t>)); // This will print&lt;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Object.isFrozen</a:t>
            </a:r>
            <a:r>
              <a:rPr lang="en-US" b="0" i="0" dirty="0">
                <a:solidFill>
                  <a:srgbClr val="212529"/>
                </a:solidFill>
                <a:effectLst/>
                <a:latin typeface="Courier New" panose="02070309020205020404" pitchFamily="49" charset="0"/>
              </a:rPr>
              <a:t>(frozenObject.level1)); //This will print&lt;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Object.isFrozen</a:t>
            </a:r>
            <a:r>
              <a:rPr lang="en-US" b="0" i="0" dirty="0">
                <a:solidFill>
                  <a:srgbClr val="212529"/>
                </a:solidFill>
                <a:effectLst/>
                <a:latin typeface="Courier New" panose="02070309020205020404" pitchFamily="49" charset="0"/>
              </a:rPr>
              <a:t>(frozenObject.level1.level2)); // This will print&lt;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Object.isFrozen</a:t>
            </a:r>
            <a:r>
              <a:rPr lang="en-US" b="0" i="0" dirty="0">
                <a:solidFill>
                  <a:srgbClr val="212529"/>
                </a:solidFill>
                <a:effectLst/>
                <a:latin typeface="Courier New" panose="02070309020205020404" pitchFamily="49" charset="0"/>
              </a:rPr>
              <a:t>(frozenObject.level1.level2.level3)); // This will print true</a:t>
            </a:r>
          </a:p>
          <a:p>
            <a:pPr algn="l">
              <a:spcBef>
                <a:spcPts val="1125"/>
              </a:spcBef>
              <a:spcAft>
                <a:spcPts val="375"/>
              </a:spcAft>
              <a:buNone/>
            </a:pPr>
            <a:r>
              <a:rPr lang="en-US" b="0" i="0" dirty="0">
                <a:solidFill>
                  <a:srgbClr val="212529"/>
                </a:solidFill>
                <a:effectLst/>
                <a:latin typeface="Courier New" panose="02070309020205020404" pitchFamily="49" charset="0"/>
              </a:rPr>
              <a:t>&lt;strong&gt;Output-&lt;/strong&gt;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level1: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level2: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level3: { key: "value"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anotherKey</a:t>
            </a: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anotherValue</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true&lt;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413011743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51C90-DE80-B1CD-912A-A7A37C5C753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5F59EF-90AC-750A-EF93-6DC4C449DB86}"/>
              </a:ext>
            </a:extLst>
          </p:cNvPr>
          <p:cNvSpPr txBox="1"/>
          <p:nvPr/>
        </p:nvSpPr>
        <p:spPr>
          <a:xfrm>
            <a:off x="388961" y="-1922465"/>
            <a:ext cx="4954136" cy="10702930"/>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42. What is the significance of Closures in JavaScript?</a:t>
            </a:r>
          </a:p>
          <a:p>
            <a:pPr algn="just">
              <a:lnSpc>
                <a:spcPts val="2100"/>
              </a:lnSpc>
              <a:spcBef>
                <a:spcPts val="1650"/>
              </a:spcBef>
              <a:buNone/>
            </a:pPr>
            <a:r>
              <a:rPr lang="en-US" b="0" i="0" dirty="0">
                <a:solidFill>
                  <a:srgbClr val="3A3A3A"/>
                </a:solidFill>
                <a:effectLst/>
                <a:latin typeface="Roboto" panose="02000000000000000000" pitchFamily="2" charset="0"/>
              </a:rPr>
              <a:t>Closure allows the inner function to remember the scope in which it was created even after the outer function has finished executing which includes remembering variables from the outer function’s scope</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add(x)&lt;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function(y)&lt;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a:t>
            </a:r>
            <a:r>
              <a:rPr lang="en-US" b="0" i="0" dirty="0" err="1">
                <a:solidFill>
                  <a:srgbClr val="212529"/>
                </a:solidFill>
                <a:effectLst/>
                <a:latin typeface="Courier New" panose="02070309020205020404" pitchFamily="49" charset="0"/>
              </a:rPr>
              <a:t>x+y</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var add5 = add(10);&lt;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var add10 = add(20);</a:t>
            </a:r>
          </a:p>
          <a:p>
            <a:pPr algn="l">
              <a:spcBef>
                <a:spcPts val="1125"/>
              </a:spcBef>
              <a:spcAft>
                <a:spcPts val="375"/>
              </a:spcAft>
              <a:buNone/>
            </a:pPr>
            <a:r>
              <a:rPr lang="en-US" b="0" i="0" dirty="0">
                <a:solidFill>
                  <a:srgbClr val="212529"/>
                </a:solidFill>
                <a:effectLst/>
                <a:latin typeface="Courier New" panose="02070309020205020404" pitchFamily="49" charset="0"/>
              </a:rPr>
              <a:t>console.log(add5(50));&lt;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console.log(add10(30));&lt;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buNone/>
            </a:pPr>
            <a:br>
              <a:rPr lang="en-US" dirty="0"/>
            </a:br>
            <a:r>
              <a:rPr lang="en-US" b="0" i="0" dirty="0">
                <a:solidFill>
                  <a:srgbClr val="3A3A3A"/>
                </a:solidFill>
                <a:effectLst/>
                <a:latin typeface="Roboto" panose="02000000000000000000" pitchFamily="2" charset="0"/>
              </a:rPr>
              <a:t>Output –</a:t>
            </a:r>
            <a:endParaRPr lang="en-US" dirty="0"/>
          </a:p>
          <a:p>
            <a:pPr algn="just">
              <a:lnSpc>
                <a:spcPts val="2100"/>
              </a:lnSpc>
              <a:spcBef>
                <a:spcPts val="750"/>
              </a:spcBef>
              <a:buNone/>
            </a:pPr>
            <a:r>
              <a:rPr lang="en-US" b="0" i="0" dirty="0">
                <a:solidFill>
                  <a:srgbClr val="3A3A3A"/>
                </a:solidFill>
                <a:effectLst/>
                <a:latin typeface="Roboto" panose="02000000000000000000" pitchFamily="2" charset="0"/>
              </a:rPr>
              <a:t>60</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50</a:t>
            </a:r>
          </a:p>
          <a:p>
            <a:pPr algn="just">
              <a:lnSpc>
                <a:spcPts val="2100"/>
              </a:lnSpc>
              <a:spcBef>
                <a:spcPts val="750"/>
              </a:spcBef>
              <a:buNone/>
            </a:pPr>
            <a:r>
              <a:rPr lang="en-US" b="0" i="0" dirty="0">
                <a:solidFill>
                  <a:srgbClr val="3A3A3A"/>
                </a:solidFill>
                <a:effectLst/>
                <a:latin typeface="Roboto" panose="02000000000000000000" pitchFamily="2" charset="0"/>
              </a:rPr>
              <a:t>Note: Here add5 and add10 are both closures as they share the same function body definition but have different lexical environments.</a:t>
            </a:r>
          </a:p>
        </p:txBody>
      </p:sp>
    </p:spTree>
    <p:extLst>
      <p:ext uri="{BB962C8B-B14F-4D97-AF65-F5344CB8AC3E}">
        <p14:creationId xmlns:p14="http://schemas.microsoft.com/office/powerpoint/2010/main" val="152319547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857C93-02CB-83DE-E1F8-98A3723CEC1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66F3CC2D-FB4F-DC04-E01F-83B1C1252026}"/>
              </a:ext>
            </a:extLst>
          </p:cNvPr>
          <p:cNvSpPr txBox="1"/>
          <p:nvPr/>
        </p:nvSpPr>
        <p:spPr>
          <a:xfrm>
            <a:off x="2477069" y="-811057"/>
            <a:ext cx="4954136" cy="84869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43. Higher Order Function vs Callback Function?</a:t>
            </a:r>
          </a:p>
          <a:p>
            <a:pPr algn="just">
              <a:lnSpc>
                <a:spcPts val="2100"/>
              </a:lnSpc>
              <a:spcBef>
                <a:spcPts val="1650"/>
              </a:spcBef>
              <a:buNone/>
            </a:pPr>
            <a:r>
              <a:rPr lang="en-US" b="0" i="0" dirty="0">
                <a:solidFill>
                  <a:srgbClr val="3A3A3A"/>
                </a:solidFill>
                <a:effectLst/>
                <a:latin typeface="Roboto" panose="02000000000000000000" pitchFamily="2" charset="0"/>
              </a:rPr>
              <a:t>A Higher Order Function is one that takes another function as an argument.</a:t>
            </a:r>
          </a:p>
          <a:p>
            <a:pPr algn="just">
              <a:lnSpc>
                <a:spcPts val="2100"/>
              </a:lnSpc>
              <a:spcBef>
                <a:spcPts val="750"/>
              </a:spcBef>
              <a:buNone/>
            </a:pPr>
            <a:r>
              <a:rPr lang="en-US" b="0" i="0" dirty="0">
                <a:solidFill>
                  <a:srgbClr val="3A3A3A"/>
                </a:solidFill>
                <a:effectLst/>
                <a:latin typeface="Roboto" panose="02000000000000000000" pitchFamily="2" charset="0"/>
              </a:rPr>
              <a:t>Whereas a Callback function is one that is passed to another function as an argument.</a:t>
            </a:r>
          </a:p>
          <a:p>
            <a:pPr algn="just">
              <a:lnSpc>
                <a:spcPts val="2100"/>
              </a:lnSpc>
              <a:spcBef>
                <a:spcPts val="750"/>
              </a:spcBef>
              <a:buNone/>
            </a:pPr>
            <a:r>
              <a:rPr lang="en-US" b="0" i="0" dirty="0">
                <a:solidFill>
                  <a:srgbClr val="3A3A3A"/>
                </a:solidFill>
                <a:effectLst/>
                <a:latin typeface="Roboto" panose="02000000000000000000" pitchFamily="2" charset="0"/>
              </a:rPr>
              <a:t>Example –</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calculator = (num1,num2, operator) =&gt; operator(num1, num2);</a:t>
            </a:r>
          </a:p>
          <a:p>
            <a:pPr algn="l">
              <a:spcBef>
                <a:spcPts val="1125"/>
              </a:spcBef>
              <a:spcAft>
                <a:spcPts val="375"/>
              </a:spcAft>
              <a:buNone/>
            </a:pPr>
            <a:r>
              <a:rPr lang="en-US" b="0" i="0" dirty="0">
                <a:solidFill>
                  <a:srgbClr val="212529"/>
                </a:solidFill>
                <a:effectLst/>
                <a:latin typeface="Courier New" panose="02070309020205020404" pitchFamily="49" charset="0"/>
              </a:rPr>
              <a:t>const subs = (</a:t>
            </a:r>
            <a:r>
              <a:rPr lang="en-US" b="0" i="0" dirty="0" err="1">
                <a:solidFill>
                  <a:srgbClr val="212529"/>
                </a:solidFill>
                <a:effectLst/>
                <a:latin typeface="Courier New" panose="02070309020205020404" pitchFamily="49" charset="0"/>
              </a:rPr>
              <a:t>a,b</a:t>
            </a:r>
            <a:r>
              <a:rPr lang="en-US" b="0" i="0" dirty="0">
                <a:solidFill>
                  <a:srgbClr val="212529"/>
                </a:solidFill>
                <a:effectLst/>
                <a:latin typeface="Courier New" panose="02070309020205020404" pitchFamily="49" charset="0"/>
              </a:rPr>
              <a:t>) =&gt; return (a-b);&lt;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const add = (</a:t>
            </a:r>
            <a:r>
              <a:rPr lang="en-US" b="0" i="0" dirty="0" err="1">
                <a:solidFill>
                  <a:srgbClr val="212529"/>
                </a:solidFill>
                <a:effectLst/>
                <a:latin typeface="Courier New" panose="02070309020205020404" pitchFamily="49" charset="0"/>
              </a:rPr>
              <a:t>a,b</a:t>
            </a:r>
            <a:r>
              <a:rPr lang="en-US" b="0" i="0" dirty="0">
                <a:solidFill>
                  <a:srgbClr val="212529"/>
                </a:solidFill>
                <a:effectLst/>
                <a:latin typeface="Courier New" panose="02070309020205020404" pitchFamily="49" charset="0"/>
              </a:rPr>
              <a:t>) =&gt; return (</a:t>
            </a:r>
            <a:r>
              <a:rPr lang="en-US" b="0" i="0" dirty="0" err="1">
                <a:solidFill>
                  <a:srgbClr val="212529"/>
                </a:solidFill>
                <a:effectLst/>
                <a:latin typeface="Courier New" panose="02070309020205020404" pitchFamily="49" charset="0"/>
              </a:rPr>
              <a:t>a+b</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console.log(calculator(20,10, subs));&lt;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console.log(calculator(20,10, add));&lt;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buNone/>
            </a:pPr>
            <a:br>
              <a:rPr lang="en-US" dirty="0"/>
            </a:br>
            <a:r>
              <a:rPr lang="en-US" b="0" i="0" dirty="0">
                <a:solidFill>
                  <a:srgbClr val="3A3A3A"/>
                </a:solidFill>
                <a:effectLst/>
                <a:latin typeface="Roboto" panose="02000000000000000000" pitchFamily="2" charset="0"/>
              </a:rPr>
              <a:t>Here, the calculator is an HOF, as it takes another function as a parameter. Whereas, ‘subs’ and ‘add’ are callback functions that are being passed to another function as a parameter.</a:t>
            </a:r>
            <a:endParaRPr lang="en-US" dirty="0"/>
          </a:p>
        </p:txBody>
      </p:sp>
    </p:spTree>
    <p:extLst>
      <p:ext uri="{BB962C8B-B14F-4D97-AF65-F5344CB8AC3E}">
        <p14:creationId xmlns:p14="http://schemas.microsoft.com/office/powerpoint/2010/main" val="39585885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5CB1A1-0DEC-6A82-7852-7AC16BEECE90}"/>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01004B6-C6DD-8912-1AB3-7CCAEECCF8E3}"/>
              </a:ext>
            </a:extLst>
          </p:cNvPr>
          <p:cNvSpPr txBox="1"/>
          <p:nvPr/>
        </p:nvSpPr>
        <p:spPr>
          <a:xfrm>
            <a:off x="2477069" y="-53157"/>
            <a:ext cx="4954136" cy="697113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44. What do you understand by Currying?</a:t>
            </a:r>
          </a:p>
          <a:p>
            <a:pPr algn="just">
              <a:lnSpc>
                <a:spcPts val="2100"/>
              </a:lnSpc>
              <a:spcBef>
                <a:spcPts val="1650"/>
              </a:spcBef>
              <a:buNone/>
            </a:pPr>
            <a:r>
              <a:rPr lang="en-US" b="0" i="0" dirty="0">
                <a:solidFill>
                  <a:srgbClr val="3A3A3A"/>
                </a:solidFill>
                <a:effectLst/>
                <a:latin typeface="Roboto" panose="02000000000000000000" pitchFamily="2" charset="0"/>
              </a:rPr>
              <a:t>When a function takes one argument and returns a new function to handle new arguments, it will go on until all arguments are provided and the result is computed. This is called Currying.</a:t>
            </a:r>
          </a:p>
          <a:p>
            <a:pPr algn="just">
              <a:lnSpc>
                <a:spcPts val="2100"/>
              </a:lnSpc>
              <a:spcBef>
                <a:spcPts val="750"/>
              </a:spcBef>
              <a:buNone/>
            </a:pPr>
            <a:r>
              <a:rPr lang="en-US" b="0" i="0" dirty="0">
                <a:solidFill>
                  <a:srgbClr val="3A3A3A"/>
                </a:solidFill>
                <a:effectLst/>
                <a:latin typeface="Roboto" panose="02000000000000000000" pitchFamily="2" charset="0"/>
              </a:rPr>
              <a:t>Example –</a:t>
            </a:r>
            <a:br>
              <a:rPr lang="en-US" b="0" i="0" dirty="0">
                <a:solidFill>
                  <a:srgbClr val="3A3A3A"/>
                </a:solidFill>
                <a:effectLst/>
                <a:latin typeface="Roboto" panose="02000000000000000000" pitchFamily="2" charset="0"/>
              </a:rPr>
            </a:br>
            <a:endParaRPr lang="en-US" b="0" i="0" dirty="0">
              <a:solidFill>
                <a:srgbClr val="3A3A3A"/>
              </a:solidFill>
              <a:effectLst/>
              <a:latin typeface="Roboto" panose="02000000000000000000" pitchFamily="2"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currying(1)(11)(111);&lt;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currying(num1)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function(num2){&lt;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return function(num3)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console.log(num1, num2, num3);&lt;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p:txBody>
      </p:sp>
    </p:spTree>
    <p:extLst>
      <p:ext uri="{BB962C8B-B14F-4D97-AF65-F5344CB8AC3E}">
        <p14:creationId xmlns:p14="http://schemas.microsoft.com/office/powerpoint/2010/main" val="313393178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F61950-3DA7-C568-07AB-C3FB6F741BC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A7A3AEA-EF03-5421-1C4B-BF94342A9547}"/>
              </a:ext>
            </a:extLst>
          </p:cNvPr>
          <p:cNvSpPr txBox="1"/>
          <p:nvPr/>
        </p:nvSpPr>
        <p:spPr>
          <a:xfrm>
            <a:off x="2477069" y="-1005982"/>
            <a:ext cx="4954136" cy="8876789"/>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45. How does the JavaScript event loop work, and what role do the call stack, task queue, and microtask queue play in it?</a:t>
            </a:r>
          </a:p>
          <a:p>
            <a:pPr algn="just">
              <a:lnSpc>
                <a:spcPts val="2100"/>
              </a:lnSpc>
              <a:spcBef>
                <a:spcPts val="1650"/>
              </a:spcBef>
              <a:buNone/>
            </a:pPr>
            <a:r>
              <a:rPr lang="en-US" b="0" i="0" dirty="0">
                <a:solidFill>
                  <a:srgbClr val="3A3A3A"/>
                </a:solidFill>
                <a:effectLst/>
                <a:latin typeface="Roboto" panose="02000000000000000000" pitchFamily="2" charset="0"/>
              </a:rPr>
              <a:t>The answer to this question can be explained step by step in the following way –</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JavaScript executes synchronous code using a call stack (LIFO – Last In, First Out). Each function call is pushed onto the stack and popped off once it finishes executing.</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Then we have an event </a:t>
            </a:r>
            <a:r>
              <a:rPr lang="en-US" b="0" i="0" u="none" strike="noStrike" dirty="0">
                <a:solidFill>
                  <a:srgbClr val="0F5A9E"/>
                </a:solidFill>
                <a:effectLst/>
                <a:latin typeface="Roboto" panose="02000000000000000000" pitchFamily="2" charset="0"/>
                <a:hlinkClick r:id="rId2"/>
              </a:rPr>
              <a:t>loop in JavaScript</a:t>
            </a:r>
            <a:r>
              <a:rPr lang="en-US" b="0" i="0" dirty="0">
                <a:solidFill>
                  <a:srgbClr val="3A3A3A"/>
                </a:solidFill>
                <a:effectLst/>
                <a:latin typeface="Roboto" panose="02000000000000000000" pitchFamily="2" charset="0"/>
              </a:rPr>
              <a:t> that continually checks the call stack and task queues to manage the execution of synchronous and asynchronous code. It ensures the call stack is empty before picking tasks from the queues.</a:t>
            </a:r>
          </a:p>
          <a:p>
            <a:pPr algn="just">
              <a:lnSpc>
                <a:spcPts val="2100"/>
              </a:lnSpc>
              <a:spcBef>
                <a:spcPts val="75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JavaScript has Task Queues which are of the following types:</a:t>
            </a:r>
          </a:p>
          <a:p>
            <a:pPr marL="742950" lvl="1" indent="-285750" algn="just">
              <a:lnSpc>
                <a:spcPts val="2100"/>
              </a:lnSpc>
              <a:spcBef>
                <a:spcPts val="600"/>
              </a:spcBef>
              <a:spcAft>
                <a:spcPts val="600"/>
              </a:spcAft>
              <a:buFont typeface="Arial" panose="020B0604020202020204" pitchFamily="34" charset="0"/>
              <a:buChar char="•"/>
            </a:pPr>
            <a:r>
              <a:rPr lang="en-US" b="0" i="0" dirty="0" err="1">
                <a:solidFill>
                  <a:srgbClr val="3A3A3A"/>
                </a:solidFill>
                <a:effectLst/>
                <a:latin typeface="Roboto" panose="02000000000000000000" pitchFamily="2" charset="0"/>
              </a:rPr>
              <a:t>Macrotask</a:t>
            </a:r>
            <a:r>
              <a:rPr lang="en-US" b="0" i="0" dirty="0">
                <a:solidFill>
                  <a:srgbClr val="3A3A3A"/>
                </a:solidFill>
                <a:effectLst/>
                <a:latin typeface="Roboto" panose="02000000000000000000" pitchFamily="2" charset="0"/>
              </a:rPr>
              <a:t> Queue (Task Queue): Holds tasks like </a:t>
            </a:r>
            <a:r>
              <a:rPr lang="en-US" b="0" i="0" dirty="0" err="1">
                <a:solidFill>
                  <a:srgbClr val="3A3A3A"/>
                </a:solidFill>
                <a:effectLst/>
                <a:latin typeface="Roboto" panose="02000000000000000000" pitchFamily="2" charset="0"/>
              </a:rPr>
              <a:t>setTimeout</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setInterval</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setImmediate</a:t>
            </a:r>
            <a:r>
              <a:rPr lang="en-US" b="0" i="0" dirty="0">
                <a:solidFill>
                  <a:srgbClr val="3A3A3A"/>
                </a:solidFill>
                <a:effectLst/>
                <a:latin typeface="Roboto" panose="02000000000000000000" pitchFamily="2" charset="0"/>
              </a:rPr>
              <a:t> (Node.js), and I/O operations.</a:t>
            </a:r>
          </a:p>
          <a:p>
            <a:pPr marL="742950" lvl="1" indent="-285750" algn="just">
              <a:lnSpc>
                <a:spcPts val="2100"/>
              </a:lnSpc>
              <a:spcBef>
                <a:spcPts val="600"/>
              </a:spcBef>
              <a:spcAft>
                <a:spcPts val="600"/>
              </a:spcAft>
              <a:buFont typeface="Arial" panose="020B0604020202020204" pitchFamily="34" charset="0"/>
              <a:buChar char="•"/>
            </a:pPr>
            <a:r>
              <a:rPr lang="en-US" b="0" i="0" dirty="0">
                <a:solidFill>
                  <a:srgbClr val="3A3A3A"/>
                </a:solidFill>
                <a:effectLst/>
                <a:latin typeface="Roboto" panose="02000000000000000000" pitchFamily="2" charset="0"/>
              </a:rPr>
              <a:t>Microtask Queue: Holds tasks like </a:t>
            </a:r>
            <a:r>
              <a:rPr lang="en-US" b="0" i="0" dirty="0" err="1">
                <a:solidFill>
                  <a:srgbClr val="3A3A3A"/>
                </a:solidFill>
                <a:effectLst/>
                <a:latin typeface="Roboto" panose="02000000000000000000" pitchFamily="2" charset="0"/>
              </a:rPr>
              <a:t>Promise.then</a:t>
            </a:r>
            <a:r>
              <a:rPr lang="en-US" b="0" i="0" dirty="0">
                <a:solidFill>
                  <a:srgbClr val="3A3A3A"/>
                </a:solidFill>
                <a:effectLst/>
                <a:latin typeface="Roboto" panose="02000000000000000000" pitchFamily="2" charset="0"/>
              </a:rPr>
              <a:t>, </a:t>
            </a:r>
            <a:r>
              <a:rPr lang="en-US" b="0" i="0" dirty="0" err="1">
                <a:solidFill>
                  <a:srgbClr val="3A3A3A"/>
                </a:solidFill>
                <a:effectLst/>
                <a:latin typeface="Roboto" panose="02000000000000000000" pitchFamily="2" charset="0"/>
              </a:rPr>
              <a:t>MutationObserver</a:t>
            </a:r>
            <a:r>
              <a:rPr lang="en-US" b="0" i="0" dirty="0">
                <a:solidFill>
                  <a:srgbClr val="3A3A3A"/>
                </a:solidFill>
                <a:effectLst/>
                <a:latin typeface="Roboto" panose="02000000000000000000" pitchFamily="2" charset="0"/>
              </a:rPr>
              <a:t>, and </a:t>
            </a:r>
            <a:r>
              <a:rPr lang="en-US" b="0" i="0" dirty="0" err="1">
                <a:solidFill>
                  <a:srgbClr val="3A3A3A"/>
                </a:solidFill>
                <a:effectLst/>
                <a:latin typeface="Roboto" panose="02000000000000000000" pitchFamily="2" charset="0"/>
              </a:rPr>
              <a:t>process.nextTick</a:t>
            </a:r>
            <a:r>
              <a:rPr lang="en-US" b="0" i="0" dirty="0">
                <a:solidFill>
                  <a:srgbClr val="3A3A3A"/>
                </a:solidFill>
                <a:effectLst/>
                <a:latin typeface="Roboto" panose="02000000000000000000" pitchFamily="2" charset="0"/>
              </a:rPr>
              <a:t> (Node.js). Microtasks have higher priority and are executed before macro tasks.</a:t>
            </a:r>
          </a:p>
          <a:p>
            <a:pPr algn="just">
              <a:lnSpc>
                <a:spcPts val="2100"/>
              </a:lnSpc>
              <a:spcBef>
                <a:spcPts val="1650"/>
              </a:spcBef>
              <a:buNone/>
            </a:pPr>
            <a:r>
              <a:rPr lang="en-US" b="0" i="0" dirty="0">
                <a:solidFill>
                  <a:srgbClr val="3A3A3A"/>
                </a:solidFill>
                <a:effectLst/>
                <a:latin typeface="Roboto" panose="02000000000000000000" pitchFamily="2" charset="0"/>
              </a:rPr>
              <a:t>Predict the Output</a:t>
            </a:r>
          </a:p>
        </p:txBody>
      </p:sp>
    </p:spTree>
    <p:extLst>
      <p:ext uri="{BB962C8B-B14F-4D97-AF65-F5344CB8AC3E}">
        <p14:creationId xmlns:p14="http://schemas.microsoft.com/office/powerpoint/2010/main" val="284807900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4B8FA2-6EE9-149C-BAA5-4FFE22C58CCF}"/>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658DC69-3F5B-EE13-5299-5CEE3B36FCB2}"/>
              </a:ext>
            </a:extLst>
          </p:cNvPr>
          <p:cNvSpPr txBox="1"/>
          <p:nvPr/>
        </p:nvSpPr>
        <p:spPr>
          <a:xfrm>
            <a:off x="2477069" y="-282707"/>
            <a:ext cx="4954136" cy="7430239"/>
          </a:xfrm>
          <a:prstGeom prst="rect">
            <a:avLst/>
          </a:prstGeom>
          <a:noFill/>
        </p:spPr>
        <p:txBody>
          <a:bodyPr wrap="square">
            <a:spAutoFit/>
          </a:bodyPr>
          <a:lstStyle/>
          <a:p>
            <a:pPr algn="l">
              <a:lnSpc>
                <a:spcPts val="2550"/>
              </a:lnSpc>
              <a:spcBef>
                <a:spcPts val="3000"/>
              </a:spcBef>
              <a:buNone/>
            </a:pPr>
            <a:r>
              <a:rPr lang="en-US" b="0" i="0" dirty="0" err="1">
                <a:solidFill>
                  <a:srgbClr val="272C37"/>
                </a:solidFill>
                <a:effectLst/>
                <a:latin typeface="Roboto" panose="02000000000000000000" pitchFamily="2" charset="0"/>
              </a:rPr>
              <a:t>Javascript</a:t>
            </a:r>
            <a:r>
              <a:rPr lang="en-US" b="0" i="0" dirty="0">
                <a:solidFill>
                  <a:srgbClr val="272C37"/>
                </a:solidFill>
                <a:effectLst/>
                <a:latin typeface="Roboto" panose="02000000000000000000" pitchFamily="2" charset="0"/>
              </a:rPr>
              <a:t> Coding Interview Questions</a:t>
            </a:r>
          </a:p>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46. Predict the Output of the following code.</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for(let </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 =0; </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&lt;5; </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setTimeout</a:t>
            </a:r>
            <a:r>
              <a:rPr lang="en-US" b="0" i="0" dirty="0">
                <a:solidFill>
                  <a:srgbClr val="212529"/>
                </a:solidFill>
                <a:effectLst/>
                <a:latin typeface="Courier New" panose="02070309020205020404" pitchFamily="49" charset="0"/>
              </a:rPr>
              <a:t>(function () {</a:t>
            </a:r>
          </a:p>
          <a:p>
            <a:pPr algn="l">
              <a:spcBef>
                <a:spcPts val="1125"/>
              </a:spcBef>
              <a:spcAft>
                <a:spcPts val="375"/>
              </a:spcAft>
              <a:buNone/>
            </a:pPr>
            <a:r>
              <a:rPr lang="en-US" b="0" i="0" dirty="0">
                <a:solidFill>
                  <a:srgbClr val="212529"/>
                </a:solidFill>
                <a:effectLst/>
                <a:latin typeface="Courier New" panose="02070309020205020404" pitchFamily="49" charset="0"/>
              </a:rPr>
              <a:t>			console.log(</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 1000)</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The output of this code will be printed in intervals of 10 seconds like this –</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0</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1</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2</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3</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4</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Explanation: let’s block scoped. Every time the value it takes is different, so it prints a different value.</a:t>
            </a:r>
          </a:p>
        </p:txBody>
      </p:sp>
    </p:spTree>
    <p:extLst>
      <p:ext uri="{BB962C8B-B14F-4D97-AF65-F5344CB8AC3E}">
        <p14:creationId xmlns:p14="http://schemas.microsoft.com/office/powerpoint/2010/main" val="236670297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A697DF-8BB5-DE2D-7CE6-B2DAADF3E5C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BC11C320-C65D-6A26-F906-ACAC72736E7E}"/>
              </a:ext>
            </a:extLst>
          </p:cNvPr>
          <p:cNvSpPr txBox="1"/>
          <p:nvPr/>
        </p:nvSpPr>
        <p:spPr>
          <a:xfrm>
            <a:off x="2477069" y="-199351"/>
            <a:ext cx="4954136" cy="7263527"/>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47. Predict the Output of the following code.</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for(var </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 =0; </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&lt;5; </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a:t>
            </a:r>
            <a:r>
              <a:rPr lang="en-US" b="0" i="0" dirty="0" err="1">
                <a:solidFill>
                  <a:srgbClr val="212529"/>
                </a:solidFill>
                <a:effectLst/>
                <a:latin typeface="Courier New" panose="02070309020205020404" pitchFamily="49" charset="0"/>
              </a:rPr>
              <a:t>setTimeout</a:t>
            </a:r>
            <a:r>
              <a:rPr lang="en-US" b="0" i="0" dirty="0">
                <a:solidFill>
                  <a:srgbClr val="212529"/>
                </a:solidFill>
                <a:effectLst/>
                <a:latin typeface="Courier New" panose="02070309020205020404" pitchFamily="49" charset="0"/>
              </a:rPr>
              <a:t>(function () {</a:t>
            </a:r>
          </a:p>
          <a:p>
            <a:pPr algn="l">
              <a:spcBef>
                <a:spcPts val="1125"/>
              </a:spcBef>
              <a:spcAft>
                <a:spcPts val="375"/>
              </a:spcAft>
              <a:buNone/>
            </a:pPr>
            <a:r>
              <a:rPr lang="en-US" b="0" i="0" dirty="0">
                <a:solidFill>
                  <a:srgbClr val="212529"/>
                </a:solidFill>
                <a:effectLst/>
                <a:latin typeface="Courier New" panose="02070309020205020404" pitchFamily="49" charset="0"/>
              </a:rPr>
              <a:t>			console.log(</a:t>
            </a:r>
            <a:r>
              <a:rPr lang="en-US" b="0" i="0" dirty="0" err="1">
                <a:solidFill>
                  <a:srgbClr val="212529"/>
                </a:solidFill>
                <a:effectLst/>
                <a:latin typeface="Courier New" panose="02070309020205020404" pitchFamily="49" charset="0"/>
              </a:rPr>
              <a:t>i</a:t>
            </a: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a:solidFill>
                  <a:srgbClr val="212529"/>
                </a:solidFill>
                <a:effectLst/>
                <a:latin typeface="Courier New" panose="02070309020205020404" pitchFamily="49" charset="0"/>
              </a:rPr>
              <a:t>	}, 1000)</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a:t>
            </a:r>
          </a:p>
          <a:p>
            <a:pPr algn="just">
              <a:lnSpc>
                <a:spcPts val="2100"/>
              </a:lnSpc>
              <a:spcBef>
                <a:spcPts val="1650"/>
              </a:spcBef>
              <a:buNone/>
            </a:pPr>
            <a:r>
              <a:rPr lang="en-US" b="0" i="0" dirty="0">
                <a:solidFill>
                  <a:srgbClr val="3A3A3A"/>
                </a:solidFill>
                <a:effectLst/>
                <a:latin typeface="Roboto" panose="02000000000000000000" pitchFamily="2" charset="0"/>
              </a:rPr>
              <a:t>The output of this code will be printed in intervals of 10 seconds like this –</a:t>
            </a:r>
          </a:p>
          <a:p>
            <a:pPr algn="just">
              <a:lnSpc>
                <a:spcPts val="2100"/>
              </a:lnSpc>
              <a:spcBef>
                <a:spcPts val="750"/>
              </a:spcBef>
              <a:buNone/>
            </a:pPr>
            <a:r>
              <a:rPr lang="en-US" b="0" i="0" dirty="0">
                <a:solidFill>
                  <a:srgbClr val="3A3A3A"/>
                </a:solidFill>
                <a:effectLst/>
                <a:latin typeface="Roboto" panose="02000000000000000000" pitchFamily="2" charset="0"/>
              </a:rPr>
              <a:t>5</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5</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5</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5</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5</a:t>
            </a:r>
          </a:p>
          <a:p>
            <a:pPr algn="just">
              <a:lnSpc>
                <a:spcPts val="2100"/>
              </a:lnSpc>
              <a:spcBef>
                <a:spcPts val="750"/>
              </a:spcBef>
              <a:buNone/>
            </a:pPr>
            <a:r>
              <a:rPr lang="en-US" b="0" i="0" dirty="0">
                <a:solidFill>
                  <a:srgbClr val="3A3A3A"/>
                </a:solidFill>
                <a:effectLst/>
                <a:latin typeface="Roboto" panose="02000000000000000000" pitchFamily="2" charset="0"/>
              </a:rPr>
              <a:t>Explanation: ‘var’ is a function or global scope. Every time the value it takes is different, so by the time the loop ends the value of </a:t>
            </a:r>
            <a:r>
              <a:rPr lang="en-US" b="0" i="0" dirty="0" err="1">
                <a:solidFill>
                  <a:srgbClr val="3A3A3A"/>
                </a:solidFill>
                <a:effectLst/>
                <a:latin typeface="Roboto" panose="02000000000000000000" pitchFamily="2" charset="0"/>
              </a:rPr>
              <a:t>i</a:t>
            </a:r>
            <a:r>
              <a:rPr lang="en-US" b="0" i="0" dirty="0">
                <a:solidFill>
                  <a:srgbClr val="3A3A3A"/>
                </a:solidFill>
                <a:effectLst/>
                <a:latin typeface="Roboto" panose="02000000000000000000" pitchFamily="2" charset="0"/>
              </a:rPr>
              <a:t>=5, so it prints 5.</a:t>
            </a:r>
          </a:p>
        </p:txBody>
      </p:sp>
    </p:spTree>
    <p:extLst>
      <p:ext uri="{BB962C8B-B14F-4D97-AF65-F5344CB8AC3E}">
        <p14:creationId xmlns:p14="http://schemas.microsoft.com/office/powerpoint/2010/main" val="244055994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224DFC-0410-FAEF-2FD3-2EFE4E34CF5B}"/>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0E82C800-084A-4C1B-3F55-33A1C6750CC1}"/>
              </a:ext>
            </a:extLst>
          </p:cNvPr>
          <p:cNvSpPr txBox="1"/>
          <p:nvPr/>
        </p:nvSpPr>
        <p:spPr>
          <a:xfrm>
            <a:off x="2477069" y="-895696"/>
            <a:ext cx="4954136" cy="865621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48. In what order will the output be printed?</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function </a:t>
            </a: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setTimeout</a:t>
            </a:r>
            <a:r>
              <a:rPr lang="en-US" b="0" i="0" dirty="0">
                <a:solidFill>
                  <a:srgbClr val="212529"/>
                </a:solidFill>
                <a:effectLst/>
                <a:latin typeface="Courier New" panose="02070309020205020404" pitchFamily="49" charset="0"/>
              </a:rPr>
              <a:t>(function () {&lt;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console.log(“</a:t>
            </a:r>
            <a:r>
              <a:rPr lang="en-US" b="0" i="0" dirty="0" err="1">
                <a:solidFill>
                  <a:srgbClr val="212529"/>
                </a:solidFill>
                <a:effectLst/>
                <a:latin typeface="Courier New" panose="02070309020205020404" pitchFamily="49" charset="0"/>
              </a:rPr>
              <a:t>SetTimeOut</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 0)&lt;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Promise.resolve</a:t>
            </a:r>
            <a:r>
              <a:rPr lang="en-US" b="0" i="0" dirty="0">
                <a:solidFill>
                  <a:srgbClr val="212529"/>
                </a:solidFill>
                <a:effectLst/>
                <a:latin typeface="Courier New" panose="02070309020205020404" pitchFamily="49" charset="0"/>
              </a:rPr>
              <a:t>(“Promise Resolved”).then(res =&gt; console.log(“Promise Resolved”);</a:t>
            </a:r>
          </a:p>
          <a:p>
            <a:pPr algn="l">
              <a:spcBef>
                <a:spcPts val="1125"/>
              </a:spcBef>
              <a:spcAft>
                <a:spcPts val="375"/>
              </a:spcAft>
              <a:buNone/>
            </a:pPr>
            <a:r>
              <a:rPr lang="en-US" b="0" i="0" dirty="0">
                <a:solidFill>
                  <a:srgbClr val="212529"/>
                </a:solidFill>
                <a:effectLst/>
                <a:latin typeface="Courier New" panose="02070309020205020404" pitchFamily="49" charset="0"/>
              </a:rPr>
              <a:t>console.log(“Hi”);&lt;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lgn="l">
              <a:spcBef>
                <a:spcPts val="1125"/>
              </a:spcBef>
              <a:spcAft>
                <a:spcPts val="375"/>
              </a:spcAft>
              <a:buNone/>
            </a:pPr>
            <a:r>
              <a:rPr lang="en-US" b="0" i="0" dirty="0" err="1">
                <a:solidFill>
                  <a:srgbClr val="212529"/>
                </a:solidFill>
                <a:effectLst/>
                <a:latin typeface="Courier New" panose="02070309020205020404" pitchFamily="49" charset="0"/>
              </a:rPr>
              <a:t>abc</a:t>
            </a:r>
            <a:r>
              <a:rPr lang="en-US" b="0" i="0" dirty="0">
                <a:solidFill>
                  <a:srgbClr val="212529"/>
                </a:solidFill>
                <a:effectLst/>
                <a:latin typeface="Courier New" panose="02070309020205020404" pitchFamily="49" charset="0"/>
              </a:rPr>
              <a:t>();&lt;</a:t>
            </a:r>
            <a:r>
              <a:rPr lang="en-US" b="0" i="0" dirty="0" err="1">
                <a:solidFill>
                  <a:srgbClr val="212529"/>
                </a:solidFill>
                <a:effectLst/>
                <a:latin typeface="Courier New" panose="02070309020205020404" pitchFamily="49" charset="0"/>
              </a:rPr>
              <a:t>br</a:t>
            </a:r>
            <a:r>
              <a:rPr lang="en-US" b="0" i="0" dirty="0">
                <a:solidFill>
                  <a:srgbClr val="212529"/>
                </a:solidFill>
                <a:effectLst/>
                <a:latin typeface="Courier New" panose="02070309020205020404" pitchFamily="49" charset="0"/>
              </a:rPr>
              <a:t>&gt;</a:t>
            </a:r>
          </a:p>
          <a:p>
            <a:pPr>
              <a:buNone/>
            </a:pPr>
            <a:br>
              <a:rPr lang="en-US" dirty="0"/>
            </a:br>
            <a:r>
              <a:rPr lang="en-US" b="0" i="0" dirty="0">
                <a:solidFill>
                  <a:srgbClr val="3A3A3A"/>
                </a:solidFill>
                <a:effectLst/>
                <a:latin typeface="Roboto" panose="02000000000000000000" pitchFamily="2" charset="0"/>
              </a:rPr>
              <a:t>The sequence of output will be –</a:t>
            </a:r>
            <a:endParaRPr lang="en-US" dirty="0"/>
          </a:p>
          <a:p>
            <a:pPr algn="just">
              <a:lnSpc>
                <a:spcPts val="2100"/>
              </a:lnSpc>
              <a:spcBef>
                <a:spcPts val="750"/>
              </a:spcBef>
              <a:buNone/>
            </a:pPr>
            <a:r>
              <a:rPr lang="en-US" b="0" i="0" dirty="0">
                <a:solidFill>
                  <a:srgbClr val="3A3A3A"/>
                </a:solidFill>
                <a:effectLst/>
                <a:latin typeface="Roboto" panose="02000000000000000000" pitchFamily="2" charset="0"/>
              </a:rPr>
              <a:t>Hi</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Promise Resolved</a:t>
            </a:r>
            <a:br>
              <a:rPr lang="en-US" b="0" i="0" dirty="0">
                <a:solidFill>
                  <a:srgbClr val="3A3A3A"/>
                </a:solidFill>
                <a:effectLst/>
                <a:latin typeface="Roboto" panose="02000000000000000000" pitchFamily="2" charset="0"/>
              </a:rPr>
            </a:br>
            <a:r>
              <a:rPr lang="en-US" b="0" i="0" dirty="0" err="1">
                <a:solidFill>
                  <a:srgbClr val="3A3A3A"/>
                </a:solidFill>
                <a:effectLst/>
                <a:latin typeface="Roboto" panose="02000000000000000000" pitchFamily="2" charset="0"/>
              </a:rPr>
              <a:t>SetTimeOut</a:t>
            </a:r>
            <a:endParaRPr lang="en-US" b="0" i="0" dirty="0">
              <a:solidFill>
                <a:srgbClr val="3A3A3A"/>
              </a:solidFill>
              <a:effectLst/>
              <a:latin typeface="Roboto" panose="02000000000000000000" pitchFamily="2" charset="0"/>
            </a:endParaRPr>
          </a:p>
          <a:p>
            <a:pPr algn="just">
              <a:lnSpc>
                <a:spcPts val="2100"/>
              </a:lnSpc>
              <a:spcBef>
                <a:spcPts val="750"/>
              </a:spcBef>
              <a:buNone/>
            </a:pPr>
            <a:r>
              <a:rPr lang="en-US" b="0" i="0" dirty="0">
                <a:solidFill>
                  <a:srgbClr val="3A3A3A"/>
                </a:solidFill>
                <a:effectLst/>
                <a:latin typeface="Roboto" panose="02000000000000000000" pitchFamily="2" charset="0"/>
              </a:rPr>
              <a:t>Explanation: First JavaScript executes console.log(“Hi”), because it is a synchronous code, so it gets the first priority.</a:t>
            </a:r>
          </a:p>
          <a:p>
            <a:pPr algn="just">
              <a:lnSpc>
                <a:spcPts val="2100"/>
              </a:lnSpc>
              <a:spcBef>
                <a:spcPts val="750"/>
              </a:spcBef>
              <a:buNone/>
            </a:pPr>
            <a:r>
              <a:rPr lang="en-US" b="0" i="0" dirty="0">
                <a:solidFill>
                  <a:srgbClr val="3A3A3A"/>
                </a:solidFill>
                <a:effectLst/>
                <a:latin typeface="Roboto" panose="02000000000000000000" pitchFamily="2" charset="0"/>
              </a:rPr>
              <a:t>Next out of promise and timer JavaScript always prioritizes microtasks like network calls over regular tasks like timeouts)</a:t>
            </a:r>
          </a:p>
        </p:txBody>
      </p:sp>
    </p:spTree>
    <p:extLst>
      <p:ext uri="{BB962C8B-B14F-4D97-AF65-F5344CB8AC3E}">
        <p14:creationId xmlns:p14="http://schemas.microsoft.com/office/powerpoint/2010/main" val="4701438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23DD83-FC48-35DC-EE12-F4F024213B44}"/>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0D371E2-569A-4364-FE86-5BB6D2CDCE21}"/>
              </a:ext>
            </a:extLst>
          </p:cNvPr>
          <p:cNvSpPr txBox="1"/>
          <p:nvPr/>
        </p:nvSpPr>
        <p:spPr>
          <a:xfrm>
            <a:off x="2477069" y="-2196052"/>
            <a:ext cx="4954136" cy="11256928"/>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49. Predict the Output of the following code.</a:t>
            </a:r>
          </a:p>
          <a:p>
            <a:pPr algn="l">
              <a:spcBef>
                <a:spcPts val="1125"/>
              </a:spcBef>
              <a:spcAft>
                <a:spcPts val="375"/>
              </a:spcAft>
              <a:buNone/>
            </a:pPr>
            <a:r>
              <a:rPr lang="en-US" b="0" i="0" dirty="0">
                <a:solidFill>
                  <a:srgbClr val="212529"/>
                </a:solidFill>
                <a:effectLst/>
                <a:latin typeface="Courier New" panose="02070309020205020404" pitchFamily="49" charset="0"/>
              </a:rPr>
              <a:t>let company = { name: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 employees: 200 }; </a:t>
            </a:r>
          </a:p>
          <a:p>
            <a:pPr algn="l">
              <a:spcBef>
                <a:spcPts val="1125"/>
              </a:spcBef>
              <a:spcAft>
                <a:spcPts val="375"/>
              </a:spcAft>
              <a:buNone/>
            </a:pPr>
            <a:r>
              <a:rPr lang="en-US" b="0" i="0" dirty="0">
                <a:solidFill>
                  <a:srgbClr val="212529"/>
                </a:solidFill>
                <a:effectLst/>
                <a:latin typeface="Courier New" panose="02070309020205020404" pitchFamily="49" charset="0"/>
              </a:rPr>
              <a:t>let company2 = company; </a:t>
            </a:r>
          </a:p>
          <a:p>
            <a:pPr algn="l">
              <a:spcBef>
                <a:spcPts val="1125"/>
              </a:spcBef>
              <a:spcAft>
                <a:spcPts val="375"/>
              </a:spcAft>
              <a:buNone/>
            </a:pPr>
            <a:r>
              <a:rPr lang="en-US" b="0" i="0" dirty="0">
                <a:solidFill>
                  <a:srgbClr val="212529"/>
                </a:solidFill>
                <a:effectLst/>
                <a:latin typeface="Courier New" panose="02070309020205020404" pitchFamily="49" charset="0"/>
              </a:rPr>
              <a:t>company2.name = 'Google'; </a:t>
            </a:r>
          </a:p>
          <a:p>
            <a:pPr algn="l">
              <a:spcBef>
                <a:spcPts val="1125"/>
              </a:spcBef>
              <a:spcAft>
                <a:spcPts val="375"/>
              </a:spcAft>
              <a:buNone/>
            </a:pPr>
            <a:r>
              <a:rPr lang="en-US" b="0" i="0" dirty="0">
                <a:solidFill>
                  <a:srgbClr val="212529"/>
                </a:solidFill>
                <a:effectLst/>
                <a:latin typeface="Courier New" panose="02070309020205020404" pitchFamily="49" charset="0"/>
              </a:rPr>
              <a:t>console.log(company);</a:t>
            </a:r>
          </a:p>
          <a:p>
            <a:pPr algn="l">
              <a:spcBef>
                <a:spcPts val="1125"/>
              </a:spcBef>
              <a:spcAft>
                <a:spcPts val="375"/>
              </a:spcAft>
              <a:buNone/>
            </a:pPr>
            <a:r>
              <a:rPr lang="en-US" b="0" i="0" dirty="0">
                <a:solidFill>
                  <a:srgbClr val="212529"/>
                </a:solidFill>
                <a:effectLst/>
                <a:latin typeface="Courier New" panose="02070309020205020404" pitchFamily="49" charset="0"/>
              </a:rPr>
              <a:t>console.log(company2);</a:t>
            </a:r>
          </a:p>
          <a:p>
            <a:pPr algn="just">
              <a:lnSpc>
                <a:spcPts val="2100"/>
              </a:lnSpc>
              <a:spcBef>
                <a:spcPts val="1650"/>
              </a:spcBef>
              <a:buNone/>
            </a:pPr>
            <a:r>
              <a:rPr lang="en-US" b="0" i="0" dirty="0">
                <a:solidFill>
                  <a:srgbClr val="3A3A3A"/>
                </a:solidFill>
                <a:effectLst/>
                <a:latin typeface="Roboto" panose="02000000000000000000" pitchFamily="2" charset="0"/>
              </a:rPr>
              <a:t>The output of the above code will be –</a:t>
            </a:r>
          </a:p>
          <a:p>
            <a:pPr algn="just">
              <a:lnSpc>
                <a:spcPts val="2100"/>
              </a:lnSpc>
              <a:spcBef>
                <a:spcPts val="750"/>
              </a:spcBef>
              <a:buNone/>
            </a:pPr>
            <a:r>
              <a:rPr lang="en-US" b="0" i="0" dirty="0">
                <a:solidFill>
                  <a:srgbClr val="3A3A3A"/>
                </a:solidFill>
                <a:effectLst/>
                <a:latin typeface="Roboto" panose="02000000000000000000" pitchFamily="2" charset="0"/>
              </a:rPr>
              <a:t>{ name: ‘Google’, employees: 200 }</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 name: ‘Google’, employees: 200 }</a:t>
            </a:r>
          </a:p>
          <a:p>
            <a:pPr algn="just">
              <a:lnSpc>
                <a:spcPts val="2100"/>
              </a:lnSpc>
              <a:spcBef>
                <a:spcPts val="750"/>
              </a:spcBef>
              <a:buNone/>
            </a:pPr>
            <a:r>
              <a:rPr lang="en-US" b="0" i="0" dirty="0">
                <a:solidFill>
                  <a:srgbClr val="3A3A3A"/>
                </a:solidFill>
                <a:effectLst/>
                <a:latin typeface="Roboto" panose="02000000000000000000" pitchFamily="2" charset="0"/>
              </a:rPr>
              <a:t>Explanation: The reason both objects are printing the same value is because both company and company2 refer to the same memory space. This is because in JavaScript objects are reference types. To solve this you can use spread operators (. . .), which will create a shallow copy of the object.</a:t>
            </a:r>
          </a:p>
          <a:p>
            <a:pPr algn="just">
              <a:lnSpc>
                <a:spcPts val="2100"/>
              </a:lnSpc>
              <a:spcBef>
                <a:spcPts val="750"/>
              </a:spcBef>
              <a:buNone/>
            </a:pPr>
            <a:r>
              <a:rPr lang="en-US" b="0" i="0" dirty="0">
                <a:solidFill>
                  <a:srgbClr val="3A3A3A"/>
                </a:solidFill>
                <a:effectLst/>
                <a:latin typeface="Roboto" panose="02000000000000000000" pitchFamily="2" charset="0"/>
              </a:rPr>
              <a:t>Example –</a:t>
            </a:r>
          </a:p>
          <a:p>
            <a:pPr algn="l">
              <a:spcBef>
                <a:spcPts val="1125"/>
              </a:spcBef>
              <a:spcAft>
                <a:spcPts val="375"/>
              </a:spcAft>
              <a:buNone/>
            </a:pPr>
            <a:r>
              <a:rPr lang="en-US" b="0" i="0" dirty="0">
                <a:solidFill>
                  <a:srgbClr val="212529"/>
                </a:solidFill>
                <a:effectLst/>
                <a:latin typeface="Courier New" panose="02070309020205020404" pitchFamily="49" charset="0"/>
              </a:rPr>
              <a:t>let company = { name: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 employees: 200 };</a:t>
            </a:r>
          </a:p>
          <a:p>
            <a:pPr algn="l">
              <a:spcBef>
                <a:spcPts val="1125"/>
              </a:spcBef>
              <a:spcAft>
                <a:spcPts val="375"/>
              </a:spcAft>
              <a:buNone/>
            </a:pPr>
            <a:r>
              <a:rPr lang="en-US" b="0" i="0" dirty="0">
                <a:solidFill>
                  <a:srgbClr val="212529"/>
                </a:solidFill>
                <a:effectLst/>
                <a:latin typeface="Courier New" panose="02070309020205020404" pitchFamily="49" charset="0"/>
              </a:rPr>
              <a:t>let company2 = { ...company }; // Creates a shallow copy</a:t>
            </a:r>
          </a:p>
          <a:p>
            <a:pPr algn="l">
              <a:spcBef>
                <a:spcPts val="1125"/>
              </a:spcBef>
              <a:spcAft>
                <a:spcPts val="375"/>
              </a:spcAft>
              <a:buNone/>
            </a:pPr>
            <a:r>
              <a:rPr lang="en-US" b="0" i="0" dirty="0">
                <a:solidFill>
                  <a:srgbClr val="212529"/>
                </a:solidFill>
                <a:effectLst/>
                <a:latin typeface="Courier New" panose="02070309020205020404" pitchFamily="49" charset="0"/>
              </a:rPr>
              <a:t>company2.name = 'Google';</a:t>
            </a:r>
          </a:p>
          <a:p>
            <a:pPr algn="l">
              <a:spcBef>
                <a:spcPts val="1125"/>
              </a:spcBef>
              <a:spcAft>
                <a:spcPts val="375"/>
              </a:spcAft>
              <a:buNone/>
            </a:pPr>
            <a:r>
              <a:rPr lang="en-US" b="0" i="0" dirty="0">
                <a:solidFill>
                  <a:srgbClr val="212529"/>
                </a:solidFill>
                <a:effectLst/>
                <a:latin typeface="Courier New" panose="02070309020205020404" pitchFamily="49" charset="0"/>
              </a:rPr>
              <a:t>console.log(company); </a:t>
            </a:r>
          </a:p>
          <a:p>
            <a:pPr algn="l">
              <a:spcBef>
                <a:spcPts val="1125"/>
              </a:spcBef>
              <a:spcAft>
                <a:spcPts val="375"/>
              </a:spcAft>
              <a:buNone/>
            </a:pPr>
            <a:r>
              <a:rPr lang="en-US" b="0" i="0" dirty="0">
                <a:solidFill>
                  <a:srgbClr val="212529"/>
                </a:solidFill>
                <a:effectLst/>
                <a:latin typeface="Courier New" panose="02070309020205020404" pitchFamily="49" charset="0"/>
              </a:rPr>
              <a:t>console.log(company2); </a:t>
            </a:r>
          </a:p>
          <a:p>
            <a:pPr algn="just">
              <a:lnSpc>
                <a:spcPts val="2100"/>
              </a:lnSpc>
              <a:spcBef>
                <a:spcPts val="1650"/>
              </a:spcBef>
              <a:buNone/>
            </a:pPr>
            <a:r>
              <a:rPr lang="en-US" b="0" i="0" dirty="0">
                <a:solidFill>
                  <a:srgbClr val="3A3A3A"/>
                </a:solidFill>
                <a:effectLst/>
                <a:latin typeface="Roboto" panose="02000000000000000000" pitchFamily="2" charset="0"/>
              </a:rPr>
              <a:t>Output –</a:t>
            </a:r>
          </a:p>
          <a:p>
            <a:pPr algn="l">
              <a:spcBef>
                <a:spcPts val="1125"/>
              </a:spcBef>
              <a:spcAft>
                <a:spcPts val="375"/>
              </a:spcAft>
              <a:buNone/>
            </a:pPr>
            <a:r>
              <a:rPr lang="en-US" b="0" i="0" dirty="0">
                <a:solidFill>
                  <a:srgbClr val="212529"/>
                </a:solidFill>
                <a:effectLst/>
                <a:latin typeface="Courier New" panose="02070309020205020404" pitchFamily="49" charset="0"/>
              </a:rPr>
              <a:t>{ name: '</a:t>
            </a:r>
            <a:r>
              <a:rPr lang="en-US" b="0" i="0" dirty="0" err="1">
                <a:solidFill>
                  <a:srgbClr val="212529"/>
                </a:solidFill>
                <a:effectLst/>
                <a:latin typeface="Courier New" panose="02070309020205020404" pitchFamily="49" charset="0"/>
              </a:rPr>
              <a:t>Intellipaat</a:t>
            </a:r>
            <a:r>
              <a:rPr lang="en-US" b="0" i="0" dirty="0">
                <a:solidFill>
                  <a:srgbClr val="212529"/>
                </a:solidFill>
                <a:effectLst/>
                <a:latin typeface="Courier New" panose="02070309020205020404" pitchFamily="49" charset="0"/>
              </a:rPr>
              <a:t>', employees: 200 }</a:t>
            </a:r>
          </a:p>
          <a:p>
            <a:pPr algn="l">
              <a:spcBef>
                <a:spcPts val="1125"/>
              </a:spcBef>
              <a:spcAft>
                <a:spcPts val="375"/>
              </a:spcAft>
              <a:buNone/>
            </a:pPr>
            <a:r>
              <a:rPr lang="en-US" b="0" i="0" dirty="0">
                <a:solidFill>
                  <a:srgbClr val="212529"/>
                </a:solidFill>
                <a:effectLst/>
                <a:latin typeface="Courier New" panose="02070309020205020404" pitchFamily="49" charset="0"/>
              </a:rPr>
              <a:t>{ name: 'Google', employees: 200 }</a:t>
            </a:r>
          </a:p>
        </p:txBody>
      </p:sp>
    </p:spTree>
    <p:extLst>
      <p:ext uri="{BB962C8B-B14F-4D97-AF65-F5344CB8AC3E}">
        <p14:creationId xmlns:p14="http://schemas.microsoft.com/office/powerpoint/2010/main" val="41036620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5D96C-C62F-EB3B-7E8E-E40D8A48B13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92AC1E00-FE7C-E1B7-023D-00198CAD9807}"/>
              </a:ext>
            </a:extLst>
          </p:cNvPr>
          <p:cNvSpPr txBox="1"/>
          <p:nvPr/>
        </p:nvSpPr>
        <p:spPr>
          <a:xfrm>
            <a:off x="2477069" y="-2998836"/>
            <a:ext cx="4954136" cy="12862496"/>
          </a:xfrm>
          <a:prstGeom prst="rect">
            <a:avLst/>
          </a:prstGeom>
          <a:noFill/>
        </p:spPr>
        <p:txBody>
          <a:bodyPr wrap="square">
            <a:spAutoFit/>
          </a:bodyPr>
          <a:lstStyle/>
          <a:p>
            <a:pPr algn="l">
              <a:lnSpc>
                <a:spcPts val="2100"/>
              </a:lnSpc>
              <a:spcBef>
                <a:spcPts val="2400"/>
              </a:spcBef>
              <a:spcAft>
                <a:spcPts val="1800"/>
              </a:spcAft>
              <a:buNone/>
            </a:pPr>
            <a:r>
              <a:rPr lang="en-US" b="0" i="0" dirty="0">
                <a:solidFill>
                  <a:srgbClr val="272C37"/>
                </a:solidFill>
                <a:effectLst/>
                <a:latin typeface="Roboto" panose="02000000000000000000" pitchFamily="2" charset="0"/>
              </a:rPr>
              <a:t>50. Predict the Output of the following code.</a:t>
            </a:r>
          </a:p>
          <a:p>
            <a:pPr algn="l">
              <a:spcBef>
                <a:spcPts val="1125"/>
              </a:spcBef>
              <a:spcAft>
                <a:spcPts val="375"/>
              </a:spcAft>
              <a:buNone/>
            </a:pPr>
            <a:r>
              <a:rPr lang="en-US" b="0" i="0" dirty="0">
                <a:solidFill>
                  <a:srgbClr val="212529"/>
                </a:solidFill>
                <a:effectLst/>
                <a:latin typeface="Courier New" panose="02070309020205020404" pitchFamily="49" charset="0"/>
              </a:rPr>
              <a:t>function outer() {</a:t>
            </a:r>
          </a:p>
          <a:p>
            <a:pPr algn="l">
              <a:spcBef>
                <a:spcPts val="1125"/>
              </a:spcBef>
              <a:spcAft>
                <a:spcPts val="375"/>
              </a:spcAft>
              <a:buNone/>
            </a:pPr>
            <a:r>
              <a:rPr lang="en-US" b="0" i="0" dirty="0">
                <a:solidFill>
                  <a:srgbClr val="212529"/>
                </a:solidFill>
                <a:effectLst/>
                <a:latin typeface="Courier New" panose="02070309020205020404" pitchFamily="49" charset="0"/>
              </a:rPr>
              <a:t>  let count = 0;</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function inner() {</a:t>
            </a:r>
          </a:p>
          <a:p>
            <a:pPr algn="l">
              <a:spcBef>
                <a:spcPts val="1125"/>
              </a:spcBef>
              <a:spcAft>
                <a:spcPts val="375"/>
              </a:spcAft>
              <a:buNone/>
            </a:pPr>
            <a:r>
              <a:rPr lang="en-US" b="0" i="0" dirty="0">
                <a:solidFill>
                  <a:srgbClr val="212529"/>
                </a:solidFill>
                <a:effectLst/>
                <a:latin typeface="Courier New" panose="02070309020205020404" pitchFamily="49" charset="0"/>
              </a:rPr>
              <a:t>    count++;</a:t>
            </a:r>
          </a:p>
          <a:p>
            <a:pPr algn="l">
              <a:spcBef>
                <a:spcPts val="1125"/>
              </a:spcBef>
              <a:spcAft>
                <a:spcPts val="375"/>
              </a:spcAft>
              <a:buNone/>
            </a:pPr>
            <a:r>
              <a:rPr lang="en-US" b="0" i="0" dirty="0">
                <a:solidFill>
                  <a:srgbClr val="212529"/>
                </a:solidFill>
                <a:effectLst/>
                <a:latin typeface="Courier New" panose="02070309020205020404" pitchFamily="49" charset="0"/>
              </a:rPr>
              <a:t>    console.log(count);</a:t>
            </a:r>
          </a:p>
          <a:p>
            <a:pPr algn="l">
              <a:spcBef>
                <a:spcPts val="1125"/>
              </a:spcBef>
              <a:spcAft>
                <a:spcPts val="375"/>
              </a:spcAft>
              <a:buNone/>
            </a:pPr>
            <a:r>
              <a:rPr lang="en-US" b="0" i="0" dirty="0">
                <a:solidFill>
                  <a:srgbClr val="212529"/>
                </a:solidFill>
                <a:effectLst/>
                <a:latin typeface="Courier New" panose="02070309020205020404" pitchFamily="49" charset="0"/>
              </a:rPr>
              <a:t>  }</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  return inner;</a:t>
            </a:r>
          </a:p>
          <a:p>
            <a:pPr algn="l">
              <a:spcBef>
                <a:spcPts val="1125"/>
              </a:spcBef>
              <a:spcAft>
                <a:spcPts val="375"/>
              </a:spcAft>
              <a:buNone/>
            </a:pPr>
            <a:r>
              <a:rPr lang="en-US" b="0" i="0" dirty="0">
                <a:solidFill>
                  <a:srgbClr val="212529"/>
                </a:solidFill>
                <a:effectLst/>
                <a:latin typeface="Courier New" panose="02070309020205020404" pitchFamily="49" charset="0"/>
              </a:rPr>
              <a:t>}</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const fn1 = outer();</a:t>
            </a:r>
          </a:p>
          <a:p>
            <a:pPr algn="l">
              <a:spcBef>
                <a:spcPts val="1125"/>
              </a:spcBef>
              <a:spcAft>
                <a:spcPts val="375"/>
              </a:spcAft>
              <a:buNone/>
            </a:pPr>
            <a:r>
              <a:rPr lang="en-US" b="0" i="0" dirty="0">
                <a:solidFill>
                  <a:srgbClr val="212529"/>
                </a:solidFill>
                <a:effectLst/>
                <a:latin typeface="Courier New" panose="02070309020205020404" pitchFamily="49" charset="0"/>
              </a:rPr>
              <a:t>const fn2 = outer();</a:t>
            </a:r>
          </a:p>
          <a:p>
            <a:pPr algn="l">
              <a:spcBef>
                <a:spcPts val="1125"/>
              </a:spcBef>
              <a:spcAft>
                <a:spcPts val="375"/>
              </a:spcAft>
              <a:buNone/>
            </a:pPr>
            <a:endParaRPr lang="en-US" b="0" i="0" dirty="0">
              <a:solidFill>
                <a:srgbClr val="212529"/>
              </a:solidFill>
              <a:effectLst/>
              <a:latin typeface="Courier New" panose="02070309020205020404" pitchFamily="49" charset="0"/>
            </a:endParaRPr>
          </a:p>
          <a:p>
            <a:pPr algn="l">
              <a:spcBef>
                <a:spcPts val="1125"/>
              </a:spcBef>
              <a:spcAft>
                <a:spcPts val="375"/>
              </a:spcAft>
              <a:buNone/>
            </a:pPr>
            <a:r>
              <a:rPr lang="en-US" b="0" i="0" dirty="0">
                <a:solidFill>
                  <a:srgbClr val="212529"/>
                </a:solidFill>
                <a:effectLst/>
                <a:latin typeface="Courier New" panose="02070309020205020404" pitchFamily="49" charset="0"/>
              </a:rPr>
              <a:t>fn1(); </a:t>
            </a:r>
          </a:p>
          <a:p>
            <a:pPr algn="l">
              <a:spcBef>
                <a:spcPts val="1125"/>
              </a:spcBef>
              <a:spcAft>
                <a:spcPts val="375"/>
              </a:spcAft>
              <a:buNone/>
            </a:pPr>
            <a:r>
              <a:rPr lang="en-US" b="0" i="0" dirty="0">
                <a:solidFill>
                  <a:srgbClr val="212529"/>
                </a:solidFill>
                <a:effectLst/>
                <a:latin typeface="Courier New" panose="02070309020205020404" pitchFamily="49" charset="0"/>
              </a:rPr>
              <a:t>fn1();</a:t>
            </a:r>
          </a:p>
          <a:p>
            <a:pPr algn="l">
              <a:spcBef>
                <a:spcPts val="1125"/>
              </a:spcBef>
              <a:spcAft>
                <a:spcPts val="375"/>
              </a:spcAft>
              <a:buNone/>
            </a:pPr>
            <a:r>
              <a:rPr lang="en-US" b="0" i="0" dirty="0">
                <a:solidFill>
                  <a:srgbClr val="212529"/>
                </a:solidFill>
                <a:effectLst/>
                <a:latin typeface="Courier New" panose="02070309020205020404" pitchFamily="49" charset="0"/>
              </a:rPr>
              <a:t>fn2(); </a:t>
            </a:r>
          </a:p>
          <a:p>
            <a:pPr algn="l">
              <a:spcBef>
                <a:spcPts val="1125"/>
              </a:spcBef>
              <a:spcAft>
                <a:spcPts val="375"/>
              </a:spcAft>
              <a:buNone/>
            </a:pPr>
            <a:r>
              <a:rPr lang="en-US" b="0" i="0" dirty="0">
                <a:solidFill>
                  <a:srgbClr val="212529"/>
                </a:solidFill>
                <a:effectLst/>
                <a:latin typeface="Courier New" panose="02070309020205020404" pitchFamily="49" charset="0"/>
              </a:rPr>
              <a:t>fn1(); </a:t>
            </a:r>
          </a:p>
          <a:p>
            <a:pPr algn="just">
              <a:lnSpc>
                <a:spcPts val="2100"/>
              </a:lnSpc>
              <a:spcBef>
                <a:spcPts val="1650"/>
              </a:spcBef>
              <a:buNone/>
            </a:pPr>
            <a:r>
              <a:rPr lang="en-US" b="0" i="0" dirty="0">
                <a:solidFill>
                  <a:srgbClr val="3A3A3A"/>
                </a:solidFill>
                <a:effectLst/>
                <a:latin typeface="Roboto" panose="02000000000000000000" pitchFamily="2" charset="0"/>
              </a:rPr>
              <a:t>Output-</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1</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2</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1</a:t>
            </a:r>
            <a:br>
              <a:rPr lang="en-US" b="0" i="0" dirty="0">
                <a:solidFill>
                  <a:srgbClr val="3A3A3A"/>
                </a:solidFill>
                <a:effectLst/>
                <a:latin typeface="Roboto" panose="02000000000000000000" pitchFamily="2" charset="0"/>
              </a:rPr>
            </a:br>
            <a:r>
              <a:rPr lang="en-US" b="0" i="0" dirty="0">
                <a:solidFill>
                  <a:srgbClr val="3A3A3A"/>
                </a:solidFill>
                <a:effectLst/>
                <a:latin typeface="Roboto" panose="02000000000000000000" pitchFamily="2" charset="0"/>
              </a:rPr>
              <a:t>3</a:t>
            </a:r>
          </a:p>
          <a:p>
            <a:pPr algn="just">
              <a:lnSpc>
                <a:spcPts val="2100"/>
              </a:lnSpc>
              <a:spcBef>
                <a:spcPts val="750"/>
              </a:spcBef>
              <a:buNone/>
            </a:pPr>
            <a:r>
              <a:rPr lang="en-US" b="0" i="0" dirty="0">
                <a:solidFill>
                  <a:srgbClr val="3A3A3A"/>
                </a:solidFill>
                <a:effectLst/>
                <a:latin typeface="Roboto" panose="02000000000000000000" pitchFamily="2" charset="0"/>
              </a:rPr>
              <a:t>Explanation: Each call to outer() creates a new closure with its own count variable initialized to 0. When fn1 and fn2 are created, they each retain access to their own separate count variable due to lexical scoping. As a result, calls to fn1() increment their count independently of fn2(), ensuring they do not interfere with each other.</a:t>
            </a:r>
          </a:p>
        </p:txBody>
      </p:sp>
    </p:spTree>
    <p:extLst>
      <p:ext uri="{BB962C8B-B14F-4D97-AF65-F5344CB8AC3E}">
        <p14:creationId xmlns:p14="http://schemas.microsoft.com/office/powerpoint/2010/main" val="239315309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F7EA5B-5860-8236-5200-570E159930BD}"/>
            </a:ext>
          </a:extLst>
        </p:cNvPr>
        <p:cNvGrpSpPr/>
        <p:nvPr/>
      </p:nvGrpSpPr>
      <p:grpSpPr>
        <a:xfrm>
          <a:off x="0" y="0"/>
          <a:ext cx="0" cy="0"/>
          <a:chOff x="0" y="0"/>
          <a:chExt cx="0" cy="0"/>
        </a:xfrm>
      </p:grpSpPr>
    </p:spTree>
    <p:extLst>
      <p:ext uri="{BB962C8B-B14F-4D97-AF65-F5344CB8AC3E}">
        <p14:creationId xmlns:p14="http://schemas.microsoft.com/office/powerpoint/2010/main" val="207968224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87591-80CB-26EA-34F3-73F841B64F47}"/>
            </a:ext>
          </a:extLst>
        </p:cNvPr>
        <p:cNvGrpSpPr/>
        <p:nvPr/>
      </p:nvGrpSpPr>
      <p:grpSpPr>
        <a:xfrm>
          <a:off x="0" y="0"/>
          <a:ext cx="0" cy="0"/>
          <a:chOff x="0" y="0"/>
          <a:chExt cx="0" cy="0"/>
        </a:xfrm>
      </p:grpSpPr>
    </p:spTree>
    <p:extLst>
      <p:ext uri="{BB962C8B-B14F-4D97-AF65-F5344CB8AC3E}">
        <p14:creationId xmlns:p14="http://schemas.microsoft.com/office/powerpoint/2010/main" val="12919321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329448-9945-8A2D-3E98-C1980A160BE0}"/>
            </a:ext>
          </a:extLst>
        </p:cNvPr>
        <p:cNvGrpSpPr/>
        <p:nvPr/>
      </p:nvGrpSpPr>
      <p:grpSpPr>
        <a:xfrm>
          <a:off x="0" y="0"/>
          <a:ext cx="0" cy="0"/>
          <a:chOff x="0" y="0"/>
          <a:chExt cx="0" cy="0"/>
        </a:xfrm>
      </p:grpSpPr>
    </p:spTree>
    <p:extLst>
      <p:ext uri="{BB962C8B-B14F-4D97-AF65-F5344CB8AC3E}">
        <p14:creationId xmlns:p14="http://schemas.microsoft.com/office/powerpoint/2010/main" val="8707807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7925CC-42D1-6EEB-DB87-1B280C3ED41D}"/>
            </a:ext>
          </a:extLst>
        </p:cNvPr>
        <p:cNvGrpSpPr/>
        <p:nvPr/>
      </p:nvGrpSpPr>
      <p:grpSpPr>
        <a:xfrm>
          <a:off x="0" y="0"/>
          <a:ext cx="0" cy="0"/>
          <a:chOff x="0" y="0"/>
          <a:chExt cx="0" cy="0"/>
        </a:xfrm>
      </p:grpSpPr>
    </p:spTree>
    <p:extLst>
      <p:ext uri="{BB962C8B-B14F-4D97-AF65-F5344CB8AC3E}">
        <p14:creationId xmlns:p14="http://schemas.microsoft.com/office/powerpoint/2010/main" val="3954880339"/>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830842-FD4D-9C8C-D56A-B4C3542A74B6}"/>
            </a:ext>
          </a:extLst>
        </p:cNvPr>
        <p:cNvGrpSpPr/>
        <p:nvPr/>
      </p:nvGrpSpPr>
      <p:grpSpPr>
        <a:xfrm>
          <a:off x="0" y="0"/>
          <a:ext cx="0" cy="0"/>
          <a:chOff x="0" y="0"/>
          <a:chExt cx="0" cy="0"/>
        </a:xfrm>
      </p:grpSpPr>
    </p:spTree>
    <p:extLst>
      <p:ext uri="{BB962C8B-B14F-4D97-AF65-F5344CB8AC3E}">
        <p14:creationId xmlns:p14="http://schemas.microsoft.com/office/powerpoint/2010/main" val="143523700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1AC70-F469-28D6-0E0E-BA1071CB9FDC}"/>
            </a:ext>
          </a:extLst>
        </p:cNvPr>
        <p:cNvGrpSpPr/>
        <p:nvPr/>
      </p:nvGrpSpPr>
      <p:grpSpPr>
        <a:xfrm>
          <a:off x="0" y="0"/>
          <a:ext cx="0" cy="0"/>
          <a:chOff x="0" y="0"/>
          <a:chExt cx="0" cy="0"/>
        </a:xfrm>
      </p:grpSpPr>
    </p:spTree>
    <p:extLst>
      <p:ext uri="{BB962C8B-B14F-4D97-AF65-F5344CB8AC3E}">
        <p14:creationId xmlns:p14="http://schemas.microsoft.com/office/powerpoint/2010/main" val="2435279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206E0F-50CD-3B11-1DFD-FC72990330F6}"/>
            </a:ext>
          </a:extLst>
        </p:cNvPr>
        <p:cNvGrpSpPr/>
        <p:nvPr/>
      </p:nvGrpSpPr>
      <p:grpSpPr>
        <a:xfrm>
          <a:off x="0" y="0"/>
          <a:ext cx="0" cy="0"/>
          <a:chOff x="0" y="0"/>
          <a:chExt cx="0" cy="0"/>
        </a:xfrm>
      </p:grpSpPr>
    </p:spTree>
    <p:extLst>
      <p:ext uri="{BB962C8B-B14F-4D97-AF65-F5344CB8AC3E}">
        <p14:creationId xmlns:p14="http://schemas.microsoft.com/office/powerpoint/2010/main" val="262308476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11B39-F064-775A-9411-E73929C1D279}"/>
            </a:ext>
          </a:extLst>
        </p:cNvPr>
        <p:cNvGrpSpPr/>
        <p:nvPr/>
      </p:nvGrpSpPr>
      <p:grpSpPr>
        <a:xfrm>
          <a:off x="0" y="0"/>
          <a:ext cx="0" cy="0"/>
          <a:chOff x="0" y="0"/>
          <a:chExt cx="0" cy="0"/>
        </a:xfrm>
      </p:grpSpPr>
    </p:spTree>
    <p:extLst>
      <p:ext uri="{BB962C8B-B14F-4D97-AF65-F5344CB8AC3E}">
        <p14:creationId xmlns:p14="http://schemas.microsoft.com/office/powerpoint/2010/main" val="2813603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265BB2-BFB1-CCC2-B55F-CF392C3DE129}"/>
            </a:ext>
          </a:extLst>
        </p:cNvPr>
        <p:cNvGrpSpPr/>
        <p:nvPr/>
      </p:nvGrpSpPr>
      <p:grpSpPr>
        <a:xfrm>
          <a:off x="0" y="0"/>
          <a:ext cx="0" cy="0"/>
          <a:chOff x="0" y="0"/>
          <a:chExt cx="0" cy="0"/>
        </a:xfrm>
      </p:grpSpPr>
    </p:spTree>
    <p:extLst>
      <p:ext uri="{BB962C8B-B14F-4D97-AF65-F5344CB8AC3E}">
        <p14:creationId xmlns:p14="http://schemas.microsoft.com/office/powerpoint/2010/main" val="325485262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386E9-3127-3EDA-6557-CEF76A86D7F9}"/>
            </a:ext>
          </a:extLst>
        </p:cNvPr>
        <p:cNvGrpSpPr/>
        <p:nvPr/>
      </p:nvGrpSpPr>
      <p:grpSpPr>
        <a:xfrm>
          <a:off x="0" y="0"/>
          <a:ext cx="0" cy="0"/>
          <a:chOff x="0" y="0"/>
          <a:chExt cx="0" cy="0"/>
        </a:xfrm>
      </p:grpSpPr>
    </p:spTree>
    <p:extLst>
      <p:ext uri="{BB962C8B-B14F-4D97-AF65-F5344CB8AC3E}">
        <p14:creationId xmlns:p14="http://schemas.microsoft.com/office/powerpoint/2010/main" val="74151286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8B79DE-BA72-F671-6D57-9F372D222487}"/>
            </a:ext>
          </a:extLst>
        </p:cNvPr>
        <p:cNvGrpSpPr/>
        <p:nvPr/>
      </p:nvGrpSpPr>
      <p:grpSpPr>
        <a:xfrm>
          <a:off x="0" y="0"/>
          <a:ext cx="0" cy="0"/>
          <a:chOff x="0" y="0"/>
          <a:chExt cx="0" cy="0"/>
        </a:xfrm>
      </p:grpSpPr>
    </p:spTree>
    <p:extLst>
      <p:ext uri="{BB962C8B-B14F-4D97-AF65-F5344CB8AC3E}">
        <p14:creationId xmlns:p14="http://schemas.microsoft.com/office/powerpoint/2010/main" val="26190612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0C9F7E-9983-7851-B4B5-4B43F29EA470}"/>
            </a:ext>
          </a:extLst>
        </p:cNvPr>
        <p:cNvGrpSpPr/>
        <p:nvPr/>
      </p:nvGrpSpPr>
      <p:grpSpPr>
        <a:xfrm>
          <a:off x="0" y="0"/>
          <a:ext cx="0" cy="0"/>
          <a:chOff x="0" y="0"/>
          <a:chExt cx="0" cy="0"/>
        </a:xfrm>
      </p:grpSpPr>
    </p:spTree>
    <p:extLst>
      <p:ext uri="{BB962C8B-B14F-4D97-AF65-F5344CB8AC3E}">
        <p14:creationId xmlns:p14="http://schemas.microsoft.com/office/powerpoint/2010/main" val="225785881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CCDBD1-6A27-5F93-91B3-91C2B7F6AC20}"/>
            </a:ext>
          </a:extLst>
        </p:cNvPr>
        <p:cNvGrpSpPr/>
        <p:nvPr/>
      </p:nvGrpSpPr>
      <p:grpSpPr>
        <a:xfrm>
          <a:off x="0" y="0"/>
          <a:ext cx="0" cy="0"/>
          <a:chOff x="0" y="0"/>
          <a:chExt cx="0" cy="0"/>
        </a:xfrm>
      </p:grpSpPr>
    </p:spTree>
    <p:extLst>
      <p:ext uri="{BB962C8B-B14F-4D97-AF65-F5344CB8AC3E}">
        <p14:creationId xmlns:p14="http://schemas.microsoft.com/office/powerpoint/2010/main" val="15510496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47AA9C-661F-B1F3-C775-9B8565CE5B90}"/>
            </a:ext>
          </a:extLst>
        </p:cNvPr>
        <p:cNvGrpSpPr/>
        <p:nvPr/>
      </p:nvGrpSpPr>
      <p:grpSpPr>
        <a:xfrm>
          <a:off x="0" y="0"/>
          <a:ext cx="0" cy="0"/>
          <a:chOff x="0" y="0"/>
          <a:chExt cx="0" cy="0"/>
        </a:xfrm>
      </p:grpSpPr>
    </p:spTree>
    <p:extLst>
      <p:ext uri="{BB962C8B-B14F-4D97-AF65-F5344CB8AC3E}">
        <p14:creationId xmlns:p14="http://schemas.microsoft.com/office/powerpoint/2010/main" val="3071327927"/>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1CA5E3-BD05-87C9-6C1C-F7FAAF33BE18}"/>
            </a:ext>
          </a:extLst>
        </p:cNvPr>
        <p:cNvGrpSpPr/>
        <p:nvPr/>
      </p:nvGrpSpPr>
      <p:grpSpPr>
        <a:xfrm>
          <a:off x="0" y="0"/>
          <a:ext cx="0" cy="0"/>
          <a:chOff x="0" y="0"/>
          <a:chExt cx="0" cy="0"/>
        </a:xfrm>
      </p:grpSpPr>
    </p:spTree>
    <p:extLst>
      <p:ext uri="{BB962C8B-B14F-4D97-AF65-F5344CB8AC3E}">
        <p14:creationId xmlns:p14="http://schemas.microsoft.com/office/powerpoint/2010/main" val="15704524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69677-3E7F-9607-7299-044FAC57B403}"/>
            </a:ext>
          </a:extLst>
        </p:cNvPr>
        <p:cNvGrpSpPr/>
        <p:nvPr/>
      </p:nvGrpSpPr>
      <p:grpSpPr>
        <a:xfrm>
          <a:off x="0" y="0"/>
          <a:ext cx="0" cy="0"/>
          <a:chOff x="0" y="0"/>
          <a:chExt cx="0" cy="0"/>
        </a:xfrm>
      </p:grpSpPr>
    </p:spTree>
    <p:extLst>
      <p:ext uri="{BB962C8B-B14F-4D97-AF65-F5344CB8AC3E}">
        <p14:creationId xmlns:p14="http://schemas.microsoft.com/office/powerpoint/2010/main" val="1088424402"/>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8AF79C-90CB-21CE-4937-EB56E77B59F5}"/>
            </a:ext>
          </a:extLst>
        </p:cNvPr>
        <p:cNvGrpSpPr/>
        <p:nvPr/>
      </p:nvGrpSpPr>
      <p:grpSpPr>
        <a:xfrm>
          <a:off x="0" y="0"/>
          <a:ext cx="0" cy="0"/>
          <a:chOff x="0" y="0"/>
          <a:chExt cx="0" cy="0"/>
        </a:xfrm>
      </p:grpSpPr>
    </p:spTree>
    <p:extLst>
      <p:ext uri="{BB962C8B-B14F-4D97-AF65-F5344CB8AC3E}">
        <p14:creationId xmlns:p14="http://schemas.microsoft.com/office/powerpoint/2010/main" val="397757512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6DF3B4-10A3-F97C-DE8D-A21ED2B1B493}"/>
            </a:ext>
          </a:extLst>
        </p:cNvPr>
        <p:cNvGrpSpPr/>
        <p:nvPr/>
      </p:nvGrpSpPr>
      <p:grpSpPr>
        <a:xfrm>
          <a:off x="0" y="0"/>
          <a:ext cx="0" cy="0"/>
          <a:chOff x="0" y="0"/>
          <a:chExt cx="0" cy="0"/>
        </a:xfrm>
      </p:grpSpPr>
    </p:spTree>
    <p:extLst>
      <p:ext uri="{BB962C8B-B14F-4D97-AF65-F5344CB8AC3E}">
        <p14:creationId xmlns:p14="http://schemas.microsoft.com/office/powerpoint/2010/main" val="186251777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2B5A51-AA7F-ECAF-41AE-666585F46A71}"/>
            </a:ext>
          </a:extLst>
        </p:cNvPr>
        <p:cNvGrpSpPr/>
        <p:nvPr/>
      </p:nvGrpSpPr>
      <p:grpSpPr>
        <a:xfrm>
          <a:off x="0" y="0"/>
          <a:ext cx="0" cy="0"/>
          <a:chOff x="0" y="0"/>
          <a:chExt cx="0" cy="0"/>
        </a:xfrm>
      </p:grpSpPr>
    </p:spTree>
    <p:extLst>
      <p:ext uri="{BB962C8B-B14F-4D97-AF65-F5344CB8AC3E}">
        <p14:creationId xmlns:p14="http://schemas.microsoft.com/office/powerpoint/2010/main" val="2019912776"/>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408AB-3FEA-D9E8-2260-D0EB5D4029D6}"/>
            </a:ext>
          </a:extLst>
        </p:cNvPr>
        <p:cNvGrpSpPr/>
        <p:nvPr/>
      </p:nvGrpSpPr>
      <p:grpSpPr>
        <a:xfrm>
          <a:off x="0" y="0"/>
          <a:ext cx="0" cy="0"/>
          <a:chOff x="0" y="0"/>
          <a:chExt cx="0" cy="0"/>
        </a:xfrm>
      </p:grpSpPr>
    </p:spTree>
    <p:extLst>
      <p:ext uri="{BB962C8B-B14F-4D97-AF65-F5344CB8AC3E}">
        <p14:creationId xmlns:p14="http://schemas.microsoft.com/office/powerpoint/2010/main" val="1677624876"/>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3D11B9-028C-5DD4-A32D-5F68742A9264}"/>
            </a:ext>
          </a:extLst>
        </p:cNvPr>
        <p:cNvGrpSpPr/>
        <p:nvPr/>
      </p:nvGrpSpPr>
      <p:grpSpPr>
        <a:xfrm>
          <a:off x="0" y="0"/>
          <a:ext cx="0" cy="0"/>
          <a:chOff x="0" y="0"/>
          <a:chExt cx="0" cy="0"/>
        </a:xfrm>
      </p:grpSpPr>
    </p:spTree>
    <p:extLst>
      <p:ext uri="{BB962C8B-B14F-4D97-AF65-F5344CB8AC3E}">
        <p14:creationId xmlns:p14="http://schemas.microsoft.com/office/powerpoint/2010/main" val="2996681962"/>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A433DC-6598-AE34-6561-657045E651C2}"/>
            </a:ext>
          </a:extLst>
        </p:cNvPr>
        <p:cNvGrpSpPr/>
        <p:nvPr/>
      </p:nvGrpSpPr>
      <p:grpSpPr>
        <a:xfrm>
          <a:off x="0" y="0"/>
          <a:ext cx="0" cy="0"/>
          <a:chOff x="0" y="0"/>
          <a:chExt cx="0" cy="0"/>
        </a:xfrm>
      </p:grpSpPr>
    </p:spTree>
    <p:extLst>
      <p:ext uri="{BB962C8B-B14F-4D97-AF65-F5344CB8AC3E}">
        <p14:creationId xmlns:p14="http://schemas.microsoft.com/office/powerpoint/2010/main" val="2906076028"/>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AA9814-5741-BF68-57BD-61191B08B0D3}"/>
            </a:ext>
          </a:extLst>
        </p:cNvPr>
        <p:cNvGrpSpPr/>
        <p:nvPr/>
      </p:nvGrpSpPr>
      <p:grpSpPr>
        <a:xfrm>
          <a:off x="0" y="0"/>
          <a:ext cx="0" cy="0"/>
          <a:chOff x="0" y="0"/>
          <a:chExt cx="0" cy="0"/>
        </a:xfrm>
      </p:grpSpPr>
    </p:spTree>
    <p:extLst>
      <p:ext uri="{BB962C8B-B14F-4D97-AF65-F5344CB8AC3E}">
        <p14:creationId xmlns:p14="http://schemas.microsoft.com/office/powerpoint/2010/main" val="402645298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B12D9-7743-8E75-BF87-F74CE415798D}"/>
            </a:ext>
          </a:extLst>
        </p:cNvPr>
        <p:cNvGrpSpPr/>
        <p:nvPr/>
      </p:nvGrpSpPr>
      <p:grpSpPr>
        <a:xfrm>
          <a:off x="0" y="0"/>
          <a:ext cx="0" cy="0"/>
          <a:chOff x="0" y="0"/>
          <a:chExt cx="0" cy="0"/>
        </a:xfrm>
      </p:grpSpPr>
    </p:spTree>
    <p:extLst>
      <p:ext uri="{BB962C8B-B14F-4D97-AF65-F5344CB8AC3E}">
        <p14:creationId xmlns:p14="http://schemas.microsoft.com/office/powerpoint/2010/main" val="2317473069"/>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BC3C42-195E-1AA6-666E-9DDDDC7291C4}"/>
            </a:ext>
          </a:extLst>
        </p:cNvPr>
        <p:cNvGrpSpPr/>
        <p:nvPr/>
      </p:nvGrpSpPr>
      <p:grpSpPr>
        <a:xfrm>
          <a:off x="0" y="0"/>
          <a:ext cx="0" cy="0"/>
          <a:chOff x="0" y="0"/>
          <a:chExt cx="0" cy="0"/>
        </a:xfrm>
      </p:grpSpPr>
    </p:spTree>
    <p:extLst>
      <p:ext uri="{BB962C8B-B14F-4D97-AF65-F5344CB8AC3E}">
        <p14:creationId xmlns:p14="http://schemas.microsoft.com/office/powerpoint/2010/main" val="52014673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FDCFC9-20DE-11FF-066F-212F321A7C1B}"/>
            </a:ext>
          </a:extLst>
        </p:cNvPr>
        <p:cNvGrpSpPr/>
        <p:nvPr/>
      </p:nvGrpSpPr>
      <p:grpSpPr>
        <a:xfrm>
          <a:off x="0" y="0"/>
          <a:ext cx="0" cy="0"/>
          <a:chOff x="0" y="0"/>
          <a:chExt cx="0" cy="0"/>
        </a:xfrm>
      </p:grpSpPr>
    </p:spTree>
    <p:extLst>
      <p:ext uri="{BB962C8B-B14F-4D97-AF65-F5344CB8AC3E}">
        <p14:creationId xmlns:p14="http://schemas.microsoft.com/office/powerpoint/2010/main" val="753765414"/>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73B9AB-DD08-57A9-3937-3178F40B8ABB}"/>
            </a:ext>
          </a:extLst>
        </p:cNvPr>
        <p:cNvGrpSpPr/>
        <p:nvPr/>
      </p:nvGrpSpPr>
      <p:grpSpPr>
        <a:xfrm>
          <a:off x="0" y="0"/>
          <a:ext cx="0" cy="0"/>
          <a:chOff x="0" y="0"/>
          <a:chExt cx="0" cy="0"/>
        </a:xfrm>
      </p:grpSpPr>
    </p:spTree>
    <p:extLst>
      <p:ext uri="{BB962C8B-B14F-4D97-AF65-F5344CB8AC3E}">
        <p14:creationId xmlns:p14="http://schemas.microsoft.com/office/powerpoint/2010/main" val="408203408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931B59-6FFA-DE4E-A87E-7C2F448F358F}"/>
            </a:ext>
          </a:extLst>
        </p:cNvPr>
        <p:cNvGrpSpPr/>
        <p:nvPr/>
      </p:nvGrpSpPr>
      <p:grpSpPr>
        <a:xfrm>
          <a:off x="0" y="0"/>
          <a:ext cx="0" cy="0"/>
          <a:chOff x="0" y="0"/>
          <a:chExt cx="0" cy="0"/>
        </a:xfrm>
      </p:grpSpPr>
    </p:spTree>
    <p:extLst>
      <p:ext uri="{BB962C8B-B14F-4D97-AF65-F5344CB8AC3E}">
        <p14:creationId xmlns:p14="http://schemas.microsoft.com/office/powerpoint/2010/main" val="158938158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2A4660-17B1-E4B5-CE8C-A6BA4F033429}"/>
            </a:ext>
          </a:extLst>
        </p:cNvPr>
        <p:cNvGrpSpPr/>
        <p:nvPr/>
      </p:nvGrpSpPr>
      <p:grpSpPr>
        <a:xfrm>
          <a:off x="0" y="0"/>
          <a:ext cx="0" cy="0"/>
          <a:chOff x="0" y="0"/>
          <a:chExt cx="0" cy="0"/>
        </a:xfrm>
      </p:grpSpPr>
    </p:spTree>
    <p:extLst>
      <p:ext uri="{BB962C8B-B14F-4D97-AF65-F5344CB8AC3E}">
        <p14:creationId xmlns:p14="http://schemas.microsoft.com/office/powerpoint/2010/main" val="2030845308"/>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0D92DC-5F54-1150-3E2B-D0217D6B462B}"/>
            </a:ext>
          </a:extLst>
        </p:cNvPr>
        <p:cNvGrpSpPr/>
        <p:nvPr/>
      </p:nvGrpSpPr>
      <p:grpSpPr>
        <a:xfrm>
          <a:off x="0" y="0"/>
          <a:ext cx="0" cy="0"/>
          <a:chOff x="0" y="0"/>
          <a:chExt cx="0" cy="0"/>
        </a:xfrm>
      </p:grpSpPr>
    </p:spTree>
    <p:extLst>
      <p:ext uri="{BB962C8B-B14F-4D97-AF65-F5344CB8AC3E}">
        <p14:creationId xmlns:p14="http://schemas.microsoft.com/office/powerpoint/2010/main" val="939417560"/>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E69C64-8DDE-13EF-04ED-E030FEAF9144}"/>
            </a:ext>
          </a:extLst>
        </p:cNvPr>
        <p:cNvGrpSpPr/>
        <p:nvPr/>
      </p:nvGrpSpPr>
      <p:grpSpPr>
        <a:xfrm>
          <a:off x="0" y="0"/>
          <a:ext cx="0" cy="0"/>
          <a:chOff x="0" y="0"/>
          <a:chExt cx="0" cy="0"/>
        </a:xfrm>
      </p:grpSpPr>
    </p:spTree>
    <p:extLst>
      <p:ext uri="{BB962C8B-B14F-4D97-AF65-F5344CB8AC3E}">
        <p14:creationId xmlns:p14="http://schemas.microsoft.com/office/powerpoint/2010/main" val="519649389"/>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08D3A-A235-1877-D051-FCC3A9ADADB6}"/>
            </a:ext>
          </a:extLst>
        </p:cNvPr>
        <p:cNvGrpSpPr/>
        <p:nvPr/>
      </p:nvGrpSpPr>
      <p:grpSpPr>
        <a:xfrm>
          <a:off x="0" y="0"/>
          <a:ext cx="0" cy="0"/>
          <a:chOff x="0" y="0"/>
          <a:chExt cx="0" cy="0"/>
        </a:xfrm>
      </p:grpSpPr>
    </p:spTree>
    <p:extLst>
      <p:ext uri="{BB962C8B-B14F-4D97-AF65-F5344CB8AC3E}">
        <p14:creationId xmlns:p14="http://schemas.microsoft.com/office/powerpoint/2010/main" val="1897634299"/>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F26905-7CCD-FCB2-1A7E-E8BB36BCA071}"/>
            </a:ext>
          </a:extLst>
        </p:cNvPr>
        <p:cNvGrpSpPr/>
        <p:nvPr/>
      </p:nvGrpSpPr>
      <p:grpSpPr>
        <a:xfrm>
          <a:off x="0" y="0"/>
          <a:ext cx="0" cy="0"/>
          <a:chOff x="0" y="0"/>
          <a:chExt cx="0" cy="0"/>
        </a:xfrm>
      </p:grpSpPr>
    </p:spTree>
    <p:extLst>
      <p:ext uri="{BB962C8B-B14F-4D97-AF65-F5344CB8AC3E}">
        <p14:creationId xmlns:p14="http://schemas.microsoft.com/office/powerpoint/2010/main" val="1654257372"/>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6F266-AAFE-19DB-00DC-19E75491FCA9}"/>
            </a:ext>
          </a:extLst>
        </p:cNvPr>
        <p:cNvGrpSpPr/>
        <p:nvPr/>
      </p:nvGrpSpPr>
      <p:grpSpPr>
        <a:xfrm>
          <a:off x="0" y="0"/>
          <a:ext cx="0" cy="0"/>
          <a:chOff x="0" y="0"/>
          <a:chExt cx="0" cy="0"/>
        </a:xfrm>
      </p:grpSpPr>
    </p:spTree>
    <p:extLst>
      <p:ext uri="{BB962C8B-B14F-4D97-AF65-F5344CB8AC3E}">
        <p14:creationId xmlns:p14="http://schemas.microsoft.com/office/powerpoint/2010/main" val="793219724"/>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90D1BF-A172-3FF0-903F-2AD081E8C22D}"/>
            </a:ext>
          </a:extLst>
        </p:cNvPr>
        <p:cNvGrpSpPr/>
        <p:nvPr/>
      </p:nvGrpSpPr>
      <p:grpSpPr>
        <a:xfrm>
          <a:off x="0" y="0"/>
          <a:ext cx="0" cy="0"/>
          <a:chOff x="0" y="0"/>
          <a:chExt cx="0" cy="0"/>
        </a:xfrm>
      </p:grpSpPr>
    </p:spTree>
    <p:extLst>
      <p:ext uri="{BB962C8B-B14F-4D97-AF65-F5344CB8AC3E}">
        <p14:creationId xmlns:p14="http://schemas.microsoft.com/office/powerpoint/2010/main" val="345403714"/>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370E42-E71B-A766-657B-A4466062A4CE}"/>
            </a:ext>
          </a:extLst>
        </p:cNvPr>
        <p:cNvGrpSpPr/>
        <p:nvPr/>
      </p:nvGrpSpPr>
      <p:grpSpPr>
        <a:xfrm>
          <a:off x="0" y="0"/>
          <a:ext cx="0" cy="0"/>
          <a:chOff x="0" y="0"/>
          <a:chExt cx="0" cy="0"/>
        </a:xfrm>
      </p:grpSpPr>
    </p:spTree>
    <p:extLst>
      <p:ext uri="{BB962C8B-B14F-4D97-AF65-F5344CB8AC3E}">
        <p14:creationId xmlns:p14="http://schemas.microsoft.com/office/powerpoint/2010/main" val="101582018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AE7962-935A-C6CA-3B98-1DCA176402AB}"/>
            </a:ext>
          </a:extLst>
        </p:cNvPr>
        <p:cNvGrpSpPr/>
        <p:nvPr/>
      </p:nvGrpSpPr>
      <p:grpSpPr>
        <a:xfrm>
          <a:off x="0" y="0"/>
          <a:ext cx="0" cy="0"/>
          <a:chOff x="0" y="0"/>
          <a:chExt cx="0" cy="0"/>
        </a:xfrm>
      </p:grpSpPr>
    </p:spTree>
    <p:extLst>
      <p:ext uri="{BB962C8B-B14F-4D97-AF65-F5344CB8AC3E}">
        <p14:creationId xmlns:p14="http://schemas.microsoft.com/office/powerpoint/2010/main" val="1814818361"/>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DC3D3E-7A80-5937-D445-0BC611F6D275}"/>
            </a:ext>
          </a:extLst>
        </p:cNvPr>
        <p:cNvGrpSpPr/>
        <p:nvPr/>
      </p:nvGrpSpPr>
      <p:grpSpPr>
        <a:xfrm>
          <a:off x="0" y="0"/>
          <a:ext cx="0" cy="0"/>
          <a:chOff x="0" y="0"/>
          <a:chExt cx="0" cy="0"/>
        </a:xfrm>
      </p:grpSpPr>
    </p:spTree>
    <p:extLst>
      <p:ext uri="{BB962C8B-B14F-4D97-AF65-F5344CB8AC3E}">
        <p14:creationId xmlns:p14="http://schemas.microsoft.com/office/powerpoint/2010/main" val="2359052732"/>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C39288-3934-3EE8-8DA0-8B55FB44D752}"/>
            </a:ext>
          </a:extLst>
        </p:cNvPr>
        <p:cNvGrpSpPr/>
        <p:nvPr/>
      </p:nvGrpSpPr>
      <p:grpSpPr>
        <a:xfrm>
          <a:off x="0" y="0"/>
          <a:ext cx="0" cy="0"/>
          <a:chOff x="0" y="0"/>
          <a:chExt cx="0" cy="0"/>
        </a:xfrm>
      </p:grpSpPr>
    </p:spTree>
    <p:extLst>
      <p:ext uri="{BB962C8B-B14F-4D97-AF65-F5344CB8AC3E}">
        <p14:creationId xmlns:p14="http://schemas.microsoft.com/office/powerpoint/2010/main" val="290356114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444358-7458-9EBA-410C-00B1A20E7B47}"/>
            </a:ext>
          </a:extLst>
        </p:cNvPr>
        <p:cNvGrpSpPr/>
        <p:nvPr/>
      </p:nvGrpSpPr>
      <p:grpSpPr>
        <a:xfrm>
          <a:off x="0" y="0"/>
          <a:ext cx="0" cy="0"/>
          <a:chOff x="0" y="0"/>
          <a:chExt cx="0" cy="0"/>
        </a:xfrm>
      </p:grpSpPr>
    </p:spTree>
    <p:extLst>
      <p:ext uri="{BB962C8B-B14F-4D97-AF65-F5344CB8AC3E}">
        <p14:creationId xmlns:p14="http://schemas.microsoft.com/office/powerpoint/2010/main" val="188276075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474C8-E1F0-54A0-7DB7-A4F186252A1E}"/>
            </a:ext>
          </a:extLst>
        </p:cNvPr>
        <p:cNvGrpSpPr/>
        <p:nvPr/>
      </p:nvGrpSpPr>
      <p:grpSpPr>
        <a:xfrm>
          <a:off x="0" y="0"/>
          <a:ext cx="0" cy="0"/>
          <a:chOff x="0" y="0"/>
          <a:chExt cx="0" cy="0"/>
        </a:xfrm>
      </p:grpSpPr>
    </p:spTree>
    <p:extLst>
      <p:ext uri="{BB962C8B-B14F-4D97-AF65-F5344CB8AC3E}">
        <p14:creationId xmlns:p14="http://schemas.microsoft.com/office/powerpoint/2010/main" val="2227413637"/>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08BA5F-0737-1C9E-B34A-C8D0C6CC18C7}"/>
            </a:ext>
          </a:extLst>
        </p:cNvPr>
        <p:cNvGrpSpPr/>
        <p:nvPr/>
      </p:nvGrpSpPr>
      <p:grpSpPr>
        <a:xfrm>
          <a:off x="0" y="0"/>
          <a:ext cx="0" cy="0"/>
          <a:chOff x="0" y="0"/>
          <a:chExt cx="0" cy="0"/>
        </a:xfrm>
      </p:grpSpPr>
    </p:spTree>
    <p:extLst>
      <p:ext uri="{BB962C8B-B14F-4D97-AF65-F5344CB8AC3E}">
        <p14:creationId xmlns:p14="http://schemas.microsoft.com/office/powerpoint/2010/main" val="753626091"/>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CD7587-E788-2173-9FCE-ABF5926BAC41}"/>
            </a:ext>
          </a:extLst>
        </p:cNvPr>
        <p:cNvGrpSpPr/>
        <p:nvPr/>
      </p:nvGrpSpPr>
      <p:grpSpPr>
        <a:xfrm>
          <a:off x="0" y="0"/>
          <a:ext cx="0" cy="0"/>
          <a:chOff x="0" y="0"/>
          <a:chExt cx="0" cy="0"/>
        </a:xfrm>
      </p:grpSpPr>
    </p:spTree>
    <p:extLst>
      <p:ext uri="{BB962C8B-B14F-4D97-AF65-F5344CB8AC3E}">
        <p14:creationId xmlns:p14="http://schemas.microsoft.com/office/powerpoint/2010/main" val="1728660153"/>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C10DC-3F44-09D6-0EF4-E117C7AFB14D}"/>
            </a:ext>
          </a:extLst>
        </p:cNvPr>
        <p:cNvGrpSpPr/>
        <p:nvPr/>
      </p:nvGrpSpPr>
      <p:grpSpPr>
        <a:xfrm>
          <a:off x="0" y="0"/>
          <a:ext cx="0" cy="0"/>
          <a:chOff x="0" y="0"/>
          <a:chExt cx="0" cy="0"/>
        </a:xfrm>
      </p:grpSpPr>
    </p:spTree>
    <p:extLst>
      <p:ext uri="{BB962C8B-B14F-4D97-AF65-F5344CB8AC3E}">
        <p14:creationId xmlns:p14="http://schemas.microsoft.com/office/powerpoint/2010/main" val="200822331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C9AB0F-A5F4-4582-FC01-5E689CFFF87F}"/>
            </a:ext>
          </a:extLst>
        </p:cNvPr>
        <p:cNvGrpSpPr/>
        <p:nvPr/>
      </p:nvGrpSpPr>
      <p:grpSpPr>
        <a:xfrm>
          <a:off x="0" y="0"/>
          <a:ext cx="0" cy="0"/>
          <a:chOff x="0" y="0"/>
          <a:chExt cx="0" cy="0"/>
        </a:xfrm>
      </p:grpSpPr>
    </p:spTree>
    <p:extLst>
      <p:ext uri="{BB962C8B-B14F-4D97-AF65-F5344CB8AC3E}">
        <p14:creationId xmlns:p14="http://schemas.microsoft.com/office/powerpoint/2010/main" val="252998718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084FF4-E87B-CEE7-4340-4A8CF2BFB654}"/>
            </a:ext>
          </a:extLst>
        </p:cNvPr>
        <p:cNvGrpSpPr/>
        <p:nvPr/>
      </p:nvGrpSpPr>
      <p:grpSpPr>
        <a:xfrm>
          <a:off x="0" y="0"/>
          <a:ext cx="0" cy="0"/>
          <a:chOff x="0" y="0"/>
          <a:chExt cx="0" cy="0"/>
        </a:xfrm>
      </p:grpSpPr>
    </p:spTree>
    <p:extLst>
      <p:ext uri="{BB962C8B-B14F-4D97-AF65-F5344CB8AC3E}">
        <p14:creationId xmlns:p14="http://schemas.microsoft.com/office/powerpoint/2010/main" val="11912733"/>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E2-575B-DE05-1E7C-0285A3ECC8D1}"/>
            </a:ext>
          </a:extLst>
        </p:cNvPr>
        <p:cNvGrpSpPr/>
        <p:nvPr/>
      </p:nvGrpSpPr>
      <p:grpSpPr>
        <a:xfrm>
          <a:off x="0" y="0"/>
          <a:ext cx="0" cy="0"/>
          <a:chOff x="0" y="0"/>
          <a:chExt cx="0" cy="0"/>
        </a:xfrm>
      </p:grpSpPr>
    </p:spTree>
    <p:extLst>
      <p:ext uri="{BB962C8B-B14F-4D97-AF65-F5344CB8AC3E}">
        <p14:creationId xmlns:p14="http://schemas.microsoft.com/office/powerpoint/2010/main" val="202037317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6C7C7E-2D31-F5DA-2FCC-908AF031C200}"/>
            </a:ext>
          </a:extLst>
        </p:cNvPr>
        <p:cNvGrpSpPr/>
        <p:nvPr/>
      </p:nvGrpSpPr>
      <p:grpSpPr>
        <a:xfrm>
          <a:off x="0" y="0"/>
          <a:ext cx="0" cy="0"/>
          <a:chOff x="0" y="0"/>
          <a:chExt cx="0" cy="0"/>
        </a:xfrm>
      </p:grpSpPr>
    </p:spTree>
    <p:extLst>
      <p:ext uri="{BB962C8B-B14F-4D97-AF65-F5344CB8AC3E}">
        <p14:creationId xmlns:p14="http://schemas.microsoft.com/office/powerpoint/2010/main" val="4049098951"/>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DCCDD-1A76-AF1A-CCB5-9A78AF6F8424}"/>
            </a:ext>
          </a:extLst>
        </p:cNvPr>
        <p:cNvGrpSpPr/>
        <p:nvPr/>
      </p:nvGrpSpPr>
      <p:grpSpPr>
        <a:xfrm>
          <a:off x="0" y="0"/>
          <a:ext cx="0" cy="0"/>
          <a:chOff x="0" y="0"/>
          <a:chExt cx="0" cy="0"/>
        </a:xfrm>
      </p:grpSpPr>
    </p:spTree>
    <p:extLst>
      <p:ext uri="{BB962C8B-B14F-4D97-AF65-F5344CB8AC3E}">
        <p14:creationId xmlns:p14="http://schemas.microsoft.com/office/powerpoint/2010/main" val="3909892506"/>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3D685A-5937-3C52-2F3B-74955B1FF06D}"/>
            </a:ext>
          </a:extLst>
        </p:cNvPr>
        <p:cNvGrpSpPr/>
        <p:nvPr/>
      </p:nvGrpSpPr>
      <p:grpSpPr>
        <a:xfrm>
          <a:off x="0" y="0"/>
          <a:ext cx="0" cy="0"/>
          <a:chOff x="0" y="0"/>
          <a:chExt cx="0" cy="0"/>
        </a:xfrm>
      </p:grpSpPr>
    </p:spTree>
    <p:extLst>
      <p:ext uri="{BB962C8B-B14F-4D97-AF65-F5344CB8AC3E}">
        <p14:creationId xmlns:p14="http://schemas.microsoft.com/office/powerpoint/2010/main" val="2945056232"/>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09A74E-5113-4DFD-160C-4238D2609F56}"/>
            </a:ext>
          </a:extLst>
        </p:cNvPr>
        <p:cNvGrpSpPr/>
        <p:nvPr/>
      </p:nvGrpSpPr>
      <p:grpSpPr>
        <a:xfrm>
          <a:off x="0" y="0"/>
          <a:ext cx="0" cy="0"/>
          <a:chOff x="0" y="0"/>
          <a:chExt cx="0" cy="0"/>
        </a:xfrm>
      </p:grpSpPr>
    </p:spTree>
    <p:extLst>
      <p:ext uri="{BB962C8B-B14F-4D97-AF65-F5344CB8AC3E}">
        <p14:creationId xmlns:p14="http://schemas.microsoft.com/office/powerpoint/2010/main" val="96886103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71383-6B34-E468-1316-F7BB6A02D075}"/>
            </a:ext>
          </a:extLst>
        </p:cNvPr>
        <p:cNvGrpSpPr/>
        <p:nvPr/>
      </p:nvGrpSpPr>
      <p:grpSpPr>
        <a:xfrm>
          <a:off x="0" y="0"/>
          <a:ext cx="0" cy="0"/>
          <a:chOff x="0" y="0"/>
          <a:chExt cx="0" cy="0"/>
        </a:xfrm>
      </p:grpSpPr>
    </p:spTree>
    <p:extLst>
      <p:ext uri="{BB962C8B-B14F-4D97-AF65-F5344CB8AC3E}">
        <p14:creationId xmlns:p14="http://schemas.microsoft.com/office/powerpoint/2010/main" val="121007572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32D463-FC14-8CA8-6D2C-26A46C3531EB}"/>
            </a:ext>
          </a:extLst>
        </p:cNvPr>
        <p:cNvGrpSpPr/>
        <p:nvPr/>
      </p:nvGrpSpPr>
      <p:grpSpPr>
        <a:xfrm>
          <a:off x="0" y="0"/>
          <a:ext cx="0" cy="0"/>
          <a:chOff x="0" y="0"/>
          <a:chExt cx="0" cy="0"/>
        </a:xfrm>
      </p:grpSpPr>
    </p:spTree>
    <p:extLst>
      <p:ext uri="{BB962C8B-B14F-4D97-AF65-F5344CB8AC3E}">
        <p14:creationId xmlns:p14="http://schemas.microsoft.com/office/powerpoint/2010/main" val="39268473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7045A3-7F9A-3D1E-9952-CB829B42141B}"/>
            </a:ext>
          </a:extLst>
        </p:cNvPr>
        <p:cNvGrpSpPr/>
        <p:nvPr/>
      </p:nvGrpSpPr>
      <p:grpSpPr>
        <a:xfrm>
          <a:off x="0" y="0"/>
          <a:ext cx="0" cy="0"/>
          <a:chOff x="0" y="0"/>
          <a:chExt cx="0" cy="0"/>
        </a:xfrm>
      </p:grpSpPr>
    </p:spTree>
    <p:extLst>
      <p:ext uri="{BB962C8B-B14F-4D97-AF65-F5344CB8AC3E}">
        <p14:creationId xmlns:p14="http://schemas.microsoft.com/office/powerpoint/2010/main" val="1977706002"/>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ABD669-6DBE-F77D-D40F-7C6D96C5C19D}"/>
            </a:ext>
          </a:extLst>
        </p:cNvPr>
        <p:cNvGrpSpPr/>
        <p:nvPr/>
      </p:nvGrpSpPr>
      <p:grpSpPr>
        <a:xfrm>
          <a:off x="0" y="0"/>
          <a:ext cx="0" cy="0"/>
          <a:chOff x="0" y="0"/>
          <a:chExt cx="0" cy="0"/>
        </a:xfrm>
      </p:grpSpPr>
    </p:spTree>
    <p:extLst>
      <p:ext uri="{BB962C8B-B14F-4D97-AF65-F5344CB8AC3E}">
        <p14:creationId xmlns:p14="http://schemas.microsoft.com/office/powerpoint/2010/main" val="173671968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E25A9-6E07-F074-80C0-B8D1E6741BC1}"/>
            </a:ext>
          </a:extLst>
        </p:cNvPr>
        <p:cNvGrpSpPr/>
        <p:nvPr/>
      </p:nvGrpSpPr>
      <p:grpSpPr>
        <a:xfrm>
          <a:off x="0" y="0"/>
          <a:ext cx="0" cy="0"/>
          <a:chOff x="0" y="0"/>
          <a:chExt cx="0" cy="0"/>
        </a:xfrm>
      </p:grpSpPr>
    </p:spTree>
    <p:extLst>
      <p:ext uri="{BB962C8B-B14F-4D97-AF65-F5344CB8AC3E}">
        <p14:creationId xmlns:p14="http://schemas.microsoft.com/office/powerpoint/2010/main" val="3873212897"/>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2965A7-8CF5-3E06-19C9-4886680E1B18}"/>
            </a:ext>
          </a:extLst>
        </p:cNvPr>
        <p:cNvGrpSpPr/>
        <p:nvPr/>
      </p:nvGrpSpPr>
      <p:grpSpPr>
        <a:xfrm>
          <a:off x="0" y="0"/>
          <a:ext cx="0" cy="0"/>
          <a:chOff x="0" y="0"/>
          <a:chExt cx="0" cy="0"/>
        </a:xfrm>
      </p:grpSpPr>
    </p:spTree>
    <p:extLst>
      <p:ext uri="{BB962C8B-B14F-4D97-AF65-F5344CB8AC3E}">
        <p14:creationId xmlns:p14="http://schemas.microsoft.com/office/powerpoint/2010/main" val="231316656"/>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85E8E8-9926-55CC-14D3-10A08BDEC077}"/>
            </a:ext>
          </a:extLst>
        </p:cNvPr>
        <p:cNvGrpSpPr/>
        <p:nvPr/>
      </p:nvGrpSpPr>
      <p:grpSpPr>
        <a:xfrm>
          <a:off x="0" y="0"/>
          <a:ext cx="0" cy="0"/>
          <a:chOff x="0" y="0"/>
          <a:chExt cx="0" cy="0"/>
        </a:xfrm>
      </p:grpSpPr>
    </p:spTree>
    <p:extLst>
      <p:ext uri="{BB962C8B-B14F-4D97-AF65-F5344CB8AC3E}">
        <p14:creationId xmlns:p14="http://schemas.microsoft.com/office/powerpoint/2010/main" val="155795131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8A96-9E7C-76A2-3967-042D834D1CF9}"/>
            </a:ext>
          </a:extLst>
        </p:cNvPr>
        <p:cNvGrpSpPr/>
        <p:nvPr/>
      </p:nvGrpSpPr>
      <p:grpSpPr>
        <a:xfrm>
          <a:off x="0" y="0"/>
          <a:ext cx="0" cy="0"/>
          <a:chOff x="0" y="0"/>
          <a:chExt cx="0" cy="0"/>
        </a:xfrm>
      </p:grpSpPr>
    </p:spTree>
    <p:extLst>
      <p:ext uri="{BB962C8B-B14F-4D97-AF65-F5344CB8AC3E}">
        <p14:creationId xmlns:p14="http://schemas.microsoft.com/office/powerpoint/2010/main" val="403088747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05AA9C-307F-F804-9057-56F9D987339A}"/>
            </a:ext>
          </a:extLst>
        </p:cNvPr>
        <p:cNvGrpSpPr/>
        <p:nvPr/>
      </p:nvGrpSpPr>
      <p:grpSpPr>
        <a:xfrm>
          <a:off x="0" y="0"/>
          <a:ext cx="0" cy="0"/>
          <a:chOff x="0" y="0"/>
          <a:chExt cx="0" cy="0"/>
        </a:xfrm>
      </p:grpSpPr>
    </p:spTree>
    <p:extLst>
      <p:ext uri="{BB962C8B-B14F-4D97-AF65-F5344CB8AC3E}">
        <p14:creationId xmlns:p14="http://schemas.microsoft.com/office/powerpoint/2010/main" val="311662646"/>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318</TotalTime>
  <Words>6597</Words>
  <Application>Microsoft Office PowerPoint</Application>
  <PresentationFormat>A4 Paper (210x297 mm)</PresentationFormat>
  <Paragraphs>688</Paragraphs>
  <Slides>104</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104</vt:i4>
      </vt:variant>
    </vt:vector>
  </HeadingPairs>
  <TitlesOfParts>
    <vt:vector size="110" baseType="lpstr">
      <vt:lpstr>Aptos</vt:lpstr>
      <vt:lpstr>Aptos Display</vt:lpstr>
      <vt:lpstr>Arial</vt:lpstr>
      <vt:lpstr>Courier New</vt:lpstr>
      <vt:lpstr>Roboto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umalavanya7@gmail.com</dc:creator>
  <cp:lastModifiedBy>umalavanya7@gmail.com</cp:lastModifiedBy>
  <cp:revision>51</cp:revision>
  <dcterms:created xsi:type="dcterms:W3CDTF">2026-02-06T21:19:28Z</dcterms:created>
  <dcterms:modified xsi:type="dcterms:W3CDTF">2026-03-07T00:05:48Z</dcterms:modified>
</cp:coreProperties>
</file>