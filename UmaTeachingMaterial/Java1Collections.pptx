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handoutMasterIdLst>
    <p:handoutMasterId r:id="rId78"/>
  </p:handoutMasterIdLst>
  <p:sldIdLst>
    <p:sldId id="256" r:id="rId2"/>
    <p:sldId id="271" r:id="rId3"/>
    <p:sldId id="257" r:id="rId4"/>
    <p:sldId id="258" r:id="rId5"/>
    <p:sldId id="329" r:id="rId6"/>
    <p:sldId id="332" r:id="rId7"/>
    <p:sldId id="330" r:id="rId8"/>
    <p:sldId id="334" r:id="rId9"/>
    <p:sldId id="331" r:id="rId10"/>
    <p:sldId id="337"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6" r:id="rId37"/>
    <p:sldId id="285"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568" autoAdjust="0"/>
    <p:restoredTop sz="94660"/>
  </p:normalViewPr>
  <p:slideViewPr>
    <p:cSldViewPr snapToGrid="0">
      <p:cViewPr>
        <p:scale>
          <a:sx n="58" d="100"/>
          <a:sy n="58" d="100"/>
        </p:scale>
        <p:origin x="1867" y="422"/>
      </p:cViewPr>
      <p:guideLst/>
    </p:cSldViewPr>
  </p:slideViewPr>
  <p:notesTextViewPr>
    <p:cViewPr>
      <p:scale>
        <a:sx n="1" d="1"/>
        <a:sy n="1" d="1"/>
      </p:scale>
      <p:origin x="0" y="0"/>
    </p:cViewPr>
  </p:notesTextViewPr>
  <p:notesViewPr>
    <p:cSldViewPr snapToGrid="0">
      <p:cViewPr varScale="1">
        <p:scale>
          <a:sx n="60" d="100"/>
          <a:sy n="60" d="100"/>
        </p:scale>
        <p:origin x="3187" y="48"/>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handoutMaster" Target="handoutMasters/handoutMaster1.xml"/><Relationship Id="rId8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6C10E1A-6CEA-C0E2-E083-0469FFB5F87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2A4B80C5-DF19-C961-9111-AFE4725BFBD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DC700C8-A860-4BA6-8966-4E2E0CDE3297}" type="datetimeFigureOut">
              <a:rPr lang="en-US" smtClean="0"/>
              <a:t>2/7/2026</a:t>
            </a:fld>
            <a:endParaRPr lang="en-US"/>
          </a:p>
        </p:txBody>
      </p:sp>
      <p:sp>
        <p:nvSpPr>
          <p:cNvPr id="4" name="Footer Placeholder 3">
            <a:extLst>
              <a:ext uri="{FF2B5EF4-FFF2-40B4-BE49-F238E27FC236}">
                <a16:creationId xmlns:a16="http://schemas.microsoft.com/office/drawing/2014/main" id="{A96026C8-472F-68E0-88E8-8AAF2FA4566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D200AB38-39DA-455D-4F99-78A4050D10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E5373D9-912D-46A0-AFE5-D0B4F0844BD1}" type="slidenum">
              <a:rPr lang="en-US" smtClean="0"/>
              <a:t>‹#›</a:t>
            </a:fld>
            <a:endParaRPr lang="en-US"/>
          </a:p>
        </p:txBody>
      </p:sp>
    </p:spTree>
    <p:extLst>
      <p:ext uri="{BB962C8B-B14F-4D97-AF65-F5344CB8AC3E}">
        <p14:creationId xmlns:p14="http://schemas.microsoft.com/office/powerpoint/2010/main" val="4271627744"/>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301923" y="1122363"/>
            <a:ext cx="7588155" cy="2621154"/>
          </a:xfrm>
        </p:spPr>
        <p:txBody>
          <a:bodyPr anchor="b">
            <a:normAutofit/>
          </a:bodyPr>
          <a:lstStyle>
            <a:lvl1pPr algn="ctr">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3843708"/>
            <a:ext cx="7588155" cy="1414091"/>
          </a:xfrm>
        </p:spPr>
        <p:txBody>
          <a:bodyPr>
            <a:normAutofit/>
          </a:bodyPr>
          <a:lstStyle>
            <a:lvl1pPr marL="0" indent="0" algn="ctr">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C128FA71-3A18-48C0-980F-4B68F7F63042}" type="datetime1">
              <a:rPr lang="en-US" smtClean="0"/>
              <a:t>2/6/2026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9454979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51C1210E-201E-4473-82AC-2466F5386C38}" type="datetime1">
              <a:rPr lang="en-US" smtClean="0"/>
              <a:t>2/6/2026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7030151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603381" y="553616"/>
            <a:ext cx="8273140" cy="4008859"/>
          </a:xfrm>
        </p:spPr>
        <p:txBody>
          <a:bodyPr anchor="t">
            <a:normAutofit/>
          </a:bodyPr>
          <a:lstStyle>
            <a:lvl1pPr>
              <a:defRPr sz="5400" cap="all" baseline="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603380" y="4589463"/>
            <a:ext cx="8273140" cy="1384617"/>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p:txBody>
          <a:bodyPr/>
          <a:lstStyle/>
          <a:p>
            <a:fld id="{B01EA198-6CAB-4B8F-B93F-1F9C8C4B6CE7}" type="datetime1">
              <a:rPr lang="en-US" smtClean="0"/>
              <a:t>2/6/2026</a:t>
            </a:fld>
            <a:endParaRPr lang="en-US"/>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0492395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741152" cy="1132258"/>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72E861E-DFBA-B4AA-9356-CDE3D3F57C04}"/>
              </a:ext>
            </a:extLst>
          </p:cNvPr>
          <p:cNvSpPr>
            <a:spLocks noGrp="1"/>
          </p:cNvSpPr>
          <p:nvPr>
            <p:ph sz="half" idx="1"/>
          </p:nvPr>
        </p:nvSpPr>
        <p:spPr>
          <a:xfrm>
            <a:off x="612648"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451D7538-EC5A-3EE7-176F-A58920C5079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CA06041F-4525-44D5-AA4F-332294BF1F56}" type="datetime1">
              <a:rPr lang="en-US" smtClean="0"/>
              <a:t>2/6/2026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9669068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47396"/>
            <a:ext cx="10745788" cy="1143292"/>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4DA52B0-7419-A946-4523-6D34BCAD26D1}"/>
              </a:ext>
            </a:extLst>
          </p:cNvPr>
          <p:cNvSpPr>
            <a:spLocks noGrp="1"/>
          </p:cNvSpPr>
          <p:nvPr>
            <p:ph sz="half" idx="2"/>
          </p:nvPr>
        </p:nvSpPr>
        <p:spPr>
          <a:xfrm>
            <a:off x="609600" y="2386894"/>
            <a:ext cx="5157787"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685735"/>
            <a:ext cx="518318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3BAE980-E611-98B5-04E9-DE4584B0E33F}"/>
              </a:ext>
            </a:extLst>
          </p:cNvPr>
          <p:cNvSpPr>
            <a:spLocks noGrp="1"/>
          </p:cNvSpPr>
          <p:nvPr>
            <p:ph sz="quarter" idx="4"/>
          </p:nvPr>
        </p:nvSpPr>
        <p:spPr>
          <a:xfrm>
            <a:off x="6172199" y="2386894"/>
            <a:ext cx="5183189"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F9557091-BBDF-4EB9-BA6B-2BB67AC4FC0F}" type="datetime1">
              <a:rPr lang="en-US" smtClean="0"/>
              <a:t>2/6/2026</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2596274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2D6B226B-77A6-410C-9796-083F278E0125}" type="datetime1">
              <a:rPr lang="en-US" smtClean="0"/>
              <a:t>2/6/2026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6884985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A23A578B-D289-4C40-8593-3D356C49DA58}" type="datetime1">
              <a:rPr lang="en-US" smtClean="0"/>
              <a:t>2/6/2026</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1420050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597160" y="553616"/>
            <a:ext cx="3595634" cy="1757505"/>
          </a:xfrm>
        </p:spPr>
        <p:txBody>
          <a:bodyPr anchor="t">
            <a:normAutofit/>
          </a:bodyPr>
          <a:lstStyle>
            <a:lvl1pPr>
              <a:defRPr sz="28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6"/>
            <a:ext cx="6279741" cy="548640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597160" y="2311121"/>
            <a:ext cx="3595634" cy="3728895"/>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713DFAE3-14DB-48A7-A80F-80DDB072CE3D}" type="datetime1">
              <a:rPr lang="en-US" smtClean="0"/>
              <a:t>2/6/2026</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8541458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594360" y="557784"/>
            <a:ext cx="3595634" cy="2212313"/>
          </a:xfrm>
        </p:spPr>
        <p:txBody>
          <a:bodyPr anchor="t">
            <a:normAutofit/>
          </a:bodyPr>
          <a:lstStyle>
            <a:lvl1pPr>
              <a:defRPr sz="28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p:nvPr>
        </p:nvSpPr>
        <p:spPr>
          <a:xfrm>
            <a:off x="5063319" y="657103"/>
            <a:ext cx="6483687" cy="555590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09601"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92C5EAEF-6478-4102-8F5D-A5FE9FC97ACB}" type="datetime1">
              <a:rPr lang="en-US" smtClean="0"/>
              <a:t>2/6/2026</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131730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E956D-CB73-C986-F100-46487310D11E}"/>
              </a:ext>
            </a:extLst>
          </p:cNvPr>
          <p:cNvSpPr>
            <a:spLocks noGrp="1"/>
          </p:cNvSpPr>
          <p:nvPr>
            <p:ph type="title"/>
          </p:nvPr>
        </p:nvSpPr>
        <p:spPr>
          <a:xfrm>
            <a:off x="612648" y="548640"/>
            <a:ext cx="10515600" cy="1132258"/>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E423E6A-A07C-BF0D-EA30-9A8A854E48F1}"/>
              </a:ext>
            </a:extLst>
          </p:cNvPr>
          <p:cNvSpPr>
            <a:spLocks noGrp="1"/>
          </p:cNvSpPr>
          <p:nvPr>
            <p:ph type="body" orient="vert" idx="1"/>
          </p:nvPr>
        </p:nvSpPr>
        <p:spPr>
          <a:xfrm>
            <a:off x="612648" y="1680898"/>
            <a:ext cx="10515600" cy="44960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DC9908-8F95-8DFC-72CC-158552B56735}"/>
              </a:ext>
            </a:extLst>
          </p:cNvPr>
          <p:cNvSpPr>
            <a:spLocks noGrp="1"/>
          </p:cNvSpPr>
          <p:nvPr>
            <p:ph type="dt" sz="half" idx="10"/>
          </p:nvPr>
        </p:nvSpPr>
        <p:spPr/>
        <p:txBody>
          <a:bodyPr/>
          <a:lstStyle/>
          <a:p>
            <a:fld id="{7104EDB3-C0E8-45F8-9E1D-1B6C8D1880C0}" type="datetime1">
              <a:rPr lang="en-US" smtClean="0"/>
              <a:t>2/6/2026</a:t>
            </a:fld>
            <a:endParaRPr lang="en-US"/>
          </a:p>
        </p:txBody>
      </p:sp>
      <p:sp>
        <p:nvSpPr>
          <p:cNvPr id="5" name="Footer Placeholder 4">
            <a:extLst>
              <a:ext uri="{FF2B5EF4-FFF2-40B4-BE49-F238E27FC236}">
                <a16:creationId xmlns:a16="http://schemas.microsoft.com/office/drawing/2014/main" id="{2C26C9BE-9060-50CB-2BB7-07307FF89A7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84A835B-97D3-BC22-F0B8-4986D463627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7304446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5B0252-346C-F6F4-3642-19F571550D45}"/>
              </a:ext>
            </a:extLst>
          </p:cNvPr>
          <p:cNvSpPr>
            <a:spLocks noGrp="1"/>
          </p:cNvSpPr>
          <p:nvPr>
            <p:ph type="title" orient="vert"/>
          </p:nvPr>
        </p:nvSpPr>
        <p:spPr>
          <a:xfrm>
            <a:off x="9634888" y="578497"/>
            <a:ext cx="2047037" cy="559846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798DA36-7351-9D6A-518B-678AB8A507D3}"/>
              </a:ext>
            </a:extLst>
          </p:cNvPr>
          <p:cNvSpPr>
            <a:spLocks noGrp="1"/>
          </p:cNvSpPr>
          <p:nvPr>
            <p:ph type="body" orient="vert" idx="1"/>
          </p:nvPr>
        </p:nvSpPr>
        <p:spPr>
          <a:xfrm>
            <a:off x="838200" y="578497"/>
            <a:ext cx="8796688" cy="55984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846BDFF-D746-836C-04B8-CA89AD5D1466}"/>
              </a:ext>
            </a:extLst>
          </p:cNvPr>
          <p:cNvSpPr>
            <a:spLocks noGrp="1"/>
          </p:cNvSpPr>
          <p:nvPr>
            <p:ph type="dt" sz="half" idx="10"/>
          </p:nvPr>
        </p:nvSpPr>
        <p:spPr/>
        <p:txBody>
          <a:bodyPr/>
          <a:lstStyle/>
          <a:p>
            <a:fld id="{9CF0EC4B-54ED-4041-B552-9BA760FA3DBA}" type="datetime1">
              <a:rPr lang="en-US" smtClean="0"/>
              <a:t>2/6/2026</a:t>
            </a:fld>
            <a:endParaRPr lang="en-US"/>
          </a:p>
        </p:txBody>
      </p:sp>
      <p:sp>
        <p:nvSpPr>
          <p:cNvPr id="5" name="Footer Placeholder 4">
            <a:extLst>
              <a:ext uri="{FF2B5EF4-FFF2-40B4-BE49-F238E27FC236}">
                <a16:creationId xmlns:a16="http://schemas.microsoft.com/office/drawing/2014/main" id="{919AA929-A9E6-FF9C-0C59-177F892D6A6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316D893-7E81-90DC-4139-7687B39C3AC8}"/>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7050500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37160" y="6453002"/>
            <a:ext cx="3494314" cy="365125"/>
          </a:xfrm>
          <a:prstGeom prst="rect">
            <a:avLst/>
          </a:prstGeom>
        </p:spPr>
        <p:txBody>
          <a:bodyPr vert="horz" lIns="91440" tIns="45720" rIns="91440" bIns="45720" rtlCol="0" anchor="ctr"/>
          <a:lstStyle>
            <a:lvl1pPr algn="l">
              <a:defRPr sz="900">
                <a:solidFill>
                  <a:schemeClr val="tx1"/>
                </a:solidFill>
              </a:defRPr>
            </a:lvl1pPr>
          </a:lstStyle>
          <a:p>
            <a:fld id="{67F45AC6-C491-4585-A584-9CE2AF7D5500}" type="datetime1">
              <a:rPr lang="en-US" smtClean="0"/>
              <a:t>2/6/2026</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76521" y="6453002"/>
            <a:ext cx="2805405" cy="365125"/>
          </a:xfrm>
          <a:prstGeom prst="rect">
            <a:avLst/>
          </a:prstGeom>
        </p:spPr>
        <p:txBody>
          <a:bodyPr vert="horz" lIns="91440" tIns="45720" rIns="91440" bIns="45720" rtlCol="0" anchor="ctr"/>
          <a:lstStyle>
            <a:lvl1pPr algn="r">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32162" y="6453002"/>
            <a:ext cx="429207" cy="365125"/>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a:p>
        </p:txBody>
      </p:sp>
    </p:spTree>
    <p:extLst>
      <p:ext uri="{BB962C8B-B14F-4D97-AF65-F5344CB8AC3E}">
        <p14:creationId xmlns:p14="http://schemas.microsoft.com/office/powerpoint/2010/main" val="1820424451"/>
      </p:ext>
    </p:extLst>
  </p:cSld>
  <p:clrMap bg1="lt1" tx1="dk1" bg2="lt2" tx2="dk2" accent1="accent1" accent2="accent2" accent3="accent3" accent4="accent4" accent5="accent5" accent6="accent6" hlink="hlink" folHlink="folHlink"/>
  <p:sldLayoutIdLst>
    <p:sldLayoutId id="2147483671" r:id="rId1"/>
    <p:sldLayoutId id="2147483670" r:id="rId2"/>
    <p:sldLayoutId id="2147483669" r:id="rId3"/>
    <p:sldLayoutId id="2147483668" r:id="rId4"/>
    <p:sldLayoutId id="2147483667" r:id="rId5"/>
    <p:sldLayoutId id="2147483666" r:id="rId6"/>
    <p:sldLayoutId id="2147483665" r:id="rId7"/>
    <p:sldLayoutId id="2147483664" r:id="rId8"/>
    <p:sldLayoutId id="2147483663" r:id="rId9"/>
    <p:sldLayoutId id="2147483662" r:id="rId10"/>
    <p:sldLayoutId id="2147483661" r:id="rId11"/>
  </p:sldLayoutIdLst>
  <p:hf sldNum="0" hdr="0" ftr="0" dt="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hyperlink" Target="https://docs.oracle.com/en/java/javase/25/docs/api/java.base/java/util/concurrent/ConcurrentHashMap.html" TargetMode="External"/><Relationship Id="rId2" Type="http://schemas.openxmlformats.org/officeDocument/2006/relationships/hyperlink" Target="https://docs.oracle.com/en/java/javase/25/docs/api/java.base/java/util/LinkedList.html" TargetMode="External"/><Relationship Id="rId1" Type="http://schemas.openxmlformats.org/officeDocument/2006/relationships/slideLayout" Target="../slideLayouts/slideLayout2.xml"/><Relationship Id="rId4" Type="http://schemas.openxmlformats.org/officeDocument/2006/relationships/hyperlink" Target="https://docs.oracle.com/en/java/javase/25/docs/api/java.base/java/util/concurrent/ConcurrentSkipListMap.html"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hyperlink" Target="https://docs.oracle.com/en/java/javase/25/docs/api/java.base/java/lang/Iterable.html" TargetMode="External"/><Relationship Id="rId2" Type="http://schemas.openxmlformats.org/officeDocument/2006/relationships/hyperlink" Target="https://docs.oracle.com/en/java/javase/25/docs/api/java.base/java/util/Collection.html" TargetMode="External"/><Relationship Id="rId1" Type="http://schemas.openxmlformats.org/officeDocument/2006/relationships/slideLayout" Target="../slideLayouts/slideLayout2.xml"/><Relationship Id="rId4" Type="http://schemas.openxmlformats.org/officeDocument/2006/relationships/hyperlink" Target="https://docs.oracle.com/en/java/javase/25/docs/api/java.base/java/util/Map.html" TargetMode="External"/></Relationships>
</file>

<file path=ppt/slides/_rels/slide41.xml.rels><?xml version="1.0" encoding="UTF-8" standalone="yes"?>
<Relationships xmlns="http://schemas.openxmlformats.org/package/2006/relationships"><Relationship Id="rId3" Type="http://schemas.openxmlformats.org/officeDocument/2006/relationships/hyperlink" Target="https://docs.oracle.com/en/java/javase/25/docs/api/java.base/java/util/Map.html" TargetMode="External"/><Relationship Id="rId2" Type="http://schemas.openxmlformats.org/officeDocument/2006/relationships/hyperlink" Target="https://docs.oracle.com/en/java/javase/25/docs/api/java.base/java/util/Collection.html" TargetMode="Externa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hyperlink" Target="https://docs.oracle.com/en/java/javase/25/docs/api/java.base/java/util/Collection.html" TargetMode="External"/><Relationship Id="rId2" Type="http://schemas.openxmlformats.org/officeDocument/2006/relationships/hyperlink" Target="https://docs.oracle.com/en/java/javase/25/docs/api/java.base/java/util/Iterator.html" TargetMode="External"/><Relationship Id="rId1" Type="http://schemas.openxmlformats.org/officeDocument/2006/relationships/slideLayout" Target="../slideLayouts/slideLayout2.xml"/><Relationship Id="rId5" Type="http://schemas.openxmlformats.org/officeDocument/2006/relationships/hyperlink" Target="https://docs.oracle.com/en/java/javase/25/docs/api/java.base/java/util/Queue.html" TargetMode="External"/><Relationship Id="rId4" Type="http://schemas.openxmlformats.org/officeDocument/2006/relationships/hyperlink" Target="https://docs.oracle.com/en/java/javase/25/docs/api/java.base/java/util/Map.html" TargetMode="External"/></Relationships>
</file>

<file path=ppt/slides/_rels/slide43.xml.rels><?xml version="1.0" encoding="UTF-8" standalone="yes"?>
<Relationships xmlns="http://schemas.openxmlformats.org/package/2006/relationships"><Relationship Id="rId8" Type="http://schemas.openxmlformats.org/officeDocument/2006/relationships/hyperlink" Target="https://docs.oracle.com/en/java/javase/25/docs/api/java.base/java/util/Iterator.html" TargetMode="External"/><Relationship Id="rId3" Type="http://schemas.openxmlformats.org/officeDocument/2006/relationships/hyperlink" Target="https://docs.oracle.com/en/java/javase/25/docs/api/java.base/java/util/Stack.html" TargetMode="External"/><Relationship Id="rId7" Type="http://schemas.openxmlformats.org/officeDocument/2006/relationships/hyperlink" Target="https://docs.oracle.com/en/java/javase/25/docs/api/java.base/java/util/Enumeration.html" TargetMode="External"/><Relationship Id="rId12" Type="http://schemas.openxmlformats.org/officeDocument/2006/relationships/hyperlink" Target="https://docs.oracle.com/en/java/javase/25/docs/api/java.base/java/util/concurrent/ConcurrentHashMap.html" TargetMode="External"/><Relationship Id="rId2" Type="http://schemas.openxmlformats.org/officeDocument/2006/relationships/hyperlink" Target="https://docs.oracle.com/en/java/javase/25/docs/api/java.base/java/util/Vector.html" TargetMode="External"/><Relationship Id="rId1" Type="http://schemas.openxmlformats.org/officeDocument/2006/relationships/slideLayout" Target="../slideLayouts/slideLayout2.xml"/><Relationship Id="rId6" Type="http://schemas.openxmlformats.org/officeDocument/2006/relationships/hyperlink" Target="https://docs.oracle.com/en/java/javase/25/docs/api/java.base/java/util/ArrayDeque.html" TargetMode="External"/><Relationship Id="rId11" Type="http://schemas.openxmlformats.org/officeDocument/2006/relationships/hyperlink" Target="https://docs.oracle.com/en/java/javase/25/docs/api/java.base/java/util/HashMap.html" TargetMode="External"/><Relationship Id="rId5" Type="http://schemas.openxmlformats.org/officeDocument/2006/relationships/hyperlink" Target="https://docs.oracle.com/en/java/javase/25/docs/api/java.base/java/util/ArrayList.html" TargetMode="External"/><Relationship Id="rId10" Type="http://schemas.openxmlformats.org/officeDocument/2006/relationships/hyperlink" Target="https://docs.oracle.com/en/java/javase/25/docs/api/java.base/java/util/Map.html" TargetMode="External"/><Relationship Id="rId4" Type="http://schemas.openxmlformats.org/officeDocument/2006/relationships/hyperlink" Target="https://docs.oracle.com/en/java/javase/25/docs/api/java.base/java/util/List.html" TargetMode="External"/><Relationship Id="rId9" Type="http://schemas.openxmlformats.org/officeDocument/2006/relationships/hyperlink" Target="https://docs.oracle.com/en/java/javase/25/docs/api/java.base/java/util/Hashtable.html"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hyperlink" Target="https://docs.oracle.com/en/java/javase/25/docs/api/java.base/java/util/Collection.html" TargetMode="External"/><Relationship Id="rId2" Type="http://schemas.openxmlformats.org/officeDocument/2006/relationships/hyperlink" Target="https://docs.oracle.com/en/java/javase/25/docs/api/java.base/java/lang/Iterable.html" TargetMode="External"/><Relationship Id="rId1" Type="http://schemas.openxmlformats.org/officeDocument/2006/relationships/slideLayout" Target="../slideLayouts/slideLayout2.xml"/><Relationship Id="rId4" Type="http://schemas.openxmlformats.org/officeDocument/2006/relationships/hyperlink" Target="https://docs.oracle.com/en/java/javase/25/docs/api/java.base/java/util/Iterator.html" TargetMode="External"/></Relationships>
</file>

<file path=ppt/slides/_rels/slide47.xml.rels><?xml version="1.0" encoding="UTF-8" standalone="yes"?>
<Relationships xmlns="http://schemas.openxmlformats.org/package/2006/relationships"><Relationship Id="rId3" Type="http://schemas.openxmlformats.org/officeDocument/2006/relationships/hyperlink" Target="https://docs.oracle.com/en/java/javase/25/docs/api/java.base/java/util/Set.html" TargetMode="External"/><Relationship Id="rId2" Type="http://schemas.openxmlformats.org/officeDocument/2006/relationships/hyperlink" Target="https://docs.oracle.com/en/java/javase/25/docs/api/java.base/java/util/List.html" TargetMode="External"/><Relationship Id="rId1" Type="http://schemas.openxmlformats.org/officeDocument/2006/relationships/slideLayout" Target="../slideLayouts/slideLayout2.xml"/><Relationship Id="rId4" Type="http://schemas.openxmlformats.org/officeDocument/2006/relationships/hyperlink" Target="https://docs.oracle.com/en/java/javase/25/docs/api/java.base/java/util/Collection.html" TargetMode="External"/></Relationships>
</file>

<file path=ppt/slides/_rels/slide48.xml.rels><?xml version="1.0" encoding="UTF-8" standalone="yes"?>
<Relationships xmlns="http://schemas.openxmlformats.org/package/2006/relationships"><Relationship Id="rId3" Type="http://schemas.openxmlformats.org/officeDocument/2006/relationships/hyperlink" Target="https://docs.oracle.com/en/java/javase/25/docs/api/java.base/java/util/Collection.html" TargetMode="External"/><Relationship Id="rId2" Type="http://schemas.openxmlformats.org/officeDocument/2006/relationships/hyperlink" Target="https://docs.oracle.com/en/java/javase/25/docs/api/java.base/java/util/List.html" TargetMode="External"/><Relationship Id="rId1" Type="http://schemas.openxmlformats.org/officeDocument/2006/relationships/slideLayout" Target="../slideLayouts/slideLayout2.xml"/><Relationship Id="rId4" Type="http://schemas.openxmlformats.org/officeDocument/2006/relationships/hyperlink" Target="https://docs.oracle.com/en/java/javase/25/docs/api/java.base/java/util/Set.html" TargetMode="External"/></Relationships>
</file>

<file path=ppt/slides/_rels/slide49.xml.rels><?xml version="1.0" encoding="UTF-8" standalone="yes"?>
<Relationships xmlns="http://schemas.openxmlformats.org/package/2006/relationships"><Relationship Id="rId3" Type="http://schemas.openxmlformats.org/officeDocument/2006/relationships/hyperlink" Target="https://docs.oracle.com/en/java/javase/25/docs/api/java.base/java/util/Collection.html" TargetMode="External"/><Relationship Id="rId2" Type="http://schemas.openxmlformats.org/officeDocument/2006/relationships/hyperlink" Target="https://docs.oracle.com/en/java/javase/25/docs/api/java.base/java/util/Set.html" TargetMode="External"/><Relationship Id="rId1" Type="http://schemas.openxmlformats.org/officeDocument/2006/relationships/slideLayout" Target="../slideLayouts/slideLayout2.xml"/><Relationship Id="rId4" Type="http://schemas.openxmlformats.org/officeDocument/2006/relationships/hyperlink" Target="https://docs.oracle.com/en/java/javase/25/docs/api/java.base/java/util/List.html" TargetMode="External"/></Relationships>
</file>

<file path=ppt/slides/_rels/slide50.xml.rels><?xml version="1.0" encoding="UTF-8" standalone="yes"?>
<Relationships xmlns="http://schemas.openxmlformats.org/package/2006/relationships"><Relationship Id="rId8" Type="http://schemas.openxmlformats.org/officeDocument/2006/relationships/hyperlink" Target="https://docs.oracle.com/en/java/javase/25/docs/api/java.base/java/util/List.html" TargetMode="External"/><Relationship Id="rId3" Type="http://schemas.openxmlformats.org/officeDocument/2006/relationships/hyperlink" Target="https://docs.oracle.com/en/java/javase/25/docs/api/java.base/java/util/SortedSet.html" TargetMode="External"/><Relationship Id="rId7" Type="http://schemas.openxmlformats.org/officeDocument/2006/relationships/hyperlink" Target="https://docs.oracle.com/en/java/javase/25/docs/api/java.base/java/util/Comparator.html" TargetMode="External"/><Relationship Id="rId2" Type="http://schemas.openxmlformats.org/officeDocument/2006/relationships/hyperlink" Target="https://docs.oracle.com/en/java/javase/25/docs/api/java.base/java/util/Set.html" TargetMode="External"/><Relationship Id="rId1" Type="http://schemas.openxmlformats.org/officeDocument/2006/relationships/slideLayout" Target="../slideLayouts/slideLayout2.xml"/><Relationship Id="rId6" Type="http://schemas.openxmlformats.org/officeDocument/2006/relationships/hyperlink" Target="https://docs.oracle.com/en/java/javase/25/docs/api/java.base/java/lang/Comparable.html#compareTo(T)" TargetMode="External"/><Relationship Id="rId5" Type="http://schemas.openxmlformats.org/officeDocument/2006/relationships/hyperlink" Target="https://docs.oracle.com/en/java/javase/25/docs/api/java.base/java/lang/Comparable.html" TargetMode="External"/><Relationship Id="rId10" Type="http://schemas.openxmlformats.org/officeDocument/2006/relationships/hyperlink" Target="https://docs.oracle.com/en/java/javase/25/docs/api/java.base/java/util/SortedSet.html#tailSet(E)" TargetMode="External"/><Relationship Id="rId4" Type="http://schemas.openxmlformats.org/officeDocument/2006/relationships/hyperlink" Target="https://docs.oracle.com/en/java/javase/25/docs/api/java.base/java/util/NavigableSet.html" TargetMode="External"/><Relationship Id="rId9" Type="http://schemas.openxmlformats.org/officeDocument/2006/relationships/hyperlink" Target="https://docs.oracle.com/en/java/javase/25/docs/api/java.base/java/util/SortedSet.html#headSet(E)" TargetMode="External"/></Relationships>
</file>

<file path=ppt/slides/_rels/slide51.xml.rels><?xml version="1.0" encoding="UTF-8" standalone="yes"?>
<Relationships xmlns="http://schemas.openxmlformats.org/package/2006/relationships"><Relationship Id="rId8" Type="http://schemas.openxmlformats.org/officeDocument/2006/relationships/hyperlink" Target="https://docs.oracle.com/en/java/javase/25/docs/api/java.base/java/lang/String.html" TargetMode="External"/><Relationship Id="rId3" Type="http://schemas.openxmlformats.org/officeDocument/2006/relationships/hyperlink" Target="https://docs.oracle.com/en/java/javase/25/docs/api/java.base/java/util/ArrayList.html" TargetMode="External"/><Relationship Id="rId7" Type="http://schemas.openxmlformats.org/officeDocument/2006/relationships/hyperlink" Target="https://docs.oracle.com/en/java/javase/25/docs/api/java.base/java/util/Collection.html#remove(java.lang.Object)" TargetMode="External"/><Relationship Id="rId2" Type="http://schemas.openxmlformats.org/officeDocument/2006/relationships/hyperlink" Target="https://docs.oracle.com/en/java/javase/25/docs/api/java.base/java/util/Collection.html" TargetMode="External"/><Relationship Id="rId1" Type="http://schemas.openxmlformats.org/officeDocument/2006/relationships/slideLayout" Target="../slideLayouts/slideLayout2.xml"/><Relationship Id="rId6" Type="http://schemas.openxmlformats.org/officeDocument/2006/relationships/hyperlink" Target="https://docs.oracle.com/en/java/javase/25/docs/api/java.base/java/util/Set.html" TargetMode="External"/><Relationship Id="rId5" Type="http://schemas.openxmlformats.org/officeDocument/2006/relationships/hyperlink" Target="https://docs.oracle.com/en/java/javase/25/docs/api/java.base/java/util/List.html" TargetMode="External"/><Relationship Id="rId4" Type="http://schemas.openxmlformats.org/officeDocument/2006/relationships/hyperlink" Target="https://docs.oracle.com/en/java/javase/25/docs/api/java.base/java/util/Collection.html#add(E)" TargetMode="External"/><Relationship Id="rId9" Type="http://schemas.openxmlformats.org/officeDocument/2006/relationships/hyperlink" Target="https://docs.oracle.com/en/java/javase/25/docs/api/java.base/java/util/Collection.html#contains(java.lang.Object)" TargetMode="External"/></Relationships>
</file>

<file path=ppt/slides/_rels/slide52.xml.rels><?xml version="1.0" encoding="UTF-8" standalone="yes"?>
<Relationships xmlns="http://schemas.openxmlformats.org/package/2006/relationships"><Relationship Id="rId8" Type="http://schemas.openxmlformats.org/officeDocument/2006/relationships/hyperlink" Target="https://docs.oracle.com/en/java/javase/25/docs/api/java.base/java/util/Collection.html#add(E)" TargetMode="External"/><Relationship Id="rId13" Type="http://schemas.openxmlformats.org/officeDocument/2006/relationships/hyperlink" Target="https://docs.oracle.com/en/java/javase/25/docs/api/java.base/java/util/Collection.html#size()" TargetMode="External"/><Relationship Id="rId3" Type="http://schemas.openxmlformats.org/officeDocument/2006/relationships/hyperlink" Target="https://docs.oracle.com/en/java/javase/25/docs/api/java.base/java/util/Collection.html#addAll(java.util.Collection)" TargetMode="External"/><Relationship Id="rId7" Type="http://schemas.openxmlformats.org/officeDocument/2006/relationships/hyperlink" Target="https://docs.oracle.com/en/java/javase/25/docs/api/java.base/java/util/Collection.html" TargetMode="External"/><Relationship Id="rId12" Type="http://schemas.openxmlformats.org/officeDocument/2006/relationships/hyperlink" Target="https://docs.oracle.com/en/java/javase/25/docs/api/java.base/java/util/Collection.html#remove(java.lang.Object)" TargetMode="External"/><Relationship Id="rId2" Type="http://schemas.openxmlformats.org/officeDocument/2006/relationships/hyperlink" Target="https://docs.oracle.com/en/java/javase/25/docs/api/java.base/java/util/Collection.html#containsAll(java.util.Collection)" TargetMode="External"/><Relationship Id="rId1" Type="http://schemas.openxmlformats.org/officeDocument/2006/relationships/slideLayout" Target="../slideLayouts/slideLayout2.xml"/><Relationship Id="rId6" Type="http://schemas.openxmlformats.org/officeDocument/2006/relationships/hyperlink" Target="https://docs.oracle.com/en/java/javase/25/docs/api/java.base/java/lang/String.html" TargetMode="External"/><Relationship Id="rId11" Type="http://schemas.openxmlformats.org/officeDocument/2006/relationships/hyperlink" Target="https://docs.oracle.com/en/java/javase/25/docs/api/java.base/java/util/Collection.html#contains(java.lang.Object)" TargetMode="External"/><Relationship Id="rId5" Type="http://schemas.openxmlformats.org/officeDocument/2006/relationships/hyperlink" Target="https://docs.oracle.com/en/java/javase/25/docs/api/java.base/java/util/Collection.html#retainAll(java.util.Collection)" TargetMode="External"/><Relationship Id="rId15" Type="http://schemas.openxmlformats.org/officeDocument/2006/relationships/hyperlink" Target="https://docs.oracle.com/en/java/javase/25/docs/api/java.base/java/util/Collection.html#clear()" TargetMode="External"/><Relationship Id="rId10" Type="http://schemas.openxmlformats.org/officeDocument/2006/relationships/hyperlink" Target="https://docs.oracle.com/en/java/javase/25/docs/api/java.base/java/util/HashSet.html" TargetMode="External"/><Relationship Id="rId4" Type="http://schemas.openxmlformats.org/officeDocument/2006/relationships/hyperlink" Target="https://docs.oracle.com/en/java/javase/25/docs/api/java.base/java/util/Collection.html#removeAll(java.util.Collection)" TargetMode="External"/><Relationship Id="rId9" Type="http://schemas.openxmlformats.org/officeDocument/2006/relationships/hyperlink" Target="https://docs.oracle.com/en/java/javase/25/docs/api/java.base/java/util/ArrayList.html" TargetMode="External"/><Relationship Id="rId14" Type="http://schemas.openxmlformats.org/officeDocument/2006/relationships/hyperlink" Target="https://docs.oracle.com/en/java/javase/25/docs/api/java.base/java/util/Collection.html#isEmpty()" TargetMode="External"/></Relationships>
</file>

<file path=ppt/slides/_rels/slide53.xml.rels><?xml version="1.0" encoding="UTF-8" standalone="yes"?>
<Relationships xmlns="http://schemas.openxmlformats.org/package/2006/relationships"><Relationship Id="rId3" Type="http://schemas.openxmlformats.org/officeDocument/2006/relationships/hyperlink" Target="https://docs.oracle.com/en/java/javase/25/docs/api/java.base/java/util/Collection.html#isEmpty()" TargetMode="External"/><Relationship Id="rId2" Type="http://schemas.openxmlformats.org/officeDocument/2006/relationships/hyperlink" Target="https://docs.oracle.com/en/java/javase/25/docs/api/java.base/java/util/Collection.html#size()" TargetMode="External"/><Relationship Id="rId1" Type="http://schemas.openxmlformats.org/officeDocument/2006/relationships/slideLayout" Target="../slideLayouts/slideLayout2.xml"/><Relationship Id="rId4" Type="http://schemas.openxmlformats.org/officeDocument/2006/relationships/hyperlink" Target="https://docs.oracle.com/en/java/javase/25/docs/api/java.base/java/util/Collection.html#clear()" TargetMode="External"/></Relationships>
</file>

<file path=ppt/slides/_rels/slide54.xml.rels><?xml version="1.0" encoding="UTF-8" standalone="yes"?>
<Relationships xmlns="http://schemas.openxmlformats.org/package/2006/relationships"><Relationship Id="rId3" Type="http://schemas.openxmlformats.org/officeDocument/2006/relationships/hyperlink" Target="https://docs.oracle.com/en/java/javase/25/docs/api/java.base/java/util/Collection.html#toArray()" TargetMode="External"/><Relationship Id="rId7" Type="http://schemas.openxmlformats.org/officeDocument/2006/relationships/hyperlink" Target="https://docs.oracle.com/en/java/javase/25/docs/api/java.base/java/util/function/IntFunction.html" TargetMode="External"/><Relationship Id="rId2" Type="http://schemas.openxmlformats.org/officeDocument/2006/relationships/hyperlink" Target="https://docs.oracle.com/en/java/javase/25/docs/api/java.base/java/util/Collection.html" TargetMode="External"/><Relationship Id="rId1" Type="http://schemas.openxmlformats.org/officeDocument/2006/relationships/slideLayout" Target="../slideLayouts/slideLayout2.xml"/><Relationship Id="rId6" Type="http://schemas.openxmlformats.org/officeDocument/2006/relationships/hyperlink" Target="https://docs.oracle.com/en/java/javase/25/docs/api/java.base/java/util/Collection.html#toArray(java.util.function.IntFunction)" TargetMode="External"/><Relationship Id="rId5" Type="http://schemas.openxmlformats.org/officeDocument/2006/relationships/hyperlink" Target="https://docs.oracle.com/en/java/javase/25/docs/api/java.base/java/util/Collection.html#toArray(T%5B%5D)" TargetMode="External"/><Relationship Id="rId4" Type="http://schemas.openxmlformats.org/officeDocument/2006/relationships/hyperlink" Target="https://docs.oracle.com/en/java/javase/25/docs/api/java.base/java/lang/String.html" TargetMode="Externa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5D3817B-01DA-DCDA-FA18-49D6FF0037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Network connection abstract against a white background">
            <a:extLst>
              <a:ext uri="{FF2B5EF4-FFF2-40B4-BE49-F238E27FC236}">
                <a16:creationId xmlns:a16="http://schemas.microsoft.com/office/drawing/2014/main" id="{F5F7AB6A-70AC-D8F6-FCC1-AD3A860A1104}"/>
              </a:ext>
            </a:extLst>
          </p:cNvPr>
          <p:cNvPicPr>
            <a:picLocks noChangeAspect="1"/>
          </p:cNvPicPr>
          <p:nvPr/>
        </p:nvPicPr>
        <p:blipFill>
          <a:blip r:embed="rId2"/>
          <a:srcRect t="15730"/>
          <a:stretch>
            <a:fillRect/>
          </a:stretch>
        </p:blipFill>
        <p:spPr>
          <a:xfrm>
            <a:off x="20" y="101610"/>
            <a:ext cx="12191980" cy="6857990"/>
          </a:xfrm>
          <a:prstGeom prst="rect">
            <a:avLst/>
          </a:prstGeom>
        </p:spPr>
      </p:pic>
      <p:sp>
        <p:nvSpPr>
          <p:cNvPr id="5" name="TextBox 4">
            <a:extLst>
              <a:ext uri="{FF2B5EF4-FFF2-40B4-BE49-F238E27FC236}">
                <a16:creationId xmlns:a16="http://schemas.microsoft.com/office/drawing/2014/main" id="{900DA671-D49A-09F8-A13E-DEBC6AA08C34}"/>
              </a:ext>
            </a:extLst>
          </p:cNvPr>
          <p:cNvSpPr txBox="1"/>
          <p:nvPr/>
        </p:nvSpPr>
        <p:spPr>
          <a:xfrm>
            <a:off x="7279409" y="522234"/>
            <a:ext cx="4703532" cy="769441"/>
          </a:xfrm>
          <a:prstGeom prst="rect">
            <a:avLst/>
          </a:prstGeom>
          <a:noFill/>
        </p:spPr>
        <p:txBody>
          <a:bodyPr wrap="none" rtlCol="0">
            <a:spAutoFit/>
          </a:bodyPr>
          <a:lstStyle/>
          <a:p>
            <a:r>
              <a:rPr lang="en-US" sz="4400" b="1" dirty="0"/>
              <a:t>Java Collections</a:t>
            </a:r>
          </a:p>
        </p:txBody>
      </p:sp>
      <p:sp>
        <p:nvSpPr>
          <p:cNvPr id="6" name="TextBox 5">
            <a:extLst>
              <a:ext uri="{FF2B5EF4-FFF2-40B4-BE49-F238E27FC236}">
                <a16:creationId xmlns:a16="http://schemas.microsoft.com/office/drawing/2014/main" id="{CDCA058D-CC49-C5EA-C0A3-5651C374A630}"/>
              </a:ext>
            </a:extLst>
          </p:cNvPr>
          <p:cNvSpPr txBox="1"/>
          <p:nvPr/>
        </p:nvSpPr>
        <p:spPr>
          <a:xfrm>
            <a:off x="8344393" y="1519258"/>
            <a:ext cx="2920992" cy="646331"/>
          </a:xfrm>
          <a:prstGeom prst="rect">
            <a:avLst/>
          </a:prstGeom>
          <a:noFill/>
        </p:spPr>
        <p:txBody>
          <a:bodyPr wrap="none" rtlCol="0">
            <a:spAutoFit/>
          </a:bodyPr>
          <a:lstStyle/>
          <a:p>
            <a:pPr algn="ctr"/>
            <a:r>
              <a:rPr lang="en-US" dirty="0"/>
              <a:t>By</a:t>
            </a:r>
            <a:br>
              <a:rPr lang="en-US" dirty="0"/>
            </a:br>
            <a:r>
              <a:rPr lang="en-US" dirty="0"/>
              <a:t>Uma Lavanya </a:t>
            </a:r>
            <a:r>
              <a:rPr lang="en-US" dirty="0" err="1"/>
              <a:t>Chintapanti</a:t>
            </a:r>
            <a:endParaRPr lang="en-US" dirty="0"/>
          </a:p>
        </p:txBody>
      </p:sp>
    </p:spTree>
    <p:extLst>
      <p:ext uri="{BB962C8B-B14F-4D97-AF65-F5344CB8AC3E}">
        <p14:creationId xmlns:p14="http://schemas.microsoft.com/office/powerpoint/2010/main" val="28688604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3DCAE5-77F1-48AE-FD0E-A2933485AD5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E5B2C8A-3EF8-9D0C-5140-892FFA9F8E38}"/>
              </a:ext>
            </a:extLst>
          </p:cNvPr>
          <p:cNvSpPr txBox="1"/>
          <p:nvPr/>
        </p:nvSpPr>
        <p:spPr>
          <a:xfrm>
            <a:off x="629920" y="331279"/>
            <a:ext cx="6096000" cy="1754326"/>
          </a:xfrm>
          <a:prstGeom prst="rect">
            <a:avLst/>
          </a:prstGeom>
          <a:noFill/>
        </p:spPr>
        <p:txBody>
          <a:bodyPr wrap="square">
            <a:spAutoFit/>
          </a:bodyPr>
          <a:lstStyle/>
          <a:p>
            <a:r>
              <a:rPr lang="en-US" dirty="0"/>
              <a:t>JAVA COLLECTIONS FRAMEWORK</a:t>
            </a:r>
          </a:p>
          <a:p>
            <a:r>
              <a:rPr lang="en-US" dirty="0"/>
              <a:t>────────────────────────────────</a:t>
            </a:r>
          </a:p>
          <a:p>
            <a:r>
              <a:rPr lang="en-US" dirty="0"/>
              <a:t>• Introduction to Collections</a:t>
            </a:r>
          </a:p>
          <a:p>
            <a:r>
              <a:rPr lang="en-US" dirty="0"/>
              <a:t>• Core Interfaces &amp; Classes</a:t>
            </a:r>
          </a:p>
          <a:p>
            <a:r>
              <a:rPr lang="en-US" dirty="0"/>
              <a:t>• Real-world Applications</a:t>
            </a:r>
          </a:p>
          <a:p>
            <a:r>
              <a:rPr lang="en-US" dirty="0"/>
              <a:t>• Best Practices &amp; Use Cases</a:t>
            </a:r>
          </a:p>
        </p:txBody>
      </p:sp>
    </p:spTree>
    <p:extLst>
      <p:ext uri="{BB962C8B-B14F-4D97-AF65-F5344CB8AC3E}">
        <p14:creationId xmlns:p14="http://schemas.microsoft.com/office/powerpoint/2010/main" val="11711814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F00F6B3-B4DB-63B0-C3B0-DB23C5457B66}"/>
              </a:ext>
            </a:extLst>
          </p:cNvPr>
          <p:cNvSpPr txBox="1"/>
          <p:nvPr/>
        </p:nvSpPr>
        <p:spPr>
          <a:xfrm>
            <a:off x="595854" y="335677"/>
            <a:ext cx="6096000" cy="3416320"/>
          </a:xfrm>
          <a:prstGeom prst="rect">
            <a:avLst/>
          </a:prstGeom>
          <a:noFill/>
        </p:spPr>
        <p:txBody>
          <a:bodyPr wrap="square">
            <a:spAutoFit/>
          </a:bodyPr>
          <a:lstStyle/>
          <a:p>
            <a:r>
              <a:rPr lang="en-US" dirty="0"/>
              <a:t>WHY COLLECTIONS?</a:t>
            </a:r>
          </a:p>
          <a:p>
            <a:r>
              <a:rPr lang="en-US" dirty="0"/>
              <a:t>────────────────────────────────</a:t>
            </a:r>
          </a:p>
          <a:p>
            <a:r>
              <a:rPr lang="en-US" dirty="0"/>
              <a:t>Problem: Arrays have limitations</a:t>
            </a:r>
          </a:p>
          <a:p>
            <a:r>
              <a:rPr lang="en-US" dirty="0"/>
              <a:t>• Fixed size</a:t>
            </a:r>
          </a:p>
          <a:p>
            <a:r>
              <a:rPr lang="en-US" dirty="0"/>
              <a:t>• Homogeneous data</a:t>
            </a:r>
          </a:p>
          <a:p>
            <a:r>
              <a:rPr lang="en-US" dirty="0"/>
              <a:t>• No built-in methods for search, sort, etc.</a:t>
            </a:r>
          </a:p>
          <a:p>
            <a:endParaRPr lang="en-US" dirty="0"/>
          </a:p>
          <a:p>
            <a:r>
              <a:rPr lang="en-US" dirty="0"/>
              <a:t>Solution: Collections Framework</a:t>
            </a:r>
          </a:p>
          <a:p>
            <a:r>
              <a:rPr lang="en-US" dirty="0"/>
              <a:t>• Dynamic sizing</a:t>
            </a:r>
          </a:p>
          <a:p>
            <a:r>
              <a:rPr lang="en-US" dirty="0"/>
              <a:t>• Heterogeneous objects</a:t>
            </a:r>
          </a:p>
          <a:p>
            <a:r>
              <a:rPr lang="en-US" dirty="0"/>
              <a:t>• Ready-made algorithms</a:t>
            </a:r>
          </a:p>
          <a:p>
            <a:r>
              <a:rPr lang="en-US" dirty="0"/>
              <a:t>• Better memory utilization</a:t>
            </a:r>
          </a:p>
        </p:txBody>
      </p:sp>
      <p:sp>
        <p:nvSpPr>
          <p:cNvPr id="9" name="TextBox 8">
            <a:extLst>
              <a:ext uri="{FF2B5EF4-FFF2-40B4-BE49-F238E27FC236}">
                <a16:creationId xmlns:a16="http://schemas.microsoft.com/office/drawing/2014/main" id="{D91FC7E0-0BE7-72EB-2713-462FCD833F65}"/>
              </a:ext>
            </a:extLst>
          </p:cNvPr>
          <p:cNvSpPr txBox="1"/>
          <p:nvPr/>
        </p:nvSpPr>
        <p:spPr>
          <a:xfrm>
            <a:off x="6507779" y="1013426"/>
            <a:ext cx="4285129" cy="2060821"/>
          </a:xfrm>
          <a:prstGeom prst="rect">
            <a:avLst/>
          </a:prstGeom>
          <a:noFill/>
        </p:spPr>
        <p:txBody>
          <a:bodyPr wrap="square">
            <a:spAutoFit/>
          </a:bodyPr>
          <a:lstStyle/>
          <a:p>
            <a:pPr algn="l" latinLnBrk="1">
              <a:lnSpc>
                <a:spcPts val="1650"/>
              </a:lnSpc>
              <a:buNone/>
            </a:pPr>
            <a:r>
              <a:rPr lang="en-US" b="0" i="1" dirty="0">
                <a:solidFill>
                  <a:srgbClr val="A0A1A7"/>
                </a:solidFill>
                <a:effectLst/>
                <a:latin typeface="Menlo"/>
              </a:rPr>
              <a:t>// Array limitations</a:t>
            </a:r>
            <a:endParaRPr lang="en-US" b="0" dirty="0">
              <a:solidFill>
                <a:srgbClr val="0F1115"/>
              </a:solidFill>
              <a:effectLst/>
              <a:latin typeface="Menlo"/>
            </a:endParaRPr>
          </a:p>
          <a:p>
            <a:pPr algn="l" latinLnBrk="1">
              <a:lnSpc>
                <a:spcPts val="1650"/>
              </a:lnSpc>
              <a:buNone/>
            </a:pPr>
            <a:r>
              <a:rPr lang="en-US" b="0" dirty="0">
                <a:solidFill>
                  <a:srgbClr val="B76B01"/>
                </a:solidFill>
                <a:effectLst/>
                <a:latin typeface="Menlo"/>
              </a:rPr>
              <a:t>String</a:t>
            </a:r>
            <a:r>
              <a:rPr lang="en-US" b="0" dirty="0">
                <a:solidFill>
                  <a:srgbClr val="383A42"/>
                </a:solidFill>
                <a:effectLst/>
                <a:latin typeface="Menlo"/>
              </a:rPr>
              <a:t>[]</a:t>
            </a:r>
            <a:r>
              <a:rPr lang="en-US" b="0" dirty="0">
                <a:solidFill>
                  <a:srgbClr val="0F1115"/>
                </a:solidFill>
                <a:effectLst/>
                <a:latin typeface="Menlo"/>
              </a:rPr>
              <a:t> array </a:t>
            </a:r>
            <a:r>
              <a:rPr lang="en-US" b="0" dirty="0">
                <a:solidFill>
                  <a:srgbClr val="4078F2"/>
                </a:solidFill>
                <a:effectLst/>
                <a:latin typeface="Menlo"/>
              </a:rPr>
              <a:t>=</a:t>
            </a:r>
            <a:r>
              <a:rPr lang="en-US" b="0" dirty="0">
                <a:solidFill>
                  <a:srgbClr val="0F1115"/>
                </a:solidFill>
                <a:effectLst/>
                <a:latin typeface="Menlo"/>
              </a:rPr>
              <a:t> </a:t>
            </a:r>
            <a:r>
              <a:rPr lang="en-US" b="0" dirty="0">
                <a:solidFill>
                  <a:srgbClr val="A626A4"/>
                </a:solidFill>
                <a:effectLst/>
                <a:latin typeface="Menlo"/>
              </a:rPr>
              <a:t>new</a:t>
            </a:r>
            <a:r>
              <a:rPr lang="en-US" b="0" dirty="0">
                <a:solidFill>
                  <a:srgbClr val="0F1115"/>
                </a:solidFill>
                <a:effectLst/>
                <a:latin typeface="Menlo"/>
              </a:rPr>
              <a:t> </a:t>
            </a:r>
            <a:r>
              <a:rPr lang="en-US" b="0" dirty="0">
                <a:solidFill>
                  <a:srgbClr val="B76B01"/>
                </a:solidFill>
                <a:effectLst/>
                <a:latin typeface="Menlo"/>
              </a:rPr>
              <a:t>String</a:t>
            </a:r>
            <a:r>
              <a:rPr lang="en-US" b="0" dirty="0">
                <a:solidFill>
                  <a:srgbClr val="383A42"/>
                </a:solidFill>
                <a:effectLst/>
                <a:latin typeface="Menlo"/>
              </a:rPr>
              <a:t>[</a:t>
            </a:r>
            <a:r>
              <a:rPr lang="en-US" b="0" dirty="0">
                <a:solidFill>
                  <a:srgbClr val="B76B01"/>
                </a:solidFill>
                <a:effectLst/>
                <a:latin typeface="Menlo"/>
              </a:rPr>
              <a:t>5</a:t>
            </a:r>
            <a:r>
              <a:rPr lang="en-US" b="0" dirty="0">
                <a:solidFill>
                  <a:srgbClr val="383A42"/>
                </a:solidFill>
                <a:effectLst/>
                <a:latin typeface="Menlo"/>
              </a:rPr>
              <a:t>];</a:t>
            </a:r>
            <a:r>
              <a:rPr lang="en-US" b="0" dirty="0">
                <a:solidFill>
                  <a:srgbClr val="0F1115"/>
                </a:solidFill>
                <a:effectLst/>
                <a:latin typeface="Menlo"/>
              </a:rPr>
              <a:t> </a:t>
            </a:r>
            <a:r>
              <a:rPr lang="en-US" b="0" i="1" dirty="0">
                <a:solidFill>
                  <a:srgbClr val="A0A1A7"/>
                </a:solidFill>
                <a:effectLst/>
                <a:latin typeface="Menlo"/>
              </a:rPr>
              <a:t>// Fixed size</a:t>
            </a:r>
            <a:endParaRPr lang="en-US" b="0" dirty="0">
              <a:solidFill>
                <a:srgbClr val="0F1115"/>
              </a:solidFill>
              <a:effectLst/>
              <a:latin typeface="Menlo"/>
            </a:endParaRPr>
          </a:p>
          <a:p>
            <a:pPr algn="l" latinLnBrk="1">
              <a:lnSpc>
                <a:spcPts val="1650"/>
              </a:lnSpc>
              <a:buNone/>
            </a:pPr>
            <a:r>
              <a:rPr lang="en-US" b="0" dirty="0">
                <a:solidFill>
                  <a:srgbClr val="0F1115"/>
                </a:solidFill>
                <a:effectLst/>
                <a:latin typeface="Menlo"/>
              </a:rPr>
              <a:t>array</a:t>
            </a:r>
            <a:r>
              <a:rPr lang="en-US" b="0" dirty="0">
                <a:solidFill>
                  <a:srgbClr val="383A42"/>
                </a:solidFill>
                <a:effectLst/>
                <a:latin typeface="Menlo"/>
              </a:rPr>
              <a:t>[</a:t>
            </a:r>
            <a:r>
              <a:rPr lang="en-US" b="0" dirty="0">
                <a:solidFill>
                  <a:srgbClr val="B76B01"/>
                </a:solidFill>
                <a:effectLst/>
                <a:latin typeface="Menlo"/>
              </a:rPr>
              <a:t>0</a:t>
            </a:r>
            <a:r>
              <a:rPr lang="en-US" b="0" dirty="0">
                <a:solidFill>
                  <a:srgbClr val="383A42"/>
                </a:solidFill>
                <a:effectLst/>
                <a:latin typeface="Menlo"/>
              </a:rPr>
              <a:t>]</a:t>
            </a:r>
            <a:r>
              <a:rPr lang="en-US" b="0" dirty="0">
                <a:solidFill>
                  <a:srgbClr val="0F1115"/>
                </a:solidFill>
                <a:effectLst/>
                <a:latin typeface="Menlo"/>
              </a:rPr>
              <a:t> </a:t>
            </a:r>
            <a:r>
              <a:rPr lang="en-US" b="0" dirty="0">
                <a:solidFill>
                  <a:srgbClr val="4078F2"/>
                </a:solidFill>
                <a:effectLst/>
                <a:latin typeface="Menlo"/>
              </a:rPr>
              <a:t>=</a:t>
            </a:r>
            <a:r>
              <a:rPr lang="en-US" b="0" dirty="0">
                <a:solidFill>
                  <a:srgbClr val="0F1115"/>
                </a:solidFill>
                <a:effectLst/>
                <a:latin typeface="Menlo"/>
              </a:rPr>
              <a:t> </a:t>
            </a:r>
            <a:r>
              <a:rPr lang="en-US" b="0" dirty="0">
                <a:solidFill>
                  <a:srgbClr val="50A14F"/>
                </a:solidFill>
                <a:effectLst/>
                <a:latin typeface="Menlo"/>
              </a:rPr>
              <a:t>"Java"</a:t>
            </a:r>
            <a:r>
              <a:rPr lang="en-US" b="0" dirty="0">
                <a:solidFill>
                  <a:srgbClr val="383A42"/>
                </a:solidFill>
                <a:effectLst/>
                <a:latin typeface="Menlo"/>
              </a:rPr>
              <a:t>;</a:t>
            </a:r>
            <a:endParaRPr lang="en-US" b="0" dirty="0">
              <a:solidFill>
                <a:srgbClr val="0F1115"/>
              </a:solidFill>
              <a:effectLst/>
              <a:latin typeface="Menlo"/>
            </a:endParaRPr>
          </a:p>
          <a:p>
            <a:pPr algn="l" latinLnBrk="1">
              <a:lnSpc>
                <a:spcPts val="1650"/>
              </a:lnSpc>
              <a:buNone/>
            </a:pPr>
            <a:endParaRPr lang="en-US" b="0" dirty="0">
              <a:solidFill>
                <a:srgbClr val="0F1115"/>
              </a:solidFill>
              <a:effectLst/>
              <a:latin typeface="Menlo"/>
            </a:endParaRPr>
          </a:p>
          <a:p>
            <a:pPr algn="l" latinLnBrk="1">
              <a:lnSpc>
                <a:spcPts val="1650"/>
              </a:lnSpc>
              <a:buNone/>
            </a:pPr>
            <a:r>
              <a:rPr lang="en-US" b="0" i="1" dirty="0">
                <a:solidFill>
                  <a:srgbClr val="A0A1A7"/>
                </a:solidFill>
                <a:effectLst/>
                <a:latin typeface="Menlo"/>
              </a:rPr>
              <a:t>// Collections flexibility</a:t>
            </a:r>
            <a:endParaRPr lang="en-US" b="0" dirty="0">
              <a:solidFill>
                <a:srgbClr val="0F1115"/>
              </a:solidFill>
              <a:effectLst/>
              <a:latin typeface="Menlo"/>
            </a:endParaRPr>
          </a:p>
          <a:p>
            <a:pPr algn="l" latinLnBrk="1">
              <a:lnSpc>
                <a:spcPts val="1650"/>
              </a:lnSpc>
              <a:buNone/>
            </a:pPr>
            <a:r>
              <a:rPr lang="en-US" b="0" dirty="0">
                <a:solidFill>
                  <a:srgbClr val="B76B01"/>
                </a:solidFill>
                <a:effectLst/>
                <a:latin typeface="Menlo"/>
              </a:rPr>
              <a:t>List</a:t>
            </a:r>
            <a:r>
              <a:rPr lang="en-US" b="0" dirty="0">
                <a:solidFill>
                  <a:srgbClr val="383A42"/>
                </a:solidFill>
                <a:effectLst/>
                <a:latin typeface="Menlo"/>
              </a:rPr>
              <a:t>&lt;</a:t>
            </a:r>
            <a:r>
              <a:rPr lang="en-US" b="0" dirty="0">
                <a:solidFill>
                  <a:srgbClr val="B76B01"/>
                </a:solidFill>
                <a:effectLst/>
                <a:latin typeface="Menlo"/>
              </a:rPr>
              <a:t>String</a:t>
            </a:r>
            <a:r>
              <a:rPr lang="en-US" b="0" dirty="0">
                <a:solidFill>
                  <a:srgbClr val="383A42"/>
                </a:solidFill>
                <a:effectLst/>
                <a:latin typeface="Menlo"/>
              </a:rPr>
              <a:t>&gt;</a:t>
            </a:r>
            <a:r>
              <a:rPr lang="en-US" b="0" dirty="0">
                <a:solidFill>
                  <a:srgbClr val="0F1115"/>
                </a:solidFill>
                <a:effectLst/>
                <a:latin typeface="Menlo"/>
              </a:rPr>
              <a:t> list </a:t>
            </a:r>
            <a:r>
              <a:rPr lang="en-US" b="0" dirty="0">
                <a:solidFill>
                  <a:srgbClr val="4078F2"/>
                </a:solidFill>
                <a:effectLst/>
                <a:latin typeface="Menlo"/>
              </a:rPr>
              <a:t>=</a:t>
            </a:r>
            <a:r>
              <a:rPr lang="en-US" b="0" dirty="0">
                <a:solidFill>
                  <a:srgbClr val="0F1115"/>
                </a:solidFill>
                <a:effectLst/>
                <a:latin typeface="Menlo"/>
              </a:rPr>
              <a:t> </a:t>
            </a:r>
            <a:r>
              <a:rPr lang="en-US" b="0" dirty="0">
                <a:solidFill>
                  <a:srgbClr val="A626A4"/>
                </a:solidFill>
                <a:effectLst/>
                <a:latin typeface="Menlo"/>
              </a:rPr>
              <a:t>new</a:t>
            </a:r>
            <a:r>
              <a:rPr lang="en-US" b="0" dirty="0">
                <a:solidFill>
                  <a:srgbClr val="0F1115"/>
                </a:solidFill>
                <a:effectLst/>
                <a:latin typeface="Menlo"/>
              </a:rPr>
              <a:t> </a:t>
            </a:r>
            <a:r>
              <a:rPr lang="en-US" b="0" dirty="0" err="1">
                <a:solidFill>
                  <a:srgbClr val="B76B01"/>
                </a:solidFill>
                <a:effectLst/>
                <a:latin typeface="Menlo"/>
              </a:rPr>
              <a:t>ArrayList</a:t>
            </a:r>
            <a:r>
              <a:rPr lang="en-US" b="0" dirty="0">
                <a:solidFill>
                  <a:srgbClr val="383A42"/>
                </a:solidFill>
                <a:effectLst/>
                <a:latin typeface="Menlo"/>
              </a:rPr>
              <a:t>&lt;&gt;();</a:t>
            </a:r>
            <a:endParaRPr lang="en-US" b="0" dirty="0">
              <a:solidFill>
                <a:srgbClr val="0F1115"/>
              </a:solidFill>
              <a:effectLst/>
              <a:latin typeface="Menlo"/>
            </a:endParaRPr>
          </a:p>
          <a:p>
            <a:pPr algn="l" latinLnBrk="1">
              <a:lnSpc>
                <a:spcPts val="1650"/>
              </a:lnSpc>
              <a:buNone/>
            </a:pPr>
            <a:r>
              <a:rPr lang="en-US" b="0" dirty="0" err="1">
                <a:solidFill>
                  <a:srgbClr val="0F1115"/>
                </a:solidFill>
                <a:effectLst/>
                <a:latin typeface="Menlo"/>
              </a:rPr>
              <a:t>list</a:t>
            </a:r>
            <a:r>
              <a:rPr lang="en-US" b="0" dirty="0" err="1">
                <a:solidFill>
                  <a:srgbClr val="383A42"/>
                </a:solidFill>
                <a:effectLst/>
                <a:latin typeface="Menlo"/>
              </a:rPr>
              <a:t>.</a:t>
            </a:r>
            <a:r>
              <a:rPr lang="en-US" b="0" dirty="0" err="1">
                <a:solidFill>
                  <a:srgbClr val="4078F2"/>
                </a:solidFill>
                <a:effectLst/>
                <a:latin typeface="Menlo"/>
              </a:rPr>
              <a:t>add</a:t>
            </a:r>
            <a:r>
              <a:rPr lang="en-US" b="0" dirty="0">
                <a:solidFill>
                  <a:srgbClr val="383A42"/>
                </a:solidFill>
                <a:effectLst/>
                <a:latin typeface="Menlo"/>
              </a:rPr>
              <a:t>(</a:t>
            </a:r>
            <a:r>
              <a:rPr lang="en-US" b="0" dirty="0">
                <a:solidFill>
                  <a:srgbClr val="50A14F"/>
                </a:solidFill>
                <a:effectLst/>
                <a:latin typeface="Menlo"/>
              </a:rPr>
              <a:t>"Java"</a:t>
            </a:r>
            <a:r>
              <a:rPr lang="en-US" b="0" dirty="0">
                <a:solidFill>
                  <a:srgbClr val="383A42"/>
                </a:solidFill>
                <a:effectLst/>
                <a:latin typeface="Menlo"/>
              </a:rPr>
              <a:t>);</a:t>
            </a:r>
            <a:r>
              <a:rPr lang="en-US" b="0" dirty="0">
                <a:solidFill>
                  <a:srgbClr val="0F1115"/>
                </a:solidFill>
                <a:effectLst/>
                <a:latin typeface="Menlo"/>
              </a:rPr>
              <a:t>  </a:t>
            </a:r>
            <a:r>
              <a:rPr lang="en-US" b="0" i="1" dirty="0">
                <a:solidFill>
                  <a:srgbClr val="A0A1A7"/>
                </a:solidFill>
                <a:effectLst/>
                <a:latin typeface="Menlo"/>
              </a:rPr>
              <a:t>// Auto-expands</a:t>
            </a:r>
            <a:endParaRPr lang="en-US" b="0" dirty="0">
              <a:solidFill>
                <a:srgbClr val="0F1115"/>
              </a:solidFill>
              <a:effectLst/>
              <a:latin typeface="Menlo"/>
            </a:endParaRPr>
          </a:p>
          <a:p>
            <a:pPr algn="l" latinLnBrk="1">
              <a:lnSpc>
                <a:spcPts val="1650"/>
              </a:lnSpc>
              <a:buNone/>
            </a:pPr>
            <a:r>
              <a:rPr lang="en-US" b="0" dirty="0" err="1">
                <a:solidFill>
                  <a:srgbClr val="0F1115"/>
                </a:solidFill>
                <a:effectLst/>
                <a:latin typeface="Menlo"/>
              </a:rPr>
              <a:t>list</a:t>
            </a:r>
            <a:r>
              <a:rPr lang="en-US" b="0" dirty="0" err="1">
                <a:solidFill>
                  <a:srgbClr val="383A42"/>
                </a:solidFill>
                <a:effectLst/>
                <a:latin typeface="Menlo"/>
              </a:rPr>
              <a:t>.</a:t>
            </a:r>
            <a:r>
              <a:rPr lang="en-US" b="0" dirty="0" err="1">
                <a:solidFill>
                  <a:srgbClr val="4078F2"/>
                </a:solidFill>
                <a:effectLst/>
                <a:latin typeface="Menlo"/>
              </a:rPr>
              <a:t>add</a:t>
            </a:r>
            <a:r>
              <a:rPr lang="en-US" b="0" dirty="0">
                <a:solidFill>
                  <a:srgbClr val="383A42"/>
                </a:solidFill>
                <a:effectLst/>
                <a:latin typeface="Menlo"/>
              </a:rPr>
              <a:t>(</a:t>
            </a:r>
            <a:r>
              <a:rPr lang="en-US" b="0" dirty="0">
                <a:solidFill>
                  <a:srgbClr val="50A14F"/>
                </a:solidFill>
                <a:effectLst/>
                <a:latin typeface="Menlo"/>
              </a:rPr>
              <a:t>"Python"</a:t>
            </a:r>
            <a:r>
              <a:rPr lang="en-US" b="0" dirty="0">
                <a:solidFill>
                  <a:srgbClr val="383A42"/>
                </a:solidFill>
                <a:effectLst/>
                <a:latin typeface="Menlo"/>
              </a:rPr>
              <a:t>);</a:t>
            </a:r>
            <a:endParaRPr lang="en-US" b="0" dirty="0">
              <a:solidFill>
                <a:srgbClr val="0F1115"/>
              </a:solidFill>
              <a:effectLst/>
              <a:latin typeface="Menlo"/>
            </a:endParaRPr>
          </a:p>
          <a:p>
            <a:pPr algn="l" latinLnBrk="1">
              <a:lnSpc>
                <a:spcPts val="1650"/>
              </a:lnSpc>
              <a:buNone/>
            </a:pPr>
            <a:r>
              <a:rPr lang="en-US" b="0" dirty="0" err="1">
                <a:solidFill>
                  <a:srgbClr val="0F1115"/>
                </a:solidFill>
                <a:effectLst/>
                <a:latin typeface="Menlo"/>
              </a:rPr>
              <a:t>list</a:t>
            </a:r>
            <a:r>
              <a:rPr lang="en-US" b="0" dirty="0" err="1">
                <a:solidFill>
                  <a:srgbClr val="383A42"/>
                </a:solidFill>
                <a:effectLst/>
                <a:latin typeface="Menlo"/>
              </a:rPr>
              <a:t>.</a:t>
            </a:r>
            <a:r>
              <a:rPr lang="en-US" b="0" dirty="0" err="1">
                <a:solidFill>
                  <a:srgbClr val="4078F2"/>
                </a:solidFill>
                <a:effectLst/>
                <a:latin typeface="Menlo"/>
              </a:rPr>
              <a:t>add</a:t>
            </a:r>
            <a:r>
              <a:rPr lang="en-US" b="0" dirty="0">
                <a:solidFill>
                  <a:srgbClr val="383A42"/>
                </a:solidFill>
                <a:effectLst/>
                <a:latin typeface="Menlo"/>
              </a:rPr>
              <a:t>(</a:t>
            </a:r>
            <a:r>
              <a:rPr lang="en-US" b="0" dirty="0">
                <a:solidFill>
                  <a:srgbClr val="50A14F"/>
                </a:solidFill>
                <a:effectLst/>
                <a:latin typeface="Menlo"/>
              </a:rPr>
              <a:t>"JavaScript"</a:t>
            </a:r>
            <a:r>
              <a:rPr lang="en-US" b="0" dirty="0">
                <a:solidFill>
                  <a:srgbClr val="383A42"/>
                </a:solidFill>
                <a:effectLst/>
                <a:latin typeface="Menlo"/>
              </a:rPr>
              <a:t>);</a:t>
            </a:r>
            <a:endParaRPr lang="en-US" b="0" dirty="0">
              <a:solidFill>
                <a:srgbClr val="0F1115"/>
              </a:solidFill>
              <a:effectLst/>
              <a:latin typeface="Menlo"/>
            </a:endParaRPr>
          </a:p>
        </p:txBody>
      </p:sp>
    </p:spTree>
    <p:extLst>
      <p:ext uri="{BB962C8B-B14F-4D97-AF65-F5344CB8AC3E}">
        <p14:creationId xmlns:p14="http://schemas.microsoft.com/office/powerpoint/2010/main" val="33481535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702183-3E21-E03F-2993-37F590D6C477}"/>
            </a:ext>
          </a:extLst>
        </p:cNvPr>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D265677A-FB23-ECDF-A292-2319D0334EE0}"/>
              </a:ext>
            </a:extLst>
          </p:cNvPr>
          <p:cNvSpPr/>
          <p:nvPr/>
        </p:nvSpPr>
        <p:spPr>
          <a:xfrm>
            <a:off x="661937" y="258616"/>
            <a:ext cx="996721" cy="467360"/>
          </a:xfrm>
          <a:prstGeom prst="roundRect">
            <a:avLst/>
          </a:prstGeom>
          <a:solidFill>
            <a:srgbClr val="92D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err="1"/>
              <a:t>Iterable</a:t>
            </a:r>
            <a:endParaRPr lang="en-US" sz="1200" dirty="0"/>
          </a:p>
        </p:txBody>
      </p:sp>
      <p:sp>
        <p:nvSpPr>
          <p:cNvPr id="7" name="Rectangle: Rounded Corners 6">
            <a:extLst>
              <a:ext uri="{FF2B5EF4-FFF2-40B4-BE49-F238E27FC236}">
                <a16:creationId xmlns:a16="http://schemas.microsoft.com/office/drawing/2014/main" id="{B38A3248-4178-2089-CF08-005211461760}"/>
              </a:ext>
            </a:extLst>
          </p:cNvPr>
          <p:cNvSpPr/>
          <p:nvPr/>
        </p:nvSpPr>
        <p:spPr>
          <a:xfrm>
            <a:off x="4108786" y="269926"/>
            <a:ext cx="996721" cy="467360"/>
          </a:xfrm>
          <a:prstGeom prst="roundRect">
            <a:avLst/>
          </a:prstGeom>
          <a:solidFill>
            <a:srgbClr val="92D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Collection</a:t>
            </a:r>
          </a:p>
        </p:txBody>
      </p:sp>
      <p:sp>
        <p:nvSpPr>
          <p:cNvPr id="8" name="Rectangle: Rounded Corners 7">
            <a:extLst>
              <a:ext uri="{FF2B5EF4-FFF2-40B4-BE49-F238E27FC236}">
                <a16:creationId xmlns:a16="http://schemas.microsoft.com/office/drawing/2014/main" id="{C16C8DCE-754E-C3AB-A315-EEE4ABBE5C51}"/>
              </a:ext>
            </a:extLst>
          </p:cNvPr>
          <p:cNvSpPr/>
          <p:nvPr/>
        </p:nvSpPr>
        <p:spPr>
          <a:xfrm>
            <a:off x="752373" y="1440332"/>
            <a:ext cx="996721" cy="467360"/>
          </a:xfrm>
          <a:prstGeom prst="roundRect">
            <a:avLst/>
          </a:prstGeom>
          <a:solidFill>
            <a:srgbClr val="92D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List</a:t>
            </a:r>
          </a:p>
        </p:txBody>
      </p:sp>
      <p:sp>
        <p:nvSpPr>
          <p:cNvPr id="9" name="Rectangle: Rounded Corners 8">
            <a:extLst>
              <a:ext uri="{FF2B5EF4-FFF2-40B4-BE49-F238E27FC236}">
                <a16:creationId xmlns:a16="http://schemas.microsoft.com/office/drawing/2014/main" id="{2C33D7B0-070B-A388-B73A-5F68A345A493}"/>
              </a:ext>
            </a:extLst>
          </p:cNvPr>
          <p:cNvSpPr/>
          <p:nvPr/>
        </p:nvSpPr>
        <p:spPr>
          <a:xfrm>
            <a:off x="3457730" y="1458883"/>
            <a:ext cx="724455" cy="467360"/>
          </a:xfrm>
          <a:prstGeom prst="roundRect">
            <a:avLst/>
          </a:prstGeom>
          <a:solidFill>
            <a:srgbClr val="92D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Queue</a:t>
            </a:r>
          </a:p>
        </p:txBody>
      </p:sp>
      <p:sp>
        <p:nvSpPr>
          <p:cNvPr id="10" name="Rectangle: Rounded Corners 9">
            <a:extLst>
              <a:ext uri="{FF2B5EF4-FFF2-40B4-BE49-F238E27FC236}">
                <a16:creationId xmlns:a16="http://schemas.microsoft.com/office/drawing/2014/main" id="{A63D53AC-037D-7A77-8A6F-F5E864489510}"/>
              </a:ext>
            </a:extLst>
          </p:cNvPr>
          <p:cNvSpPr/>
          <p:nvPr/>
        </p:nvSpPr>
        <p:spPr>
          <a:xfrm>
            <a:off x="5758482" y="1484357"/>
            <a:ext cx="605714" cy="398409"/>
          </a:xfrm>
          <a:prstGeom prst="roundRect">
            <a:avLst/>
          </a:prstGeom>
          <a:solidFill>
            <a:srgbClr val="92D050"/>
          </a:solidFill>
          <a:ln>
            <a:solidFill>
              <a:srgbClr val="00B050"/>
            </a:solidFill>
          </a:ln>
          <a:effectLst>
            <a:outerShdw blurRad="50800" dist="38100" dir="5400000" algn="t" rotWithShape="0">
              <a:schemeClr val="tx1">
                <a:lumMod val="85000"/>
                <a:lumOff val="15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Set</a:t>
            </a:r>
          </a:p>
        </p:txBody>
      </p:sp>
      <p:cxnSp>
        <p:nvCxnSpPr>
          <p:cNvPr id="12" name="Connector: Elbow 11">
            <a:extLst>
              <a:ext uri="{FF2B5EF4-FFF2-40B4-BE49-F238E27FC236}">
                <a16:creationId xmlns:a16="http://schemas.microsoft.com/office/drawing/2014/main" id="{90D30313-D849-8592-BE6A-F1564EB9C5FF}"/>
              </a:ext>
            </a:extLst>
          </p:cNvPr>
          <p:cNvCxnSpPr>
            <a:cxnSpLocks/>
            <a:stCxn id="7" idx="1"/>
            <a:endCxn id="6" idx="3"/>
          </p:cNvCxnSpPr>
          <p:nvPr/>
        </p:nvCxnSpPr>
        <p:spPr>
          <a:xfrm rot="10800000">
            <a:off x="1658658" y="492296"/>
            <a:ext cx="2450128" cy="11310"/>
          </a:xfrm>
          <a:prstGeom prst="bentConnector3">
            <a:avLst>
              <a:gd name="adj1" fmla="val 50000"/>
            </a:avLst>
          </a:prstGeom>
          <a:ln w="47625">
            <a:solidFill>
              <a:schemeClr val="accent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4" name="Connector: Elbow 13">
            <a:extLst>
              <a:ext uri="{FF2B5EF4-FFF2-40B4-BE49-F238E27FC236}">
                <a16:creationId xmlns:a16="http://schemas.microsoft.com/office/drawing/2014/main" id="{DD2103E5-AA6A-EFFE-ADF4-74CEDFE718E3}"/>
              </a:ext>
            </a:extLst>
          </p:cNvPr>
          <p:cNvCxnSpPr>
            <a:stCxn id="8" idx="0"/>
            <a:endCxn id="7" idx="2"/>
          </p:cNvCxnSpPr>
          <p:nvPr/>
        </p:nvCxnSpPr>
        <p:spPr>
          <a:xfrm rot="5400000" flipH="1" flipV="1">
            <a:off x="2577417" y="-589397"/>
            <a:ext cx="703046" cy="3356413"/>
          </a:xfrm>
          <a:prstGeom prst="bentConnector3">
            <a:avLst/>
          </a:prstGeom>
          <a:ln w="38100">
            <a:solidFill>
              <a:schemeClr val="accent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5" name="Connector: Elbow 14">
            <a:extLst>
              <a:ext uri="{FF2B5EF4-FFF2-40B4-BE49-F238E27FC236}">
                <a16:creationId xmlns:a16="http://schemas.microsoft.com/office/drawing/2014/main" id="{550806E1-607E-BDF0-B981-CE9FC15364D6}"/>
              </a:ext>
            </a:extLst>
          </p:cNvPr>
          <p:cNvCxnSpPr>
            <a:cxnSpLocks/>
            <a:stCxn id="9" idx="0"/>
            <a:endCxn id="7" idx="2"/>
          </p:cNvCxnSpPr>
          <p:nvPr/>
        </p:nvCxnSpPr>
        <p:spPr>
          <a:xfrm rot="5400000" flipH="1" flipV="1">
            <a:off x="3852754" y="704491"/>
            <a:ext cx="721597" cy="787189"/>
          </a:xfrm>
          <a:prstGeom prst="bentConnector3">
            <a:avLst>
              <a:gd name="adj1" fmla="val 50000"/>
            </a:avLst>
          </a:prstGeom>
          <a:ln w="38100">
            <a:solidFill>
              <a:schemeClr val="accent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8" name="Connector: Elbow 17">
            <a:extLst>
              <a:ext uri="{FF2B5EF4-FFF2-40B4-BE49-F238E27FC236}">
                <a16:creationId xmlns:a16="http://schemas.microsoft.com/office/drawing/2014/main" id="{30472356-7D77-BFB4-026E-68DC656F8F7E}"/>
              </a:ext>
            </a:extLst>
          </p:cNvPr>
          <p:cNvCxnSpPr>
            <a:cxnSpLocks/>
            <a:stCxn id="10" idx="0"/>
            <a:endCxn id="7" idx="2"/>
          </p:cNvCxnSpPr>
          <p:nvPr/>
        </p:nvCxnSpPr>
        <p:spPr>
          <a:xfrm rot="16200000" flipV="1">
            <a:off x="4960708" y="383726"/>
            <a:ext cx="747071" cy="1454192"/>
          </a:xfrm>
          <a:prstGeom prst="bentConnector3">
            <a:avLst/>
          </a:prstGeom>
          <a:ln w="38100">
            <a:solidFill>
              <a:schemeClr val="accent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1" name="Rectangle: Rounded Corners 20">
            <a:extLst>
              <a:ext uri="{FF2B5EF4-FFF2-40B4-BE49-F238E27FC236}">
                <a16:creationId xmlns:a16="http://schemas.microsoft.com/office/drawing/2014/main" id="{3A7A3A93-54A4-A454-DBAA-ADBC73142771}"/>
              </a:ext>
            </a:extLst>
          </p:cNvPr>
          <p:cNvSpPr/>
          <p:nvPr/>
        </p:nvSpPr>
        <p:spPr>
          <a:xfrm>
            <a:off x="929483" y="2204835"/>
            <a:ext cx="996721" cy="467360"/>
          </a:xfrm>
          <a:prstGeom prst="roundRect">
            <a:avLst/>
          </a:prstGeom>
          <a:solidFill>
            <a:schemeClr val="accent2">
              <a:lumMod val="75000"/>
            </a:schemeClr>
          </a:solidFill>
          <a:ln>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err="1"/>
              <a:t>ArrayList</a:t>
            </a:r>
            <a:endParaRPr lang="en-US" sz="1200" dirty="0"/>
          </a:p>
        </p:txBody>
      </p:sp>
      <p:sp>
        <p:nvSpPr>
          <p:cNvPr id="24" name="Rectangle: Rounded Corners 23">
            <a:extLst>
              <a:ext uri="{FF2B5EF4-FFF2-40B4-BE49-F238E27FC236}">
                <a16:creationId xmlns:a16="http://schemas.microsoft.com/office/drawing/2014/main" id="{E4E57CDB-0D99-4D8D-CA6E-86962BF2066F}"/>
              </a:ext>
            </a:extLst>
          </p:cNvPr>
          <p:cNvSpPr/>
          <p:nvPr/>
        </p:nvSpPr>
        <p:spPr>
          <a:xfrm>
            <a:off x="871648" y="3850060"/>
            <a:ext cx="996721" cy="467360"/>
          </a:xfrm>
          <a:prstGeom prst="roundRect">
            <a:avLst/>
          </a:prstGeom>
          <a:solidFill>
            <a:schemeClr val="accent2">
              <a:lumMod val="75000"/>
            </a:schemeClr>
          </a:solidFill>
          <a:ln>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LinkedList</a:t>
            </a:r>
          </a:p>
        </p:txBody>
      </p:sp>
      <p:sp>
        <p:nvSpPr>
          <p:cNvPr id="25" name="Rectangle: Rounded Corners 24">
            <a:extLst>
              <a:ext uri="{FF2B5EF4-FFF2-40B4-BE49-F238E27FC236}">
                <a16:creationId xmlns:a16="http://schemas.microsoft.com/office/drawing/2014/main" id="{95DA4A22-1763-63E0-647F-22D57F1979D4}"/>
              </a:ext>
            </a:extLst>
          </p:cNvPr>
          <p:cNvSpPr/>
          <p:nvPr/>
        </p:nvSpPr>
        <p:spPr>
          <a:xfrm>
            <a:off x="830497" y="4796090"/>
            <a:ext cx="996721" cy="467360"/>
          </a:xfrm>
          <a:prstGeom prst="roundRect">
            <a:avLst/>
          </a:prstGeom>
          <a:solidFill>
            <a:schemeClr val="accent2">
              <a:lumMod val="75000"/>
            </a:schemeClr>
          </a:solidFill>
          <a:ln>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Vector</a:t>
            </a:r>
          </a:p>
        </p:txBody>
      </p:sp>
      <p:sp>
        <p:nvSpPr>
          <p:cNvPr id="26" name="Rectangle: Rounded Corners 25">
            <a:extLst>
              <a:ext uri="{FF2B5EF4-FFF2-40B4-BE49-F238E27FC236}">
                <a16:creationId xmlns:a16="http://schemas.microsoft.com/office/drawing/2014/main" id="{CACAD691-2C71-01FA-B668-58F9F2F8AF1D}"/>
              </a:ext>
            </a:extLst>
          </p:cNvPr>
          <p:cNvSpPr/>
          <p:nvPr/>
        </p:nvSpPr>
        <p:spPr>
          <a:xfrm>
            <a:off x="929482" y="5765797"/>
            <a:ext cx="996721" cy="467360"/>
          </a:xfrm>
          <a:prstGeom prst="roundRect">
            <a:avLst/>
          </a:prstGeom>
          <a:solidFill>
            <a:schemeClr val="accent2">
              <a:lumMod val="75000"/>
            </a:schemeClr>
          </a:solidFill>
          <a:ln>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Stack</a:t>
            </a:r>
          </a:p>
        </p:txBody>
      </p:sp>
      <p:sp>
        <p:nvSpPr>
          <p:cNvPr id="27" name="Rectangle: Rounded Corners 26">
            <a:extLst>
              <a:ext uri="{FF2B5EF4-FFF2-40B4-BE49-F238E27FC236}">
                <a16:creationId xmlns:a16="http://schemas.microsoft.com/office/drawing/2014/main" id="{C3CD246C-CA87-4EEA-BBA1-AC83285BC569}"/>
              </a:ext>
            </a:extLst>
          </p:cNvPr>
          <p:cNvSpPr/>
          <p:nvPr/>
        </p:nvSpPr>
        <p:spPr>
          <a:xfrm>
            <a:off x="3930384" y="3406338"/>
            <a:ext cx="1240901" cy="467360"/>
          </a:xfrm>
          <a:prstGeom prst="roundRect">
            <a:avLst/>
          </a:prstGeom>
          <a:solidFill>
            <a:schemeClr val="accent2">
              <a:lumMod val="75000"/>
            </a:schemeClr>
          </a:solidFill>
          <a:ln>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err="1"/>
              <a:t>PriorityQueue</a:t>
            </a:r>
            <a:endParaRPr lang="en-US" sz="1200" dirty="0"/>
          </a:p>
        </p:txBody>
      </p:sp>
      <p:sp>
        <p:nvSpPr>
          <p:cNvPr id="28" name="Rectangle: Rounded Corners 27">
            <a:extLst>
              <a:ext uri="{FF2B5EF4-FFF2-40B4-BE49-F238E27FC236}">
                <a16:creationId xmlns:a16="http://schemas.microsoft.com/office/drawing/2014/main" id="{82FBBAA6-6AEA-8EDB-9D64-B8FF5EE4C313}"/>
              </a:ext>
            </a:extLst>
          </p:cNvPr>
          <p:cNvSpPr/>
          <p:nvPr/>
        </p:nvSpPr>
        <p:spPr>
          <a:xfrm>
            <a:off x="2392706" y="5215378"/>
            <a:ext cx="1240901" cy="467360"/>
          </a:xfrm>
          <a:prstGeom prst="roundRect">
            <a:avLst/>
          </a:prstGeom>
          <a:solidFill>
            <a:schemeClr val="accent2">
              <a:lumMod val="75000"/>
            </a:schemeClr>
          </a:solidFill>
          <a:ln>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err="1"/>
              <a:t>ArrayDeque</a:t>
            </a:r>
            <a:endParaRPr lang="en-US" sz="1200" dirty="0"/>
          </a:p>
        </p:txBody>
      </p:sp>
      <p:sp>
        <p:nvSpPr>
          <p:cNvPr id="29" name="Rectangle: Rounded Corners 28">
            <a:extLst>
              <a:ext uri="{FF2B5EF4-FFF2-40B4-BE49-F238E27FC236}">
                <a16:creationId xmlns:a16="http://schemas.microsoft.com/office/drawing/2014/main" id="{6412703B-1FE7-88DE-FE71-1FBD840DD12A}"/>
              </a:ext>
            </a:extLst>
          </p:cNvPr>
          <p:cNvSpPr/>
          <p:nvPr/>
        </p:nvSpPr>
        <p:spPr>
          <a:xfrm>
            <a:off x="2514796" y="2672195"/>
            <a:ext cx="996721" cy="467360"/>
          </a:xfrm>
          <a:prstGeom prst="roundRect">
            <a:avLst/>
          </a:prstGeom>
          <a:solidFill>
            <a:srgbClr val="92D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Deque</a:t>
            </a:r>
          </a:p>
        </p:txBody>
      </p:sp>
      <p:sp>
        <p:nvSpPr>
          <p:cNvPr id="30" name="Rectangle: Rounded Corners 29">
            <a:extLst>
              <a:ext uri="{FF2B5EF4-FFF2-40B4-BE49-F238E27FC236}">
                <a16:creationId xmlns:a16="http://schemas.microsoft.com/office/drawing/2014/main" id="{0C154FE2-48E2-05B6-BF03-846EDD072E0D}"/>
              </a:ext>
            </a:extLst>
          </p:cNvPr>
          <p:cNvSpPr/>
          <p:nvPr/>
        </p:nvSpPr>
        <p:spPr>
          <a:xfrm>
            <a:off x="6438694" y="2400444"/>
            <a:ext cx="1240901" cy="467360"/>
          </a:xfrm>
          <a:prstGeom prst="roundRect">
            <a:avLst/>
          </a:prstGeom>
          <a:solidFill>
            <a:schemeClr val="accent2">
              <a:lumMod val="75000"/>
            </a:schemeClr>
          </a:solidFill>
          <a:ln>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HashSet</a:t>
            </a:r>
          </a:p>
        </p:txBody>
      </p:sp>
      <p:sp>
        <p:nvSpPr>
          <p:cNvPr id="31" name="Rectangle: Rounded Corners 30">
            <a:extLst>
              <a:ext uri="{FF2B5EF4-FFF2-40B4-BE49-F238E27FC236}">
                <a16:creationId xmlns:a16="http://schemas.microsoft.com/office/drawing/2014/main" id="{D8CC51B9-AF9D-DE3A-34D9-BFB664DE5FC1}"/>
              </a:ext>
            </a:extLst>
          </p:cNvPr>
          <p:cNvSpPr/>
          <p:nvPr/>
        </p:nvSpPr>
        <p:spPr>
          <a:xfrm>
            <a:off x="6332170" y="3230411"/>
            <a:ext cx="1433073" cy="467360"/>
          </a:xfrm>
          <a:prstGeom prst="roundRect">
            <a:avLst/>
          </a:prstGeom>
          <a:solidFill>
            <a:schemeClr val="accent2">
              <a:lumMod val="75000"/>
            </a:schemeClr>
          </a:solidFill>
          <a:ln>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err="1"/>
              <a:t>LinkedHashSet</a:t>
            </a:r>
            <a:endParaRPr lang="en-US" sz="1200" dirty="0"/>
          </a:p>
        </p:txBody>
      </p:sp>
      <p:sp>
        <p:nvSpPr>
          <p:cNvPr id="32" name="Rectangle: Rounded Corners 31">
            <a:extLst>
              <a:ext uri="{FF2B5EF4-FFF2-40B4-BE49-F238E27FC236}">
                <a16:creationId xmlns:a16="http://schemas.microsoft.com/office/drawing/2014/main" id="{66935184-6608-E5B0-F814-CEC4371AF818}"/>
              </a:ext>
            </a:extLst>
          </p:cNvPr>
          <p:cNvSpPr/>
          <p:nvPr/>
        </p:nvSpPr>
        <p:spPr>
          <a:xfrm>
            <a:off x="5763578" y="5134431"/>
            <a:ext cx="1240901" cy="467360"/>
          </a:xfrm>
          <a:prstGeom prst="roundRect">
            <a:avLst/>
          </a:prstGeom>
          <a:solidFill>
            <a:schemeClr val="accent2">
              <a:lumMod val="75000"/>
            </a:schemeClr>
          </a:solidFill>
          <a:ln>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err="1"/>
              <a:t>TreeSet</a:t>
            </a:r>
            <a:endParaRPr lang="en-US" sz="1200" dirty="0"/>
          </a:p>
        </p:txBody>
      </p:sp>
      <p:sp>
        <p:nvSpPr>
          <p:cNvPr id="33" name="Rectangle: Rounded Corners 32">
            <a:extLst>
              <a:ext uri="{FF2B5EF4-FFF2-40B4-BE49-F238E27FC236}">
                <a16:creationId xmlns:a16="http://schemas.microsoft.com/office/drawing/2014/main" id="{6A21D303-2202-AB2B-F7C2-D223DB7CB9EC}"/>
              </a:ext>
            </a:extLst>
          </p:cNvPr>
          <p:cNvSpPr/>
          <p:nvPr/>
        </p:nvSpPr>
        <p:spPr>
          <a:xfrm>
            <a:off x="4944610" y="4171165"/>
            <a:ext cx="996721" cy="467360"/>
          </a:xfrm>
          <a:prstGeom prst="roundRect">
            <a:avLst/>
          </a:prstGeom>
          <a:solidFill>
            <a:srgbClr val="92D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err="1"/>
              <a:t>SortedSet</a:t>
            </a:r>
            <a:endParaRPr lang="en-US" sz="1200" dirty="0"/>
          </a:p>
        </p:txBody>
      </p:sp>
      <p:sp>
        <p:nvSpPr>
          <p:cNvPr id="34" name="Rectangle: Rounded Corners 33">
            <a:extLst>
              <a:ext uri="{FF2B5EF4-FFF2-40B4-BE49-F238E27FC236}">
                <a16:creationId xmlns:a16="http://schemas.microsoft.com/office/drawing/2014/main" id="{44ECFB3B-7F16-E8F8-7F8C-8FD25945E021}"/>
              </a:ext>
            </a:extLst>
          </p:cNvPr>
          <p:cNvSpPr/>
          <p:nvPr/>
        </p:nvSpPr>
        <p:spPr>
          <a:xfrm>
            <a:off x="9331791" y="244408"/>
            <a:ext cx="605714" cy="398409"/>
          </a:xfrm>
          <a:prstGeom prst="roundRect">
            <a:avLst/>
          </a:prstGeom>
          <a:solidFill>
            <a:srgbClr val="92D050"/>
          </a:solidFill>
          <a:ln>
            <a:solidFill>
              <a:srgbClr val="00B050"/>
            </a:solidFill>
          </a:ln>
          <a:effectLst>
            <a:outerShdw blurRad="50800" dist="38100" dir="5400000" algn="t" rotWithShape="0">
              <a:schemeClr val="tx1">
                <a:lumMod val="85000"/>
                <a:lumOff val="15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Map</a:t>
            </a:r>
          </a:p>
        </p:txBody>
      </p:sp>
      <p:sp>
        <p:nvSpPr>
          <p:cNvPr id="35" name="Rectangle: Rounded Corners 34">
            <a:extLst>
              <a:ext uri="{FF2B5EF4-FFF2-40B4-BE49-F238E27FC236}">
                <a16:creationId xmlns:a16="http://schemas.microsoft.com/office/drawing/2014/main" id="{69AFB6CB-D4BB-45F2-A021-749F1585970A}"/>
              </a:ext>
            </a:extLst>
          </p:cNvPr>
          <p:cNvSpPr/>
          <p:nvPr/>
        </p:nvSpPr>
        <p:spPr>
          <a:xfrm>
            <a:off x="10484026" y="631683"/>
            <a:ext cx="1240901" cy="467360"/>
          </a:xfrm>
          <a:prstGeom prst="roundRect">
            <a:avLst/>
          </a:prstGeom>
          <a:solidFill>
            <a:schemeClr val="accent2">
              <a:lumMod val="75000"/>
            </a:schemeClr>
          </a:solidFill>
          <a:ln>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err="1"/>
              <a:t>Hashtable</a:t>
            </a:r>
            <a:endParaRPr lang="en-US" sz="1200" dirty="0"/>
          </a:p>
        </p:txBody>
      </p:sp>
      <p:sp>
        <p:nvSpPr>
          <p:cNvPr id="36" name="Rectangle: Rounded Corners 35">
            <a:extLst>
              <a:ext uri="{FF2B5EF4-FFF2-40B4-BE49-F238E27FC236}">
                <a16:creationId xmlns:a16="http://schemas.microsoft.com/office/drawing/2014/main" id="{336459B9-CBB3-401F-76DB-EF626E9845B8}"/>
              </a:ext>
            </a:extLst>
          </p:cNvPr>
          <p:cNvSpPr/>
          <p:nvPr/>
        </p:nvSpPr>
        <p:spPr>
          <a:xfrm>
            <a:off x="10363852" y="1345520"/>
            <a:ext cx="1513188" cy="537021"/>
          </a:xfrm>
          <a:prstGeom prst="roundRect">
            <a:avLst/>
          </a:prstGeom>
          <a:solidFill>
            <a:schemeClr val="accent2">
              <a:lumMod val="75000"/>
            </a:schemeClr>
          </a:solidFill>
          <a:ln>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err="1"/>
              <a:t>LinkedHashMap</a:t>
            </a:r>
            <a:endParaRPr lang="en-US" sz="1200" dirty="0"/>
          </a:p>
        </p:txBody>
      </p:sp>
      <p:sp>
        <p:nvSpPr>
          <p:cNvPr id="37" name="Rectangle: Rounded Corners 36">
            <a:extLst>
              <a:ext uri="{FF2B5EF4-FFF2-40B4-BE49-F238E27FC236}">
                <a16:creationId xmlns:a16="http://schemas.microsoft.com/office/drawing/2014/main" id="{45145D63-3909-B44F-CD3F-C2E9F6D18DA0}"/>
              </a:ext>
            </a:extLst>
          </p:cNvPr>
          <p:cNvSpPr/>
          <p:nvPr/>
        </p:nvSpPr>
        <p:spPr>
          <a:xfrm>
            <a:off x="10499995" y="2129018"/>
            <a:ext cx="1240901" cy="467360"/>
          </a:xfrm>
          <a:prstGeom prst="roundRect">
            <a:avLst/>
          </a:prstGeom>
          <a:solidFill>
            <a:schemeClr val="accent2">
              <a:lumMod val="75000"/>
            </a:schemeClr>
          </a:solidFill>
          <a:ln>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HashMap</a:t>
            </a:r>
          </a:p>
        </p:txBody>
      </p:sp>
      <p:sp>
        <p:nvSpPr>
          <p:cNvPr id="38" name="Rectangle: Rounded Corners 37">
            <a:extLst>
              <a:ext uri="{FF2B5EF4-FFF2-40B4-BE49-F238E27FC236}">
                <a16:creationId xmlns:a16="http://schemas.microsoft.com/office/drawing/2014/main" id="{E13D34E7-BEC4-5F8E-F9C1-27EBC006BEF2}"/>
              </a:ext>
            </a:extLst>
          </p:cNvPr>
          <p:cNvSpPr/>
          <p:nvPr/>
        </p:nvSpPr>
        <p:spPr>
          <a:xfrm>
            <a:off x="8257604" y="1414825"/>
            <a:ext cx="1128280" cy="398409"/>
          </a:xfrm>
          <a:prstGeom prst="roundRect">
            <a:avLst/>
          </a:prstGeom>
          <a:solidFill>
            <a:srgbClr val="92D050"/>
          </a:solidFill>
          <a:ln>
            <a:solidFill>
              <a:srgbClr val="00B050"/>
            </a:solidFill>
          </a:ln>
          <a:effectLst>
            <a:outerShdw blurRad="50800" dist="38100" dir="5400000" algn="t" rotWithShape="0">
              <a:schemeClr val="tx1">
                <a:lumMod val="85000"/>
                <a:lumOff val="15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err="1"/>
              <a:t>SortedMap</a:t>
            </a:r>
            <a:endParaRPr lang="en-US" sz="1200" dirty="0"/>
          </a:p>
        </p:txBody>
      </p:sp>
      <p:sp>
        <p:nvSpPr>
          <p:cNvPr id="39" name="Rectangle: Rounded Corners 38">
            <a:extLst>
              <a:ext uri="{FF2B5EF4-FFF2-40B4-BE49-F238E27FC236}">
                <a16:creationId xmlns:a16="http://schemas.microsoft.com/office/drawing/2014/main" id="{0E493667-07E8-F5E2-507F-BBF49CB1C847}"/>
              </a:ext>
            </a:extLst>
          </p:cNvPr>
          <p:cNvSpPr/>
          <p:nvPr/>
        </p:nvSpPr>
        <p:spPr>
          <a:xfrm>
            <a:off x="8206095" y="2362698"/>
            <a:ext cx="1240901" cy="467360"/>
          </a:xfrm>
          <a:prstGeom prst="roundRect">
            <a:avLst/>
          </a:prstGeom>
          <a:solidFill>
            <a:schemeClr val="accent2">
              <a:lumMod val="75000"/>
            </a:schemeClr>
          </a:solidFill>
          <a:ln>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err="1"/>
              <a:t>TreeMap</a:t>
            </a:r>
            <a:endParaRPr lang="en-US" sz="1200" dirty="0"/>
          </a:p>
        </p:txBody>
      </p:sp>
      <p:sp>
        <p:nvSpPr>
          <p:cNvPr id="40" name="Rectangle: Rounded Corners 39">
            <a:extLst>
              <a:ext uri="{FF2B5EF4-FFF2-40B4-BE49-F238E27FC236}">
                <a16:creationId xmlns:a16="http://schemas.microsoft.com/office/drawing/2014/main" id="{ABADF875-1EEA-4594-D1D2-CD63131106CD}"/>
              </a:ext>
            </a:extLst>
          </p:cNvPr>
          <p:cNvSpPr/>
          <p:nvPr/>
        </p:nvSpPr>
        <p:spPr>
          <a:xfrm>
            <a:off x="8310257" y="4171165"/>
            <a:ext cx="537090" cy="415716"/>
          </a:xfrm>
          <a:prstGeom prst="roundRect">
            <a:avLst/>
          </a:prstGeom>
          <a:solidFill>
            <a:schemeClr val="accent2">
              <a:lumMod val="75000"/>
            </a:schemeClr>
          </a:solidFill>
          <a:ln>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41" name="Rectangle: Rounded Corners 40">
            <a:extLst>
              <a:ext uri="{FF2B5EF4-FFF2-40B4-BE49-F238E27FC236}">
                <a16:creationId xmlns:a16="http://schemas.microsoft.com/office/drawing/2014/main" id="{F8A7914D-5029-5561-2C6F-8281D09A0F25}"/>
              </a:ext>
            </a:extLst>
          </p:cNvPr>
          <p:cNvSpPr/>
          <p:nvPr/>
        </p:nvSpPr>
        <p:spPr>
          <a:xfrm>
            <a:off x="8310257" y="3571969"/>
            <a:ext cx="537090" cy="398409"/>
          </a:xfrm>
          <a:prstGeom prst="roundRect">
            <a:avLst/>
          </a:prstGeom>
          <a:solidFill>
            <a:srgbClr val="92D050"/>
          </a:solidFill>
          <a:ln>
            <a:solidFill>
              <a:srgbClr val="00B050"/>
            </a:solidFill>
          </a:ln>
          <a:effectLst>
            <a:outerShdw blurRad="50800" dist="38100" dir="5400000" algn="t" rotWithShape="0">
              <a:schemeClr val="tx1">
                <a:lumMod val="85000"/>
                <a:lumOff val="15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dirty="0"/>
          </a:p>
        </p:txBody>
      </p:sp>
      <p:cxnSp>
        <p:nvCxnSpPr>
          <p:cNvPr id="42" name="Connector: Elbow 41">
            <a:extLst>
              <a:ext uri="{FF2B5EF4-FFF2-40B4-BE49-F238E27FC236}">
                <a16:creationId xmlns:a16="http://schemas.microsoft.com/office/drawing/2014/main" id="{EC74B39E-78FF-0CE3-DD74-21FF9A6A5D8A}"/>
              </a:ext>
            </a:extLst>
          </p:cNvPr>
          <p:cNvCxnSpPr>
            <a:cxnSpLocks/>
            <a:stCxn id="21" idx="1"/>
            <a:endCxn id="8" idx="1"/>
          </p:cNvCxnSpPr>
          <p:nvPr/>
        </p:nvCxnSpPr>
        <p:spPr>
          <a:xfrm rot="10800000">
            <a:off x="752373" y="1674013"/>
            <a:ext cx="177110" cy="764503"/>
          </a:xfrm>
          <a:prstGeom prst="bentConnector3">
            <a:avLst>
              <a:gd name="adj1" fmla="val 229072"/>
            </a:avLst>
          </a:prstGeom>
          <a:ln w="44450">
            <a:solidFill>
              <a:srgbClr val="C0000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5" name="Connector: Elbow 44">
            <a:extLst>
              <a:ext uri="{FF2B5EF4-FFF2-40B4-BE49-F238E27FC236}">
                <a16:creationId xmlns:a16="http://schemas.microsoft.com/office/drawing/2014/main" id="{F5A11ADA-2DE7-4DE3-EE80-223CD8A8D31D}"/>
              </a:ext>
            </a:extLst>
          </p:cNvPr>
          <p:cNvCxnSpPr>
            <a:cxnSpLocks/>
            <a:stCxn id="24" idx="1"/>
            <a:endCxn id="8" idx="1"/>
          </p:cNvCxnSpPr>
          <p:nvPr/>
        </p:nvCxnSpPr>
        <p:spPr>
          <a:xfrm rot="10800000">
            <a:off x="752374" y="1674012"/>
            <a:ext cx="119275" cy="2409728"/>
          </a:xfrm>
          <a:prstGeom prst="bentConnector3">
            <a:avLst>
              <a:gd name="adj1" fmla="val 291658"/>
            </a:avLst>
          </a:prstGeom>
          <a:ln w="44450">
            <a:solidFill>
              <a:srgbClr val="C0000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50" name="Connector: Elbow 49">
            <a:extLst>
              <a:ext uri="{FF2B5EF4-FFF2-40B4-BE49-F238E27FC236}">
                <a16:creationId xmlns:a16="http://schemas.microsoft.com/office/drawing/2014/main" id="{C6C253B2-6FAE-B912-5495-8A1CDA159A08}"/>
              </a:ext>
            </a:extLst>
          </p:cNvPr>
          <p:cNvCxnSpPr>
            <a:cxnSpLocks/>
            <a:stCxn id="25" idx="1"/>
            <a:endCxn id="8" idx="1"/>
          </p:cNvCxnSpPr>
          <p:nvPr/>
        </p:nvCxnSpPr>
        <p:spPr>
          <a:xfrm rot="10800000">
            <a:off x="752373" y="1674012"/>
            <a:ext cx="78124" cy="3355758"/>
          </a:xfrm>
          <a:prstGeom prst="bentConnector3">
            <a:avLst>
              <a:gd name="adj1" fmla="val 392612"/>
            </a:avLst>
          </a:prstGeom>
          <a:ln w="44450">
            <a:solidFill>
              <a:srgbClr val="C0000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53" name="Connector: Elbow 52">
            <a:extLst>
              <a:ext uri="{FF2B5EF4-FFF2-40B4-BE49-F238E27FC236}">
                <a16:creationId xmlns:a16="http://schemas.microsoft.com/office/drawing/2014/main" id="{112E4E24-77B5-AE35-C6E1-9A7A136BC5C8}"/>
              </a:ext>
            </a:extLst>
          </p:cNvPr>
          <p:cNvCxnSpPr>
            <a:cxnSpLocks/>
            <a:stCxn id="26" idx="3"/>
            <a:endCxn id="25" idx="3"/>
          </p:cNvCxnSpPr>
          <p:nvPr/>
        </p:nvCxnSpPr>
        <p:spPr>
          <a:xfrm flipH="1" flipV="1">
            <a:off x="1827218" y="5029770"/>
            <a:ext cx="98985" cy="969707"/>
          </a:xfrm>
          <a:prstGeom prst="bentConnector3">
            <a:avLst>
              <a:gd name="adj1" fmla="val -230944"/>
            </a:avLst>
          </a:prstGeom>
          <a:ln w="38100">
            <a:solidFill>
              <a:schemeClr val="accent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8" name="Connector: Elbow 57">
            <a:extLst>
              <a:ext uri="{FF2B5EF4-FFF2-40B4-BE49-F238E27FC236}">
                <a16:creationId xmlns:a16="http://schemas.microsoft.com/office/drawing/2014/main" id="{1CA197F2-C633-52E1-5CD2-2B11FB2830E8}"/>
              </a:ext>
            </a:extLst>
          </p:cNvPr>
          <p:cNvCxnSpPr>
            <a:cxnSpLocks/>
            <a:stCxn id="29" idx="1"/>
            <a:endCxn id="9" idx="1"/>
          </p:cNvCxnSpPr>
          <p:nvPr/>
        </p:nvCxnSpPr>
        <p:spPr>
          <a:xfrm rot="10800000" flipH="1">
            <a:off x="2514796" y="1692563"/>
            <a:ext cx="942934" cy="1213312"/>
          </a:xfrm>
          <a:prstGeom prst="bentConnector3">
            <a:avLst>
              <a:gd name="adj1" fmla="val -24243"/>
            </a:avLst>
          </a:prstGeom>
          <a:ln w="38100">
            <a:solidFill>
              <a:schemeClr val="accent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1" name="Connector: Elbow 60">
            <a:extLst>
              <a:ext uri="{FF2B5EF4-FFF2-40B4-BE49-F238E27FC236}">
                <a16:creationId xmlns:a16="http://schemas.microsoft.com/office/drawing/2014/main" id="{D9EA59B7-8818-9082-6929-440642A950DE}"/>
              </a:ext>
            </a:extLst>
          </p:cNvPr>
          <p:cNvCxnSpPr>
            <a:cxnSpLocks/>
            <a:stCxn id="27" idx="1"/>
            <a:endCxn id="9" idx="2"/>
          </p:cNvCxnSpPr>
          <p:nvPr/>
        </p:nvCxnSpPr>
        <p:spPr>
          <a:xfrm rot="10800000">
            <a:off x="3819958" y="1926244"/>
            <a:ext cx="110426" cy="1713775"/>
          </a:xfrm>
          <a:prstGeom prst="bentConnector2">
            <a:avLst/>
          </a:prstGeom>
          <a:ln w="44450">
            <a:solidFill>
              <a:srgbClr val="C0000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64" name="Connector: Elbow 63">
            <a:extLst>
              <a:ext uri="{FF2B5EF4-FFF2-40B4-BE49-F238E27FC236}">
                <a16:creationId xmlns:a16="http://schemas.microsoft.com/office/drawing/2014/main" id="{61BFB7D5-2A1B-10D9-9B46-2FC55024EAFB}"/>
              </a:ext>
            </a:extLst>
          </p:cNvPr>
          <p:cNvCxnSpPr>
            <a:cxnSpLocks/>
            <a:stCxn id="28" idx="0"/>
            <a:endCxn id="29" idx="2"/>
          </p:cNvCxnSpPr>
          <p:nvPr/>
        </p:nvCxnSpPr>
        <p:spPr>
          <a:xfrm rot="5400000" flipH="1" flipV="1">
            <a:off x="1975246" y="4177467"/>
            <a:ext cx="2075823" cy="12700"/>
          </a:xfrm>
          <a:prstGeom prst="bentConnector3">
            <a:avLst>
              <a:gd name="adj1" fmla="val 50000"/>
            </a:avLst>
          </a:prstGeom>
          <a:ln w="44450">
            <a:solidFill>
              <a:srgbClr val="C0000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67" name="Connector: Elbow 66">
            <a:extLst>
              <a:ext uri="{FF2B5EF4-FFF2-40B4-BE49-F238E27FC236}">
                <a16:creationId xmlns:a16="http://schemas.microsoft.com/office/drawing/2014/main" id="{0D58660F-AF65-12E0-3E81-125B2DC7510F}"/>
              </a:ext>
            </a:extLst>
          </p:cNvPr>
          <p:cNvCxnSpPr>
            <a:cxnSpLocks/>
            <a:stCxn id="24" idx="3"/>
            <a:endCxn id="29" idx="2"/>
          </p:cNvCxnSpPr>
          <p:nvPr/>
        </p:nvCxnSpPr>
        <p:spPr>
          <a:xfrm flipV="1">
            <a:off x="1868369" y="3139555"/>
            <a:ext cx="1144788" cy="944185"/>
          </a:xfrm>
          <a:prstGeom prst="bentConnector2">
            <a:avLst/>
          </a:prstGeom>
          <a:ln w="44450">
            <a:solidFill>
              <a:srgbClr val="C0000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74" name="Connector: Elbow 73">
            <a:extLst>
              <a:ext uri="{FF2B5EF4-FFF2-40B4-BE49-F238E27FC236}">
                <a16:creationId xmlns:a16="http://schemas.microsoft.com/office/drawing/2014/main" id="{0554349A-83E2-9836-965D-5D7476FFE74A}"/>
              </a:ext>
            </a:extLst>
          </p:cNvPr>
          <p:cNvCxnSpPr>
            <a:cxnSpLocks/>
            <a:stCxn id="30" idx="1"/>
            <a:endCxn id="10" idx="2"/>
          </p:cNvCxnSpPr>
          <p:nvPr/>
        </p:nvCxnSpPr>
        <p:spPr>
          <a:xfrm rot="10800000">
            <a:off x="6061340" y="1882766"/>
            <a:ext cx="377355" cy="751358"/>
          </a:xfrm>
          <a:prstGeom prst="bentConnector2">
            <a:avLst/>
          </a:prstGeom>
          <a:ln w="44450">
            <a:solidFill>
              <a:srgbClr val="C0000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77" name="Connector: Elbow 76">
            <a:extLst>
              <a:ext uri="{FF2B5EF4-FFF2-40B4-BE49-F238E27FC236}">
                <a16:creationId xmlns:a16="http://schemas.microsoft.com/office/drawing/2014/main" id="{7CB1E42D-583F-4C75-4AD0-10BDED9D62CB}"/>
              </a:ext>
            </a:extLst>
          </p:cNvPr>
          <p:cNvCxnSpPr>
            <a:cxnSpLocks/>
            <a:stCxn id="31" idx="1"/>
            <a:endCxn id="10" idx="2"/>
          </p:cNvCxnSpPr>
          <p:nvPr/>
        </p:nvCxnSpPr>
        <p:spPr>
          <a:xfrm rot="10800000">
            <a:off x="6061340" y="1882767"/>
            <a:ext cx="270831" cy="1581325"/>
          </a:xfrm>
          <a:prstGeom prst="bentConnector2">
            <a:avLst/>
          </a:prstGeom>
          <a:ln w="44450">
            <a:solidFill>
              <a:srgbClr val="C0000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80" name="Connector: Elbow 79">
            <a:extLst>
              <a:ext uri="{FF2B5EF4-FFF2-40B4-BE49-F238E27FC236}">
                <a16:creationId xmlns:a16="http://schemas.microsoft.com/office/drawing/2014/main" id="{2B4AB38A-0AA7-CF17-28A0-9DCE4BCF19CA}"/>
              </a:ext>
            </a:extLst>
          </p:cNvPr>
          <p:cNvCxnSpPr>
            <a:cxnSpLocks/>
            <a:stCxn id="33" idx="0"/>
            <a:endCxn id="10" idx="1"/>
          </p:cNvCxnSpPr>
          <p:nvPr/>
        </p:nvCxnSpPr>
        <p:spPr>
          <a:xfrm rot="5400000" flipH="1" flipV="1">
            <a:off x="4356925" y="2769609"/>
            <a:ext cx="2487603" cy="315511"/>
          </a:xfrm>
          <a:prstGeom prst="bentConnector2">
            <a:avLst/>
          </a:prstGeom>
          <a:ln w="38100">
            <a:solidFill>
              <a:schemeClr val="accent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83" name="Connector: Elbow 82">
            <a:extLst>
              <a:ext uri="{FF2B5EF4-FFF2-40B4-BE49-F238E27FC236}">
                <a16:creationId xmlns:a16="http://schemas.microsoft.com/office/drawing/2014/main" id="{CC3CF28A-118F-6F32-DC08-9DCC040A2E18}"/>
              </a:ext>
            </a:extLst>
          </p:cNvPr>
          <p:cNvCxnSpPr>
            <a:cxnSpLocks/>
            <a:stCxn id="32" idx="1"/>
            <a:endCxn id="33" idx="2"/>
          </p:cNvCxnSpPr>
          <p:nvPr/>
        </p:nvCxnSpPr>
        <p:spPr>
          <a:xfrm rot="10800000">
            <a:off x="5442972" y="4638525"/>
            <a:ext cx="320607" cy="729586"/>
          </a:xfrm>
          <a:prstGeom prst="bentConnector2">
            <a:avLst/>
          </a:prstGeom>
          <a:ln w="44450">
            <a:solidFill>
              <a:srgbClr val="C0000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86" name="Connector: Elbow 85">
            <a:extLst>
              <a:ext uri="{FF2B5EF4-FFF2-40B4-BE49-F238E27FC236}">
                <a16:creationId xmlns:a16="http://schemas.microsoft.com/office/drawing/2014/main" id="{0699AB38-B4C9-4484-EDFD-BB40AACB5035}"/>
              </a:ext>
            </a:extLst>
          </p:cNvPr>
          <p:cNvCxnSpPr>
            <a:cxnSpLocks/>
            <a:stCxn id="38" idx="0"/>
            <a:endCxn id="34" idx="2"/>
          </p:cNvCxnSpPr>
          <p:nvPr/>
        </p:nvCxnSpPr>
        <p:spPr>
          <a:xfrm rot="5400000" flipH="1" flipV="1">
            <a:off x="8842192" y="622369"/>
            <a:ext cx="772008" cy="812904"/>
          </a:xfrm>
          <a:prstGeom prst="bentConnector3">
            <a:avLst>
              <a:gd name="adj1" fmla="val 50000"/>
            </a:avLst>
          </a:prstGeom>
          <a:ln w="38100">
            <a:solidFill>
              <a:schemeClr val="accent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89" name="Connector: Elbow 88">
            <a:extLst>
              <a:ext uri="{FF2B5EF4-FFF2-40B4-BE49-F238E27FC236}">
                <a16:creationId xmlns:a16="http://schemas.microsoft.com/office/drawing/2014/main" id="{00AAB4B3-2CBE-2F3D-5544-80D5A7678D45}"/>
              </a:ext>
            </a:extLst>
          </p:cNvPr>
          <p:cNvCxnSpPr>
            <a:cxnSpLocks/>
            <a:stCxn id="35" idx="1"/>
            <a:endCxn id="34" idx="2"/>
          </p:cNvCxnSpPr>
          <p:nvPr/>
        </p:nvCxnSpPr>
        <p:spPr>
          <a:xfrm rot="10800000">
            <a:off x="9634648" y="642817"/>
            <a:ext cx="849378" cy="222546"/>
          </a:xfrm>
          <a:prstGeom prst="bentConnector2">
            <a:avLst/>
          </a:prstGeom>
          <a:ln w="38100">
            <a:solidFill>
              <a:srgbClr val="C0000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92" name="Connector: Elbow 91">
            <a:extLst>
              <a:ext uri="{FF2B5EF4-FFF2-40B4-BE49-F238E27FC236}">
                <a16:creationId xmlns:a16="http://schemas.microsoft.com/office/drawing/2014/main" id="{C8390457-3E4D-AFA5-1ADA-8ADE6DC630D1}"/>
              </a:ext>
            </a:extLst>
          </p:cNvPr>
          <p:cNvCxnSpPr>
            <a:cxnSpLocks/>
            <a:stCxn id="36" idx="1"/>
            <a:endCxn id="34" idx="2"/>
          </p:cNvCxnSpPr>
          <p:nvPr/>
        </p:nvCxnSpPr>
        <p:spPr>
          <a:xfrm rot="10800000">
            <a:off x="9634648" y="642817"/>
            <a:ext cx="729204" cy="971214"/>
          </a:xfrm>
          <a:prstGeom prst="bentConnector2">
            <a:avLst/>
          </a:prstGeom>
          <a:ln w="38100">
            <a:solidFill>
              <a:srgbClr val="C0000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95" name="Connector: Elbow 94">
            <a:extLst>
              <a:ext uri="{FF2B5EF4-FFF2-40B4-BE49-F238E27FC236}">
                <a16:creationId xmlns:a16="http://schemas.microsoft.com/office/drawing/2014/main" id="{9C4ED75F-9A82-06FC-6FFC-DB057AD4CEAB}"/>
              </a:ext>
            </a:extLst>
          </p:cNvPr>
          <p:cNvCxnSpPr>
            <a:cxnSpLocks/>
            <a:stCxn id="37" idx="1"/>
            <a:endCxn id="34" idx="2"/>
          </p:cNvCxnSpPr>
          <p:nvPr/>
        </p:nvCxnSpPr>
        <p:spPr>
          <a:xfrm rot="10800000">
            <a:off x="9634649" y="642818"/>
            <a:ext cx="865347" cy="1719881"/>
          </a:xfrm>
          <a:prstGeom prst="bentConnector2">
            <a:avLst/>
          </a:prstGeom>
          <a:ln w="38100">
            <a:solidFill>
              <a:srgbClr val="C0000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99" name="Connector: Elbow 98">
            <a:extLst>
              <a:ext uri="{FF2B5EF4-FFF2-40B4-BE49-F238E27FC236}">
                <a16:creationId xmlns:a16="http://schemas.microsoft.com/office/drawing/2014/main" id="{E50267BE-99DB-7DE9-59F4-1622B9989447}"/>
              </a:ext>
            </a:extLst>
          </p:cNvPr>
          <p:cNvCxnSpPr>
            <a:cxnSpLocks/>
            <a:stCxn id="39" idx="0"/>
            <a:endCxn id="38" idx="2"/>
          </p:cNvCxnSpPr>
          <p:nvPr/>
        </p:nvCxnSpPr>
        <p:spPr>
          <a:xfrm rot="16200000" flipV="1">
            <a:off x="8549413" y="2085565"/>
            <a:ext cx="549464" cy="4802"/>
          </a:xfrm>
          <a:prstGeom prst="bentConnector3">
            <a:avLst>
              <a:gd name="adj1" fmla="val 50000"/>
            </a:avLst>
          </a:prstGeom>
          <a:ln w="38100">
            <a:solidFill>
              <a:srgbClr val="C0000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49" name="Rectangle: Rounded Corners 248">
            <a:extLst>
              <a:ext uri="{FF2B5EF4-FFF2-40B4-BE49-F238E27FC236}">
                <a16:creationId xmlns:a16="http://schemas.microsoft.com/office/drawing/2014/main" id="{71C0D713-D6F3-796A-E136-7E49B5DE51AB}"/>
              </a:ext>
            </a:extLst>
          </p:cNvPr>
          <p:cNvSpPr/>
          <p:nvPr/>
        </p:nvSpPr>
        <p:spPr>
          <a:xfrm>
            <a:off x="265043" y="111888"/>
            <a:ext cx="7619753" cy="6453170"/>
          </a:xfrm>
          <a:prstGeom prst="roundRect">
            <a:avLst>
              <a:gd name="adj" fmla="val 4117"/>
            </a:avLst>
          </a:prstGeom>
          <a:no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0" name="Rectangle: Rounded Corners 249">
            <a:extLst>
              <a:ext uri="{FF2B5EF4-FFF2-40B4-BE49-F238E27FC236}">
                <a16:creationId xmlns:a16="http://schemas.microsoft.com/office/drawing/2014/main" id="{ED373F26-6A83-0295-A456-348ADE22CC3E}"/>
              </a:ext>
            </a:extLst>
          </p:cNvPr>
          <p:cNvSpPr/>
          <p:nvPr/>
        </p:nvSpPr>
        <p:spPr>
          <a:xfrm>
            <a:off x="7951303" y="161152"/>
            <a:ext cx="4094923" cy="2970634"/>
          </a:xfrm>
          <a:prstGeom prst="roundRect">
            <a:avLst>
              <a:gd name="adj" fmla="val 4117"/>
            </a:avLst>
          </a:prstGeom>
          <a:no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7" name="Rectangle: Rounded Corners 326">
            <a:extLst>
              <a:ext uri="{FF2B5EF4-FFF2-40B4-BE49-F238E27FC236}">
                <a16:creationId xmlns:a16="http://schemas.microsoft.com/office/drawing/2014/main" id="{64BABF43-85F1-2CE9-9965-3347EEED36B3}"/>
              </a:ext>
            </a:extLst>
          </p:cNvPr>
          <p:cNvSpPr/>
          <p:nvPr/>
        </p:nvSpPr>
        <p:spPr>
          <a:xfrm>
            <a:off x="7983068" y="3230411"/>
            <a:ext cx="4094923" cy="3236650"/>
          </a:xfrm>
          <a:prstGeom prst="roundRect">
            <a:avLst>
              <a:gd name="adj" fmla="val 4117"/>
            </a:avLst>
          </a:prstGeom>
          <a:no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28" name="Connector: Elbow 327">
            <a:extLst>
              <a:ext uri="{FF2B5EF4-FFF2-40B4-BE49-F238E27FC236}">
                <a16:creationId xmlns:a16="http://schemas.microsoft.com/office/drawing/2014/main" id="{2072A42E-3E2B-56E9-DB71-CC8F9A4F22B0}"/>
              </a:ext>
            </a:extLst>
          </p:cNvPr>
          <p:cNvCxnSpPr>
            <a:cxnSpLocks/>
          </p:cNvCxnSpPr>
          <p:nvPr/>
        </p:nvCxnSpPr>
        <p:spPr>
          <a:xfrm rot="16200000" flipV="1">
            <a:off x="8392351" y="5729476"/>
            <a:ext cx="609486" cy="241981"/>
          </a:xfrm>
          <a:prstGeom prst="bentConnector3">
            <a:avLst>
              <a:gd name="adj1" fmla="val 50000"/>
            </a:avLst>
          </a:prstGeom>
          <a:ln w="44450">
            <a:solidFill>
              <a:srgbClr val="C0000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330" name="Connector: Elbow 329">
            <a:extLst>
              <a:ext uri="{FF2B5EF4-FFF2-40B4-BE49-F238E27FC236}">
                <a16:creationId xmlns:a16="http://schemas.microsoft.com/office/drawing/2014/main" id="{8C953AEC-1E42-6078-5E40-C9167F4771A8}"/>
              </a:ext>
            </a:extLst>
          </p:cNvPr>
          <p:cNvCxnSpPr>
            <a:cxnSpLocks/>
          </p:cNvCxnSpPr>
          <p:nvPr/>
        </p:nvCxnSpPr>
        <p:spPr>
          <a:xfrm rot="16200000" flipV="1">
            <a:off x="8360050" y="4958860"/>
            <a:ext cx="529257" cy="141818"/>
          </a:xfrm>
          <a:prstGeom prst="bentConnector3">
            <a:avLst>
              <a:gd name="adj1" fmla="val 50000"/>
            </a:avLst>
          </a:prstGeom>
          <a:ln w="38100">
            <a:solidFill>
              <a:schemeClr val="accent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34" name="TextBox 333">
            <a:extLst>
              <a:ext uri="{FF2B5EF4-FFF2-40B4-BE49-F238E27FC236}">
                <a16:creationId xmlns:a16="http://schemas.microsoft.com/office/drawing/2014/main" id="{6F8421B5-7AB1-C62B-668B-CE352043EEDF}"/>
              </a:ext>
            </a:extLst>
          </p:cNvPr>
          <p:cNvSpPr txBox="1"/>
          <p:nvPr/>
        </p:nvSpPr>
        <p:spPr>
          <a:xfrm>
            <a:off x="8479931" y="3611647"/>
            <a:ext cx="1708094" cy="369332"/>
          </a:xfrm>
          <a:prstGeom prst="rect">
            <a:avLst/>
          </a:prstGeom>
          <a:noFill/>
        </p:spPr>
        <p:txBody>
          <a:bodyPr wrap="square">
            <a:spAutoFit/>
          </a:bodyPr>
          <a:lstStyle/>
          <a:p>
            <a:pPr lvl="1"/>
            <a:r>
              <a:rPr lang="en-US" dirty="0">
                <a:solidFill>
                  <a:srgbClr val="0F1115"/>
                </a:solidFill>
                <a:latin typeface="quote-cjk-patch"/>
              </a:rPr>
              <a:t>Interface</a:t>
            </a:r>
            <a:endParaRPr lang="en-US" sz="1800" b="0" i="0" dirty="0">
              <a:solidFill>
                <a:srgbClr val="0F1115"/>
              </a:solidFill>
              <a:effectLst/>
              <a:latin typeface="quote-cjk-patch"/>
            </a:endParaRPr>
          </a:p>
        </p:txBody>
      </p:sp>
      <p:sp>
        <p:nvSpPr>
          <p:cNvPr id="335" name="TextBox 334">
            <a:extLst>
              <a:ext uri="{FF2B5EF4-FFF2-40B4-BE49-F238E27FC236}">
                <a16:creationId xmlns:a16="http://schemas.microsoft.com/office/drawing/2014/main" id="{A2C4CC50-2F18-2FF9-06D6-281345945A2E}"/>
              </a:ext>
            </a:extLst>
          </p:cNvPr>
          <p:cNvSpPr txBox="1"/>
          <p:nvPr/>
        </p:nvSpPr>
        <p:spPr>
          <a:xfrm>
            <a:off x="8606632" y="4190161"/>
            <a:ext cx="1708094" cy="369332"/>
          </a:xfrm>
          <a:prstGeom prst="rect">
            <a:avLst/>
          </a:prstGeom>
          <a:noFill/>
        </p:spPr>
        <p:txBody>
          <a:bodyPr wrap="square">
            <a:spAutoFit/>
          </a:bodyPr>
          <a:lstStyle/>
          <a:p>
            <a:pPr lvl="1"/>
            <a:r>
              <a:rPr lang="en-US" dirty="0">
                <a:solidFill>
                  <a:srgbClr val="0F1115"/>
                </a:solidFill>
                <a:latin typeface="quote-cjk-patch"/>
              </a:rPr>
              <a:t>Class</a:t>
            </a:r>
            <a:endParaRPr lang="en-US" sz="1800" b="0" i="0" dirty="0">
              <a:solidFill>
                <a:srgbClr val="0F1115"/>
              </a:solidFill>
              <a:effectLst/>
              <a:latin typeface="quote-cjk-patch"/>
            </a:endParaRPr>
          </a:p>
        </p:txBody>
      </p:sp>
      <p:sp>
        <p:nvSpPr>
          <p:cNvPr id="336" name="TextBox 335">
            <a:extLst>
              <a:ext uri="{FF2B5EF4-FFF2-40B4-BE49-F238E27FC236}">
                <a16:creationId xmlns:a16="http://schemas.microsoft.com/office/drawing/2014/main" id="{35303CB6-94B3-80C2-855A-011EDEB7AF02}"/>
              </a:ext>
            </a:extLst>
          </p:cNvPr>
          <p:cNvSpPr txBox="1"/>
          <p:nvPr/>
        </p:nvSpPr>
        <p:spPr>
          <a:xfrm>
            <a:off x="8666629" y="5665800"/>
            <a:ext cx="1950076" cy="369332"/>
          </a:xfrm>
          <a:prstGeom prst="rect">
            <a:avLst/>
          </a:prstGeom>
          <a:noFill/>
        </p:spPr>
        <p:txBody>
          <a:bodyPr wrap="square">
            <a:spAutoFit/>
          </a:bodyPr>
          <a:lstStyle/>
          <a:p>
            <a:pPr lvl="1"/>
            <a:r>
              <a:rPr lang="en-US" dirty="0">
                <a:solidFill>
                  <a:srgbClr val="0F1115"/>
                </a:solidFill>
                <a:latin typeface="quote-cjk-patch"/>
              </a:rPr>
              <a:t>Implements</a:t>
            </a:r>
            <a:endParaRPr lang="en-US" sz="1800" b="0" i="0" dirty="0">
              <a:solidFill>
                <a:srgbClr val="0F1115"/>
              </a:solidFill>
              <a:effectLst/>
              <a:latin typeface="quote-cjk-patch"/>
            </a:endParaRPr>
          </a:p>
        </p:txBody>
      </p:sp>
      <p:sp>
        <p:nvSpPr>
          <p:cNvPr id="337" name="TextBox 336">
            <a:extLst>
              <a:ext uri="{FF2B5EF4-FFF2-40B4-BE49-F238E27FC236}">
                <a16:creationId xmlns:a16="http://schemas.microsoft.com/office/drawing/2014/main" id="{2FB43A4B-4348-17D6-C762-3B14AF6E7DD8}"/>
              </a:ext>
            </a:extLst>
          </p:cNvPr>
          <p:cNvSpPr txBox="1"/>
          <p:nvPr/>
        </p:nvSpPr>
        <p:spPr>
          <a:xfrm>
            <a:off x="8684207" y="4838206"/>
            <a:ext cx="1950076" cy="369332"/>
          </a:xfrm>
          <a:prstGeom prst="rect">
            <a:avLst/>
          </a:prstGeom>
          <a:noFill/>
        </p:spPr>
        <p:txBody>
          <a:bodyPr wrap="square">
            <a:spAutoFit/>
          </a:bodyPr>
          <a:lstStyle/>
          <a:p>
            <a:pPr lvl="1"/>
            <a:r>
              <a:rPr lang="en-US" dirty="0">
                <a:solidFill>
                  <a:srgbClr val="0F1115"/>
                </a:solidFill>
                <a:latin typeface="quote-cjk-patch"/>
              </a:rPr>
              <a:t>Extends</a:t>
            </a:r>
            <a:endParaRPr lang="en-US" sz="1800" b="0" i="0" dirty="0">
              <a:solidFill>
                <a:srgbClr val="0F1115"/>
              </a:solidFill>
              <a:effectLst/>
              <a:latin typeface="quote-cjk-patch"/>
            </a:endParaRPr>
          </a:p>
        </p:txBody>
      </p:sp>
    </p:spTree>
    <p:extLst>
      <p:ext uri="{BB962C8B-B14F-4D97-AF65-F5344CB8AC3E}">
        <p14:creationId xmlns:p14="http://schemas.microsoft.com/office/powerpoint/2010/main" val="8752618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801CECB1-2D28-C303-B3D9-9298E1BEAC79}"/>
              </a:ext>
            </a:extLst>
          </p:cNvPr>
          <p:cNvSpPr txBox="1"/>
          <p:nvPr/>
        </p:nvSpPr>
        <p:spPr>
          <a:xfrm>
            <a:off x="234461" y="239006"/>
            <a:ext cx="3038826" cy="830997"/>
          </a:xfrm>
          <a:prstGeom prst="rect">
            <a:avLst/>
          </a:prstGeom>
          <a:noFill/>
          <a:ln>
            <a:solidFill>
              <a:srgbClr val="00B0F0"/>
            </a:solidFill>
          </a:ln>
        </p:spPr>
        <p:txBody>
          <a:bodyPr wrap="square">
            <a:spAutoFit/>
          </a:bodyPr>
          <a:lstStyle/>
          <a:p>
            <a:pPr algn="l">
              <a:buNone/>
            </a:pPr>
            <a:r>
              <a:rPr lang="en-US" sz="1200" b="1" dirty="0" err="1">
                <a:solidFill>
                  <a:srgbClr val="0F1115"/>
                </a:solidFill>
                <a:effectLst/>
                <a:latin typeface="quote-cjk-patch"/>
              </a:rPr>
              <a:t>Iterable</a:t>
            </a:r>
            <a:r>
              <a:rPr lang="en-US" sz="1200" b="1" dirty="0">
                <a:solidFill>
                  <a:srgbClr val="0F1115"/>
                </a:solidFill>
                <a:effectLst/>
                <a:latin typeface="quote-cjk-patch"/>
              </a:rPr>
              <a:t> Interface</a:t>
            </a:r>
          </a:p>
          <a:p>
            <a:pPr algn="l">
              <a:buFont typeface="Arial" panose="020B0604020202020204" pitchFamily="34" charset="0"/>
              <a:buChar char="•"/>
            </a:pPr>
            <a:r>
              <a:rPr lang="en-US" sz="1200" b="0" i="0" dirty="0">
                <a:solidFill>
                  <a:srgbClr val="0F1115"/>
                </a:solidFill>
                <a:effectLst/>
                <a:latin typeface="quote-cjk-patch"/>
              </a:rPr>
              <a:t>iterator()</a:t>
            </a:r>
          </a:p>
          <a:p>
            <a:pPr algn="l">
              <a:buFont typeface="Arial" panose="020B0604020202020204" pitchFamily="34" charset="0"/>
              <a:buChar char="•"/>
            </a:pPr>
            <a:r>
              <a:rPr lang="en-US" sz="1200" b="0" i="0" dirty="0" err="1">
                <a:solidFill>
                  <a:srgbClr val="0F1115"/>
                </a:solidFill>
                <a:effectLst/>
                <a:latin typeface="quote-cjk-patch"/>
              </a:rPr>
              <a:t>forEach</a:t>
            </a:r>
            <a:r>
              <a:rPr lang="en-US" sz="1200" b="0" i="0" dirty="0">
                <a:solidFill>
                  <a:srgbClr val="0F1115"/>
                </a:solidFill>
                <a:effectLst/>
                <a:latin typeface="quote-cjk-patch"/>
              </a:rPr>
              <a:t>(Consumer&lt;? super T&gt; action)</a:t>
            </a:r>
          </a:p>
          <a:p>
            <a:pPr algn="l">
              <a:buFont typeface="Arial" panose="020B0604020202020204" pitchFamily="34" charset="0"/>
              <a:buChar char="•"/>
            </a:pPr>
            <a:r>
              <a:rPr lang="en-US" sz="1200" b="0" i="0" dirty="0" err="1">
                <a:solidFill>
                  <a:srgbClr val="0F1115"/>
                </a:solidFill>
                <a:effectLst/>
                <a:latin typeface="quote-cjk-patch"/>
              </a:rPr>
              <a:t>spliterator</a:t>
            </a:r>
            <a:r>
              <a:rPr lang="en-US" sz="1200" b="0" i="0" dirty="0">
                <a:solidFill>
                  <a:srgbClr val="0F1115"/>
                </a:solidFill>
                <a:effectLst/>
                <a:latin typeface="quote-cjk-patch"/>
              </a:rPr>
              <a:t>()</a:t>
            </a:r>
          </a:p>
        </p:txBody>
      </p:sp>
      <p:sp>
        <p:nvSpPr>
          <p:cNvPr id="17" name="TextBox 16">
            <a:extLst>
              <a:ext uri="{FF2B5EF4-FFF2-40B4-BE49-F238E27FC236}">
                <a16:creationId xmlns:a16="http://schemas.microsoft.com/office/drawing/2014/main" id="{CB3C63D4-3606-7998-CFC7-503E701D8A5F}"/>
              </a:ext>
            </a:extLst>
          </p:cNvPr>
          <p:cNvSpPr txBox="1"/>
          <p:nvPr/>
        </p:nvSpPr>
        <p:spPr>
          <a:xfrm>
            <a:off x="234461" y="1252134"/>
            <a:ext cx="3038826" cy="3785652"/>
          </a:xfrm>
          <a:prstGeom prst="rect">
            <a:avLst/>
          </a:prstGeom>
          <a:noFill/>
          <a:ln>
            <a:solidFill>
              <a:srgbClr val="00B0F0"/>
            </a:solidFill>
          </a:ln>
        </p:spPr>
        <p:txBody>
          <a:bodyPr wrap="square">
            <a:spAutoFit/>
          </a:bodyPr>
          <a:lstStyle/>
          <a:p>
            <a:pPr algn="l">
              <a:buNone/>
            </a:pPr>
            <a:r>
              <a:rPr lang="en-US" sz="1200" b="1" dirty="0">
                <a:solidFill>
                  <a:srgbClr val="0F1115"/>
                </a:solidFill>
                <a:effectLst/>
                <a:latin typeface="quote-cjk-patch"/>
              </a:rPr>
              <a:t>Collection Interface</a:t>
            </a:r>
          </a:p>
          <a:p>
            <a:pPr algn="l">
              <a:buFont typeface="Arial" panose="020B0604020202020204" pitchFamily="34" charset="0"/>
              <a:buChar char="•"/>
            </a:pPr>
            <a:r>
              <a:rPr lang="en-US" sz="1200" b="1" i="0" dirty="0">
                <a:solidFill>
                  <a:srgbClr val="0F1115"/>
                </a:solidFill>
                <a:effectLst/>
                <a:latin typeface="quote-cjk-patch"/>
              </a:rPr>
              <a:t>Basic Operations:</a:t>
            </a:r>
            <a:endParaRPr lang="en-US" sz="1200" b="0" i="0" dirty="0">
              <a:solidFill>
                <a:srgbClr val="0F1115"/>
              </a:solidFill>
              <a:effectLst/>
              <a:latin typeface="quote-cjk-patch"/>
            </a:endParaRPr>
          </a:p>
          <a:p>
            <a:pPr marL="742950" lvl="1" indent="-285750" algn="l">
              <a:buFont typeface="Arial" panose="020B0604020202020204" pitchFamily="34" charset="0"/>
              <a:buChar char="•"/>
            </a:pPr>
            <a:r>
              <a:rPr lang="en-US" sz="1200" b="0" i="0" dirty="0">
                <a:solidFill>
                  <a:srgbClr val="0F1115"/>
                </a:solidFill>
                <a:effectLst/>
                <a:latin typeface="quote-cjk-patch"/>
              </a:rPr>
              <a:t>add(E e)</a:t>
            </a:r>
          </a:p>
          <a:p>
            <a:pPr marL="742950" lvl="1" indent="-285750" algn="l">
              <a:buFont typeface="Arial" panose="020B0604020202020204" pitchFamily="34" charset="0"/>
              <a:buChar char="•"/>
            </a:pPr>
            <a:r>
              <a:rPr lang="en-US" sz="1200" b="0" i="0" dirty="0">
                <a:solidFill>
                  <a:srgbClr val="0F1115"/>
                </a:solidFill>
                <a:effectLst/>
                <a:latin typeface="quote-cjk-patch"/>
              </a:rPr>
              <a:t>remove(Object o)</a:t>
            </a:r>
          </a:p>
          <a:p>
            <a:pPr marL="742950" lvl="1" indent="-285750" algn="l">
              <a:buFont typeface="Arial" panose="020B0604020202020204" pitchFamily="34" charset="0"/>
              <a:buChar char="•"/>
            </a:pPr>
            <a:r>
              <a:rPr lang="en-US" sz="1200" b="0" i="0" dirty="0">
                <a:solidFill>
                  <a:srgbClr val="0F1115"/>
                </a:solidFill>
                <a:effectLst/>
                <a:latin typeface="quote-cjk-patch"/>
              </a:rPr>
              <a:t>contains(Object o)</a:t>
            </a:r>
          </a:p>
          <a:p>
            <a:pPr marL="742950" lvl="1" indent="-285750" algn="l">
              <a:buFont typeface="Arial" panose="020B0604020202020204" pitchFamily="34" charset="0"/>
              <a:buChar char="•"/>
            </a:pPr>
            <a:r>
              <a:rPr lang="en-US" sz="1200" b="0" i="0" dirty="0">
                <a:solidFill>
                  <a:srgbClr val="0F1115"/>
                </a:solidFill>
                <a:effectLst/>
                <a:latin typeface="quote-cjk-patch"/>
              </a:rPr>
              <a:t>size()</a:t>
            </a:r>
          </a:p>
          <a:p>
            <a:pPr marL="742950" lvl="1" indent="-285750" algn="l">
              <a:buFont typeface="Arial" panose="020B0604020202020204" pitchFamily="34" charset="0"/>
              <a:buChar char="•"/>
            </a:pPr>
            <a:r>
              <a:rPr lang="en-US" sz="1200" b="0" i="0" dirty="0" err="1">
                <a:solidFill>
                  <a:srgbClr val="0F1115"/>
                </a:solidFill>
                <a:effectLst/>
                <a:latin typeface="quote-cjk-patch"/>
              </a:rPr>
              <a:t>isEmpty</a:t>
            </a:r>
            <a:r>
              <a:rPr lang="en-US" sz="1200" b="0" i="0" dirty="0">
                <a:solidFill>
                  <a:srgbClr val="0F1115"/>
                </a:solidFill>
                <a:effectLst/>
                <a:latin typeface="quote-cjk-patch"/>
              </a:rPr>
              <a:t>()</a:t>
            </a:r>
          </a:p>
          <a:p>
            <a:pPr marL="742950" lvl="1" indent="-285750" algn="l">
              <a:buFont typeface="Arial" panose="020B0604020202020204" pitchFamily="34" charset="0"/>
              <a:buChar char="•"/>
            </a:pPr>
            <a:r>
              <a:rPr lang="en-US" sz="1200" b="0" i="0" dirty="0">
                <a:solidFill>
                  <a:srgbClr val="0F1115"/>
                </a:solidFill>
                <a:effectLst/>
                <a:latin typeface="quote-cjk-patch"/>
              </a:rPr>
              <a:t>clear()</a:t>
            </a:r>
          </a:p>
          <a:p>
            <a:pPr marL="742950" lvl="1" indent="-285750" algn="l">
              <a:buFont typeface="Arial" panose="020B0604020202020204" pitchFamily="34" charset="0"/>
              <a:buChar char="•"/>
            </a:pPr>
            <a:r>
              <a:rPr lang="en-US" sz="1200" b="0" i="0" dirty="0">
                <a:solidFill>
                  <a:srgbClr val="0F1115"/>
                </a:solidFill>
                <a:effectLst/>
                <a:latin typeface="quote-cjk-patch"/>
              </a:rPr>
              <a:t>iterator()</a:t>
            </a:r>
          </a:p>
          <a:p>
            <a:pPr algn="l">
              <a:buFont typeface="Arial" panose="020B0604020202020204" pitchFamily="34" charset="0"/>
              <a:buChar char="•"/>
            </a:pPr>
            <a:r>
              <a:rPr lang="en-US" sz="1200" b="1" i="0" dirty="0">
                <a:solidFill>
                  <a:srgbClr val="0F1115"/>
                </a:solidFill>
                <a:effectLst/>
                <a:latin typeface="quote-cjk-patch"/>
              </a:rPr>
              <a:t>Bulk Operations:</a:t>
            </a:r>
            <a:endParaRPr lang="en-US" sz="1200" b="0" i="0" dirty="0">
              <a:solidFill>
                <a:srgbClr val="0F1115"/>
              </a:solidFill>
              <a:effectLst/>
              <a:latin typeface="quote-cjk-patch"/>
            </a:endParaRPr>
          </a:p>
          <a:p>
            <a:pPr marL="742950" lvl="1" indent="-285750" algn="l">
              <a:buFont typeface="Arial" panose="020B0604020202020204" pitchFamily="34" charset="0"/>
              <a:buChar char="•"/>
            </a:pPr>
            <a:r>
              <a:rPr lang="en-US" sz="1200" b="0" i="0" dirty="0" err="1">
                <a:solidFill>
                  <a:srgbClr val="0F1115"/>
                </a:solidFill>
                <a:effectLst/>
                <a:latin typeface="quote-cjk-patch"/>
              </a:rPr>
              <a:t>addAll</a:t>
            </a:r>
            <a:r>
              <a:rPr lang="en-US" sz="1200" b="0" i="0" dirty="0">
                <a:solidFill>
                  <a:srgbClr val="0F1115"/>
                </a:solidFill>
                <a:effectLst/>
                <a:latin typeface="quote-cjk-patch"/>
              </a:rPr>
              <a:t>(Collection&lt;? extends E&gt; c)</a:t>
            </a:r>
          </a:p>
          <a:p>
            <a:pPr marL="742950" lvl="1" indent="-285750" algn="l">
              <a:buFont typeface="Arial" panose="020B0604020202020204" pitchFamily="34" charset="0"/>
              <a:buChar char="•"/>
            </a:pPr>
            <a:r>
              <a:rPr lang="en-US" sz="1200" b="0" i="0" dirty="0" err="1">
                <a:solidFill>
                  <a:srgbClr val="0F1115"/>
                </a:solidFill>
                <a:effectLst/>
                <a:latin typeface="quote-cjk-patch"/>
              </a:rPr>
              <a:t>removeAll</a:t>
            </a:r>
            <a:r>
              <a:rPr lang="en-US" sz="1200" b="0" i="0" dirty="0">
                <a:solidFill>
                  <a:srgbClr val="0F1115"/>
                </a:solidFill>
                <a:effectLst/>
                <a:latin typeface="quote-cjk-patch"/>
              </a:rPr>
              <a:t>(Collection&lt;?&gt; c)</a:t>
            </a:r>
          </a:p>
          <a:p>
            <a:pPr marL="742950" lvl="1" indent="-285750" algn="l">
              <a:buFont typeface="Arial" panose="020B0604020202020204" pitchFamily="34" charset="0"/>
              <a:buChar char="•"/>
            </a:pPr>
            <a:r>
              <a:rPr lang="en-US" sz="1200" b="0" i="0" dirty="0" err="1">
                <a:solidFill>
                  <a:srgbClr val="0F1115"/>
                </a:solidFill>
                <a:effectLst/>
                <a:latin typeface="quote-cjk-patch"/>
              </a:rPr>
              <a:t>retainAll</a:t>
            </a:r>
            <a:r>
              <a:rPr lang="en-US" sz="1200" b="0" i="0" dirty="0">
                <a:solidFill>
                  <a:srgbClr val="0F1115"/>
                </a:solidFill>
                <a:effectLst/>
                <a:latin typeface="quote-cjk-patch"/>
              </a:rPr>
              <a:t>(Collection&lt;?&gt; c)</a:t>
            </a:r>
          </a:p>
          <a:p>
            <a:pPr marL="742950" lvl="1" indent="-285750" algn="l">
              <a:buFont typeface="Arial" panose="020B0604020202020204" pitchFamily="34" charset="0"/>
              <a:buChar char="•"/>
            </a:pPr>
            <a:r>
              <a:rPr lang="en-US" sz="1200" b="0" i="0" dirty="0" err="1">
                <a:solidFill>
                  <a:srgbClr val="0F1115"/>
                </a:solidFill>
                <a:effectLst/>
                <a:latin typeface="quote-cjk-patch"/>
              </a:rPr>
              <a:t>containsAll</a:t>
            </a:r>
            <a:r>
              <a:rPr lang="en-US" sz="1200" b="0" i="0" dirty="0">
                <a:solidFill>
                  <a:srgbClr val="0F1115"/>
                </a:solidFill>
                <a:effectLst/>
                <a:latin typeface="quote-cjk-patch"/>
              </a:rPr>
              <a:t>(Collection&lt;?&gt; c)</a:t>
            </a:r>
          </a:p>
          <a:p>
            <a:pPr algn="l">
              <a:buFont typeface="Arial" panose="020B0604020202020204" pitchFamily="34" charset="0"/>
              <a:buChar char="•"/>
            </a:pPr>
            <a:r>
              <a:rPr lang="en-US" sz="1200" b="1" i="0" dirty="0">
                <a:solidFill>
                  <a:srgbClr val="0F1115"/>
                </a:solidFill>
                <a:effectLst/>
                <a:latin typeface="quote-cjk-patch"/>
              </a:rPr>
              <a:t>Array Operations:</a:t>
            </a:r>
            <a:endParaRPr lang="en-US" sz="1200" b="0" i="0" dirty="0">
              <a:solidFill>
                <a:srgbClr val="0F1115"/>
              </a:solidFill>
              <a:effectLst/>
              <a:latin typeface="quote-cjk-patch"/>
            </a:endParaRPr>
          </a:p>
          <a:p>
            <a:pPr marL="742950" lvl="1" indent="-285750" algn="l">
              <a:buFont typeface="Arial" panose="020B0604020202020204" pitchFamily="34" charset="0"/>
              <a:buChar char="•"/>
            </a:pPr>
            <a:r>
              <a:rPr lang="en-US" sz="1200" b="0" i="0" dirty="0" err="1">
                <a:solidFill>
                  <a:srgbClr val="0F1115"/>
                </a:solidFill>
                <a:effectLst/>
                <a:latin typeface="quote-cjk-patch"/>
              </a:rPr>
              <a:t>toArray</a:t>
            </a:r>
            <a:r>
              <a:rPr lang="en-US" sz="1200" b="0" i="0" dirty="0">
                <a:solidFill>
                  <a:srgbClr val="0F1115"/>
                </a:solidFill>
                <a:effectLst/>
                <a:latin typeface="quote-cjk-patch"/>
              </a:rPr>
              <a:t>()</a:t>
            </a:r>
          </a:p>
          <a:p>
            <a:pPr marL="742950" lvl="1" indent="-285750" algn="l">
              <a:buFont typeface="Arial" panose="020B0604020202020204" pitchFamily="34" charset="0"/>
              <a:buChar char="•"/>
            </a:pPr>
            <a:r>
              <a:rPr lang="en-US" sz="1200" b="0" i="0" dirty="0" err="1">
                <a:solidFill>
                  <a:srgbClr val="0F1115"/>
                </a:solidFill>
                <a:effectLst/>
                <a:latin typeface="quote-cjk-patch"/>
              </a:rPr>
              <a:t>toArray</a:t>
            </a:r>
            <a:r>
              <a:rPr lang="en-US" sz="1200" b="0" i="0" dirty="0">
                <a:solidFill>
                  <a:srgbClr val="0F1115"/>
                </a:solidFill>
                <a:effectLst/>
                <a:latin typeface="quote-cjk-patch"/>
              </a:rPr>
              <a:t>(T[] a)</a:t>
            </a:r>
          </a:p>
          <a:p>
            <a:pPr algn="l">
              <a:buFont typeface="Arial" panose="020B0604020202020204" pitchFamily="34" charset="0"/>
              <a:buChar char="•"/>
            </a:pPr>
            <a:r>
              <a:rPr lang="en-US" sz="1200" b="1" i="0" dirty="0">
                <a:solidFill>
                  <a:srgbClr val="0F1115"/>
                </a:solidFill>
                <a:effectLst/>
                <a:latin typeface="quote-cjk-patch"/>
              </a:rPr>
              <a:t>Stream Operations:</a:t>
            </a:r>
            <a:endParaRPr lang="en-US" sz="1200" b="0" i="0" dirty="0">
              <a:solidFill>
                <a:srgbClr val="0F1115"/>
              </a:solidFill>
              <a:effectLst/>
              <a:latin typeface="quote-cjk-patch"/>
            </a:endParaRPr>
          </a:p>
          <a:p>
            <a:pPr marL="742950" lvl="1" indent="-285750" algn="l">
              <a:buFont typeface="Arial" panose="020B0604020202020204" pitchFamily="34" charset="0"/>
              <a:buChar char="•"/>
            </a:pPr>
            <a:r>
              <a:rPr lang="en-US" sz="1200" b="0" i="0" dirty="0">
                <a:solidFill>
                  <a:srgbClr val="0F1115"/>
                </a:solidFill>
                <a:effectLst/>
                <a:latin typeface="quote-cjk-patch"/>
              </a:rPr>
              <a:t>stream()</a:t>
            </a:r>
          </a:p>
          <a:p>
            <a:pPr marL="742950" lvl="1" indent="-285750" algn="l">
              <a:buFont typeface="Arial" panose="020B0604020202020204" pitchFamily="34" charset="0"/>
              <a:buChar char="•"/>
            </a:pPr>
            <a:r>
              <a:rPr lang="en-US" sz="1200" b="0" i="0" dirty="0" err="1">
                <a:solidFill>
                  <a:srgbClr val="0F1115"/>
                </a:solidFill>
                <a:effectLst/>
                <a:latin typeface="quote-cjk-patch"/>
              </a:rPr>
              <a:t>parallelStream</a:t>
            </a:r>
            <a:r>
              <a:rPr lang="en-US" sz="1200" b="0" i="0" dirty="0">
                <a:solidFill>
                  <a:srgbClr val="0F1115"/>
                </a:solidFill>
                <a:effectLst/>
                <a:latin typeface="quote-cjk-patch"/>
              </a:rPr>
              <a:t>()</a:t>
            </a:r>
          </a:p>
        </p:txBody>
      </p:sp>
      <p:sp>
        <p:nvSpPr>
          <p:cNvPr id="19" name="TextBox 18">
            <a:extLst>
              <a:ext uri="{FF2B5EF4-FFF2-40B4-BE49-F238E27FC236}">
                <a16:creationId xmlns:a16="http://schemas.microsoft.com/office/drawing/2014/main" id="{F10587B1-6F16-7D70-95B7-4AB23CD74F9F}"/>
              </a:ext>
            </a:extLst>
          </p:cNvPr>
          <p:cNvSpPr txBox="1"/>
          <p:nvPr/>
        </p:nvSpPr>
        <p:spPr>
          <a:xfrm>
            <a:off x="3392057" y="239006"/>
            <a:ext cx="3891954" cy="3600986"/>
          </a:xfrm>
          <a:prstGeom prst="rect">
            <a:avLst/>
          </a:prstGeom>
          <a:noFill/>
          <a:ln>
            <a:solidFill>
              <a:srgbClr val="00B0F0"/>
            </a:solidFill>
          </a:ln>
        </p:spPr>
        <p:txBody>
          <a:bodyPr wrap="square">
            <a:spAutoFit/>
          </a:bodyPr>
          <a:lstStyle/>
          <a:p>
            <a:pPr algn="l">
              <a:buNone/>
            </a:pPr>
            <a:r>
              <a:rPr lang="en-US" sz="1200" b="1" dirty="0">
                <a:solidFill>
                  <a:srgbClr val="0F1115"/>
                </a:solidFill>
                <a:effectLst/>
                <a:latin typeface="quote-cjk-patch"/>
              </a:rPr>
              <a:t>List Interface (extends Collection)</a:t>
            </a:r>
          </a:p>
          <a:p>
            <a:pPr algn="l">
              <a:buFont typeface="Arial" panose="020B0604020202020204" pitchFamily="34" charset="0"/>
              <a:buChar char="•"/>
            </a:pPr>
            <a:r>
              <a:rPr lang="en-US" sz="1200" b="1" i="0" dirty="0">
                <a:solidFill>
                  <a:srgbClr val="0F1115"/>
                </a:solidFill>
                <a:effectLst/>
                <a:latin typeface="quote-cjk-patch"/>
              </a:rPr>
              <a:t>Positional Access:</a:t>
            </a:r>
            <a:endParaRPr lang="en-US" sz="1200" b="0" i="0" dirty="0">
              <a:solidFill>
                <a:srgbClr val="0F1115"/>
              </a:solidFill>
              <a:effectLst/>
              <a:latin typeface="quote-cjk-patch"/>
            </a:endParaRPr>
          </a:p>
          <a:p>
            <a:pPr marL="742950" lvl="1" indent="-285750" algn="l">
              <a:buFont typeface="Arial" panose="020B0604020202020204" pitchFamily="34" charset="0"/>
              <a:buChar char="•"/>
            </a:pPr>
            <a:r>
              <a:rPr lang="en-US" sz="1200" b="0" i="0" dirty="0">
                <a:solidFill>
                  <a:srgbClr val="0F1115"/>
                </a:solidFill>
                <a:effectLst/>
                <a:latin typeface="quote-cjk-patch"/>
              </a:rPr>
              <a:t>get(int index)</a:t>
            </a:r>
          </a:p>
          <a:p>
            <a:pPr marL="742950" lvl="1" indent="-285750" algn="l">
              <a:buFont typeface="Arial" panose="020B0604020202020204" pitchFamily="34" charset="0"/>
              <a:buChar char="•"/>
            </a:pPr>
            <a:r>
              <a:rPr lang="en-US" sz="1200" b="0" i="0" dirty="0">
                <a:solidFill>
                  <a:srgbClr val="0F1115"/>
                </a:solidFill>
                <a:effectLst/>
                <a:latin typeface="quote-cjk-patch"/>
              </a:rPr>
              <a:t>set(int index, E element)</a:t>
            </a:r>
          </a:p>
          <a:p>
            <a:pPr marL="742950" lvl="1" indent="-285750" algn="l">
              <a:buFont typeface="Arial" panose="020B0604020202020204" pitchFamily="34" charset="0"/>
              <a:buChar char="•"/>
            </a:pPr>
            <a:r>
              <a:rPr lang="en-US" sz="1200" b="0" i="0" dirty="0">
                <a:solidFill>
                  <a:srgbClr val="0F1115"/>
                </a:solidFill>
                <a:effectLst/>
                <a:latin typeface="quote-cjk-patch"/>
              </a:rPr>
              <a:t>add(int index, E element)</a:t>
            </a:r>
          </a:p>
          <a:p>
            <a:pPr marL="742950" lvl="1" indent="-285750" algn="l">
              <a:buFont typeface="Arial" panose="020B0604020202020204" pitchFamily="34" charset="0"/>
              <a:buChar char="•"/>
            </a:pPr>
            <a:r>
              <a:rPr lang="en-US" sz="1200" b="0" i="0" dirty="0">
                <a:solidFill>
                  <a:srgbClr val="0F1115"/>
                </a:solidFill>
                <a:effectLst/>
                <a:latin typeface="quote-cjk-patch"/>
              </a:rPr>
              <a:t>remove(int index)</a:t>
            </a:r>
          </a:p>
          <a:p>
            <a:pPr marL="742950" lvl="1" indent="-285750" algn="l">
              <a:buFont typeface="Arial" panose="020B0604020202020204" pitchFamily="34" charset="0"/>
              <a:buChar char="•"/>
            </a:pPr>
            <a:r>
              <a:rPr lang="en-US" sz="1200" b="0" i="0" dirty="0" err="1">
                <a:solidFill>
                  <a:srgbClr val="0F1115"/>
                </a:solidFill>
                <a:effectLst/>
                <a:latin typeface="quote-cjk-patch"/>
              </a:rPr>
              <a:t>addAll</a:t>
            </a:r>
            <a:r>
              <a:rPr lang="en-US" sz="1200" b="0" i="0" dirty="0">
                <a:solidFill>
                  <a:srgbClr val="0F1115"/>
                </a:solidFill>
                <a:effectLst/>
                <a:latin typeface="quote-cjk-patch"/>
              </a:rPr>
              <a:t>(int index, Collection&lt;? extends E&gt; c)</a:t>
            </a:r>
          </a:p>
          <a:p>
            <a:pPr algn="l">
              <a:buFont typeface="Arial" panose="020B0604020202020204" pitchFamily="34" charset="0"/>
              <a:buChar char="•"/>
            </a:pPr>
            <a:r>
              <a:rPr lang="en-US" sz="1200" b="1" i="0" dirty="0">
                <a:solidFill>
                  <a:srgbClr val="0F1115"/>
                </a:solidFill>
                <a:effectLst/>
                <a:latin typeface="quote-cjk-patch"/>
              </a:rPr>
              <a:t>Search Operations:</a:t>
            </a:r>
            <a:endParaRPr lang="en-US" sz="1200" b="0" i="0" dirty="0">
              <a:solidFill>
                <a:srgbClr val="0F1115"/>
              </a:solidFill>
              <a:effectLst/>
              <a:latin typeface="quote-cjk-patch"/>
            </a:endParaRPr>
          </a:p>
          <a:p>
            <a:pPr marL="742950" lvl="1" indent="-285750" algn="l">
              <a:buFont typeface="Arial" panose="020B0604020202020204" pitchFamily="34" charset="0"/>
              <a:buChar char="•"/>
            </a:pPr>
            <a:r>
              <a:rPr lang="en-US" sz="1200" b="0" i="0" dirty="0" err="1">
                <a:solidFill>
                  <a:srgbClr val="0F1115"/>
                </a:solidFill>
                <a:effectLst/>
                <a:latin typeface="quote-cjk-patch"/>
              </a:rPr>
              <a:t>indexOf</a:t>
            </a:r>
            <a:r>
              <a:rPr lang="en-US" sz="1200" b="0" i="0" dirty="0">
                <a:solidFill>
                  <a:srgbClr val="0F1115"/>
                </a:solidFill>
                <a:effectLst/>
                <a:latin typeface="quote-cjk-patch"/>
              </a:rPr>
              <a:t>(Object o)</a:t>
            </a:r>
          </a:p>
          <a:p>
            <a:pPr marL="742950" lvl="1" indent="-285750" algn="l">
              <a:buFont typeface="Arial" panose="020B0604020202020204" pitchFamily="34" charset="0"/>
              <a:buChar char="•"/>
            </a:pPr>
            <a:r>
              <a:rPr lang="en-US" sz="1200" b="0" i="0" dirty="0" err="1">
                <a:solidFill>
                  <a:srgbClr val="0F1115"/>
                </a:solidFill>
                <a:effectLst/>
                <a:latin typeface="quote-cjk-patch"/>
              </a:rPr>
              <a:t>lastIndexOf</a:t>
            </a:r>
            <a:r>
              <a:rPr lang="en-US" sz="1200" b="0" i="0" dirty="0">
                <a:solidFill>
                  <a:srgbClr val="0F1115"/>
                </a:solidFill>
                <a:effectLst/>
                <a:latin typeface="quote-cjk-patch"/>
              </a:rPr>
              <a:t>(Object o)</a:t>
            </a:r>
          </a:p>
          <a:p>
            <a:pPr algn="l">
              <a:buFont typeface="Arial" panose="020B0604020202020204" pitchFamily="34" charset="0"/>
              <a:buChar char="•"/>
            </a:pPr>
            <a:r>
              <a:rPr lang="en-US" sz="1200" b="1" i="0" dirty="0">
                <a:solidFill>
                  <a:srgbClr val="0F1115"/>
                </a:solidFill>
                <a:effectLst/>
                <a:latin typeface="quote-cjk-patch"/>
              </a:rPr>
              <a:t>List Iterators:</a:t>
            </a:r>
            <a:endParaRPr lang="en-US" sz="1200" b="0" i="0" dirty="0">
              <a:solidFill>
                <a:srgbClr val="0F1115"/>
              </a:solidFill>
              <a:effectLst/>
              <a:latin typeface="quote-cjk-patch"/>
            </a:endParaRPr>
          </a:p>
          <a:p>
            <a:pPr marL="742950" lvl="1" indent="-285750" algn="l">
              <a:buFont typeface="Arial" panose="020B0604020202020204" pitchFamily="34" charset="0"/>
              <a:buChar char="•"/>
            </a:pPr>
            <a:r>
              <a:rPr lang="en-US" sz="1200" b="0" i="0" dirty="0" err="1">
                <a:solidFill>
                  <a:srgbClr val="0F1115"/>
                </a:solidFill>
                <a:effectLst/>
                <a:latin typeface="quote-cjk-patch"/>
              </a:rPr>
              <a:t>listIterator</a:t>
            </a:r>
            <a:r>
              <a:rPr lang="en-US" sz="1200" b="0" i="0" dirty="0">
                <a:solidFill>
                  <a:srgbClr val="0F1115"/>
                </a:solidFill>
                <a:effectLst/>
                <a:latin typeface="quote-cjk-patch"/>
              </a:rPr>
              <a:t>()</a:t>
            </a:r>
          </a:p>
          <a:p>
            <a:pPr marL="742950" lvl="1" indent="-285750" algn="l">
              <a:buFont typeface="Arial" panose="020B0604020202020204" pitchFamily="34" charset="0"/>
              <a:buChar char="•"/>
            </a:pPr>
            <a:r>
              <a:rPr lang="en-US" sz="1200" b="0" i="0" dirty="0" err="1">
                <a:solidFill>
                  <a:srgbClr val="0F1115"/>
                </a:solidFill>
                <a:effectLst/>
                <a:latin typeface="quote-cjk-patch"/>
              </a:rPr>
              <a:t>listIterator</a:t>
            </a:r>
            <a:r>
              <a:rPr lang="en-US" sz="1200" b="0" i="0" dirty="0">
                <a:solidFill>
                  <a:srgbClr val="0F1115"/>
                </a:solidFill>
                <a:effectLst/>
                <a:latin typeface="quote-cjk-patch"/>
              </a:rPr>
              <a:t>(int index)</a:t>
            </a:r>
          </a:p>
          <a:p>
            <a:pPr algn="l">
              <a:buFont typeface="Arial" panose="020B0604020202020204" pitchFamily="34" charset="0"/>
              <a:buChar char="•"/>
            </a:pPr>
            <a:r>
              <a:rPr lang="en-US" sz="1200" b="1" i="0" dirty="0">
                <a:solidFill>
                  <a:srgbClr val="0F1115"/>
                </a:solidFill>
                <a:effectLst/>
                <a:latin typeface="quote-cjk-patch"/>
              </a:rPr>
              <a:t>Range-view:</a:t>
            </a:r>
            <a:endParaRPr lang="en-US" sz="1200" b="0" i="0" dirty="0">
              <a:solidFill>
                <a:srgbClr val="0F1115"/>
              </a:solidFill>
              <a:effectLst/>
              <a:latin typeface="quote-cjk-patch"/>
            </a:endParaRPr>
          </a:p>
          <a:p>
            <a:pPr marL="742950" lvl="1" indent="-285750" algn="l">
              <a:buFont typeface="Arial" panose="020B0604020202020204" pitchFamily="34" charset="0"/>
              <a:buChar char="•"/>
            </a:pPr>
            <a:r>
              <a:rPr lang="en-US" sz="1200" b="0" i="0" dirty="0" err="1">
                <a:solidFill>
                  <a:srgbClr val="0F1115"/>
                </a:solidFill>
                <a:effectLst/>
                <a:latin typeface="quote-cjk-patch"/>
              </a:rPr>
              <a:t>subList</a:t>
            </a:r>
            <a:r>
              <a:rPr lang="en-US" sz="1200" b="0" i="0" dirty="0">
                <a:solidFill>
                  <a:srgbClr val="0F1115"/>
                </a:solidFill>
                <a:effectLst/>
                <a:latin typeface="quote-cjk-patch"/>
              </a:rPr>
              <a:t>(int </a:t>
            </a:r>
            <a:r>
              <a:rPr lang="en-US" sz="1200" b="0" i="0" dirty="0" err="1">
                <a:solidFill>
                  <a:srgbClr val="0F1115"/>
                </a:solidFill>
                <a:effectLst/>
                <a:latin typeface="quote-cjk-patch"/>
              </a:rPr>
              <a:t>fromIndex</a:t>
            </a:r>
            <a:r>
              <a:rPr lang="en-US" sz="1200" b="0" i="0" dirty="0">
                <a:solidFill>
                  <a:srgbClr val="0F1115"/>
                </a:solidFill>
                <a:effectLst/>
                <a:latin typeface="quote-cjk-patch"/>
              </a:rPr>
              <a:t>, int </a:t>
            </a:r>
            <a:r>
              <a:rPr lang="en-US" sz="1200" b="0" i="0" dirty="0" err="1">
                <a:solidFill>
                  <a:srgbClr val="0F1115"/>
                </a:solidFill>
                <a:effectLst/>
                <a:latin typeface="quote-cjk-patch"/>
              </a:rPr>
              <a:t>toIndex</a:t>
            </a:r>
            <a:r>
              <a:rPr lang="en-US" sz="1200" b="0" i="0" dirty="0">
                <a:solidFill>
                  <a:srgbClr val="0F1115"/>
                </a:solidFill>
                <a:effectLst/>
                <a:latin typeface="quote-cjk-patch"/>
              </a:rPr>
              <a:t>)</a:t>
            </a:r>
          </a:p>
          <a:p>
            <a:pPr algn="l">
              <a:buFont typeface="Arial" panose="020B0604020202020204" pitchFamily="34" charset="0"/>
              <a:buChar char="•"/>
            </a:pPr>
            <a:r>
              <a:rPr lang="en-US" sz="1200" b="1" i="0" dirty="0">
                <a:solidFill>
                  <a:srgbClr val="0F1115"/>
                </a:solidFill>
                <a:effectLst/>
                <a:latin typeface="quote-cjk-patch"/>
              </a:rPr>
              <a:t>Sorting:</a:t>
            </a:r>
            <a:endParaRPr lang="en-US" sz="1200" b="0" i="0" dirty="0">
              <a:solidFill>
                <a:srgbClr val="0F1115"/>
              </a:solidFill>
              <a:effectLst/>
              <a:latin typeface="quote-cjk-patch"/>
            </a:endParaRPr>
          </a:p>
          <a:p>
            <a:pPr marL="742950" lvl="1" indent="-285750" algn="l">
              <a:buFont typeface="Arial" panose="020B0604020202020204" pitchFamily="34" charset="0"/>
              <a:buChar char="•"/>
            </a:pPr>
            <a:r>
              <a:rPr lang="en-US" sz="1200" b="0" i="0" dirty="0">
                <a:solidFill>
                  <a:srgbClr val="0F1115"/>
                </a:solidFill>
                <a:effectLst/>
                <a:latin typeface="quote-cjk-patch"/>
              </a:rPr>
              <a:t>sort(Comparator&lt;? super E&gt; c)</a:t>
            </a:r>
          </a:p>
          <a:p>
            <a:pPr algn="l">
              <a:buFont typeface="Arial" panose="020B0604020202020204" pitchFamily="34" charset="0"/>
              <a:buChar char="•"/>
            </a:pPr>
            <a:r>
              <a:rPr lang="en-US" sz="1200" b="1" i="0" dirty="0">
                <a:solidFill>
                  <a:srgbClr val="0F1115"/>
                </a:solidFill>
                <a:effectLst/>
                <a:latin typeface="quote-cjk-patch"/>
              </a:rPr>
              <a:t>Replacement:</a:t>
            </a:r>
            <a:endParaRPr lang="en-US" sz="1200" b="0" i="0" dirty="0">
              <a:solidFill>
                <a:srgbClr val="0F1115"/>
              </a:solidFill>
              <a:effectLst/>
              <a:latin typeface="quote-cjk-patch"/>
            </a:endParaRPr>
          </a:p>
          <a:p>
            <a:pPr marL="742950" lvl="1" indent="-285750" algn="l">
              <a:buFont typeface="Arial" panose="020B0604020202020204" pitchFamily="34" charset="0"/>
              <a:buChar char="•"/>
            </a:pPr>
            <a:r>
              <a:rPr lang="en-US" sz="1200" b="0" i="0" dirty="0" err="1">
                <a:solidFill>
                  <a:srgbClr val="0F1115"/>
                </a:solidFill>
                <a:effectLst/>
                <a:latin typeface="quote-cjk-patch"/>
              </a:rPr>
              <a:t>replaceAll</a:t>
            </a:r>
            <a:r>
              <a:rPr lang="en-US" sz="1200" b="0" i="0" dirty="0">
                <a:solidFill>
                  <a:srgbClr val="0F1115"/>
                </a:solidFill>
                <a:effectLst/>
                <a:latin typeface="quote-cjk-patch"/>
              </a:rPr>
              <a:t>(</a:t>
            </a:r>
            <a:r>
              <a:rPr lang="en-US" sz="1200" b="0" i="0" dirty="0" err="1">
                <a:solidFill>
                  <a:srgbClr val="0F1115"/>
                </a:solidFill>
                <a:effectLst/>
                <a:latin typeface="quote-cjk-patch"/>
              </a:rPr>
              <a:t>UnaryOperator</a:t>
            </a:r>
            <a:r>
              <a:rPr lang="en-US" sz="1200" b="0" i="0" dirty="0">
                <a:solidFill>
                  <a:srgbClr val="0F1115"/>
                </a:solidFill>
                <a:effectLst/>
                <a:latin typeface="Menlo"/>
              </a:rPr>
              <a:t>&lt;E&gt;</a:t>
            </a:r>
            <a:r>
              <a:rPr lang="en-US" sz="1200" b="0" i="0" dirty="0">
                <a:solidFill>
                  <a:srgbClr val="0F1115"/>
                </a:solidFill>
                <a:effectLst/>
                <a:latin typeface="quote-cjk-patch"/>
              </a:rPr>
              <a:t> operator)</a:t>
            </a:r>
            <a:endParaRPr lang="en-US" sz="1200" dirty="0"/>
          </a:p>
        </p:txBody>
      </p:sp>
      <p:sp>
        <p:nvSpPr>
          <p:cNvPr id="21" name="TextBox 20">
            <a:extLst>
              <a:ext uri="{FF2B5EF4-FFF2-40B4-BE49-F238E27FC236}">
                <a16:creationId xmlns:a16="http://schemas.microsoft.com/office/drawing/2014/main" id="{3F4BFE37-6934-5356-EF07-71ABDFCBF6B4}"/>
              </a:ext>
            </a:extLst>
          </p:cNvPr>
          <p:cNvSpPr txBox="1"/>
          <p:nvPr/>
        </p:nvSpPr>
        <p:spPr>
          <a:xfrm>
            <a:off x="7402781" y="239006"/>
            <a:ext cx="2830179" cy="1938992"/>
          </a:xfrm>
          <a:prstGeom prst="rect">
            <a:avLst/>
          </a:prstGeom>
          <a:noFill/>
          <a:ln>
            <a:solidFill>
              <a:srgbClr val="00B0F0"/>
            </a:solidFill>
          </a:ln>
        </p:spPr>
        <p:txBody>
          <a:bodyPr wrap="square">
            <a:spAutoFit/>
          </a:bodyPr>
          <a:lstStyle/>
          <a:p>
            <a:pPr algn="l">
              <a:buNone/>
            </a:pPr>
            <a:r>
              <a:rPr lang="en-US" sz="1200" b="1" dirty="0">
                <a:solidFill>
                  <a:srgbClr val="0F1115"/>
                </a:solidFill>
                <a:effectLst/>
                <a:latin typeface="quote-cjk-patch"/>
              </a:rPr>
              <a:t>Queue Interface (extends Collection)</a:t>
            </a:r>
          </a:p>
          <a:p>
            <a:pPr algn="l">
              <a:buFont typeface="Arial" panose="020B0604020202020204" pitchFamily="34" charset="0"/>
              <a:buChar char="•"/>
            </a:pPr>
            <a:r>
              <a:rPr lang="en-US" sz="1200" b="1" i="0" dirty="0">
                <a:solidFill>
                  <a:srgbClr val="0F1115"/>
                </a:solidFill>
                <a:effectLst/>
                <a:latin typeface="quote-cjk-patch"/>
              </a:rPr>
              <a:t>Insert Operations:</a:t>
            </a:r>
            <a:endParaRPr lang="en-US" sz="1200" b="0" i="0" dirty="0">
              <a:solidFill>
                <a:srgbClr val="0F1115"/>
              </a:solidFill>
              <a:effectLst/>
              <a:latin typeface="quote-cjk-patch"/>
            </a:endParaRPr>
          </a:p>
          <a:p>
            <a:pPr marL="742950" lvl="1" indent="-285750" algn="l">
              <a:buFont typeface="Arial" panose="020B0604020202020204" pitchFamily="34" charset="0"/>
              <a:buChar char="•"/>
            </a:pPr>
            <a:r>
              <a:rPr lang="en-US" sz="1200" b="0" i="0" dirty="0">
                <a:solidFill>
                  <a:srgbClr val="0F1115"/>
                </a:solidFill>
                <a:effectLst/>
                <a:latin typeface="quote-cjk-patch"/>
              </a:rPr>
              <a:t>add(E e)</a:t>
            </a:r>
          </a:p>
          <a:p>
            <a:pPr marL="742950" lvl="1" indent="-285750" algn="l">
              <a:buFont typeface="Arial" panose="020B0604020202020204" pitchFamily="34" charset="0"/>
              <a:buChar char="•"/>
            </a:pPr>
            <a:r>
              <a:rPr lang="en-US" sz="1200" b="0" i="0" dirty="0">
                <a:solidFill>
                  <a:srgbClr val="0F1115"/>
                </a:solidFill>
                <a:effectLst/>
                <a:latin typeface="quote-cjk-patch"/>
              </a:rPr>
              <a:t>offer(E e)</a:t>
            </a:r>
          </a:p>
          <a:p>
            <a:pPr algn="l">
              <a:buFont typeface="Arial" panose="020B0604020202020204" pitchFamily="34" charset="0"/>
              <a:buChar char="•"/>
            </a:pPr>
            <a:r>
              <a:rPr lang="en-US" sz="1200" b="1" i="0" dirty="0">
                <a:solidFill>
                  <a:srgbClr val="0F1115"/>
                </a:solidFill>
                <a:effectLst/>
                <a:latin typeface="quote-cjk-patch"/>
              </a:rPr>
              <a:t>Remove Operations:</a:t>
            </a:r>
            <a:endParaRPr lang="en-US" sz="1200" b="0" i="0" dirty="0">
              <a:solidFill>
                <a:srgbClr val="0F1115"/>
              </a:solidFill>
              <a:effectLst/>
              <a:latin typeface="quote-cjk-patch"/>
            </a:endParaRPr>
          </a:p>
          <a:p>
            <a:pPr marL="742950" lvl="1" indent="-285750" algn="l">
              <a:buFont typeface="Arial" panose="020B0604020202020204" pitchFamily="34" charset="0"/>
              <a:buChar char="•"/>
            </a:pPr>
            <a:r>
              <a:rPr lang="en-US" sz="1200" b="0" i="0" dirty="0">
                <a:solidFill>
                  <a:srgbClr val="0F1115"/>
                </a:solidFill>
                <a:effectLst/>
                <a:latin typeface="quote-cjk-patch"/>
              </a:rPr>
              <a:t>remove()</a:t>
            </a:r>
          </a:p>
          <a:p>
            <a:pPr marL="742950" lvl="1" indent="-285750" algn="l">
              <a:buFont typeface="Arial" panose="020B0604020202020204" pitchFamily="34" charset="0"/>
              <a:buChar char="•"/>
            </a:pPr>
            <a:r>
              <a:rPr lang="en-US" sz="1200" b="0" i="0" dirty="0">
                <a:solidFill>
                  <a:srgbClr val="0F1115"/>
                </a:solidFill>
                <a:effectLst/>
                <a:latin typeface="quote-cjk-patch"/>
              </a:rPr>
              <a:t>poll()</a:t>
            </a:r>
          </a:p>
          <a:p>
            <a:pPr algn="l">
              <a:buFont typeface="Arial" panose="020B0604020202020204" pitchFamily="34" charset="0"/>
              <a:buChar char="•"/>
            </a:pPr>
            <a:r>
              <a:rPr lang="en-US" sz="1200" b="1" i="0" dirty="0">
                <a:solidFill>
                  <a:srgbClr val="0F1115"/>
                </a:solidFill>
                <a:effectLst/>
                <a:latin typeface="quote-cjk-patch"/>
              </a:rPr>
              <a:t>Examine Operations:</a:t>
            </a:r>
            <a:endParaRPr lang="en-US" sz="1200" b="0" i="0" dirty="0">
              <a:solidFill>
                <a:srgbClr val="0F1115"/>
              </a:solidFill>
              <a:effectLst/>
              <a:latin typeface="quote-cjk-patch"/>
            </a:endParaRPr>
          </a:p>
          <a:p>
            <a:pPr marL="742950" lvl="1" indent="-285750" algn="l">
              <a:buFont typeface="Arial" panose="020B0604020202020204" pitchFamily="34" charset="0"/>
              <a:buChar char="•"/>
            </a:pPr>
            <a:r>
              <a:rPr lang="en-US" sz="1200" b="0" i="0" dirty="0">
                <a:solidFill>
                  <a:srgbClr val="0F1115"/>
                </a:solidFill>
                <a:effectLst/>
                <a:latin typeface="quote-cjk-patch"/>
              </a:rPr>
              <a:t>element()</a:t>
            </a:r>
          </a:p>
          <a:p>
            <a:pPr marL="742950" lvl="1" indent="-285750" algn="l">
              <a:buFont typeface="Arial" panose="020B0604020202020204" pitchFamily="34" charset="0"/>
              <a:buChar char="•"/>
            </a:pPr>
            <a:r>
              <a:rPr lang="en-US" sz="1200" b="0" i="0" dirty="0">
                <a:solidFill>
                  <a:srgbClr val="0F1115"/>
                </a:solidFill>
                <a:effectLst/>
                <a:latin typeface="quote-cjk-patch"/>
              </a:rPr>
              <a:t>peek()</a:t>
            </a:r>
          </a:p>
        </p:txBody>
      </p:sp>
      <p:sp>
        <p:nvSpPr>
          <p:cNvPr id="22" name="TextBox 21">
            <a:extLst>
              <a:ext uri="{FF2B5EF4-FFF2-40B4-BE49-F238E27FC236}">
                <a16:creationId xmlns:a16="http://schemas.microsoft.com/office/drawing/2014/main" id="{0860E0E7-31C6-0C9B-2D4F-D9951D15670C}"/>
              </a:ext>
            </a:extLst>
          </p:cNvPr>
          <p:cNvSpPr txBox="1"/>
          <p:nvPr/>
        </p:nvSpPr>
        <p:spPr>
          <a:xfrm>
            <a:off x="7402781" y="2315538"/>
            <a:ext cx="2830179" cy="1015663"/>
          </a:xfrm>
          <a:prstGeom prst="rect">
            <a:avLst/>
          </a:prstGeom>
          <a:noFill/>
          <a:ln>
            <a:solidFill>
              <a:srgbClr val="00B0F0"/>
            </a:solidFill>
          </a:ln>
        </p:spPr>
        <p:txBody>
          <a:bodyPr wrap="square">
            <a:spAutoFit/>
          </a:bodyPr>
          <a:lstStyle/>
          <a:p>
            <a:pPr algn="l">
              <a:buNone/>
            </a:pPr>
            <a:r>
              <a:rPr lang="en-US" sz="1200" b="1" dirty="0">
                <a:solidFill>
                  <a:srgbClr val="0F1115"/>
                </a:solidFill>
                <a:effectLst/>
                <a:latin typeface="quote-cjk-patch"/>
              </a:rPr>
              <a:t>Set Interface (extends Collection)</a:t>
            </a:r>
          </a:p>
          <a:p>
            <a:pPr algn="l">
              <a:buFont typeface="Arial" panose="020B0604020202020204" pitchFamily="34" charset="0"/>
              <a:buChar char="•"/>
            </a:pPr>
            <a:r>
              <a:rPr lang="en-US" sz="1200" b="1" i="0" dirty="0">
                <a:solidFill>
                  <a:srgbClr val="0F1115"/>
                </a:solidFill>
                <a:effectLst/>
                <a:latin typeface="quote-cjk-patch"/>
              </a:rPr>
              <a:t>Same methods as Collection interface</a:t>
            </a:r>
            <a:r>
              <a:rPr lang="en-US" sz="1200" b="0" i="0" dirty="0">
                <a:solidFill>
                  <a:srgbClr val="0F1115"/>
                </a:solidFill>
                <a:effectLst/>
                <a:latin typeface="quote-cjk-patch"/>
              </a:rPr>
              <a:t> (no additional methods)</a:t>
            </a:r>
          </a:p>
          <a:p>
            <a:pPr algn="l">
              <a:buFont typeface="Arial" panose="020B0604020202020204" pitchFamily="34" charset="0"/>
              <a:buChar char="•"/>
            </a:pPr>
            <a:r>
              <a:rPr lang="en-US" sz="1200" b="0" i="0" dirty="0">
                <a:solidFill>
                  <a:srgbClr val="0F1115"/>
                </a:solidFill>
                <a:effectLst/>
                <a:latin typeface="quote-cjk-patch"/>
              </a:rPr>
              <a:t>Contractually different behavior for add() (rejects duplicates)</a:t>
            </a:r>
          </a:p>
        </p:txBody>
      </p:sp>
    </p:spTree>
    <p:extLst>
      <p:ext uri="{BB962C8B-B14F-4D97-AF65-F5344CB8AC3E}">
        <p14:creationId xmlns:p14="http://schemas.microsoft.com/office/powerpoint/2010/main" val="30451842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D0C02A8-4066-C680-A904-B274316341FB}"/>
              </a:ext>
            </a:extLst>
          </p:cNvPr>
          <p:cNvSpPr txBox="1"/>
          <p:nvPr/>
        </p:nvSpPr>
        <p:spPr>
          <a:xfrm>
            <a:off x="498996" y="633673"/>
            <a:ext cx="3215900" cy="2123658"/>
          </a:xfrm>
          <a:prstGeom prst="rect">
            <a:avLst/>
          </a:prstGeom>
          <a:noFill/>
          <a:ln>
            <a:solidFill>
              <a:srgbClr val="002060"/>
            </a:solidFill>
          </a:ln>
        </p:spPr>
        <p:txBody>
          <a:bodyPr wrap="square">
            <a:spAutoFit/>
          </a:bodyPr>
          <a:lstStyle/>
          <a:p>
            <a:pPr algn="l">
              <a:buNone/>
            </a:pPr>
            <a:r>
              <a:rPr lang="en-US" sz="1200" b="1" dirty="0" err="1">
                <a:solidFill>
                  <a:srgbClr val="0F1115"/>
                </a:solidFill>
                <a:effectLst/>
                <a:latin typeface="quote-cjk-patch"/>
              </a:rPr>
              <a:t>ArrayList</a:t>
            </a:r>
            <a:r>
              <a:rPr lang="en-US" sz="1200" b="1" dirty="0">
                <a:solidFill>
                  <a:srgbClr val="0F1115"/>
                </a:solidFill>
                <a:effectLst/>
                <a:latin typeface="quote-cjk-patch"/>
              </a:rPr>
              <a:t> Class (implements List)</a:t>
            </a:r>
          </a:p>
          <a:p>
            <a:pPr algn="l">
              <a:buFont typeface="Arial" panose="020B0604020202020204" pitchFamily="34" charset="0"/>
              <a:buChar char="•"/>
            </a:pPr>
            <a:r>
              <a:rPr lang="en-US" sz="1200" b="1" i="0" dirty="0">
                <a:solidFill>
                  <a:srgbClr val="0F1115"/>
                </a:solidFill>
                <a:effectLst/>
                <a:latin typeface="quote-cjk-patch"/>
              </a:rPr>
              <a:t>Constructors:</a:t>
            </a:r>
            <a:endParaRPr lang="en-US" sz="1200" b="0" i="0" dirty="0">
              <a:solidFill>
                <a:srgbClr val="0F1115"/>
              </a:solidFill>
              <a:effectLst/>
              <a:latin typeface="quote-cjk-patch"/>
            </a:endParaRPr>
          </a:p>
          <a:p>
            <a:pPr marL="742950" lvl="1" indent="-285750" algn="l">
              <a:buFont typeface="Arial" panose="020B0604020202020204" pitchFamily="34" charset="0"/>
              <a:buChar char="•"/>
            </a:pPr>
            <a:r>
              <a:rPr lang="en-US" sz="1200" b="0" i="0" dirty="0" err="1">
                <a:solidFill>
                  <a:srgbClr val="0F1115"/>
                </a:solidFill>
                <a:effectLst/>
                <a:latin typeface="quote-cjk-patch"/>
              </a:rPr>
              <a:t>ArrayList</a:t>
            </a:r>
            <a:r>
              <a:rPr lang="en-US" sz="1200" b="0" i="0" dirty="0">
                <a:solidFill>
                  <a:srgbClr val="0F1115"/>
                </a:solidFill>
                <a:effectLst/>
                <a:latin typeface="quote-cjk-patch"/>
              </a:rPr>
              <a:t>()</a:t>
            </a:r>
          </a:p>
          <a:p>
            <a:pPr marL="742950" lvl="1" indent="-285750" algn="l">
              <a:buFont typeface="Arial" panose="020B0604020202020204" pitchFamily="34" charset="0"/>
              <a:buChar char="•"/>
            </a:pPr>
            <a:r>
              <a:rPr lang="en-US" sz="1200" b="0" i="0" dirty="0" err="1">
                <a:solidFill>
                  <a:srgbClr val="0F1115"/>
                </a:solidFill>
                <a:effectLst/>
                <a:latin typeface="quote-cjk-patch"/>
              </a:rPr>
              <a:t>ArrayList</a:t>
            </a:r>
            <a:r>
              <a:rPr lang="en-US" sz="1200" b="0" i="0" dirty="0">
                <a:solidFill>
                  <a:srgbClr val="0F1115"/>
                </a:solidFill>
                <a:effectLst/>
                <a:latin typeface="quote-cjk-patch"/>
              </a:rPr>
              <a:t>(int </a:t>
            </a:r>
            <a:r>
              <a:rPr lang="en-US" sz="1200" b="0" i="0" dirty="0" err="1">
                <a:solidFill>
                  <a:srgbClr val="0F1115"/>
                </a:solidFill>
                <a:effectLst/>
                <a:latin typeface="quote-cjk-patch"/>
              </a:rPr>
              <a:t>initialCapacity</a:t>
            </a:r>
            <a:r>
              <a:rPr lang="en-US" sz="1200" b="0" i="0" dirty="0">
                <a:solidFill>
                  <a:srgbClr val="0F1115"/>
                </a:solidFill>
                <a:effectLst/>
                <a:latin typeface="quote-cjk-patch"/>
              </a:rPr>
              <a:t>)</a:t>
            </a:r>
          </a:p>
          <a:p>
            <a:pPr marL="742950" lvl="1" indent="-285750" algn="l">
              <a:buFont typeface="Arial" panose="020B0604020202020204" pitchFamily="34" charset="0"/>
              <a:buChar char="•"/>
            </a:pPr>
            <a:r>
              <a:rPr lang="en-US" sz="1200" b="0" i="0" dirty="0" err="1">
                <a:solidFill>
                  <a:srgbClr val="0F1115"/>
                </a:solidFill>
                <a:effectLst/>
                <a:latin typeface="quote-cjk-patch"/>
              </a:rPr>
              <a:t>ArrayList</a:t>
            </a:r>
            <a:r>
              <a:rPr lang="en-US" sz="1200" b="0" i="0" dirty="0">
                <a:solidFill>
                  <a:srgbClr val="0F1115"/>
                </a:solidFill>
                <a:effectLst/>
                <a:latin typeface="quote-cjk-patch"/>
              </a:rPr>
              <a:t>(Collection&lt;? extends E&gt; c)</a:t>
            </a:r>
          </a:p>
          <a:p>
            <a:pPr algn="l">
              <a:buFont typeface="Arial" panose="020B0604020202020204" pitchFamily="34" charset="0"/>
              <a:buChar char="•"/>
            </a:pPr>
            <a:r>
              <a:rPr lang="en-US" sz="1200" b="1" i="0" dirty="0">
                <a:solidFill>
                  <a:srgbClr val="0F1115"/>
                </a:solidFill>
                <a:effectLst/>
                <a:latin typeface="quote-cjk-patch"/>
              </a:rPr>
              <a:t>Capacity Management:</a:t>
            </a:r>
            <a:endParaRPr lang="en-US" sz="1200" b="0" i="0" dirty="0">
              <a:solidFill>
                <a:srgbClr val="0F1115"/>
              </a:solidFill>
              <a:effectLst/>
              <a:latin typeface="quote-cjk-patch"/>
            </a:endParaRPr>
          </a:p>
          <a:p>
            <a:pPr marL="742950" lvl="1" indent="-285750" algn="l">
              <a:buFont typeface="Arial" panose="020B0604020202020204" pitchFamily="34" charset="0"/>
              <a:buChar char="•"/>
            </a:pPr>
            <a:r>
              <a:rPr lang="en-US" sz="1200" b="0" i="0" dirty="0" err="1">
                <a:solidFill>
                  <a:srgbClr val="0F1115"/>
                </a:solidFill>
                <a:effectLst/>
                <a:latin typeface="quote-cjk-patch"/>
              </a:rPr>
              <a:t>ensureCapacity</a:t>
            </a:r>
            <a:r>
              <a:rPr lang="en-US" sz="1200" b="0" i="0" dirty="0">
                <a:solidFill>
                  <a:srgbClr val="0F1115"/>
                </a:solidFill>
                <a:effectLst/>
                <a:latin typeface="quote-cjk-patch"/>
              </a:rPr>
              <a:t>(int </a:t>
            </a:r>
            <a:r>
              <a:rPr lang="en-US" sz="1200" b="0" i="0" dirty="0" err="1">
                <a:solidFill>
                  <a:srgbClr val="0F1115"/>
                </a:solidFill>
                <a:effectLst/>
                <a:latin typeface="quote-cjk-patch"/>
              </a:rPr>
              <a:t>minCapacity</a:t>
            </a:r>
            <a:r>
              <a:rPr lang="en-US" sz="1200" b="0" i="0" dirty="0">
                <a:solidFill>
                  <a:srgbClr val="0F1115"/>
                </a:solidFill>
                <a:effectLst/>
                <a:latin typeface="quote-cjk-patch"/>
              </a:rPr>
              <a:t>)</a:t>
            </a:r>
          </a:p>
          <a:p>
            <a:pPr marL="742950" lvl="1" indent="-285750" algn="l">
              <a:buFont typeface="Arial" panose="020B0604020202020204" pitchFamily="34" charset="0"/>
              <a:buChar char="•"/>
            </a:pPr>
            <a:r>
              <a:rPr lang="en-US" sz="1200" b="0" i="0" dirty="0" err="1">
                <a:solidFill>
                  <a:srgbClr val="0F1115"/>
                </a:solidFill>
                <a:effectLst/>
                <a:latin typeface="quote-cjk-patch"/>
              </a:rPr>
              <a:t>trimToSize</a:t>
            </a:r>
            <a:r>
              <a:rPr lang="en-US" sz="1200" b="0" i="0" dirty="0">
                <a:solidFill>
                  <a:srgbClr val="0F1115"/>
                </a:solidFill>
                <a:effectLst/>
                <a:latin typeface="quote-cjk-patch"/>
              </a:rPr>
              <a:t>()</a:t>
            </a:r>
          </a:p>
          <a:p>
            <a:pPr algn="l">
              <a:buFont typeface="Arial" panose="020B0604020202020204" pitchFamily="34" charset="0"/>
              <a:buChar char="•"/>
            </a:pPr>
            <a:r>
              <a:rPr lang="en-US" sz="1200" b="1" i="0" dirty="0">
                <a:solidFill>
                  <a:srgbClr val="0F1115"/>
                </a:solidFill>
                <a:effectLst/>
                <a:latin typeface="quote-cjk-patch"/>
              </a:rPr>
              <a:t>Additional Methods:</a:t>
            </a:r>
            <a:endParaRPr lang="en-US" sz="1200" b="0" i="0" dirty="0">
              <a:solidFill>
                <a:srgbClr val="0F1115"/>
              </a:solidFill>
              <a:effectLst/>
              <a:latin typeface="quote-cjk-patch"/>
            </a:endParaRPr>
          </a:p>
          <a:p>
            <a:pPr marL="742950" lvl="1" indent="-285750" algn="l">
              <a:buFont typeface="Arial" panose="020B0604020202020204" pitchFamily="34" charset="0"/>
              <a:buChar char="•"/>
            </a:pPr>
            <a:r>
              <a:rPr lang="en-US" sz="1200" b="0" i="0" dirty="0">
                <a:solidFill>
                  <a:srgbClr val="0F1115"/>
                </a:solidFill>
                <a:effectLst/>
                <a:latin typeface="quote-cjk-patch"/>
              </a:rPr>
              <a:t>clone()</a:t>
            </a:r>
          </a:p>
          <a:p>
            <a:pPr algn="l">
              <a:buFont typeface="Arial" panose="020B0604020202020204" pitchFamily="34" charset="0"/>
              <a:buChar char="•"/>
            </a:pPr>
            <a:r>
              <a:rPr lang="en-US" sz="1200" b="1" i="0" dirty="0">
                <a:solidFill>
                  <a:srgbClr val="0F1115"/>
                </a:solidFill>
                <a:effectLst/>
                <a:latin typeface="quote-cjk-patch"/>
              </a:rPr>
              <a:t>Inherits all List and Collection methods</a:t>
            </a:r>
            <a:endParaRPr lang="en-US" sz="1200" b="0" i="0" dirty="0">
              <a:solidFill>
                <a:srgbClr val="0F1115"/>
              </a:solidFill>
              <a:effectLst/>
              <a:latin typeface="quote-cjk-patch"/>
            </a:endParaRPr>
          </a:p>
        </p:txBody>
      </p:sp>
      <p:sp>
        <p:nvSpPr>
          <p:cNvPr id="7" name="TextBox 6">
            <a:extLst>
              <a:ext uri="{FF2B5EF4-FFF2-40B4-BE49-F238E27FC236}">
                <a16:creationId xmlns:a16="http://schemas.microsoft.com/office/drawing/2014/main" id="{100A163B-E197-DD05-9401-D9E8AA2AEC0B}"/>
              </a:ext>
            </a:extLst>
          </p:cNvPr>
          <p:cNvSpPr txBox="1"/>
          <p:nvPr/>
        </p:nvSpPr>
        <p:spPr>
          <a:xfrm>
            <a:off x="607902" y="3155531"/>
            <a:ext cx="3444724" cy="3416320"/>
          </a:xfrm>
          <a:prstGeom prst="rect">
            <a:avLst/>
          </a:prstGeom>
          <a:noFill/>
          <a:ln>
            <a:solidFill>
              <a:srgbClr val="002060"/>
            </a:solidFill>
          </a:ln>
        </p:spPr>
        <p:txBody>
          <a:bodyPr wrap="square">
            <a:spAutoFit/>
          </a:bodyPr>
          <a:lstStyle/>
          <a:p>
            <a:pPr algn="l">
              <a:buNone/>
            </a:pPr>
            <a:r>
              <a:rPr lang="en-US" sz="1200" b="1" dirty="0">
                <a:solidFill>
                  <a:srgbClr val="0F1115"/>
                </a:solidFill>
                <a:effectLst/>
                <a:latin typeface="quote-cjk-patch"/>
              </a:rPr>
              <a:t>LinkedList Class (implements List, Deque)</a:t>
            </a:r>
          </a:p>
          <a:p>
            <a:pPr algn="l">
              <a:buFont typeface="Arial" panose="020B0604020202020204" pitchFamily="34" charset="0"/>
              <a:buChar char="•"/>
            </a:pPr>
            <a:r>
              <a:rPr lang="en-US" sz="1200" b="1" i="0" dirty="0">
                <a:solidFill>
                  <a:srgbClr val="0F1115"/>
                </a:solidFill>
                <a:effectLst/>
                <a:latin typeface="quote-cjk-patch"/>
              </a:rPr>
              <a:t>Constructors:</a:t>
            </a:r>
            <a:endParaRPr lang="en-US" sz="1200" b="0" i="0" dirty="0">
              <a:solidFill>
                <a:srgbClr val="0F1115"/>
              </a:solidFill>
              <a:effectLst/>
              <a:latin typeface="quote-cjk-patch"/>
            </a:endParaRPr>
          </a:p>
          <a:p>
            <a:pPr marL="742950" lvl="1" indent="-285750" algn="l">
              <a:buFont typeface="Arial" panose="020B0604020202020204" pitchFamily="34" charset="0"/>
              <a:buChar char="•"/>
            </a:pPr>
            <a:r>
              <a:rPr lang="en-US" sz="1200" b="0" i="0" dirty="0">
                <a:solidFill>
                  <a:srgbClr val="0F1115"/>
                </a:solidFill>
                <a:effectLst/>
                <a:latin typeface="quote-cjk-patch"/>
              </a:rPr>
              <a:t>LinkedList()</a:t>
            </a:r>
          </a:p>
          <a:p>
            <a:pPr marL="742950" lvl="1" indent="-285750" algn="l">
              <a:buFont typeface="Arial" panose="020B0604020202020204" pitchFamily="34" charset="0"/>
              <a:buChar char="•"/>
            </a:pPr>
            <a:r>
              <a:rPr lang="en-US" sz="1200" b="0" i="0" dirty="0">
                <a:solidFill>
                  <a:srgbClr val="0F1115"/>
                </a:solidFill>
                <a:effectLst/>
                <a:latin typeface="quote-cjk-patch"/>
              </a:rPr>
              <a:t>LinkedList(Collection&lt;? extends E&gt; c)</a:t>
            </a:r>
          </a:p>
          <a:p>
            <a:pPr algn="l">
              <a:buFont typeface="Arial" panose="020B0604020202020204" pitchFamily="34" charset="0"/>
              <a:buChar char="•"/>
            </a:pPr>
            <a:r>
              <a:rPr lang="en-US" sz="1200" b="1" i="0" dirty="0">
                <a:solidFill>
                  <a:srgbClr val="0F1115"/>
                </a:solidFill>
                <a:effectLst/>
                <a:latin typeface="quote-cjk-patch"/>
              </a:rPr>
              <a:t>Queue/Deque Methods:</a:t>
            </a:r>
            <a:endParaRPr lang="en-US" sz="1200" b="0" i="0" dirty="0">
              <a:solidFill>
                <a:srgbClr val="0F1115"/>
              </a:solidFill>
              <a:effectLst/>
              <a:latin typeface="quote-cjk-patch"/>
            </a:endParaRPr>
          </a:p>
          <a:p>
            <a:pPr marL="742950" lvl="1" indent="-285750" algn="l">
              <a:buFont typeface="Arial" panose="020B0604020202020204" pitchFamily="34" charset="0"/>
              <a:buChar char="•"/>
            </a:pPr>
            <a:r>
              <a:rPr lang="en-US" sz="1200" b="0" i="0" dirty="0">
                <a:solidFill>
                  <a:srgbClr val="0F1115"/>
                </a:solidFill>
                <a:effectLst/>
                <a:latin typeface="quote-cjk-patch"/>
              </a:rPr>
              <a:t>peek()</a:t>
            </a:r>
          </a:p>
          <a:p>
            <a:pPr marL="742950" lvl="1" indent="-285750" algn="l">
              <a:buFont typeface="Arial" panose="020B0604020202020204" pitchFamily="34" charset="0"/>
              <a:buChar char="•"/>
            </a:pPr>
            <a:r>
              <a:rPr lang="en-US" sz="1200" b="0" i="0" dirty="0">
                <a:solidFill>
                  <a:srgbClr val="0F1115"/>
                </a:solidFill>
                <a:effectLst/>
                <a:latin typeface="quote-cjk-patch"/>
              </a:rPr>
              <a:t>poll()</a:t>
            </a:r>
          </a:p>
          <a:p>
            <a:pPr marL="742950" lvl="1" indent="-285750" algn="l">
              <a:buFont typeface="Arial" panose="020B0604020202020204" pitchFamily="34" charset="0"/>
              <a:buChar char="•"/>
            </a:pPr>
            <a:r>
              <a:rPr lang="en-US" sz="1200" b="0" i="0" dirty="0">
                <a:solidFill>
                  <a:srgbClr val="0F1115"/>
                </a:solidFill>
                <a:effectLst/>
                <a:latin typeface="quote-cjk-patch"/>
              </a:rPr>
              <a:t>offer(E e)</a:t>
            </a:r>
          </a:p>
          <a:p>
            <a:pPr marL="742950" lvl="1" indent="-285750" algn="l">
              <a:buFont typeface="Arial" panose="020B0604020202020204" pitchFamily="34" charset="0"/>
              <a:buChar char="•"/>
            </a:pPr>
            <a:r>
              <a:rPr lang="en-US" sz="1200" b="0" i="0" dirty="0" err="1">
                <a:solidFill>
                  <a:srgbClr val="0F1115"/>
                </a:solidFill>
                <a:effectLst/>
                <a:latin typeface="quote-cjk-patch"/>
              </a:rPr>
              <a:t>offerFirst</a:t>
            </a:r>
            <a:r>
              <a:rPr lang="en-US" sz="1200" b="0" i="0" dirty="0">
                <a:solidFill>
                  <a:srgbClr val="0F1115"/>
                </a:solidFill>
                <a:effectLst/>
                <a:latin typeface="quote-cjk-patch"/>
              </a:rPr>
              <a:t>(E e)</a:t>
            </a:r>
          </a:p>
          <a:p>
            <a:pPr marL="742950" lvl="1" indent="-285750" algn="l">
              <a:buFont typeface="Arial" panose="020B0604020202020204" pitchFamily="34" charset="0"/>
              <a:buChar char="•"/>
            </a:pPr>
            <a:r>
              <a:rPr lang="en-US" sz="1200" b="0" i="0" dirty="0" err="1">
                <a:solidFill>
                  <a:srgbClr val="0F1115"/>
                </a:solidFill>
                <a:effectLst/>
                <a:latin typeface="quote-cjk-patch"/>
              </a:rPr>
              <a:t>offerLast</a:t>
            </a:r>
            <a:r>
              <a:rPr lang="en-US" sz="1200" b="0" i="0" dirty="0">
                <a:solidFill>
                  <a:srgbClr val="0F1115"/>
                </a:solidFill>
                <a:effectLst/>
                <a:latin typeface="quote-cjk-patch"/>
              </a:rPr>
              <a:t>(E e)</a:t>
            </a:r>
          </a:p>
          <a:p>
            <a:pPr marL="742950" lvl="1" indent="-285750" algn="l">
              <a:buFont typeface="Arial" panose="020B0604020202020204" pitchFamily="34" charset="0"/>
              <a:buChar char="•"/>
            </a:pPr>
            <a:r>
              <a:rPr lang="en-US" sz="1200" b="0" i="0" dirty="0" err="1">
                <a:solidFill>
                  <a:srgbClr val="0F1115"/>
                </a:solidFill>
                <a:effectLst/>
                <a:latin typeface="quote-cjk-patch"/>
              </a:rPr>
              <a:t>peekFirst</a:t>
            </a:r>
            <a:r>
              <a:rPr lang="en-US" sz="1200" b="0" i="0" dirty="0">
                <a:solidFill>
                  <a:srgbClr val="0F1115"/>
                </a:solidFill>
                <a:effectLst/>
                <a:latin typeface="quote-cjk-patch"/>
              </a:rPr>
              <a:t>()</a:t>
            </a:r>
          </a:p>
          <a:p>
            <a:pPr marL="742950" lvl="1" indent="-285750" algn="l">
              <a:buFont typeface="Arial" panose="020B0604020202020204" pitchFamily="34" charset="0"/>
              <a:buChar char="•"/>
            </a:pPr>
            <a:r>
              <a:rPr lang="en-US" sz="1200" b="0" i="0" dirty="0" err="1">
                <a:solidFill>
                  <a:srgbClr val="0F1115"/>
                </a:solidFill>
                <a:effectLst/>
                <a:latin typeface="quote-cjk-patch"/>
              </a:rPr>
              <a:t>peekLast</a:t>
            </a:r>
            <a:r>
              <a:rPr lang="en-US" sz="1200" b="0" i="0" dirty="0">
                <a:solidFill>
                  <a:srgbClr val="0F1115"/>
                </a:solidFill>
                <a:effectLst/>
                <a:latin typeface="quote-cjk-patch"/>
              </a:rPr>
              <a:t>()</a:t>
            </a:r>
          </a:p>
          <a:p>
            <a:pPr marL="742950" lvl="1" indent="-285750" algn="l">
              <a:buFont typeface="Arial" panose="020B0604020202020204" pitchFamily="34" charset="0"/>
              <a:buChar char="•"/>
            </a:pPr>
            <a:r>
              <a:rPr lang="en-US" sz="1200" b="0" i="0" dirty="0" err="1">
                <a:solidFill>
                  <a:srgbClr val="0F1115"/>
                </a:solidFill>
                <a:effectLst/>
                <a:latin typeface="quote-cjk-patch"/>
              </a:rPr>
              <a:t>pollFirst</a:t>
            </a:r>
            <a:r>
              <a:rPr lang="en-US" sz="1200" b="0" i="0" dirty="0">
                <a:solidFill>
                  <a:srgbClr val="0F1115"/>
                </a:solidFill>
                <a:effectLst/>
                <a:latin typeface="quote-cjk-patch"/>
              </a:rPr>
              <a:t>()</a:t>
            </a:r>
          </a:p>
          <a:p>
            <a:pPr marL="742950" lvl="1" indent="-285750" algn="l">
              <a:buFont typeface="Arial" panose="020B0604020202020204" pitchFamily="34" charset="0"/>
              <a:buChar char="•"/>
            </a:pPr>
            <a:r>
              <a:rPr lang="en-US" sz="1200" b="0" i="0" dirty="0" err="1">
                <a:solidFill>
                  <a:srgbClr val="0F1115"/>
                </a:solidFill>
                <a:effectLst/>
                <a:latin typeface="quote-cjk-patch"/>
              </a:rPr>
              <a:t>pollLast</a:t>
            </a:r>
            <a:r>
              <a:rPr lang="en-US" sz="1200" b="0" i="0" dirty="0">
                <a:solidFill>
                  <a:srgbClr val="0F1115"/>
                </a:solidFill>
                <a:effectLst/>
                <a:latin typeface="quote-cjk-patch"/>
              </a:rPr>
              <a:t>()</a:t>
            </a:r>
          </a:p>
          <a:p>
            <a:pPr marL="742950" lvl="1" indent="-285750" algn="l">
              <a:buFont typeface="Arial" panose="020B0604020202020204" pitchFamily="34" charset="0"/>
              <a:buChar char="•"/>
            </a:pPr>
            <a:r>
              <a:rPr lang="en-US" sz="1200" b="0" i="0" dirty="0">
                <a:solidFill>
                  <a:srgbClr val="0F1115"/>
                </a:solidFill>
                <a:effectLst/>
                <a:latin typeface="quote-cjk-patch"/>
              </a:rPr>
              <a:t>push(E e)</a:t>
            </a:r>
          </a:p>
          <a:p>
            <a:pPr marL="742950" lvl="1" indent="-285750" algn="l">
              <a:buFont typeface="Arial" panose="020B0604020202020204" pitchFamily="34" charset="0"/>
              <a:buChar char="•"/>
            </a:pPr>
            <a:r>
              <a:rPr lang="en-US" sz="1200" b="0" i="0" dirty="0">
                <a:solidFill>
                  <a:srgbClr val="0F1115"/>
                </a:solidFill>
                <a:effectLst/>
                <a:latin typeface="quote-cjk-patch"/>
              </a:rPr>
              <a:t>pop()</a:t>
            </a:r>
          </a:p>
          <a:p>
            <a:pPr marL="742950" lvl="1" indent="-285750" algn="l">
              <a:buFont typeface="Arial" panose="020B0604020202020204" pitchFamily="34" charset="0"/>
              <a:buChar char="•"/>
            </a:pPr>
            <a:r>
              <a:rPr lang="en-US" sz="1200" b="0" i="0" dirty="0" err="1">
                <a:solidFill>
                  <a:srgbClr val="0F1115"/>
                </a:solidFill>
                <a:effectLst/>
                <a:latin typeface="quote-cjk-patch"/>
              </a:rPr>
              <a:t>descendingIterator</a:t>
            </a:r>
            <a:r>
              <a:rPr lang="en-US" sz="1200" b="0" i="0" dirty="0">
                <a:solidFill>
                  <a:srgbClr val="0F1115"/>
                </a:solidFill>
                <a:effectLst/>
                <a:latin typeface="quote-cjk-patch"/>
              </a:rPr>
              <a:t>()</a:t>
            </a:r>
          </a:p>
          <a:p>
            <a:pPr algn="l">
              <a:buFont typeface="Arial" panose="020B0604020202020204" pitchFamily="34" charset="0"/>
              <a:buChar char="•"/>
            </a:pPr>
            <a:r>
              <a:rPr lang="en-US" sz="1200" b="1" i="0" dirty="0">
                <a:solidFill>
                  <a:srgbClr val="0F1115"/>
                </a:solidFill>
                <a:effectLst/>
                <a:latin typeface="quote-cjk-patch"/>
              </a:rPr>
              <a:t>Inherits all List, Deque, and Collection methods</a:t>
            </a:r>
            <a:endParaRPr lang="en-US" sz="1200" dirty="0"/>
          </a:p>
        </p:txBody>
      </p:sp>
      <p:sp>
        <p:nvSpPr>
          <p:cNvPr id="8" name="TextBox 7">
            <a:extLst>
              <a:ext uri="{FF2B5EF4-FFF2-40B4-BE49-F238E27FC236}">
                <a16:creationId xmlns:a16="http://schemas.microsoft.com/office/drawing/2014/main" id="{2A2C1779-5081-C357-80C2-4F49FC6438BD}"/>
              </a:ext>
            </a:extLst>
          </p:cNvPr>
          <p:cNvSpPr txBox="1"/>
          <p:nvPr/>
        </p:nvSpPr>
        <p:spPr>
          <a:xfrm>
            <a:off x="4229570" y="801040"/>
            <a:ext cx="3909806" cy="4708981"/>
          </a:xfrm>
          <a:prstGeom prst="rect">
            <a:avLst/>
          </a:prstGeom>
          <a:noFill/>
          <a:ln>
            <a:solidFill>
              <a:srgbClr val="002060"/>
            </a:solidFill>
          </a:ln>
        </p:spPr>
        <p:txBody>
          <a:bodyPr wrap="square">
            <a:spAutoFit/>
          </a:bodyPr>
          <a:lstStyle/>
          <a:p>
            <a:pPr algn="l">
              <a:buNone/>
            </a:pPr>
            <a:r>
              <a:rPr lang="en-US" sz="1200" b="1" dirty="0">
                <a:solidFill>
                  <a:srgbClr val="0F1115"/>
                </a:solidFill>
                <a:effectLst/>
                <a:latin typeface="quote-cjk-patch"/>
              </a:rPr>
              <a:t>Vector Class (implements List)</a:t>
            </a:r>
          </a:p>
          <a:p>
            <a:pPr algn="l">
              <a:buFont typeface="Arial" panose="020B0604020202020204" pitchFamily="34" charset="0"/>
              <a:buChar char="•"/>
            </a:pPr>
            <a:r>
              <a:rPr lang="en-US" sz="1200" b="1" i="0" dirty="0">
                <a:solidFill>
                  <a:srgbClr val="0F1115"/>
                </a:solidFill>
                <a:effectLst/>
                <a:latin typeface="quote-cjk-patch"/>
              </a:rPr>
              <a:t>Constructors:</a:t>
            </a:r>
            <a:endParaRPr lang="en-US" sz="1200" b="0" i="0" dirty="0">
              <a:solidFill>
                <a:srgbClr val="0F1115"/>
              </a:solidFill>
              <a:effectLst/>
              <a:latin typeface="quote-cjk-patch"/>
            </a:endParaRPr>
          </a:p>
          <a:p>
            <a:pPr marL="742950" lvl="1" indent="-285750" algn="l">
              <a:buFont typeface="Arial" panose="020B0604020202020204" pitchFamily="34" charset="0"/>
              <a:buChar char="•"/>
            </a:pPr>
            <a:r>
              <a:rPr lang="en-US" sz="1200" b="0" i="0" dirty="0">
                <a:solidFill>
                  <a:srgbClr val="0F1115"/>
                </a:solidFill>
                <a:effectLst/>
                <a:latin typeface="quote-cjk-patch"/>
              </a:rPr>
              <a:t>Vector()</a:t>
            </a:r>
          </a:p>
          <a:p>
            <a:pPr marL="742950" lvl="1" indent="-285750" algn="l">
              <a:buFont typeface="Arial" panose="020B0604020202020204" pitchFamily="34" charset="0"/>
              <a:buChar char="•"/>
            </a:pPr>
            <a:r>
              <a:rPr lang="en-US" sz="1200" b="0" i="0" dirty="0">
                <a:solidFill>
                  <a:srgbClr val="0F1115"/>
                </a:solidFill>
                <a:effectLst/>
                <a:latin typeface="quote-cjk-patch"/>
              </a:rPr>
              <a:t>Vector(int </a:t>
            </a:r>
            <a:r>
              <a:rPr lang="en-US" sz="1200" b="0" i="0" dirty="0" err="1">
                <a:solidFill>
                  <a:srgbClr val="0F1115"/>
                </a:solidFill>
                <a:effectLst/>
                <a:latin typeface="quote-cjk-patch"/>
              </a:rPr>
              <a:t>initialCapacity</a:t>
            </a:r>
            <a:r>
              <a:rPr lang="en-US" sz="1200" b="0" i="0" dirty="0">
                <a:solidFill>
                  <a:srgbClr val="0F1115"/>
                </a:solidFill>
                <a:effectLst/>
                <a:latin typeface="quote-cjk-patch"/>
              </a:rPr>
              <a:t>)</a:t>
            </a:r>
          </a:p>
          <a:p>
            <a:pPr marL="742950" lvl="1" indent="-285750" algn="l">
              <a:buFont typeface="Arial" panose="020B0604020202020204" pitchFamily="34" charset="0"/>
              <a:buChar char="•"/>
            </a:pPr>
            <a:r>
              <a:rPr lang="en-US" sz="1200" b="0" i="0" dirty="0">
                <a:solidFill>
                  <a:srgbClr val="0F1115"/>
                </a:solidFill>
                <a:effectLst/>
                <a:latin typeface="quote-cjk-patch"/>
              </a:rPr>
              <a:t>Vector(int </a:t>
            </a:r>
            <a:r>
              <a:rPr lang="en-US" sz="1200" b="0" i="0" dirty="0" err="1">
                <a:solidFill>
                  <a:srgbClr val="0F1115"/>
                </a:solidFill>
                <a:effectLst/>
                <a:latin typeface="quote-cjk-patch"/>
              </a:rPr>
              <a:t>initialCapacity</a:t>
            </a:r>
            <a:r>
              <a:rPr lang="en-US" sz="1200" b="0" i="0" dirty="0">
                <a:solidFill>
                  <a:srgbClr val="0F1115"/>
                </a:solidFill>
                <a:effectLst/>
                <a:latin typeface="quote-cjk-patch"/>
              </a:rPr>
              <a:t>, int </a:t>
            </a:r>
            <a:r>
              <a:rPr lang="en-US" sz="1200" b="0" i="0" dirty="0" err="1">
                <a:solidFill>
                  <a:srgbClr val="0F1115"/>
                </a:solidFill>
                <a:effectLst/>
                <a:latin typeface="quote-cjk-patch"/>
              </a:rPr>
              <a:t>capacityIncrement</a:t>
            </a:r>
            <a:r>
              <a:rPr lang="en-US" sz="1200" b="0" i="0" dirty="0">
                <a:solidFill>
                  <a:srgbClr val="0F1115"/>
                </a:solidFill>
                <a:effectLst/>
                <a:latin typeface="quote-cjk-patch"/>
              </a:rPr>
              <a:t>)</a:t>
            </a:r>
          </a:p>
          <a:p>
            <a:pPr marL="742950" lvl="1" indent="-285750" algn="l">
              <a:buFont typeface="Arial" panose="020B0604020202020204" pitchFamily="34" charset="0"/>
              <a:buChar char="•"/>
            </a:pPr>
            <a:r>
              <a:rPr lang="en-US" sz="1200" b="0" i="0" dirty="0">
                <a:solidFill>
                  <a:srgbClr val="0F1115"/>
                </a:solidFill>
                <a:effectLst/>
                <a:latin typeface="quote-cjk-patch"/>
              </a:rPr>
              <a:t>Vector(Collection&lt;? extends E&gt; c)</a:t>
            </a:r>
          </a:p>
          <a:p>
            <a:pPr algn="l">
              <a:buFont typeface="Arial" panose="020B0604020202020204" pitchFamily="34" charset="0"/>
              <a:buChar char="•"/>
            </a:pPr>
            <a:r>
              <a:rPr lang="en-US" sz="1200" b="1" i="0" dirty="0">
                <a:solidFill>
                  <a:srgbClr val="0F1115"/>
                </a:solidFill>
                <a:effectLst/>
                <a:latin typeface="quote-cjk-patch"/>
              </a:rPr>
              <a:t>Capacity Management:</a:t>
            </a:r>
            <a:endParaRPr lang="en-US" sz="1200" b="0" i="0" dirty="0">
              <a:solidFill>
                <a:srgbClr val="0F1115"/>
              </a:solidFill>
              <a:effectLst/>
              <a:latin typeface="quote-cjk-patch"/>
            </a:endParaRPr>
          </a:p>
          <a:p>
            <a:pPr marL="742950" lvl="1" indent="-285750" algn="l">
              <a:buFont typeface="Arial" panose="020B0604020202020204" pitchFamily="34" charset="0"/>
              <a:buChar char="•"/>
            </a:pPr>
            <a:r>
              <a:rPr lang="en-US" sz="1200" b="0" i="0" dirty="0" err="1">
                <a:solidFill>
                  <a:srgbClr val="0F1115"/>
                </a:solidFill>
                <a:effectLst/>
                <a:latin typeface="quote-cjk-patch"/>
              </a:rPr>
              <a:t>ensureCapacity</a:t>
            </a:r>
            <a:r>
              <a:rPr lang="en-US" sz="1200" b="0" i="0" dirty="0">
                <a:solidFill>
                  <a:srgbClr val="0F1115"/>
                </a:solidFill>
                <a:effectLst/>
                <a:latin typeface="quote-cjk-patch"/>
              </a:rPr>
              <a:t>(int </a:t>
            </a:r>
            <a:r>
              <a:rPr lang="en-US" sz="1200" b="0" i="0" dirty="0" err="1">
                <a:solidFill>
                  <a:srgbClr val="0F1115"/>
                </a:solidFill>
                <a:effectLst/>
                <a:latin typeface="quote-cjk-patch"/>
              </a:rPr>
              <a:t>minCapacity</a:t>
            </a:r>
            <a:r>
              <a:rPr lang="en-US" sz="1200" b="0" i="0" dirty="0">
                <a:solidFill>
                  <a:srgbClr val="0F1115"/>
                </a:solidFill>
                <a:effectLst/>
                <a:latin typeface="quote-cjk-patch"/>
              </a:rPr>
              <a:t>)</a:t>
            </a:r>
          </a:p>
          <a:p>
            <a:pPr marL="742950" lvl="1" indent="-285750" algn="l">
              <a:buFont typeface="Arial" panose="020B0604020202020204" pitchFamily="34" charset="0"/>
              <a:buChar char="•"/>
            </a:pPr>
            <a:r>
              <a:rPr lang="en-US" sz="1200" b="0" i="0" dirty="0" err="1">
                <a:solidFill>
                  <a:srgbClr val="0F1115"/>
                </a:solidFill>
                <a:effectLst/>
                <a:latin typeface="quote-cjk-patch"/>
              </a:rPr>
              <a:t>trimToSize</a:t>
            </a:r>
            <a:r>
              <a:rPr lang="en-US" sz="1200" b="0" i="0" dirty="0">
                <a:solidFill>
                  <a:srgbClr val="0F1115"/>
                </a:solidFill>
                <a:effectLst/>
                <a:latin typeface="quote-cjk-patch"/>
              </a:rPr>
              <a:t>()</a:t>
            </a:r>
          </a:p>
          <a:p>
            <a:pPr marL="742950" lvl="1" indent="-285750" algn="l">
              <a:buFont typeface="Arial" panose="020B0604020202020204" pitchFamily="34" charset="0"/>
              <a:buChar char="•"/>
            </a:pPr>
            <a:r>
              <a:rPr lang="en-US" sz="1200" b="0" i="0" dirty="0">
                <a:solidFill>
                  <a:srgbClr val="0F1115"/>
                </a:solidFill>
                <a:effectLst/>
                <a:latin typeface="quote-cjk-patch"/>
              </a:rPr>
              <a:t>capacity()</a:t>
            </a:r>
          </a:p>
          <a:p>
            <a:pPr algn="l">
              <a:buFont typeface="Arial" panose="020B0604020202020204" pitchFamily="34" charset="0"/>
              <a:buChar char="•"/>
            </a:pPr>
            <a:r>
              <a:rPr lang="en-US" sz="1200" b="1" i="0" dirty="0">
                <a:solidFill>
                  <a:srgbClr val="0F1115"/>
                </a:solidFill>
                <a:effectLst/>
                <a:latin typeface="quote-cjk-patch"/>
              </a:rPr>
              <a:t>Legacy Methods:</a:t>
            </a:r>
            <a:endParaRPr lang="en-US" sz="1200" b="0" i="0" dirty="0">
              <a:solidFill>
                <a:srgbClr val="0F1115"/>
              </a:solidFill>
              <a:effectLst/>
              <a:latin typeface="quote-cjk-patch"/>
            </a:endParaRPr>
          </a:p>
          <a:p>
            <a:pPr marL="742950" lvl="1" indent="-285750" algn="l">
              <a:buFont typeface="Arial" panose="020B0604020202020204" pitchFamily="34" charset="0"/>
              <a:buChar char="•"/>
            </a:pPr>
            <a:r>
              <a:rPr lang="en-US" sz="1200" b="0" i="0" dirty="0" err="1">
                <a:solidFill>
                  <a:srgbClr val="0F1115"/>
                </a:solidFill>
                <a:effectLst/>
                <a:latin typeface="quote-cjk-patch"/>
              </a:rPr>
              <a:t>addElement</a:t>
            </a:r>
            <a:r>
              <a:rPr lang="en-US" sz="1200" b="0" i="0" dirty="0">
                <a:solidFill>
                  <a:srgbClr val="0F1115"/>
                </a:solidFill>
                <a:effectLst/>
                <a:latin typeface="quote-cjk-patch"/>
              </a:rPr>
              <a:t>(E obj)</a:t>
            </a:r>
          </a:p>
          <a:p>
            <a:pPr marL="742950" lvl="1" indent="-285750" algn="l">
              <a:buFont typeface="Arial" panose="020B0604020202020204" pitchFamily="34" charset="0"/>
              <a:buChar char="•"/>
            </a:pPr>
            <a:r>
              <a:rPr lang="en-US" sz="1200" b="0" i="0" dirty="0" err="1">
                <a:solidFill>
                  <a:srgbClr val="0F1115"/>
                </a:solidFill>
                <a:effectLst/>
                <a:latin typeface="quote-cjk-patch"/>
              </a:rPr>
              <a:t>removeElement</a:t>
            </a:r>
            <a:r>
              <a:rPr lang="en-US" sz="1200" b="0" i="0" dirty="0">
                <a:solidFill>
                  <a:srgbClr val="0F1115"/>
                </a:solidFill>
                <a:effectLst/>
                <a:latin typeface="quote-cjk-patch"/>
              </a:rPr>
              <a:t>(Object obj)</a:t>
            </a:r>
          </a:p>
          <a:p>
            <a:pPr marL="742950" lvl="1" indent="-285750" algn="l">
              <a:buFont typeface="Arial" panose="020B0604020202020204" pitchFamily="34" charset="0"/>
              <a:buChar char="•"/>
            </a:pPr>
            <a:r>
              <a:rPr lang="en-US" sz="1200" b="0" i="0" dirty="0" err="1">
                <a:solidFill>
                  <a:srgbClr val="0F1115"/>
                </a:solidFill>
                <a:effectLst/>
                <a:latin typeface="quote-cjk-patch"/>
              </a:rPr>
              <a:t>removeElementAt</a:t>
            </a:r>
            <a:r>
              <a:rPr lang="en-US" sz="1200" b="0" i="0" dirty="0">
                <a:solidFill>
                  <a:srgbClr val="0F1115"/>
                </a:solidFill>
                <a:effectLst/>
                <a:latin typeface="quote-cjk-patch"/>
              </a:rPr>
              <a:t>(int index)</a:t>
            </a:r>
          </a:p>
          <a:p>
            <a:pPr marL="742950" lvl="1" indent="-285750" algn="l">
              <a:buFont typeface="Arial" panose="020B0604020202020204" pitchFamily="34" charset="0"/>
              <a:buChar char="•"/>
            </a:pPr>
            <a:r>
              <a:rPr lang="en-US" sz="1200" b="0" i="0" dirty="0" err="1">
                <a:solidFill>
                  <a:srgbClr val="0F1115"/>
                </a:solidFill>
                <a:effectLst/>
                <a:latin typeface="quote-cjk-patch"/>
              </a:rPr>
              <a:t>insertElementAt</a:t>
            </a:r>
            <a:r>
              <a:rPr lang="en-US" sz="1200" b="0" i="0" dirty="0">
                <a:solidFill>
                  <a:srgbClr val="0F1115"/>
                </a:solidFill>
                <a:effectLst/>
                <a:latin typeface="quote-cjk-patch"/>
              </a:rPr>
              <a:t>(E obj, int index)</a:t>
            </a:r>
          </a:p>
          <a:p>
            <a:pPr marL="742950" lvl="1" indent="-285750" algn="l">
              <a:buFont typeface="Arial" panose="020B0604020202020204" pitchFamily="34" charset="0"/>
              <a:buChar char="•"/>
            </a:pPr>
            <a:r>
              <a:rPr lang="en-US" sz="1200" b="0" i="0" dirty="0" err="1">
                <a:solidFill>
                  <a:srgbClr val="0F1115"/>
                </a:solidFill>
                <a:effectLst/>
                <a:latin typeface="quote-cjk-patch"/>
              </a:rPr>
              <a:t>setElementAt</a:t>
            </a:r>
            <a:r>
              <a:rPr lang="en-US" sz="1200" b="0" i="0" dirty="0">
                <a:solidFill>
                  <a:srgbClr val="0F1115"/>
                </a:solidFill>
                <a:effectLst/>
                <a:latin typeface="quote-cjk-patch"/>
              </a:rPr>
              <a:t>(E obj, int index)</a:t>
            </a:r>
          </a:p>
          <a:p>
            <a:pPr marL="742950" lvl="1" indent="-285750" algn="l">
              <a:buFont typeface="Arial" panose="020B0604020202020204" pitchFamily="34" charset="0"/>
              <a:buChar char="•"/>
            </a:pPr>
            <a:r>
              <a:rPr lang="en-US" sz="1200" b="0" i="0" dirty="0" err="1">
                <a:solidFill>
                  <a:srgbClr val="0F1115"/>
                </a:solidFill>
                <a:effectLst/>
                <a:latin typeface="quote-cjk-patch"/>
              </a:rPr>
              <a:t>elementAt</a:t>
            </a:r>
            <a:r>
              <a:rPr lang="en-US" sz="1200" b="0" i="0" dirty="0">
                <a:solidFill>
                  <a:srgbClr val="0F1115"/>
                </a:solidFill>
                <a:effectLst/>
                <a:latin typeface="quote-cjk-patch"/>
              </a:rPr>
              <a:t>(int index)</a:t>
            </a:r>
          </a:p>
          <a:p>
            <a:pPr marL="742950" lvl="1" indent="-285750" algn="l">
              <a:buFont typeface="Arial" panose="020B0604020202020204" pitchFamily="34" charset="0"/>
              <a:buChar char="•"/>
            </a:pPr>
            <a:r>
              <a:rPr lang="en-US" sz="1200" b="0" i="0" dirty="0" err="1">
                <a:solidFill>
                  <a:srgbClr val="0F1115"/>
                </a:solidFill>
                <a:effectLst/>
                <a:latin typeface="quote-cjk-patch"/>
              </a:rPr>
              <a:t>firstElement</a:t>
            </a:r>
            <a:r>
              <a:rPr lang="en-US" sz="1200" b="0" i="0" dirty="0">
                <a:solidFill>
                  <a:srgbClr val="0F1115"/>
                </a:solidFill>
                <a:effectLst/>
                <a:latin typeface="quote-cjk-patch"/>
              </a:rPr>
              <a:t>()</a:t>
            </a:r>
          </a:p>
          <a:p>
            <a:pPr marL="742950" lvl="1" indent="-285750" algn="l">
              <a:buFont typeface="Arial" panose="020B0604020202020204" pitchFamily="34" charset="0"/>
              <a:buChar char="•"/>
            </a:pPr>
            <a:r>
              <a:rPr lang="en-US" sz="1200" b="0" i="0" dirty="0" err="1">
                <a:solidFill>
                  <a:srgbClr val="0F1115"/>
                </a:solidFill>
                <a:effectLst/>
                <a:latin typeface="quote-cjk-patch"/>
              </a:rPr>
              <a:t>lastElement</a:t>
            </a:r>
            <a:r>
              <a:rPr lang="en-US" sz="1200" b="0" i="0" dirty="0">
                <a:solidFill>
                  <a:srgbClr val="0F1115"/>
                </a:solidFill>
                <a:effectLst/>
                <a:latin typeface="quote-cjk-patch"/>
              </a:rPr>
              <a:t>()</a:t>
            </a:r>
          </a:p>
          <a:p>
            <a:pPr marL="742950" lvl="1" indent="-285750" algn="l">
              <a:buFont typeface="Arial" panose="020B0604020202020204" pitchFamily="34" charset="0"/>
              <a:buChar char="•"/>
            </a:pPr>
            <a:r>
              <a:rPr lang="en-US" sz="1200" b="0" i="0" dirty="0">
                <a:solidFill>
                  <a:srgbClr val="0F1115"/>
                </a:solidFill>
                <a:effectLst/>
                <a:latin typeface="quote-cjk-patch"/>
              </a:rPr>
              <a:t>elements() [returns Enumeration</a:t>
            </a:r>
            <a:r>
              <a:rPr lang="en-US" sz="1200" b="0" i="0" dirty="0">
                <a:solidFill>
                  <a:srgbClr val="0F1115"/>
                </a:solidFill>
                <a:effectLst/>
                <a:latin typeface="Menlo"/>
              </a:rPr>
              <a:t>&lt;E&gt;</a:t>
            </a:r>
            <a:r>
              <a:rPr lang="en-US" sz="1200" b="0" i="0" dirty="0">
                <a:solidFill>
                  <a:srgbClr val="0F1115"/>
                </a:solidFill>
                <a:effectLst/>
                <a:latin typeface="quote-cjk-patch"/>
              </a:rPr>
              <a:t>]</a:t>
            </a:r>
          </a:p>
          <a:p>
            <a:pPr marL="742950" lvl="1" indent="-285750" algn="l">
              <a:buFont typeface="Arial" panose="020B0604020202020204" pitchFamily="34" charset="0"/>
              <a:buChar char="•"/>
            </a:pPr>
            <a:r>
              <a:rPr lang="en-US" sz="1200" b="0" i="0" dirty="0" err="1">
                <a:solidFill>
                  <a:srgbClr val="0F1115"/>
                </a:solidFill>
                <a:effectLst/>
                <a:latin typeface="quote-cjk-patch"/>
              </a:rPr>
              <a:t>copyInto</a:t>
            </a:r>
            <a:r>
              <a:rPr lang="en-US" sz="1200" b="0" i="0" dirty="0">
                <a:solidFill>
                  <a:srgbClr val="0F1115"/>
                </a:solidFill>
                <a:effectLst/>
                <a:latin typeface="quote-cjk-patch"/>
              </a:rPr>
              <a:t>(Object[] </a:t>
            </a:r>
            <a:r>
              <a:rPr lang="en-US" sz="1200" b="0" i="0" dirty="0" err="1">
                <a:solidFill>
                  <a:srgbClr val="0F1115"/>
                </a:solidFill>
                <a:effectLst/>
                <a:latin typeface="quote-cjk-patch"/>
              </a:rPr>
              <a:t>anArray</a:t>
            </a:r>
            <a:r>
              <a:rPr lang="en-US" sz="1200" b="0" i="0" dirty="0">
                <a:solidFill>
                  <a:srgbClr val="0F1115"/>
                </a:solidFill>
                <a:effectLst/>
                <a:latin typeface="quote-cjk-patch"/>
              </a:rPr>
              <a:t>)</a:t>
            </a:r>
          </a:p>
          <a:p>
            <a:pPr marL="742950" lvl="1" indent="-285750" algn="l">
              <a:buFont typeface="Arial" panose="020B0604020202020204" pitchFamily="34" charset="0"/>
              <a:buChar char="•"/>
            </a:pPr>
            <a:r>
              <a:rPr lang="en-US" sz="1200" b="0" i="0" dirty="0" err="1">
                <a:solidFill>
                  <a:srgbClr val="0F1115"/>
                </a:solidFill>
                <a:effectLst/>
                <a:latin typeface="quote-cjk-patch"/>
              </a:rPr>
              <a:t>removeAllElements</a:t>
            </a:r>
            <a:r>
              <a:rPr lang="en-US" sz="1200" b="0" i="0" dirty="0">
                <a:solidFill>
                  <a:srgbClr val="0F1115"/>
                </a:solidFill>
                <a:effectLst/>
                <a:latin typeface="quote-cjk-patch"/>
              </a:rPr>
              <a:t>()</a:t>
            </a:r>
          </a:p>
          <a:p>
            <a:pPr algn="l">
              <a:buFont typeface="Arial" panose="020B0604020202020204" pitchFamily="34" charset="0"/>
              <a:buChar char="•"/>
            </a:pPr>
            <a:r>
              <a:rPr lang="en-US" sz="1200" b="1" i="0" dirty="0">
                <a:solidFill>
                  <a:srgbClr val="0F1115"/>
                </a:solidFill>
                <a:effectLst/>
                <a:latin typeface="quote-cjk-patch"/>
              </a:rPr>
              <a:t>Size Methods:</a:t>
            </a:r>
            <a:endParaRPr lang="en-US" sz="1200" b="0" i="0" dirty="0">
              <a:solidFill>
                <a:srgbClr val="0F1115"/>
              </a:solidFill>
              <a:effectLst/>
              <a:latin typeface="quote-cjk-patch"/>
            </a:endParaRPr>
          </a:p>
          <a:p>
            <a:pPr marL="742950" lvl="1" indent="-285750" algn="l">
              <a:buFont typeface="Arial" panose="020B0604020202020204" pitchFamily="34" charset="0"/>
              <a:buChar char="•"/>
            </a:pPr>
            <a:r>
              <a:rPr lang="en-US" sz="1200" b="0" i="0" dirty="0" err="1">
                <a:solidFill>
                  <a:srgbClr val="0F1115"/>
                </a:solidFill>
                <a:effectLst/>
                <a:latin typeface="quote-cjk-patch"/>
              </a:rPr>
              <a:t>setSize</a:t>
            </a:r>
            <a:r>
              <a:rPr lang="en-US" sz="1200" b="0" i="0" dirty="0">
                <a:solidFill>
                  <a:srgbClr val="0F1115"/>
                </a:solidFill>
                <a:effectLst/>
                <a:latin typeface="quote-cjk-patch"/>
              </a:rPr>
              <a:t>(int </a:t>
            </a:r>
            <a:r>
              <a:rPr lang="en-US" sz="1200" b="0" i="0" dirty="0" err="1">
                <a:solidFill>
                  <a:srgbClr val="0F1115"/>
                </a:solidFill>
                <a:effectLst/>
                <a:latin typeface="quote-cjk-patch"/>
              </a:rPr>
              <a:t>newSize</a:t>
            </a:r>
            <a:r>
              <a:rPr lang="en-US" sz="1200" b="0" i="0" dirty="0">
                <a:solidFill>
                  <a:srgbClr val="0F1115"/>
                </a:solidFill>
                <a:effectLst/>
                <a:latin typeface="quote-cjk-patch"/>
              </a:rPr>
              <a:t>)</a:t>
            </a:r>
          </a:p>
          <a:p>
            <a:pPr algn="l">
              <a:buFont typeface="Arial" panose="020B0604020202020204" pitchFamily="34" charset="0"/>
              <a:buChar char="•"/>
            </a:pPr>
            <a:r>
              <a:rPr lang="en-US" sz="1200" b="1" i="0" dirty="0">
                <a:solidFill>
                  <a:srgbClr val="0F1115"/>
                </a:solidFill>
                <a:effectLst/>
                <a:latin typeface="quote-cjk-patch"/>
              </a:rPr>
              <a:t>Inherits all List and Collection methods</a:t>
            </a:r>
            <a:endParaRPr lang="en-US" sz="1200" b="0" i="0" dirty="0">
              <a:solidFill>
                <a:srgbClr val="0F1115"/>
              </a:solidFill>
              <a:effectLst/>
              <a:latin typeface="quote-cjk-patch"/>
            </a:endParaRPr>
          </a:p>
        </p:txBody>
      </p:sp>
      <p:sp>
        <p:nvSpPr>
          <p:cNvPr id="9" name="TextBox 8">
            <a:extLst>
              <a:ext uri="{FF2B5EF4-FFF2-40B4-BE49-F238E27FC236}">
                <a16:creationId xmlns:a16="http://schemas.microsoft.com/office/drawing/2014/main" id="{2C580662-5A6E-9DDB-1791-7A08925AF77D}"/>
              </a:ext>
            </a:extLst>
          </p:cNvPr>
          <p:cNvSpPr txBox="1"/>
          <p:nvPr/>
        </p:nvSpPr>
        <p:spPr>
          <a:xfrm>
            <a:off x="8171358" y="801040"/>
            <a:ext cx="3470787" cy="1569660"/>
          </a:xfrm>
          <a:prstGeom prst="rect">
            <a:avLst/>
          </a:prstGeom>
          <a:noFill/>
          <a:ln>
            <a:solidFill>
              <a:srgbClr val="002060"/>
            </a:solidFill>
          </a:ln>
        </p:spPr>
        <p:txBody>
          <a:bodyPr wrap="square">
            <a:spAutoFit/>
          </a:bodyPr>
          <a:lstStyle/>
          <a:p>
            <a:pPr algn="l">
              <a:buNone/>
            </a:pPr>
            <a:r>
              <a:rPr lang="en-US" sz="1200" b="1" dirty="0">
                <a:solidFill>
                  <a:srgbClr val="0F1115"/>
                </a:solidFill>
                <a:effectLst/>
                <a:latin typeface="quote-cjk-patch"/>
              </a:rPr>
              <a:t>Stack Class (extends Vector)</a:t>
            </a:r>
          </a:p>
          <a:p>
            <a:pPr algn="l">
              <a:buFont typeface="Arial" panose="020B0604020202020204" pitchFamily="34" charset="0"/>
              <a:buChar char="•"/>
            </a:pPr>
            <a:r>
              <a:rPr lang="en-US" sz="1200" b="1" i="0" dirty="0">
                <a:solidFill>
                  <a:srgbClr val="0F1115"/>
                </a:solidFill>
                <a:effectLst/>
                <a:latin typeface="quote-cjk-patch"/>
              </a:rPr>
              <a:t>Stack Operations:</a:t>
            </a:r>
            <a:endParaRPr lang="en-US" sz="1200" b="0" i="0" dirty="0">
              <a:solidFill>
                <a:srgbClr val="0F1115"/>
              </a:solidFill>
              <a:effectLst/>
              <a:latin typeface="quote-cjk-patch"/>
            </a:endParaRPr>
          </a:p>
          <a:p>
            <a:pPr marL="742950" lvl="1" indent="-285750" algn="l">
              <a:buFont typeface="Arial" panose="020B0604020202020204" pitchFamily="34" charset="0"/>
              <a:buChar char="•"/>
            </a:pPr>
            <a:r>
              <a:rPr lang="en-US" sz="1200" b="0" i="0" dirty="0">
                <a:solidFill>
                  <a:srgbClr val="0F1115"/>
                </a:solidFill>
                <a:effectLst/>
                <a:latin typeface="quote-cjk-patch"/>
              </a:rPr>
              <a:t>push(E item)</a:t>
            </a:r>
          </a:p>
          <a:p>
            <a:pPr marL="742950" lvl="1" indent="-285750" algn="l">
              <a:buFont typeface="Arial" panose="020B0604020202020204" pitchFamily="34" charset="0"/>
              <a:buChar char="•"/>
            </a:pPr>
            <a:r>
              <a:rPr lang="en-US" sz="1200" b="0" i="0" dirty="0">
                <a:solidFill>
                  <a:srgbClr val="0F1115"/>
                </a:solidFill>
                <a:effectLst/>
                <a:latin typeface="quote-cjk-patch"/>
              </a:rPr>
              <a:t>pop()</a:t>
            </a:r>
          </a:p>
          <a:p>
            <a:pPr marL="742950" lvl="1" indent="-285750" algn="l">
              <a:buFont typeface="Arial" panose="020B0604020202020204" pitchFamily="34" charset="0"/>
              <a:buChar char="•"/>
            </a:pPr>
            <a:r>
              <a:rPr lang="en-US" sz="1200" b="0" i="0" dirty="0">
                <a:solidFill>
                  <a:srgbClr val="0F1115"/>
                </a:solidFill>
                <a:effectLst/>
                <a:latin typeface="quote-cjk-patch"/>
              </a:rPr>
              <a:t>peek()</a:t>
            </a:r>
          </a:p>
          <a:p>
            <a:pPr marL="742950" lvl="1" indent="-285750" algn="l">
              <a:buFont typeface="Arial" panose="020B0604020202020204" pitchFamily="34" charset="0"/>
              <a:buChar char="•"/>
            </a:pPr>
            <a:r>
              <a:rPr lang="en-US" sz="1200" b="0" i="0" dirty="0">
                <a:solidFill>
                  <a:srgbClr val="0F1115"/>
                </a:solidFill>
                <a:effectLst/>
                <a:latin typeface="quote-cjk-patch"/>
              </a:rPr>
              <a:t>empty()</a:t>
            </a:r>
          </a:p>
          <a:p>
            <a:pPr marL="742950" lvl="1" indent="-285750" algn="l">
              <a:buFont typeface="Arial" panose="020B0604020202020204" pitchFamily="34" charset="0"/>
              <a:buChar char="•"/>
            </a:pPr>
            <a:r>
              <a:rPr lang="en-US" sz="1200" b="0" i="0" dirty="0">
                <a:solidFill>
                  <a:srgbClr val="0F1115"/>
                </a:solidFill>
                <a:effectLst/>
                <a:latin typeface="quote-cjk-patch"/>
              </a:rPr>
              <a:t>search(Object o)</a:t>
            </a:r>
          </a:p>
          <a:p>
            <a:pPr algn="l">
              <a:buFont typeface="Arial" panose="020B0604020202020204" pitchFamily="34" charset="0"/>
              <a:buChar char="•"/>
            </a:pPr>
            <a:r>
              <a:rPr lang="en-US" sz="1200" b="1" i="0" dirty="0">
                <a:solidFill>
                  <a:srgbClr val="0F1115"/>
                </a:solidFill>
                <a:effectLst/>
                <a:latin typeface="quote-cjk-patch"/>
              </a:rPr>
              <a:t>Inherits all Vector, List, and Collection methods</a:t>
            </a:r>
            <a:endParaRPr lang="en-US" sz="1200" b="0" i="0" dirty="0">
              <a:solidFill>
                <a:srgbClr val="0F1115"/>
              </a:solidFill>
              <a:effectLst/>
              <a:latin typeface="quote-cjk-patch"/>
            </a:endParaRPr>
          </a:p>
        </p:txBody>
      </p:sp>
    </p:spTree>
    <p:extLst>
      <p:ext uri="{BB962C8B-B14F-4D97-AF65-F5344CB8AC3E}">
        <p14:creationId xmlns:p14="http://schemas.microsoft.com/office/powerpoint/2010/main" val="12180035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E05D15B-7AD0-6F54-A54A-D43D809B7CAE}"/>
              </a:ext>
            </a:extLst>
          </p:cNvPr>
          <p:cNvSpPr txBox="1"/>
          <p:nvPr/>
        </p:nvSpPr>
        <p:spPr>
          <a:xfrm>
            <a:off x="6322144" y="312991"/>
            <a:ext cx="3296072" cy="4339650"/>
          </a:xfrm>
          <a:prstGeom prst="rect">
            <a:avLst/>
          </a:prstGeom>
          <a:noFill/>
          <a:ln>
            <a:solidFill>
              <a:srgbClr val="92D050"/>
            </a:solidFill>
          </a:ln>
        </p:spPr>
        <p:txBody>
          <a:bodyPr wrap="square">
            <a:spAutoFit/>
          </a:bodyPr>
          <a:lstStyle/>
          <a:p>
            <a:pPr algn="l">
              <a:buNone/>
            </a:pPr>
            <a:r>
              <a:rPr lang="en-US" sz="1200" b="1" dirty="0">
                <a:solidFill>
                  <a:srgbClr val="0F1115"/>
                </a:solidFill>
                <a:effectLst/>
                <a:latin typeface="quote-cjk-patch"/>
              </a:rPr>
              <a:t>Deque Interface (extends Queue)</a:t>
            </a:r>
          </a:p>
          <a:p>
            <a:pPr algn="l">
              <a:buFont typeface="Arial" panose="020B0604020202020204" pitchFamily="34" charset="0"/>
              <a:buChar char="•"/>
            </a:pPr>
            <a:r>
              <a:rPr lang="en-US" sz="1200" b="1" i="0" dirty="0">
                <a:solidFill>
                  <a:srgbClr val="0F1115"/>
                </a:solidFill>
                <a:effectLst/>
                <a:latin typeface="quote-cjk-patch"/>
              </a:rPr>
              <a:t>First Element Operations:</a:t>
            </a:r>
            <a:endParaRPr lang="en-US" sz="1200" b="0" i="0" dirty="0">
              <a:solidFill>
                <a:srgbClr val="0F1115"/>
              </a:solidFill>
              <a:effectLst/>
              <a:latin typeface="quote-cjk-patch"/>
            </a:endParaRPr>
          </a:p>
          <a:p>
            <a:pPr marL="742950" lvl="1" indent="-285750" algn="l">
              <a:buFont typeface="Arial" panose="020B0604020202020204" pitchFamily="34" charset="0"/>
              <a:buChar char="•"/>
            </a:pPr>
            <a:r>
              <a:rPr lang="en-US" sz="1200" b="0" i="0" dirty="0" err="1">
                <a:solidFill>
                  <a:srgbClr val="0F1115"/>
                </a:solidFill>
                <a:effectLst/>
                <a:latin typeface="quote-cjk-patch"/>
              </a:rPr>
              <a:t>addFirst</a:t>
            </a:r>
            <a:r>
              <a:rPr lang="en-US" sz="1200" b="0" i="0" dirty="0">
                <a:solidFill>
                  <a:srgbClr val="0F1115"/>
                </a:solidFill>
                <a:effectLst/>
                <a:latin typeface="quote-cjk-patch"/>
              </a:rPr>
              <a:t>(E e)</a:t>
            </a:r>
          </a:p>
          <a:p>
            <a:pPr marL="742950" lvl="1" indent="-285750" algn="l">
              <a:buFont typeface="Arial" panose="020B0604020202020204" pitchFamily="34" charset="0"/>
              <a:buChar char="•"/>
            </a:pPr>
            <a:r>
              <a:rPr lang="en-US" sz="1200" b="0" i="0" dirty="0" err="1">
                <a:solidFill>
                  <a:srgbClr val="0F1115"/>
                </a:solidFill>
                <a:effectLst/>
                <a:latin typeface="quote-cjk-patch"/>
              </a:rPr>
              <a:t>offerFirst</a:t>
            </a:r>
            <a:r>
              <a:rPr lang="en-US" sz="1200" b="0" i="0" dirty="0">
                <a:solidFill>
                  <a:srgbClr val="0F1115"/>
                </a:solidFill>
                <a:effectLst/>
                <a:latin typeface="quote-cjk-patch"/>
              </a:rPr>
              <a:t>(E e)</a:t>
            </a:r>
          </a:p>
          <a:p>
            <a:pPr marL="742950" lvl="1" indent="-285750" algn="l">
              <a:buFont typeface="Arial" panose="020B0604020202020204" pitchFamily="34" charset="0"/>
              <a:buChar char="•"/>
            </a:pPr>
            <a:r>
              <a:rPr lang="en-US" sz="1200" b="0" i="0" dirty="0" err="1">
                <a:solidFill>
                  <a:srgbClr val="0F1115"/>
                </a:solidFill>
                <a:effectLst/>
                <a:latin typeface="quote-cjk-patch"/>
              </a:rPr>
              <a:t>removeFirst</a:t>
            </a:r>
            <a:r>
              <a:rPr lang="en-US" sz="1200" b="0" i="0" dirty="0">
                <a:solidFill>
                  <a:srgbClr val="0F1115"/>
                </a:solidFill>
                <a:effectLst/>
                <a:latin typeface="quote-cjk-patch"/>
              </a:rPr>
              <a:t>()</a:t>
            </a:r>
          </a:p>
          <a:p>
            <a:pPr marL="742950" lvl="1" indent="-285750" algn="l">
              <a:buFont typeface="Arial" panose="020B0604020202020204" pitchFamily="34" charset="0"/>
              <a:buChar char="•"/>
            </a:pPr>
            <a:r>
              <a:rPr lang="en-US" sz="1200" b="0" i="0" dirty="0" err="1">
                <a:solidFill>
                  <a:srgbClr val="0F1115"/>
                </a:solidFill>
                <a:effectLst/>
                <a:latin typeface="quote-cjk-patch"/>
              </a:rPr>
              <a:t>pollFirst</a:t>
            </a:r>
            <a:r>
              <a:rPr lang="en-US" sz="1200" b="0" i="0" dirty="0">
                <a:solidFill>
                  <a:srgbClr val="0F1115"/>
                </a:solidFill>
                <a:effectLst/>
                <a:latin typeface="quote-cjk-patch"/>
              </a:rPr>
              <a:t>()</a:t>
            </a:r>
          </a:p>
          <a:p>
            <a:pPr marL="742950" lvl="1" indent="-285750" algn="l">
              <a:buFont typeface="Arial" panose="020B0604020202020204" pitchFamily="34" charset="0"/>
              <a:buChar char="•"/>
            </a:pPr>
            <a:r>
              <a:rPr lang="en-US" sz="1200" b="0" i="0" dirty="0" err="1">
                <a:solidFill>
                  <a:srgbClr val="0F1115"/>
                </a:solidFill>
                <a:effectLst/>
                <a:latin typeface="quote-cjk-patch"/>
              </a:rPr>
              <a:t>getFirst</a:t>
            </a:r>
            <a:r>
              <a:rPr lang="en-US" sz="1200" b="0" i="0" dirty="0">
                <a:solidFill>
                  <a:srgbClr val="0F1115"/>
                </a:solidFill>
                <a:effectLst/>
                <a:latin typeface="quote-cjk-patch"/>
              </a:rPr>
              <a:t>()</a:t>
            </a:r>
          </a:p>
          <a:p>
            <a:pPr marL="742950" lvl="1" indent="-285750" algn="l">
              <a:buFont typeface="Arial" panose="020B0604020202020204" pitchFamily="34" charset="0"/>
              <a:buChar char="•"/>
            </a:pPr>
            <a:r>
              <a:rPr lang="en-US" sz="1200" b="0" i="0" dirty="0" err="1">
                <a:solidFill>
                  <a:srgbClr val="0F1115"/>
                </a:solidFill>
                <a:effectLst/>
                <a:latin typeface="quote-cjk-patch"/>
              </a:rPr>
              <a:t>peekFirst</a:t>
            </a:r>
            <a:r>
              <a:rPr lang="en-US" sz="1200" b="0" i="0" dirty="0">
                <a:solidFill>
                  <a:srgbClr val="0F1115"/>
                </a:solidFill>
                <a:effectLst/>
                <a:latin typeface="quote-cjk-patch"/>
              </a:rPr>
              <a:t>()</a:t>
            </a:r>
          </a:p>
          <a:p>
            <a:pPr algn="l">
              <a:buFont typeface="Arial" panose="020B0604020202020204" pitchFamily="34" charset="0"/>
              <a:buChar char="•"/>
            </a:pPr>
            <a:r>
              <a:rPr lang="en-US" sz="1200" b="1" i="0" dirty="0">
                <a:solidFill>
                  <a:srgbClr val="0F1115"/>
                </a:solidFill>
                <a:effectLst/>
                <a:latin typeface="quote-cjk-patch"/>
              </a:rPr>
              <a:t>Last Element Operations:</a:t>
            </a:r>
            <a:endParaRPr lang="en-US" sz="1200" b="0" i="0" dirty="0">
              <a:solidFill>
                <a:srgbClr val="0F1115"/>
              </a:solidFill>
              <a:effectLst/>
              <a:latin typeface="quote-cjk-patch"/>
            </a:endParaRPr>
          </a:p>
          <a:p>
            <a:pPr marL="742950" lvl="1" indent="-285750" algn="l">
              <a:buFont typeface="Arial" panose="020B0604020202020204" pitchFamily="34" charset="0"/>
              <a:buChar char="•"/>
            </a:pPr>
            <a:r>
              <a:rPr lang="en-US" sz="1200" b="0" i="0" dirty="0" err="1">
                <a:solidFill>
                  <a:srgbClr val="0F1115"/>
                </a:solidFill>
                <a:effectLst/>
                <a:latin typeface="quote-cjk-patch"/>
              </a:rPr>
              <a:t>addLast</a:t>
            </a:r>
            <a:r>
              <a:rPr lang="en-US" sz="1200" b="0" i="0" dirty="0">
                <a:solidFill>
                  <a:srgbClr val="0F1115"/>
                </a:solidFill>
                <a:effectLst/>
                <a:latin typeface="quote-cjk-patch"/>
              </a:rPr>
              <a:t>(E e)</a:t>
            </a:r>
          </a:p>
          <a:p>
            <a:pPr marL="742950" lvl="1" indent="-285750" algn="l">
              <a:buFont typeface="Arial" panose="020B0604020202020204" pitchFamily="34" charset="0"/>
              <a:buChar char="•"/>
            </a:pPr>
            <a:r>
              <a:rPr lang="en-US" sz="1200" b="0" i="0" dirty="0" err="1">
                <a:solidFill>
                  <a:srgbClr val="0F1115"/>
                </a:solidFill>
                <a:effectLst/>
                <a:latin typeface="quote-cjk-patch"/>
              </a:rPr>
              <a:t>offerLast</a:t>
            </a:r>
            <a:r>
              <a:rPr lang="en-US" sz="1200" b="0" i="0" dirty="0">
                <a:solidFill>
                  <a:srgbClr val="0F1115"/>
                </a:solidFill>
                <a:effectLst/>
                <a:latin typeface="quote-cjk-patch"/>
              </a:rPr>
              <a:t>(E e)</a:t>
            </a:r>
          </a:p>
          <a:p>
            <a:pPr marL="742950" lvl="1" indent="-285750" algn="l">
              <a:buFont typeface="Arial" panose="020B0604020202020204" pitchFamily="34" charset="0"/>
              <a:buChar char="•"/>
            </a:pPr>
            <a:r>
              <a:rPr lang="en-US" sz="1200" b="0" i="0" dirty="0" err="1">
                <a:solidFill>
                  <a:srgbClr val="0F1115"/>
                </a:solidFill>
                <a:effectLst/>
                <a:latin typeface="quote-cjk-patch"/>
              </a:rPr>
              <a:t>removeLast</a:t>
            </a:r>
            <a:r>
              <a:rPr lang="en-US" sz="1200" b="0" i="0" dirty="0">
                <a:solidFill>
                  <a:srgbClr val="0F1115"/>
                </a:solidFill>
                <a:effectLst/>
                <a:latin typeface="quote-cjk-patch"/>
              </a:rPr>
              <a:t>()</a:t>
            </a:r>
          </a:p>
          <a:p>
            <a:pPr marL="742950" lvl="1" indent="-285750" algn="l">
              <a:buFont typeface="Arial" panose="020B0604020202020204" pitchFamily="34" charset="0"/>
              <a:buChar char="•"/>
            </a:pPr>
            <a:r>
              <a:rPr lang="en-US" sz="1200" b="0" i="0" dirty="0" err="1">
                <a:solidFill>
                  <a:srgbClr val="0F1115"/>
                </a:solidFill>
                <a:effectLst/>
                <a:latin typeface="quote-cjk-patch"/>
              </a:rPr>
              <a:t>pollLast</a:t>
            </a:r>
            <a:r>
              <a:rPr lang="en-US" sz="1200" b="0" i="0" dirty="0">
                <a:solidFill>
                  <a:srgbClr val="0F1115"/>
                </a:solidFill>
                <a:effectLst/>
                <a:latin typeface="quote-cjk-patch"/>
              </a:rPr>
              <a:t>()</a:t>
            </a:r>
          </a:p>
          <a:p>
            <a:pPr marL="742950" lvl="1" indent="-285750" algn="l">
              <a:buFont typeface="Arial" panose="020B0604020202020204" pitchFamily="34" charset="0"/>
              <a:buChar char="•"/>
            </a:pPr>
            <a:r>
              <a:rPr lang="en-US" sz="1200" b="0" i="0" dirty="0" err="1">
                <a:solidFill>
                  <a:srgbClr val="0F1115"/>
                </a:solidFill>
                <a:effectLst/>
                <a:latin typeface="quote-cjk-patch"/>
              </a:rPr>
              <a:t>getLast</a:t>
            </a:r>
            <a:r>
              <a:rPr lang="en-US" sz="1200" b="0" i="0" dirty="0">
                <a:solidFill>
                  <a:srgbClr val="0F1115"/>
                </a:solidFill>
                <a:effectLst/>
                <a:latin typeface="quote-cjk-patch"/>
              </a:rPr>
              <a:t>()</a:t>
            </a:r>
          </a:p>
          <a:p>
            <a:pPr marL="742950" lvl="1" indent="-285750" algn="l">
              <a:buFont typeface="Arial" panose="020B0604020202020204" pitchFamily="34" charset="0"/>
              <a:buChar char="•"/>
            </a:pPr>
            <a:r>
              <a:rPr lang="en-US" sz="1200" b="0" i="0" dirty="0" err="1">
                <a:solidFill>
                  <a:srgbClr val="0F1115"/>
                </a:solidFill>
                <a:effectLst/>
                <a:latin typeface="quote-cjk-patch"/>
              </a:rPr>
              <a:t>peekLast</a:t>
            </a:r>
            <a:r>
              <a:rPr lang="en-US" sz="1200" b="0" i="0" dirty="0">
                <a:solidFill>
                  <a:srgbClr val="0F1115"/>
                </a:solidFill>
                <a:effectLst/>
                <a:latin typeface="quote-cjk-patch"/>
              </a:rPr>
              <a:t>()</a:t>
            </a:r>
          </a:p>
          <a:p>
            <a:pPr algn="l">
              <a:buFont typeface="Arial" panose="020B0604020202020204" pitchFamily="34" charset="0"/>
              <a:buChar char="•"/>
            </a:pPr>
            <a:r>
              <a:rPr lang="en-US" sz="1200" b="1" i="0" dirty="0">
                <a:solidFill>
                  <a:srgbClr val="0F1115"/>
                </a:solidFill>
                <a:effectLst/>
                <a:latin typeface="quote-cjk-patch"/>
              </a:rPr>
              <a:t>Stack Operations:</a:t>
            </a:r>
            <a:endParaRPr lang="en-US" sz="1200" b="0" i="0" dirty="0">
              <a:solidFill>
                <a:srgbClr val="0F1115"/>
              </a:solidFill>
              <a:effectLst/>
              <a:latin typeface="quote-cjk-patch"/>
            </a:endParaRPr>
          </a:p>
          <a:p>
            <a:pPr marL="742950" lvl="1" indent="-285750" algn="l">
              <a:buFont typeface="Arial" panose="020B0604020202020204" pitchFamily="34" charset="0"/>
              <a:buChar char="•"/>
            </a:pPr>
            <a:r>
              <a:rPr lang="en-US" sz="1200" b="0" i="0" dirty="0">
                <a:solidFill>
                  <a:srgbClr val="0F1115"/>
                </a:solidFill>
                <a:effectLst/>
                <a:latin typeface="quote-cjk-patch"/>
              </a:rPr>
              <a:t>push(E e)</a:t>
            </a:r>
          </a:p>
          <a:p>
            <a:pPr marL="742950" lvl="1" indent="-285750" algn="l">
              <a:buFont typeface="Arial" panose="020B0604020202020204" pitchFamily="34" charset="0"/>
              <a:buChar char="•"/>
            </a:pPr>
            <a:r>
              <a:rPr lang="en-US" sz="1200" b="0" i="0" dirty="0">
                <a:solidFill>
                  <a:srgbClr val="0F1115"/>
                </a:solidFill>
                <a:effectLst/>
                <a:latin typeface="quote-cjk-patch"/>
              </a:rPr>
              <a:t>pop()</a:t>
            </a:r>
          </a:p>
          <a:p>
            <a:pPr algn="l">
              <a:buFont typeface="Arial" panose="020B0604020202020204" pitchFamily="34" charset="0"/>
              <a:buChar char="•"/>
            </a:pPr>
            <a:r>
              <a:rPr lang="en-US" sz="1200" b="1" i="0" dirty="0">
                <a:solidFill>
                  <a:srgbClr val="0F1115"/>
                </a:solidFill>
                <a:effectLst/>
                <a:latin typeface="quote-cjk-patch"/>
              </a:rPr>
              <a:t>Removal Operations:</a:t>
            </a:r>
            <a:endParaRPr lang="en-US" sz="1200" b="0" i="0" dirty="0">
              <a:solidFill>
                <a:srgbClr val="0F1115"/>
              </a:solidFill>
              <a:effectLst/>
              <a:latin typeface="quote-cjk-patch"/>
            </a:endParaRPr>
          </a:p>
          <a:p>
            <a:pPr marL="742950" lvl="1" indent="-285750" algn="l">
              <a:buFont typeface="Arial" panose="020B0604020202020204" pitchFamily="34" charset="0"/>
              <a:buChar char="•"/>
            </a:pPr>
            <a:r>
              <a:rPr lang="en-US" sz="1200" b="0" i="0" dirty="0" err="1">
                <a:solidFill>
                  <a:srgbClr val="0F1115"/>
                </a:solidFill>
                <a:effectLst/>
                <a:latin typeface="quote-cjk-patch"/>
              </a:rPr>
              <a:t>removeFirstOccurrence</a:t>
            </a:r>
            <a:r>
              <a:rPr lang="en-US" sz="1200" b="0" i="0" dirty="0">
                <a:solidFill>
                  <a:srgbClr val="0F1115"/>
                </a:solidFill>
                <a:effectLst/>
                <a:latin typeface="quote-cjk-patch"/>
              </a:rPr>
              <a:t>(Object o)</a:t>
            </a:r>
          </a:p>
          <a:p>
            <a:pPr marL="742950" lvl="1" indent="-285750" algn="l">
              <a:buFont typeface="Arial" panose="020B0604020202020204" pitchFamily="34" charset="0"/>
              <a:buChar char="•"/>
            </a:pPr>
            <a:r>
              <a:rPr lang="en-US" sz="1200" b="0" i="0" dirty="0" err="1">
                <a:solidFill>
                  <a:srgbClr val="0F1115"/>
                </a:solidFill>
                <a:effectLst/>
                <a:latin typeface="quote-cjk-patch"/>
              </a:rPr>
              <a:t>removeLastOccurrence</a:t>
            </a:r>
            <a:r>
              <a:rPr lang="en-US" sz="1200" b="0" i="0" dirty="0">
                <a:solidFill>
                  <a:srgbClr val="0F1115"/>
                </a:solidFill>
                <a:effectLst/>
                <a:latin typeface="quote-cjk-patch"/>
              </a:rPr>
              <a:t>(Object o)</a:t>
            </a:r>
          </a:p>
          <a:p>
            <a:pPr algn="l">
              <a:buFont typeface="Arial" panose="020B0604020202020204" pitchFamily="34" charset="0"/>
              <a:buChar char="•"/>
            </a:pPr>
            <a:r>
              <a:rPr lang="en-US" sz="1200" b="1" i="0" dirty="0">
                <a:solidFill>
                  <a:srgbClr val="0F1115"/>
                </a:solidFill>
                <a:effectLst/>
                <a:latin typeface="quote-cjk-patch"/>
              </a:rPr>
              <a:t>Iterator:</a:t>
            </a:r>
            <a:endParaRPr lang="en-US" sz="1200" b="0" i="0" dirty="0">
              <a:solidFill>
                <a:srgbClr val="0F1115"/>
              </a:solidFill>
              <a:effectLst/>
              <a:latin typeface="quote-cjk-patch"/>
            </a:endParaRPr>
          </a:p>
          <a:p>
            <a:pPr marL="742950" lvl="1" indent="-285750" algn="l">
              <a:buFont typeface="Arial" panose="020B0604020202020204" pitchFamily="34" charset="0"/>
              <a:buChar char="•"/>
            </a:pPr>
            <a:r>
              <a:rPr lang="en-US" sz="1200" b="0" i="0" dirty="0" err="1">
                <a:solidFill>
                  <a:srgbClr val="0F1115"/>
                </a:solidFill>
                <a:effectLst/>
                <a:latin typeface="quote-cjk-patch"/>
              </a:rPr>
              <a:t>descendingIterator</a:t>
            </a:r>
            <a:r>
              <a:rPr lang="en-US" sz="1200" b="0" i="0" dirty="0">
                <a:solidFill>
                  <a:srgbClr val="0F1115"/>
                </a:solidFill>
                <a:effectLst/>
                <a:latin typeface="quote-cjk-patch"/>
              </a:rPr>
              <a:t>()</a:t>
            </a:r>
          </a:p>
        </p:txBody>
      </p:sp>
      <p:sp>
        <p:nvSpPr>
          <p:cNvPr id="9" name="TextBox 8">
            <a:extLst>
              <a:ext uri="{FF2B5EF4-FFF2-40B4-BE49-F238E27FC236}">
                <a16:creationId xmlns:a16="http://schemas.microsoft.com/office/drawing/2014/main" id="{5A58AF40-D2B7-6E23-E00F-31342A85735A}"/>
              </a:ext>
            </a:extLst>
          </p:cNvPr>
          <p:cNvSpPr txBox="1"/>
          <p:nvPr/>
        </p:nvSpPr>
        <p:spPr>
          <a:xfrm>
            <a:off x="589935" y="312991"/>
            <a:ext cx="5279923" cy="2308324"/>
          </a:xfrm>
          <a:prstGeom prst="rect">
            <a:avLst/>
          </a:prstGeom>
          <a:noFill/>
          <a:ln>
            <a:solidFill>
              <a:srgbClr val="92D050"/>
            </a:solidFill>
          </a:ln>
        </p:spPr>
        <p:txBody>
          <a:bodyPr wrap="square">
            <a:spAutoFit/>
          </a:bodyPr>
          <a:lstStyle/>
          <a:p>
            <a:pPr algn="l">
              <a:buNone/>
            </a:pPr>
            <a:r>
              <a:rPr lang="en-US" sz="1200" b="1" dirty="0" err="1">
                <a:solidFill>
                  <a:srgbClr val="0F1115"/>
                </a:solidFill>
                <a:effectLst/>
                <a:latin typeface="quote-cjk-patch"/>
              </a:rPr>
              <a:t>PriorityQueue</a:t>
            </a:r>
            <a:r>
              <a:rPr lang="en-US" sz="1200" b="1" dirty="0">
                <a:solidFill>
                  <a:srgbClr val="0F1115"/>
                </a:solidFill>
                <a:effectLst/>
                <a:latin typeface="quote-cjk-patch"/>
              </a:rPr>
              <a:t> Class (implements Queue)</a:t>
            </a:r>
          </a:p>
          <a:p>
            <a:pPr algn="l">
              <a:buFont typeface="Arial" panose="020B0604020202020204" pitchFamily="34" charset="0"/>
              <a:buChar char="•"/>
            </a:pPr>
            <a:r>
              <a:rPr lang="en-US" sz="1200" b="1" i="0" dirty="0">
                <a:solidFill>
                  <a:srgbClr val="0F1115"/>
                </a:solidFill>
                <a:effectLst/>
                <a:latin typeface="quote-cjk-patch"/>
              </a:rPr>
              <a:t>Constructors:</a:t>
            </a:r>
            <a:endParaRPr lang="en-US" sz="1200" b="0" i="0" dirty="0">
              <a:solidFill>
                <a:srgbClr val="0F1115"/>
              </a:solidFill>
              <a:effectLst/>
              <a:latin typeface="quote-cjk-patch"/>
            </a:endParaRPr>
          </a:p>
          <a:p>
            <a:pPr marL="742950" lvl="1" indent="-285750" algn="l">
              <a:buFont typeface="Arial" panose="020B0604020202020204" pitchFamily="34" charset="0"/>
              <a:buChar char="•"/>
            </a:pPr>
            <a:r>
              <a:rPr lang="en-US" sz="1200" b="0" i="0" dirty="0" err="1">
                <a:solidFill>
                  <a:srgbClr val="0F1115"/>
                </a:solidFill>
                <a:effectLst/>
                <a:latin typeface="quote-cjk-patch"/>
              </a:rPr>
              <a:t>PriorityQueue</a:t>
            </a:r>
            <a:r>
              <a:rPr lang="en-US" sz="1200" b="0" i="0" dirty="0">
                <a:solidFill>
                  <a:srgbClr val="0F1115"/>
                </a:solidFill>
                <a:effectLst/>
                <a:latin typeface="quote-cjk-patch"/>
              </a:rPr>
              <a:t>()</a:t>
            </a:r>
          </a:p>
          <a:p>
            <a:pPr marL="742950" lvl="1" indent="-285750" algn="l">
              <a:buFont typeface="Arial" panose="020B0604020202020204" pitchFamily="34" charset="0"/>
              <a:buChar char="•"/>
            </a:pPr>
            <a:r>
              <a:rPr lang="en-US" sz="1200" b="0" i="0" dirty="0" err="1">
                <a:solidFill>
                  <a:srgbClr val="0F1115"/>
                </a:solidFill>
                <a:effectLst/>
                <a:latin typeface="quote-cjk-patch"/>
              </a:rPr>
              <a:t>PriorityQueue</a:t>
            </a:r>
            <a:r>
              <a:rPr lang="en-US" sz="1200" b="0" i="0" dirty="0">
                <a:solidFill>
                  <a:srgbClr val="0F1115"/>
                </a:solidFill>
                <a:effectLst/>
                <a:latin typeface="quote-cjk-patch"/>
              </a:rPr>
              <a:t>(int </a:t>
            </a:r>
            <a:r>
              <a:rPr lang="en-US" sz="1200" b="0" i="0" dirty="0" err="1">
                <a:solidFill>
                  <a:srgbClr val="0F1115"/>
                </a:solidFill>
                <a:effectLst/>
                <a:latin typeface="quote-cjk-patch"/>
              </a:rPr>
              <a:t>initialCapacity</a:t>
            </a:r>
            <a:r>
              <a:rPr lang="en-US" sz="1200" b="0" i="0" dirty="0">
                <a:solidFill>
                  <a:srgbClr val="0F1115"/>
                </a:solidFill>
                <a:effectLst/>
                <a:latin typeface="quote-cjk-patch"/>
              </a:rPr>
              <a:t>)</a:t>
            </a:r>
          </a:p>
          <a:p>
            <a:pPr marL="742950" lvl="1" indent="-285750" algn="l">
              <a:buFont typeface="Arial" panose="020B0604020202020204" pitchFamily="34" charset="0"/>
              <a:buChar char="•"/>
            </a:pPr>
            <a:r>
              <a:rPr lang="en-US" sz="1200" b="0" i="0" dirty="0" err="1">
                <a:solidFill>
                  <a:srgbClr val="0F1115"/>
                </a:solidFill>
                <a:effectLst/>
                <a:latin typeface="quote-cjk-patch"/>
              </a:rPr>
              <a:t>PriorityQueue</a:t>
            </a:r>
            <a:r>
              <a:rPr lang="en-US" sz="1200" b="0" i="0" dirty="0">
                <a:solidFill>
                  <a:srgbClr val="0F1115"/>
                </a:solidFill>
                <a:effectLst/>
                <a:latin typeface="quote-cjk-patch"/>
              </a:rPr>
              <a:t>(int </a:t>
            </a:r>
            <a:r>
              <a:rPr lang="en-US" sz="1200" b="0" i="0" dirty="0" err="1">
                <a:solidFill>
                  <a:srgbClr val="0F1115"/>
                </a:solidFill>
                <a:effectLst/>
                <a:latin typeface="quote-cjk-patch"/>
              </a:rPr>
              <a:t>initialCapacity</a:t>
            </a:r>
            <a:r>
              <a:rPr lang="en-US" sz="1200" b="0" i="0" dirty="0">
                <a:solidFill>
                  <a:srgbClr val="0F1115"/>
                </a:solidFill>
                <a:effectLst/>
                <a:latin typeface="quote-cjk-patch"/>
              </a:rPr>
              <a:t>, Comparator&lt;? super E&gt; comparator)</a:t>
            </a:r>
          </a:p>
          <a:p>
            <a:pPr marL="742950" lvl="1" indent="-285750" algn="l">
              <a:buFont typeface="Arial" panose="020B0604020202020204" pitchFamily="34" charset="0"/>
              <a:buChar char="•"/>
            </a:pPr>
            <a:r>
              <a:rPr lang="en-US" sz="1200" b="0" i="0" dirty="0" err="1">
                <a:solidFill>
                  <a:srgbClr val="0F1115"/>
                </a:solidFill>
                <a:effectLst/>
                <a:latin typeface="quote-cjk-patch"/>
              </a:rPr>
              <a:t>PriorityQueue</a:t>
            </a:r>
            <a:r>
              <a:rPr lang="en-US" sz="1200" b="0" i="0" dirty="0">
                <a:solidFill>
                  <a:srgbClr val="0F1115"/>
                </a:solidFill>
                <a:effectLst/>
                <a:latin typeface="quote-cjk-patch"/>
              </a:rPr>
              <a:t>(Collection&lt;? extends E&gt; c)</a:t>
            </a:r>
          </a:p>
          <a:p>
            <a:pPr marL="742950" lvl="1" indent="-285750" algn="l">
              <a:buFont typeface="Arial" panose="020B0604020202020204" pitchFamily="34" charset="0"/>
              <a:buChar char="•"/>
            </a:pPr>
            <a:r>
              <a:rPr lang="en-US" sz="1200" b="0" i="0" dirty="0" err="1">
                <a:solidFill>
                  <a:srgbClr val="0F1115"/>
                </a:solidFill>
                <a:effectLst/>
                <a:latin typeface="quote-cjk-patch"/>
              </a:rPr>
              <a:t>PriorityQueue</a:t>
            </a:r>
            <a:r>
              <a:rPr lang="en-US" sz="1200" b="0" i="0" dirty="0">
                <a:solidFill>
                  <a:srgbClr val="0F1115"/>
                </a:solidFill>
                <a:effectLst/>
                <a:latin typeface="quote-cjk-patch"/>
              </a:rPr>
              <a:t>(</a:t>
            </a:r>
            <a:r>
              <a:rPr lang="en-US" sz="1200" b="0" i="0" dirty="0" err="1">
                <a:solidFill>
                  <a:srgbClr val="0F1115"/>
                </a:solidFill>
                <a:effectLst/>
                <a:latin typeface="quote-cjk-patch"/>
              </a:rPr>
              <a:t>PriorityQueue</a:t>
            </a:r>
            <a:r>
              <a:rPr lang="en-US" sz="1200" b="0" i="0" dirty="0">
                <a:solidFill>
                  <a:srgbClr val="0F1115"/>
                </a:solidFill>
                <a:effectLst/>
                <a:latin typeface="quote-cjk-patch"/>
              </a:rPr>
              <a:t>&lt;? extends E&gt; c)</a:t>
            </a:r>
          </a:p>
          <a:p>
            <a:pPr marL="742950" lvl="1" indent="-285750" algn="l">
              <a:buFont typeface="Arial" panose="020B0604020202020204" pitchFamily="34" charset="0"/>
              <a:buChar char="•"/>
            </a:pPr>
            <a:r>
              <a:rPr lang="en-US" sz="1200" b="0" i="0" dirty="0" err="1">
                <a:solidFill>
                  <a:srgbClr val="0F1115"/>
                </a:solidFill>
                <a:effectLst/>
                <a:latin typeface="quote-cjk-patch"/>
              </a:rPr>
              <a:t>PriorityQueue</a:t>
            </a:r>
            <a:r>
              <a:rPr lang="en-US" sz="1200" b="0" i="0" dirty="0">
                <a:solidFill>
                  <a:srgbClr val="0F1115"/>
                </a:solidFill>
                <a:effectLst/>
                <a:latin typeface="quote-cjk-patch"/>
              </a:rPr>
              <a:t>(</a:t>
            </a:r>
            <a:r>
              <a:rPr lang="en-US" sz="1200" b="0" i="0" dirty="0" err="1">
                <a:solidFill>
                  <a:srgbClr val="0F1115"/>
                </a:solidFill>
                <a:effectLst/>
                <a:latin typeface="quote-cjk-patch"/>
              </a:rPr>
              <a:t>SortedSet</a:t>
            </a:r>
            <a:r>
              <a:rPr lang="en-US" sz="1200" b="0" i="0" dirty="0">
                <a:solidFill>
                  <a:srgbClr val="0F1115"/>
                </a:solidFill>
                <a:effectLst/>
                <a:latin typeface="quote-cjk-patch"/>
              </a:rPr>
              <a:t>&lt;? extends E&gt; c)</a:t>
            </a:r>
          </a:p>
          <a:p>
            <a:pPr algn="l">
              <a:buFont typeface="Arial" panose="020B0604020202020204" pitchFamily="34" charset="0"/>
              <a:buChar char="•"/>
            </a:pPr>
            <a:r>
              <a:rPr lang="en-US" sz="1200" b="1" i="0" dirty="0">
                <a:solidFill>
                  <a:srgbClr val="0F1115"/>
                </a:solidFill>
                <a:effectLst/>
                <a:latin typeface="quote-cjk-patch"/>
              </a:rPr>
              <a:t>Additional Methods:</a:t>
            </a:r>
            <a:endParaRPr lang="en-US" sz="1200" b="0" i="0" dirty="0">
              <a:solidFill>
                <a:srgbClr val="0F1115"/>
              </a:solidFill>
              <a:effectLst/>
              <a:latin typeface="quote-cjk-patch"/>
            </a:endParaRPr>
          </a:p>
          <a:p>
            <a:pPr marL="742950" lvl="1" indent="-285750" algn="l">
              <a:buFont typeface="Arial" panose="020B0604020202020204" pitchFamily="34" charset="0"/>
              <a:buChar char="•"/>
            </a:pPr>
            <a:r>
              <a:rPr lang="en-US" sz="1200" b="0" i="0" dirty="0">
                <a:solidFill>
                  <a:srgbClr val="0F1115"/>
                </a:solidFill>
                <a:effectLst/>
                <a:latin typeface="quote-cjk-patch"/>
              </a:rPr>
              <a:t>comparator()</a:t>
            </a:r>
          </a:p>
          <a:p>
            <a:pPr algn="l">
              <a:buFont typeface="Arial" panose="020B0604020202020204" pitchFamily="34" charset="0"/>
              <a:buChar char="•"/>
            </a:pPr>
            <a:r>
              <a:rPr lang="en-US" sz="1200" b="1" i="0" dirty="0">
                <a:solidFill>
                  <a:srgbClr val="0F1115"/>
                </a:solidFill>
                <a:effectLst/>
                <a:latin typeface="quote-cjk-patch"/>
              </a:rPr>
              <a:t>Implements all Queue methods</a:t>
            </a:r>
            <a:endParaRPr lang="en-US" sz="1200" b="0" i="0" dirty="0">
              <a:solidFill>
                <a:srgbClr val="0F1115"/>
              </a:solidFill>
              <a:effectLst/>
              <a:latin typeface="quote-cjk-patch"/>
            </a:endParaRPr>
          </a:p>
          <a:p>
            <a:pPr algn="l">
              <a:buFont typeface="Arial" panose="020B0604020202020204" pitchFamily="34" charset="0"/>
              <a:buChar char="•"/>
            </a:pPr>
            <a:r>
              <a:rPr lang="en-US" sz="1200" b="1" i="0" dirty="0">
                <a:solidFill>
                  <a:srgbClr val="0F1115"/>
                </a:solidFill>
                <a:effectLst/>
                <a:latin typeface="quote-cjk-patch"/>
              </a:rPr>
              <a:t>Inherits all Collection methods</a:t>
            </a:r>
            <a:endParaRPr lang="en-US" sz="1200" b="0" i="0" dirty="0">
              <a:solidFill>
                <a:srgbClr val="0F1115"/>
              </a:solidFill>
              <a:effectLst/>
              <a:latin typeface="quote-cjk-patch"/>
            </a:endParaRPr>
          </a:p>
        </p:txBody>
      </p:sp>
      <p:sp>
        <p:nvSpPr>
          <p:cNvPr id="11" name="TextBox 10">
            <a:extLst>
              <a:ext uri="{FF2B5EF4-FFF2-40B4-BE49-F238E27FC236}">
                <a16:creationId xmlns:a16="http://schemas.microsoft.com/office/drawing/2014/main" id="{2A1A5EE5-D5D1-4104-6EBB-015CB11BA046}"/>
              </a:ext>
            </a:extLst>
          </p:cNvPr>
          <p:cNvSpPr txBox="1"/>
          <p:nvPr/>
        </p:nvSpPr>
        <p:spPr>
          <a:xfrm>
            <a:off x="589935" y="2851691"/>
            <a:ext cx="3470787" cy="1384995"/>
          </a:xfrm>
          <a:prstGeom prst="rect">
            <a:avLst/>
          </a:prstGeom>
          <a:noFill/>
          <a:ln>
            <a:solidFill>
              <a:srgbClr val="92D050"/>
            </a:solidFill>
          </a:ln>
        </p:spPr>
        <p:txBody>
          <a:bodyPr wrap="square">
            <a:spAutoFit/>
          </a:bodyPr>
          <a:lstStyle/>
          <a:p>
            <a:pPr algn="l">
              <a:buNone/>
            </a:pPr>
            <a:r>
              <a:rPr lang="en-US" sz="1200" b="1" dirty="0" err="1">
                <a:solidFill>
                  <a:srgbClr val="0F1115"/>
                </a:solidFill>
                <a:effectLst/>
                <a:latin typeface="quote-cjk-patch"/>
              </a:rPr>
              <a:t>ArrayDeque</a:t>
            </a:r>
            <a:r>
              <a:rPr lang="en-US" sz="1200" b="1" dirty="0">
                <a:solidFill>
                  <a:srgbClr val="0F1115"/>
                </a:solidFill>
                <a:effectLst/>
                <a:latin typeface="quote-cjk-patch"/>
              </a:rPr>
              <a:t> Class (implements Deque)</a:t>
            </a:r>
          </a:p>
          <a:p>
            <a:pPr algn="l">
              <a:buFont typeface="Arial" panose="020B0604020202020204" pitchFamily="34" charset="0"/>
              <a:buChar char="•"/>
            </a:pPr>
            <a:r>
              <a:rPr lang="en-US" sz="1200" b="1" i="0" dirty="0">
                <a:solidFill>
                  <a:srgbClr val="0F1115"/>
                </a:solidFill>
                <a:effectLst/>
                <a:latin typeface="quote-cjk-patch"/>
              </a:rPr>
              <a:t>Constructors:</a:t>
            </a:r>
            <a:endParaRPr lang="en-US" sz="1200" b="0" i="0" dirty="0">
              <a:solidFill>
                <a:srgbClr val="0F1115"/>
              </a:solidFill>
              <a:effectLst/>
              <a:latin typeface="quote-cjk-patch"/>
            </a:endParaRPr>
          </a:p>
          <a:p>
            <a:pPr marL="742950" lvl="1" indent="-285750" algn="l">
              <a:buFont typeface="Arial" panose="020B0604020202020204" pitchFamily="34" charset="0"/>
              <a:buChar char="•"/>
            </a:pPr>
            <a:r>
              <a:rPr lang="en-US" sz="1200" b="0" i="0" dirty="0" err="1">
                <a:solidFill>
                  <a:srgbClr val="0F1115"/>
                </a:solidFill>
                <a:effectLst/>
                <a:latin typeface="quote-cjk-patch"/>
              </a:rPr>
              <a:t>ArrayDeque</a:t>
            </a:r>
            <a:r>
              <a:rPr lang="en-US" sz="1200" b="0" i="0" dirty="0">
                <a:solidFill>
                  <a:srgbClr val="0F1115"/>
                </a:solidFill>
                <a:effectLst/>
                <a:latin typeface="quote-cjk-patch"/>
              </a:rPr>
              <a:t>()</a:t>
            </a:r>
          </a:p>
          <a:p>
            <a:pPr marL="742950" lvl="1" indent="-285750" algn="l">
              <a:buFont typeface="Arial" panose="020B0604020202020204" pitchFamily="34" charset="0"/>
              <a:buChar char="•"/>
            </a:pPr>
            <a:r>
              <a:rPr lang="en-US" sz="1200" b="0" i="0" dirty="0" err="1">
                <a:solidFill>
                  <a:srgbClr val="0F1115"/>
                </a:solidFill>
                <a:effectLst/>
                <a:latin typeface="quote-cjk-patch"/>
              </a:rPr>
              <a:t>ArrayDeque</a:t>
            </a:r>
            <a:r>
              <a:rPr lang="en-US" sz="1200" b="0" i="0" dirty="0">
                <a:solidFill>
                  <a:srgbClr val="0F1115"/>
                </a:solidFill>
                <a:effectLst/>
                <a:latin typeface="quote-cjk-patch"/>
              </a:rPr>
              <a:t>(int </a:t>
            </a:r>
            <a:r>
              <a:rPr lang="en-US" sz="1200" b="0" i="0" dirty="0" err="1">
                <a:solidFill>
                  <a:srgbClr val="0F1115"/>
                </a:solidFill>
                <a:effectLst/>
                <a:latin typeface="quote-cjk-patch"/>
              </a:rPr>
              <a:t>numElements</a:t>
            </a:r>
            <a:r>
              <a:rPr lang="en-US" sz="1200" b="0" i="0" dirty="0">
                <a:solidFill>
                  <a:srgbClr val="0F1115"/>
                </a:solidFill>
                <a:effectLst/>
                <a:latin typeface="quote-cjk-patch"/>
              </a:rPr>
              <a:t>)</a:t>
            </a:r>
          </a:p>
          <a:p>
            <a:pPr marL="742950" lvl="1" indent="-285750" algn="l">
              <a:buFont typeface="Arial" panose="020B0604020202020204" pitchFamily="34" charset="0"/>
              <a:buChar char="•"/>
            </a:pPr>
            <a:r>
              <a:rPr lang="en-US" sz="1200" b="0" i="0" dirty="0" err="1">
                <a:solidFill>
                  <a:srgbClr val="0F1115"/>
                </a:solidFill>
                <a:effectLst/>
                <a:latin typeface="quote-cjk-patch"/>
              </a:rPr>
              <a:t>ArrayDeque</a:t>
            </a:r>
            <a:r>
              <a:rPr lang="en-US" sz="1200" b="0" i="0" dirty="0">
                <a:solidFill>
                  <a:srgbClr val="0F1115"/>
                </a:solidFill>
                <a:effectLst/>
                <a:latin typeface="quote-cjk-patch"/>
              </a:rPr>
              <a:t>(Collection&lt;? extends E&gt; c)</a:t>
            </a:r>
          </a:p>
          <a:p>
            <a:pPr algn="l">
              <a:buFont typeface="Arial" panose="020B0604020202020204" pitchFamily="34" charset="0"/>
              <a:buChar char="•"/>
            </a:pPr>
            <a:r>
              <a:rPr lang="en-US" sz="1200" b="1" i="0" dirty="0">
                <a:solidFill>
                  <a:srgbClr val="0F1115"/>
                </a:solidFill>
                <a:effectLst/>
                <a:latin typeface="quote-cjk-patch"/>
              </a:rPr>
              <a:t>Implements all Deque and Queue methods</a:t>
            </a:r>
            <a:endParaRPr lang="en-US" sz="1200" b="0" i="0" dirty="0">
              <a:solidFill>
                <a:srgbClr val="0F1115"/>
              </a:solidFill>
              <a:effectLst/>
              <a:latin typeface="quote-cjk-patch"/>
            </a:endParaRPr>
          </a:p>
          <a:p>
            <a:pPr algn="l">
              <a:buFont typeface="Arial" panose="020B0604020202020204" pitchFamily="34" charset="0"/>
              <a:buChar char="•"/>
            </a:pPr>
            <a:r>
              <a:rPr lang="en-US" sz="1200" b="1" i="0" dirty="0">
                <a:solidFill>
                  <a:srgbClr val="0F1115"/>
                </a:solidFill>
                <a:effectLst/>
                <a:latin typeface="quote-cjk-patch"/>
              </a:rPr>
              <a:t>Inherits all Collection methods</a:t>
            </a:r>
            <a:endParaRPr lang="en-US" sz="1200" b="0" i="0" dirty="0">
              <a:solidFill>
                <a:srgbClr val="0F1115"/>
              </a:solidFill>
              <a:effectLst/>
              <a:latin typeface="quote-cjk-patch"/>
            </a:endParaRPr>
          </a:p>
        </p:txBody>
      </p:sp>
    </p:spTree>
    <p:extLst>
      <p:ext uri="{BB962C8B-B14F-4D97-AF65-F5344CB8AC3E}">
        <p14:creationId xmlns:p14="http://schemas.microsoft.com/office/powerpoint/2010/main" val="16936422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B1CA5732-DDE1-3FB0-2698-DB9303108B37}"/>
              </a:ext>
            </a:extLst>
          </p:cNvPr>
          <p:cNvSpPr txBox="1"/>
          <p:nvPr/>
        </p:nvSpPr>
        <p:spPr>
          <a:xfrm>
            <a:off x="678426" y="421769"/>
            <a:ext cx="3903406" cy="1938992"/>
          </a:xfrm>
          <a:prstGeom prst="rect">
            <a:avLst/>
          </a:prstGeom>
          <a:noFill/>
          <a:ln>
            <a:solidFill>
              <a:srgbClr val="00B050"/>
            </a:solidFill>
          </a:ln>
        </p:spPr>
        <p:txBody>
          <a:bodyPr wrap="square">
            <a:spAutoFit/>
          </a:bodyPr>
          <a:lstStyle/>
          <a:p>
            <a:pPr algn="l">
              <a:buNone/>
            </a:pPr>
            <a:r>
              <a:rPr lang="en-US" sz="1200" b="1" dirty="0">
                <a:solidFill>
                  <a:srgbClr val="0F1115"/>
                </a:solidFill>
                <a:effectLst/>
                <a:latin typeface="quote-cjk-patch"/>
              </a:rPr>
              <a:t>HashSet Class (implements Set)</a:t>
            </a:r>
          </a:p>
          <a:p>
            <a:pPr algn="l">
              <a:buFont typeface="Arial" panose="020B0604020202020204" pitchFamily="34" charset="0"/>
              <a:buChar char="•"/>
            </a:pPr>
            <a:r>
              <a:rPr lang="en-US" sz="1200" b="1" i="0" dirty="0">
                <a:solidFill>
                  <a:srgbClr val="0F1115"/>
                </a:solidFill>
                <a:effectLst/>
                <a:latin typeface="quote-cjk-patch"/>
              </a:rPr>
              <a:t>Constructors:</a:t>
            </a:r>
            <a:endParaRPr lang="en-US" sz="1200" b="0" i="0" dirty="0">
              <a:solidFill>
                <a:srgbClr val="0F1115"/>
              </a:solidFill>
              <a:effectLst/>
              <a:latin typeface="quote-cjk-patch"/>
            </a:endParaRPr>
          </a:p>
          <a:p>
            <a:pPr marL="742950" lvl="1" indent="-285750" algn="l">
              <a:buFont typeface="Arial" panose="020B0604020202020204" pitchFamily="34" charset="0"/>
              <a:buChar char="•"/>
            </a:pPr>
            <a:r>
              <a:rPr lang="en-US" sz="1200" b="0" i="0" dirty="0">
                <a:solidFill>
                  <a:srgbClr val="0F1115"/>
                </a:solidFill>
                <a:effectLst/>
                <a:latin typeface="quote-cjk-patch"/>
              </a:rPr>
              <a:t>HashSet()</a:t>
            </a:r>
          </a:p>
          <a:p>
            <a:pPr marL="742950" lvl="1" indent="-285750" algn="l">
              <a:buFont typeface="Arial" panose="020B0604020202020204" pitchFamily="34" charset="0"/>
              <a:buChar char="•"/>
            </a:pPr>
            <a:r>
              <a:rPr lang="en-US" sz="1200" b="0" i="0" dirty="0">
                <a:solidFill>
                  <a:srgbClr val="0F1115"/>
                </a:solidFill>
                <a:effectLst/>
                <a:latin typeface="quote-cjk-patch"/>
              </a:rPr>
              <a:t>HashSet(int </a:t>
            </a:r>
            <a:r>
              <a:rPr lang="en-US" sz="1200" b="0" i="0" dirty="0" err="1">
                <a:solidFill>
                  <a:srgbClr val="0F1115"/>
                </a:solidFill>
                <a:effectLst/>
                <a:latin typeface="quote-cjk-patch"/>
              </a:rPr>
              <a:t>initialCapacity</a:t>
            </a:r>
            <a:r>
              <a:rPr lang="en-US" sz="1200" b="0" i="0" dirty="0">
                <a:solidFill>
                  <a:srgbClr val="0F1115"/>
                </a:solidFill>
                <a:effectLst/>
                <a:latin typeface="quote-cjk-patch"/>
              </a:rPr>
              <a:t>)</a:t>
            </a:r>
          </a:p>
          <a:p>
            <a:pPr marL="742950" lvl="1" indent="-285750" algn="l">
              <a:buFont typeface="Arial" panose="020B0604020202020204" pitchFamily="34" charset="0"/>
              <a:buChar char="•"/>
            </a:pPr>
            <a:r>
              <a:rPr lang="en-US" sz="1200" b="0" i="0" dirty="0">
                <a:solidFill>
                  <a:srgbClr val="0F1115"/>
                </a:solidFill>
                <a:effectLst/>
                <a:latin typeface="quote-cjk-patch"/>
              </a:rPr>
              <a:t>HashSet(int </a:t>
            </a:r>
            <a:r>
              <a:rPr lang="en-US" sz="1200" b="0" i="0" dirty="0" err="1">
                <a:solidFill>
                  <a:srgbClr val="0F1115"/>
                </a:solidFill>
                <a:effectLst/>
                <a:latin typeface="quote-cjk-patch"/>
              </a:rPr>
              <a:t>initialCapacity</a:t>
            </a:r>
            <a:r>
              <a:rPr lang="en-US" sz="1200" b="0" i="0" dirty="0">
                <a:solidFill>
                  <a:srgbClr val="0F1115"/>
                </a:solidFill>
                <a:effectLst/>
                <a:latin typeface="quote-cjk-patch"/>
              </a:rPr>
              <a:t>, float </a:t>
            </a:r>
            <a:r>
              <a:rPr lang="en-US" sz="1200" b="0" i="0" dirty="0" err="1">
                <a:solidFill>
                  <a:srgbClr val="0F1115"/>
                </a:solidFill>
                <a:effectLst/>
                <a:latin typeface="quote-cjk-patch"/>
              </a:rPr>
              <a:t>loadFactor</a:t>
            </a:r>
            <a:r>
              <a:rPr lang="en-US" sz="1200" b="0" i="0" dirty="0">
                <a:solidFill>
                  <a:srgbClr val="0F1115"/>
                </a:solidFill>
                <a:effectLst/>
                <a:latin typeface="quote-cjk-patch"/>
              </a:rPr>
              <a:t>)</a:t>
            </a:r>
          </a:p>
          <a:p>
            <a:pPr marL="742950" lvl="1" indent="-285750" algn="l">
              <a:buFont typeface="Arial" panose="020B0604020202020204" pitchFamily="34" charset="0"/>
              <a:buChar char="•"/>
            </a:pPr>
            <a:r>
              <a:rPr lang="en-US" sz="1200" b="0" i="0" dirty="0">
                <a:solidFill>
                  <a:srgbClr val="0F1115"/>
                </a:solidFill>
                <a:effectLst/>
                <a:latin typeface="quote-cjk-patch"/>
              </a:rPr>
              <a:t>HashSet(Collection&lt;? extends E&gt; c)</a:t>
            </a:r>
          </a:p>
          <a:p>
            <a:pPr algn="l">
              <a:buFont typeface="Arial" panose="020B0604020202020204" pitchFamily="34" charset="0"/>
              <a:buChar char="•"/>
            </a:pPr>
            <a:r>
              <a:rPr lang="en-US" sz="1200" b="1" i="0" dirty="0">
                <a:solidFill>
                  <a:srgbClr val="0F1115"/>
                </a:solidFill>
                <a:effectLst/>
                <a:latin typeface="quote-cjk-patch"/>
              </a:rPr>
              <a:t>Additional Methods:</a:t>
            </a:r>
            <a:endParaRPr lang="en-US" sz="1200" b="0" i="0" dirty="0">
              <a:solidFill>
                <a:srgbClr val="0F1115"/>
              </a:solidFill>
              <a:effectLst/>
              <a:latin typeface="quote-cjk-patch"/>
            </a:endParaRPr>
          </a:p>
          <a:p>
            <a:pPr marL="742950" lvl="1" indent="-285750" algn="l">
              <a:buFont typeface="Arial" panose="020B0604020202020204" pitchFamily="34" charset="0"/>
              <a:buChar char="•"/>
            </a:pPr>
            <a:r>
              <a:rPr lang="en-US" sz="1200" b="0" i="0" dirty="0">
                <a:solidFill>
                  <a:srgbClr val="0F1115"/>
                </a:solidFill>
                <a:effectLst/>
                <a:latin typeface="quote-cjk-patch"/>
              </a:rPr>
              <a:t>clone()</a:t>
            </a:r>
          </a:p>
          <a:p>
            <a:pPr algn="l">
              <a:buFont typeface="Arial" panose="020B0604020202020204" pitchFamily="34" charset="0"/>
              <a:buChar char="•"/>
            </a:pPr>
            <a:r>
              <a:rPr lang="en-US" sz="1200" b="1" i="0" dirty="0">
                <a:solidFill>
                  <a:srgbClr val="0F1115"/>
                </a:solidFill>
                <a:effectLst/>
                <a:latin typeface="quote-cjk-patch"/>
              </a:rPr>
              <a:t>Implements all Set methods</a:t>
            </a:r>
            <a:endParaRPr lang="en-US" sz="1200" b="0" i="0" dirty="0">
              <a:solidFill>
                <a:srgbClr val="0F1115"/>
              </a:solidFill>
              <a:effectLst/>
              <a:latin typeface="quote-cjk-patch"/>
            </a:endParaRPr>
          </a:p>
          <a:p>
            <a:pPr algn="l">
              <a:buFont typeface="Arial" panose="020B0604020202020204" pitchFamily="34" charset="0"/>
              <a:buChar char="•"/>
            </a:pPr>
            <a:r>
              <a:rPr lang="en-US" sz="1200" b="1" i="0" dirty="0">
                <a:solidFill>
                  <a:srgbClr val="0F1115"/>
                </a:solidFill>
                <a:effectLst/>
                <a:latin typeface="quote-cjk-patch"/>
              </a:rPr>
              <a:t>Inherits all Collection methods</a:t>
            </a:r>
            <a:endParaRPr lang="en-US" sz="1200" b="0" i="0" dirty="0">
              <a:solidFill>
                <a:srgbClr val="0F1115"/>
              </a:solidFill>
              <a:effectLst/>
              <a:latin typeface="quote-cjk-patch"/>
            </a:endParaRPr>
          </a:p>
        </p:txBody>
      </p:sp>
      <p:sp>
        <p:nvSpPr>
          <p:cNvPr id="12" name="TextBox 11">
            <a:extLst>
              <a:ext uri="{FF2B5EF4-FFF2-40B4-BE49-F238E27FC236}">
                <a16:creationId xmlns:a16="http://schemas.microsoft.com/office/drawing/2014/main" id="{A3EC2D63-EF12-C313-DF08-DA14B3C433A7}"/>
              </a:ext>
            </a:extLst>
          </p:cNvPr>
          <p:cNvSpPr txBox="1"/>
          <p:nvPr/>
        </p:nvSpPr>
        <p:spPr>
          <a:xfrm>
            <a:off x="589931" y="3632056"/>
            <a:ext cx="4336031" cy="2123658"/>
          </a:xfrm>
          <a:prstGeom prst="rect">
            <a:avLst/>
          </a:prstGeom>
          <a:noFill/>
          <a:ln>
            <a:solidFill>
              <a:srgbClr val="00B050"/>
            </a:solidFill>
          </a:ln>
        </p:spPr>
        <p:txBody>
          <a:bodyPr wrap="square">
            <a:spAutoFit/>
          </a:bodyPr>
          <a:lstStyle/>
          <a:p>
            <a:pPr algn="l">
              <a:buNone/>
            </a:pPr>
            <a:r>
              <a:rPr lang="en-US" sz="1200" b="1" dirty="0" err="1">
                <a:solidFill>
                  <a:srgbClr val="0F1115"/>
                </a:solidFill>
                <a:effectLst/>
                <a:latin typeface="quote-cjk-patch"/>
              </a:rPr>
              <a:t>LinkedHashSet</a:t>
            </a:r>
            <a:r>
              <a:rPr lang="en-US" sz="1200" b="1" dirty="0">
                <a:solidFill>
                  <a:srgbClr val="0F1115"/>
                </a:solidFill>
                <a:effectLst/>
                <a:latin typeface="quote-cjk-patch"/>
              </a:rPr>
              <a:t> Class (extends HashSet, implements Set)</a:t>
            </a:r>
          </a:p>
          <a:p>
            <a:pPr algn="l">
              <a:buFont typeface="Arial" panose="020B0604020202020204" pitchFamily="34" charset="0"/>
              <a:buChar char="•"/>
            </a:pPr>
            <a:r>
              <a:rPr lang="en-US" sz="1200" b="1" i="0" dirty="0">
                <a:solidFill>
                  <a:srgbClr val="0F1115"/>
                </a:solidFill>
                <a:effectLst/>
                <a:latin typeface="quote-cjk-patch"/>
              </a:rPr>
              <a:t>Constructors:</a:t>
            </a:r>
            <a:endParaRPr lang="en-US" sz="1200" b="0" i="0" dirty="0">
              <a:solidFill>
                <a:srgbClr val="0F1115"/>
              </a:solidFill>
              <a:effectLst/>
              <a:latin typeface="quote-cjk-patch"/>
            </a:endParaRPr>
          </a:p>
          <a:p>
            <a:pPr marL="742950" lvl="1" indent="-285750" algn="l">
              <a:buFont typeface="Arial" panose="020B0604020202020204" pitchFamily="34" charset="0"/>
              <a:buChar char="•"/>
            </a:pPr>
            <a:r>
              <a:rPr lang="en-US" sz="1200" b="0" i="0" dirty="0" err="1">
                <a:solidFill>
                  <a:srgbClr val="0F1115"/>
                </a:solidFill>
                <a:effectLst/>
                <a:latin typeface="quote-cjk-patch"/>
              </a:rPr>
              <a:t>LinkedHashSet</a:t>
            </a:r>
            <a:r>
              <a:rPr lang="en-US" sz="1200" b="0" i="0" dirty="0">
                <a:solidFill>
                  <a:srgbClr val="0F1115"/>
                </a:solidFill>
                <a:effectLst/>
                <a:latin typeface="quote-cjk-patch"/>
              </a:rPr>
              <a:t>()</a:t>
            </a:r>
          </a:p>
          <a:p>
            <a:pPr marL="742950" lvl="1" indent="-285750" algn="l">
              <a:buFont typeface="Arial" panose="020B0604020202020204" pitchFamily="34" charset="0"/>
              <a:buChar char="•"/>
            </a:pPr>
            <a:r>
              <a:rPr lang="en-US" sz="1200" b="0" i="0" dirty="0" err="1">
                <a:solidFill>
                  <a:srgbClr val="0F1115"/>
                </a:solidFill>
                <a:effectLst/>
                <a:latin typeface="quote-cjk-patch"/>
              </a:rPr>
              <a:t>LinkedHashSet</a:t>
            </a:r>
            <a:r>
              <a:rPr lang="en-US" sz="1200" b="0" i="0" dirty="0">
                <a:solidFill>
                  <a:srgbClr val="0F1115"/>
                </a:solidFill>
                <a:effectLst/>
                <a:latin typeface="quote-cjk-patch"/>
              </a:rPr>
              <a:t>(int </a:t>
            </a:r>
            <a:r>
              <a:rPr lang="en-US" sz="1200" b="0" i="0" dirty="0" err="1">
                <a:solidFill>
                  <a:srgbClr val="0F1115"/>
                </a:solidFill>
                <a:effectLst/>
                <a:latin typeface="quote-cjk-patch"/>
              </a:rPr>
              <a:t>initialCapacity</a:t>
            </a:r>
            <a:r>
              <a:rPr lang="en-US" sz="1200" b="0" i="0" dirty="0">
                <a:solidFill>
                  <a:srgbClr val="0F1115"/>
                </a:solidFill>
                <a:effectLst/>
                <a:latin typeface="quote-cjk-patch"/>
              </a:rPr>
              <a:t>)</a:t>
            </a:r>
          </a:p>
          <a:p>
            <a:pPr marL="742950" lvl="1" indent="-285750" algn="l">
              <a:buFont typeface="Arial" panose="020B0604020202020204" pitchFamily="34" charset="0"/>
              <a:buChar char="•"/>
            </a:pPr>
            <a:r>
              <a:rPr lang="en-US" sz="1200" b="0" i="0" dirty="0" err="1">
                <a:solidFill>
                  <a:srgbClr val="0F1115"/>
                </a:solidFill>
                <a:effectLst/>
                <a:latin typeface="quote-cjk-patch"/>
              </a:rPr>
              <a:t>LinkedHashSet</a:t>
            </a:r>
            <a:r>
              <a:rPr lang="en-US" sz="1200" b="0" i="0" dirty="0">
                <a:solidFill>
                  <a:srgbClr val="0F1115"/>
                </a:solidFill>
                <a:effectLst/>
                <a:latin typeface="quote-cjk-patch"/>
              </a:rPr>
              <a:t>(int </a:t>
            </a:r>
            <a:r>
              <a:rPr lang="en-US" sz="1200" b="0" i="0" dirty="0" err="1">
                <a:solidFill>
                  <a:srgbClr val="0F1115"/>
                </a:solidFill>
                <a:effectLst/>
                <a:latin typeface="quote-cjk-patch"/>
              </a:rPr>
              <a:t>initialCapacity</a:t>
            </a:r>
            <a:r>
              <a:rPr lang="en-US" sz="1200" b="0" i="0" dirty="0">
                <a:solidFill>
                  <a:srgbClr val="0F1115"/>
                </a:solidFill>
                <a:effectLst/>
                <a:latin typeface="quote-cjk-patch"/>
              </a:rPr>
              <a:t>, float </a:t>
            </a:r>
            <a:r>
              <a:rPr lang="en-US" sz="1200" b="0" i="0" dirty="0" err="1">
                <a:solidFill>
                  <a:srgbClr val="0F1115"/>
                </a:solidFill>
                <a:effectLst/>
                <a:latin typeface="quote-cjk-patch"/>
              </a:rPr>
              <a:t>loadFactor</a:t>
            </a:r>
            <a:r>
              <a:rPr lang="en-US" sz="1200" b="0" i="0" dirty="0">
                <a:solidFill>
                  <a:srgbClr val="0F1115"/>
                </a:solidFill>
                <a:effectLst/>
                <a:latin typeface="quote-cjk-patch"/>
              </a:rPr>
              <a:t>)</a:t>
            </a:r>
          </a:p>
          <a:p>
            <a:pPr marL="742950" lvl="1" indent="-285750" algn="l">
              <a:buFont typeface="Arial" panose="020B0604020202020204" pitchFamily="34" charset="0"/>
              <a:buChar char="•"/>
            </a:pPr>
            <a:r>
              <a:rPr lang="en-US" sz="1200" b="0" i="0" dirty="0" err="1">
                <a:solidFill>
                  <a:srgbClr val="0F1115"/>
                </a:solidFill>
                <a:effectLst/>
                <a:latin typeface="quote-cjk-patch"/>
              </a:rPr>
              <a:t>LinkedHashSet</a:t>
            </a:r>
            <a:r>
              <a:rPr lang="en-US" sz="1200" b="0" i="0" dirty="0">
                <a:solidFill>
                  <a:srgbClr val="0F1115"/>
                </a:solidFill>
                <a:effectLst/>
                <a:latin typeface="quote-cjk-patch"/>
              </a:rPr>
              <a:t>(Collection&lt;? extends E&gt; c)</a:t>
            </a:r>
          </a:p>
          <a:p>
            <a:pPr algn="l">
              <a:buFont typeface="Arial" panose="020B0604020202020204" pitchFamily="34" charset="0"/>
              <a:buChar char="•"/>
            </a:pPr>
            <a:r>
              <a:rPr lang="en-US" sz="1200" b="1" i="0" dirty="0">
                <a:solidFill>
                  <a:srgbClr val="0F1115"/>
                </a:solidFill>
                <a:effectLst/>
                <a:latin typeface="quote-cjk-patch"/>
              </a:rPr>
              <a:t>No additional methods beyond HashSet</a:t>
            </a:r>
            <a:endParaRPr lang="en-US" sz="1200" b="0" i="0" dirty="0">
              <a:solidFill>
                <a:srgbClr val="0F1115"/>
              </a:solidFill>
              <a:effectLst/>
              <a:latin typeface="quote-cjk-patch"/>
            </a:endParaRPr>
          </a:p>
          <a:p>
            <a:pPr algn="l">
              <a:buFont typeface="Arial" panose="020B0604020202020204" pitchFamily="34" charset="0"/>
              <a:buChar char="•"/>
            </a:pPr>
            <a:r>
              <a:rPr lang="en-US" sz="1200" b="1" i="0" dirty="0">
                <a:solidFill>
                  <a:srgbClr val="0F1115"/>
                </a:solidFill>
                <a:effectLst/>
                <a:latin typeface="quote-cjk-patch"/>
              </a:rPr>
              <a:t>Implements all Set methods</a:t>
            </a:r>
            <a:endParaRPr lang="en-US" sz="1200" b="0" i="0" dirty="0">
              <a:solidFill>
                <a:srgbClr val="0F1115"/>
              </a:solidFill>
              <a:effectLst/>
              <a:latin typeface="quote-cjk-patch"/>
            </a:endParaRPr>
          </a:p>
          <a:p>
            <a:pPr algn="l">
              <a:buFont typeface="Arial" panose="020B0604020202020204" pitchFamily="34" charset="0"/>
              <a:buChar char="•"/>
            </a:pPr>
            <a:r>
              <a:rPr lang="en-US" sz="1200" b="1" i="0" dirty="0">
                <a:solidFill>
                  <a:srgbClr val="0F1115"/>
                </a:solidFill>
                <a:effectLst/>
                <a:latin typeface="quote-cjk-patch"/>
              </a:rPr>
              <a:t>Inherits all Collection methods</a:t>
            </a:r>
            <a:endParaRPr lang="en-US" sz="1200" b="0" i="0" dirty="0">
              <a:solidFill>
                <a:srgbClr val="0F1115"/>
              </a:solidFill>
              <a:effectLst/>
              <a:latin typeface="quote-cjk-patch"/>
            </a:endParaRPr>
          </a:p>
          <a:p>
            <a:pPr>
              <a:buNone/>
            </a:pPr>
            <a:br>
              <a:rPr lang="en-US" sz="1200" dirty="0"/>
            </a:br>
            <a:endParaRPr lang="en-US" sz="1200" dirty="0"/>
          </a:p>
        </p:txBody>
      </p:sp>
      <p:sp>
        <p:nvSpPr>
          <p:cNvPr id="13" name="TextBox 12">
            <a:extLst>
              <a:ext uri="{FF2B5EF4-FFF2-40B4-BE49-F238E27FC236}">
                <a16:creationId xmlns:a16="http://schemas.microsoft.com/office/drawing/2014/main" id="{69B923DA-AA52-137F-C98B-5C145FF875A2}"/>
              </a:ext>
            </a:extLst>
          </p:cNvPr>
          <p:cNvSpPr txBox="1"/>
          <p:nvPr/>
        </p:nvSpPr>
        <p:spPr>
          <a:xfrm>
            <a:off x="6820276" y="2881413"/>
            <a:ext cx="4138527" cy="3231654"/>
          </a:xfrm>
          <a:prstGeom prst="rect">
            <a:avLst/>
          </a:prstGeom>
          <a:noFill/>
          <a:ln>
            <a:solidFill>
              <a:srgbClr val="00B050"/>
            </a:solidFill>
          </a:ln>
        </p:spPr>
        <p:txBody>
          <a:bodyPr wrap="square">
            <a:spAutoFit/>
          </a:bodyPr>
          <a:lstStyle/>
          <a:p>
            <a:pPr algn="l">
              <a:buNone/>
            </a:pPr>
            <a:r>
              <a:rPr lang="en-US" sz="1200" b="1" dirty="0" err="1">
                <a:solidFill>
                  <a:srgbClr val="0F1115"/>
                </a:solidFill>
                <a:effectLst/>
                <a:latin typeface="quote-cjk-patch"/>
              </a:rPr>
              <a:t>TreeSet</a:t>
            </a:r>
            <a:r>
              <a:rPr lang="en-US" sz="1200" b="1" dirty="0">
                <a:solidFill>
                  <a:srgbClr val="0F1115"/>
                </a:solidFill>
                <a:effectLst/>
                <a:latin typeface="quote-cjk-patch"/>
              </a:rPr>
              <a:t> Class (implements </a:t>
            </a:r>
            <a:r>
              <a:rPr lang="en-US" sz="1200" b="1" dirty="0" err="1">
                <a:solidFill>
                  <a:srgbClr val="0F1115"/>
                </a:solidFill>
                <a:effectLst/>
                <a:latin typeface="quote-cjk-patch"/>
              </a:rPr>
              <a:t>SortedSet</a:t>
            </a:r>
            <a:r>
              <a:rPr lang="en-US" sz="1200" b="1" dirty="0">
                <a:solidFill>
                  <a:srgbClr val="0F1115"/>
                </a:solidFill>
                <a:effectLst/>
                <a:latin typeface="quote-cjk-patch"/>
              </a:rPr>
              <a:t>)</a:t>
            </a:r>
          </a:p>
          <a:p>
            <a:pPr algn="l">
              <a:buFont typeface="Arial" panose="020B0604020202020204" pitchFamily="34" charset="0"/>
              <a:buChar char="•"/>
            </a:pPr>
            <a:r>
              <a:rPr lang="en-US" sz="1200" b="1" i="0" dirty="0">
                <a:solidFill>
                  <a:srgbClr val="0F1115"/>
                </a:solidFill>
                <a:effectLst/>
                <a:latin typeface="quote-cjk-patch"/>
              </a:rPr>
              <a:t>Constructors:</a:t>
            </a:r>
            <a:endParaRPr lang="en-US" sz="1200" b="0" i="0" dirty="0">
              <a:solidFill>
                <a:srgbClr val="0F1115"/>
              </a:solidFill>
              <a:effectLst/>
              <a:latin typeface="quote-cjk-patch"/>
            </a:endParaRPr>
          </a:p>
          <a:p>
            <a:pPr marL="742950" lvl="1" indent="-285750" algn="l">
              <a:buFont typeface="Arial" panose="020B0604020202020204" pitchFamily="34" charset="0"/>
              <a:buChar char="•"/>
            </a:pPr>
            <a:r>
              <a:rPr lang="en-US" sz="1200" b="0" i="0" dirty="0" err="1">
                <a:solidFill>
                  <a:srgbClr val="0F1115"/>
                </a:solidFill>
                <a:effectLst/>
                <a:latin typeface="quote-cjk-patch"/>
              </a:rPr>
              <a:t>TreeSet</a:t>
            </a:r>
            <a:r>
              <a:rPr lang="en-US" sz="1200" b="0" i="0" dirty="0">
                <a:solidFill>
                  <a:srgbClr val="0F1115"/>
                </a:solidFill>
                <a:effectLst/>
                <a:latin typeface="quote-cjk-patch"/>
              </a:rPr>
              <a:t>()</a:t>
            </a:r>
          </a:p>
          <a:p>
            <a:pPr marL="742950" lvl="1" indent="-285750" algn="l">
              <a:buFont typeface="Arial" panose="020B0604020202020204" pitchFamily="34" charset="0"/>
              <a:buChar char="•"/>
            </a:pPr>
            <a:r>
              <a:rPr lang="en-US" sz="1200" b="0" i="0" dirty="0" err="1">
                <a:solidFill>
                  <a:srgbClr val="0F1115"/>
                </a:solidFill>
                <a:effectLst/>
                <a:latin typeface="quote-cjk-patch"/>
              </a:rPr>
              <a:t>TreeSet</a:t>
            </a:r>
            <a:r>
              <a:rPr lang="en-US" sz="1200" b="0" i="0" dirty="0">
                <a:solidFill>
                  <a:srgbClr val="0F1115"/>
                </a:solidFill>
                <a:effectLst/>
                <a:latin typeface="quote-cjk-patch"/>
              </a:rPr>
              <a:t>(Comparator&lt;? super E&gt; comparator)</a:t>
            </a:r>
          </a:p>
          <a:p>
            <a:pPr marL="742950" lvl="1" indent="-285750" algn="l">
              <a:buFont typeface="Arial" panose="020B0604020202020204" pitchFamily="34" charset="0"/>
              <a:buChar char="•"/>
            </a:pPr>
            <a:r>
              <a:rPr lang="en-US" sz="1200" b="0" i="0" dirty="0" err="1">
                <a:solidFill>
                  <a:srgbClr val="0F1115"/>
                </a:solidFill>
                <a:effectLst/>
                <a:latin typeface="quote-cjk-patch"/>
              </a:rPr>
              <a:t>TreeSet</a:t>
            </a:r>
            <a:r>
              <a:rPr lang="en-US" sz="1200" b="0" i="0" dirty="0">
                <a:solidFill>
                  <a:srgbClr val="0F1115"/>
                </a:solidFill>
                <a:effectLst/>
                <a:latin typeface="quote-cjk-patch"/>
              </a:rPr>
              <a:t>(Collection&lt;? extends E&gt; c)</a:t>
            </a:r>
          </a:p>
          <a:p>
            <a:pPr marL="742950" lvl="1" indent="-285750" algn="l">
              <a:buFont typeface="Arial" panose="020B0604020202020204" pitchFamily="34" charset="0"/>
              <a:buChar char="•"/>
            </a:pPr>
            <a:r>
              <a:rPr lang="en-US" sz="1200" b="0" i="0" dirty="0" err="1">
                <a:solidFill>
                  <a:srgbClr val="0F1115"/>
                </a:solidFill>
                <a:effectLst/>
                <a:latin typeface="quote-cjk-patch"/>
              </a:rPr>
              <a:t>TreeSet</a:t>
            </a:r>
            <a:r>
              <a:rPr lang="en-US" sz="1200" b="0" i="0" dirty="0">
                <a:solidFill>
                  <a:srgbClr val="0F1115"/>
                </a:solidFill>
                <a:effectLst/>
                <a:latin typeface="quote-cjk-patch"/>
              </a:rPr>
              <a:t>(</a:t>
            </a:r>
            <a:r>
              <a:rPr lang="en-US" sz="1200" b="0" i="0" dirty="0" err="1">
                <a:solidFill>
                  <a:srgbClr val="0F1115"/>
                </a:solidFill>
                <a:effectLst/>
                <a:latin typeface="quote-cjk-patch"/>
              </a:rPr>
              <a:t>SortedSet</a:t>
            </a:r>
            <a:r>
              <a:rPr lang="en-US" sz="1200" b="0" i="0" dirty="0">
                <a:solidFill>
                  <a:srgbClr val="0F1115"/>
                </a:solidFill>
                <a:effectLst/>
                <a:latin typeface="Menlo"/>
              </a:rPr>
              <a:t>&lt;E&gt;</a:t>
            </a:r>
            <a:r>
              <a:rPr lang="en-US" sz="1200" b="0" i="0" dirty="0">
                <a:solidFill>
                  <a:srgbClr val="0F1115"/>
                </a:solidFill>
                <a:effectLst/>
                <a:latin typeface="quote-cjk-patch"/>
              </a:rPr>
              <a:t> s)</a:t>
            </a:r>
          </a:p>
          <a:p>
            <a:pPr algn="l">
              <a:buFont typeface="Arial" panose="020B0604020202020204" pitchFamily="34" charset="0"/>
              <a:buChar char="•"/>
            </a:pPr>
            <a:r>
              <a:rPr lang="en-US" sz="1200" b="1" i="0" dirty="0">
                <a:solidFill>
                  <a:srgbClr val="0F1115"/>
                </a:solidFill>
                <a:effectLst/>
                <a:latin typeface="quote-cjk-patch"/>
              </a:rPr>
              <a:t>Additional Navigation Methods:</a:t>
            </a:r>
            <a:endParaRPr lang="en-US" sz="1200" b="0" i="0" dirty="0">
              <a:solidFill>
                <a:srgbClr val="0F1115"/>
              </a:solidFill>
              <a:effectLst/>
              <a:latin typeface="quote-cjk-patch"/>
            </a:endParaRPr>
          </a:p>
          <a:p>
            <a:pPr marL="742950" lvl="1" indent="-285750" algn="l">
              <a:buFont typeface="Arial" panose="020B0604020202020204" pitchFamily="34" charset="0"/>
              <a:buChar char="•"/>
            </a:pPr>
            <a:r>
              <a:rPr lang="en-US" sz="1200" b="0" i="0" dirty="0">
                <a:solidFill>
                  <a:srgbClr val="0F1115"/>
                </a:solidFill>
                <a:effectLst/>
                <a:latin typeface="quote-cjk-patch"/>
              </a:rPr>
              <a:t>ceiling(E e)</a:t>
            </a:r>
          </a:p>
          <a:p>
            <a:pPr marL="742950" lvl="1" indent="-285750" algn="l">
              <a:buFont typeface="Arial" panose="020B0604020202020204" pitchFamily="34" charset="0"/>
              <a:buChar char="•"/>
            </a:pPr>
            <a:r>
              <a:rPr lang="en-US" sz="1200" b="0" i="0" dirty="0">
                <a:solidFill>
                  <a:srgbClr val="0F1115"/>
                </a:solidFill>
                <a:effectLst/>
                <a:latin typeface="quote-cjk-patch"/>
              </a:rPr>
              <a:t>floor(E e)</a:t>
            </a:r>
          </a:p>
          <a:p>
            <a:pPr marL="742950" lvl="1" indent="-285750" algn="l">
              <a:buFont typeface="Arial" panose="020B0604020202020204" pitchFamily="34" charset="0"/>
              <a:buChar char="•"/>
            </a:pPr>
            <a:r>
              <a:rPr lang="en-US" sz="1200" b="0" i="0" dirty="0">
                <a:solidFill>
                  <a:srgbClr val="0F1115"/>
                </a:solidFill>
                <a:effectLst/>
                <a:latin typeface="quote-cjk-patch"/>
              </a:rPr>
              <a:t>higher(E e)</a:t>
            </a:r>
          </a:p>
          <a:p>
            <a:pPr marL="742950" lvl="1" indent="-285750" algn="l">
              <a:buFont typeface="Arial" panose="020B0604020202020204" pitchFamily="34" charset="0"/>
              <a:buChar char="•"/>
            </a:pPr>
            <a:r>
              <a:rPr lang="en-US" sz="1200" b="0" i="0" dirty="0">
                <a:solidFill>
                  <a:srgbClr val="0F1115"/>
                </a:solidFill>
                <a:effectLst/>
                <a:latin typeface="quote-cjk-patch"/>
              </a:rPr>
              <a:t>lower(E e)</a:t>
            </a:r>
          </a:p>
          <a:p>
            <a:pPr marL="742950" lvl="1" indent="-285750" algn="l">
              <a:buFont typeface="Arial" panose="020B0604020202020204" pitchFamily="34" charset="0"/>
              <a:buChar char="•"/>
            </a:pPr>
            <a:r>
              <a:rPr lang="en-US" sz="1200" b="0" i="0" dirty="0" err="1">
                <a:solidFill>
                  <a:srgbClr val="0F1115"/>
                </a:solidFill>
                <a:effectLst/>
                <a:latin typeface="quote-cjk-patch"/>
              </a:rPr>
              <a:t>pollFirst</a:t>
            </a:r>
            <a:r>
              <a:rPr lang="en-US" sz="1200" b="0" i="0" dirty="0">
                <a:solidFill>
                  <a:srgbClr val="0F1115"/>
                </a:solidFill>
                <a:effectLst/>
                <a:latin typeface="quote-cjk-patch"/>
              </a:rPr>
              <a:t>()</a:t>
            </a:r>
          </a:p>
          <a:p>
            <a:pPr marL="742950" lvl="1" indent="-285750" algn="l">
              <a:buFont typeface="Arial" panose="020B0604020202020204" pitchFamily="34" charset="0"/>
              <a:buChar char="•"/>
            </a:pPr>
            <a:r>
              <a:rPr lang="en-US" sz="1200" b="0" i="0" dirty="0" err="1">
                <a:solidFill>
                  <a:srgbClr val="0F1115"/>
                </a:solidFill>
                <a:effectLst/>
                <a:latin typeface="quote-cjk-patch"/>
              </a:rPr>
              <a:t>pollLast</a:t>
            </a:r>
            <a:r>
              <a:rPr lang="en-US" sz="1200" b="0" i="0" dirty="0">
                <a:solidFill>
                  <a:srgbClr val="0F1115"/>
                </a:solidFill>
                <a:effectLst/>
                <a:latin typeface="quote-cjk-patch"/>
              </a:rPr>
              <a:t>()</a:t>
            </a:r>
          </a:p>
          <a:p>
            <a:pPr marL="742950" lvl="1" indent="-285750" algn="l">
              <a:buFont typeface="Arial" panose="020B0604020202020204" pitchFamily="34" charset="0"/>
              <a:buChar char="•"/>
            </a:pPr>
            <a:r>
              <a:rPr lang="en-US" sz="1200" b="0" i="0" dirty="0" err="1">
                <a:solidFill>
                  <a:srgbClr val="0F1115"/>
                </a:solidFill>
                <a:effectLst/>
                <a:latin typeface="quote-cjk-patch"/>
              </a:rPr>
              <a:t>descendingSet</a:t>
            </a:r>
            <a:r>
              <a:rPr lang="en-US" sz="1200" b="0" i="0" dirty="0">
                <a:solidFill>
                  <a:srgbClr val="0F1115"/>
                </a:solidFill>
                <a:effectLst/>
                <a:latin typeface="quote-cjk-patch"/>
              </a:rPr>
              <a:t>()</a:t>
            </a:r>
          </a:p>
          <a:p>
            <a:pPr marL="742950" lvl="1" indent="-285750" algn="l">
              <a:buFont typeface="Arial" panose="020B0604020202020204" pitchFamily="34" charset="0"/>
              <a:buChar char="•"/>
            </a:pPr>
            <a:r>
              <a:rPr lang="en-US" sz="1200" b="0" i="0" dirty="0" err="1">
                <a:solidFill>
                  <a:srgbClr val="0F1115"/>
                </a:solidFill>
                <a:effectLst/>
                <a:latin typeface="quote-cjk-patch"/>
              </a:rPr>
              <a:t>descendingIterator</a:t>
            </a:r>
            <a:r>
              <a:rPr lang="en-US" sz="1200" b="0" i="0" dirty="0">
                <a:solidFill>
                  <a:srgbClr val="0F1115"/>
                </a:solidFill>
                <a:effectLst/>
                <a:latin typeface="quote-cjk-patch"/>
              </a:rPr>
              <a:t>()</a:t>
            </a:r>
          </a:p>
          <a:p>
            <a:pPr algn="l">
              <a:buFont typeface="Arial" panose="020B0604020202020204" pitchFamily="34" charset="0"/>
              <a:buChar char="•"/>
            </a:pPr>
            <a:r>
              <a:rPr lang="en-US" sz="1200" b="1" i="0" dirty="0">
                <a:solidFill>
                  <a:srgbClr val="0F1115"/>
                </a:solidFill>
                <a:effectLst/>
                <a:latin typeface="quote-cjk-patch"/>
              </a:rPr>
              <a:t>Implements all </a:t>
            </a:r>
            <a:r>
              <a:rPr lang="en-US" sz="1200" b="1" i="0" dirty="0" err="1">
                <a:solidFill>
                  <a:srgbClr val="0F1115"/>
                </a:solidFill>
                <a:effectLst/>
                <a:latin typeface="quote-cjk-patch"/>
              </a:rPr>
              <a:t>SortedSet</a:t>
            </a:r>
            <a:r>
              <a:rPr lang="en-US" sz="1200" b="1" i="0" dirty="0">
                <a:solidFill>
                  <a:srgbClr val="0F1115"/>
                </a:solidFill>
                <a:effectLst/>
                <a:latin typeface="quote-cjk-patch"/>
              </a:rPr>
              <a:t> and Set methods</a:t>
            </a:r>
            <a:endParaRPr lang="en-US" sz="1200" b="0" i="0" dirty="0">
              <a:solidFill>
                <a:srgbClr val="0F1115"/>
              </a:solidFill>
              <a:effectLst/>
              <a:latin typeface="quote-cjk-patch"/>
            </a:endParaRPr>
          </a:p>
          <a:p>
            <a:pPr algn="l">
              <a:buFont typeface="Arial" panose="020B0604020202020204" pitchFamily="34" charset="0"/>
              <a:buChar char="•"/>
            </a:pPr>
            <a:r>
              <a:rPr lang="en-US" sz="1200" b="1" i="0" dirty="0">
                <a:solidFill>
                  <a:srgbClr val="0F1115"/>
                </a:solidFill>
                <a:effectLst/>
                <a:latin typeface="quote-cjk-patch"/>
              </a:rPr>
              <a:t>Inherits all Collection methods</a:t>
            </a:r>
            <a:endParaRPr lang="en-US" sz="1200" b="0" i="0" dirty="0">
              <a:solidFill>
                <a:srgbClr val="0F1115"/>
              </a:solidFill>
              <a:effectLst/>
              <a:latin typeface="quote-cjk-patch"/>
            </a:endParaRPr>
          </a:p>
        </p:txBody>
      </p:sp>
      <p:sp>
        <p:nvSpPr>
          <p:cNvPr id="15" name="TextBox 14">
            <a:extLst>
              <a:ext uri="{FF2B5EF4-FFF2-40B4-BE49-F238E27FC236}">
                <a16:creationId xmlns:a16="http://schemas.microsoft.com/office/drawing/2014/main" id="{0A8896BA-BF0F-B157-7FBD-E699F7D4345F}"/>
              </a:ext>
            </a:extLst>
          </p:cNvPr>
          <p:cNvSpPr txBox="1"/>
          <p:nvPr/>
        </p:nvSpPr>
        <p:spPr>
          <a:xfrm>
            <a:off x="6666322" y="421769"/>
            <a:ext cx="4138527" cy="1938992"/>
          </a:xfrm>
          <a:prstGeom prst="rect">
            <a:avLst/>
          </a:prstGeom>
          <a:noFill/>
          <a:ln>
            <a:solidFill>
              <a:srgbClr val="00B050"/>
            </a:solidFill>
          </a:ln>
        </p:spPr>
        <p:txBody>
          <a:bodyPr wrap="square">
            <a:spAutoFit/>
          </a:bodyPr>
          <a:lstStyle/>
          <a:p>
            <a:pPr algn="l">
              <a:buNone/>
            </a:pPr>
            <a:r>
              <a:rPr lang="en-US" sz="1200" b="1" dirty="0" err="1">
                <a:solidFill>
                  <a:srgbClr val="0F1115"/>
                </a:solidFill>
                <a:effectLst/>
                <a:latin typeface="quote-cjk-patch"/>
              </a:rPr>
              <a:t>SortedSet</a:t>
            </a:r>
            <a:r>
              <a:rPr lang="en-US" sz="1200" b="1" dirty="0">
                <a:solidFill>
                  <a:srgbClr val="0F1115"/>
                </a:solidFill>
                <a:effectLst/>
                <a:latin typeface="quote-cjk-patch"/>
              </a:rPr>
              <a:t> Interface (extends Set)</a:t>
            </a:r>
          </a:p>
          <a:p>
            <a:pPr algn="l">
              <a:buFont typeface="Arial" panose="020B0604020202020204" pitchFamily="34" charset="0"/>
              <a:buChar char="•"/>
            </a:pPr>
            <a:r>
              <a:rPr lang="en-US" sz="1200" b="1" i="0" dirty="0">
                <a:solidFill>
                  <a:srgbClr val="0F1115"/>
                </a:solidFill>
                <a:effectLst/>
                <a:latin typeface="quote-cjk-patch"/>
              </a:rPr>
              <a:t>Range-view:</a:t>
            </a:r>
            <a:endParaRPr lang="en-US" sz="1200" b="0" i="0" dirty="0">
              <a:solidFill>
                <a:srgbClr val="0F1115"/>
              </a:solidFill>
              <a:effectLst/>
              <a:latin typeface="quote-cjk-patch"/>
            </a:endParaRPr>
          </a:p>
          <a:p>
            <a:pPr marL="742950" lvl="1" indent="-285750" algn="l">
              <a:buFont typeface="Arial" panose="020B0604020202020204" pitchFamily="34" charset="0"/>
              <a:buChar char="•"/>
            </a:pPr>
            <a:r>
              <a:rPr lang="en-US" sz="1200" b="0" i="0" dirty="0" err="1">
                <a:solidFill>
                  <a:srgbClr val="0F1115"/>
                </a:solidFill>
                <a:effectLst/>
                <a:latin typeface="quote-cjk-patch"/>
              </a:rPr>
              <a:t>subSet</a:t>
            </a:r>
            <a:r>
              <a:rPr lang="en-US" sz="1200" b="0" i="0" dirty="0">
                <a:solidFill>
                  <a:srgbClr val="0F1115"/>
                </a:solidFill>
                <a:effectLst/>
                <a:latin typeface="quote-cjk-patch"/>
              </a:rPr>
              <a:t>(E </a:t>
            </a:r>
            <a:r>
              <a:rPr lang="en-US" sz="1200" b="0" i="0" dirty="0" err="1">
                <a:solidFill>
                  <a:srgbClr val="0F1115"/>
                </a:solidFill>
                <a:effectLst/>
                <a:latin typeface="quote-cjk-patch"/>
              </a:rPr>
              <a:t>fromElement</a:t>
            </a:r>
            <a:r>
              <a:rPr lang="en-US" sz="1200" b="0" i="0" dirty="0">
                <a:solidFill>
                  <a:srgbClr val="0F1115"/>
                </a:solidFill>
                <a:effectLst/>
                <a:latin typeface="quote-cjk-patch"/>
              </a:rPr>
              <a:t>, E </a:t>
            </a:r>
            <a:r>
              <a:rPr lang="en-US" sz="1200" b="0" i="0" dirty="0" err="1">
                <a:solidFill>
                  <a:srgbClr val="0F1115"/>
                </a:solidFill>
                <a:effectLst/>
                <a:latin typeface="quote-cjk-patch"/>
              </a:rPr>
              <a:t>toElement</a:t>
            </a:r>
            <a:r>
              <a:rPr lang="en-US" sz="1200" b="0" i="0" dirty="0">
                <a:solidFill>
                  <a:srgbClr val="0F1115"/>
                </a:solidFill>
                <a:effectLst/>
                <a:latin typeface="quote-cjk-patch"/>
              </a:rPr>
              <a:t>)</a:t>
            </a:r>
          </a:p>
          <a:p>
            <a:pPr marL="742950" lvl="1" indent="-285750" algn="l">
              <a:buFont typeface="Arial" panose="020B0604020202020204" pitchFamily="34" charset="0"/>
              <a:buChar char="•"/>
            </a:pPr>
            <a:r>
              <a:rPr lang="en-US" sz="1200" b="0" i="0" dirty="0" err="1">
                <a:solidFill>
                  <a:srgbClr val="0F1115"/>
                </a:solidFill>
                <a:effectLst/>
                <a:latin typeface="quote-cjk-patch"/>
              </a:rPr>
              <a:t>headSet</a:t>
            </a:r>
            <a:r>
              <a:rPr lang="en-US" sz="1200" b="0" i="0" dirty="0">
                <a:solidFill>
                  <a:srgbClr val="0F1115"/>
                </a:solidFill>
                <a:effectLst/>
                <a:latin typeface="quote-cjk-patch"/>
              </a:rPr>
              <a:t>(E </a:t>
            </a:r>
            <a:r>
              <a:rPr lang="en-US" sz="1200" b="0" i="0" dirty="0" err="1">
                <a:solidFill>
                  <a:srgbClr val="0F1115"/>
                </a:solidFill>
                <a:effectLst/>
                <a:latin typeface="quote-cjk-patch"/>
              </a:rPr>
              <a:t>toElement</a:t>
            </a:r>
            <a:r>
              <a:rPr lang="en-US" sz="1200" b="0" i="0" dirty="0">
                <a:solidFill>
                  <a:srgbClr val="0F1115"/>
                </a:solidFill>
                <a:effectLst/>
                <a:latin typeface="quote-cjk-patch"/>
              </a:rPr>
              <a:t>)</a:t>
            </a:r>
          </a:p>
          <a:p>
            <a:pPr marL="742950" lvl="1" indent="-285750" algn="l">
              <a:buFont typeface="Arial" panose="020B0604020202020204" pitchFamily="34" charset="0"/>
              <a:buChar char="•"/>
            </a:pPr>
            <a:r>
              <a:rPr lang="en-US" sz="1200" b="0" i="0" dirty="0" err="1">
                <a:solidFill>
                  <a:srgbClr val="0F1115"/>
                </a:solidFill>
                <a:effectLst/>
                <a:latin typeface="quote-cjk-patch"/>
              </a:rPr>
              <a:t>tailSet</a:t>
            </a:r>
            <a:r>
              <a:rPr lang="en-US" sz="1200" b="0" i="0" dirty="0">
                <a:solidFill>
                  <a:srgbClr val="0F1115"/>
                </a:solidFill>
                <a:effectLst/>
                <a:latin typeface="quote-cjk-patch"/>
              </a:rPr>
              <a:t>(E </a:t>
            </a:r>
            <a:r>
              <a:rPr lang="en-US" sz="1200" b="0" i="0" dirty="0" err="1">
                <a:solidFill>
                  <a:srgbClr val="0F1115"/>
                </a:solidFill>
                <a:effectLst/>
                <a:latin typeface="quote-cjk-patch"/>
              </a:rPr>
              <a:t>fromElement</a:t>
            </a:r>
            <a:r>
              <a:rPr lang="en-US" sz="1200" b="0" i="0" dirty="0">
                <a:solidFill>
                  <a:srgbClr val="0F1115"/>
                </a:solidFill>
                <a:effectLst/>
                <a:latin typeface="quote-cjk-patch"/>
              </a:rPr>
              <a:t>)</a:t>
            </a:r>
          </a:p>
          <a:p>
            <a:pPr algn="l">
              <a:buFont typeface="Arial" panose="020B0604020202020204" pitchFamily="34" charset="0"/>
              <a:buChar char="•"/>
            </a:pPr>
            <a:r>
              <a:rPr lang="en-US" sz="1200" b="1" i="0" dirty="0">
                <a:solidFill>
                  <a:srgbClr val="0F1115"/>
                </a:solidFill>
                <a:effectLst/>
                <a:latin typeface="quote-cjk-patch"/>
              </a:rPr>
              <a:t>Endpoints:</a:t>
            </a:r>
            <a:endParaRPr lang="en-US" sz="1200" b="0" i="0" dirty="0">
              <a:solidFill>
                <a:srgbClr val="0F1115"/>
              </a:solidFill>
              <a:effectLst/>
              <a:latin typeface="quote-cjk-patch"/>
            </a:endParaRPr>
          </a:p>
          <a:p>
            <a:pPr marL="742950" lvl="1" indent="-285750" algn="l">
              <a:buFont typeface="Arial" panose="020B0604020202020204" pitchFamily="34" charset="0"/>
              <a:buChar char="•"/>
            </a:pPr>
            <a:r>
              <a:rPr lang="en-US" sz="1200" b="0" i="0" dirty="0">
                <a:solidFill>
                  <a:srgbClr val="0F1115"/>
                </a:solidFill>
                <a:effectLst/>
                <a:latin typeface="quote-cjk-patch"/>
              </a:rPr>
              <a:t>first()</a:t>
            </a:r>
          </a:p>
          <a:p>
            <a:pPr marL="742950" lvl="1" indent="-285750" algn="l">
              <a:buFont typeface="Arial" panose="020B0604020202020204" pitchFamily="34" charset="0"/>
              <a:buChar char="•"/>
            </a:pPr>
            <a:r>
              <a:rPr lang="en-US" sz="1200" b="0" i="0" dirty="0">
                <a:solidFill>
                  <a:srgbClr val="0F1115"/>
                </a:solidFill>
                <a:effectLst/>
                <a:latin typeface="quote-cjk-patch"/>
              </a:rPr>
              <a:t>last()</a:t>
            </a:r>
          </a:p>
          <a:p>
            <a:pPr algn="l">
              <a:buFont typeface="Arial" panose="020B0604020202020204" pitchFamily="34" charset="0"/>
              <a:buChar char="•"/>
            </a:pPr>
            <a:r>
              <a:rPr lang="en-US" sz="1200" b="1" i="0" dirty="0">
                <a:solidFill>
                  <a:srgbClr val="0F1115"/>
                </a:solidFill>
                <a:effectLst/>
                <a:latin typeface="quote-cjk-patch"/>
              </a:rPr>
              <a:t>Comparator Access:</a:t>
            </a:r>
            <a:endParaRPr lang="en-US" sz="1200" b="0" i="0" dirty="0">
              <a:solidFill>
                <a:srgbClr val="0F1115"/>
              </a:solidFill>
              <a:effectLst/>
              <a:latin typeface="quote-cjk-patch"/>
            </a:endParaRPr>
          </a:p>
          <a:p>
            <a:pPr marL="742950" lvl="1" indent="-285750" algn="l">
              <a:buFont typeface="Arial" panose="020B0604020202020204" pitchFamily="34" charset="0"/>
              <a:buChar char="•"/>
            </a:pPr>
            <a:r>
              <a:rPr lang="en-US" sz="1200" b="0" i="0" dirty="0">
                <a:solidFill>
                  <a:srgbClr val="0F1115"/>
                </a:solidFill>
                <a:effectLst/>
                <a:latin typeface="quote-cjk-patch"/>
              </a:rPr>
              <a:t>comparator()</a:t>
            </a:r>
            <a:endParaRPr lang="en-US" sz="1200" dirty="0"/>
          </a:p>
        </p:txBody>
      </p:sp>
    </p:spTree>
    <p:extLst>
      <p:ext uri="{BB962C8B-B14F-4D97-AF65-F5344CB8AC3E}">
        <p14:creationId xmlns:p14="http://schemas.microsoft.com/office/powerpoint/2010/main" val="1458604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5636893-2EB5-AB49-5A55-1839B812A868}"/>
              </a:ext>
            </a:extLst>
          </p:cNvPr>
          <p:cNvSpPr txBox="1"/>
          <p:nvPr/>
        </p:nvSpPr>
        <p:spPr>
          <a:xfrm>
            <a:off x="102959" y="347233"/>
            <a:ext cx="6549632" cy="5632311"/>
          </a:xfrm>
          <a:prstGeom prst="rect">
            <a:avLst/>
          </a:prstGeom>
          <a:noFill/>
          <a:ln>
            <a:solidFill>
              <a:schemeClr val="bg1">
                <a:lumMod val="65000"/>
              </a:schemeClr>
            </a:solidFill>
          </a:ln>
        </p:spPr>
        <p:txBody>
          <a:bodyPr wrap="square">
            <a:spAutoFit/>
          </a:bodyPr>
          <a:lstStyle/>
          <a:p>
            <a:pPr algn="l">
              <a:buNone/>
            </a:pPr>
            <a:r>
              <a:rPr lang="en-US" sz="1200" b="1" dirty="0">
                <a:solidFill>
                  <a:srgbClr val="0F1115"/>
                </a:solidFill>
                <a:effectLst/>
                <a:latin typeface="quote-cjk-patch"/>
              </a:rPr>
              <a:t>Map Interface</a:t>
            </a:r>
          </a:p>
          <a:p>
            <a:pPr algn="l">
              <a:buFont typeface="Arial" panose="020B0604020202020204" pitchFamily="34" charset="0"/>
              <a:buChar char="•"/>
            </a:pPr>
            <a:r>
              <a:rPr lang="en-US" sz="1200" b="1" i="0" dirty="0">
                <a:solidFill>
                  <a:srgbClr val="0F1115"/>
                </a:solidFill>
                <a:effectLst/>
                <a:latin typeface="quote-cjk-patch"/>
              </a:rPr>
              <a:t>Basic Operations:</a:t>
            </a:r>
            <a:endParaRPr lang="en-US" sz="1200" b="0" i="0" dirty="0">
              <a:solidFill>
                <a:srgbClr val="0F1115"/>
              </a:solidFill>
              <a:effectLst/>
              <a:latin typeface="quote-cjk-patch"/>
            </a:endParaRPr>
          </a:p>
          <a:p>
            <a:pPr marL="742950" lvl="1" indent="-285750" algn="l">
              <a:buFont typeface="Arial" panose="020B0604020202020204" pitchFamily="34" charset="0"/>
              <a:buChar char="•"/>
            </a:pPr>
            <a:r>
              <a:rPr lang="en-US" sz="1200" b="0" i="0" dirty="0">
                <a:solidFill>
                  <a:srgbClr val="0F1115"/>
                </a:solidFill>
                <a:effectLst/>
                <a:latin typeface="quote-cjk-patch"/>
              </a:rPr>
              <a:t>put(K key, V value)</a:t>
            </a:r>
          </a:p>
          <a:p>
            <a:pPr marL="742950" lvl="1" indent="-285750" algn="l">
              <a:buFont typeface="Arial" panose="020B0604020202020204" pitchFamily="34" charset="0"/>
              <a:buChar char="•"/>
            </a:pPr>
            <a:r>
              <a:rPr lang="en-US" sz="1200" b="0" i="0" dirty="0">
                <a:solidFill>
                  <a:srgbClr val="0F1115"/>
                </a:solidFill>
                <a:effectLst/>
                <a:latin typeface="quote-cjk-patch"/>
              </a:rPr>
              <a:t>get(Object key)</a:t>
            </a:r>
          </a:p>
          <a:p>
            <a:pPr marL="742950" lvl="1" indent="-285750" algn="l">
              <a:buFont typeface="Arial" panose="020B0604020202020204" pitchFamily="34" charset="0"/>
              <a:buChar char="•"/>
            </a:pPr>
            <a:r>
              <a:rPr lang="en-US" sz="1200" b="0" i="0" dirty="0">
                <a:solidFill>
                  <a:srgbClr val="0F1115"/>
                </a:solidFill>
                <a:effectLst/>
                <a:latin typeface="quote-cjk-patch"/>
              </a:rPr>
              <a:t>remove(Object key)</a:t>
            </a:r>
          </a:p>
          <a:p>
            <a:pPr marL="742950" lvl="1" indent="-285750" algn="l">
              <a:buFont typeface="Arial" panose="020B0604020202020204" pitchFamily="34" charset="0"/>
              <a:buChar char="•"/>
            </a:pPr>
            <a:r>
              <a:rPr lang="en-US" sz="1200" b="0" i="0" dirty="0" err="1">
                <a:solidFill>
                  <a:srgbClr val="0F1115"/>
                </a:solidFill>
                <a:effectLst/>
                <a:latin typeface="quote-cjk-patch"/>
              </a:rPr>
              <a:t>containsKey</a:t>
            </a:r>
            <a:r>
              <a:rPr lang="en-US" sz="1200" b="0" i="0" dirty="0">
                <a:solidFill>
                  <a:srgbClr val="0F1115"/>
                </a:solidFill>
                <a:effectLst/>
                <a:latin typeface="quote-cjk-patch"/>
              </a:rPr>
              <a:t>(Object key)</a:t>
            </a:r>
          </a:p>
          <a:p>
            <a:pPr marL="742950" lvl="1" indent="-285750" algn="l">
              <a:buFont typeface="Arial" panose="020B0604020202020204" pitchFamily="34" charset="0"/>
              <a:buChar char="•"/>
            </a:pPr>
            <a:r>
              <a:rPr lang="en-US" sz="1200" b="0" i="0" dirty="0" err="1">
                <a:solidFill>
                  <a:srgbClr val="0F1115"/>
                </a:solidFill>
                <a:effectLst/>
                <a:latin typeface="quote-cjk-patch"/>
              </a:rPr>
              <a:t>containsValue</a:t>
            </a:r>
            <a:r>
              <a:rPr lang="en-US" sz="1200" b="0" i="0" dirty="0">
                <a:solidFill>
                  <a:srgbClr val="0F1115"/>
                </a:solidFill>
                <a:effectLst/>
                <a:latin typeface="quote-cjk-patch"/>
              </a:rPr>
              <a:t>(Object value)</a:t>
            </a:r>
          </a:p>
          <a:p>
            <a:pPr marL="742950" lvl="1" indent="-285750" algn="l">
              <a:buFont typeface="Arial" panose="020B0604020202020204" pitchFamily="34" charset="0"/>
              <a:buChar char="•"/>
            </a:pPr>
            <a:r>
              <a:rPr lang="en-US" sz="1200" b="0" i="0" dirty="0">
                <a:solidFill>
                  <a:srgbClr val="0F1115"/>
                </a:solidFill>
                <a:effectLst/>
                <a:latin typeface="quote-cjk-patch"/>
              </a:rPr>
              <a:t>size()</a:t>
            </a:r>
          </a:p>
          <a:p>
            <a:pPr marL="742950" lvl="1" indent="-285750" algn="l">
              <a:buFont typeface="Arial" panose="020B0604020202020204" pitchFamily="34" charset="0"/>
              <a:buChar char="•"/>
            </a:pPr>
            <a:r>
              <a:rPr lang="en-US" sz="1200" b="0" i="0" dirty="0" err="1">
                <a:solidFill>
                  <a:srgbClr val="0F1115"/>
                </a:solidFill>
                <a:effectLst/>
                <a:latin typeface="quote-cjk-patch"/>
              </a:rPr>
              <a:t>isEmpty</a:t>
            </a:r>
            <a:r>
              <a:rPr lang="en-US" sz="1200" b="0" i="0" dirty="0">
                <a:solidFill>
                  <a:srgbClr val="0F1115"/>
                </a:solidFill>
                <a:effectLst/>
                <a:latin typeface="quote-cjk-patch"/>
              </a:rPr>
              <a:t>()</a:t>
            </a:r>
          </a:p>
          <a:p>
            <a:pPr marL="742950" lvl="1" indent="-285750" algn="l">
              <a:buFont typeface="Arial" panose="020B0604020202020204" pitchFamily="34" charset="0"/>
              <a:buChar char="•"/>
            </a:pPr>
            <a:r>
              <a:rPr lang="en-US" sz="1200" b="0" i="0" dirty="0">
                <a:solidFill>
                  <a:srgbClr val="0F1115"/>
                </a:solidFill>
                <a:effectLst/>
                <a:latin typeface="quote-cjk-patch"/>
              </a:rPr>
              <a:t>clear()</a:t>
            </a:r>
          </a:p>
          <a:p>
            <a:pPr algn="l">
              <a:buFont typeface="Arial" panose="020B0604020202020204" pitchFamily="34" charset="0"/>
              <a:buChar char="•"/>
            </a:pPr>
            <a:r>
              <a:rPr lang="en-US" sz="1200" b="1" i="0" dirty="0">
                <a:solidFill>
                  <a:srgbClr val="0F1115"/>
                </a:solidFill>
                <a:effectLst/>
                <a:latin typeface="quote-cjk-patch"/>
              </a:rPr>
              <a:t>Bulk Operations:</a:t>
            </a:r>
            <a:endParaRPr lang="en-US" sz="1200" b="0" i="0" dirty="0">
              <a:solidFill>
                <a:srgbClr val="0F1115"/>
              </a:solidFill>
              <a:effectLst/>
              <a:latin typeface="quote-cjk-patch"/>
            </a:endParaRPr>
          </a:p>
          <a:p>
            <a:pPr marL="742950" lvl="1" indent="-285750" algn="l">
              <a:buFont typeface="Arial" panose="020B0604020202020204" pitchFamily="34" charset="0"/>
              <a:buChar char="•"/>
            </a:pPr>
            <a:r>
              <a:rPr lang="en-US" sz="1200" b="0" i="0" dirty="0" err="1">
                <a:solidFill>
                  <a:srgbClr val="0F1115"/>
                </a:solidFill>
                <a:effectLst/>
                <a:latin typeface="quote-cjk-patch"/>
              </a:rPr>
              <a:t>putAll</a:t>
            </a:r>
            <a:r>
              <a:rPr lang="en-US" sz="1200" b="0" i="0" dirty="0">
                <a:solidFill>
                  <a:srgbClr val="0F1115"/>
                </a:solidFill>
                <a:effectLst/>
                <a:latin typeface="quote-cjk-patch"/>
              </a:rPr>
              <a:t>(Map&lt;? extends K, ? extends V&gt; m)</a:t>
            </a:r>
          </a:p>
          <a:p>
            <a:pPr algn="l">
              <a:buFont typeface="Arial" panose="020B0604020202020204" pitchFamily="34" charset="0"/>
              <a:buChar char="•"/>
            </a:pPr>
            <a:r>
              <a:rPr lang="en-US" sz="1200" b="1" i="0" dirty="0">
                <a:solidFill>
                  <a:srgbClr val="0F1115"/>
                </a:solidFill>
                <a:effectLst/>
                <a:latin typeface="quote-cjk-patch"/>
              </a:rPr>
              <a:t>Collection Views:</a:t>
            </a:r>
            <a:endParaRPr lang="en-US" sz="1200" b="0" i="0" dirty="0">
              <a:solidFill>
                <a:srgbClr val="0F1115"/>
              </a:solidFill>
              <a:effectLst/>
              <a:latin typeface="quote-cjk-patch"/>
            </a:endParaRPr>
          </a:p>
          <a:p>
            <a:pPr marL="742950" lvl="1" indent="-285750" algn="l">
              <a:buFont typeface="Arial" panose="020B0604020202020204" pitchFamily="34" charset="0"/>
              <a:buChar char="•"/>
            </a:pPr>
            <a:r>
              <a:rPr lang="en-US" sz="1200" b="0" i="0" dirty="0" err="1">
                <a:solidFill>
                  <a:srgbClr val="0F1115"/>
                </a:solidFill>
                <a:effectLst/>
                <a:latin typeface="quote-cjk-patch"/>
              </a:rPr>
              <a:t>keySet</a:t>
            </a:r>
            <a:r>
              <a:rPr lang="en-US" sz="1200" b="0" i="0" dirty="0">
                <a:solidFill>
                  <a:srgbClr val="0F1115"/>
                </a:solidFill>
                <a:effectLst/>
                <a:latin typeface="quote-cjk-patch"/>
              </a:rPr>
              <a:t>()</a:t>
            </a:r>
          </a:p>
          <a:p>
            <a:pPr marL="742950" lvl="1" indent="-285750" algn="l">
              <a:buFont typeface="Arial" panose="020B0604020202020204" pitchFamily="34" charset="0"/>
              <a:buChar char="•"/>
            </a:pPr>
            <a:r>
              <a:rPr lang="en-US" sz="1200" b="0" i="0" dirty="0">
                <a:solidFill>
                  <a:srgbClr val="0F1115"/>
                </a:solidFill>
                <a:effectLst/>
                <a:latin typeface="quote-cjk-patch"/>
              </a:rPr>
              <a:t>values()</a:t>
            </a:r>
          </a:p>
          <a:p>
            <a:pPr marL="742950" lvl="1" indent="-285750" algn="l">
              <a:buFont typeface="Arial" panose="020B0604020202020204" pitchFamily="34" charset="0"/>
              <a:buChar char="•"/>
            </a:pPr>
            <a:r>
              <a:rPr lang="en-US" sz="1200" b="0" i="0" dirty="0" err="1">
                <a:solidFill>
                  <a:srgbClr val="0F1115"/>
                </a:solidFill>
                <a:effectLst/>
                <a:latin typeface="quote-cjk-patch"/>
              </a:rPr>
              <a:t>entrySet</a:t>
            </a:r>
            <a:r>
              <a:rPr lang="en-US" sz="1200" b="0" i="0" dirty="0">
                <a:solidFill>
                  <a:srgbClr val="0F1115"/>
                </a:solidFill>
                <a:effectLst/>
                <a:latin typeface="quote-cjk-patch"/>
              </a:rPr>
              <a:t>()</a:t>
            </a:r>
          </a:p>
          <a:p>
            <a:pPr algn="l">
              <a:buFont typeface="Arial" panose="020B0604020202020204" pitchFamily="34" charset="0"/>
              <a:buChar char="•"/>
            </a:pPr>
            <a:r>
              <a:rPr lang="en-US" sz="1200" b="1" i="0" dirty="0">
                <a:solidFill>
                  <a:srgbClr val="0F1115"/>
                </a:solidFill>
                <a:effectLst/>
                <a:latin typeface="quote-cjk-patch"/>
              </a:rPr>
              <a:t>Default Methods (Java 8+):</a:t>
            </a:r>
            <a:endParaRPr lang="en-US" sz="1200" b="0" i="0" dirty="0">
              <a:solidFill>
                <a:srgbClr val="0F1115"/>
              </a:solidFill>
              <a:effectLst/>
              <a:latin typeface="quote-cjk-patch"/>
            </a:endParaRPr>
          </a:p>
          <a:p>
            <a:pPr marL="742950" lvl="1" indent="-285750" algn="l">
              <a:buFont typeface="Arial" panose="020B0604020202020204" pitchFamily="34" charset="0"/>
              <a:buChar char="•"/>
            </a:pPr>
            <a:r>
              <a:rPr lang="en-US" sz="1200" b="0" i="0" dirty="0" err="1">
                <a:solidFill>
                  <a:srgbClr val="0F1115"/>
                </a:solidFill>
                <a:effectLst/>
                <a:latin typeface="quote-cjk-patch"/>
              </a:rPr>
              <a:t>getOrDefault</a:t>
            </a:r>
            <a:r>
              <a:rPr lang="en-US" sz="1200" b="0" i="0" dirty="0">
                <a:solidFill>
                  <a:srgbClr val="0F1115"/>
                </a:solidFill>
                <a:effectLst/>
                <a:latin typeface="quote-cjk-patch"/>
              </a:rPr>
              <a:t>(Object key, V </a:t>
            </a:r>
            <a:r>
              <a:rPr lang="en-US" sz="1200" b="0" i="0" dirty="0" err="1">
                <a:solidFill>
                  <a:srgbClr val="0F1115"/>
                </a:solidFill>
                <a:effectLst/>
                <a:latin typeface="quote-cjk-patch"/>
              </a:rPr>
              <a:t>defaultValue</a:t>
            </a:r>
            <a:r>
              <a:rPr lang="en-US" sz="1200" b="0" i="0" dirty="0">
                <a:solidFill>
                  <a:srgbClr val="0F1115"/>
                </a:solidFill>
                <a:effectLst/>
                <a:latin typeface="quote-cjk-patch"/>
              </a:rPr>
              <a:t>)</a:t>
            </a:r>
          </a:p>
          <a:p>
            <a:pPr marL="742950" lvl="1" indent="-285750" algn="l">
              <a:buFont typeface="Arial" panose="020B0604020202020204" pitchFamily="34" charset="0"/>
              <a:buChar char="•"/>
            </a:pPr>
            <a:r>
              <a:rPr lang="en-US" sz="1200" b="0" i="0" dirty="0" err="1">
                <a:solidFill>
                  <a:srgbClr val="0F1115"/>
                </a:solidFill>
                <a:effectLst/>
                <a:latin typeface="quote-cjk-patch"/>
              </a:rPr>
              <a:t>putIfAbsent</a:t>
            </a:r>
            <a:r>
              <a:rPr lang="en-US" sz="1200" b="0" i="0" dirty="0">
                <a:solidFill>
                  <a:srgbClr val="0F1115"/>
                </a:solidFill>
                <a:effectLst/>
                <a:latin typeface="quote-cjk-patch"/>
              </a:rPr>
              <a:t>(K key, V value)</a:t>
            </a:r>
          </a:p>
          <a:p>
            <a:pPr marL="742950" lvl="1" indent="-285750" algn="l">
              <a:buFont typeface="Arial" panose="020B0604020202020204" pitchFamily="34" charset="0"/>
              <a:buChar char="•"/>
            </a:pPr>
            <a:r>
              <a:rPr lang="en-US" sz="1200" b="0" i="0" dirty="0">
                <a:solidFill>
                  <a:srgbClr val="0F1115"/>
                </a:solidFill>
                <a:effectLst/>
                <a:latin typeface="quote-cjk-patch"/>
              </a:rPr>
              <a:t>remove(Object key, Object value)</a:t>
            </a:r>
          </a:p>
          <a:p>
            <a:pPr marL="742950" lvl="1" indent="-285750" algn="l">
              <a:buFont typeface="Arial" panose="020B0604020202020204" pitchFamily="34" charset="0"/>
              <a:buChar char="•"/>
            </a:pPr>
            <a:r>
              <a:rPr lang="en-US" sz="1200" b="0" i="0" dirty="0">
                <a:solidFill>
                  <a:srgbClr val="0F1115"/>
                </a:solidFill>
                <a:effectLst/>
                <a:latin typeface="quote-cjk-patch"/>
              </a:rPr>
              <a:t>replace(K key, V value)</a:t>
            </a:r>
          </a:p>
          <a:p>
            <a:pPr marL="742950" lvl="1" indent="-285750" algn="l">
              <a:buFont typeface="Arial" panose="020B0604020202020204" pitchFamily="34" charset="0"/>
              <a:buChar char="•"/>
            </a:pPr>
            <a:r>
              <a:rPr lang="en-US" sz="1200" b="0" i="0" dirty="0">
                <a:solidFill>
                  <a:srgbClr val="0F1115"/>
                </a:solidFill>
                <a:effectLst/>
                <a:latin typeface="quote-cjk-patch"/>
              </a:rPr>
              <a:t>replace(K key, V </a:t>
            </a:r>
            <a:r>
              <a:rPr lang="en-US" sz="1200" b="0" i="0" dirty="0" err="1">
                <a:solidFill>
                  <a:srgbClr val="0F1115"/>
                </a:solidFill>
                <a:effectLst/>
                <a:latin typeface="quote-cjk-patch"/>
              </a:rPr>
              <a:t>oldValue</a:t>
            </a:r>
            <a:r>
              <a:rPr lang="en-US" sz="1200" b="0" i="0" dirty="0">
                <a:solidFill>
                  <a:srgbClr val="0F1115"/>
                </a:solidFill>
                <a:effectLst/>
                <a:latin typeface="quote-cjk-patch"/>
              </a:rPr>
              <a:t>, V </a:t>
            </a:r>
            <a:r>
              <a:rPr lang="en-US" sz="1200" b="0" i="0" dirty="0" err="1">
                <a:solidFill>
                  <a:srgbClr val="0F1115"/>
                </a:solidFill>
                <a:effectLst/>
                <a:latin typeface="quote-cjk-patch"/>
              </a:rPr>
              <a:t>newValue</a:t>
            </a:r>
            <a:r>
              <a:rPr lang="en-US" sz="1200" b="0" i="0" dirty="0">
                <a:solidFill>
                  <a:srgbClr val="0F1115"/>
                </a:solidFill>
                <a:effectLst/>
                <a:latin typeface="quote-cjk-patch"/>
              </a:rPr>
              <a:t>)</a:t>
            </a:r>
          </a:p>
          <a:p>
            <a:pPr marL="742950" lvl="1" indent="-285750" algn="l">
              <a:buFont typeface="Arial" panose="020B0604020202020204" pitchFamily="34" charset="0"/>
              <a:buChar char="•"/>
            </a:pPr>
            <a:r>
              <a:rPr lang="en-US" sz="1200" b="0" i="0" dirty="0">
                <a:solidFill>
                  <a:srgbClr val="0F1115"/>
                </a:solidFill>
                <a:effectLst/>
                <a:latin typeface="quote-cjk-patch"/>
              </a:rPr>
              <a:t>compute(K key, </a:t>
            </a:r>
            <a:r>
              <a:rPr lang="en-US" sz="1200" b="0" i="0" dirty="0" err="1">
                <a:solidFill>
                  <a:srgbClr val="0F1115"/>
                </a:solidFill>
                <a:effectLst/>
                <a:latin typeface="quote-cjk-patch"/>
              </a:rPr>
              <a:t>BiFunction</a:t>
            </a:r>
            <a:r>
              <a:rPr lang="en-US" sz="1200" b="0" i="0" dirty="0">
                <a:solidFill>
                  <a:srgbClr val="0F1115"/>
                </a:solidFill>
                <a:effectLst/>
                <a:latin typeface="quote-cjk-patch"/>
              </a:rPr>
              <a:t>&lt;? super K, ? super V, ? extends V&gt; </a:t>
            </a:r>
            <a:r>
              <a:rPr lang="en-US" sz="1200" b="0" i="0" dirty="0" err="1">
                <a:solidFill>
                  <a:srgbClr val="0F1115"/>
                </a:solidFill>
                <a:effectLst/>
                <a:latin typeface="quote-cjk-patch"/>
              </a:rPr>
              <a:t>remappingFunction</a:t>
            </a:r>
            <a:r>
              <a:rPr lang="en-US" sz="1200" b="0" i="0" dirty="0">
                <a:solidFill>
                  <a:srgbClr val="0F1115"/>
                </a:solidFill>
                <a:effectLst/>
                <a:latin typeface="quote-cjk-patch"/>
              </a:rPr>
              <a:t>)</a:t>
            </a:r>
          </a:p>
          <a:p>
            <a:pPr marL="742950" lvl="1" indent="-285750" algn="l">
              <a:buFont typeface="Arial" panose="020B0604020202020204" pitchFamily="34" charset="0"/>
              <a:buChar char="•"/>
            </a:pPr>
            <a:r>
              <a:rPr lang="en-US" sz="1200" b="0" i="0" dirty="0" err="1">
                <a:solidFill>
                  <a:srgbClr val="0F1115"/>
                </a:solidFill>
                <a:effectLst/>
                <a:latin typeface="quote-cjk-patch"/>
              </a:rPr>
              <a:t>computeIfAbsent</a:t>
            </a:r>
            <a:r>
              <a:rPr lang="en-US" sz="1200" b="0" i="0" dirty="0">
                <a:solidFill>
                  <a:srgbClr val="0F1115"/>
                </a:solidFill>
                <a:effectLst/>
                <a:latin typeface="quote-cjk-patch"/>
              </a:rPr>
              <a:t>(K key, Function&lt;? super K, ? extends V&gt; </a:t>
            </a:r>
            <a:r>
              <a:rPr lang="en-US" sz="1200" b="0" i="0" dirty="0" err="1">
                <a:solidFill>
                  <a:srgbClr val="0F1115"/>
                </a:solidFill>
                <a:effectLst/>
                <a:latin typeface="quote-cjk-patch"/>
              </a:rPr>
              <a:t>mappingFunction</a:t>
            </a:r>
            <a:r>
              <a:rPr lang="en-US" sz="1200" b="0" i="0" dirty="0">
                <a:solidFill>
                  <a:srgbClr val="0F1115"/>
                </a:solidFill>
                <a:effectLst/>
                <a:latin typeface="quote-cjk-patch"/>
              </a:rPr>
              <a:t>)</a:t>
            </a:r>
          </a:p>
          <a:p>
            <a:pPr marL="742950" lvl="1" indent="-285750" algn="l">
              <a:buFont typeface="Arial" panose="020B0604020202020204" pitchFamily="34" charset="0"/>
              <a:buChar char="•"/>
            </a:pPr>
            <a:r>
              <a:rPr lang="en-US" sz="1200" b="0" i="0" dirty="0" err="1">
                <a:solidFill>
                  <a:srgbClr val="0F1115"/>
                </a:solidFill>
                <a:effectLst/>
                <a:latin typeface="quote-cjk-patch"/>
              </a:rPr>
              <a:t>computeIfPresent</a:t>
            </a:r>
            <a:r>
              <a:rPr lang="en-US" sz="1200" b="0" i="0" dirty="0">
                <a:solidFill>
                  <a:srgbClr val="0F1115"/>
                </a:solidFill>
                <a:effectLst/>
                <a:latin typeface="quote-cjk-patch"/>
              </a:rPr>
              <a:t>(K key, </a:t>
            </a:r>
            <a:r>
              <a:rPr lang="en-US" sz="1200" b="0" i="0" dirty="0" err="1">
                <a:solidFill>
                  <a:srgbClr val="0F1115"/>
                </a:solidFill>
                <a:effectLst/>
                <a:latin typeface="quote-cjk-patch"/>
              </a:rPr>
              <a:t>BiFunction</a:t>
            </a:r>
            <a:r>
              <a:rPr lang="en-US" sz="1200" b="0" i="0" dirty="0">
                <a:solidFill>
                  <a:srgbClr val="0F1115"/>
                </a:solidFill>
                <a:effectLst/>
                <a:latin typeface="quote-cjk-patch"/>
              </a:rPr>
              <a:t>&lt;? super K, ? super V, ? extends V&gt; </a:t>
            </a:r>
            <a:r>
              <a:rPr lang="en-US" sz="1200" b="0" i="0" dirty="0" err="1">
                <a:solidFill>
                  <a:srgbClr val="0F1115"/>
                </a:solidFill>
                <a:effectLst/>
                <a:latin typeface="quote-cjk-patch"/>
              </a:rPr>
              <a:t>remappingFunction</a:t>
            </a:r>
            <a:r>
              <a:rPr lang="en-US" sz="1200" b="0" i="0" dirty="0">
                <a:solidFill>
                  <a:srgbClr val="0F1115"/>
                </a:solidFill>
                <a:effectLst/>
                <a:latin typeface="quote-cjk-patch"/>
              </a:rPr>
              <a:t>)</a:t>
            </a:r>
          </a:p>
          <a:p>
            <a:pPr marL="742950" lvl="1" indent="-285750" algn="l">
              <a:buFont typeface="Arial" panose="020B0604020202020204" pitchFamily="34" charset="0"/>
              <a:buChar char="•"/>
            </a:pPr>
            <a:r>
              <a:rPr lang="en-US" sz="1200" b="0" i="0" dirty="0">
                <a:solidFill>
                  <a:srgbClr val="0F1115"/>
                </a:solidFill>
                <a:effectLst/>
                <a:latin typeface="quote-cjk-patch"/>
              </a:rPr>
              <a:t>merge(K key, V value, </a:t>
            </a:r>
            <a:r>
              <a:rPr lang="en-US" sz="1200" b="0" i="0" dirty="0" err="1">
                <a:solidFill>
                  <a:srgbClr val="0F1115"/>
                </a:solidFill>
                <a:effectLst/>
                <a:latin typeface="quote-cjk-patch"/>
              </a:rPr>
              <a:t>BiFunction</a:t>
            </a:r>
            <a:r>
              <a:rPr lang="en-US" sz="1200" b="0" i="0" dirty="0">
                <a:solidFill>
                  <a:srgbClr val="0F1115"/>
                </a:solidFill>
                <a:effectLst/>
                <a:latin typeface="quote-cjk-patch"/>
              </a:rPr>
              <a:t>&lt;? super V, ? super V, ? extends V&gt; </a:t>
            </a:r>
            <a:r>
              <a:rPr lang="en-US" sz="1200" b="0" i="0" dirty="0" err="1">
                <a:solidFill>
                  <a:srgbClr val="0F1115"/>
                </a:solidFill>
                <a:effectLst/>
                <a:latin typeface="quote-cjk-patch"/>
              </a:rPr>
              <a:t>remappingFunction</a:t>
            </a:r>
            <a:r>
              <a:rPr lang="en-US" sz="1200" b="0" i="0" dirty="0">
                <a:solidFill>
                  <a:srgbClr val="0F1115"/>
                </a:solidFill>
                <a:effectLst/>
                <a:latin typeface="quote-cjk-patch"/>
              </a:rPr>
              <a:t>)</a:t>
            </a:r>
          </a:p>
          <a:p>
            <a:pPr marL="742950" lvl="1" indent="-285750" algn="l">
              <a:buFont typeface="Arial" panose="020B0604020202020204" pitchFamily="34" charset="0"/>
              <a:buChar char="•"/>
            </a:pPr>
            <a:r>
              <a:rPr lang="en-US" sz="1200" b="0" i="0" dirty="0" err="1">
                <a:solidFill>
                  <a:srgbClr val="0F1115"/>
                </a:solidFill>
                <a:effectLst/>
                <a:latin typeface="quote-cjk-patch"/>
              </a:rPr>
              <a:t>forEach</a:t>
            </a:r>
            <a:r>
              <a:rPr lang="en-US" sz="1200" b="0" i="0" dirty="0">
                <a:solidFill>
                  <a:srgbClr val="0F1115"/>
                </a:solidFill>
                <a:effectLst/>
                <a:latin typeface="quote-cjk-patch"/>
              </a:rPr>
              <a:t>(</a:t>
            </a:r>
            <a:r>
              <a:rPr lang="en-US" sz="1200" b="0" i="0" dirty="0" err="1">
                <a:solidFill>
                  <a:srgbClr val="0F1115"/>
                </a:solidFill>
                <a:effectLst/>
                <a:latin typeface="quote-cjk-patch"/>
              </a:rPr>
              <a:t>BiConsumer</a:t>
            </a:r>
            <a:r>
              <a:rPr lang="en-US" sz="1200" b="0" i="0" dirty="0">
                <a:solidFill>
                  <a:srgbClr val="0F1115"/>
                </a:solidFill>
                <a:effectLst/>
                <a:latin typeface="quote-cjk-patch"/>
              </a:rPr>
              <a:t>&lt;? super K, ? super V&gt; action)</a:t>
            </a:r>
          </a:p>
          <a:p>
            <a:pPr algn="l">
              <a:buFont typeface="Arial" panose="020B0604020202020204" pitchFamily="34" charset="0"/>
              <a:buChar char="•"/>
            </a:pPr>
            <a:r>
              <a:rPr lang="en-US" sz="1200" b="1" i="0" dirty="0">
                <a:solidFill>
                  <a:srgbClr val="0F1115"/>
                </a:solidFill>
                <a:effectLst/>
                <a:latin typeface="quote-cjk-patch"/>
              </a:rPr>
              <a:t>Comparison:</a:t>
            </a:r>
            <a:endParaRPr lang="en-US" sz="1200" b="0" i="0" dirty="0">
              <a:solidFill>
                <a:srgbClr val="0F1115"/>
              </a:solidFill>
              <a:effectLst/>
              <a:latin typeface="quote-cjk-patch"/>
            </a:endParaRPr>
          </a:p>
          <a:p>
            <a:pPr marL="742950" lvl="1" indent="-285750" algn="l">
              <a:buFont typeface="Arial" panose="020B0604020202020204" pitchFamily="34" charset="0"/>
              <a:buChar char="•"/>
            </a:pPr>
            <a:r>
              <a:rPr lang="en-US" sz="1200" b="0" i="0" dirty="0">
                <a:solidFill>
                  <a:srgbClr val="0F1115"/>
                </a:solidFill>
                <a:effectLst/>
                <a:latin typeface="quote-cjk-patch"/>
              </a:rPr>
              <a:t>equals(Object o)</a:t>
            </a:r>
          </a:p>
          <a:p>
            <a:pPr marL="742950" lvl="1" indent="-285750" algn="l">
              <a:buFont typeface="Arial" panose="020B0604020202020204" pitchFamily="34" charset="0"/>
              <a:buChar char="•"/>
            </a:pPr>
            <a:r>
              <a:rPr lang="en-US" sz="1200" b="0" i="0" dirty="0" err="1">
                <a:solidFill>
                  <a:srgbClr val="0F1115"/>
                </a:solidFill>
                <a:effectLst/>
                <a:latin typeface="quote-cjk-patch"/>
              </a:rPr>
              <a:t>hashCode</a:t>
            </a:r>
            <a:r>
              <a:rPr lang="en-US" sz="1200" b="0" i="0" dirty="0">
                <a:solidFill>
                  <a:srgbClr val="0F1115"/>
                </a:solidFill>
                <a:effectLst/>
                <a:latin typeface="quote-cjk-patch"/>
              </a:rPr>
              <a:t>()</a:t>
            </a:r>
            <a:endParaRPr lang="en-US" sz="1200" dirty="0"/>
          </a:p>
        </p:txBody>
      </p:sp>
      <p:sp>
        <p:nvSpPr>
          <p:cNvPr id="7" name="TextBox 6">
            <a:extLst>
              <a:ext uri="{FF2B5EF4-FFF2-40B4-BE49-F238E27FC236}">
                <a16:creationId xmlns:a16="http://schemas.microsoft.com/office/drawing/2014/main" id="{4DC77DF9-25C9-09B4-43D7-F2A218849D16}"/>
              </a:ext>
            </a:extLst>
          </p:cNvPr>
          <p:cNvSpPr txBox="1"/>
          <p:nvPr/>
        </p:nvSpPr>
        <p:spPr>
          <a:xfrm>
            <a:off x="3626724" y="524772"/>
            <a:ext cx="2801437" cy="1938992"/>
          </a:xfrm>
          <a:prstGeom prst="rect">
            <a:avLst/>
          </a:prstGeom>
          <a:noFill/>
          <a:ln>
            <a:solidFill>
              <a:schemeClr val="bg1">
                <a:lumMod val="65000"/>
              </a:schemeClr>
            </a:solidFill>
          </a:ln>
        </p:spPr>
        <p:txBody>
          <a:bodyPr wrap="square">
            <a:spAutoFit/>
          </a:bodyPr>
          <a:lstStyle/>
          <a:p>
            <a:pPr algn="l">
              <a:buNone/>
            </a:pPr>
            <a:r>
              <a:rPr lang="en-US" sz="1200" b="1" dirty="0" err="1">
                <a:solidFill>
                  <a:srgbClr val="0F1115"/>
                </a:solidFill>
                <a:effectLst/>
                <a:latin typeface="quote-cjk-patch"/>
              </a:rPr>
              <a:t>SortedMap</a:t>
            </a:r>
            <a:r>
              <a:rPr lang="en-US" sz="1200" b="1" dirty="0">
                <a:solidFill>
                  <a:srgbClr val="0F1115"/>
                </a:solidFill>
                <a:effectLst/>
                <a:latin typeface="quote-cjk-patch"/>
              </a:rPr>
              <a:t> Interface (extends Map)</a:t>
            </a:r>
          </a:p>
          <a:p>
            <a:pPr algn="l">
              <a:buFont typeface="Arial" panose="020B0604020202020204" pitchFamily="34" charset="0"/>
              <a:buChar char="•"/>
            </a:pPr>
            <a:r>
              <a:rPr lang="en-US" sz="1200" b="1" i="0" dirty="0">
                <a:solidFill>
                  <a:srgbClr val="0F1115"/>
                </a:solidFill>
                <a:effectLst/>
                <a:latin typeface="quote-cjk-patch"/>
              </a:rPr>
              <a:t>Range-view:</a:t>
            </a:r>
            <a:endParaRPr lang="en-US" sz="1200" b="0" i="0" dirty="0">
              <a:solidFill>
                <a:srgbClr val="0F1115"/>
              </a:solidFill>
              <a:effectLst/>
              <a:latin typeface="quote-cjk-patch"/>
            </a:endParaRPr>
          </a:p>
          <a:p>
            <a:pPr marL="742950" lvl="1" indent="-285750" algn="l">
              <a:buFont typeface="Arial" panose="020B0604020202020204" pitchFamily="34" charset="0"/>
              <a:buChar char="•"/>
            </a:pPr>
            <a:r>
              <a:rPr lang="en-US" sz="1200" b="0" i="0" dirty="0" err="1">
                <a:solidFill>
                  <a:srgbClr val="0F1115"/>
                </a:solidFill>
                <a:effectLst/>
                <a:latin typeface="quote-cjk-patch"/>
              </a:rPr>
              <a:t>subMap</a:t>
            </a:r>
            <a:r>
              <a:rPr lang="en-US" sz="1200" b="0" i="0" dirty="0">
                <a:solidFill>
                  <a:srgbClr val="0F1115"/>
                </a:solidFill>
                <a:effectLst/>
                <a:latin typeface="quote-cjk-patch"/>
              </a:rPr>
              <a:t>(K </a:t>
            </a:r>
            <a:r>
              <a:rPr lang="en-US" sz="1200" b="0" i="0" dirty="0" err="1">
                <a:solidFill>
                  <a:srgbClr val="0F1115"/>
                </a:solidFill>
                <a:effectLst/>
                <a:latin typeface="quote-cjk-patch"/>
              </a:rPr>
              <a:t>fromKey</a:t>
            </a:r>
            <a:r>
              <a:rPr lang="en-US" sz="1200" b="0" i="0" dirty="0">
                <a:solidFill>
                  <a:srgbClr val="0F1115"/>
                </a:solidFill>
                <a:effectLst/>
                <a:latin typeface="quote-cjk-patch"/>
              </a:rPr>
              <a:t>, K </a:t>
            </a:r>
            <a:r>
              <a:rPr lang="en-US" sz="1200" b="0" i="0" dirty="0" err="1">
                <a:solidFill>
                  <a:srgbClr val="0F1115"/>
                </a:solidFill>
                <a:effectLst/>
                <a:latin typeface="quote-cjk-patch"/>
              </a:rPr>
              <a:t>toKey</a:t>
            </a:r>
            <a:r>
              <a:rPr lang="en-US" sz="1200" b="0" i="0" dirty="0">
                <a:solidFill>
                  <a:srgbClr val="0F1115"/>
                </a:solidFill>
                <a:effectLst/>
                <a:latin typeface="quote-cjk-patch"/>
              </a:rPr>
              <a:t>)</a:t>
            </a:r>
          </a:p>
          <a:p>
            <a:pPr marL="742950" lvl="1" indent="-285750" algn="l">
              <a:buFont typeface="Arial" panose="020B0604020202020204" pitchFamily="34" charset="0"/>
              <a:buChar char="•"/>
            </a:pPr>
            <a:r>
              <a:rPr lang="en-US" sz="1200" b="0" i="0" dirty="0" err="1">
                <a:solidFill>
                  <a:srgbClr val="0F1115"/>
                </a:solidFill>
                <a:effectLst/>
                <a:latin typeface="quote-cjk-patch"/>
              </a:rPr>
              <a:t>headMap</a:t>
            </a:r>
            <a:r>
              <a:rPr lang="en-US" sz="1200" b="0" i="0" dirty="0">
                <a:solidFill>
                  <a:srgbClr val="0F1115"/>
                </a:solidFill>
                <a:effectLst/>
                <a:latin typeface="quote-cjk-patch"/>
              </a:rPr>
              <a:t>(K </a:t>
            </a:r>
            <a:r>
              <a:rPr lang="en-US" sz="1200" b="0" i="0" dirty="0" err="1">
                <a:solidFill>
                  <a:srgbClr val="0F1115"/>
                </a:solidFill>
                <a:effectLst/>
                <a:latin typeface="quote-cjk-patch"/>
              </a:rPr>
              <a:t>toKey</a:t>
            </a:r>
            <a:r>
              <a:rPr lang="en-US" sz="1200" b="0" i="0" dirty="0">
                <a:solidFill>
                  <a:srgbClr val="0F1115"/>
                </a:solidFill>
                <a:effectLst/>
                <a:latin typeface="quote-cjk-patch"/>
              </a:rPr>
              <a:t>)</a:t>
            </a:r>
          </a:p>
          <a:p>
            <a:pPr marL="742950" lvl="1" indent="-285750" algn="l">
              <a:buFont typeface="Arial" panose="020B0604020202020204" pitchFamily="34" charset="0"/>
              <a:buChar char="•"/>
            </a:pPr>
            <a:r>
              <a:rPr lang="en-US" sz="1200" b="0" i="0" dirty="0" err="1">
                <a:solidFill>
                  <a:srgbClr val="0F1115"/>
                </a:solidFill>
                <a:effectLst/>
                <a:latin typeface="quote-cjk-patch"/>
              </a:rPr>
              <a:t>tailMap</a:t>
            </a:r>
            <a:r>
              <a:rPr lang="en-US" sz="1200" b="0" i="0" dirty="0">
                <a:solidFill>
                  <a:srgbClr val="0F1115"/>
                </a:solidFill>
                <a:effectLst/>
                <a:latin typeface="quote-cjk-patch"/>
              </a:rPr>
              <a:t>(K </a:t>
            </a:r>
            <a:r>
              <a:rPr lang="en-US" sz="1200" b="0" i="0" dirty="0" err="1">
                <a:solidFill>
                  <a:srgbClr val="0F1115"/>
                </a:solidFill>
                <a:effectLst/>
                <a:latin typeface="quote-cjk-patch"/>
              </a:rPr>
              <a:t>fromKey</a:t>
            </a:r>
            <a:r>
              <a:rPr lang="en-US" sz="1200" b="0" i="0" dirty="0">
                <a:solidFill>
                  <a:srgbClr val="0F1115"/>
                </a:solidFill>
                <a:effectLst/>
                <a:latin typeface="quote-cjk-patch"/>
              </a:rPr>
              <a:t>)</a:t>
            </a:r>
          </a:p>
          <a:p>
            <a:pPr algn="l">
              <a:buFont typeface="Arial" panose="020B0604020202020204" pitchFamily="34" charset="0"/>
              <a:buChar char="•"/>
            </a:pPr>
            <a:r>
              <a:rPr lang="en-US" sz="1200" b="1" i="0" dirty="0">
                <a:solidFill>
                  <a:srgbClr val="0F1115"/>
                </a:solidFill>
                <a:effectLst/>
                <a:latin typeface="quote-cjk-patch"/>
              </a:rPr>
              <a:t>Endpoints:</a:t>
            </a:r>
            <a:endParaRPr lang="en-US" sz="1200" b="0" i="0" dirty="0">
              <a:solidFill>
                <a:srgbClr val="0F1115"/>
              </a:solidFill>
              <a:effectLst/>
              <a:latin typeface="quote-cjk-patch"/>
            </a:endParaRPr>
          </a:p>
          <a:p>
            <a:pPr marL="742950" lvl="1" indent="-285750" algn="l">
              <a:buFont typeface="Arial" panose="020B0604020202020204" pitchFamily="34" charset="0"/>
              <a:buChar char="•"/>
            </a:pPr>
            <a:r>
              <a:rPr lang="en-US" sz="1200" b="0" i="0" dirty="0" err="1">
                <a:solidFill>
                  <a:srgbClr val="0F1115"/>
                </a:solidFill>
                <a:effectLst/>
                <a:latin typeface="quote-cjk-patch"/>
              </a:rPr>
              <a:t>firstKey</a:t>
            </a:r>
            <a:r>
              <a:rPr lang="en-US" sz="1200" b="0" i="0" dirty="0">
                <a:solidFill>
                  <a:srgbClr val="0F1115"/>
                </a:solidFill>
                <a:effectLst/>
                <a:latin typeface="quote-cjk-patch"/>
              </a:rPr>
              <a:t>()</a:t>
            </a:r>
          </a:p>
          <a:p>
            <a:pPr marL="742950" lvl="1" indent="-285750" algn="l">
              <a:buFont typeface="Arial" panose="020B0604020202020204" pitchFamily="34" charset="0"/>
              <a:buChar char="•"/>
            </a:pPr>
            <a:r>
              <a:rPr lang="en-US" sz="1200" b="0" i="0" dirty="0" err="1">
                <a:solidFill>
                  <a:srgbClr val="0F1115"/>
                </a:solidFill>
                <a:effectLst/>
                <a:latin typeface="quote-cjk-patch"/>
              </a:rPr>
              <a:t>lastKey</a:t>
            </a:r>
            <a:r>
              <a:rPr lang="en-US" sz="1200" b="0" i="0" dirty="0">
                <a:solidFill>
                  <a:srgbClr val="0F1115"/>
                </a:solidFill>
                <a:effectLst/>
                <a:latin typeface="quote-cjk-patch"/>
              </a:rPr>
              <a:t>()</a:t>
            </a:r>
          </a:p>
          <a:p>
            <a:pPr algn="l">
              <a:buFont typeface="Arial" panose="020B0604020202020204" pitchFamily="34" charset="0"/>
              <a:buChar char="•"/>
            </a:pPr>
            <a:r>
              <a:rPr lang="en-US" sz="1200" b="1" i="0" dirty="0">
                <a:solidFill>
                  <a:srgbClr val="0F1115"/>
                </a:solidFill>
                <a:effectLst/>
                <a:latin typeface="quote-cjk-patch"/>
              </a:rPr>
              <a:t>Comparator Access:</a:t>
            </a:r>
            <a:endParaRPr lang="en-US" sz="1200" b="0" i="0" dirty="0">
              <a:solidFill>
                <a:srgbClr val="0F1115"/>
              </a:solidFill>
              <a:effectLst/>
              <a:latin typeface="quote-cjk-patch"/>
            </a:endParaRPr>
          </a:p>
          <a:p>
            <a:pPr marL="742950" lvl="1" indent="-285750" algn="l">
              <a:buFont typeface="Arial" panose="020B0604020202020204" pitchFamily="34" charset="0"/>
              <a:buChar char="•"/>
            </a:pPr>
            <a:r>
              <a:rPr lang="en-US" sz="1200" b="0" i="0" dirty="0">
                <a:solidFill>
                  <a:srgbClr val="0F1115"/>
                </a:solidFill>
                <a:effectLst/>
                <a:latin typeface="quote-cjk-patch"/>
              </a:rPr>
              <a:t>comparator()</a:t>
            </a:r>
          </a:p>
        </p:txBody>
      </p:sp>
      <p:sp>
        <p:nvSpPr>
          <p:cNvPr id="8" name="TextBox 7">
            <a:extLst>
              <a:ext uri="{FF2B5EF4-FFF2-40B4-BE49-F238E27FC236}">
                <a16:creationId xmlns:a16="http://schemas.microsoft.com/office/drawing/2014/main" id="{B91252DB-B035-10A1-CDB8-DB8C8F5CD269}"/>
              </a:ext>
            </a:extLst>
          </p:cNvPr>
          <p:cNvSpPr txBox="1"/>
          <p:nvPr/>
        </p:nvSpPr>
        <p:spPr>
          <a:xfrm>
            <a:off x="7165054" y="347233"/>
            <a:ext cx="3932904" cy="5447645"/>
          </a:xfrm>
          <a:prstGeom prst="rect">
            <a:avLst/>
          </a:prstGeom>
          <a:noFill/>
          <a:ln>
            <a:solidFill>
              <a:schemeClr val="bg1">
                <a:lumMod val="65000"/>
              </a:schemeClr>
            </a:solidFill>
          </a:ln>
        </p:spPr>
        <p:txBody>
          <a:bodyPr wrap="square">
            <a:spAutoFit/>
          </a:bodyPr>
          <a:lstStyle/>
          <a:p>
            <a:pPr algn="l">
              <a:buNone/>
            </a:pPr>
            <a:r>
              <a:rPr lang="en-US" sz="1200" b="1" i="0" dirty="0" err="1">
                <a:solidFill>
                  <a:srgbClr val="0F1115"/>
                </a:solidFill>
                <a:effectLst/>
                <a:latin typeface="quote-cjk-patch"/>
              </a:rPr>
              <a:t>TreeMap</a:t>
            </a:r>
            <a:r>
              <a:rPr lang="en-US" sz="1200" b="1" i="0" dirty="0">
                <a:solidFill>
                  <a:srgbClr val="0F1115"/>
                </a:solidFill>
                <a:effectLst/>
                <a:latin typeface="quote-cjk-patch"/>
              </a:rPr>
              <a:t> Class (implements </a:t>
            </a:r>
            <a:r>
              <a:rPr lang="en-US" sz="1200" b="1" i="0" dirty="0" err="1">
                <a:solidFill>
                  <a:srgbClr val="0F1115"/>
                </a:solidFill>
                <a:effectLst/>
                <a:latin typeface="quote-cjk-patch"/>
              </a:rPr>
              <a:t>SortedMap</a:t>
            </a:r>
            <a:r>
              <a:rPr lang="en-US" sz="1200" b="1" i="0" dirty="0">
                <a:solidFill>
                  <a:srgbClr val="0F1115"/>
                </a:solidFill>
                <a:effectLst/>
                <a:latin typeface="quote-cjk-patch"/>
              </a:rPr>
              <a:t>)</a:t>
            </a:r>
          </a:p>
          <a:p>
            <a:pPr algn="l">
              <a:buFont typeface="Arial" panose="020B0604020202020204" pitchFamily="34" charset="0"/>
              <a:buChar char="•"/>
            </a:pPr>
            <a:r>
              <a:rPr lang="en-US" sz="1200" b="1" i="0" dirty="0">
                <a:solidFill>
                  <a:srgbClr val="0F1115"/>
                </a:solidFill>
                <a:effectLst/>
                <a:latin typeface="quote-cjk-patch"/>
              </a:rPr>
              <a:t>Constructors:</a:t>
            </a:r>
            <a:endParaRPr lang="en-US" sz="1200" b="0" i="0" dirty="0">
              <a:solidFill>
                <a:srgbClr val="0F1115"/>
              </a:solidFill>
              <a:effectLst/>
              <a:latin typeface="quote-cjk-patch"/>
            </a:endParaRPr>
          </a:p>
          <a:p>
            <a:pPr marL="742950" lvl="1" indent="-285750" algn="l">
              <a:buFont typeface="Arial" panose="020B0604020202020204" pitchFamily="34" charset="0"/>
              <a:buChar char="•"/>
            </a:pPr>
            <a:r>
              <a:rPr lang="en-US" sz="1200" b="0" i="0" dirty="0" err="1">
                <a:solidFill>
                  <a:srgbClr val="0F1115"/>
                </a:solidFill>
                <a:effectLst/>
                <a:latin typeface="quote-cjk-patch"/>
              </a:rPr>
              <a:t>TreeMap</a:t>
            </a:r>
            <a:r>
              <a:rPr lang="en-US" sz="1200" b="0" i="0" dirty="0">
                <a:solidFill>
                  <a:srgbClr val="0F1115"/>
                </a:solidFill>
                <a:effectLst/>
                <a:latin typeface="quote-cjk-patch"/>
              </a:rPr>
              <a:t>()</a:t>
            </a:r>
          </a:p>
          <a:p>
            <a:pPr marL="742950" lvl="1" indent="-285750" algn="l">
              <a:buFont typeface="Arial" panose="020B0604020202020204" pitchFamily="34" charset="0"/>
              <a:buChar char="•"/>
            </a:pPr>
            <a:r>
              <a:rPr lang="en-US" sz="1200" b="0" i="0" dirty="0" err="1">
                <a:solidFill>
                  <a:srgbClr val="0F1115"/>
                </a:solidFill>
                <a:effectLst/>
                <a:latin typeface="quote-cjk-patch"/>
              </a:rPr>
              <a:t>TreeMap</a:t>
            </a:r>
            <a:r>
              <a:rPr lang="en-US" sz="1200" b="0" i="0" dirty="0">
                <a:solidFill>
                  <a:srgbClr val="0F1115"/>
                </a:solidFill>
                <a:effectLst/>
                <a:latin typeface="quote-cjk-patch"/>
              </a:rPr>
              <a:t>(Comparator&lt;? super K&gt; comparator)</a:t>
            </a:r>
          </a:p>
          <a:p>
            <a:pPr marL="742950" lvl="1" indent="-285750" algn="l">
              <a:buFont typeface="Arial" panose="020B0604020202020204" pitchFamily="34" charset="0"/>
              <a:buChar char="•"/>
            </a:pPr>
            <a:r>
              <a:rPr lang="en-US" sz="1200" b="0" i="0" dirty="0" err="1">
                <a:solidFill>
                  <a:srgbClr val="0F1115"/>
                </a:solidFill>
                <a:effectLst/>
                <a:latin typeface="quote-cjk-patch"/>
              </a:rPr>
              <a:t>TreeMap</a:t>
            </a:r>
            <a:r>
              <a:rPr lang="en-US" sz="1200" b="0" i="0" dirty="0">
                <a:solidFill>
                  <a:srgbClr val="0F1115"/>
                </a:solidFill>
                <a:effectLst/>
                <a:latin typeface="quote-cjk-patch"/>
              </a:rPr>
              <a:t>(Map&lt;? extends K, ? extends V&gt; m)</a:t>
            </a:r>
          </a:p>
          <a:p>
            <a:pPr marL="742950" lvl="1" indent="-285750" algn="l">
              <a:buFont typeface="Arial" panose="020B0604020202020204" pitchFamily="34" charset="0"/>
              <a:buChar char="•"/>
            </a:pPr>
            <a:r>
              <a:rPr lang="en-US" sz="1200" b="0" i="0" dirty="0" err="1">
                <a:solidFill>
                  <a:srgbClr val="0F1115"/>
                </a:solidFill>
                <a:effectLst/>
                <a:latin typeface="quote-cjk-patch"/>
              </a:rPr>
              <a:t>TreeMap</a:t>
            </a:r>
            <a:r>
              <a:rPr lang="en-US" sz="1200" b="0" i="0" dirty="0">
                <a:solidFill>
                  <a:srgbClr val="0F1115"/>
                </a:solidFill>
                <a:effectLst/>
                <a:latin typeface="quote-cjk-patch"/>
              </a:rPr>
              <a:t>(</a:t>
            </a:r>
            <a:r>
              <a:rPr lang="en-US" sz="1200" b="0" i="0" dirty="0" err="1">
                <a:solidFill>
                  <a:srgbClr val="0F1115"/>
                </a:solidFill>
                <a:effectLst/>
                <a:latin typeface="quote-cjk-patch"/>
              </a:rPr>
              <a:t>SortedMap</a:t>
            </a:r>
            <a:r>
              <a:rPr lang="en-US" sz="1200" b="0" i="0" dirty="0">
                <a:solidFill>
                  <a:srgbClr val="0F1115"/>
                </a:solidFill>
                <a:effectLst/>
                <a:latin typeface="quote-cjk-patch"/>
              </a:rPr>
              <a:t>&lt;K, ? extends V&gt; m)</a:t>
            </a:r>
          </a:p>
          <a:p>
            <a:pPr algn="l">
              <a:buFont typeface="Arial" panose="020B0604020202020204" pitchFamily="34" charset="0"/>
              <a:buChar char="•"/>
            </a:pPr>
            <a:r>
              <a:rPr lang="en-US" sz="1200" b="1" i="0" dirty="0">
                <a:solidFill>
                  <a:srgbClr val="0F1115"/>
                </a:solidFill>
                <a:effectLst/>
                <a:latin typeface="quote-cjk-patch"/>
              </a:rPr>
              <a:t>Additional Navigation Methods:</a:t>
            </a:r>
            <a:endParaRPr lang="en-US" sz="1200" b="0" i="0" dirty="0">
              <a:solidFill>
                <a:srgbClr val="0F1115"/>
              </a:solidFill>
              <a:effectLst/>
              <a:latin typeface="quote-cjk-patch"/>
            </a:endParaRPr>
          </a:p>
          <a:p>
            <a:pPr marL="742950" lvl="1" indent="-285750" algn="l">
              <a:buFont typeface="Arial" panose="020B0604020202020204" pitchFamily="34" charset="0"/>
              <a:buChar char="•"/>
            </a:pPr>
            <a:r>
              <a:rPr lang="en-US" sz="1200" b="0" i="0" dirty="0" err="1">
                <a:solidFill>
                  <a:srgbClr val="0F1115"/>
                </a:solidFill>
                <a:effectLst/>
                <a:latin typeface="quote-cjk-patch"/>
              </a:rPr>
              <a:t>ceilingKey</a:t>
            </a:r>
            <a:r>
              <a:rPr lang="en-US" sz="1200" b="0" i="0" dirty="0">
                <a:solidFill>
                  <a:srgbClr val="0F1115"/>
                </a:solidFill>
                <a:effectLst/>
                <a:latin typeface="quote-cjk-patch"/>
              </a:rPr>
              <a:t>(K key)</a:t>
            </a:r>
          </a:p>
          <a:p>
            <a:pPr marL="742950" lvl="1" indent="-285750" algn="l">
              <a:buFont typeface="Arial" panose="020B0604020202020204" pitchFamily="34" charset="0"/>
              <a:buChar char="•"/>
            </a:pPr>
            <a:r>
              <a:rPr lang="en-US" sz="1200" b="0" i="0" dirty="0" err="1">
                <a:solidFill>
                  <a:srgbClr val="0F1115"/>
                </a:solidFill>
                <a:effectLst/>
                <a:latin typeface="quote-cjk-patch"/>
              </a:rPr>
              <a:t>floorKey</a:t>
            </a:r>
            <a:r>
              <a:rPr lang="en-US" sz="1200" b="0" i="0" dirty="0">
                <a:solidFill>
                  <a:srgbClr val="0F1115"/>
                </a:solidFill>
                <a:effectLst/>
                <a:latin typeface="quote-cjk-patch"/>
              </a:rPr>
              <a:t>(K key)</a:t>
            </a:r>
          </a:p>
          <a:p>
            <a:pPr marL="742950" lvl="1" indent="-285750" algn="l">
              <a:buFont typeface="Arial" panose="020B0604020202020204" pitchFamily="34" charset="0"/>
              <a:buChar char="•"/>
            </a:pPr>
            <a:r>
              <a:rPr lang="en-US" sz="1200" b="0" i="0" dirty="0" err="1">
                <a:solidFill>
                  <a:srgbClr val="0F1115"/>
                </a:solidFill>
                <a:effectLst/>
                <a:latin typeface="quote-cjk-patch"/>
              </a:rPr>
              <a:t>higherKey</a:t>
            </a:r>
            <a:r>
              <a:rPr lang="en-US" sz="1200" b="0" i="0" dirty="0">
                <a:solidFill>
                  <a:srgbClr val="0F1115"/>
                </a:solidFill>
                <a:effectLst/>
                <a:latin typeface="quote-cjk-patch"/>
              </a:rPr>
              <a:t>(K key)</a:t>
            </a:r>
          </a:p>
          <a:p>
            <a:pPr marL="742950" lvl="1" indent="-285750" algn="l">
              <a:buFont typeface="Arial" panose="020B0604020202020204" pitchFamily="34" charset="0"/>
              <a:buChar char="•"/>
            </a:pPr>
            <a:r>
              <a:rPr lang="en-US" sz="1200" b="0" i="0" dirty="0" err="1">
                <a:solidFill>
                  <a:srgbClr val="0F1115"/>
                </a:solidFill>
                <a:effectLst/>
                <a:latin typeface="quote-cjk-patch"/>
              </a:rPr>
              <a:t>lowerKey</a:t>
            </a:r>
            <a:r>
              <a:rPr lang="en-US" sz="1200" b="0" i="0" dirty="0">
                <a:solidFill>
                  <a:srgbClr val="0F1115"/>
                </a:solidFill>
                <a:effectLst/>
                <a:latin typeface="quote-cjk-patch"/>
              </a:rPr>
              <a:t>(K key)</a:t>
            </a:r>
          </a:p>
          <a:p>
            <a:pPr marL="742950" lvl="1" indent="-285750" algn="l">
              <a:buFont typeface="Arial" panose="020B0604020202020204" pitchFamily="34" charset="0"/>
              <a:buChar char="•"/>
            </a:pPr>
            <a:r>
              <a:rPr lang="en-US" sz="1200" b="0" i="0" dirty="0" err="1">
                <a:solidFill>
                  <a:srgbClr val="0F1115"/>
                </a:solidFill>
                <a:effectLst/>
                <a:latin typeface="quote-cjk-patch"/>
              </a:rPr>
              <a:t>ceilingEntry</a:t>
            </a:r>
            <a:r>
              <a:rPr lang="en-US" sz="1200" b="0" i="0" dirty="0">
                <a:solidFill>
                  <a:srgbClr val="0F1115"/>
                </a:solidFill>
                <a:effectLst/>
                <a:latin typeface="quote-cjk-patch"/>
              </a:rPr>
              <a:t>(K key)</a:t>
            </a:r>
          </a:p>
          <a:p>
            <a:pPr marL="742950" lvl="1" indent="-285750" algn="l">
              <a:buFont typeface="Arial" panose="020B0604020202020204" pitchFamily="34" charset="0"/>
              <a:buChar char="•"/>
            </a:pPr>
            <a:r>
              <a:rPr lang="en-US" sz="1200" b="0" i="0" dirty="0" err="1">
                <a:solidFill>
                  <a:srgbClr val="0F1115"/>
                </a:solidFill>
                <a:effectLst/>
                <a:latin typeface="quote-cjk-patch"/>
              </a:rPr>
              <a:t>floorEntry</a:t>
            </a:r>
            <a:r>
              <a:rPr lang="en-US" sz="1200" b="0" i="0" dirty="0">
                <a:solidFill>
                  <a:srgbClr val="0F1115"/>
                </a:solidFill>
                <a:effectLst/>
                <a:latin typeface="quote-cjk-patch"/>
              </a:rPr>
              <a:t>(K key)</a:t>
            </a:r>
          </a:p>
          <a:p>
            <a:pPr marL="742950" lvl="1" indent="-285750" algn="l">
              <a:buFont typeface="Arial" panose="020B0604020202020204" pitchFamily="34" charset="0"/>
              <a:buChar char="•"/>
            </a:pPr>
            <a:r>
              <a:rPr lang="en-US" sz="1200" b="0" i="0" dirty="0" err="1">
                <a:solidFill>
                  <a:srgbClr val="0F1115"/>
                </a:solidFill>
                <a:effectLst/>
                <a:latin typeface="quote-cjk-patch"/>
              </a:rPr>
              <a:t>higherEntry</a:t>
            </a:r>
            <a:r>
              <a:rPr lang="en-US" sz="1200" b="0" i="0" dirty="0">
                <a:solidFill>
                  <a:srgbClr val="0F1115"/>
                </a:solidFill>
                <a:effectLst/>
                <a:latin typeface="quote-cjk-patch"/>
              </a:rPr>
              <a:t>(K key)</a:t>
            </a:r>
          </a:p>
          <a:p>
            <a:pPr marL="742950" lvl="1" indent="-285750" algn="l">
              <a:buFont typeface="Arial" panose="020B0604020202020204" pitchFamily="34" charset="0"/>
              <a:buChar char="•"/>
            </a:pPr>
            <a:r>
              <a:rPr lang="en-US" sz="1200" b="0" i="0" dirty="0" err="1">
                <a:solidFill>
                  <a:srgbClr val="0F1115"/>
                </a:solidFill>
                <a:effectLst/>
                <a:latin typeface="quote-cjk-patch"/>
              </a:rPr>
              <a:t>lowerEntry</a:t>
            </a:r>
            <a:r>
              <a:rPr lang="en-US" sz="1200" b="0" i="0" dirty="0">
                <a:solidFill>
                  <a:srgbClr val="0F1115"/>
                </a:solidFill>
                <a:effectLst/>
                <a:latin typeface="quote-cjk-patch"/>
              </a:rPr>
              <a:t>(K key)</a:t>
            </a:r>
          </a:p>
          <a:p>
            <a:pPr marL="742950" lvl="1" indent="-285750" algn="l">
              <a:buFont typeface="Arial" panose="020B0604020202020204" pitchFamily="34" charset="0"/>
              <a:buChar char="•"/>
            </a:pPr>
            <a:r>
              <a:rPr lang="en-US" sz="1200" b="0" i="0" dirty="0" err="1">
                <a:solidFill>
                  <a:srgbClr val="0F1115"/>
                </a:solidFill>
                <a:effectLst/>
                <a:latin typeface="quote-cjk-patch"/>
              </a:rPr>
              <a:t>firstEntry</a:t>
            </a:r>
            <a:r>
              <a:rPr lang="en-US" sz="1200" b="0" i="0" dirty="0">
                <a:solidFill>
                  <a:srgbClr val="0F1115"/>
                </a:solidFill>
                <a:effectLst/>
                <a:latin typeface="quote-cjk-patch"/>
              </a:rPr>
              <a:t>()</a:t>
            </a:r>
          </a:p>
          <a:p>
            <a:pPr marL="742950" lvl="1" indent="-285750" algn="l">
              <a:buFont typeface="Arial" panose="020B0604020202020204" pitchFamily="34" charset="0"/>
              <a:buChar char="•"/>
            </a:pPr>
            <a:r>
              <a:rPr lang="en-US" sz="1200" b="0" i="0" dirty="0" err="1">
                <a:solidFill>
                  <a:srgbClr val="0F1115"/>
                </a:solidFill>
                <a:effectLst/>
                <a:latin typeface="quote-cjk-patch"/>
              </a:rPr>
              <a:t>lastEntry</a:t>
            </a:r>
            <a:r>
              <a:rPr lang="en-US" sz="1200" b="0" i="0" dirty="0">
                <a:solidFill>
                  <a:srgbClr val="0F1115"/>
                </a:solidFill>
                <a:effectLst/>
                <a:latin typeface="quote-cjk-patch"/>
              </a:rPr>
              <a:t>()</a:t>
            </a:r>
          </a:p>
          <a:p>
            <a:pPr marL="742950" lvl="1" indent="-285750" algn="l">
              <a:buFont typeface="Arial" panose="020B0604020202020204" pitchFamily="34" charset="0"/>
              <a:buChar char="•"/>
            </a:pPr>
            <a:r>
              <a:rPr lang="en-US" sz="1200" b="0" i="0" dirty="0" err="1">
                <a:solidFill>
                  <a:srgbClr val="0F1115"/>
                </a:solidFill>
                <a:effectLst/>
                <a:latin typeface="quote-cjk-patch"/>
              </a:rPr>
              <a:t>pollFirstEntry</a:t>
            </a:r>
            <a:r>
              <a:rPr lang="en-US" sz="1200" b="0" i="0" dirty="0">
                <a:solidFill>
                  <a:srgbClr val="0F1115"/>
                </a:solidFill>
                <a:effectLst/>
                <a:latin typeface="quote-cjk-patch"/>
              </a:rPr>
              <a:t>()</a:t>
            </a:r>
          </a:p>
          <a:p>
            <a:pPr marL="742950" lvl="1" indent="-285750" algn="l">
              <a:buFont typeface="Arial" panose="020B0604020202020204" pitchFamily="34" charset="0"/>
              <a:buChar char="•"/>
            </a:pPr>
            <a:r>
              <a:rPr lang="en-US" sz="1200" b="0" i="0" dirty="0" err="1">
                <a:solidFill>
                  <a:srgbClr val="0F1115"/>
                </a:solidFill>
                <a:effectLst/>
                <a:latin typeface="quote-cjk-patch"/>
              </a:rPr>
              <a:t>pollLastEntry</a:t>
            </a:r>
            <a:r>
              <a:rPr lang="en-US" sz="1200" b="0" i="0" dirty="0">
                <a:solidFill>
                  <a:srgbClr val="0F1115"/>
                </a:solidFill>
                <a:effectLst/>
                <a:latin typeface="quote-cjk-patch"/>
              </a:rPr>
              <a:t>()</a:t>
            </a:r>
          </a:p>
          <a:p>
            <a:pPr marL="742950" lvl="1" indent="-285750" algn="l">
              <a:buFont typeface="Arial" panose="020B0604020202020204" pitchFamily="34" charset="0"/>
              <a:buChar char="•"/>
            </a:pPr>
            <a:r>
              <a:rPr lang="en-US" sz="1200" b="0" i="0" dirty="0" err="1">
                <a:solidFill>
                  <a:srgbClr val="0F1115"/>
                </a:solidFill>
                <a:effectLst/>
                <a:latin typeface="quote-cjk-patch"/>
              </a:rPr>
              <a:t>descendingMap</a:t>
            </a:r>
            <a:r>
              <a:rPr lang="en-US" sz="1200" b="0" i="0" dirty="0">
                <a:solidFill>
                  <a:srgbClr val="0F1115"/>
                </a:solidFill>
                <a:effectLst/>
                <a:latin typeface="quote-cjk-patch"/>
              </a:rPr>
              <a:t>()</a:t>
            </a:r>
          </a:p>
          <a:p>
            <a:pPr marL="742950" lvl="1" indent="-285750" algn="l">
              <a:buFont typeface="Arial" panose="020B0604020202020204" pitchFamily="34" charset="0"/>
              <a:buChar char="•"/>
            </a:pPr>
            <a:r>
              <a:rPr lang="en-US" sz="1200" b="0" i="0" dirty="0" err="1">
                <a:solidFill>
                  <a:srgbClr val="0F1115"/>
                </a:solidFill>
                <a:effectLst/>
                <a:latin typeface="quote-cjk-patch"/>
              </a:rPr>
              <a:t>descendingKeySet</a:t>
            </a:r>
            <a:r>
              <a:rPr lang="en-US" sz="1200" b="0" i="0" dirty="0">
                <a:solidFill>
                  <a:srgbClr val="0F1115"/>
                </a:solidFill>
                <a:effectLst/>
                <a:latin typeface="quote-cjk-patch"/>
              </a:rPr>
              <a:t>()</a:t>
            </a:r>
          </a:p>
          <a:p>
            <a:pPr marL="742950" lvl="1" indent="-285750" algn="l">
              <a:buFont typeface="Arial" panose="020B0604020202020204" pitchFamily="34" charset="0"/>
              <a:buChar char="•"/>
            </a:pPr>
            <a:r>
              <a:rPr lang="en-US" sz="1200" b="0" i="0" dirty="0" err="1">
                <a:solidFill>
                  <a:srgbClr val="0F1115"/>
                </a:solidFill>
                <a:effectLst/>
                <a:latin typeface="quote-cjk-patch"/>
              </a:rPr>
              <a:t>navigableKeySet</a:t>
            </a:r>
            <a:r>
              <a:rPr lang="en-US" sz="1200" b="0" i="0" dirty="0">
                <a:solidFill>
                  <a:srgbClr val="0F1115"/>
                </a:solidFill>
                <a:effectLst/>
                <a:latin typeface="quote-cjk-patch"/>
              </a:rPr>
              <a:t>()</a:t>
            </a:r>
          </a:p>
          <a:p>
            <a:pPr algn="l">
              <a:buFont typeface="Arial" panose="020B0604020202020204" pitchFamily="34" charset="0"/>
              <a:buChar char="•"/>
            </a:pPr>
            <a:r>
              <a:rPr lang="en-US" sz="1200" b="1" i="0" dirty="0">
                <a:solidFill>
                  <a:srgbClr val="0F1115"/>
                </a:solidFill>
                <a:effectLst/>
                <a:latin typeface="quote-cjk-patch"/>
              </a:rPr>
              <a:t>View Methods:</a:t>
            </a:r>
            <a:endParaRPr lang="en-US" sz="1200" b="0" i="0" dirty="0">
              <a:solidFill>
                <a:srgbClr val="0F1115"/>
              </a:solidFill>
              <a:effectLst/>
              <a:latin typeface="quote-cjk-patch"/>
            </a:endParaRPr>
          </a:p>
          <a:p>
            <a:pPr marL="742950" lvl="1" indent="-285750" algn="l">
              <a:buFont typeface="Arial" panose="020B0604020202020204" pitchFamily="34" charset="0"/>
              <a:buChar char="•"/>
            </a:pPr>
            <a:r>
              <a:rPr lang="en-US" sz="1200" b="0" i="0" dirty="0" err="1">
                <a:solidFill>
                  <a:srgbClr val="0F1115"/>
                </a:solidFill>
                <a:effectLst/>
                <a:latin typeface="quote-cjk-patch"/>
              </a:rPr>
              <a:t>entrySet</a:t>
            </a:r>
            <a:r>
              <a:rPr lang="en-US" sz="1200" b="0" i="0" dirty="0">
                <a:solidFill>
                  <a:srgbClr val="0F1115"/>
                </a:solidFill>
                <a:effectLst/>
                <a:latin typeface="quote-cjk-patch"/>
              </a:rPr>
              <a:t>()</a:t>
            </a:r>
          </a:p>
          <a:p>
            <a:pPr marL="742950" lvl="1" indent="-285750" algn="l">
              <a:buFont typeface="Arial" panose="020B0604020202020204" pitchFamily="34" charset="0"/>
              <a:buChar char="•"/>
            </a:pPr>
            <a:r>
              <a:rPr lang="en-US" sz="1200" b="0" i="0" dirty="0" err="1">
                <a:solidFill>
                  <a:srgbClr val="0F1115"/>
                </a:solidFill>
                <a:effectLst/>
                <a:latin typeface="quote-cjk-patch"/>
              </a:rPr>
              <a:t>keySet</a:t>
            </a:r>
            <a:r>
              <a:rPr lang="en-US" sz="1200" b="0" i="0" dirty="0">
                <a:solidFill>
                  <a:srgbClr val="0F1115"/>
                </a:solidFill>
                <a:effectLst/>
                <a:latin typeface="quote-cjk-patch"/>
              </a:rPr>
              <a:t>()</a:t>
            </a:r>
          </a:p>
          <a:p>
            <a:pPr marL="742950" lvl="1" indent="-285750" algn="l">
              <a:buFont typeface="Arial" panose="020B0604020202020204" pitchFamily="34" charset="0"/>
              <a:buChar char="•"/>
            </a:pPr>
            <a:r>
              <a:rPr lang="en-US" sz="1200" b="0" i="0" dirty="0">
                <a:solidFill>
                  <a:srgbClr val="0F1115"/>
                </a:solidFill>
                <a:effectLst/>
                <a:latin typeface="quote-cjk-patch"/>
              </a:rPr>
              <a:t>values()</a:t>
            </a:r>
          </a:p>
          <a:p>
            <a:pPr marL="742950" lvl="1" indent="-285750" algn="l">
              <a:buFont typeface="Arial" panose="020B0604020202020204" pitchFamily="34" charset="0"/>
              <a:buChar char="•"/>
            </a:pPr>
            <a:r>
              <a:rPr lang="en-US" sz="1200" b="0" i="0" dirty="0" err="1">
                <a:solidFill>
                  <a:srgbClr val="0F1115"/>
                </a:solidFill>
                <a:effectLst/>
                <a:latin typeface="quote-cjk-patch"/>
              </a:rPr>
              <a:t>descendingKeySet</a:t>
            </a:r>
            <a:r>
              <a:rPr lang="en-US" sz="1200" b="0" i="0" dirty="0">
                <a:solidFill>
                  <a:srgbClr val="0F1115"/>
                </a:solidFill>
                <a:effectLst/>
                <a:latin typeface="quote-cjk-patch"/>
              </a:rPr>
              <a:t>()</a:t>
            </a:r>
          </a:p>
          <a:p>
            <a:pPr marL="742950" lvl="1" indent="-285750" algn="l">
              <a:buFont typeface="Arial" panose="020B0604020202020204" pitchFamily="34" charset="0"/>
              <a:buChar char="•"/>
            </a:pPr>
            <a:r>
              <a:rPr lang="en-US" sz="1200" b="0" i="0" dirty="0" err="1">
                <a:solidFill>
                  <a:srgbClr val="0F1115"/>
                </a:solidFill>
                <a:effectLst/>
                <a:latin typeface="quote-cjk-patch"/>
              </a:rPr>
              <a:t>navigableKeySet</a:t>
            </a:r>
            <a:r>
              <a:rPr lang="en-US" sz="1200" b="0" i="0" dirty="0">
                <a:solidFill>
                  <a:srgbClr val="0F1115"/>
                </a:solidFill>
                <a:effectLst/>
                <a:latin typeface="quote-cjk-patch"/>
              </a:rPr>
              <a:t>()</a:t>
            </a:r>
          </a:p>
          <a:p>
            <a:pPr algn="l">
              <a:buFont typeface="Arial" panose="020B0604020202020204" pitchFamily="34" charset="0"/>
              <a:buChar char="•"/>
            </a:pPr>
            <a:r>
              <a:rPr lang="en-US" sz="1200" b="1" i="0" dirty="0">
                <a:solidFill>
                  <a:srgbClr val="0F1115"/>
                </a:solidFill>
                <a:effectLst/>
                <a:latin typeface="quote-cjk-patch"/>
              </a:rPr>
              <a:t>Implements all </a:t>
            </a:r>
            <a:r>
              <a:rPr lang="en-US" sz="1200" b="1" i="0" dirty="0" err="1">
                <a:solidFill>
                  <a:srgbClr val="0F1115"/>
                </a:solidFill>
                <a:effectLst/>
                <a:latin typeface="quote-cjk-patch"/>
              </a:rPr>
              <a:t>SortedMap</a:t>
            </a:r>
            <a:r>
              <a:rPr lang="en-US" sz="1200" b="1" i="0" dirty="0">
                <a:solidFill>
                  <a:srgbClr val="0F1115"/>
                </a:solidFill>
                <a:effectLst/>
                <a:latin typeface="quote-cjk-patch"/>
              </a:rPr>
              <a:t> and Map methods</a:t>
            </a:r>
            <a:endParaRPr lang="en-US" sz="1200" b="0" i="0" dirty="0">
              <a:solidFill>
                <a:srgbClr val="0F1115"/>
              </a:solidFill>
              <a:effectLst/>
              <a:latin typeface="quote-cjk-patch"/>
            </a:endParaRPr>
          </a:p>
        </p:txBody>
      </p:sp>
    </p:spTree>
    <p:extLst>
      <p:ext uri="{BB962C8B-B14F-4D97-AF65-F5344CB8AC3E}">
        <p14:creationId xmlns:p14="http://schemas.microsoft.com/office/powerpoint/2010/main" val="23821121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7A2A0B4-35B3-0633-E4A3-7AF69722319B}"/>
              </a:ext>
            </a:extLst>
          </p:cNvPr>
          <p:cNvSpPr txBox="1"/>
          <p:nvPr/>
        </p:nvSpPr>
        <p:spPr>
          <a:xfrm>
            <a:off x="5997678" y="1933990"/>
            <a:ext cx="5663380" cy="1938992"/>
          </a:xfrm>
          <a:prstGeom prst="rect">
            <a:avLst/>
          </a:prstGeom>
          <a:noFill/>
          <a:ln>
            <a:solidFill>
              <a:schemeClr val="accent1">
                <a:lumMod val="60000"/>
                <a:lumOff val="40000"/>
              </a:schemeClr>
            </a:solidFill>
          </a:ln>
        </p:spPr>
        <p:txBody>
          <a:bodyPr wrap="square">
            <a:spAutoFit/>
          </a:bodyPr>
          <a:lstStyle/>
          <a:p>
            <a:pPr algn="l">
              <a:buNone/>
            </a:pPr>
            <a:r>
              <a:rPr lang="en-US" sz="1200" b="1" i="0" dirty="0" err="1">
                <a:solidFill>
                  <a:srgbClr val="0F1115"/>
                </a:solidFill>
                <a:effectLst/>
                <a:latin typeface="quote-cjk-patch"/>
              </a:rPr>
              <a:t>LinkedHashMap</a:t>
            </a:r>
            <a:r>
              <a:rPr lang="en-US" sz="1200" b="1" i="0" dirty="0">
                <a:solidFill>
                  <a:srgbClr val="0F1115"/>
                </a:solidFill>
                <a:effectLst/>
                <a:latin typeface="quote-cjk-patch"/>
              </a:rPr>
              <a:t> Class (extends HashMap, implements Map)</a:t>
            </a:r>
          </a:p>
          <a:p>
            <a:pPr algn="l">
              <a:buFont typeface="Arial" panose="020B0604020202020204" pitchFamily="34" charset="0"/>
              <a:buChar char="•"/>
            </a:pPr>
            <a:r>
              <a:rPr lang="en-US" sz="1200" b="1" i="0" dirty="0">
                <a:solidFill>
                  <a:srgbClr val="0F1115"/>
                </a:solidFill>
                <a:effectLst/>
                <a:latin typeface="quote-cjk-patch"/>
              </a:rPr>
              <a:t>Constructors:</a:t>
            </a:r>
            <a:endParaRPr lang="en-US" sz="1200" b="0" i="0" dirty="0">
              <a:solidFill>
                <a:srgbClr val="0F1115"/>
              </a:solidFill>
              <a:effectLst/>
              <a:latin typeface="quote-cjk-patch"/>
            </a:endParaRPr>
          </a:p>
          <a:p>
            <a:pPr marL="742950" lvl="1" indent="-285750" algn="l">
              <a:buFont typeface="Arial" panose="020B0604020202020204" pitchFamily="34" charset="0"/>
              <a:buChar char="•"/>
            </a:pPr>
            <a:r>
              <a:rPr lang="en-US" sz="1200" b="0" i="0" dirty="0" err="1">
                <a:solidFill>
                  <a:srgbClr val="0F1115"/>
                </a:solidFill>
                <a:effectLst/>
                <a:latin typeface="quote-cjk-patch"/>
              </a:rPr>
              <a:t>LinkedHashMap</a:t>
            </a:r>
            <a:r>
              <a:rPr lang="en-US" sz="1200" b="0" i="0" dirty="0">
                <a:solidFill>
                  <a:srgbClr val="0F1115"/>
                </a:solidFill>
                <a:effectLst/>
                <a:latin typeface="quote-cjk-patch"/>
              </a:rPr>
              <a:t>()</a:t>
            </a:r>
          </a:p>
          <a:p>
            <a:pPr marL="742950" lvl="1" indent="-285750" algn="l">
              <a:buFont typeface="Arial" panose="020B0604020202020204" pitchFamily="34" charset="0"/>
              <a:buChar char="•"/>
            </a:pPr>
            <a:r>
              <a:rPr lang="en-US" sz="1200" b="0" i="0" dirty="0" err="1">
                <a:solidFill>
                  <a:srgbClr val="0F1115"/>
                </a:solidFill>
                <a:effectLst/>
                <a:latin typeface="quote-cjk-patch"/>
              </a:rPr>
              <a:t>LinkedHashMap</a:t>
            </a:r>
            <a:r>
              <a:rPr lang="en-US" sz="1200" b="0" i="0" dirty="0">
                <a:solidFill>
                  <a:srgbClr val="0F1115"/>
                </a:solidFill>
                <a:effectLst/>
                <a:latin typeface="quote-cjk-patch"/>
              </a:rPr>
              <a:t>(int </a:t>
            </a:r>
            <a:r>
              <a:rPr lang="en-US" sz="1200" b="0" i="0" dirty="0" err="1">
                <a:solidFill>
                  <a:srgbClr val="0F1115"/>
                </a:solidFill>
                <a:effectLst/>
                <a:latin typeface="quote-cjk-patch"/>
              </a:rPr>
              <a:t>initialCapacity</a:t>
            </a:r>
            <a:r>
              <a:rPr lang="en-US" sz="1200" b="0" i="0" dirty="0">
                <a:solidFill>
                  <a:srgbClr val="0F1115"/>
                </a:solidFill>
                <a:effectLst/>
                <a:latin typeface="quote-cjk-patch"/>
              </a:rPr>
              <a:t>)</a:t>
            </a:r>
          </a:p>
          <a:p>
            <a:pPr marL="742950" lvl="1" indent="-285750" algn="l">
              <a:buFont typeface="Arial" panose="020B0604020202020204" pitchFamily="34" charset="0"/>
              <a:buChar char="•"/>
            </a:pPr>
            <a:r>
              <a:rPr lang="en-US" sz="1200" b="0" i="0" dirty="0" err="1">
                <a:solidFill>
                  <a:srgbClr val="0F1115"/>
                </a:solidFill>
                <a:effectLst/>
                <a:latin typeface="quote-cjk-patch"/>
              </a:rPr>
              <a:t>LinkedHashMap</a:t>
            </a:r>
            <a:r>
              <a:rPr lang="en-US" sz="1200" b="0" i="0" dirty="0">
                <a:solidFill>
                  <a:srgbClr val="0F1115"/>
                </a:solidFill>
                <a:effectLst/>
                <a:latin typeface="quote-cjk-patch"/>
              </a:rPr>
              <a:t>(int </a:t>
            </a:r>
            <a:r>
              <a:rPr lang="en-US" sz="1200" b="0" i="0" dirty="0" err="1">
                <a:solidFill>
                  <a:srgbClr val="0F1115"/>
                </a:solidFill>
                <a:effectLst/>
                <a:latin typeface="quote-cjk-patch"/>
              </a:rPr>
              <a:t>initialCapacity</a:t>
            </a:r>
            <a:r>
              <a:rPr lang="en-US" sz="1200" b="0" i="0" dirty="0">
                <a:solidFill>
                  <a:srgbClr val="0F1115"/>
                </a:solidFill>
                <a:effectLst/>
                <a:latin typeface="quote-cjk-patch"/>
              </a:rPr>
              <a:t>, float </a:t>
            </a:r>
            <a:r>
              <a:rPr lang="en-US" sz="1200" b="0" i="0" dirty="0" err="1">
                <a:solidFill>
                  <a:srgbClr val="0F1115"/>
                </a:solidFill>
                <a:effectLst/>
                <a:latin typeface="quote-cjk-patch"/>
              </a:rPr>
              <a:t>loadFactor</a:t>
            </a:r>
            <a:r>
              <a:rPr lang="en-US" sz="1200" b="0" i="0" dirty="0">
                <a:solidFill>
                  <a:srgbClr val="0F1115"/>
                </a:solidFill>
                <a:effectLst/>
                <a:latin typeface="quote-cjk-patch"/>
              </a:rPr>
              <a:t>)</a:t>
            </a:r>
          </a:p>
          <a:p>
            <a:pPr marL="742950" lvl="1" indent="-285750" algn="l">
              <a:buFont typeface="Arial" panose="020B0604020202020204" pitchFamily="34" charset="0"/>
              <a:buChar char="•"/>
            </a:pPr>
            <a:r>
              <a:rPr lang="en-US" sz="1200" b="0" i="0" dirty="0" err="1">
                <a:solidFill>
                  <a:srgbClr val="0F1115"/>
                </a:solidFill>
                <a:effectLst/>
                <a:latin typeface="quote-cjk-patch"/>
              </a:rPr>
              <a:t>LinkedHashMap</a:t>
            </a:r>
            <a:r>
              <a:rPr lang="en-US" sz="1200" b="0" i="0" dirty="0">
                <a:solidFill>
                  <a:srgbClr val="0F1115"/>
                </a:solidFill>
                <a:effectLst/>
                <a:latin typeface="quote-cjk-patch"/>
              </a:rPr>
              <a:t>(int </a:t>
            </a:r>
            <a:r>
              <a:rPr lang="en-US" sz="1200" b="0" i="0" dirty="0" err="1">
                <a:solidFill>
                  <a:srgbClr val="0F1115"/>
                </a:solidFill>
                <a:effectLst/>
                <a:latin typeface="quote-cjk-patch"/>
              </a:rPr>
              <a:t>initialCapacity</a:t>
            </a:r>
            <a:r>
              <a:rPr lang="en-US" sz="1200" b="0" i="0" dirty="0">
                <a:solidFill>
                  <a:srgbClr val="0F1115"/>
                </a:solidFill>
                <a:effectLst/>
                <a:latin typeface="quote-cjk-patch"/>
              </a:rPr>
              <a:t>, float </a:t>
            </a:r>
            <a:r>
              <a:rPr lang="en-US" sz="1200" b="0" i="0" dirty="0" err="1">
                <a:solidFill>
                  <a:srgbClr val="0F1115"/>
                </a:solidFill>
                <a:effectLst/>
                <a:latin typeface="quote-cjk-patch"/>
              </a:rPr>
              <a:t>loadFactor</a:t>
            </a:r>
            <a:r>
              <a:rPr lang="en-US" sz="1200" b="0" i="0" dirty="0">
                <a:solidFill>
                  <a:srgbClr val="0F1115"/>
                </a:solidFill>
                <a:effectLst/>
                <a:latin typeface="quote-cjk-patch"/>
              </a:rPr>
              <a:t>, </a:t>
            </a:r>
            <a:r>
              <a:rPr lang="en-US" sz="1200" b="0" i="0" dirty="0" err="1">
                <a:solidFill>
                  <a:srgbClr val="0F1115"/>
                </a:solidFill>
                <a:effectLst/>
                <a:latin typeface="quote-cjk-patch"/>
              </a:rPr>
              <a:t>boolean</a:t>
            </a:r>
            <a:r>
              <a:rPr lang="en-US" sz="1200" b="0" i="0" dirty="0">
                <a:solidFill>
                  <a:srgbClr val="0F1115"/>
                </a:solidFill>
                <a:effectLst/>
                <a:latin typeface="quote-cjk-patch"/>
              </a:rPr>
              <a:t> </a:t>
            </a:r>
            <a:r>
              <a:rPr lang="en-US" sz="1200" b="0" i="0" dirty="0" err="1">
                <a:solidFill>
                  <a:srgbClr val="0F1115"/>
                </a:solidFill>
                <a:effectLst/>
                <a:latin typeface="quote-cjk-patch"/>
              </a:rPr>
              <a:t>accessOrder</a:t>
            </a:r>
            <a:r>
              <a:rPr lang="en-US" sz="1200" b="0" i="0" dirty="0">
                <a:solidFill>
                  <a:srgbClr val="0F1115"/>
                </a:solidFill>
                <a:effectLst/>
                <a:latin typeface="quote-cjk-patch"/>
              </a:rPr>
              <a:t>)</a:t>
            </a:r>
          </a:p>
          <a:p>
            <a:pPr marL="742950" lvl="1" indent="-285750" algn="l">
              <a:buFont typeface="Arial" panose="020B0604020202020204" pitchFamily="34" charset="0"/>
              <a:buChar char="•"/>
            </a:pPr>
            <a:r>
              <a:rPr lang="en-US" sz="1200" b="0" i="0" dirty="0" err="1">
                <a:solidFill>
                  <a:srgbClr val="0F1115"/>
                </a:solidFill>
                <a:effectLst/>
                <a:latin typeface="quote-cjk-patch"/>
              </a:rPr>
              <a:t>LinkedHashMap</a:t>
            </a:r>
            <a:r>
              <a:rPr lang="en-US" sz="1200" b="0" i="0" dirty="0">
                <a:solidFill>
                  <a:srgbClr val="0F1115"/>
                </a:solidFill>
                <a:effectLst/>
                <a:latin typeface="quote-cjk-patch"/>
              </a:rPr>
              <a:t>(Map&lt;? extends K, ? extends V&gt; m)</a:t>
            </a:r>
          </a:p>
          <a:p>
            <a:pPr algn="l">
              <a:buFont typeface="Arial" panose="020B0604020202020204" pitchFamily="34" charset="0"/>
              <a:buChar char="•"/>
            </a:pPr>
            <a:r>
              <a:rPr lang="en-US" sz="1200" b="1" i="0" dirty="0">
                <a:solidFill>
                  <a:srgbClr val="0F1115"/>
                </a:solidFill>
                <a:effectLst/>
                <a:latin typeface="quote-cjk-patch"/>
              </a:rPr>
              <a:t>Ordering Control:</a:t>
            </a:r>
            <a:endParaRPr lang="en-US" sz="1200" b="0" i="0" dirty="0">
              <a:solidFill>
                <a:srgbClr val="0F1115"/>
              </a:solidFill>
              <a:effectLst/>
              <a:latin typeface="quote-cjk-patch"/>
            </a:endParaRPr>
          </a:p>
          <a:p>
            <a:pPr marL="742950" lvl="1" indent="-285750" algn="l">
              <a:buFont typeface="Arial" panose="020B0604020202020204" pitchFamily="34" charset="0"/>
              <a:buChar char="•"/>
            </a:pPr>
            <a:r>
              <a:rPr lang="en-US" sz="1200" b="0" i="0" dirty="0" err="1">
                <a:solidFill>
                  <a:srgbClr val="0F1115"/>
                </a:solidFill>
                <a:effectLst/>
                <a:latin typeface="quote-cjk-patch"/>
              </a:rPr>
              <a:t>removeEldestEntry</a:t>
            </a:r>
            <a:r>
              <a:rPr lang="en-US" sz="1200" b="0" i="0" dirty="0">
                <a:solidFill>
                  <a:srgbClr val="0F1115"/>
                </a:solidFill>
                <a:effectLst/>
                <a:latin typeface="quote-cjk-patch"/>
              </a:rPr>
              <a:t>(</a:t>
            </a:r>
            <a:r>
              <a:rPr lang="en-US" sz="1200" b="0" i="0" dirty="0" err="1">
                <a:solidFill>
                  <a:srgbClr val="0F1115"/>
                </a:solidFill>
                <a:effectLst/>
                <a:latin typeface="quote-cjk-patch"/>
              </a:rPr>
              <a:t>Map.Entry</a:t>
            </a:r>
            <a:r>
              <a:rPr lang="en-US" sz="1200" b="0" i="0" dirty="0">
                <a:solidFill>
                  <a:srgbClr val="0F1115"/>
                </a:solidFill>
                <a:effectLst/>
                <a:latin typeface="quote-cjk-patch"/>
              </a:rPr>
              <a:t>&lt;K,V&gt; eldest) [protected]</a:t>
            </a:r>
          </a:p>
          <a:p>
            <a:pPr algn="l">
              <a:buFont typeface="Arial" panose="020B0604020202020204" pitchFamily="34" charset="0"/>
              <a:buChar char="•"/>
            </a:pPr>
            <a:r>
              <a:rPr lang="en-US" sz="1200" b="1" i="0" dirty="0">
                <a:solidFill>
                  <a:srgbClr val="0F1115"/>
                </a:solidFill>
                <a:effectLst/>
                <a:latin typeface="quote-cjk-patch"/>
              </a:rPr>
              <a:t>Implements all Map methods</a:t>
            </a:r>
            <a:endParaRPr lang="en-US" sz="1200" b="0" i="0" dirty="0">
              <a:solidFill>
                <a:srgbClr val="0F1115"/>
              </a:solidFill>
              <a:effectLst/>
              <a:latin typeface="quote-cjk-patch"/>
            </a:endParaRPr>
          </a:p>
        </p:txBody>
      </p:sp>
      <p:sp>
        <p:nvSpPr>
          <p:cNvPr id="9" name="TextBox 8">
            <a:extLst>
              <a:ext uri="{FF2B5EF4-FFF2-40B4-BE49-F238E27FC236}">
                <a16:creationId xmlns:a16="http://schemas.microsoft.com/office/drawing/2014/main" id="{8BC9A95C-9944-15A8-04FB-6FB6EC127F99}"/>
              </a:ext>
            </a:extLst>
          </p:cNvPr>
          <p:cNvSpPr txBox="1"/>
          <p:nvPr/>
        </p:nvSpPr>
        <p:spPr>
          <a:xfrm>
            <a:off x="929150" y="410496"/>
            <a:ext cx="3932904" cy="2492990"/>
          </a:xfrm>
          <a:prstGeom prst="rect">
            <a:avLst/>
          </a:prstGeom>
          <a:noFill/>
          <a:ln>
            <a:solidFill>
              <a:schemeClr val="accent1">
                <a:lumMod val="60000"/>
                <a:lumOff val="40000"/>
              </a:schemeClr>
            </a:solidFill>
          </a:ln>
        </p:spPr>
        <p:txBody>
          <a:bodyPr wrap="square">
            <a:spAutoFit/>
          </a:bodyPr>
          <a:lstStyle/>
          <a:p>
            <a:pPr algn="l">
              <a:buNone/>
            </a:pPr>
            <a:r>
              <a:rPr lang="en-US" sz="1200" b="1" i="0" dirty="0" err="1">
                <a:solidFill>
                  <a:srgbClr val="0F1115"/>
                </a:solidFill>
                <a:effectLst/>
                <a:latin typeface="quote-cjk-patch"/>
              </a:rPr>
              <a:t>Hashtable</a:t>
            </a:r>
            <a:r>
              <a:rPr lang="en-US" sz="1200" b="1" i="0" dirty="0">
                <a:solidFill>
                  <a:srgbClr val="0F1115"/>
                </a:solidFill>
                <a:effectLst/>
                <a:latin typeface="quote-cjk-patch"/>
              </a:rPr>
              <a:t> Class (implements Map)</a:t>
            </a:r>
          </a:p>
          <a:p>
            <a:pPr algn="l">
              <a:buFont typeface="Arial" panose="020B0604020202020204" pitchFamily="34" charset="0"/>
              <a:buChar char="•"/>
            </a:pPr>
            <a:r>
              <a:rPr lang="en-US" sz="1200" b="1" i="0" dirty="0">
                <a:solidFill>
                  <a:srgbClr val="0F1115"/>
                </a:solidFill>
                <a:effectLst/>
                <a:latin typeface="quote-cjk-patch"/>
              </a:rPr>
              <a:t>Constructors:</a:t>
            </a:r>
            <a:endParaRPr lang="en-US" sz="1200" b="0" i="0" dirty="0">
              <a:solidFill>
                <a:srgbClr val="0F1115"/>
              </a:solidFill>
              <a:effectLst/>
              <a:latin typeface="quote-cjk-patch"/>
            </a:endParaRPr>
          </a:p>
          <a:p>
            <a:pPr marL="742950" lvl="1" indent="-285750" algn="l">
              <a:buFont typeface="Arial" panose="020B0604020202020204" pitchFamily="34" charset="0"/>
              <a:buChar char="•"/>
            </a:pPr>
            <a:r>
              <a:rPr lang="en-US" sz="1200" b="0" i="0" dirty="0" err="1">
                <a:solidFill>
                  <a:srgbClr val="0F1115"/>
                </a:solidFill>
                <a:effectLst/>
                <a:latin typeface="quote-cjk-patch"/>
              </a:rPr>
              <a:t>Hashtable</a:t>
            </a:r>
            <a:r>
              <a:rPr lang="en-US" sz="1200" b="0" i="0" dirty="0">
                <a:solidFill>
                  <a:srgbClr val="0F1115"/>
                </a:solidFill>
                <a:effectLst/>
                <a:latin typeface="quote-cjk-patch"/>
              </a:rPr>
              <a:t>()</a:t>
            </a:r>
          </a:p>
          <a:p>
            <a:pPr marL="742950" lvl="1" indent="-285750" algn="l">
              <a:buFont typeface="Arial" panose="020B0604020202020204" pitchFamily="34" charset="0"/>
              <a:buChar char="•"/>
            </a:pPr>
            <a:r>
              <a:rPr lang="en-US" sz="1200" b="0" i="0" dirty="0" err="1">
                <a:solidFill>
                  <a:srgbClr val="0F1115"/>
                </a:solidFill>
                <a:effectLst/>
                <a:latin typeface="quote-cjk-patch"/>
              </a:rPr>
              <a:t>Hashtable</a:t>
            </a:r>
            <a:r>
              <a:rPr lang="en-US" sz="1200" b="0" i="0" dirty="0">
                <a:solidFill>
                  <a:srgbClr val="0F1115"/>
                </a:solidFill>
                <a:effectLst/>
                <a:latin typeface="quote-cjk-patch"/>
              </a:rPr>
              <a:t>(int </a:t>
            </a:r>
            <a:r>
              <a:rPr lang="en-US" sz="1200" b="0" i="0" dirty="0" err="1">
                <a:solidFill>
                  <a:srgbClr val="0F1115"/>
                </a:solidFill>
                <a:effectLst/>
                <a:latin typeface="quote-cjk-patch"/>
              </a:rPr>
              <a:t>initialCapacity</a:t>
            </a:r>
            <a:r>
              <a:rPr lang="en-US" sz="1200" b="0" i="0" dirty="0">
                <a:solidFill>
                  <a:srgbClr val="0F1115"/>
                </a:solidFill>
                <a:effectLst/>
                <a:latin typeface="quote-cjk-patch"/>
              </a:rPr>
              <a:t>)</a:t>
            </a:r>
          </a:p>
          <a:p>
            <a:pPr marL="742950" lvl="1" indent="-285750" algn="l">
              <a:buFont typeface="Arial" panose="020B0604020202020204" pitchFamily="34" charset="0"/>
              <a:buChar char="•"/>
            </a:pPr>
            <a:r>
              <a:rPr lang="en-US" sz="1200" b="0" i="0" dirty="0" err="1">
                <a:solidFill>
                  <a:srgbClr val="0F1115"/>
                </a:solidFill>
                <a:effectLst/>
                <a:latin typeface="quote-cjk-patch"/>
              </a:rPr>
              <a:t>Hashtable</a:t>
            </a:r>
            <a:r>
              <a:rPr lang="en-US" sz="1200" b="0" i="0" dirty="0">
                <a:solidFill>
                  <a:srgbClr val="0F1115"/>
                </a:solidFill>
                <a:effectLst/>
                <a:latin typeface="quote-cjk-patch"/>
              </a:rPr>
              <a:t>(int </a:t>
            </a:r>
            <a:r>
              <a:rPr lang="en-US" sz="1200" b="0" i="0" dirty="0" err="1">
                <a:solidFill>
                  <a:srgbClr val="0F1115"/>
                </a:solidFill>
                <a:effectLst/>
                <a:latin typeface="quote-cjk-patch"/>
              </a:rPr>
              <a:t>initialCapacity</a:t>
            </a:r>
            <a:r>
              <a:rPr lang="en-US" sz="1200" b="0" i="0" dirty="0">
                <a:solidFill>
                  <a:srgbClr val="0F1115"/>
                </a:solidFill>
                <a:effectLst/>
                <a:latin typeface="quote-cjk-patch"/>
              </a:rPr>
              <a:t>, float </a:t>
            </a:r>
            <a:r>
              <a:rPr lang="en-US" sz="1200" b="0" i="0" dirty="0" err="1">
                <a:solidFill>
                  <a:srgbClr val="0F1115"/>
                </a:solidFill>
                <a:effectLst/>
                <a:latin typeface="quote-cjk-patch"/>
              </a:rPr>
              <a:t>loadFactor</a:t>
            </a:r>
            <a:r>
              <a:rPr lang="en-US" sz="1200" b="0" i="0" dirty="0">
                <a:solidFill>
                  <a:srgbClr val="0F1115"/>
                </a:solidFill>
                <a:effectLst/>
                <a:latin typeface="quote-cjk-patch"/>
              </a:rPr>
              <a:t>)</a:t>
            </a:r>
          </a:p>
          <a:p>
            <a:pPr marL="742950" lvl="1" indent="-285750" algn="l">
              <a:buFont typeface="Arial" panose="020B0604020202020204" pitchFamily="34" charset="0"/>
              <a:buChar char="•"/>
            </a:pPr>
            <a:r>
              <a:rPr lang="en-US" sz="1200" b="0" i="0" dirty="0" err="1">
                <a:solidFill>
                  <a:srgbClr val="0F1115"/>
                </a:solidFill>
                <a:effectLst/>
                <a:latin typeface="quote-cjk-patch"/>
              </a:rPr>
              <a:t>Hashtable</a:t>
            </a:r>
            <a:r>
              <a:rPr lang="en-US" sz="1200" b="0" i="0" dirty="0">
                <a:solidFill>
                  <a:srgbClr val="0F1115"/>
                </a:solidFill>
                <a:effectLst/>
                <a:latin typeface="quote-cjk-patch"/>
              </a:rPr>
              <a:t>(Map&lt;? extends K, ? extends V&gt; t)</a:t>
            </a:r>
          </a:p>
          <a:p>
            <a:pPr algn="l">
              <a:buFont typeface="Arial" panose="020B0604020202020204" pitchFamily="34" charset="0"/>
              <a:buChar char="•"/>
            </a:pPr>
            <a:r>
              <a:rPr lang="en-US" sz="1200" b="1" i="0" dirty="0">
                <a:solidFill>
                  <a:srgbClr val="0F1115"/>
                </a:solidFill>
                <a:effectLst/>
                <a:latin typeface="quote-cjk-patch"/>
              </a:rPr>
              <a:t>Legacy Methods:</a:t>
            </a:r>
            <a:endParaRPr lang="en-US" sz="1200" b="0" i="0" dirty="0">
              <a:solidFill>
                <a:srgbClr val="0F1115"/>
              </a:solidFill>
              <a:effectLst/>
              <a:latin typeface="quote-cjk-patch"/>
            </a:endParaRPr>
          </a:p>
          <a:p>
            <a:pPr marL="742950" lvl="1" indent="-285750" algn="l">
              <a:buFont typeface="Arial" panose="020B0604020202020204" pitchFamily="34" charset="0"/>
              <a:buChar char="•"/>
            </a:pPr>
            <a:r>
              <a:rPr lang="en-US" sz="1200" b="0" i="0" dirty="0">
                <a:solidFill>
                  <a:srgbClr val="0F1115"/>
                </a:solidFill>
                <a:effectLst/>
                <a:latin typeface="quote-cjk-patch"/>
              </a:rPr>
              <a:t>elements() [returns Enumeration</a:t>
            </a:r>
            <a:r>
              <a:rPr lang="en-US" sz="1200" b="0" i="0" dirty="0">
                <a:solidFill>
                  <a:srgbClr val="0F1115"/>
                </a:solidFill>
                <a:effectLst/>
                <a:latin typeface="Menlo"/>
              </a:rPr>
              <a:t>&lt;V&gt;</a:t>
            </a:r>
            <a:r>
              <a:rPr lang="en-US" sz="1200" b="0" i="0" dirty="0">
                <a:solidFill>
                  <a:srgbClr val="0F1115"/>
                </a:solidFill>
                <a:effectLst/>
                <a:latin typeface="quote-cjk-patch"/>
              </a:rPr>
              <a:t>]</a:t>
            </a:r>
          </a:p>
          <a:p>
            <a:pPr marL="742950" lvl="1" indent="-285750" algn="l">
              <a:buFont typeface="Arial" panose="020B0604020202020204" pitchFamily="34" charset="0"/>
              <a:buChar char="•"/>
            </a:pPr>
            <a:r>
              <a:rPr lang="en-US" sz="1200" b="0" i="0" dirty="0">
                <a:solidFill>
                  <a:srgbClr val="0F1115"/>
                </a:solidFill>
                <a:effectLst/>
                <a:latin typeface="quote-cjk-patch"/>
              </a:rPr>
              <a:t>keys() [returns Enumeration</a:t>
            </a:r>
            <a:r>
              <a:rPr lang="en-US" sz="1200" b="0" i="0" dirty="0">
                <a:solidFill>
                  <a:srgbClr val="0F1115"/>
                </a:solidFill>
                <a:effectLst/>
                <a:latin typeface="Menlo"/>
              </a:rPr>
              <a:t>&lt;K&gt;</a:t>
            </a:r>
            <a:r>
              <a:rPr lang="en-US" sz="1200" b="0" i="0" dirty="0">
                <a:solidFill>
                  <a:srgbClr val="0F1115"/>
                </a:solidFill>
                <a:effectLst/>
                <a:latin typeface="quote-cjk-patch"/>
              </a:rPr>
              <a:t>]</a:t>
            </a:r>
          </a:p>
          <a:p>
            <a:pPr marL="742950" lvl="1" indent="-285750" algn="l">
              <a:buFont typeface="Arial" panose="020B0604020202020204" pitchFamily="34" charset="0"/>
              <a:buChar char="•"/>
            </a:pPr>
            <a:r>
              <a:rPr lang="en-US" sz="1200" b="0" i="0" dirty="0">
                <a:solidFill>
                  <a:srgbClr val="0F1115"/>
                </a:solidFill>
                <a:effectLst/>
                <a:latin typeface="quote-cjk-patch"/>
              </a:rPr>
              <a:t>rehash() [protected]</a:t>
            </a:r>
          </a:p>
          <a:p>
            <a:pPr algn="l">
              <a:buFont typeface="Arial" panose="020B0604020202020204" pitchFamily="34" charset="0"/>
              <a:buChar char="•"/>
            </a:pPr>
            <a:r>
              <a:rPr lang="en-US" sz="1200" b="1" i="0" dirty="0">
                <a:solidFill>
                  <a:srgbClr val="0F1115"/>
                </a:solidFill>
                <a:effectLst/>
                <a:latin typeface="quote-cjk-patch"/>
              </a:rPr>
              <a:t>Synchronized Methods:</a:t>
            </a:r>
            <a:endParaRPr lang="en-US" sz="1200" b="0" i="0" dirty="0">
              <a:solidFill>
                <a:srgbClr val="0F1115"/>
              </a:solidFill>
              <a:effectLst/>
              <a:latin typeface="quote-cjk-patch"/>
            </a:endParaRPr>
          </a:p>
          <a:p>
            <a:pPr marL="742950" lvl="1" indent="-285750" algn="l">
              <a:buFont typeface="Arial" panose="020B0604020202020204" pitchFamily="34" charset="0"/>
              <a:buChar char="•"/>
            </a:pPr>
            <a:r>
              <a:rPr lang="en-US" sz="1200" b="0" i="0" dirty="0">
                <a:solidFill>
                  <a:srgbClr val="0F1115"/>
                </a:solidFill>
                <a:effectLst/>
                <a:latin typeface="quote-cjk-patch"/>
              </a:rPr>
              <a:t>All methods are synchronized</a:t>
            </a:r>
          </a:p>
          <a:p>
            <a:pPr algn="l">
              <a:buFont typeface="Arial" panose="020B0604020202020204" pitchFamily="34" charset="0"/>
              <a:buChar char="•"/>
            </a:pPr>
            <a:r>
              <a:rPr lang="en-US" sz="1200" b="1" i="0" dirty="0">
                <a:solidFill>
                  <a:srgbClr val="0F1115"/>
                </a:solidFill>
                <a:effectLst/>
                <a:latin typeface="quote-cjk-patch"/>
              </a:rPr>
              <a:t>Implements all Map methods</a:t>
            </a:r>
            <a:endParaRPr lang="en-US" sz="1200" b="0" i="0" dirty="0">
              <a:solidFill>
                <a:srgbClr val="0F1115"/>
              </a:solidFill>
              <a:effectLst/>
              <a:latin typeface="quote-cjk-patch"/>
            </a:endParaRPr>
          </a:p>
        </p:txBody>
      </p:sp>
      <p:sp>
        <p:nvSpPr>
          <p:cNvPr id="10" name="TextBox 9">
            <a:extLst>
              <a:ext uri="{FF2B5EF4-FFF2-40B4-BE49-F238E27FC236}">
                <a16:creationId xmlns:a16="http://schemas.microsoft.com/office/drawing/2014/main" id="{AA9D36D3-06F6-33E9-4CE8-61386ADA2238}"/>
              </a:ext>
            </a:extLst>
          </p:cNvPr>
          <p:cNvSpPr txBox="1"/>
          <p:nvPr/>
        </p:nvSpPr>
        <p:spPr>
          <a:xfrm>
            <a:off x="929150" y="4135855"/>
            <a:ext cx="4452500" cy="1754326"/>
          </a:xfrm>
          <a:prstGeom prst="rect">
            <a:avLst/>
          </a:prstGeom>
          <a:noFill/>
          <a:ln>
            <a:solidFill>
              <a:schemeClr val="accent1">
                <a:lumMod val="60000"/>
                <a:lumOff val="40000"/>
              </a:schemeClr>
            </a:solidFill>
          </a:ln>
        </p:spPr>
        <p:txBody>
          <a:bodyPr wrap="square">
            <a:spAutoFit/>
          </a:bodyPr>
          <a:lstStyle/>
          <a:p>
            <a:pPr algn="l">
              <a:buNone/>
            </a:pPr>
            <a:r>
              <a:rPr lang="en-US" sz="1200" b="1" dirty="0">
                <a:solidFill>
                  <a:srgbClr val="0F1115"/>
                </a:solidFill>
                <a:effectLst/>
                <a:latin typeface="quote-cjk-patch"/>
              </a:rPr>
              <a:t>HashMap Class (implements Map)</a:t>
            </a:r>
          </a:p>
          <a:p>
            <a:pPr algn="l">
              <a:buFont typeface="Arial" panose="020B0604020202020204" pitchFamily="34" charset="0"/>
              <a:buChar char="•"/>
            </a:pPr>
            <a:r>
              <a:rPr lang="en-US" sz="1200" b="1" i="0" dirty="0">
                <a:solidFill>
                  <a:srgbClr val="0F1115"/>
                </a:solidFill>
                <a:effectLst/>
                <a:latin typeface="quote-cjk-patch"/>
              </a:rPr>
              <a:t>Constructors:</a:t>
            </a:r>
            <a:endParaRPr lang="en-US" sz="1200" b="0" i="0" dirty="0">
              <a:solidFill>
                <a:srgbClr val="0F1115"/>
              </a:solidFill>
              <a:effectLst/>
              <a:latin typeface="quote-cjk-patch"/>
            </a:endParaRPr>
          </a:p>
          <a:p>
            <a:pPr marL="742950" lvl="1" indent="-285750" algn="l">
              <a:buFont typeface="Arial" panose="020B0604020202020204" pitchFamily="34" charset="0"/>
              <a:buChar char="•"/>
            </a:pPr>
            <a:r>
              <a:rPr lang="en-US" sz="1200" b="0" i="0" dirty="0">
                <a:solidFill>
                  <a:srgbClr val="0F1115"/>
                </a:solidFill>
                <a:effectLst/>
                <a:latin typeface="quote-cjk-patch"/>
              </a:rPr>
              <a:t>HashMap()</a:t>
            </a:r>
          </a:p>
          <a:p>
            <a:pPr marL="742950" lvl="1" indent="-285750" algn="l">
              <a:buFont typeface="Arial" panose="020B0604020202020204" pitchFamily="34" charset="0"/>
              <a:buChar char="•"/>
            </a:pPr>
            <a:r>
              <a:rPr lang="en-US" sz="1200" b="0" i="0" dirty="0">
                <a:solidFill>
                  <a:srgbClr val="0F1115"/>
                </a:solidFill>
                <a:effectLst/>
                <a:latin typeface="quote-cjk-patch"/>
              </a:rPr>
              <a:t>HashMap(int </a:t>
            </a:r>
            <a:r>
              <a:rPr lang="en-US" sz="1200" b="0" i="0" dirty="0" err="1">
                <a:solidFill>
                  <a:srgbClr val="0F1115"/>
                </a:solidFill>
                <a:effectLst/>
                <a:latin typeface="quote-cjk-patch"/>
              </a:rPr>
              <a:t>initialCapacity</a:t>
            </a:r>
            <a:r>
              <a:rPr lang="en-US" sz="1200" b="0" i="0" dirty="0">
                <a:solidFill>
                  <a:srgbClr val="0F1115"/>
                </a:solidFill>
                <a:effectLst/>
                <a:latin typeface="quote-cjk-patch"/>
              </a:rPr>
              <a:t>)</a:t>
            </a:r>
          </a:p>
          <a:p>
            <a:pPr marL="742950" lvl="1" indent="-285750" algn="l">
              <a:buFont typeface="Arial" panose="020B0604020202020204" pitchFamily="34" charset="0"/>
              <a:buChar char="•"/>
            </a:pPr>
            <a:r>
              <a:rPr lang="en-US" sz="1200" b="0" i="0" dirty="0">
                <a:solidFill>
                  <a:srgbClr val="0F1115"/>
                </a:solidFill>
                <a:effectLst/>
                <a:latin typeface="quote-cjk-patch"/>
              </a:rPr>
              <a:t>HashMap(int </a:t>
            </a:r>
            <a:r>
              <a:rPr lang="en-US" sz="1200" b="0" i="0" dirty="0" err="1">
                <a:solidFill>
                  <a:srgbClr val="0F1115"/>
                </a:solidFill>
                <a:effectLst/>
                <a:latin typeface="quote-cjk-patch"/>
              </a:rPr>
              <a:t>initialCapacity</a:t>
            </a:r>
            <a:r>
              <a:rPr lang="en-US" sz="1200" b="0" i="0" dirty="0">
                <a:solidFill>
                  <a:srgbClr val="0F1115"/>
                </a:solidFill>
                <a:effectLst/>
                <a:latin typeface="quote-cjk-patch"/>
              </a:rPr>
              <a:t>, float </a:t>
            </a:r>
            <a:r>
              <a:rPr lang="en-US" sz="1200" b="0" i="0" dirty="0" err="1">
                <a:solidFill>
                  <a:srgbClr val="0F1115"/>
                </a:solidFill>
                <a:effectLst/>
                <a:latin typeface="quote-cjk-patch"/>
              </a:rPr>
              <a:t>loadFactor</a:t>
            </a:r>
            <a:r>
              <a:rPr lang="en-US" sz="1200" b="0" i="0" dirty="0">
                <a:solidFill>
                  <a:srgbClr val="0F1115"/>
                </a:solidFill>
                <a:effectLst/>
                <a:latin typeface="quote-cjk-patch"/>
              </a:rPr>
              <a:t>)</a:t>
            </a:r>
          </a:p>
          <a:p>
            <a:pPr marL="742950" lvl="1" indent="-285750" algn="l">
              <a:buFont typeface="Arial" panose="020B0604020202020204" pitchFamily="34" charset="0"/>
              <a:buChar char="•"/>
            </a:pPr>
            <a:r>
              <a:rPr lang="en-US" sz="1200" b="0" i="0" dirty="0">
                <a:solidFill>
                  <a:srgbClr val="0F1115"/>
                </a:solidFill>
                <a:effectLst/>
                <a:latin typeface="quote-cjk-patch"/>
              </a:rPr>
              <a:t>HashMap(Map&lt;? extends K, ? extends V&gt; m)</a:t>
            </a:r>
          </a:p>
          <a:p>
            <a:pPr algn="l">
              <a:buFont typeface="Arial" panose="020B0604020202020204" pitchFamily="34" charset="0"/>
              <a:buChar char="•"/>
            </a:pPr>
            <a:r>
              <a:rPr lang="en-US" sz="1200" b="1" i="0" dirty="0">
                <a:solidFill>
                  <a:srgbClr val="0F1115"/>
                </a:solidFill>
                <a:effectLst/>
                <a:latin typeface="quote-cjk-patch"/>
              </a:rPr>
              <a:t>Additional Methods:</a:t>
            </a:r>
            <a:endParaRPr lang="en-US" sz="1200" b="0" i="0" dirty="0">
              <a:solidFill>
                <a:srgbClr val="0F1115"/>
              </a:solidFill>
              <a:effectLst/>
              <a:latin typeface="quote-cjk-patch"/>
            </a:endParaRPr>
          </a:p>
          <a:p>
            <a:pPr marL="742950" lvl="1" indent="-285750" algn="l">
              <a:buFont typeface="Arial" panose="020B0604020202020204" pitchFamily="34" charset="0"/>
              <a:buChar char="•"/>
            </a:pPr>
            <a:r>
              <a:rPr lang="en-US" sz="1200" b="0" i="0" dirty="0">
                <a:solidFill>
                  <a:srgbClr val="0F1115"/>
                </a:solidFill>
                <a:effectLst/>
                <a:latin typeface="quote-cjk-patch"/>
              </a:rPr>
              <a:t>clone()</a:t>
            </a:r>
          </a:p>
          <a:p>
            <a:pPr algn="l">
              <a:buFont typeface="Arial" panose="020B0604020202020204" pitchFamily="34" charset="0"/>
              <a:buChar char="•"/>
            </a:pPr>
            <a:r>
              <a:rPr lang="en-US" sz="1200" b="1" i="0" dirty="0">
                <a:solidFill>
                  <a:srgbClr val="0F1115"/>
                </a:solidFill>
                <a:effectLst/>
                <a:latin typeface="quote-cjk-patch"/>
              </a:rPr>
              <a:t>Implements all Map methods</a:t>
            </a:r>
            <a:endParaRPr lang="en-US" sz="1200" b="0" i="0" dirty="0">
              <a:solidFill>
                <a:srgbClr val="0F1115"/>
              </a:solidFill>
              <a:effectLst/>
              <a:latin typeface="quote-cjk-patch"/>
            </a:endParaRPr>
          </a:p>
        </p:txBody>
      </p:sp>
    </p:spTree>
    <p:extLst>
      <p:ext uri="{BB962C8B-B14F-4D97-AF65-F5344CB8AC3E}">
        <p14:creationId xmlns:p14="http://schemas.microsoft.com/office/powerpoint/2010/main" val="19716845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389A2B-4491-3FE6-67FD-19BF7C502E9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1F56584-552A-8919-FA5B-D47591D8BC33}"/>
              </a:ext>
            </a:extLst>
          </p:cNvPr>
          <p:cNvSpPr txBox="1"/>
          <p:nvPr/>
        </p:nvSpPr>
        <p:spPr>
          <a:xfrm>
            <a:off x="448917" y="480324"/>
            <a:ext cx="6092686" cy="5632311"/>
          </a:xfrm>
          <a:prstGeom prst="rect">
            <a:avLst/>
          </a:prstGeom>
          <a:noFill/>
        </p:spPr>
        <p:txBody>
          <a:bodyPr wrap="square">
            <a:spAutoFit/>
          </a:bodyPr>
          <a:lstStyle/>
          <a:p>
            <a:r>
              <a:rPr lang="en-US" dirty="0"/>
              <a:t>LIST INTERFACE</a:t>
            </a:r>
          </a:p>
          <a:p>
            <a:r>
              <a:rPr lang="en-US" dirty="0"/>
              <a:t>────────────────────────────────</a:t>
            </a:r>
          </a:p>
          <a:p>
            <a:r>
              <a:rPr lang="en-US" dirty="0"/>
              <a:t>Characteristics:</a:t>
            </a:r>
          </a:p>
          <a:p>
            <a:r>
              <a:rPr lang="en-US" dirty="0"/>
              <a:t>• Ordered collection (insertion order)</a:t>
            </a:r>
          </a:p>
          <a:p>
            <a:r>
              <a:rPr lang="en-US" dirty="0"/>
              <a:t>• Allows duplicates</a:t>
            </a:r>
          </a:p>
          <a:p>
            <a:r>
              <a:rPr lang="en-US" dirty="0"/>
              <a:t>• Positional access via indices</a:t>
            </a:r>
          </a:p>
          <a:p>
            <a:endParaRPr lang="en-US" dirty="0"/>
          </a:p>
          <a:p>
            <a:r>
              <a:rPr lang="en-US" dirty="0"/>
              <a:t>Implementations:</a:t>
            </a:r>
          </a:p>
          <a:p>
            <a:r>
              <a:rPr lang="en-US" dirty="0"/>
              <a:t>1. </a:t>
            </a:r>
            <a:r>
              <a:rPr lang="en-US" dirty="0" err="1"/>
              <a:t>ArrayList</a:t>
            </a:r>
            <a:endParaRPr lang="en-US" dirty="0"/>
          </a:p>
          <a:p>
            <a:r>
              <a:rPr lang="en-US" dirty="0"/>
              <a:t>   - Resizable array</a:t>
            </a:r>
          </a:p>
          <a:p>
            <a:r>
              <a:rPr lang="en-US" dirty="0"/>
              <a:t>   - Fast random access (O(1))</a:t>
            </a:r>
          </a:p>
          <a:p>
            <a:r>
              <a:rPr lang="en-US" dirty="0"/>
              <a:t>   - Slow insertions/removals in middle</a:t>
            </a:r>
          </a:p>
          <a:p>
            <a:endParaRPr lang="en-US" dirty="0"/>
          </a:p>
          <a:p>
            <a:r>
              <a:rPr lang="en-US" dirty="0"/>
              <a:t>2. LinkedList</a:t>
            </a:r>
          </a:p>
          <a:p>
            <a:r>
              <a:rPr lang="en-US" dirty="0"/>
              <a:t>   - Doubly linked list</a:t>
            </a:r>
          </a:p>
          <a:p>
            <a:r>
              <a:rPr lang="en-US" dirty="0"/>
              <a:t>   - Fast insertions/deletions (O(1))</a:t>
            </a:r>
          </a:p>
          <a:p>
            <a:r>
              <a:rPr lang="en-US" dirty="0"/>
              <a:t>   - Slow random access (O(n))</a:t>
            </a:r>
          </a:p>
          <a:p>
            <a:endParaRPr lang="en-US" dirty="0"/>
          </a:p>
          <a:p>
            <a:r>
              <a:rPr lang="en-US" dirty="0"/>
              <a:t>3. Vector (Legacy)</a:t>
            </a:r>
          </a:p>
          <a:p>
            <a:r>
              <a:rPr lang="en-US" dirty="0"/>
              <a:t>   - Synchronized version of </a:t>
            </a:r>
            <a:r>
              <a:rPr lang="en-US" dirty="0" err="1"/>
              <a:t>ArrayList</a:t>
            </a:r>
            <a:endParaRPr lang="en-US" dirty="0"/>
          </a:p>
        </p:txBody>
      </p:sp>
    </p:spTree>
    <p:extLst>
      <p:ext uri="{BB962C8B-B14F-4D97-AF65-F5344CB8AC3E}">
        <p14:creationId xmlns:p14="http://schemas.microsoft.com/office/powerpoint/2010/main" val="31084540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9EB5EF-C68B-2965-7588-CFF1FFC6DA62}"/>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18CC3585-242B-DC66-A6FE-1A5437351492}"/>
              </a:ext>
            </a:extLst>
          </p:cNvPr>
          <p:cNvSpPr txBox="1"/>
          <p:nvPr/>
        </p:nvSpPr>
        <p:spPr>
          <a:xfrm>
            <a:off x="3046344" y="2071577"/>
            <a:ext cx="6092686" cy="2714846"/>
          </a:xfrm>
          <a:prstGeom prst="rect">
            <a:avLst/>
          </a:prstGeom>
          <a:noFill/>
        </p:spPr>
        <p:txBody>
          <a:bodyPr wrap="square">
            <a:spAutoFit/>
          </a:bodyPr>
          <a:lstStyle/>
          <a:p>
            <a:pPr algn="l" latinLnBrk="1">
              <a:lnSpc>
                <a:spcPts val="1650"/>
              </a:lnSpc>
              <a:buNone/>
            </a:pPr>
            <a:r>
              <a:rPr lang="en-US" b="0" i="1" dirty="0">
                <a:solidFill>
                  <a:srgbClr val="A0A1A7"/>
                </a:solidFill>
                <a:effectLst/>
                <a:latin typeface="Menlo"/>
              </a:rPr>
              <a:t>// </a:t>
            </a:r>
            <a:r>
              <a:rPr lang="en-US" b="0" i="1" dirty="0" err="1">
                <a:solidFill>
                  <a:srgbClr val="A0A1A7"/>
                </a:solidFill>
                <a:effectLst/>
                <a:latin typeface="Menlo"/>
              </a:rPr>
              <a:t>ArrayList</a:t>
            </a:r>
            <a:r>
              <a:rPr lang="en-US" b="0" i="1" dirty="0">
                <a:solidFill>
                  <a:srgbClr val="A0A1A7"/>
                </a:solidFill>
                <a:effectLst/>
                <a:latin typeface="Menlo"/>
              </a:rPr>
              <a:t> Example</a:t>
            </a:r>
            <a:endParaRPr lang="en-US" b="0" dirty="0">
              <a:solidFill>
                <a:srgbClr val="0F1115"/>
              </a:solidFill>
              <a:effectLst/>
              <a:latin typeface="Menlo"/>
            </a:endParaRPr>
          </a:p>
          <a:p>
            <a:pPr algn="l" latinLnBrk="1">
              <a:lnSpc>
                <a:spcPts val="1650"/>
              </a:lnSpc>
              <a:buNone/>
            </a:pPr>
            <a:r>
              <a:rPr lang="en-US" b="0" dirty="0">
                <a:solidFill>
                  <a:srgbClr val="B76B01"/>
                </a:solidFill>
                <a:effectLst/>
                <a:latin typeface="Menlo"/>
              </a:rPr>
              <a:t>List</a:t>
            </a:r>
            <a:r>
              <a:rPr lang="en-US" b="0" dirty="0">
                <a:solidFill>
                  <a:srgbClr val="383A42"/>
                </a:solidFill>
                <a:effectLst/>
                <a:latin typeface="Menlo"/>
              </a:rPr>
              <a:t>&lt;</a:t>
            </a:r>
            <a:r>
              <a:rPr lang="en-US" b="0" dirty="0">
                <a:solidFill>
                  <a:srgbClr val="B76B01"/>
                </a:solidFill>
                <a:effectLst/>
                <a:latin typeface="Menlo"/>
              </a:rPr>
              <a:t>String</a:t>
            </a:r>
            <a:r>
              <a:rPr lang="en-US" b="0" dirty="0">
                <a:solidFill>
                  <a:srgbClr val="383A42"/>
                </a:solidFill>
                <a:effectLst/>
                <a:latin typeface="Menlo"/>
              </a:rPr>
              <a:t>&gt;</a:t>
            </a:r>
            <a:r>
              <a:rPr lang="en-US" b="0" dirty="0">
                <a:solidFill>
                  <a:srgbClr val="0F1115"/>
                </a:solidFill>
                <a:effectLst/>
                <a:latin typeface="Menlo"/>
              </a:rPr>
              <a:t> students </a:t>
            </a:r>
            <a:r>
              <a:rPr lang="en-US" b="0" dirty="0">
                <a:solidFill>
                  <a:srgbClr val="4078F2"/>
                </a:solidFill>
                <a:effectLst/>
                <a:latin typeface="Menlo"/>
              </a:rPr>
              <a:t>=</a:t>
            </a:r>
            <a:r>
              <a:rPr lang="en-US" b="0" dirty="0">
                <a:solidFill>
                  <a:srgbClr val="0F1115"/>
                </a:solidFill>
                <a:effectLst/>
                <a:latin typeface="Menlo"/>
              </a:rPr>
              <a:t> </a:t>
            </a:r>
            <a:r>
              <a:rPr lang="en-US" b="0" dirty="0">
                <a:solidFill>
                  <a:srgbClr val="A626A4"/>
                </a:solidFill>
                <a:effectLst/>
                <a:latin typeface="Menlo"/>
              </a:rPr>
              <a:t>new</a:t>
            </a:r>
            <a:r>
              <a:rPr lang="en-US" b="0" dirty="0">
                <a:solidFill>
                  <a:srgbClr val="0F1115"/>
                </a:solidFill>
                <a:effectLst/>
                <a:latin typeface="Menlo"/>
              </a:rPr>
              <a:t> </a:t>
            </a:r>
            <a:r>
              <a:rPr lang="en-US" b="0" dirty="0" err="1">
                <a:solidFill>
                  <a:srgbClr val="B76B01"/>
                </a:solidFill>
                <a:effectLst/>
                <a:latin typeface="Menlo"/>
              </a:rPr>
              <a:t>ArrayList</a:t>
            </a:r>
            <a:r>
              <a:rPr lang="en-US" b="0" dirty="0">
                <a:solidFill>
                  <a:srgbClr val="383A42"/>
                </a:solidFill>
                <a:effectLst/>
                <a:latin typeface="Menlo"/>
              </a:rPr>
              <a:t>&lt;&gt;();</a:t>
            </a:r>
            <a:endParaRPr lang="en-US" b="0" dirty="0">
              <a:solidFill>
                <a:srgbClr val="0F1115"/>
              </a:solidFill>
              <a:effectLst/>
              <a:latin typeface="Menlo"/>
            </a:endParaRPr>
          </a:p>
          <a:p>
            <a:pPr algn="l" latinLnBrk="1">
              <a:lnSpc>
                <a:spcPts val="1650"/>
              </a:lnSpc>
              <a:buNone/>
            </a:pPr>
            <a:r>
              <a:rPr lang="en-US" b="0" dirty="0" err="1">
                <a:solidFill>
                  <a:srgbClr val="0F1115"/>
                </a:solidFill>
                <a:effectLst/>
                <a:latin typeface="Menlo"/>
              </a:rPr>
              <a:t>students</a:t>
            </a:r>
            <a:r>
              <a:rPr lang="en-US" b="0" dirty="0" err="1">
                <a:solidFill>
                  <a:srgbClr val="383A42"/>
                </a:solidFill>
                <a:effectLst/>
                <a:latin typeface="Menlo"/>
              </a:rPr>
              <a:t>.</a:t>
            </a:r>
            <a:r>
              <a:rPr lang="en-US" b="0" dirty="0" err="1">
                <a:solidFill>
                  <a:srgbClr val="4078F2"/>
                </a:solidFill>
                <a:effectLst/>
                <a:latin typeface="Menlo"/>
              </a:rPr>
              <a:t>add</a:t>
            </a:r>
            <a:r>
              <a:rPr lang="en-US" b="0" dirty="0">
                <a:solidFill>
                  <a:srgbClr val="383A42"/>
                </a:solidFill>
                <a:effectLst/>
                <a:latin typeface="Menlo"/>
              </a:rPr>
              <a:t>(</a:t>
            </a:r>
            <a:r>
              <a:rPr lang="en-US" b="0" dirty="0">
                <a:solidFill>
                  <a:srgbClr val="50A14F"/>
                </a:solidFill>
                <a:effectLst/>
                <a:latin typeface="Menlo"/>
              </a:rPr>
              <a:t>"Alice"</a:t>
            </a:r>
            <a:r>
              <a:rPr lang="en-US" b="0" dirty="0">
                <a:solidFill>
                  <a:srgbClr val="383A42"/>
                </a:solidFill>
                <a:effectLst/>
                <a:latin typeface="Menlo"/>
              </a:rPr>
              <a:t>);</a:t>
            </a:r>
            <a:endParaRPr lang="en-US" b="0" dirty="0">
              <a:solidFill>
                <a:srgbClr val="0F1115"/>
              </a:solidFill>
              <a:effectLst/>
              <a:latin typeface="Menlo"/>
            </a:endParaRPr>
          </a:p>
          <a:p>
            <a:pPr algn="l" latinLnBrk="1">
              <a:lnSpc>
                <a:spcPts val="1650"/>
              </a:lnSpc>
              <a:buNone/>
            </a:pPr>
            <a:r>
              <a:rPr lang="en-US" b="0" dirty="0" err="1">
                <a:solidFill>
                  <a:srgbClr val="0F1115"/>
                </a:solidFill>
                <a:effectLst/>
                <a:latin typeface="Menlo"/>
              </a:rPr>
              <a:t>students</a:t>
            </a:r>
            <a:r>
              <a:rPr lang="en-US" b="0" dirty="0" err="1">
                <a:solidFill>
                  <a:srgbClr val="383A42"/>
                </a:solidFill>
                <a:effectLst/>
                <a:latin typeface="Menlo"/>
              </a:rPr>
              <a:t>.</a:t>
            </a:r>
            <a:r>
              <a:rPr lang="en-US" b="0" dirty="0" err="1">
                <a:solidFill>
                  <a:srgbClr val="4078F2"/>
                </a:solidFill>
                <a:effectLst/>
                <a:latin typeface="Menlo"/>
              </a:rPr>
              <a:t>add</a:t>
            </a:r>
            <a:r>
              <a:rPr lang="en-US" b="0" dirty="0">
                <a:solidFill>
                  <a:srgbClr val="383A42"/>
                </a:solidFill>
                <a:effectLst/>
                <a:latin typeface="Menlo"/>
              </a:rPr>
              <a:t>(</a:t>
            </a:r>
            <a:r>
              <a:rPr lang="en-US" b="0" dirty="0">
                <a:solidFill>
                  <a:srgbClr val="50A14F"/>
                </a:solidFill>
                <a:effectLst/>
                <a:latin typeface="Menlo"/>
              </a:rPr>
              <a:t>"Bob"</a:t>
            </a:r>
            <a:r>
              <a:rPr lang="en-US" b="0" dirty="0">
                <a:solidFill>
                  <a:srgbClr val="383A42"/>
                </a:solidFill>
                <a:effectLst/>
                <a:latin typeface="Menlo"/>
              </a:rPr>
              <a:t>);</a:t>
            </a:r>
            <a:endParaRPr lang="en-US" b="0" dirty="0">
              <a:solidFill>
                <a:srgbClr val="0F1115"/>
              </a:solidFill>
              <a:effectLst/>
              <a:latin typeface="Menlo"/>
            </a:endParaRPr>
          </a:p>
          <a:p>
            <a:pPr algn="l" latinLnBrk="1">
              <a:lnSpc>
                <a:spcPts val="1650"/>
              </a:lnSpc>
              <a:buNone/>
            </a:pPr>
            <a:r>
              <a:rPr lang="en-US" b="0" dirty="0" err="1">
                <a:solidFill>
                  <a:srgbClr val="0F1115"/>
                </a:solidFill>
                <a:effectLst/>
                <a:latin typeface="Menlo"/>
              </a:rPr>
              <a:t>students</a:t>
            </a:r>
            <a:r>
              <a:rPr lang="en-US" b="0" dirty="0" err="1">
                <a:solidFill>
                  <a:srgbClr val="383A42"/>
                </a:solidFill>
                <a:effectLst/>
                <a:latin typeface="Menlo"/>
              </a:rPr>
              <a:t>.</a:t>
            </a:r>
            <a:r>
              <a:rPr lang="en-US" b="0" dirty="0" err="1">
                <a:solidFill>
                  <a:srgbClr val="4078F2"/>
                </a:solidFill>
                <a:effectLst/>
                <a:latin typeface="Menlo"/>
              </a:rPr>
              <a:t>add</a:t>
            </a:r>
            <a:r>
              <a:rPr lang="en-US" b="0" dirty="0">
                <a:solidFill>
                  <a:srgbClr val="383A42"/>
                </a:solidFill>
                <a:effectLst/>
                <a:latin typeface="Menlo"/>
              </a:rPr>
              <a:t>(</a:t>
            </a:r>
            <a:r>
              <a:rPr lang="en-US" b="0" dirty="0">
                <a:solidFill>
                  <a:srgbClr val="50A14F"/>
                </a:solidFill>
                <a:effectLst/>
                <a:latin typeface="Menlo"/>
              </a:rPr>
              <a:t>"Alice"</a:t>
            </a:r>
            <a:r>
              <a:rPr lang="en-US" b="0" dirty="0">
                <a:solidFill>
                  <a:srgbClr val="383A42"/>
                </a:solidFill>
                <a:effectLst/>
                <a:latin typeface="Menlo"/>
              </a:rPr>
              <a:t>);</a:t>
            </a:r>
            <a:r>
              <a:rPr lang="en-US" b="0" dirty="0">
                <a:solidFill>
                  <a:srgbClr val="0F1115"/>
                </a:solidFill>
                <a:effectLst/>
                <a:latin typeface="Menlo"/>
              </a:rPr>
              <a:t> </a:t>
            </a:r>
            <a:r>
              <a:rPr lang="en-US" b="0" i="1" dirty="0">
                <a:solidFill>
                  <a:srgbClr val="A0A1A7"/>
                </a:solidFill>
                <a:effectLst/>
                <a:latin typeface="Menlo"/>
              </a:rPr>
              <a:t>// Duplicates allowed</a:t>
            </a:r>
            <a:endParaRPr lang="en-US" b="0" dirty="0">
              <a:solidFill>
                <a:srgbClr val="0F1115"/>
              </a:solidFill>
              <a:effectLst/>
              <a:latin typeface="Menlo"/>
            </a:endParaRPr>
          </a:p>
          <a:p>
            <a:pPr algn="l" latinLnBrk="1">
              <a:lnSpc>
                <a:spcPts val="1650"/>
              </a:lnSpc>
              <a:buNone/>
            </a:pPr>
            <a:r>
              <a:rPr lang="en-US" b="0" dirty="0" err="1">
                <a:solidFill>
                  <a:srgbClr val="B76B01"/>
                </a:solidFill>
                <a:effectLst/>
                <a:latin typeface="Menlo"/>
              </a:rPr>
              <a:t>System</a:t>
            </a:r>
            <a:r>
              <a:rPr lang="en-US" b="0" dirty="0" err="1">
                <a:solidFill>
                  <a:srgbClr val="383A42"/>
                </a:solidFill>
                <a:effectLst/>
                <a:latin typeface="Menlo"/>
              </a:rPr>
              <a:t>.</a:t>
            </a:r>
            <a:r>
              <a:rPr lang="en-US" b="0" dirty="0" err="1">
                <a:solidFill>
                  <a:srgbClr val="0F1115"/>
                </a:solidFill>
                <a:effectLst/>
                <a:latin typeface="Menlo"/>
              </a:rPr>
              <a:t>out</a:t>
            </a:r>
            <a:r>
              <a:rPr lang="en-US" b="0" dirty="0" err="1">
                <a:solidFill>
                  <a:srgbClr val="383A42"/>
                </a:solidFill>
                <a:effectLst/>
                <a:latin typeface="Menlo"/>
              </a:rPr>
              <a:t>.</a:t>
            </a:r>
            <a:r>
              <a:rPr lang="en-US" b="0" dirty="0" err="1">
                <a:solidFill>
                  <a:srgbClr val="4078F2"/>
                </a:solidFill>
                <a:effectLst/>
                <a:latin typeface="Menlo"/>
              </a:rPr>
              <a:t>println</a:t>
            </a:r>
            <a:r>
              <a:rPr lang="en-US" b="0" dirty="0">
                <a:solidFill>
                  <a:srgbClr val="383A42"/>
                </a:solidFill>
                <a:effectLst/>
                <a:latin typeface="Menlo"/>
              </a:rPr>
              <a:t>(</a:t>
            </a:r>
            <a:r>
              <a:rPr lang="en-US" b="0" dirty="0" err="1">
                <a:solidFill>
                  <a:srgbClr val="0F1115"/>
                </a:solidFill>
                <a:effectLst/>
                <a:latin typeface="Menlo"/>
              </a:rPr>
              <a:t>students</a:t>
            </a:r>
            <a:r>
              <a:rPr lang="en-US" b="0" dirty="0" err="1">
                <a:solidFill>
                  <a:srgbClr val="383A42"/>
                </a:solidFill>
                <a:effectLst/>
                <a:latin typeface="Menlo"/>
              </a:rPr>
              <a:t>.</a:t>
            </a:r>
            <a:r>
              <a:rPr lang="en-US" b="0" dirty="0" err="1">
                <a:solidFill>
                  <a:srgbClr val="4078F2"/>
                </a:solidFill>
                <a:effectLst/>
                <a:latin typeface="Menlo"/>
              </a:rPr>
              <a:t>get</a:t>
            </a:r>
            <a:r>
              <a:rPr lang="en-US" b="0" dirty="0">
                <a:solidFill>
                  <a:srgbClr val="383A42"/>
                </a:solidFill>
                <a:effectLst/>
                <a:latin typeface="Menlo"/>
              </a:rPr>
              <a:t>(</a:t>
            </a:r>
            <a:r>
              <a:rPr lang="en-US" b="0" dirty="0">
                <a:solidFill>
                  <a:srgbClr val="B76B01"/>
                </a:solidFill>
                <a:effectLst/>
                <a:latin typeface="Menlo"/>
              </a:rPr>
              <a:t>1</a:t>
            </a:r>
            <a:r>
              <a:rPr lang="en-US" b="0" dirty="0">
                <a:solidFill>
                  <a:srgbClr val="383A42"/>
                </a:solidFill>
                <a:effectLst/>
                <a:latin typeface="Menlo"/>
              </a:rPr>
              <a:t>));</a:t>
            </a:r>
            <a:r>
              <a:rPr lang="en-US" b="0" dirty="0">
                <a:solidFill>
                  <a:srgbClr val="0F1115"/>
                </a:solidFill>
                <a:effectLst/>
                <a:latin typeface="Menlo"/>
              </a:rPr>
              <a:t> </a:t>
            </a:r>
            <a:r>
              <a:rPr lang="en-US" b="0" i="1" dirty="0">
                <a:solidFill>
                  <a:srgbClr val="A0A1A7"/>
                </a:solidFill>
                <a:effectLst/>
                <a:latin typeface="Menlo"/>
              </a:rPr>
              <a:t>// "Bob"</a:t>
            </a:r>
            <a:endParaRPr lang="en-US" b="0" dirty="0">
              <a:solidFill>
                <a:srgbClr val="0F1115"/>
              </a:solidFill>
              <a:effectLst/>
              <a:latin typeface="Menlo"/>
            </a:endParaRPr>
          </a:p>
          <a:p>
            <a:pPr algn="l" latinLnBrk="1">
              <a:lnSpc>
                <a:spcPts val="1650"/>
              </a:lnSpc>
              <a:buNone/>
            </a:pPr>
            <a:endParaRPr lang="en-US" b="0" dirty="0">
              <a:solidFill>
                <a:srgbClr val="0F1115"/>
              </a:solidFill>
              <a:effectLst/>
              <a:latin typeface="Menlo"/>
            </a:endParaRPr>
          </a:p>
          <a:p>
            <a:pPr algn="l" latinLnBrk="1">
              <a:lnSpc>
                <a:spcPts val="1650"/>
              </a:lnSpc>
              <a:buNone/>
            </a:pPr>
            <a:r>
              <a:rPr lang="en-US" b="0" i="1" dirty="0">
                <a:solidFill>
                  <a:srgbClr val="A0A1A7"/>
                </a:solidFill>
                <a:effectLst/>
                <a:latin typeface="Menlo"/>
              </a:rPr>
              <a:t>// LinkedList Example</a:t>
            </a:r>
            <a:endParaRPr lang="en-US" b="0" dirty="0">
              <a:solidFill>
                <a:srgbClr val="0F1115"/>
              </a:solidFill>
              <a:effectLst/>
              <a:latin typeface="Menlo"/>
            </a:endParaRPr>
          </a:p>
          <a:p>
            <a:pPr algn="l" latinLnBrk="1">
              <a:lnSpc>
                <a:spcPts val="1650"/>
              </a:lnSpc>
              <a:buNone/>
            </a:pPr>
            <a:r>
              <a:rPr lang="en-US" b="0" dirty="0">
                <a:solidFill>
                  <a:srgbClr val="B76B01"/>
                </a:solidFill>
                <a:effectLst/>
                <a:latin typeface="Menlo"/>
              </a:rPr>
              <a:t>List</a:t>
            </a:r>
            <a:r>
              <a:rPr lang="en-US" b="0" dirty="0">
                <a:solidFill>
                  <a:srgbClr val="383A42"/>
                </a:solidFill>
                <a:effectLst/>
                <a:latin typeface="Menlo"/>
              </a:rPr>
              <a:t>&lt;</a:t>
            </a:r>
            <a:r>
              <a:rPr lang="en-US" b="0" dirty="0">
                <a:solidFill>
                  <a:srgbClr val="B76B01"/>
                </a:solidFill>
                <a:effectLst/>
                <a:latin typeface="Menlo"/>
              </a:rPr>
              <a:t>Integer</a:t>
            </a:r>
            <a:r>
              <a:rPr lang="en-US" b="0" dirty="0">
                <a:solidFill>
                  <a:srgbClr val="383A42"/>
                </a:solidFill>
                <a:effectLst/>
                <a:latin typeface="Menlo"/>
              </a:rPr>
              <a:t>&gt;</a:t>
            </a:r>
            <a:r>
              <a:rPr lang="en-US" b="0" dirty="0">
                <a:solidFill>
                  <a:srgbClr val="0F1115"/>
                </a:solidFill>
                <a:effectLst/>
                <a:latin typeface="Menlo"/>
              </a:rPr>
              <a:t> scores </a:t>
            </a:r>
            <a:r>
              <a:rPr lang="en-US" b="0" dirty="0">
                <a:solidFill>
                  <a:srgbClr val="4078F2"/>
                </a:solidFill>
                <a:effectLst/>
                <a:latin typeface="Menlo"/>
              </a:rPr>
              <a:t>=</a:t>
            </a:r>
            <a:r>
              <a:rPr lang="en-US" b="0" dirty="0">
                <a:solidFill>
                  <a:srgbClr val="0F1115"/>
                </a:solidFill>
                <a:effectLst/>
                <a:latin typeface="Menlo"/>
              </a:rPr>
              <a:t> </a:t>
            </a:r>
            <a:r>
              <a:rPr lang="en-US" b="0" dirty="0">
                <a:solidFill>
                  <a:srgbClr val="A626A4"/>
                </a:solidFill>
                <a:effectLst/>
                <a:latin typeface="Menlo"/>
              </a:rPr>
              <a:t>new</a:t>
            </a:r>
            <a:r>
              <a:rPr lang="en-US" b="0" dirty="0">
                <a:solidFill>
                  <a:srgbClr val="0F1115"/>
                </a:solidFill>
                <a:effectLst/>
                <a:latin typeface="Menlo"/>
              </a:rPr>
              <a:t> </a:t>
            </a:r>
            <a:r>
              <a:rPr lang="en-US" b="0" dirty="0">
                <a:solidFill>
                  <a:srgbClr val="B76B01"/>
                </a:solidFill>
                <a:effectLst/>
                <a:latin typeface="Menlo"/>
              </a:rPr>
              <a:t>LinkedList</a:t>
            </a:r>
            <a:r>
              <a:rPr lang="en-US" b="0" dirty="0">
                <a:solidFill>
                  <a:srgbClr val="383A42"/>
                </a:solidFill>
                <a:effectLst/>
                <a:latin typeface="Menlo"/>
              </a:rPr>
              <a:t>&lt;&gt;();</a:t>
            </a:r>
            <a:endParaRPr lang="en-US" b="0" dirty="0">
              <a:solidFill>
                <a:srgbClr val="0F1115"/>
              </a:solidFill>
              <a:effectLst/>
              <a:latin typeface="Menlo"/>
            </a:endParaRPr>
          </a:p>
          <a:p>
            <a:pPr algn="l" latinLnBrk="1">
              <a:lnSpc>
                <a:spcPts val="1650"/>
              </a:lnSpc>
              <a:buNone/>
            </a:pPr>
            <a:r>
              <a:rPr lang="en-US" b="0" dirty="0" err="1">
                <a:solidFill>
                  <a:srgbClr val="0F1115"/>
                </a:solidFill>
                <a:effectLst/>
                <a:latin typeface="Menlo"/>
              </a:rPr>
              <a:t>scores</a:t>
            </a:r>
            <a:r>
              <a:rPr lang="en-US" b="0" dirty="0" err="1">
                <a:solidFill>
                  <a:srgbClr val="383A42"/>
                </a:solidFill>
                <a:effectLst/>
                <a:latin typeface="Menlo"/>
              </a:rPr>
              <a:t>.</a:t>
            </a:r>
            <a:r>
              <a:rPr lang="en-US" b="0" dirty="0" err="1">
                <a:solidFill>
                  <a:srgbClr val="4078F2"/>
                </a:solidFill>
                <a:effectLst/>
                <a:latin typeface="Menlo"/>
              </a:rPr>
              <a:t>add</a:t>
            </a:r>
            <a:r>
              <a:rPr lang="en-US" b="0" dirty="0">
                <a:solidFill>
                  <a:srgbClr val="383A42"/>
                </a:solidFill>
                <a:effectLst/>
                <a:latin typeface="Menlo"/>
              </a:rPr>
              <a:t>(</a:t>
            </a:r>
            <a:r>
              <a:rPr lang="en-US" b="0" dirty="0">
                <a:solidFill>
                  <a:srgbClr val="B76B01"/>
                </a:solidFill>
                <a:effectLst/>
                <a:latin typeface="Menlo"/>
              </a:rPr>
              <a:t>85</a:t>
            </a:r>
            <a:r>
              <a:rPr lang="en-US" b="0" dirty="0">
                <a:solidFill>
                  <a:srgbClr val="383A42"/>
                </a:solidFill>
                <a:effectLst/>
                <a:latin typeface="Menlo"/>
              </a:rPr>
              <a:t>);</a:t>
            </a:r>
            <a:endParaRPr lang="en-US" b="0" dirty="0">
              <a:solidFill>
                <a:srgbClr val="0F1115"/>
              </a:solidFill>
              <a:effectLst/>
              <a:latin typeface="Menlo"/>
            </a:endParaRPr>
          </a:p>
          <a:p>
            <a:pPr algn="l" latinLnBrk="1">
              <a:lnSpc>
                <a:spcPts val="1650"/>
              </a:lnSpc>
              <a:buNone/>
            </a:pPr>
            <a:r>
              <a:rPr lang="en-US" b="0" dirty="0" err="1">
                <a:solidFill>
                  <a:srgbClr val="0F1115"/>
                </a:solidFill>
                <a:effectLst/>
                <a:latin typeface="Menlo"/>
              </a:rPr>
              <a:t>scores</a:t>
            </a:r>
            <a:r>
              <a:rPr lang="en-US" b="0" dirty="0" err="1">
                <a:solidFill>
                  <a:srgbClr val="383A42"/>
                </a:solidFill>
                <a:effectLst/>
                <a:latin typeface="Menlo"/>
              </a:rPr>
              <a:t>.</a:t>
            </a:r>
            <a:r>
              <a:rPr lang="en-US" b="0" dirty="0" err="1">
                <a:solidFill>
                  <a:srgbClr val="4078F2"/>
                </a:solidFill>
                <a:effectLst/>
                <a:latin typeface="Menlo"/>
              </a:rPr>
              <a:t>add</a:t>
            </a:r>
            <a:r>
              <a:rPr lang="en-US" b="0" dirty="0">
                <a:solidFill>
                  <a:srgbClr val="383A42"/>
                </a:solidFill>
                <a:effectLst/>
                <a:latin typeface="Menlo"/>
              </a:rPr>
              <a:t>(</a:t>
            </a:r>
            <a:r>
              <a:rPr lang="en-US" b="0" dirty="0">
                <a:solidFill>
                  <a:srgbClr val="B76B01"/>
                </a:solidFill>
                <a:effectLst/>
                <a:latin typeface="Menlo"/>
              </a:rPr>
              <a:t>90</a:t>
            </a:r>
            <a:r>
              <a:rPr lang="en-US" b="0" dirty="0">
                <a:solidFill>
                  <a:srgbClr val="383A42"/>
                </a:solidFill>
                <a:effectLst/>
                <a:latin typeface="Menlo"/>
              </a:rPr>
              <a:t>);</a:t>
            </a:r>
            <a:endParaRPr lang="en-US" b="0" dirty="0">
              <a:solidFill>
                <a:srgbClr val="0F1115"/>
              </a:solidFill>
              <a:effectLst/>
              <a:latin typeface="Menlo"/>
            </a:endParaRPr>
          </a:p>
          <a:p>
            <a:pPr algn="l" latinLnBrk="1">
              <a:lnSpc>
                <a:spcPts val="1650"/>
              </a:lnSpc>
              <a:buNone/>
            </a:pPr>
            <a:r>
              <a:rPr lang="en-US" b="0" dirty="0" err="1">
                <a:solidFill>
                  <a:srgbClr val="0F1115"/>
                </a:solidFill>
                <a:effectLst/>
                <a:latin typeface="Menlo"/>
              </a:rPr>
              <a:t>scores</a:t>
            </a:r>
            <a:r>
              <a:rPr lang="en-US" b="0" dirty="0" err="1">
                <a:solidFill>
                  <a:srgbClr val="383A42"/>
                </a:solidFill>
                <a:effectLst/>
                <a:latin typeface="Menlo"/>
              </a:rPr>
              <a:t>.</a:t>
            </a:r>
            <a:r>
              <a:rPr lang="en-US" b="0" dirty="0" err="1">
                <a:solidFill>
                  <a:srgbClr val="4078F2"/>
                </a:solidFill>
                <a:effectLst/>
                <a:latin typeface="Menlo"/>
              </a:rPr>
              <a:t>addFirst</a:t>
            </a:r>
            <a:r>
              <a:rPr lang="en-US" b="0" dirty="0">
                <a:solidFill>
                  <a:srgbClr val="383A42"/>
                </a:solidFill>
                <a:effectLst/>
                <a:latin typeface="Menlo"/>
              </a:rPr>
              <a:t>(</a:t>
            </a:r>
            <a:r>
              <a:rPr lang="en-US" b="0" dirty="0">
                <a:solidFill>
                  <a:srgbClr val="B76B01"/>
                </a:solidFill>
                <a:effectLst/>
                <a:latin typeface="Menlo"/>
              </a:rPr>
              <a:t>78</a:t>
            </a:r>
            <a:r>
              <a:rPr lang="en-US" b="0" dirty="0">
                <a:solidFill>
                  <a:srgbClr val="383A42"/>
                </a:solidFill>
                <a:effectLst/>
                <a:latin typeface="Menlo"/>
              </a:rPr>
              <a:t>);</a:t>
            </a:r>
            <a:r>
              <a:rPr lang="en-US" b="0" dirty="0">
                <a:solidFill>
                  <a:srgbClr val="0F1115"/>
                </a:solidFill>
                <a:effectLst/>
                <a:latin typeface="Menlo"/>
              </a:rPr>
              <a:t> </a:t>
            </a:r>
            <a:r>
              <a:rPr lang="en-US" b="0" i="1" dirty="0">
                <a:solidFill>
                  <a:srgbClr val="A0A1A7"/>
                </a:solidFill>
                <a:effectLst/>
                <a:latin typeface="Menlo"/>
              </a:rPr>
              <a:t>// Special LinkedList method</a:t>
            </a:r>
            <a:endParaRPr lang="en-US" b="0" dirty="0">
              <a:solidFill>
                <a:srgbClr val="0F1115"/>
              </a:solidFill>
              <a:effectLst/>
              <a:latin typeface="Menlo"/>
            </a:endParaRPr>
          </a:p>
        </p:txBody>
      </p:sp>
    </p:spTree>
    <p:extLst>
      <p:ext uri="{BB962C8B-B14F-4D97-AF65-F5344CB8AC3E}">
        <p14:creationId xmlns:p14="http://schemas.microsoft.com/office/powerpoint/2010/main" val="4421239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982650-B7A5-1815-E459-D11E9FF565E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7038D0B-A992-2FDC-3431-B75CC90C958E}"/>
              </a:ext>
            </a:extLst>
          </p:cNvPr>
          <p:cNvSpPr txBox="1"/>
          <p:nvPr/>
        </p:nvSpPr>
        <p:spPr>
          <a:xfrm>
            <a:off x="3046344" y="474345"/>
            <a:ext cx="6092686" cy="5909310"/>
          </a:xfrm>
          <a:prstGeom prst="rect">
            <a:avLst/>
          </a:prstGeom>
          <a:noFill/>
        </p:spPr>
        <p:txBody>
          <a:bodyPr wrap="square">
            <a:spAutoFit/>
          </a:bodyPr>
          <a:lstStyle/>
          <a:p>
            <a:r>
              <a:rPr lang="en-US" dirty="0"/>
              <a:t>SET INTERFACE</a:t>
            </a:r>
          </a:p>
          <a:p>
            <a:r>
              <a:rPr lang="en-US" dirty="0"/>
              <a:t>────────────────────────────────</a:t>
            </a:r>
          </a:p>
          <a:p>
            <a:r>
              <a:rPr lang="en-US" dirty="0"/>
              <a:t>Characteristics:</a:t>
            </a:r>
          </a:p>
          <a:p>
            <a:r>
              <a:rPr lang="en-US" dirty="0"/>
              <a:t>• No duplicates</a:t>
            </a:r>
          </a:p>
          <a:p>
            <a:r>
              <a:rPr lang="en-US" dirty="0"/>
              <a:t>• At most one null element</a:t>
            </a:r>
          </a:p>
          <a:p>
            <a:r>
              <a:rPr lang="en-US" dirty="0"/>
              <a:t>• No positional access</a:t>
            </a:r>
          </a:p>
          <a:p>
            <a:endParaRPr lang="en-US" dirty="0"/>
          </a:p>
          <a:p>
            <a:r>
              <a:rPr lang="en-US" dirty="0"/>
              <a:t>Implementations:</a:t>
            </a:r>
          </a:p>
          <a:p>
            <a:r>
              <a:rPr lang="en-US" dirty="0"/>
              <a:t>1. HashSet</a:t>
            </a:r>
          </a:p>
          <a:p>
            <a:r>
              <a:rPr lang="en-US" dirty="0"/>
              <a:t>   - Uses hash table</a:t>
            </a:r>
          </a:p>
          <a:p>
            <a:r>
              <a:rPr lang="en-US" dirty="0"/>
              <a:t>   - No order guaranteed</a:t>
            </a:r>
          </a:p>
          <a:p>
            <a:r>
              <a:rPr lang="en-US" dirty="0"/>
              <a:t>   - O(1) for add, remove, contains</a:t>
            </a:r>
          </a:p>
          <a:p>
            <a:endParaRPr lang="en-US" dirty="0"/>
          </a:p>
          <a:p>
            <a:r>
              <a:rPr lang="en-US" dirty="0"/>
              <a:t>2. </a:t>
            </a:r>
            <a:r>
              <a:rPr lang="en-US" dirty="0" err="1"/>
              <a:t>LinkedHashSet</a:t>
            </a:r>
            <a:endParaRPr lang="en-US" dirty="0"/>
          </a:p>
          <a:p>
            <a:r>
              <a:rPr lang="en-US" dirty="0"/>
              <a:t>   - Maintains insertion order</a:t>
            </a:r>
          </a:p>
          <a:p>
            <a:r>
              <a:rPr lang="en-US" dirty="0"/>
              <a:t>   - Slightly slower than HashSet</a:t>
            </a:r>
          </a:p>
          <a:p>
            <a:endParaRPr lang="en-US" dirty="0"/>
          </a:p>
          <a:p>
            <a:r>
              <a:rPr lang="en-US" dirty="0"/>
              <a:t>3. </a:t>
            </a:r>
            <a:r>
              <a:rPr lang="en-US" dirty="0" err="1"/>
              <a:t>TreeSet</a:t>
            </a:r>
            <a:endParaRPr lang="en-US" dirty="0"/>
          </a:p>
          <a:p>
            <a:r>
              <a:rPr lang="en-US" dirty="0"/>
              <a:t>   - Sorted order (natural/comparator)</a:t>
            </a:r>
          </a:p>
          <a:p>
            <a:r>
              <a:rPr lang="en-US" dirty="0"/>
              <a:t>   - O(log n) operations</a:t>
            </a:r>
          </a:p>
          <a:p>
            <a:r>
              <a:rPr lang="en-US" dirty="0"/>
              <a:t>   - Implements </a:t>
            </a:r>
            <a:r>
              <a:rPr lang="en-US" dirty="0" err="1"/>
              <a:t>NavigableSet</a:t>
            </a:r>
            <a:endParaRPr lang="en-US" dirty="0"/>
          </a:p>
        </p:txBody>
      </p:sp>
    </p:spTree>
    <p:extLst>
      <p:ext uri="{BB962C8B-B14F-4D97-AF65-F5344CB8AC3E}">
        <p14:creationId xmlns:p14="http://schemas.microsoft.com/office/powerpoint/2010/main" val="1870585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E392C1-1A8D-B445-49A0-2C2187B31495}"/>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36E1DA92-B683-8153-7396-8258A44E1C2A}"/>
              </a:ext>
            </a:extLst>
          </p:cNvPr>
          <p:cNvSpPr txBox="1"/>
          <p:nvPr/>
        </p:nvSpPr>
        <p:spPr>
          <a:xfrm>
            <a:off x="3046344" y="1853569"/>
            <a:ext cx="6092686" cy="3150863"/>
          </a:xfrm>
          <a:prstGeom prst="rect">
            <a:avLst/>
          </a:prstGeom>
          <a:noFill/>
        </p:spPr>
        <p:txBody>
          <a:bodyPr wrap="square">
            <a:spAutoFit/>
          </a:bodyPr>
          <a:lstStyle/>
          <a:p>
            <a:pPr algn="l" latinLnBrk="1">
              <a:lnSpc>
                <a:spcPts val="1650"/>
              </a:lnSpc>
              <a:buNone/>
            </a:pPr>
            <a:r>
              <a:rPr lang="en-US" b="0" i="1" dirty="0">
                <a:solidFill>
                  <a:srgbClr val="A0A1A7"/>
                </a:solidFill>
                <a:effectLst/>
                <a:latin typeface="Menlo"/>
              </a:rPr>
              <a:t>// HashSet - Removes duplicates</a:t>
            </a:r>
            <a:endParaRPr lang="en-US" b="0" dirty="0">
              <a:solidFill>
                <a:srgbClr val="0F1115"/>
              </a:solidFill>
              <a:effectLst/>
              <a:latin typeface="Menlo"/>
            </a:endParaRPr>
          </a:p>
          <a:p>
            <a:pPr algn="l" latinLnBrk="1">
              <a:lnSpc>
                <a:spcPts val="1650"/>
              </a:lnSpc>
              <a:buNone/>
            </a:pPr>
            <a:r>
              <a:rPr lang="en-US" b="0" dirty="0">
                <a:solidFill>
                  <a:srgbClr val="B76B01"/>
                </a:solidFill>
                <a:effectLst/>
                <a:latin typeface="Menlo"/>
              </a:rPr>
              <a:t>Set</a:t>
            </a:r>
            <a:r>
              <a:rPr lang="en-US" b="0" dirty="0">
                <a:solidFill>
                  <a:srgbClr val="383A42"/>
                </a:solidFill>
                <a:effectLst/>
                <a:latin typeface="Menlo"/>
              </a:rPr>
              <a:t>&lt;</a:t>
            </a:r>
            <a:r>
              <a:rPr lang="en-US" b="0" dirty="0">
                <a:solidFill>
                  <a:srgbClr val="B76B01"/>
                </a:solidFill>
                <a:effectLst/>
                <a:latin typeface="Menlo"/>
              </a:rPr>
              <a:t>String</a:t>
            </a:r>
            <a:r>
              <a:rPr lang="en-US" b="0" dirty="0">
                <a:solidFill>
                  <a:srgbClr val="383A42"/>
                </a:solidFill>
                <a:effectLst/>
                <a:latin typeface="Menlo"/>
              </a:rPr>
              <a:t>&gt;</a:t>
            </a:r>
            <a:r>
              <a:rPr lang="en-US" b="0" dirty="0">
                <a:solidFill>
                  <a:srgbClr val="0F1115"/>
                </a:solidFill>
                <a:effectLst/>
                <a:latin typeface="Menlo"/>
              </a:rPr>
              <a:t> </a:t>
            </a:r>
            <a:r>
              <a:rPr lang="en-US" b="0" dirty="0" err="1">
                <a:solidFill>
                  <a:srgbClr val="0F1115"/>
                </a:solidFill>
                <a:effectLst/>
                <a:latin typeface="Menlo"/>
              </a:rPr>
              <a:t>uniqueWords</a:t>
            </a:r>
            <a:r>
              <a:rPr lang="en-US" b="0" dirty="0">
                <a:solidFill>
                  <a:srgbClr val="0F1115"/>
                </a:solidFill>
                <a:effectLst/>
                <a:latin typeface="Menlo"/>
              </a:rPr>
              <a:t> </a:t>
            </a:r>
            <a:r>
              <a:rPr lang="en-US" b="0" dirty="0">
                <a:solidFill>
                  <a:srgbClr val="4078F2"/>
                </a:solidFill>
                <a:effectLst/>
                <a:latin typeface="Menlo"/>
              </a:rPr>
              <a:t>=</a:t>
            </a:r>
            <a:r>
              <a:rPr lang="en-US" b="0" dirty="0">
                <a:solidFill>
                  <a:srgbClr val="0F1115"/>
                </a:solidFill>
                <a:effectLst/>
                <a:latin typeface="Menlo"/>
              </a:rPr>
              <a:t> </a:t>
            </a:r>
            <a:r>
              <a:rPr lang="en-US" b="0" dirty="0">
                <a:solidFill>
                  <a:srgbClr val="A626A4"/>
                </a:solidFill>
                <a:effectLst/>
                <a:latin typeface="Menlo"/>
              </a:rPr>
              <a:t>new</a:t>
            </a:r>
            <a:r>
              <a:rPr lang="en-US" b="0" dirty="0">
                <a:solidFill>
                  <a:srgbClr val="0F1115"/>
                </a:solidFill>
                <a:effectLst/>
                <a:latin typeface="Menlo"/>
              </a:rPr>
              <a:t> </a:t>
            </a:r>
            <a:r>
              <a:rPr lang="en-US" b="0" dirty="0">
                <a:solidFill>
                  <a:srgbClr val="B76B01"/>
                </a:solidFill>
                <a:effectLst/>
                <a:latin typeface="Menlo"/>
              </a:rPr>
              <a:t>HashSet</a:t>
            </a:r>
            <a:r>
              <a:rPr lang="en-US" b="0" dirty="0">
                <a:solidFill>
                  <a:srgbClr val="383A42"/>
                </a:solidFill>
                <a:effectLst/>
                <a:latin typeface="Menlo"/>
              </a:rPr>
              <a:t>&lt;&gt;();</a:t>
            </a:r>
            <a:endParaRPr lang="en-US" b="0" dirty="0">
              <a:solidFill>
                <a:srgbClr val="0F1115"/>
              </a:solidFill>
              <a:effectLst/>
              <a:latin typeface="Menlo"/>
            </a:endParaRPr>
          </a:p>
          <a:p>
            <a:pPr algn="l" latinLnBrk="1">
              <a:lnSpc>
                <a:spcPts val="1650"/>
              </a:lnSpc>
              <a:buNone/>
            </a:pPr>
            <a:r>
              <a:rPr lang="en-US" b="0" dirty="0" err="1">
                <a:solidFill>
                  <a:srgbClr val="0F1115"/>
                </a:solidFill>
                <a:effectLst/>
                <a:latin typeface="Menlo"/>
              </a:rPr>
              <a:t>uniqueWords</a:t>
            </a:r>
            <a:r>
              <a:rPr lang="en-US" b="0" dirty="0" err="1">
                <a:solidFill>
                  <a:srgbClr val="383A42"/>
                </a:solidFill>
                <a:effectLst/>
                <a:latin typeface="Menlo"/>
              </a:rPr>
              <a:t>.</a:t>
            </a:r>
            <a:r>
              <a:rPr lang="en-US" b="0" dirty="0" err="1">
                <a:solidFill>
                  <a:srgbClr val="4078F2"/>
                </a:solidFill>
                <a:effectLst/>
                <a:latin typeface="Menlo"/>
              </a:rPr>
              <a:t>add</a:t>
            </a:r>
            <a:r>
              <a:rPr lang="en-US" b="0" dirty="0">
                <a:solidFill>
                  <a:srgbClr val="383A42"/>
                </a:solidFill>
                <a:effectLst/>
                <a:latin typeface="Menlo"/>
              </a:rPr>
              <a:t>(</a:t>
            </a:r>
            <a:r>
              <a:rPr lang="en-US" b="0" dirty="0">
                <a:solidFill>
                  <a:srgbClr val="50A14F"/>
                </a:solidFill>
                <a:effectLst/>
                <a:latin typeface="Menlo"/>
              </a:rPr>
              <a:t>"apple"</a:t>
            </a:r>
            <a:r>
              <a:rPr lang="en-US" b="0" dirty="0">
                <a:solidFill>
                  <a:srgbClr val="383A42"/>
                </a:solidFill>
                <a:effectLst/>
                <a:latin typeface="Menlo"/>
              </a:rPr>
              <a:t>);</a:t>
            </a:r>
            <a:endParaRPr lang="en-US" b="0" dirty="0">
              <a:solidFill>
                <a:srgbClr val="0F1115"/>
              </a:solidFill>
              <a:effectLst/>
              <a:latin typeface="Menlo"/>
            </a:endParaRPr>
          </a:p>
          <a:p>
            <a:pPr algn="l" latinLnBrk="1">
              <a:lnSpc>
                <a:spcPts val="1650"/>
              </a:lnSpc>
              <a:buNone/>
            </a:pPr>
            <a:r>
              <a:rPr lang="en-US" b="0" dirty="0" err="1">
                <a:solidFill>
                  <a:srgbClr val="0F1115"/>
                </a:solidFill>
                <a:effectLst/>
                <a:latin typeface="Menlo"/>
              </a:rPr>
              <a:t>uniqueWords</a:t>
            </a:r>
            <a:r>
              <a:rPr lang="en-US" b="0" dirty="0" err="1">
                <a:solidFill>
                  <a:srgbClr val="383A42"/>
                </a:solidFill>
                <a:effectLst/>
                <a:latin typeface="Menlo"/>
              </a:rPr>
              <a:t>.</a:t>
            </a:r>
            <a:r>
              <a:rPr lang="en-US" b="0" dirty="0" err="1">
                <a:solidFill>
                  <a:srgbClr val="4078F2"/>
                </a:solidFill>
                <a:effectLst/>
                <a:latin typeface="Menlo"/>
              </a:rPr>
              <a:t>add</a:t>
            </a:r>
            <a:r>
              <a:rPr lang="en-US" b="0" dirty="0">
                <a:solidFill>
                  <a:srgbClr val="383A42"/>
                </a:solidFill>
                <a:effectLst/>
                <a:latin typeface="Menlo"/>
              </a:rPr>
              <a:t>(</a:t>
            </a:r>
            <a:r>
              <a:rPr lang="en-US" b="0" dirty="0">
                <a:solidFill>
                  <a:srgbClr val="50A14F"/>
                </a:solidFill>
                <a:effectLst/>
                <a:latin typeface="Menlo"/>
              </a:rPr>
              <a:t>"banana"</a:t>
            </a:r>
            <a:r>
              <a:rPr lang="en-US" b="0" dirty="0">
                <a:solidFill>
                  <a:srgbClr val="383A42"/>
                </a:solidFill>
                <a:effectLst/>
                <a:latin typeface="Menlo"/>
              </a:rPr>
              <a:t>);</a:t>
            </a:r>
            <a:endParaRPr lang="en-US" b="0" dirty="0">
              <a:solidFill>
                <a:srgbClr val="0F1115"/>
              </a:solidFill>
              <a:effectLst/>
              <a:latin typeface="Menlo"/>
            </a:endParaRPr>
          </a:p>
          <a:p>
            <a:pPr algn="l" latinLnBrk="1">
              <a:lnSpc>
                <a:spcPts val="1650"/>
              </a:lnSpc>
              <a:buNone/>
            </a:pPr>
            <a:r>
              <a:rPr lang="en-US" b="0" dirty="0" err="1">
                <a:solidFill>
                  <a:srgbClr val="0F1115"/>
                </a:solidFill>
                <a:effectLst/>
                <a:latin typeface="Menlo"/>
              </a:rPr>
              <a:t>uniqueWords</a:t>
            </a:r>
            <a:r>
              <a:rPr lang="en-US" b="0" dirty="0" err="1">
                <a:solidFill>
                  <a:srgbClr val="383A42"/>
                </a:solidFill>
                <a:effectLst/>
                <a:latin typeface="Menlo"/>
              </a:rPr>
              <a:t>.</a:t>
            </a:r>
            <a:r>
              <a:rPr lang="en-US" b="0" dirty="0" err="1">
                <a:solidFill>
                  <a:srgbClr val="4078F2"/>
                </a:solidFill>
                <a:effectLst/>
                <a:latin typeface="Menlo"/>
              </a:rPr>
              <a:t>add</a:t>
            </a:r>
            <a:r>
              <a:rPr lang="en-US" b="0" dirty="0">
                <a:solidFill>
                  <a:srgbClr val="383A42"/>
                </a:solidFill>
                <a:effectLst/>
                <a:latin typeface="Menlo"/>
              </a:rPr>
              <a:t>(</a:t>
            </a:r>
            <a:r>
              <a:rPr lang="en-US" b="0" dirty="0">
                <a:solidFill>
                  <a:srgbClr val="50A14F"/>
                </a:solidFill>
                <a:effectLst/>
                <a:latin typeface="Menlo"/>
              </a:rPr>
              <a:t>"apple"</a:t>
            </a:r>
            <a:r>
              <a:rPr lang="en-US" b="0" dirty="0">
                <a:solidFill>
                  <a:srgbClr val="383A42"/>
                </a:solidFill>
                <a:effectLst/>
                <a:latin typeface="Menlo"/>
              </a:rPr>
              <a:t>);</a:t>
            </a:r>
            <a:r>
              <a:rPr lang="en-US" b="0" dirty="0">
                <a:solidFill>
                  <a:srgbClr val="0F1115"/>
                </a:solidFill>
                <a:effectLst/>
                <a:latin typeface="Menlo"/>
              </a:rPr>
              <a:t> </a:t>
            </a:r>
            <a:r>
              <a:rPr lang="en-US" b="0" i="1" dirty="0">
                <a:solidFill>
                  <a:srgbClr val="A0A1A7"/>
                </a:solidFill>
                <a:effectLst/>
                <a:latin typeface="Menlo"/>
              </a:rPr>
              <a:t>// Duplicate ignored</a:t>
            </a:r>
            <a:endParaRPr lang="en-US" b="0" dirty="0">
              <a:solidFill>
                <a:srgbClr val="0F1115"/>
              </a:solidFill>
              <a:effectLst/>
              <a:latin typeface="Menlo"/>
            </a:endParaRPr>
          </a:p>
          <a:p>
            <a:pPr algn="l" latinLnBrk="1">
              <a:lnSpc>
                <a:spcPts val="1650"/>
              </a:lnSpc>
              <a:buNone/>
            </a:pPr>
            <a:r>
              <a:rPr lang="en-US" b="0" dirty="0" err="1">
                <a:solidFill>
                  <a:srgbClr val="B76B01"/>
                </a:solidFill>
                <a:effectLst/>
                <a:latin typeface="Menlo"/>
              </a:rPr>
              <a:t>System</a:t>
            </a:r>
            <a:r>
              <a:rPr lang="en-US" b="0" dirty="0" err="1">
                <a:solidFill>
                  <a:srgbClr val="383A42"/>
                </a:solidFill>
                <a:effectLst/>
                <a:latin typeface="Menlo"/>
              </a:rPr>
              <a:t>.</a:t>
            </a:r>
            <a:r>
              <a:rPr lang="en-US" b="0" dirty="0" err="1">
                <a:solidFill>
                  <a:srgbClr val="0F1115"/>
                </a:solidFill>
                <a:effectLst/>
                <a:latin typeface="Menlo"/>
              </a:rPr>
              <a:t>out</a:t>
            </a:r>
            <a:r>
              <a:rPr lang="en-US" b="0" dirty="0" err="1">
                <a:solidFill>
                  <a:srgbClr val="383A42"/>
                </a:solidFill>
                <a:effectLst/>
                <a:latin typeface="Menlo"/>
              </a:rPr>
              <a:t>.</a:t>
            </a:r>
            <a:r>
              <a:rPr lang="en-US" b="0" dirty="0" err="1">
                <a:solidFill>
                  <a:srgbClr val="4078F2"/>
                </a:solidFill>
                <a:effectLst/>
                <a:latin typeface="Menlo"/>
              </a:rPr>
              <a:t>println</a:t>
            </a:r>
            <a:r>
              <a:rPr lang="en-US" b="0" dirty="0">
                <a:solidFill>
                  <a:srgbClr val="383A42"/>
                </a:solidFill>
                <a:effectLst/>
                <a:latin typeface="Menlo"/>
              </a:rPr>
              <a:t>(</a:t>
            </a:r>
            <a:r>
              <a:rPr lang="en-US" b="0" dirty="0" err="1">
                <a:solidFill>
                  <a:srgbClr val="0F1115"/>
                </a:solidFill>
                <a:effectLst/>
                <a:latin typeface="Menlo"/>
              </a:rPr>
              <a:t>uniqueWords</a:t>
            </a:r>
            <a:r>
              <a:rPr lang="en-US" b="0" dirty="0">
                <a:solidFill>
                  <a:srgbClr val="383A42"/>
                </a:solidFill>
                <a:effectLst/>
                <a:latin typeface="Menlo"/>
              </a:rPr>
              <a:t>);</a:t>
            </a:r>
            <a:r>
              <a:rPr lang="en-US" b="0" dirty="0">
                <a:solidFill>
                  <a:srgbClr val="0F1115"/>
                </a:solidFill>
                <a:effectLst/>
                <a:latin typeface="Menlo"/>
              </a:rPr>
              <a:t> </a:t>
            </a:r>
            <a:r>
              <a:rPr lang="en-US" b="0" i="1" dirty="0">
                <a:solidFill>
                  <a:srgbClr val="A0A1A7"/>
                </a:solidFill>
                <a:effectLst/>
                <a:latin typeface="Menlo"/>
              </a:rPr>
              <a:t>// [apple, banana] (order may vary)</a:t>
            </a:r>
            <a:endParaRPr lang="en-US" b="0" dirty="0">
              <a:solidFill>
                <a:srgbClr val="0F1115"/>
              </a:solidFill>
              <a:effectLst/>
              <a:latin typeface="Menlo"/>
            </a:endParaRPr>
          </a:p>
          <a:p>
            <a:pPr algn="l" latinLnBrk="1">
              <a:lnSpc>
                <a:spcPts val="1650"/>
              </a:lnSpc>
              <a:buNone/>
            </a:pPr>
            <a:endParaRPr lang="en-US" b="0" dirty="0">
              <a:solidFill>
                <a:srgbClr val="0F1115"/>
              </a:solidFill>
              <a:effectLst/>
              <a:latin typeface="Menlo"/>
            </a:endParaRPr>
          </a:p>
          <a:p>
            <a:pPr algn="l" latinLnBrk="1">
              <a:lnSpc>
                <a:spcPts val="1650"/>
              </a:lnSpc>
              <a:buNone/>
            </a:pPr>
            <a:r>
              <a:rPr lang="en-US" b="0" i="1" dirty="0">
                <a:solidFill>
                  <a:srgbClr val="A0A1A7"/>
                </a:solidFill>
                <a:effectLst/>
                <a:latin typeface="Menlo"/>
              </a:rPr>
              <a:t>// </a:t>
            </a:r>
            <a:r>
              <a:rPr lang="en-US" b="0" i="1" dirty="0" err="1">
                <a:solidFill>
                  <a:srgbClr val="A0A1A7"/>
                </a:solidFill>
                <a:effectLst/>
                <a:latin typeface="Menlo"/>
              </a:rPr>
              <a:t>TreeSet</a:t>
            </a:r>
            <a:r>
              <a:rPr lang="en-US" b="0" i="1" dirty="0">
                <a:solidFill>
                  <a:srgbClr val="A0A1A7"/>
                </a:solidFill>
                <a:effectLst/>
                <a:latin typeface="Menlo"/>
              </a:rPr>
              <a:t> - Automatic sorting</a:t>
            </a:r>
            <a:endParaRPr lang="en-US" b="0" dirty="0">
              <a:solidFill>
                <a:srgbClr val="0F1115"/>
              </a:solidFill>
              <a:effectLst/>
              <a:latin typeface="Menlo"/>
            </a:endParaRPr>
          </a:p>
          <a:p>
            <a:pPr algn="l" latinLnBrk="1">
              <a:lnSpc>
                <a:spcPts val="1650"/>
              </a:lnSpc>
              <a:buNone/>
            </a:pPr>
            <a:r>
              <a:rPr lang="en-US" b="0" dirty="0">
                <a:solidFill>
                  <a:srgbClr val="B76B01"/>
                </a:solidFill>
                <a:effectLst/>
                <a:latin typeface="Menlo"/>
              </a:rPr>
              <a:t>Set</a:t>
            </a:r>
            <a:r>
              <a:rPr lang="en-US" b="0" dirty="0">
                <a:solidFill>
                  <a:srgbClr val="383A42"/>
                </a:solidFill>
                <a:effectLst/>
                <a:latin typeface="Menlo"/>
              </a:rPr>
              <a:t>&lt;</a:t>
            </a:r>
            <a:r>
              <a:rPr lang="en-US" b="0" dirty="0">
                <a:solidFill>
                  <a:srgbClr val="B76B01"/>
                </a:solidFill>
                <a:effectLst/>
                <a:latin typeface="Menlo"/>
              </a:rPr>
              <a:t>Integer</a:t>
            </a:r>
            <a:r>
              <a:rPr lang="en-US" b="0" dirty="0">
                <a:solidFill>
                  <a:srgbClr val="383A42"/>
                </a:solidFill>
                <a:effectLst/>
                <a:latin typeface="Menlo"/>
              </a:rPr>
              <a:t>&gt;</a:t>
            </a:r>
            <a:r>
              <a:rPr lang="en-US" b="0" dirty="0">
                <a:solidFill>
                  <a:srgbClr val="0F1115"/>
                </a:solidFill>
                <a:effectLst/>
                <a:latin typeface="Menlo"/>
              </a:rPr>
              <a:t> </a:t>
            </a:r>
            <a:r>
              <a:rPr lang="en-US" b="0" dirty="0" err="1">
                <a:solidFill>
                  <a:srgbClr val="0F1115"/>
                </a:solidFill>
                <a:effectLst/>
                <a:latin typeface="Menlo"/>
              </a:rPr>
              <a:t>sortedNumbers</a:t>
            </a:r>
            <a:r>
              <a:rPr lang="en-US" b="0" dirty="0">
                <a:solidFill>
                  <a:srgbClr val="0F1115"/>
                </a:solidFill>
                <a:effectLst/>
                <a:latin typeface="Menlo"/>
              </a:rPr>
              <a:t> </a:t>
            </a:r>
            <a:r>
              <a:rPr lang="en-US" b="0" dirty="0">
                <a:solidFill>
                  <a:srgbClr val="4078F2"/>
                </a:solidFill>
                <a:effectLst/>
                <a:latin typeface="Menlo"/>
              </a:rPr>
              <a:t>=</a:t>
            </a:r>
            <a:r>
              <a:rPr lang="en-US" b="0" dirty="0">
                <a:solidFill>
                  <a:srgbClr val="0F1115"/>
                </a:solidFill>
                <a:effectLst/>
                <a:latin typeface="Menlo"/>
              </a:rPr>
              <a:t> </a:t>
            </a:r>
            <a:r>
              <a:rPr lang="en-US" b="0" dirty="0">
                <a:solidFill>
                  <a:srgbClr val="A626A4"/>
                </a:solidFill>
                <a:effectLst/>
                <a:latin typeface="Menlo"/>
              </a:rPr>
              <a:t>new</a:t>
            </a:r>
            <a:r>
              <a:rPr lang="en-US" b="0" dirty="0">
                <a:solidFill>
                  <a:srgbClr val="0F1115"/>
                </a:solidFill>
                <a:effectLst/>
                <a:latin typeface="Menlo"/>
              </a:rPr>
              <a:t> </a:t>
            </a:r>
            <a:r>
              <a:rPr lang="en-US" b="0" dirty="0" err="1">
                <a:solidFill>
                  <a:srgbClr val="B76B01"/>
                </a:solidFill>
                <a:effectLst/>
                <a:latin typeface="Menlo"/>
              </a:rPr>
              <a:t>TreeSet</a:t>
            </a:r>
            <a:r>
              <a:rPr lang="en-US" b="0" dirty="0">
                <a:solidFill>
                  <a:srgbClr val="383A42"/>
                </a:solidFill>
                <a:effectLst/>
                <a:latin typeface="Menlo"/>
              </a:rPr>
              <a:t>&lt;&gt;();</a:t>
            </a:r>
            <a:endParaRPr lang="en-US" b="0" dirty="0">
              <a:solidFill>
                <a:srgbClr val="0F1115"/>
              </a:solidFill>
              <a:effectLst/>
              <a:latin typeface="Menlo"/>
            </a:endParaRPr>
          </a:p>
          <a:p>
            <a:pPr algn="l" latinLnBrk="1">
              <a:lnSpc>
                <a:spcPts val="1650"/>
              </a:lnSpc>
              <a:buNone/>
            </a:pPr>
            <a:r>
              <a:rPr lang="en-US" b="0" dirty="0" err="1">
                <a:solidFill>
                  <a:srgbClr val="0F1115"/>
                </a:solidFill>
                <a:effectLst/>
                <a:latin typeface="Menlo"/>
              </a:rPr>
              <a:t>sortedNumbers</a:t>
            </a:r>
            <a:r>
              <a:rPr lang="en-US" b="0" dirty="0" err="1">
                <a:solidFill>
                  <a:srgbClr val="383A42"/>
                </a:solidFill>
                <a:effectLst/>
                <a:latin typeface="Menlo"/>
              </a:rPr>
              <a:t>.</a:t>
            </a:r>
            <a:r>
              <a:rPr lang="en-US" b="0" dirty="0" err="1">
                <a:solidFill>
                  <a:srgbClr val="4078F2"/>
                </a:solidFill>
                <a:effectLst/>
                <a:latin typeface="Menlo"/>
              </a:rPr>
              <a:t>add</a:t>
            </a:r>
            <a:r>
              <a:rPr lang="en-US" b="0" dirty="0">
                <a:solidFill>
                  <a:srgbClr val="383A42"/>
                </a:solidFill>
                <a:effectLst/>
                <a:latin typeface="Menlo"/>
              </a:rPr>
              <a:t>(</a:t>
            </a:r>
            <a:r>
              <a:rPr lang="en-US" b="0" dirty="0">
                <a:solidFill>
                  <a:srgbClr val="B76B01"/>
                </a:solidFill>
                <a:effectLst/>
                <a:latin typeface="Menlo"/>
              </a:rPr>
              <a:t>5</a:t>
            </a:r>
            <a:r>
              <a:rPr lang="en-US" b="0" dirty="0">
                <a:solidFill>
                  <a:srgbClr val="383A42"/>
                </a:solidFill>
                <a:effectLst/>
                <a:latin typeface="Menlo"/>
              </a:rPr>
              <a:t>);</a:t>
            </a:r>
            <a:endParaRPr lang="en-US" b="0" dirty="0">
              <a:solidFill>
                <a:srgbClr val="0F1115"/>
              </a:solidFill>
              <a:effectLst/>
              <a:latin typeface="Menlo"/>
            </a:endParaRPr>
          </a:p>
          <a:p>
            <a:pPr algn="l" latinLnBrk="1">
              <a:lnSpc>
                <a:spcPts val="1650"/>
              </a:lnSpc>
              <a:buNone/>
            </a:pPr>
            <a:r>
              <a:rPr lang="en-US" b="0" dirty="0" err="1">
                <a:solidFill>
                  <a:srgbClr val="0F1115"/>
                </a:solidFill>
                <a:effectLst/>
                <a:latin typeface="Menlo"/>
              </a:rPr>
              <a:t>sortedNumbers</a:t>
            </a:r>
            <a:r>
              <a:rPr lang="en-US" b="0" dirty="0" err="1">
                <a:solidFill>
                  <a:srgbClr val="383A42"/>
                </a:solidFill>
                <a:effectLst/>
                <a:latin typeface="Menlo"/>
              </a:rPr>
              <a:t>.</a:t>
            </a:r>
            <a:r>
              <a:rPr lang="en-US" b="0" dirty="0" err="1">
                <a:solidFill>
                  <a:srgbClr val="4078F2"/>
                </a:solidFill>
                <a:effectLst/>
                <a:latin typeface="Menlo"/>
              </a:rPr>
              <a:t>add</a:t>
            </a:r>
            <a:r>
              <a:rPr lang="en-US" b="0" dirty="0">
                <a:solidFill>
                  <a:srgbClr val="383A42"/>
                </a:solidFill>
                <a:effectLst/>
                <a:latin typeface="Menlo"/>
              </a:rPr>
              <a:t>(</a:t>
            </a:r>
            <a:r>
              <a:rPr lang="en-US" b="0" dirty="0">
                <a:solidFill>
                  <a:srgbClr val="B76B01"/>
                </a:solidFill>
                <a:effectLst/>
                <a:latin typeface="Menlo"/>
              </a:rPr>
              <a:t>1</a:t>
            </a:r>
            <a:r>
              <a:rPr lang="en-US" b="0" dirty="0">
                <a:solidFill>
                  <a:srgbClr val="383A42"/>
                </a:solidFill>
                <a:effectLst/>
                <a:latin typeface="Menlo"/>
              </a:rPr>
              <a:t>);</a:t>
            </a:r>
            <a:endParaRPr lang="en-US" b="0" dirty="0">
              <a:solidFill>
                <a:srgbClr val="0F1115"/>
              </a:solidFill>
              <a:effectLst/>
              <a:latin typeface="Menlo"/>
            </a:endParaRPr>
          </a:p>
          <a:p>
            <a:pPr algn="l" latinLnBrk="1">
              <a:lnSpc>
                <a:spcPts val="1650"/>
              </a:lnSpc>
              <a:buNone/>
            </a:pPr>
            <a:r>
              <a:rPr lang="en-US" b="0" dirty="0" err="1">
                <a:solidFill>
                  <a:srgbClr val="0F1115"/>
                </a:solidFill>
                <a:effectLst/>
                <a:latin typeface="Menlo"/>
              </a:rPr>
              <a:t>sortedNumbers</a:t>
            </a:r>
            <a:r>
              <a:rPr lang="en-US" b="0" dirty="0" err="1">
                <a:solidFill>
                  <a:srgbClr val="383A42"/>
                </a:solidFill>
                <a:effectLst/>
                <a:latin typeface="Menlo"/>
              </a:rPr>
              <a:t>.</a:t>
            </a:r>
            <a:r>
              <a:rPr lang="en-US" b="0" dirty="0" err="1">
                <a:solidFill>
                  <a:srgbClr val="4078F2"/>
                </a:solidFill>
                <a:effectLst/>
                <a:latin typeface="Menlo"/>
              </a:rPr>
              <a:t>add</a:t>
            </a:r>
            <a:r>
              <a:rPr lang="en-US" b="0" dirty="0">
                <a:solidFill>
                  <a:srgbClr val="383A42"/>
                </a:solidFill>
                <a:effectLst/>
                <a:latin typeface="Menlo"/>
              </a:rPr>
              <a:t>(</a:t>
            </a:r>
            <a:r>
              <a:rPr lang="en-US" b="0" dirty="0">
                <a:solidFill>
                  <a:srgbClr val="B76B01"/>
                </a:solidFill>
                <a:effectLst/>
                <a:latin typeface="Menlo"/>
              </a:rPr>
              <a:t>3</a:t>
            </a:r>
            <a:r>
              <a:rPr lang="en-US" b="0" dirty="0">
                <a:solidFill>
                  <a:srgbClr val="383A42"/>
                </a:solidFill>
                <a:effectLst/>
                <a:latin typeface="Menlo"/>
              </a:rPr>
              <a:t>);</a:t>
            </a:r>
            <a:endParaRPr lang="en-US" b="0" dirty="0">
              <a:solidFill>
                <a:srgbClr val="0F1115"/>
              </a:solidFill>
              <a:effectLst/>
              <a:latin typeface="Menlo"/>
            </a:endParaRPr>
          </a:p>
          <a:p>
            <a:pPr algn="l" latinLnBrk="1">
              <a:lnSpc>
                <a:spcPts val="1650"/>
              </a:lnSpc>
              <a:buNone/>
            </a:pPr>
            <a:r>
              <a:rPr lang="en-US" b="0" dirty="0" err="1">
                <a:solidFill>
                  <a:srgbClr val="B76B01"/>
                </a:solidFill>
                <a:effectLst/>
                <a:latin typeface="Menlo"/>
              </a:rPr>
              <a:t>System</a:t>
            </a:r>
            <a:r>
              <a:rPr lang="en-US" b="0" dirty="0" err="1">
                <a:solidFill>
                  <a:srgbClr val="383A42"/>
                </a:solidFill>
                <a:effectLst/>
                <a:latin typeface="Menlo"/>
              </a:rPr>
              <a:t>.</a:t>
            </a:r>
            <a:r>
              <a:rPr lang="en-US" b="0" dirty="0" err="1">
                <a:solidFill>
                  <a:srgbClr val="0F1115"/>
                </a:solidFill>
                <a:effectLst/>
                <a:latin typeface="Menlo"/>
              </a:rPr>
              <a:t>out</a:t>
            </a:r>
            <a:r>
              <a:rPr lang="en-US" b="0" dirty="0" err="1">
                <a:solidFill>
                  <a:srgbClr val="383A42"/>
                </a:solidFill>
                <a:effectLst/>
                <a:latin typeface="Menlo"/>
              </a:rPr>
              <a:t>.</a:t>
            </a:r>
            <a:r>
              <a:rPr lang="en-US" b="0" dirty="0" err="1">
                <a:solidFill>
                  <a:srgbClr val="4078F2"/>
                </a:solidFill>
                <a:effectLst/>
                <a:latin typeface="Menlo"/>
              </a:rPr>
              <a:t>println</a:t>
            </a:r>
            <a:r>
              <a:rPr lang="en-US" b="0" dirty="0">
                <a:solidFill>
                  <a:srgbClr val="383A42"/>
                </a:solidFill>
                <a:effectLst/>
                <a:latin typeface="Menlo"/>
              </a:rPr>
              <a:t>(</a:t>
            </a:r>
            <a:r>
              <a:rPr lang="en-US" b="0" dirty="0" err="1">
                <a:solidFill>
                  <a:srgbClr val="0F1115"/>
                </a:solidFill>
                <a:effectLst/>
                <a:latin typeface="Menlo"/>
              </a:rPr>
              <a:t>sortedNumbers</a:t>
            </a:r>
            <a:r>
              <a:rPr lang="en-US" b="0" dirty="0">
                <a:solidFill>
                  <a:srgbClr val="383A42"/>
                </a:solidFill>
                <a:effectLst/>
                <a:latin typeface="Menlo"/>
              </a:rPr>
              <a:t>);</a:t>
            </a:r>
            <a:r>
              <a:rPr lang="en-US" b="0" dirty="0">
                <a:solidFill>
                  <a:srgbClr val="0F1115"/>
                </a:solidFill>
                <a:effectLst/>
                <a:latin typeface="Menlo"/>
              </a:rPr>
              <a:t> </a:t>
            </a:r>
            <a:r>
              <a:rPr lang="en-US" b="0" i="1" dirty="0">
                <a:solidFill>
                  <a:srgbClr val="A0A1A7"/>
                </a:solidFill>
                <a:effectLst/>
                <a:latin typeface="Menlo"/>
              </a:rPr>
              <a:t>// [1, 3, 5]</a:t>
            </a:r>
            <a:endParaRPr lang="en-US" b="0" dirty="0">
              <a:solidFill>
                <a:srgbClr val="0F1115"/>
              </a:solidFill>
              <a:effectLst/>
              <a:latin typeface="Menlo"/>
            </a:endParaRPr>
          </a:p>
        </p:txBody>
      </p:sp>
    </p:spTree>
    <p:extLst>
      <p:ext uri="{BB962C8B-B14F-4D97-AF65-F5344CB8AC3E}">
        <p14:creationId xmlns:p14="http://schemas.microsoft.com/office/powerpoint/2010/main" val="5587559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DED08A-066A-0076-90A1-5EE4FD77958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8F00053-67EA-9C2A-BC33-1007B664B1CB}"/>
              </a:ext>
            </a:extLst>
          </p:cNvPr>
          <p:cNvSpPr txBox="1"/>
          <p:nvPr/>
        </p:nvSpPr>
        <p:spPr>
          <a:xfrm>
            <a:off x="3046344" y="1720840"/>
            <a:ext cx="6092686" cy="3416320"/>
          </a:xfrm>
          <a:prstGeom prst="rect">
            <a:avLst/>
          </a:prstGeom>
          <a:noFill/>
        </p:spPr>
        <p:txBody>
          <a:bodyPr wrap="square">
            <a:spAutoFit/>
          </a:bodyPr>
          <a:lstStyle/>
          <a:p>
            <a:r>
              <a:rPr lang="en-US" dirty="0"/>
              <a:t>QUEUE &amp; DEQUE</a:t>
            </a:r>
          </a:p>
          <a:p>
            <a:r>
              <a:rPr lang="en-US" dirty="0"/>
              <a:t>────────────────────────────────</a:t>
            </a:r>
          </a:p>
          <a:p>
            <a:r>
              <a:rPr lang="en-US" dirty="0"/>
              <a:t>Queue (FIFO):</a:t>
            </a:r>
          </a:p>
          <a:p>
            <a:r>
              <a:rPr lang="en-US" dirty="0"/>
              <a:t>• </a:t>
            </a:r>
            <a:r>
              <a:rPr lang="en-US" dirty="0" err="1"/>
              <a:t>PriorityQueue</a:t>
            </a:r>
            <a:r>
              <a:rPr lang="en-US" dirty="0"/>
              <a:t> - Elements ordered by priority</a:t>
            </a:r>
          </a:p>
          <a:p>
            <a:r>
              <a:rPr lang="en-US" dirty="0"/>
              <a:t>• LinkedList - Can function as queue</a:t>
            </a:r>
          </a:p>
          <a:p>
            <a:endParaRPr lang="en-US" dirty="0"/>
          </a:p>
          <a:p>
            <a:r>
              <a:rPr lang="en-US" dirty="0"/>
              <a:t>Deque (Double Ended Queue):</a:t>
            </a:r>
          </a:p>
          <a:p>
            <a:r>
              <a:rPr lang="en-US" dirty="0"/>
              <a:t>• </a:t>
            </a:r>
            <a:r>
              <a:rPr lang="en-US" dirty="0" err="1"/>
              <a:t>ArrayDeque</a:t>
            </a:r>
            <a:r>
              <a:rPr lang="en-US" dirty="0"/>
              <a:t> - Resizable array implementation</a:t>
            </a:r>
          </a:p>
          <a:p>
            <a:r>
              <a:rPr lang="en-US" dirty="0"/>
              <a:t>• LinkedList - Also implements Deque</a:t>
            </a:r>
          </a:p>
          <a:p>
            <a:endParaRPr lang="en-US" dirty="0"/>
          </a:p>
          <a:p>
            <a:r>
              <a:rPr lang="en-US" dirty="0"/>
              <a:t>Common Operations:</a:t>
            </a:r>
          </a:p>
          <a:p>
            <a:r>
              <a:rPr lang="en-US" dirty="0"/>
              <a:t>add(), offer(), remove(), poll(), peek()</a:t>
            </a:r>
          </a:p>
        </p:txBody>
      </p:sp>
    </p:spTree>
    <p:extLst>
      <p:ext uri="{BB962C8B-B14F-4D97-AF65-F5344CB8AC3E}">
        <p14:creationId xmlns:p14="http://schemas.microsoft.com/office/powerpoint/2010/main" val="17439614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BE8B9C-F7F0-99A2-01A2-438932DC97A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31AC0D7-46BC-4492-7429-2FC5C7ECB606}"/>
              </a:ext>
            </a:extLst>
          </p:cNvPr>
          <p:cNvSpPr txBox="1"/>
          <p:nvPr/>
        </p:nvSpPr>
        <p:spPr>
          <a:xfrm>
            <a:off x="3046344" y="1962573"/>
            <a:ext cx="6092686" cy="2932854"/>
          </a:xfrm>
          <a:prstGeom prst="rect">
            <a:avLst/>
          </a:prstGeom>
          <a:noFill/>
        </p:spPr>
        <p:txBody>
          <a:bodyPr wrap="square">
            <a:spAutoFit/>
          </a:bodyPr>
          <a:lstStyle/>
          <a:p>
            <a:pPr algn="l" latinLnBrk="1">
              <a:lnSpc>
                <a:spcPts val="1650"/>
              </a:lnSpc>
              <a:buNone/>
            </a:pPr>
            <a:r>
              <a:rPr lang="en-US" b="0" i="1" dirty="0">
                <a:solidFill>
                  <a:srgbClr val="A0A1A7"/>
                </a:solidFill>
                <a:effectLst/>
                <a:latin typeface="Menlo"/>
              </a:rPr>
              <a:t>// Queue Example - Task processing</a:t>
            </a:r>
            <a:endParaRPr lang="en-US" b="0" dirty="0">
              <a:solidFill>
                <a:srgbClr val="0F1115"/>
              </a:solidFill>
              <a:effectLst/>
              <a:latin typeface="Menlo"/>
            </a:endParaRPr>
          </a:p>
          <a:p>
            <a:pPr algn="l" latinLnBrk="1">
              <a:lnSpc>
                <a:spcPts val="1650"/>
              </a:lnSpc>
              <a:buNone/>
            </a:pPr>
            <a:r>
              <a:rPr lang="en-US" b="0" dirty="0">
                <a:solidFill>
                  <a:srgbClr val="B76B01"/>
                </a:solidFill>
                <a:effectLst/>
                <a:latin typeface="Menlo"/>
              </a:rPr>
              <a:t>Queue</a:t>
            </a:r>
            <a:r>
              <a:rPr lang="en-US" b="0" dirty="0">
                <a:solidFill>
                  <a:srgbClr val="383A42"/>
                </a:solidFill>
                <a:effectLst/>
                <a:latin typeface="Menlo"/>
              </a:rPr>
              <a:t>&lt;</a:t>
            </a:r>
            <a:r>
              <a:rPr lang="en-US" b="0" dirty="0">
                <a:solidFill>
                  <a:srgbClr val="B76B01"/>
                </a:solidFill>
                <a:effectLst/>
                <a:latin typeface="Menlo"/>
              </a:rPr>
              <a:t>String</a:t>
            </a:r>
            <a:r>
              <a:rPr lang="en-US" b="0" dirty="0">
                <a:solidFill>
                  <a:srgbClr val="383A42"/>
                </a:solidFill>
                <a:effectLst/>
                <a:latin typeface="Menlo"/>
              </a:rPr>
              <a:t>&gt;</a:t>
            </a:r>
            <a:r>
              <a:rPr lang="en-US" b="0" dirty="0">
                <a:solidFill>
                  <a:srgbClr val="0F1115"/>
                </a:solidFill>
                <a:effectLst/>
                <a:latin typeface="Menlo"/>
              </a:rPr>
              <a:t> </a:t>
            </a:r>
            <a:r>
              <a:rPr lang="en-US" b="0" dirty="0" err="1">
                <a:solidFill>
                  <a:srgbClr val="0F1115"/>
                </a:solidFill>
                <a:effectLst/>
                <a:latin typeface="Menlo"/>
              </a:rPr>
              <a:t>taskQueue</a:t>
            </a:r>
            <a:r>
              <a:rPr lang="en-US" b="0" dirty="0">
                <a:solidFill>
                  <a:srgbClr val="0F1115"/>
                </a:solidFill>
                <a:effectLst/>
                <a:latin typeface="Menlo"/>
              </a:rPr>
              <a:t> </a:t>
            </a:r>
            <a:r>
              <a:rPr lang="en-US" b="0" dirty="0">
                <a:solidFill>
                  <a:srgbClr val="4078F2"/>
                </a:solidFill>
                <a:effectLst/>
                <a:latin typeface="Menlo"/>
              </a:rPr>
              <a:t>=</a:t>
            </a:r>
            <a:r>
              <a:rPr lang="en-US" b="0" dirty="0">
                <a:solidFill>
                  <a:srgbClr val="0F1115"/>
                </a:solidFill>
                <a:effectLst/>
                <a:latin typeface="Menlo"/>
              </a:rPr>
              <a:t> </a:t>
            </a:r>
            <a:r>
              <a:rPr lang="en-US" b="0" dirty="0">
                <a:solidFill>
                  <a:srgbClr val="A626A4"/>
                </a:solidFill>
                <a:effectLst/>
                <a:latin typeface="Menlo"/>
              </a:rPr>
              <a:t>new</a:t>
            </a:r>
            <a:r>
              <a:rPr lang="en-US" b="0" dirty="0">
                <a:solidFill>
                  <a:srgbClr val="0F1115"/>
                </a:solidFill>
                <a:effectLst/>
                <a:latin typeface="Menlo"/>
              </a:rPr>
              <a:t> </a:t>
            </a:r>
            <a:r>
              <a:rPr lang="en-US" b="0" dirty="0">
                <a:solidFill>
                  <a:srgbClr val="B76B01"/>
                </a:solidFill>
                <a:effectLst/>
                <a:latin typeface="Menlo"/>
              </a:rPr>
              <a:t>LinkedList</a:t>
            </a:r>
            <a:r>
              <a:rPr lang="en-US" b="0" dirty="0">
                <a:solidFill>
                  <a:srgbClr val="383A42"/>
                </a:solidFill>
                <a:effectLst/>
                <a:latin typeface="Menlo"/>
              </a:rPr>
              <a:t>&lt;&gt;();</a:t>
            </a:r>
            <a:endParaRPr lang="en-US" b="0" dirty="0">
              <a:solidFill>
                <a:srgbClr val="0F1115"/>
              </a:solidFill>
              <a:effectLst/>
              <a:latin typeface="Menlo"/>
            </a:endParaRPr>
          </a:p>
          <a:p>
            <a:pPr algn="l" latinLnBrk="1">
              <a:lnSpc>
                <a:spcPts val="1650"/>
              </a:lnSpc>
              <a:buNone/>
            </a:pPr>
            <a:r>
              <a:rPr lang="en-US" b="0" dirty="0" err="1">
                <a:solidFill>
                  <a:srgbClr val="0F1115"/>
                </a:solidFill>
                <a:effectLst/>
                <a:latin typeface="Menlo"/>
              </a:rPr>
              <a:t>taskQueue</a:t>
            </a:r>
            <a:r>
              <a:rPr lang="en-US" b="0" dirty="0" err="1">
                <a:solidFill>
                  <a:srgbClr val="383A42"/>
                </a:solidFill>
                <a:effectLst/>
                <a:latin typeface="Menlo"/>
              </a:rPr>
              <a:t>.</a:t>
            </a:r>
            <a:r>
              <a:rPr lang="en-US" b="0" dirty="0" err="1">
                <a:solidFill>
                  <a:srgbClr val="4078F2"/>
                </a:solidFill>
                <a:effectLst/>
                <a:latin typeface="Menlo"/>
              </a:rPr>
              <a:t>add</a:t>
            </a:r>
            <a:r>
              <a:rPr lang="en-US" b="0" dirty="0">
                <a:solidFill>
                  <a:srgbClr val="383A42"/>
                </a:solidFill>
                <a:effectLst/>
                <a:latin typeface="Menlo"/>
              </a:rPr>
              <a:t>(</a:t>
            </a:r>
            <a:r>
              <a:rPr lang="en-US" b="0" dirty="0">
                <a:solidFill>
                  <a:srgbClr val="50A14F"/>
                </a:solidFill>
                <a:effectLst/>
                <a:latin typeface="Menlo"/>
              </a:rPr>
              <a:t>"Task1"</a:t>
            </a:r>
            <a:r>
              <a:rPr lang="en-US" b="0" dirty="0">
                <a:solidFill>
                  <a:srgbClr val="383A42"/>
                </a:solidFill>
                <a:effectLst/>
                <a:latin typeface="Menlo"/>
              </a:rPr>
              <a:t>);</a:t>
            </a:r>
            <a:endParaRPr lang="en-US" b="0" dirty="0">
              <a:solidFill>
                <a:srgbClr val="0F1115"/>
              </a:solidFill>
              <a:effectLst/>
              <a:latin typeface="Menlo"/>
            </a:endParaRPr>
          </a:p>
          <a:p>
            <a:pPr algn="l" latinLnBrk="1">
              <a:lnSpc>
                <a:spcPts val="1650"/>
              </a:lnSpc>
              <a:buNone/>
            </a:pPr>
            <a:r>
              <a:rPr lang="en-US" b="0" dirty="0" err="1">
                <a:solidFill>
                  <a:srgbClr val="0F1115"/>
                </a:solidFill>
                <a:effectLst/>
                <a:latin typeface="Menlo"/>
              </a:rPr>
              <a:t>taskQueue</a:t>
            </a:r>
            <a:r>
              <a:rPr lang="en-US" b="0" dirty="0" err="1">
                <a:solidFill>
                  <a:srgbClr val="383A42"/>
                </a:solidFill>
                <a:effectLst/>
                <a:latin typeface="Menlo"/>
              </a:rPr>
              <a:t>.</a:t>
            </a:r>
            <a:r>
              <a:rPr lang="en-US" b="0" dirty="0" err="1">
                <a:solidFill>
                  <a:srgbClr val="4078F2"/>
                </a:solidFill>
                <a:effectLst/>
                <a:latin typeface="Menlo"/>
              </a:rPr>
              <a:t>add</a:t>
            </a:r>
            <a:r>
              <a:rPr lang="en-US" b="0" dirty="0">
                <a:solidFill>
                  <a:srgbClr val="383A42"/>
                </a:solidFill>
                <a:effectLst/>
                <a:latin typeface="Menlo"/>
              </a:rPr>
              <a:t>(</a:t>
            </a:r>
            <a:r>
              <a:rPr lang="en-US" b="0" dirty="0">
                <a:solidFill>
                  <a:srgbClr val="50A14F"/>
                </a:solidFill>
                <a:effectLst/>
                <a:latin typeface="Menlo"/>
              </a:rPr>
              <a:t>"Task2"</a:t>
            </a:r>
            <a:r>
              <a:rPr lang="en-US" b="0" dirty="0">
                <a:solidFill>
                  <a:srgbClr val="383A42"/>
                </a:solidFill>
                <a:effectLst/>
                <a:latin typeface="Menlo"/>
              </a:rPr>
              <a:t>);</a:t>
            </a:r>
            <a:endParaRPr lang="en-US" b="0" dirty="0">
              <a:solidFill>
                <a:srgbClr val="0F1115"/>
              </a:solidFill>
              <a:effectLst/>
              <a:latin typeface="Menlo"/>
            </a:endParaRPr>
          </a:p>
          <a:p>
            <a:pPr algn="l" latinLnBrk="1">
              <a:lnSpc>
                <a:spcPts val="1650"/>
              </a:lnSpc>
              <a:buNone/>
            </a:pPr>
            <a:r>
              <a:rPr lang="en-US" b="0" dirty="0" err="1">
                <a:solidFill>
                  <a:srgbClr val="0F1115"/>
                </a:solidFill>
                <a:effectLst/>
                <a:latin typeface="Menlo"/>
              </a:rPr>
              <a:t>taskQueue</a:t>
            </a:r>
            <a:r>
              <a:rPr lang="en-US" b="0" dirty="0" err="1">
                <a:solidFill>
                  <a:srgbClr val="383A42"/>
                </a:solidFill>
                <a:effectLst/>
                <a:latin typeface="Menlo"/>
              </a:rPr>
              <a:t>.</a:t>
            </a:r>
            <a:r>
              <a:rPr lang="en-US" b="0" dirty="0" err="1">
                <a:solidFill>
                  <a:srgbClr val="4078F2"/>
                </a:solidFill>
                <a:effectLst/>
                <a:latin typeface="Menlo"/>
              </a:rPr>
              <a:t>add</a:t>
            </a:r>
            <a:r>
              <a:rPr lang="en-US" b="0" dirty="0">
                <a:solidFill>
                  <a:srgbClr val="383A42"/>
                </a:solidFill>
                <a:effectLst/>
                <a:latin typeface="Menlo"/>
              </a:rPr>
              <a:t>(</a:t>
            </a:r>
            <a:r>
              <a:rPr lang="en-US" b="0" dirty="0">
                <a:solidFill>
                  <a:srgbClr val="50A14F"/>
                </a:solidFill>
                <a:effectLst/>
                <a:latin typeface="Menlo"/>
              </a:rPr>
              <a:t>"Task3"</a:t>
            </a:r>
            <a:r>
              <a:rPr lang="en-US" b="0" dirty="0">
                <a:solidFill>
                  <a:srgbClr val="383A42"/>
                </a:solidFill>
                <a:effectLst/>
                <a:latin typeface="Menlo"/>
              </a:rPr>
              <a:t>);</a:t>
            </a:r>
            <a:endParaRPr lang="en-US" b="0" dirty="0">
              <a:solidFill>
                <a:srgbClr val="0F1115"/>
              </a:solidFill>
              <a:effectLst/>
              <a:latin typeface="Menlo"/>
            </a:endParaRPr>
          </a:p>
          <a:p>
            <a:pPr algn="l" latinLnBrk="1">
              <a:lnSpc>
                <a:spcPts val="1650"/>
              </a:lnSpc>
              <a:buNone/>
            </a:pPr>
            <a:r>
              <a:rPr lang="en-US" b="0" dirty="0" err="1">
                <a:solidFill>
                  <a:srgbClr val="B76B01"/>
                </a:solidFill>
                <a:effectLst/>
                <a:latin typeface="Menlo"/>
              </a:rPr>
              <a:t>System</a:t>
            </a:r>
            <a:r>
              <a:rPr lang="en-US" b="0" dirty="0" err="1">
                <a:solidFill>
                  <a:srgbClr val="383A42"/>
                </a:solidFill>
                <a:effectLst/>
                <a:latin typeface="Menlo"/>
              </a:rPr>
              <a:t>.</a:t>
            </a:r>
            <a:r>
              <a:rPr lang="en-US" b="0" dirty="0" err="1">
                <a:solidFill>
                  <a:srgbClr val="0F1115"/>
                </a:solidFill>
                <a:effectLst/>
                <a:latin typeface="Menlo"/>
              </a:rPr>
              <a:t>out</a:t>
            </a:r>
            <a:r>
              <a:rPr lang="en-US" b="0" dirty="0" err="1">
                <a:solidFill>
                  <a:srgbClr val="383A42"/>
                </a:solidFill>
                <a:effectLst/>
                <a:latin typeface="Menlo"/>
              </a:rPr>
              <a:t>.</a:t>
            </a:r>
            <a:r>
              <a:rPr lang="en-US" b="0" dirty="0" err="1">
                <a:solidFill>
                  <a:srgbClr val="4078F2"/>
                </a:solidFill>
                <a:effectLst/>
                <a:latin typeface="Menlo"/>
              </a:rPr>
              <a:t>println</a:t>
            </a:r>
            <a:r>
              <a:rPr lang="en-US" b="0" dirty="0">
                <a:solidFill>
                  <a:srgbClr val="383A42"/>
                </a:solidFill>
                <a:effectLst/>
                <a:latin typeface="Menlo"/>
              </a:rPr>
              <a:t>(</a:t>
            </a:r>
            <a:r>
              <a:rPr lang="en-US" b="0" dirty="0" err="1">
                <a:solidFill>
                  <a:srgbClr val="0F1115"/>
                </a:solidFill>
                <a:effectLst/>
                <a:latin typeface="Menlo"/>
              </a:rPr>
              <a:t>taskQueue</a:t>
            </a:r>
            <a:r>
              <a:rPr lang="en-US" b="0" dirty="0" err="1">
                <a:solidFill>
                  <a:srgbClr val="383A42"/>
                </a:solidFill>
                <a:effectLst/>
                <a:latin typeface="Menlo"/>
              </a:rPr>
              <a:t>.</a:t>
            </a:r>
            <a:r>
              <a:rPr lang="en-US" b="0" dirty="0" err="1">
                <a:solidFill>
                  <a:srgbClr val="4078F2"/>
                </a:solidFill>
                <a:effectLst/>
                <a:latin typeface="Menlo"/>
              </a:rPr>
              <a:t>poll</a:t>
            </a:r>
            <a:r>
              <a:rPr lang="en-US" b="0" dirty="0">
                <a:solidFill>
                  <a:srgbClr val="383A42"/>
                </a:solidFill>
                <a:effectLst/>
                <a:latin typeface="Menlo"/>
              </a:rPr>
              <a:t>());</a:t>
            </a:r>
            <a:r>
              <a:rPr lang="en-US" b="0" dirty="0">
                <a:solidFill>
                  <a:srgbClr val="0F1115"/>
                </a:solidFill>
                <a:effectLst/>
                <a:latin typeface="Menlo"/>
              </a:rPr>
              <a:t> </a:t>
            </a:r>
            <a:r>
              <a:rPr lang="en-US" b="0" i="1" dirty="0">
                <a:solidFill>
                  <a:srgbClr val="A0A1A7"/>
                </a:solidFill>
                <a:effectLst/>
                <a:latin typeface="Menlo"/>
              </a:rPr>
              <a:t>// "Task1" (removes)</a:t>
            </a:r>
            <a:endParaRPr lang="en-US" b="0" dirty="0">
              <a:solidFill>
                <a:srgbClr val="0F1115"/>
              </a:solidFill>
              <a:effectLst/>
              <a:latin typeface="Menlo"/>
            </a:endParaRPr>
          </a:p>
          <a:p>
            <a:pPr algn="l" latinLnBrk="1">
              <a:lnSpc>
                <a:spcPts val="1650"/>
              </a:lnSpc>
              <a:buNone/>
            </a:pPr>
            <a:endParaRPr lang="en-US" b="0" dirty="0">
              <a:solidFill>
                <a:srgbClr val="0F1115"/>
              </a:solidFill>
              <a:effectLst/>
              <a:latin typeface="Menlo"/>
            </a:endParaRPr>
          </a:p>
          <a:p>
            <a:pPr algn="l" latinLnBrk="1">
              <a:lnSpc>
                <a:spcPts val="1650"/>
              </a:lnSpc>
              <a:buNone/>
            </a:pPr>
            <a:r>
              <a:rPr lang="en-US" b="0" i="1" dirty="0">
                <a:solidFill>
                  <a:srgbClr val="A0A1A7"/>
                </a:solidFill>
                <a:effectLst/>
                <a:latin typeface="Menlo"/>
              </a:rPr>
              <a:t>// </a:t>
            </a:r>
            <a:r>
              <a:rPr lang="en-US" b="0" i="1" dirty="0" err="1">
                <a:solidFill>
                  <a:srgbClr val="A0A1A7"/>
                </a:solidFill>
                <a:effectLst/>
                <a:latin typeface="Menlo"/>
              </a:rPr>
              <a:t>PriorityQueue</a:t>
            </a:r>
            <a:r>
              <a:rPr lang="en-US" b="0" i="1" dirty="0">
                <a:solidFill>
                  <a:srgbClr val="A0A1A7"/>
                </a:solidFill>
                <a:effectLst/>
                <a:latin typeface="Menlo"/>
              </a:rPr>
              <a:t> - Hospital emergency</a:t>
            </a:r>
            <a:endParaRPr lang="en-US" b="0" dirty="0">
              <a:solidFill>
                <a:srgbClr val="0F1115"/>
              </a:solidFill>
              <a:effectLst/>
              <a:latin typeface="Menlo"/>
            </a:endParaRPr>
          </a:p>
          <a:p>
            <a:pPr algn="l" latinLnBrk="1">
              <a:lnSpc>
                <a:spcPts val="1650"/>
              </a:lnSpc>
              <a:buNone/>
            </a:pPr>
            <a:r>
              <a:rPr lang="en-US" b="0" dirty="0">
                <a:solidFill>
                  <a:srgbClr val="B76B01"/>
                </a:solidFill>
                <a:effectLst/>
                <a:latin typeface="Menlo"/>
              </a:rPr>
              <a:t>Queue</a:t>
            </a:r>
            <a:r>
              <a:rPr lang="en-US" b="0" dirty="0">
                <a:solidFill>
                  <a:srgbClr val="383A42"/>
                </a:solidFill>
                <a:effectLst/>
                <a:latin typeface="Menlo"/>
              </a:rPr>
              <a:t>&lt;</a:t>
            </a:r>
            <a:r>
              <a:rPr lang="en-US" b="0" dirty="0">
                <a:solidFill>
                  <a:srgbClr val="B76B01"/>
                </a:solidFill>
                <a:effectLst/>
                <a:latin typeface="Menlo"/>
              </a:rPr>
              <a:t>Patient</a:t>
            </a:r>
            <a:r>
              <a:rPr lang="en-US" b="0" dirty="0">
                <a:solidFill>
                  <a:srgbClr val="383A42"/>
                </a:solidFill>
                <a:effectLst/>
                <a:latin typeface="Menlo"/>
              </a:rPr>
              <a:t>&gt;</a:t>
            </a:r>
            <a:r>
              <a:rPr lang="en-US" b="0" dirty="0">
                <a:solidFill>
                  <a:srgbClr val="0F1115"/>
                </a:solidFill>
                <a:effectLst/>
                <a:latin typeface="Menlo"/>
              </a:rPr>
              <a:t> </a:t>
            </a:r>
            <a:r>
              <a:rPr lang="en-US" b="0" dirty="0" err="1">
                <a:solidFill>
                  <a:srgbClr val="0F1115"/>
                </a:solidFill>
                <a:effectLst/>
                <a:latin typeface="Menlo"/>
              </a:rPr>
              <a:t>emergencyQueue</a:t>
            </a:r>
            <a:r>
              <a:rPr lang="en-US" b="0" dirty="0">
                <a:solidFill>
                  <a:srgbClr val="0F1115"/>
                </a:solidFill>
                <a:effectLst/>
                <a:latin typeface="Menlo"/>
              </a:rPr>
              <a:t> </a:t>
            </a:r>
            <a:r>
              <a:rPr lang="en-US" b="0" dirty="0">
                <a:solidFill>
                  <a:srgbClr val="4078F2"/>
                </a:solidFill>
                <a:effectLst/>
                <a:latin typeface="Menlo"/>
              </a:rPr>
              <a:t>=</a:t>
            </a:r>
            <a:r>
              <a:rPr lang="en-US" b="0" dirty="0">
                <a:solidFill>
                  <a:srgbClr val="0F1115"/>
                </a:solidFill>
                <a:effectLst/>
                <a:latin typeface="Menlo"/>
              </a:rPr>
              <a:t> </a:t>
            </a:r>
            <a:r>
              <a:rPr lang="en-US" b="0" dirty="0">
                <a:solidFill>
                  <a:srgbClr val="A626A4"/>
                </a:solidFill>
                <a:effectLst/>
                <a:latin typeface="Menlo"/>
              </a:rPr>
              <a:t>new</a:t>
            </a:r>
            <a:r>
              <a:rPr lang="en-US" b="0" dirty="0">
                <a:solidFill>
                  <a:srgbClr val="0F1115"/>
                </a:solidFill>
                <a:effectLst/>
                <a:latin typeface="Menlo"/>
              </a:rPr>
              <a:t> </a:t>
            </a:r>
            <a:r>
              <a:rPr lang="en-US" b="0" dirty="0" err="1">
                <a:solidFill>
                  <a:srgbClr val="B76B01"/>
                </a:solidFill>
                <a:effectLst/>
                <a:latin typeface="Menlo"/>
              </a:rPr>
              <a:t>PriorityQueue</a:t>
            </a:r>
            <a:r>
              <a:rPr lang="en-US" b="0" dirty="0">
                <a:solidFill>
                  <a:srgbClr val="383A42"/>
                </a:solidFill>
                <a:effectLst/>
                <a:latin typeface="Menlo"/>
              </a:rPr>
              <a:t>&lt;&gt;(</a:t>
            </a:r>
            <a:r>
              <a:rPr lang="en-US" b="0" dirty="0" err="1">
                <a:solidFill>
                  <a:srgbClr val="B76B01"/>
                </a:solidFill>
                <a:effectLst/>
                <a:latin typeface="Menlo"/>
              </a:rPr>
              <a:t>Comparator</a:t>
            </a:r>
            <a:r>
              <a:rPr lang="en-US" b="0" dirty="0" err="1">
                <a:solidFill>
                  <a:srgbClr val="383A42"/>
                </a:solidFill>
                <a:effectLst/>
                <a:latin typeface="Menlo"/>
              </a:rPr>
              <a:t>.</a:t>
            </a:r>
            <a:r>
              <a:rPr lang="en-US" b="0" dirty="0" err="1">
                <a:solidFill>
                  <a:srgbClr val="4078F2"/>
                </a:solidFill>
                <a:effectLst/>
                <a:latin typeface="Menlo"/>
              </a:rPr>
              <a:t>comparing</a:t>
            </a:r>
            <a:r>
              <a:rPr lang="en-US" b="0" dirty="0">
                <a:solidFill>
                  <a:srgbClr val="383A42"/>
                </a:solidFill>
                <a:effectLst/>
                <a:latin typeface="Menlo"/>
              </a:rPr>
              <a:t>(</a:t>
            </a:r>
            <a:r>
              <a:rPr lang="en-US" b="0" dirty="0">
                <a:solidFill>
                  <a:srgbClr val="B76B01"/>
                </a:solidFill>
                <a:effectLst/>
                <a:latin typeface="Menlo"/>
              </a:rPr>
              <a:t>Patient</a:t>
            </a:r>
            <a:r>
              <a:rPr lang="en-US" b="0" dirty="0">
                <a:solidFill>
                  <a:srgbClr val="4078F2"/>
                </a:solidFill>
                <a:effectLst/>
                <a:latin typeface="Menlo"/>
              </a:rPr>
              <a:t>::</a:t>
            </a:r>
            <a:r>
              <a:rPr lang="en-US" b="0" dirty="0" err="1">
                <a:solidFill>
                  <a:srgbClr val="4078F2"/>
                </a:solidFill>
                <a:effectLst/>
                <a:latin typeface="Menlo"/>
              </a:rPr>
              <a:t>getSeverity</a:t>
            </a:r>
            <a:r>
              <a:rPr lang="en-US" b="0" dirty="0">
                <a:solidFill>
                  <a:srgbClr val="383A42"/>
                </a:solidFill>
                <a:effectLst/>
                <a:latin typeface="Menlo"/>
              </a:rPr>
              <a:t>));</a:t>
            </a:r>
            <a:endParaRPr lang="en-US" b="0" dirty="0">
              <a:solidFill>
                <a:srgbClr val="0F1115"/>
              </a:solidFill>
              <a:effectLst/>
              <a:latin typeface="Menlo"/>
            </a:endParaRPr>
          </a:p>
          <a:p>
            <a:pPr algn="l" latinLnBrk="1">
              <a:lnSpc>
                <a:spcPts val="1650"/>
              </a:lnSpc>
              <a:buNone/>
            </a:pPr>
            <a:r>
              <a:rPr lang="en-US" b="0" dirty="0" err="1">
                <a:solidFill>
                  <a:srgbClr val="0F1115"/>
                </a:solidFill>
                <a:effectLst/>
                <a:latin typeface="Menlo"/>
              </a:rPr>
              <a:t>emergencyQueue</a:t>
            </a:r>
            <a:r>
              <a:rPr lang="en-US" b="0" dirty="0" err="1">
                <a:solidFill>
                  <a:srgbClr val="383A42"/>
                </a:solidFill>
                <a:effectLst/>
                <a:latin typeface="Menlo"/>
              </a:rPr>
              <a:t>.</a:t>
            </a:r>
            <a:r>
              <a:rPr lang="en-US" b="0" dirty="0" err="1">
                <a:solidFill>
                  <a:srgbClr val="4078F2"/>
                </a:solidFill>
                <a:effectLst/>
                <a:latin typeface="Menlo"/>
              </a:rPr>
              <a:t>add</a:t>
            </a:r>
            <a:r>
              <a:rPr lang="en-US" b="0" dirty="0">
                <a:solidFill>
                  <a:srgbClr val="383A42"/>
                </a:solidFill>
                <a:effectLst/>
                <a:latin typeface="Menlo"/>
              </a:rPr>
              <a:t>(</a:t>
            </a:r>
            <a:r>
              <a:rPr lang="en-US" b="0" dirty="0">
                <a:solidFill>
                  <a:srgbClr val="A626A4"/>
                </a:solidFill>
                <a:effectLst/>
                <a:latin typeface="Menlo"/>
              </a:rPr>
              <a:t>new</a:t>
            </a:r>
            <a:r>
              <a:rPr lang="en-US" b="0" dirty="0">
                <a:solidFill>
                  <a:srgbClr val="0F1115"/>
                </a:solidFill>
                <a:effectLst/>
                <a:latin typeface="Menlo"/>
              </a:rPr>
              <a:t> </a:t>
            </a:r>
            <a:r>
              <a:rPr lang="en-US" b="0" dirty="0">
                <a:solidFill>
                  <a:srgbClr val="B76B01"/>
                </a:solidFill>
                <a:effectLst/>
                <a:latin typeface="Menlo"/>
              </a:rPr>
              <a:t>Patient</a:t>
            </a:r>
            <a:r>
              <a:rPr lang="en-US" b="0" dirty="0">
                <a:solidFill>
                  <a:srgbClr val="383A42"/>
                </a:solidFill>
                <a:effectLst/>
                <a:latin typeface="Menlo"/>
              </a:rPr>
              <a:t>(</a:t>
            </a:r>
            <a:r>
              <a:rPr lang="en-US" b="0" dirty="0">
                <a:solidFill>
                  <a:srgbClr val="50A14F"/>
                </a:solidFill>
                <a:effectLst/>
                <a:latin typeface="Menlo"/>
              </a:rPr>
              <a:t>"John"</a:t>
            </a:r>
            <a:r>
              <a:rPr lang="en-US" b="0" dirty="0">
                <a:solidFill>
                  <a:srgbClr val="383A42"/>
                </a:solidFill>
                <a:effectLst/>
                <a:latin typeface="Menlo"/>
              </a:rPr>
              <a:t>,</a:t>
            </a:r>
            <a:r>
              <a:rPr lang="en-US" b="0" dirty="0">
                <a:solidFill>
                  <a:srgbClr val="0F1115"/>
                </a:solidFill>
                <a:effectLst/>
                <a:latin typeface="Menlo"/>
              </a:rPr>
              <a:t> </a:t>
            </a:r>
            <a:r>
              <a:rPr lang="en-US" b="0" dirty="0">
                <a:solidFill>
                  <a:srgbClr val="B76B01"/>
                </a:solidFill>
                <a:effectLst/>
                <a:latin typeface="Menlo"/>
              </a:rPr>
              <a:t>3</a:t>
            </a:r>
            <a:r>
              <a:rPr lang="en-US" b="0" dirty="0">
                <a:solidFill>
                  <a:srgbClr val="383A42"/>
                </a:solidFill>
                <a:effectLst/>
                <a:latin typeface="Menlo"/>
              </a:rPr>
              <a:t>));</a:t>
            </a:r>
            <a:endParaRPr lang="en-US" b="0" dirty="0">
              <a:solidFill>
                <a:srgbClr val="0F1115"/>
              </a:solidFill>
              <a:effectLst/>
              <a:latin typeface="Menlo"/>
            </a:endParaRPr>
          </a:p>
          <a:p>
            <a:pPr algn="l" latinLnBrk="1">
              <a:lnSpc>
                <a:spcPts val="1650"/>
              </a:lnSpc>
              <a:buNone/>
            </a:pPr>
            <a:r>
              <a:rPr lang="en-US" b="0" dirty="0" err="1">
                <a:solidFill>
                  <a:srgbClr val="0F1115"/>
                </a:solidFill>
                <a:effectLst/>
                <a:latin typeface="Menlo"/>
              </a:rPr>
              <a:t>emergencyQueue</a:t>
            </a:r>
            <a:r>
              <a:rPr lang="en-US" b="0" dirty="0" err="1">
                <a:solidFill>
                  <a:srgbClr val="383A42"/>
                </a:solidFill>
                <a:effectLst/>
                <a:latin typeface="Menlo"/>
              </a:rPr>
              <a:t>.</a:t>
            </a:r>
            <a:r>
              <a:rPr lang="en-US" b="0" dirty="0" err="1">
                <a:solidFill>
                  <a:srgbClr val="4078F2"/>
                </a:solidFill>
                <a:effectLst/>
                <a:latin typeface="Menlo"/>
              </a:rPr>
              <a:t>add</a:t>
            </a:r>
            <a:r>
              <a:rPr lang="en-US" b="0" dirty="0">
                <a:solidFill>
                  <a:srgbClr val="383A42"/>
                </a:solidFill>
                <a:effectLst/>
                <a:latin typeface="Menlo"/>
              </a:rPr>
              <a:t>(</a:t>
            </a:r>
            <a:r>
              <a:rPr lang="en-US" b="0" dirty="0">
                <a:solidFill>
                  <a:srgbClr val="A626A4"/>
                </a:solidFill>
                <a:effectLst/>
                <a:latin typeface="Menlo"/>
              </a:rPr>
              <a:t>new</a:t>
            </a:r>
            <a:r>
              <a:rPr lang="en-US" b="0" dirty="0">
                <a:solidFill>
                  <a:srgbClr val="0F1115"/>
                </a:solidFill>
                <a:effectLst/>
                <a:latin typeface="Menlo"/>
              </a:rPr>
              <a:t> </a:t>
            </a:r>
            <a:r>
              <a:rPr lang="en-US" b="0" dirty="0">
                <a:solidFill>
                  <a:srgbClr val="B76B01"/>
                </a:solidFill>
                <a:effectLst/>
                <a:latin typeface="Menlo"/>
              </a:rPr>
              <a:t>Patient</a:t>
            </a:r>
            <a:r>
              <a:rPr lang="en-US" b="0" dirty="0">
                <a:solidFill>
                  <a:srgbClr val="383A42"/>
                </a:solidFill>
                <a:effectLst/>
                <a:latin typeface="Menlo"/>
              </a:rPr>
              <a:t>(</a:t>
            </a:r>
            <a:r>
              <a:rPr lang="en-US" b="0" dirty="0">
                <a:solidFill>
                  <a:srgbClr val="50A14F"/>
                </a:solidFill>
                <a:effectLst/>
                <a:latin typeface="Menlo"/>
              </a:rPr>
              <a:t>"Sarah"</a:t>
            </a:r>
            <a:r>
              <a:rPr lang="en-US" b="0" dirty="0">
                <a:solidFill>
                  <a:srgbClr val="383A42"/>
                </a:solidFill>
                <a:effectLst/>
                <a:latin typeface="Menlo"/>
              </a:rPr>
              <a:t>,</a:t>
            </a:r>
            <a:r>
              <a:rPr lang="en-US" b="0" dirty="0">
                <a:solidFill>
                  <a:srgbClr val="0F1115"/>
                </a:solidFill>
                <a:effectLst/>
                <a:latin typeface="Menlo"/>
              </a:rPr>
              <a:t> </a:t>
            </a:r>
            <a:r>
              <a:rPr lang="en-US" b="0" dirty="0">
                <a:solidFill>
                  <a:srgbClr val="B76B01"/>
                </a:solidFill>
                <a:effectLst/>
                <a:latin typeface="Menlo"/>
              </a:rPr>
              <a:t>1</a:t>
            </a:r>
            <a:r>
              <a:rPr lang="en-US" b="0" dirty="0">
                <a:solidFill>
                  <a:srgbClr val="383A42"/>
                </a:solidFill>
                <a:effectLst/>
                <a:latin typeface="Menlo"/>
              </a:rPr>
              <a:t>));</a:t>
            </a:r>
            <a:r>
              <a:rPr lang="en-US" b="0" dirty="0">
                <a:solidFill>
                  <a:srgbClr val="0F1115"/>
                </a:solidFill>
                <a:effectLst/>
                <a:latin typeface="Menlo"/>
              </a:rPr>
              <a:t> </a:t>
            </a:r>
            <a:r>
              <a:rPr lang="en-US" b="0" i="1" dirty="0">
                <a:solidFill>
                  <a:srgbClr val="A0A1A7"/>
                </a:solidFill>
                <a:effectLst/>
                <a:latin typeface="Menlo"/>
              </a:rPr>
              <a:t>// Highest priority</a:t>
            </a:r>
            <a:endParaRPr lang="en-US" b="0" dirty="0">
              <a:solidFill>
                <a:srgbClr val="0F1115"/>
              </a:solidFill>
              <a:effectLst/>
              <a:latin typeface="Menlo"/>
            </a:endParaRPr>
          </a:p>
        </p:txBody>
      </p:sp>
    </p:spTree>
    <p:extLst>
      <p:ext uri="{BB962C8B-B14F-4D97-AF65-F5344CB8AC3E}">
        <p14:creationId xmlns:p14="http://schemas.microsoft.com/office/powerpoint/2010/main" val="32046109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2AEDC7-06D5-F5BB-218D-3474CCAE55E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2D54096-0BA8-35F9-9CB3-1C52D4E31D5C}"/>
              </a:ext>
            </a:extLst>
          </p:cNvPr>
          <p:cNvSpPr txBox="1"/>
          <p:nvPr/>
        </p:nvSpPr>
        <p:spPr>
          <a:xfrm>
            <a:off x="3046344" y="751344"/>
            <a:ext cx="6092686" cy="5355312"/>
          </a:xfrm>
          <a:prstGeom prst="rect">
            <a:avLst/>
          </a:prstGeom>
          <a:noFill/>
        </p:spPr>
        <p:txBody>
          <a:bodyPr wrap="square">
            <a:spAutoFit/>
          </a:bodyPr>
          <a:lstStyle/>
          <a:p>
            <a:r>
              <a:rPr lang="en-US" dirty="0"/>
              <a:t>MAP INTERFACE</a:t>
            </a:r>
          </a:p>
          <a:p>
            <a:r>
              <a:rPr lang="en-US" dirty="0"/>
              <a:t>────────────────────────────────</a:t>
            </a:r>
          </a:p>
          <a:p>
            <a:r>
              <a:rPr lang="en-US" dirty="0"/>
              <a:t>Characteristics:</a:t>
            </a:r>
          </a:p>
          <a:p>
            <a:r>
              <a:rPr lang="en-US" dirty="0"/>
              <a:t>• Key-Value pairs</a:t>
            </a:r>
          </a:p>
          <a:p>
            <a:r>
              <a:rPr lang="en-US" dirty="0"/>
              <a:t>• Keys are unique</a:t>
            </a:r>
          </a:p>
          <a:p>
            <a:r>
              <a:rPr lang="en-US" dirty="0"/>
              <a:t>• Values can be duplicated</a:t>
            </a:r>
          </a:p>
          <a:p>
            <a:endParaRPr lang="en-US" dirty="0"/>
          </a:p>
          <a:p>
            <a:r>
              <a:rPr lang="en-US" dirty="0"/>
              <a:t>Implementations:</a:t>
            </a:r>
          </a:p>
          <a:p>
            <a:r>
              <a:rPr lang="en-US" dirty="0"/>
              <a:t>1. HashMap</a:t>
            </a:r>
          </a:p>
          <a:p>
            <a:r>
              <a:rPr lang="en-US" dirty="0"/>
              <a:t>   - O(1) operations</a:t>
            </a:r>
          </a:p>
          <a:p>
            <a:r>
              <a:rPr lang="en-US" dirty="0"/>
              <a:t>   - No order guarantee</a:t>
            </a:r>
          </a:p>
          <a:p>
            <a:endParaRPr lang="en-US" dirty="0"/>
          </a:p>
          <a:p>
            <a:r>
              <a:rPr lang="en-US" dirty="0"/>
              <a:t>2. </a:t>
            </a:r>
            <a:r>
              <a:rPr lang="en-US" dirty="0" err="1"/>
              <a:t>LinkedHashMap</a:t>
            </a:r>
            <a:endParaRPr lang="en-US" dirty="0"/>
          </a:p>
          <a:p>
            <a:r>
              <a:rPr lang="en-US" dirty="0"/>
              <a:t>   - Maintains insertion order</a:t>
            </a:r>
          </a:p>
          <a:p>
            <a:r>
              <a:rPr lang="en-US" dirty="0"/>
              <a:t>   - Slightly slower than HashMap</a:t>
            </a:r>
          </a:p>
          <a:p>
            <a:endParaRPr lang="en-US" dirty="0"/>
          </a:p>
          <a:p>
            <a:r>
              <a:rPr lang="en-US" dirty="0"/>
              <a:t>3. </a:t>
            </a:r>
            <a:r>
              <a:rPr lang="en-US" dirty="0" err="1"/>
              <a:t>TreeMap</a:t>
            </a:r>
            <a:endParaRPr lang="en-US" dirty="0"/>
          </a:p>
          <a:p>
            <a:r>
              <a:rPr lang="en-US" dirty="0"/>
              <a:t>   - Sorted by keys</a:t>
            </a:r>
          </a:p>
          <a:p>
            <a:r>
              <a:rPr lang="en-US" dirty="0"/>
              <a:t>   - O(log n) operations</a:t>
            </a:r>
          </a:p>
        </p:txBody>
      </p:sp>
    </p:spTree>
    <p:extLst>
      <p:ext uri="{BB962C8B-B14F-4D97-AF65-F5344CB8AC3E}">
        <p14:creationId xmlns:p14="http://schemas.microsoft.com/office/powerpoint/2010/main" val="20933920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D710BD-A2BD-B466-191B-FA804360ADE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7352860-CEEA-A8C3-E0A3-929F4AA4D566}"/>
              </a:ext>
            </a:extLst>
          </p:cNvPr>
          <p:cNvSpPr txBox="1"/>
          <p:nvPr/>
        </p:nvSpPr>
        <p:spPr>
          <a:xfrm>
            <a:off x="3046344" y="1962573"/>
            <a:ext cx="6092686" cy="2932854"/>
          </a:xfrm>
          <a:prstGeom prst="rect">
            <a:avLst/>
          </a:prstGeom>
          <a:noFill/>
        </p:spPr>
        <p:txBody>
          <a:bodyPr wrap="square">
            <a:spAutoFit/>
          </a:bodyPr>
          <a:lstStyle/>
          <a:p>
            <a:pPr algn="l" latinLnBrk="1">
              <a:lnSpc>
                <a:spcPts val="1650"/>
              </a:lnSpc>
              <a:buNone/>
            </a:pPr>
            <a:r>
              <a:rPr lang="en-US" b="0" i="1" dirty="0">
                <a:solidFill>
                  <a:srgbClr val="A0A1A7"/>
                </a:solidFill>
                <a:effectLst/>
                <a:latin typeface="Menlo"/>
              </a:rPr>
              <a:t>// HashMap - Student grades</a:t>
            </a:r>
            <a:endParaRPr lang="en-US" b="0" dirty="0">
              <a:solidFill>
                <a:srgbClr val="0F1115"/>
              </a:solidFill>
              <a:effectLst/>
              <a:latin typeface="Menlo"/>
            </a:endParaRPr>
          </a:p>
          <a:p>
            <a:pPr algn="l" latinLnBrk="1">
              <a:lnSpc>
                <a:spcPts val="1650"/>
              </a:lnSpc>
              <a:buNone/>
            </a:pPr>
            <a:r>
              <a:rPr lang="en-US" b="0" dirty="0">
                <a:solidFill>
                  <a:srgbClr val="B76B01"/>
                </a:solidFill>
                <a:effectLst/>
                <a:latin typeface="Menlo"/>
              </a:rPr>
              <a:t>Map</a:t>
            </a:r>
            <a:r>
              <a:rPr lang="en-US" b="0" dirty="0">
                <a:solidFill>
                  <a:srgbClr val="383A42"/>
                </a:solidFill>
                <a:effectLst/>
                <a:latin typeface="Menlo"/>
              </a:rPr>
              <a:t>&lt;</a:t>
            </a:r>
            <a:r>
              <a:rPr lang="en-US" b="0" dirty="0">
                <a:solidFill>
                  <a:srgbClr val="B76B01"/>
                </a:solidFill>
                <a:effectLst/>
                <a:latin typeface="Menlo"/>
              </a:rPr>
              <a:t>String</a:t>
            </a:r>
            <a:r>
              <a:rPr lang="en-US" b="0" dirty="0">
                <a:solidFill>
                  <a:srgbClr val="383A42"/>
                </a:solidFill>
                <a:effectLst/>
                <a:latin typeface="Menlo"/>
              </a:rPr>
              <a:t>,</a:t>
            </a:r>
            <a:r>
              <a:rPr lang="en-US" b="0" dirty="0">
                <a:solidFill>
                  <a:srgbClr val="0F1115"/>
                </a:solidFill>
                <a:effectLst/>
                <a:latin typeface="Menlo"/>
              </a:rPr>
              <a:t> </a:t>
            </a:r>
            <a:r>
              <a:rPr lang="en-US" b="0" dirty="0">
                <a:solidFill>
                  <a:srgbClr val="B76B01"/>
                </a:solidFill>
                <a:effectLst/>
                <a:latin typeface="Menlo"/>
              </a:rPr>
              <a:t>Integer</a:t>
            </a:r>
            <a:r>
              <a:rPr lang="en-US" b="0" dirty="0">
                <a:solidFill>
                  <a:srgbClr val="383A42"/>
                </a:solidFill>
                <a:effectLst/>
                <a:latin typeface="Menlo"/>
              </a:rPr>
              <a:t>&gt;</a:t>
            </a:r>
            <a:r>
              <a:rPr lang="en-US" b="0" dirty="0">
                <a:solidFill>
                  <a:srgbClr val="0F1115"/>
                </a:solidFill>
                <a:effectLst/>
                <a:latin typeface="Menlo"/>
              </a:rPr>
              <a:t> grades </a:t>
            </a:r>
            <a:r>
              <a:rPr lang="en-US" b="0" dirty="0">
                <a:solidFill>
                  <a:srgbClr val="4078F2"/>
                </a:solidFill>
                <a:effectLst/>
                <a:latin typeface="Menlo"/>
              </a:rPr>
              <a:t>=</a:t>
            </a:r>
            <a:r>
              <a:rPr lang="en-US" b="0" dirty="0">
                <a:solidFill>
                  <a:srgbClr val="0F1115"/>
                </a:solidFill>
                <a:effectLst/>
                <a:latin typeface="Menlo"/>
              </a:rPr>
              <a:t> </a:t>
            </a:r>
            <a:r>
              <a:rPr lang="en-US" b="0" dirty="0">
                <a:solidFill>
                  <a:srgbClr val="A626A4"/>
                </a:solidFill>
                <a:effectLst/>
                <a:latin typeface="Menlo"/>
              </a:rPr>
              <a:t>new</a:t>
            </a:r>
            <a:r>
              <a:rPr lang="en-US" b="0" dirty="0">
                <a:solidFill>
                  <a:srgbClr val="0F1115"/>
                </a:solidFill>
                <a:effectLst/>
                <a:latin typeface="Menlo"/>
              </a:rPr>
              <a:t> </a:t>
            </a:r>
            <a:r>
              <a:rPr lang="en-US" b="0" dirty="0">
                <a:solidFill>
                  <a:srgbClr val="B76B01"/>
                </a:solidFill>
                <a:effectLst/>
                <a:latin typeface="Menlo"/>
              </a:rPr>
              <a:t>HashMap</a:t>
            </a:r>
            <a:r>
              <a:rPr lang="en-US" b="0" dirty="0">
                <a:solidFill>
                  <a:srgbClr val="383A42"/>
                </a:solidFill>
                <a:effectLst/>
                <a:latin typeface="Menlo"/>
              </a:rPr>
              <a:t>&lt;&gt;();</a:t>
            </a:r>
            <a:endParaRPr lang="en-US" b="0" dirty="0">
              <a:solidFill>
                <a:srgbClr val="0F1115"/>
              </a:solidFill>
              <a:effectLst/>
              <a:latin typeface="Menlo"/>
            </a:endParaRPr>
          </a:p>
          <a:p>
            <a:pPr algn="l" latinLnBrk="1">
              <a:lnSpc>
                <a:spcPts val="1650"/>
              </a:lnSpc>
              <a:buNone/>
            </a:pPr>
            <a:r>
              <a:rPr lang="en-US" b="0" dirty="0" err="1">
                <a:solidFill>
                  <a:srgbClr val="0F1115"/>
                </a:solidFill>
                <a:effectLst/>
                <a:latin typeface="Menlo"/>
              </a:rPr>
              <a:t>grades</a:t>
            </a:r>
            <a:r>
              <a:rPr lang="en-US" b="0" dirty="0" err="1">
                <a:solidFill>
                  <a:srgbClr val="383A42"/>
                </a:solidFill>
                <a:effectLst/>
                <a:latin typeface="Menlo"/>
              </a:rPr>
              <a:t>.</a:t>
            </a:r>
            <a:r>
              <a:rPr lang="en-US" b="0" dirty="0" err="1">
                <a:solidFill>
                  <a:srgbClr val="4078F2"/>
                </a:solidFill>
                <a:effectLst/>
                <a:latin typeface="Menlo"/>
              </a:rPr>
              <a:t>put</a:t>
            </a:r>
            <a:r>
              <a:rPr lang="en-US" b="0" dirty="0">
                <a:solidFill>
                  <a:srgbClr val="383A42"/>
                </a:solidFill>
                <a:effectLst/>
                <a:latin typeface="Menlo"/>
              </a:rPr>
              <a:t>(</a:t>
            </a:r>
            <a:r>
              <a:rPr lang="en-US" b="0" dirty="0">
                <a:solidFill>
                  <a:srgbClr val="50A14F"/>
                </a:solidFill>
                <a:effectLst/>
                <a:latin typeface="Menlo"/>
              </a:rPr>
              <a:t>"Alice"</a:t>
            </a:r>
            <a:r>
              <a:rPr lang="en-US" b="0" dirty="0">
                <a:solidFill>
                  <a:srgbClr val="383A42"/>
                </a:solidFill>
                <a:effectLst/>
                <a:latin typeface="Menlo"/>
              </a:rPr>
              <a:t>,</a:t>
            </a:r>
            <a:r>
              <a:rPr lang="en-US" b="0" dirty="0">
                <a:solidFill>
                  <a:srgbClr val="0F1115"/>
                </a:solidFill>
                <a:effectLst/>
                <a:latin typeface="Menlo"/>
              </a:rPr>
              <a:t> </a:t>
            </a:r>
            <a:r>
              <a:rPr lang="en-US" b="0" dirty="0">
                <a:solidFill>
                  <a:srgbClr val="B76B01"/>
                </a:solidFill>
                <a:effectLst/>
                <a:latin typeface="Menlo"/>
              </a:rPr>
              <a:t>85</a:t>
            </a:r>
            <a:r>
              <a:rPr lang="en-US" b="0" dirty="0">
                <a:solidFill>
                  <a:srgbClr val="383A42"/>
                </a:solidFill>
                <a:effectLst/>
                <a:latin typeface="Menlo"/>
              </a:rPr>
              <a:t>);</a:t>
            </a:r>
            <a:endParaRPr lang="en-US" b="0" dirty="0">
              <a:solidFill>
                <a:srgbClr val="0F1115"/>
              </a:solidFill>
              <a:effectLst/>
              <a:latin typeface="Menlo"/>
            </a:endParaRPr>
          </a:p>
          <a:p>
            <a:pPr algn="l" latinLnBrk="1">
              <a:lnSpc>
                <a:spcPts val="1650"/>
              </a:lnSpc>
              <a:buNone/>
            </a:pPr>
            <a:r>
              <a:rPr lang="en-US" b="0" dirty="0" err="1">
                <a:solidFill>
                  <a:srgbClr val="0F1115"/>
                </a:solidFill>
                <a:effectLst/>
                <a:latin typeface="Menlo"/>
              </a:rPr>
              <a:t>grades</a:t>
            </a:r>
            <a:r>
              <a:rPr lang="en-US" b="0" dirty="0" err="1">
                <a:solidFill>
                  <a:srgbClr val="383A42"/>
                </a:solidFill>
                <a:effectLst/>
                <a:latin typeface="Menlo"/>
              </a:rPr>
              <a:t>.</a:t>
            </a:r>
            <a:r>
              <a:rPr lang="en-US" b="0" dirty="0" err="1">
                <a:solidFill>
                  <a:srgbClr val="4078F2"/>
                </a:solidFill>
                <a:effectLst/>
                <a:latin typeface="Menlo"/>
              </a:rPr>
              <a:t>put</a:t>
            </a:r>
            <a:r>
              <a:rPr lang="en-US" b="0" dirty="0">
                <a:solidFill>
                  <a:srgbClr val="383A42"/>
                </a:solidFill>
                <a:effectLst/>
                <a:latin typeface="Menlo"/>
              </a:rPr>
              <a:t>(</a:t>
            </a:r>
            <a:r>
              <a:rPr lang="en-US" b="0" dirty="0">
                <a:solidFill>
                  <a:srgbClr val="50A14F"/>
                </a:solidFill>
                <a:effectLst/>
                <a:latin typeface="Menlo"/>
              </a:rPr>
              <a:t>"Bob"</a:t>
            </a:r>
            <a:r>
              <a:rPr lang="en-US" b="0" dirty="0">
                <a:solidFill>
                  <a:srgbClr val="383A42"/>
                </a:solidFill>
                <a:effectLst/>
                <a:latin typeface="Menlo"/>
              </a:rPr>
              <a:t>,</a:t>
            </a:r>
            <a:r>
              <a:rPr lang="en-US" b="0" dirty="0">
                <a:solidFill>
                  <a:srgbClr val="0F1115"/>
                </a:solidFill>
                <a:effectLst/>
                <a:latin typeface="Menlo"/>
              </a:rPr>
              <a:t> </a:t>
            </a:r>
            <a:r>
              <a:rPr lang="en-US" b="0" dirty="0">
                <a:solidFill>
                  <a:srgbClr val="B76B01"/>
                </a:solidFill>
                <a:effectLst/>
                <a:latin typeface="Menlo"/>
              </a:rPr>
              <a:t>92</a:t>
            </a:r>
            <a:r>
              <a:rPr lang="en-US" b="0" dirty="0">
                <a:solidFill>
                  <a:srgbClr val="383A42"/>
                </a:solidFill>
                <a:effectLst/>
                <a:latin typeface="Menlo"/>
              </a:rPr>
              <a:t>);</a:t>
            </a:r>
            <a:endParaRPr lang="en-US" b="0" dirty="0">
              <a:solidFill>
                <a:srgbClr val="0F1115"/>
              </a:solidFill>
              <a:effectLst/>
              <a:latin typeface="Menlo"/>
            </a:endParaRPr>
          </a:p>
          <a:p>
            <a:pPr algn="l" latinLnBrk="1">
              <a:lnSpc>
                <a:spcPts val="1650"/>
              </a:lnSpc>
              <a:buNone/>
            </a:pPr>
            <a:r>
              <a:rPr lang="en-US" b="0" dirty="0" err="1">
                <a:solidFill>
                  <a:srgbClr val="0F1115"/>
                </a:solidFill>
                <a:effectLst/>
                <a:latin typeface="Menlo"/>
              </a:rPr>
              <a:t>grades</a:t>
            </a:r>
            <a:r>
              <a:rPr lang="en-US" b="0" dirty="0" err="1">
                <a:solidFill>
                  <a:srgbClr val="383A42"/>
                </a:solidFill>
                <a:effectLst/>
                <a:latin typeface="Menlo"/>
              </a:rPr>
              <a:t>.</a:t>
            </a:r>
            <a:r>
              <a:rPr lang="en-US" b="0" dirty="0" err="1">
                <a:solidFill>
                  <a:srgbClr val="4078F2"/>
                </a:solidFill>
                <a:effectLst/>
                <a:latin typeface="Menlo"/>
              </a:rPr>
              <a:t>put</a:t>
            </a:r>
            <a:r>
              <a:rPr lang="en-US" b="0" dirty="0">
                <a:solidFill>
                  <a:srgbClr val="383A42"/>
                </a:solidFill>
                <a:effectLst/>
                <a:latin typeface="Menlo"/>
              </a:rPr>
              <a:t>(</a:t>
            </a:r>
            <a:r>
              <a:rPr lang="en-US" b="0" dirty="0">
                <a:solidFill>
                  <a:srgbClr val="50A14F"/>
                </a:solidFill>
                <a:effectLst/>
                <a:latin typeface="Menlo"/>
              </a:rPr>
              <a:t>"Charlie"</a:t>
            </a:r>
            <a:r>
              <a:rPr lang="en-US" b="0" dirty="0">
                <a:solidFill>
                  <a:srgbClr val="383A42"/>
                </a:solidFill>
                <a:effectLst/>
                <a:latin typeface="Menlo"/>
              </a:rPr>
              <a:t>,</a:t>
            </a:r>
            <a:r>
              <a:rPr lang="en-US" b="0" dirty="0">
                <a:solidFill>
                  <a:srgbClr val="0F1115"/>
                </a:solidFill>
                <a:effectLst/>
                <a:latin typeface="Menlo"/>
              </a:rPr>
              <a:t> </a:t>
            </a:r>
            <a:r>
              <a:rPr lang="en-US" b="0" dirty="0">
                <a:solidFill>
                  <a:srgbClr val="B76B01"/>
                </a:solidFill>
                <a:effectLst/>
                <a:latin typeface="Menlo"/>
              </a:rPr>
              <a:t>78</a:t>
            </a:r>
            <a:r>
              <a:rPr lang="en-US" b="0" dirty="0">
                <a:solidFill>
                  <a:srgbClr val="383A42"/>
                </a:solidFill>
                <a:effectLst/>
                <a:latin typeface="Menlo"/>
              </a:rPr>
              <a:t>);</a:t>
            </a:r>
            <a:endParaRPr lang="en-US" b="0" dirty="0">
              <a:solidFill>
                <a:srgbClr val="0F1115"/>
              </a:solidFill>
              <a:effectLst/>
              <a:latin typeface="Menlo"/>
            </a:endParaRPr>
          </a:p>
          <a:p>
            <a:pPr algn="l" latinLnBrk="1">
              <a:lnSpc>
                <a:spcPts val="1650"/>
              </a:lnSpc>
              <a:buNone/>
            </a:pPr>
            <a:r>
              <a:rPr lang="en-US" b="0" dirty="0" err="1">
                <a:solidFill>
                  <a:srgbClr val="B76B01"/>
                </a:solidFill>
                <a:effectLst/>
                <a:latin typeface="Menlo"/>
              </a:rPr>
              <a:t>System</a:t>
            </a:r>
            <a:r>
              <a:rPr lang="en-US" b="0" dirty="0" err="1">
                <a:solidFill>
                  <a:srgbClr val="383A42"/>
                </a:solidFill>
                <a:effectLst/>
                <a:latin typeface="Menlo"/>
              </a:rPr>
              <a:t>.</a:t>
            </a:r>
            <a:r>
              <a:rPr lang="en-US" b="0" dirty="0" err="1">
                <a:solidFill>
                  <a:srgbClr val="0F1115"/>
                </a:solidFill>
                <a:effectLst/>
                <a:latin typeface="Menlo"/>
              </a:rPr>
              <a:t>out</a:t>
            </a:r>
            <a:r>
              <a:rPr lang="en-US" b="0" dirty="0" err="1">
                <a:solidFill>
                  <a:srgbClr val="383A42"/>
                </a:solidFill>
                <a:effectLst/>
                <a:latin typeface="Menlo"/>
              </a:rPr>
              <a:t>.</a:t>
            </a:r>
            <a:r>
              <a:rPr lang="en-US" b="0" dirty="0" err="1">
                <a:solidFill>
                  <a:srgbClr val="4078F2"/>
                </a:solidFill>
                <a:effectLst/>
                <a:latin typeface="Menlo"/>
              </a:rPr>
              <a:t>println</a:t>
            </a:r>
            <a:r>
              <a:rPr lang="en-US" b="0" dirty="0">
                <a:solidFill>
                  <a:srgbClr val="383A42"/>
                </a:solidFill>
                <a:effectLst/>
                <a:latin typeface="Menlo"/>
              </a:rPr>
              <a:t>(</a:t>
            </a:r>
            <a:r>
              <a:rPr lang="en-US" b="0" dirty="0" err="1">
                <a:solidFill>
                  <a:srgbClr val="0F1115"/>
                </a:solidFill>
                <a:effectLst/>
                <a:latin typeface="Menlo"/>
              </a:rPr>
              <a:t>grades</a:t>
            </a:r>
            <a:r>
              <a:rPr lang="en-US" b="0" dirty="0" err="1">
                <a:solidFill>
                  <a:srgbClr val="383A42"/>
                </a:solidFill>
                <a:effectLst/>
                <a:latin typeface="Menlo"/>
              </a:rPr>
              <a:t>.</a:t>
            </a:r>
            <a:r>
              <a:rPr lang="en-US" b="0" dirty="0" err="1">
                <a:solidFill>
                  <a:srgbClr val="4078F2"/>
                </a:solidFill>
                <a:effectLst/>
                <a:latin typeface="Menlo"/>
              </a:rPr>
              <a:t>get</a:t>
            </a:r>
            <a:r>
              <a:rPr lang="en-US" b="0" dirty="0">
                <a:solidFill>
                  <a:srgbClr val="383A42"/>
                </a:solidFill>
                <a:effectLst/>
                <a:latin typeface="Menlo"/>
              </a:rPr>
              <a:t>(</a:t>
            </a:r>
            <a:r>
              <a:rPr lang="en-US" b="0" dirty="0">
                <a:solidFill>
                  <a:srgbClr val="50A14F"/>
                </a:solidFill>
                <a:effectLst/>
                <a:latin typeface="Menlo"/>
              </a:rPr>
              <a:t>"Bob"</a:t>
            </a:r>
            <a:r>
              <a:rPr lang="en-US" b="0" dirty="0">
                <a:solidFill>
                  <a:srgbClr val="383A42"/>
                </a:solidFill>
                <a:effectLst/>
                <a:latin typeface="Menlo"/>
              </a:rPr>
              <a:t>));</a:t>
            </a:r>
            <a:r>
              <a:rPr lang="en-US" b="0" dirty="0">
                <a:solidFill>
                  <a:srgbClr val="0F1115"/>
                </a:solidFill>
                <a:effectLst/>
                <a:latin typeface="Menlo"/>
              </a:rPr>
              <a:t> </a:t>
            </a:r>
            <a:r>
              <a:rPr lang="en-US" b="0" i="1" dirty="0">
                <a:solidFill>
                  <a:srgbClr val="A0A1A7"/>
                </a:solidFill>
                <a:effectLst/>
                <a:latin typeface="Menlo"/>
              </a:rPr>
              <a:t>// 92</a:t>
            </a:r>
            <a:endParaRPr lang="en-US" b="0" dirty="0">
              <a:solidFill>
                <a:srgbClr val="0F1115"/>
              </a:solidFill>
              <a:effectLst/>
              <a:latin typeface="Menlo"/>
            </a:endParaRPr>
          </a:p>
          <a:p>
            <a:pPr algn="l" latinLnBrk="1">
              <a:lnSpc>
                <a:spcPts val="1650"/>
              </a:lnSpc>
              <a:buNone/>
            </a:pPr>
            <a:endParaRPr lang="en-US" b="0" dirty="0">
              <a:solidFill>
                <a:srgbClr val="0F1115"/>
              </a:solidFill>
              <a:effectLst/>
              <a:latin typeface="Menlo"/>
            </a:endParaRPr>
          </a:p>
          <a:p>
            <a:pPr algn="l" latinLnBrk="1">
              <a:lnSpc>
                <a:spcPts val="1650"/>
              </a:lnSpc>
              <a:buNone/>
            </a:pPr>
            <a:r>
              <a:rPr lang="en-US" b="0" i="1" dirty="0">
                <a:solidFill>
                  <a:srgbClr val="A0A1A7"/>
                </a:solidFill>
                <a:effectLst/>
                <a:latin typeface="Menlo"/>
              </a:rPr>
              <a:t>// </a:t>
            </a:r>
            <a:r>
              <a:rPr lang="en-US" b="0" i="1" dirty="0" err="1">
                <a:solidFill>
                  <a:srgbClr val="A0A1A7"/>
                </a:solidFill>
                <a:effectLst/>
                <a:latin typeface="Menlo"/>
              </a:rPr>
              <a:t>TreeMap</a:t>
            </a:r>
            <a:r>
              <a:rPr lang="en-US" b="0" i="1" dirty="0">
                <a:solidFill>
                  <a:srgbClr val="A0A1A7"/>
                </a:solidFill>
                <a:effectLst/>
                <a:latin typeface="Menlo"/>
              </a:rPr>
              <a:t> - Sorted dictionary</a:t>
            </a:r>
            <a:endParaRPr lang="en-US" b="0" dirty="0">
              <a:solidFill>
                <a:srgbClr val="0F1115"/>
              </a:solidFill>
              <a:effectLst/>
              <a:latin typeface="Menlo"/>
            </a:endParaRPr>
          </a:p>
          <a:p>
            <a:pPr algn="l" latinLnBrk="1">
              <a:lnSpc>
                <a:spcPts val="1650"/>
              </a:lnSpc>
              <a:buNone/>
            </a:pPr>
            <a:r>
              <a:rPr lang="en-US" b="0" dirty="0">
                <a:solidFill>
                  <a:srgbClr val="B76B01"/>
                </a:solidFill>
                <a:effectLst/>
                <a:latin typeface="Menlo"/>
              </a:rPr>
              <a:t>Map</a:t>
            </a:r>
            <a:r>
              <a:rPr lang="en-US" b="0" dirty="0">
                <a:solidFill>
                  <a:srgbClr val="383A42"/>
                </a:solidFill>
                <a:effectLst/>
                <a:latin typeface="Menlo"/>
              </a:rPr>
              <a:t>&lt;</a:t>
            </a:r>
            <a:r>
              <a:rPr lang="en-US" b="0" dirty="0">
                <a:solidFill>
                  <a:srgbClr val="B76B01"/>
                </a:solidFill>
                <a:effectLst/>
                <a:latin typeface="Menlo"/>
              </a:rPr>
              <a:t>String</a:t>
            </a:r>
            <a:r>
              <a:rPr lang="en-US" b="0" dirty="0">
                <a:solidFill>
                  <a:srgbClr val="383A42"/>
                </a:solidFill>
                <a:effectLst/>
                <a:latin typeface="Menlo"/>
              </a:rPr>
              <a:t>,</a:t>
            </a:r>
            <a:r>
              <a:rPr lang="en-US" b="0" dirty="0">
                <a:solidFill>
                  <a:srgbClr val="0F1115"/>
                </a:solidFill>
                <a:effectLst/>
                <a:latin typeface="Menlo"/>
              </a:rPr>
              <a:t> </a:t>
            </a:r>
            <a:r>
              <a:rPr lang="en-US" b="0" dirty="0">
                <a:solidFill>
                  <a:srgbClr val="B76B01"/>
                </a:solidFill>
                <a:effectLst/>
                <a:latin typeface="Menlo"/>
              </a:rPr>
              <a:t>String</a:t>
            </a:r>
            <a:r>
              <a:rPr lang="en-US" b="0" dirty="0">
                <a:solidFill>
                  <a:srgbClr val="383A42"/>
                </a:solidFill>
                <a:effectLst/>
                <a:latin typeface="Menlo"/>
              </a:rPr>
              <a:t>&gt;</a:t>
            </a:r>
            <a:r>
              <a:rPr lang="en-US" b="0" dirty="0">
                <a:solidFill>
                  <a:srgbClr val="0F1115"/>
                </a:solidFill>
                <a:effectLst/>
                <a:latin typeface="Menlo"/>
              </a:rPr>
              <a:t> dictionary </a:t>
            </a:r>
            <a:r>
              <a:rPr lang="en-US" b="0" dirty="0">
                <a:solidFill>
                  <a:srgbClr val="4078F2"/>
                </a:solidFill>
                <a:effectLst/>
                <a:latin typeface="Menlo"/>
              </a:rPr>
              <a:t>=</a:t>
            </a:r>
            <a:r>
              <a:rPr lang="en-US" b="0" dirty="0">
                <a:solidFill>
                  <a:srgbClr val="0F1115"/>
                </a:solidFill>
                <a:effectLst/>
                <a:latin typeface="Menlo"/>
              </a:rPr>
              <a:t> </a:t>
            </a:r>
            <a:r>
              <a:rPr lang="en-US" b="0" dirty="0">
                <a:solidFill>
                  <a:srgbClr val="A626A4"/>
                </a:solidFill>
                <a:effectLst/>
                <a:latin typeface="Menlo"/>
              </a:rPr>
              <a:t>new</a:t>
            </a:r>
            <a:r>
              <a:rPr lang="en-US" b="0" dirty="0">
                <a:solidFill>
                  <a:srgbClr val="0F1115"/>
                </a:solidFill>
                <a:effectLst/>
                <a:latin typeface="Menlo"/>
              </a:rPr>
              <a:t> </a:t>
            </a:r>
            <a:r>
              <a:rPr lang="en-US" b="0" dirty="0" err="1">
                <a:solidFill>
                  <a:srgbClr val="B76B01"/>
                </a:solidFill>
                <a:effectLst/>
                <a:latin typeface="Menlo"/>
              </a:rPr>
              <a:t>TreeMap</a:t>
            </a:r>
            <a:r>
              <a:rPr lang="en-US" b="0" dirty="0">
                <a:solidFill>
                  <a:srgbClr val="383A42"/>
                </a:solidFill>
                <a:effectLst/>
                <a:latin typeface="Menlo"/>
              </a:rPr>
              <a:t>&lt;&gt;();</a:t>
            </a:r>
            <a:endParaRPr lang="en-US" b="0" dirty="0">
              <a:solidFill>
                <a:srgbClr val="0F1115"/>
              </a:solidFill>
              <a:effectLst/>
              <a:latin typeface="Menlo"/>
            </a:endParaRPr>
          </a:p>
          <a:p>
            <a:pPr algn="l" latinLnBrk="1">
              <a:lnSpc>
                <a:spcPts val="1650"/>
              </a:lnSpc>
              <a:buNone/>
            </a:pPr>
            <a:r>
              <a:rPr lang="en-US" b="0" dirty="0" err="1">
                <a:solidFill>
                  <a:srgbClr val="0F1115"/>
                </a:solidFill>
                <a:effectLst/>
                <a:latin typeface="Menlo"/>
              </a:rPr>
              <a:t>dictionary</a:t>
            </a:r>
            <a:r>
              <a:rPr lang="en-US" b="0" dirty="0" err="1">
                <a:solidFill>
                  <a:srgbClr val="383A42"/>
                </a:solidFill>
                <a:effectLst/>
                <a:latin typeface="Menlo"/>
              </a:rPr>
              <a:t>.</a:t>
            </a:r>
            <a:r>
              <a:rPr lang="en-US" b="0" dirty="0" err="1">
                <a:solidFill>
                  <a:srgbClr val="4078F2"/>
                </a:solidFill>
                <a:effectLst/>
                <a:latin typeface="Menlo"/>
              </a:rPr>
              <a:t>put</a:t>
            </a:r>
            <a:r>
              <a:rPr lang="en-US" b="0" dirty="0">
                <a:solidFill>
                  <a:srgbClr val="383A42"/>
                </a:solidFill>
                <a:effectLst/>
                <a:latin typeface="Menlo"/>
              </a:rPr>
              <a:t>(</a:t>
            </a:r>
            <a:r>
              <a:rPr lang="en-US" b="0" dirty="0">
                <a:solidFill>
                  <a:srgbClr val="50A14F"/>
                </a:solidFill>
                <a:effectLst/>
                <a:latin typeface="Menlo"/>
              </a:rPr>
              <a:t>"Zebra"</a:t>
            </a:r>
            <a:r>
              <a:rPr lang="en-US" b="0" dirty="0">
                <a:solidFill>
                  <a:srgbClr val="383A42"/>
                </a:solidFill>
                <a:effectLst/>
                <a:latin typeface="Menlo"/>
              </a:rPr>
              <a:t>,</a:t>
            </a:r>
            <a:r>
              <a:rPr lang="en-US" b="0" dirty="0">
                <a:solidFill>
                  <a:srgbClr val="0F1115"/>
                </a:solidFill>
                <a:effectLst/>
                <a:latin typeface="Menlo"/>
              </a:rPr>
              <a:t> </a:t>
            </a:r>
            <a:r>
              <a:rPr lang="en-US" b="0" dirty="0">
                <a:solidFill>
                  <a:srgbClr val="50A14F"/>
                </a:solidFill>
                <a:effectLst/>
                <a:latin typeface="Menlo"/>
              </a:rPr>
              <a:t>"African animal"</a:t>
            </a:r>
            <a:r>
              <a:rPr lang="en-US" b="0" dirty="0">
                <a:solidFill>
                  <a:srgbClr val="383A42"/>
                </a:solidFill>
                <a:effectLst/>
                <a:latin typeface="Menlo"/>
              </a:rPr>
              <a:t>);</a:t>
            </a:r>
            <a:endParaRPr lang="en-US" b="0" dirty="0">
              <a:solidFill>
                <a:srgbClr val="0F1115"/>
              </a:solidFill>
              <a:effectLst/>
              <a:latin typeface="Menlo"/>
            </a:endParaRPr>
          </a:p>
          <a:p>
            <a:pPr algn="l" latinLnBrk="1">
              <a:lnSpc>
                <a:spcPts val="1650"/>
              </a:lnSpc>
              <a:buNone/>
            </a:pPr>
            <a:r>
              <a:rPr lang="en-US" b="0" dirty="0" err="1">
                <a:solidFill>
                  <a:srgbClr val="0F1115"/>
                </a:solidFill>
                <a:effectLst/>
                <a:latin typeface="Menlo"/>
              </a:rPr>
              <a:t>dictionary</a:t>
            </a:r>
            <a:r>
              <a:rPr lang="en-US" b="0" dirty="0" err="1">
                <a:solidFill>
                  <a:srgbClr val="383A42"/>
                </a:solidFill>
                <a:effectLst/>
                <a:latin typeface="Menlo"/>
              </a:rPr>
              <a:t>.</a:t>
            </a:r>
            <a:r>
              <a:rPr lang="en-US" b="0" dirty="0" err="1">
                <a:solidFill>
                  <a:srgbClr val="4078F2"/>
                </a:solidFill>
                <a:effectLst/>
                <a:latin typeface="Menlo"/>
              </a:rPr>
              <a:t>put</a:t>
            </a:r>
            <a:r>
              <a:rPr lang="en-US" b="0" dirty="0">
                <a:solidFill>
                  <a:srgbClr val="383A42"/>
                </a:solidFill>
                <a:effectLst/>
                <a:latin typeface="Menlo"/>
              </a:rPr>
              <a:t>(</a:t>
            </a:r>
            <a:r>
              <a:rPr lang="en-US" b="0" dirty="0">
                <a:solidFill>
                  <a:srgbClr val="50A14F"/>
                </a:solidFill>
                <a:effectLst/>
                <a:latin typeface="Menlo"/>
              </a:rPr>
              <a:t>"Apple"</a:t>
            </a:r>
            <a:r>
              <a:rPr lang="en-US" b="0" dirty="0">
                <a:solidFill>
                  <a:srgbClr val="383A42"/>
                </a:solidFill>
                <a:effectLst/>
                <a:latin typeface="Menlo"/>
              </a:rPr>
              <a:t>,</a:t>
            </a:r>
            <a:r>
              <a:rPr lang="en-US" b="0" dirty="0">
                <a:solidFill>
                  <a:srgbClr val="0F1115"/>
                </a:solidFill>
                <a:effectLst/>
                <a:latin typeface="Menlo"/>
              </a:rPr>
              <a:t> </a:t>
            </a:r>
            <a:r>
              <a:rPr lang="en-US" b="0" dirty="0">
                <a:solidFill>
                  <a:srgbClr val="50A14F"/>
                </a:solidFill>
                <a:effectLst/>
                <a:latin typeface="Menlo"/>
              </a:rPr>
              <a:t>"Fruit"</a:t>
            </a:r>
            <a:r>
              <a:rPr lang="en-US" b="0" dirty="0">
                <a:solidFill>
                  <a:srgbClr val="383A42"/>
                </a:solidFill>
                <a:effectLst/>
                <a:latin typeface="Menlo"/>
              </a:rPr>
              <a:t>);</a:t>
            </a:r>
            <a:endParaRPr lang="en-US" b="0" dirty="0">
              <a:solidFill>
                <a:srgbClr val="0F1115"/>
              </a:solidFill>
              <a:effectLst/>
              <a:latin typeface="Menlo"/>
            </a:endParaRPr>
          </a:p>
          <a:p>
            <a:pPr algn="l" latinLnBrk="1">
              <a:lnSpc>
                <a:spcPts val="1650"/>
              </a:lnSpc>
              <a:buNone/>
            </a:pPr>
            <a:r>
              <a:rPr lang="en-US" b="0" dirty="0" err="1">
                <a:solidFill>
                  <a:srgbClr val="0F1115"/>
                </a:solidFill>
                <a:effectLst/>
                <a:latin typeface="Menlo"/>
              </a:rPr>
              <a:t>dictionary</a:t>
            </a:r>
            <a:r>
              <a:rPr lang="en-US" b="0" dirty="0" err="1">
                <a:solidFill>
                  <a:srgbClr val="383A42"/>
                </a:solidFill>
                <a:effectLst/>
                <a:latin typeface="Menlo"/>
              </a:rPr>
              <a:t>.</a:t>
            </a:r>
            <a:r>
              <a:rPr lang="en-US" b="0" dirty="0" err="1">
                <a:solidFill>
                  <a:srgbClr val="4078F2"/>
                </a:solidFill>
                <a:effectLst/>
                <a:latin typeface="Menlo"/>
              </a:rPr>
              <a:t>put</a:t>
            </a:r>
            <a:r>
              <a:rPr lang="en-US" b="0" dirty="0">
                <a:solidFill>
                  <a:srgbClr val="383A42"/>
                </a:solidFill>
                <a:effectLst/>
                <a:latin typeface="Menlo"/>
              </a:rPr>
              <a:t>(</a:t>
            </a:r>
            <a:r>
              <a:rPr lang="en-US" b="0" dirty="0">
                <a:solidFill>
                  <a:srgbClr val="50A14F"/>
                </a:solidFill>
                <a:effectLst/>
                <a:latin typeface="Menlo"/>
              </a:rPr>
              <a:t>"Banana"</a:t>
            </a:r>
            <a:r>
              <a:rPr lang="en-US" b="0" dirty="0">
                <a:solidFill>
                  <a:srgbClr val="383A42"/>
                </a:solidFill>
                <a:effectLst/>
                <a:latin typeface="Menlo"/>
              </a:rPr>
              <a:t>,</a:t>
            </a:r>
            <a:r>
              <a:rPr lang="en-US" b="0" dirty="0">
                <a:solidFill>
                  <a:srgbClr val="0F1115"/>
                </a:solidFill>
                <a:effectLst/>
                <a:latin typeface="Menlo"/>
              </a:rPr>
              <a:t> </a:t>
            </a:r>
            <a:r>
              <a:rPr lang="en-US" b="0" dirty="0">
                <a:solidFill>
                  <a:srgbClr val="50A14F"/>
                </a:solidFill>
                <a:effectLst/>
                <a:latin typeface="Menlo"/>
              </a:rPr>
              <a:t>"Yellow fruit"</a:t>
            </a:r>
            <a:r>
              <a:rPr lang="en-US" b="0" dirty="0">
                <a:solidFill>
                  <a:srgbClr val="383A42"/>
                </a:solidFill>
                <a:effectLst/>
                <a:latin typeface="Menlo"/>
              </a:rPr>
              <a:t>);</a:t>
            </a:r>
            <a:endParaRPr lang="en-US" b="0" dirty="0">
              <a:solidFill>
                <a:srgbClr val="0F1115"/>
              </a:solidFill>
              <a:effectLst/>
              <a:latin typeface="Menlo"/>
            </a:endParaRPr>
          </a:p>
          <a:p>
            <a:pPr algn="l" latinLnBrk="1">
              <a:lnSpc>
                <a:spcPts val="1650"/>
              </a:lnSpc>
              <a:buNone/>
            </a:pPr>
            <a:r>
              <a:rPr lang="en-US" b="0" i="1" dirty="0">
                <a:solidFill>
                  <a:srgbClr val="A0A1A7"/>
                </a:solidFill>
                <a:effectLst/>
                <a:latin typeface="Menlo"/>
              </a:rPr>
              <a:t>// Automatically sorted: Apple, Banana, Zebra</a:t>
            </a:r>
            <a:endParaRPr lang="en-US" b="0" dirty="0">
              <a:solidFill>
                <a:srgbClr val="0F1115"/>
              </a:solidFill>
              <a:effectLst/>
              <a:latin typeface="Menlo"/>
            </a:endParaRPr>
          </a:p>
        </p:txBody>
      </p:sp>
    </p:spTree>
    <p:extLst>
      <p:ext uri="{BB962C8B-B14F-4D97-AF65-F5344CB8AC3E}">
        <p14:creationId xmlns:p14="http://schemas.microsoft.com/office/powerpoint/2010/main" val="17556845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3AC828-C262-4C99-06DB-9561D3FCCCE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715492D-BA92-B781-FD7C-65134A66666A}"/>
              </a:ext>
            </a:extLst>
          </p:cNvPr>
          <p:cNvSpPr txBox="1"/>
          <p:nvPr/>
        </p:nvSpPr>
        <p:spPr>
          <a:xfrm>
            <a:off x="3046344" y="474345"/>
            <a:ext cx="6092686" cy="5909310"/>
          </a:xfrm>
          <a:prstGeom prst="rect">
            <a:avLst/>
          </a:prstGeom>
          <a:noFill/>
        </p:spPr>
        <p:txBody>
          <a:bodyPr wrap="square">
            <a:spAutoFit/>
          </a:bodyPr>
          <a:lstStyle/>
          <a:p>
            <a:r>
              <a:rPr lang="en-US" dirty="0"/>
              <a:t>COLLECTIONS UTILITY CLASS</a:t>
            </a:r>
          </a:p>
          <a:p>
            <a:r>
              <a:rPr lang="en-US" dirty="0"/>
              <a:t>────────────────────────────────</a:t>
            </a:r>
          </a:p>
          <a:p>
            <a:r>
              <a:rPr lang="en-US" dirty="0"/>
              <a:t>Static methods for common operations:</a:t>
            </a:r>
          </a:p>
          <a:p>
            <a:r>
              <a:rPr lang="en-US" dirty="0"/>
              <a:t>• Sorting: sort(), reverse()</a:t>
            </a:r>
          </a:p>
          <a:p>
            <a:r>
              <a:rPr lang="en-US" dirty="0"/>
              <a:t>• Searching: </a:t>
            </a:r>
            <a:r>
              <a:rPr lang="en-US" dirty="0" err="1"/>
              <a:t>binarySearch</a:t>
            </a:r>
            <a:r>
              <a:rPr lang="en-US" dirty="0"/>
              <a:t>()</a:t>
            </a:r>
          </a:p>
          <a:p>
            <a:r>
              <a:rPr lang="en-US" dirty="0"/>
              <a:t>• Synchronization: </a:t>
            </a:r>
            <a:r>
              <a:rPr lang="en-US" dirty="0" err="1"/>
              <a:t>synchronizedCollection</a:t>
            </a:r>
            <a:r>
              <a:rPr lang="en-US" dirty="0"/>
              <a:t>()</a:t>
            </a:r>
          </a:p>
          <a:p>
            <a:r>
              <a:rPr lang="en-US" dirty="0"/>
              <a:t>• Immutability: </a:t>
            </a:r>
            <a:r>
              <a:rPr lang="en-US" dirty="0" err="1"/>
              <a:t>unmodifiableCollection</a:t>
            </a:r>
            <a:r>
              <a:rPr lang="en-US" dirty="0"/>
              <a:t>()</a:t>
            </a:r>
          </a:p>
          <a:p>
            <a:r>
              <a:rPr lang="en-US" dirty="0"/>
              <a:t>• Frequency, min, max, shuffle, etc.</a:t>
            </a:r>
          </a:p>
          <a:p>
            <a:endParaRPr lang="en-US" dirty="0"/>
          </a:p>
          <a:p>
            <a:r>
              <a:rPr lang="en-US" dirty="0"/>
              <a:t>Example:</a:t>
            </a:r>
          </a:p>
          <a:p>
            <a:r>
              <a:rPr lang="en-US" dirty="0"/>
              <a:t>*/</a:t>
            </a:r>
          </a:p>
          <a:p>
            <a:r>
              <a:rPr lang="en-US" dirty="0"/>
              <a:t>List&lt;Integer&gt; numbers = </a:t>
            </a:r>
            <a:r>
              <a:rPr lang="en-US" dirty="0" err="1"/>
              <a:t>Arrays.asList</a:t>
            </a:r>
            <a:r>
              <a:rPr lang="en-US" dirty="0"/>
              <a:t>(5, 2, 8, 1, 9);</a:t>
            </a:r>
          </a:p>
          <a:p>
            <a:r>
              <a:rPr lang="en-US" dirty="0" err="1"/>
              <a:t>Collections.sort</a:t>
            </a:r>
            <a:r>
              <a:rPr lang="en-US" dirty="0"/>
              <a:t>(numbers); // [1, 2, 5, 8, 9]</a:t>
            </a:r>
          </a:p>
          <a:p>
            <a:r>
              <a:rPr lang="en-US" dirty="0" err="1"/>
              <a:t>Collections.reverse</a:t>
            </a:r>
            <a:r>
              <a:rPr lang="en-US" dirty="0"/>
              <a:t>(numbers); // [9, 8, 5, 2, 1]</a:t>
            </a:r>
          </a:p>
          <a:p>
            <a:r>
              <a:rPr lang="en-US" dirty="0" err="1"/>
              <a:t>Collections.shuffle</a:t>
            </a:r>
            <a:r>
              <a:rPr lang="en-US" dirty="0"/>
              <a:t>(numbers); // Random order</a:t>
            </a:r>
          </a:p>
          <a:p>
            <a:endParaRPr lang="en-US" dirty="0"/>
          </a:p>
          <a:p>
            <a:r>
              <a:rPr lang="en-US" dirty="0"/>
              <a:t>// Create immutable collection</a:t>
            </a:r>
          </a:p>
          <a:p>
            <a:r>
              <a:rPr lang="en-US" dirty="0"/>
              <a:t>List&lt;String&gt; </a:t>
            </a:r>
            <a:r>
              <a:rPr lang="en-US" dirty="0" err="1"/>
              <a:t>immutableList</a:t>
            </a:r>
            <a:r>
              <a:rPr lang="en-US" dirty="0"/>
              <a:t> = </a:t>
            </a:r>
            <a:r>
              <a:rPr lang="en-US" dirty="0" err="1"/>
              <a:t>Collections.unmodifiableList</a:t>
            </a:r>
            <a:r>
              <a:rPr lang="en-US" dirty="0"/>
              <a:t>(</a:t>
            </a:r>
          </a:p>
          <a:p>
            <a:r>
              <a:rPr lang="en-US" dirty="0"/>
              <a:t>    new </a:t>
            </a:r>
            <a:r>
              <a:rPr lang="en-US" dirty="0" err="1"/>
              <a:t>ArrayList</a:t>
            </a:r>
            <a:r>
              <a:rPr lang="en-US" dirty="0"/>
              <a:t>&lt;&gt;(</a:t>
            </a:r>
            <a:r>
              <a:rPr lang="en-US" dirty="0" err="1"/>
              <a:t>Arrays.asList</a:t>
            </a:r>
            <a:r>
              <a:rPr lang="en-US" dirty="0"/>
              <a:t>("A", "B", "C"))</a:t>
            </a:r>
          </a:p>
          <a:p>
            <a:r>
              <a:rPr lang="en-US" dirty="0"/>
              <a:t>);</a:t>
            </a:r>
          </a:p>
        </p:txBody>
      </p:sp>
    </p:spTree>
    <p:extLst>
      <p:ext uri="{BB962C8B-B14F-4D97-AF65-F5344CB8AC3E}">
        <p14:creationId xmlns:p14="http://schemas.microsoft.com/office/powerpoint/2010/main" val="41221848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034A59-1694-6928-79FF-F185E6540C4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E4F6DD9-7066-D501-0B33-6947AEE2E712}"/>
              </a:ext>
            </a:extLst>
          </p:cNvPr>
          <p:cNvSpPr txBox="1"/>
          <p:nvPr/>
        </p:nvSpPr>
        <p:spPr>
          <a:xfrm>
            <a:off x="3046344" y="3236960"/>
            <a:ext cx="6092686" cy="384080"/>
          </a:xfrm>
          <a:prstGeom prst="rect">
            <a:avLst/>
          </a:prstGeom>
          <a:noFill/>
        </p:spPr>
        <p:txBody>
          <a:bodyPr wrap="square">
            <a:spAutoFit/>
          </a:bodyPr>
          <a:lstStyle/>
          <a:p>
            <a:pPr algn="l">
              <a:lnSpc>
                <a:spcPts val="2400"/>
              </a:lnSpc>
              <a:spcBef>
                <a:spcPts val="2400"/>
              </a:spcBef>
              <a:spcAft>
                <a:spcPts val="1200"/>
              </a:spcAft>
              <a:buNone/>
            </a:pPr>
            <a:r>
              <a:rPr lang="en-US" b="1" dirty="0">
                <a:solidFill>
                  <a:srgbClr val="0F1115"/>
                </a:solidFill>
                <a:effectLst/>
                <a:latin typeface="quote-cjk-patch"/>
              </a:rPr>
              <a:t>Real-Time Scenario Questions &amp; Answers</a:t>
            </a:r>
          </a:p>
        </p:txBody>
      </p:sp>
    </p:spTree>
    <p:extLst>
      <p:ext uri="{BB962C8B-B14F-4D97-AF65-F5344CB8AC3E}">
        <p14:creationId xmlns:p14="http://schemas.microsoft.com/office/powerpoint/2010/main" val="33038682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8AA254-1976-044A-1206-A2B606BE059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CC226CE-A2D8-2C28-B628-D50D6F4E8911}"/>
              </a:ext>
            </a:extLst>
          </p:cNvPr>
          <p:cNvSpPr txBox="1"/>
          <p:nvPr/>
        </p:nvSpPr>
        <p:spPr>
          <a:xfrm>
            <a:off x="3046344" y="1800990"/>
            <a:ext cx="6092686" cy="3256020"/>
          </a:xfrm>
          <a:prstGeom prst="rect">
            <a:avLst/>
          </a:prstGeom>
          <a:noFill/>
        </p:spPr>
        <p:txBody>
          <a:bodyPr wrap="square">
            <a:spAutoFit/>
          </a:bodyPr>
          <a:lstStyle/>
          <a:p>
            <a:pPr algn="l">
              <a:spcBef>
                <a:spcPts val="1200"/>
              </a:spcBef>
              <a:spcAft>
                <a:spcPts val="1200"/>
              </a:spcAft>
              <a:buNone/>
            </a:pPr>
            <a:r>
              <a:rPr lang="en-US" b="1" i="0" dirty="0">
                <a:solidFill>
                  <a:srgbClr val="0F1115"/>
                </a:solidFill>
                <a:effectLst/>
                <a:latin typeface="quote-cjk-patch"/>
              </a:rPr>
              <a:t>Q1: E-commerce application needs to store products. Which collection to use?</a:t>
            </a:r>
            <a:endParaRPr lang="en-US" b="0" i="0" dirty="0">
              <a:solidFill>
                <a:srgbClr val="0F1115"/>
              </a:solidFill>
              <a:effectLst/>
              <a:latin typeface="quote-cjk-patch"/>
            </a:endParaRPr>
          </a:p>
          <a:p>
            <a:pPr algn="l">
              <a:lnSpc>
                <a:spcPts val="1350"/>
              </a:lnSpc>
              <a:spcBef>
                <a:spcPts val="1200"/>
              </a:spcBef>
              <a:spcAft>
                <a:spcPts val="857"/>
              </a:spcAft>
              <a:buNone/>
            </a:pPr>
            <a:r>
              <a:rPr lang="en-US" b="0" i="0" dirty="0">
                <a:solidFill>
                  <a:srgbClr val="0F1115"/>
                </a:solidFill>
                <a:effectLst/>
                <a:latin typeface="Menlo"/>
              </a:rPr>
              <a:t>text</a:t>
            </a:r>
            <a:endParaRPr lang="en-US" b="0" i="0" dirty="0">
              <a:solidFill>
                <a:srgbClr val="0F1115"/>
              </a:solidFill>
              <a:effectLst/>
              <a:latin typeface="quote-cjk-patch"/>
            </a:endParaRPr>
          </a:p>
          <a:p>
            <a:pPr algn="l" latinLnBrk="1">
              <a:lnSpc>
                <a:spcPts val="1650"/>
              </a:lnSpc>
              <a:spcBef>
                <a:spcPts val="1200"/>
              </a:spcBef>
              <a:spcAft>
                <a:spcPts val="857"/>
              </a:spcAft>
              <a:buNone/>
            </a:pPr>
            <a:r>
              <a:rPr lang="en-US" b="0" i="0" dirty="0">
                <a:solidFill>
                  <a:srgbClr val="0F1115"/>
                </a:solidFill>
                <a:effectLst/>
                <a:latin typeface="Menlo"/>
              </a:rPr>
              <a:t>A: Use </a:t>
            </a:r>
            <a:r>
              <a:rPr lang="en-US" b="0" i="0" dirty="0" err="1">
                <a:solidFill>
                  <a:srgbClr val="0F1115"/>
                </a:solidFill>
                <a:effectLst/>
                <a:latin typeface="Menlo"/>
              </a:rPr>
              <a:t>ArrayList</a:t>
            </a:r>
            <a:r>
              <a:rPr lang="en-US" b="0" i="0" dirty="0">
                <a:solidFill>
                  <a:srgbClr val="0F1115"/>
                </a:solidFill>
                <a:effectLst/>
                <a:latin typeface="Menlo"/>
              </a:rPr>
              <a:t>&lt;Product&gt; for product listing (ordered, allows duplicates).</a:t>
            </a:r>
          </a:p>
          <a:p>
            <a:pPr algn="l" latinLnBrk="1">
              <a:lnSpc>
                <a:spcPts val="1650"/>
              </a:lnSpc>
              <a:spcBef>
                <a:spcPts val="1200"/>
              </a:spcBef>
              <a:spcAft>
                <a:spcPts val="857"/>
              </a:spcAft>
              <a:buNone/>
            </a:pPr>
            <a:r>
              <a:rPr lang="en-US" b="0" i="0" dirty="0">
                <a:solidFill>
                  <a:srgbClr val="0F1115"/>
                </a:solidFill>
                <a:effectLst/>
                <a:latin typeface="Menlo"/>
              </a:rPr>
              <a:t>   For product catalog with unique IDs: HashMap&lt;Integer, Product&gt;.</a:t>
            </a:r>
          </a:p>
          <a:p>
            <a:pPr algn="l" latinLnBrk="1">
              <a:lnSpc>
                <a:spcPts val="1650"/>
              </a:lnSpc>
              <a:spcBef>
                <a:spcPts val="1200"/>
              </a:spcBef>
              <a:spcAft>
                <a:spcPts val="857"/>
              </a:spcAft>
              <a:buNone/>
            </a:pPr>
            <a:r>
              <a:rPr lang="en-US" b="0" i="0" dirty="0">
                <a:solidFill>
                  <a:srgbClr val="0F1115"/>
                </a:solidFill>
                <a:effectLst/>
                <a:latin typeface="Menlo"/>
              </a:rPr>
              <a:t>   For sorted products by price: </a:t>
            </a:r>
            <a:r>
              <a:rPr lang="en-US" b="0" i="0" dirty="0" err="1">
                <a:solidFill>
                  <a:srgbClr val="0F1115"/>
                </a:solidFill>
                <a:effectLst/>
                <a:latin typeface="Menlo"/>
              </a:rPr>
              <a:t>TreeSet</a:t>
            </a:r>
            <a:r>
              <a:rPr lang="en-US" b="0" i="0" dirty="0">
                <a:solidFill>
                  <a:srgbClr val="0F1115"/>
                </a:solidFill>
                <a:effectLst/>
                <a:latin typeface="Menlo"/>
              </a:rPr>
              <a:t>&lt;Product&gt; with price comparator.</a:t>
            </a:r>
          </a:p>
        </p:txBody>
      </p:sp>
    </p:spTree>
    <p:extLst>
      <p:ext uri="{BB962C8B-B14F-4D97-AF65-F5344CB8AC3E}">
        <p14:creationId xmlns:p14="http://schemas.microsoft.com/office/powerpoint/2010/main" val="35082681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CA7436-2D35-F44D-26D5-21D775FD080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5356F69-FDB9-FE6E-0869-53AA6D8D0DD6}"/>
              </a:ext>
            </a:extLst>
          </p:cNvPr>
          <p:cNvSpPr txBox="1"/>
          <p:nvPr/>
        </p:nvSpPr>
        <p:spPr>
          <a:xfrm>
            <a:off x="3046344" y="2371660"/>
            <a:ext cx="6092686" cy="2114681"/>
          </a:xfrm>
          <a:prstGeom prst="rect">
            <a:avLst/>
          </a:prstGeom>
          <a:noFill/>
        </p:spPr>
        <p:txBody>
          <a:bodyPr wrap="square">
            <a:spAutoFit/>
          </a:bodyPr>
          <a:lstStyle/>
          <a:p>
            <a:pPr algn="l">
              <a:spcBef>
                <a:spcPts val="1200"/>
              </a:spcBef>
              <a:spcAft>
                <a:spcPts val="1200"/>
              </a:spcAft>
              <a:buNone/>
            </a:pPr>
            <a:r>
              <a:rPr lang="en-US" b="1" i="0" dirty="0">
                <a:solidFill>
                  <a:srgbClr val="0F1115"/>
                </a:solidFill>
                <a:effectLst/>
                <a:latin typeface="quote-cjk-patch"/>
              </a:rPr>
              <a:t> Social media app needs to track online users. Which collection?</a:t>
            </a:r>
            <a:endParaRPr lang="en-US" b="0" i="0" dirty="0">
              <a:solidFill>
                <a:srgbClr val="0F1115"/>
              </a:solidFill>
              <a:effectLst/>
              <a:latin typeface="quote-cjk-patch"/>
            </a:endParaRPr>
          </a:p>
          <a:p>
            <a:pPr algn="l">
              <a:lnSpc>
                <a:spcPts val="1350"/>
              </a:lnSpc>
              <a:spcBef>
                <a:spcPts val="1200"/>
              </a:spcBef>
              <a:spcAft>
                <a:spcPts val="857"/>
              </a:spcAft>
              <a:buNone/>
            </a:pPr>
            <a:r>
              <a:rPr lang="en-US" b="0" i="0" dirty="0">
                <a:solidFill>
                  <a:srgbClr val="0F1115"/>
                </a:solidFill>
                <a:effectLst/>
                <a:latin typeface="Menlo"/>
              </a:rPr>
              <a:t>text</a:t>
            </a:r>
            <a:endParaRPr lang="en-US" b="0" i="0" dirty="0">
              <a:solidFill>
                <a:srgbClr val="0F1115"/>
              </a:solidFill>
              <a:effectLst/>
              <a:latin typeface="quote-cjk-patch"/>
            </a:endParaRPr>
          </a:p>
          <a:p>
            <a:pPr algn="l" latinLnBrk="1">
              <a:lnSpc>
                <a:spcPts val="1650"/>
              </a:lnSpc>
              <a:spcBef>
                <a:spcPts val="1200"/>
              </a:spcBef>
              <a:spcAft>
                <a:spcPts val="857"/>
              </a:spcAft>
              <a:buNone/>
            </a:pPr>
            <a:r>
              <a:rPr lang="en-US" b="0" i="0" dirty="0">
                <a:solidFill>
                  <a:srgbClr val="0F1115"/>
                </a:solidFill>
                <a:effectLst/>
                <a:latin typeface="Menlo"/>
              </a:rPr>
              <a:t>A: Use HashSet&lt;User&gt; or </a:t>
            </a:r>
            <a:r>
              <a:rPr lang="en-US" b="0" i="0" dirty="0" err="1">
                <a:solidFill>
                  <a:srgbClr val="0F1115"/>
                </a:solidFill>
                <a:effectLst/>
                <a:latin typeface="Menlo"/>
              </a:rPr>
              <a:t>ConcurrentHashSet</a:t>
            </a:r>
            <a:r>
              <a:rPr lang="en-US" b="0" i="0" dirty="0">
                <a:solidFill>
                  <a:srgbClr val="0F1115"/>
                </a:solidFill>
                <a:effectLst/>
                <a:latin typeface="Menlo"/>
              </a:rPr>
              <a:t> for thread safety.</a:t>
            </a:r>
          </a:p>
          <a:p>
            <a:pPr algn="l" latinLnBrk="1">
              <a:lnSpc>
                <a:spcPts val="1650"/>
              </a:lnSpc>
              <a:spcBef>
                <a:spcPts val="1200"/>
              </a:spcBef>
              <a:spcAft>
                <a:spcPts val="857"/>
              </a:spcAft>
              <a:buNone/>
            </a:pPr>
            <a:r>
              <a:rPr lang="en-US" b="0" i="0" dirty="0">
                <a:solidFill>
                  <a:srgbClr val="0F1115"/>
                </a:solidFill>
                <a:effectLst/>
                <a:latin typeface="Menlo"/>
              </a:rPr>
              <a:t>   Why? Fast lookups O(1), no duplicates, don't need order.</a:t>
            </a:r>
          </a:p>
        </p:txBody>
      </p:sp>
    </p:spTree>
    <p:extLst>
      <p:ext uri="{BB962C8B-B14F-4D97-AF65-F5344CB8AC3E}">
        <p14:creationId xmlns:p14="http://schemas.microsoft.com/office/powerpoint/2010/main" val="12160801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D982FB-6FDF-3D2A-662B-55212FCDD69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DEEDF71-B6B7-AF69-101D-D442CCE416F7}"/>
              </a:ext>
            </a:extLst>
          </p:cNvPr>
          <p:cNvSpPr txBox="1"/>
          <p:nvPr/>
        </p:nvSpPr>
        <p:spPr>
          <a:xfrm>
            <a:off x="3046344" y="2401155"/>
            <a:ext cx="6092686" cy="2055691"/>
          </a:xfrm>
          <a:prstGeom prst="rect">
            <a:avLst/>
          </a:prstGeom>
          <a:noFill/>
        </p:spPr>
        <p:txBody>
          <a:bodyPr wrap="square">
            <a:spAutoFit/>
          </a:bodyPr>
          <a:lstStyle/>
          <a:p>
            <a:pPr algn="l">
              <a:spcBef>
                <a:spcPts val="1200"/>
              </a:spcBef>
              <a:spcAft>
                <a:spcPts val="1200"/>
              </a:spcAft>
              <a:buNone/>
            </a:pPr>
            <a:r>
              <a:rPr lang="en-US" b="1" i="0" dirty="0">
                <a:solidFill>
                  <a:srgbClr val="0F1115"/>
                </a:solidFill>
                <a:effectLst/>
                <a:latin typeface="quote-cjk-patch"/>
              </a:rPr>
              <a:t> Task scheduler needs to process tasks in priority order?</a:t>
            </a:r>
            <a:endParaRPr lang="en-US" b="0" i="0" dirty="0">
              <a:solidFill>
                <a:srgbClr val="0F1115"/>
              </a:solidFill>
              <a:effectLst/>
              <a:latin typeface="quote-cjk-patch"/>
            </a:endParaRPr>
          </a:p>
          <a:p>
            <a:pPr algn="l">
              <a:lnSpc>
                <a:spcPts val="1350"/>
              </a:lnSpc>
              <a:spcBef>
                <a:spcPts val="1200"/>
              </a:spcBef>
              <a:spcAft>
                <a:spcPts val="857"/>
              </a:spcAft>
              <a:buNone/>
            </a:pPr>
            <a:r>
              <a:rPr lang="en-US" b="0" i="0" dirty="0">
                <a:solidFill>
                  <a:srgbClr val="0F1115"/>
                </a:solidFill>
                <a:effectLst/>
                <a:latin typeface="Menlo"/>
              </a:rPr>
              <a:t>text</a:t>
            </a:r>
            <a:endParaRPr lang="en-US" b="0" i="0" dirty="0">
              <a:solidFill>
                <a:srgbClr val="0F1115"/>
              </a:solidFill>
              <a:effectLst/>
              <a:latin typeface="quote-cjk-patch"/>
            </a:endParaRPr>
          </a:p>
          <a:p>
            <a:pPr algn="l" latinLnBrk="1">
              <a:lnSpc>
                <a:spcPts val="1650"/>
              </a:lnSpc>
              <a:spcBef>
                <a:spcPts val="1200"/>
              </a:spcBef>
              <a:spcAft>
                <a:spcPts val="857"/>
              </a:spcAft>
              <a:buNone/>
            </a:pPr>
            <a:r>
              <a:rPr lang="en-US" b="0" i="0" dirty="0">
                <a:solidFill>
                  <a:srgbClr val="0F1115"/>
                </a:solidFill>
                <a:effectLst/>
                <a:latin typeface="Menlo"/>
              </a:rPr>
              <a:t>A: </a:t>
            </a:r>
            <a:r>
              <a:rPr lang="en-US" b="0" i="0" dirty="0" err="1">
                <a:solidFill>
                  <a:srgbClr val="0F1115"/>
                </a:solidFill>
                <a:effectLst/>
                <a:latin typeface="Menlo"/>
              </a:rPr>
              <a:t>PriorityQueue</a:t>
            </a:r>
            <a:r>
              <a:rPr lang="en-US" b="0" i="0" dirty="0">
                <a:solidFill>
                  <a:srgbClr val="0F1115"/>
                </a:solidFill>
                <a:effectLst/>
                <a:latin typeface="Menlo"/>
              </a:rPr>
              <a:t>&lt;Task&gt; with custom comparator based on priority.</a:t>
            </a:r>
          </a:p>
          <a:p>
            <a:pPr algn="l" latinLnBrk="1">
              <a:lnSpc>
                <a:spcPts val="1650"/>
              </a:lnSpc>
              <a:spcBef>
                <a:spcPts val="1200"/>
              </a:spcBef>
              <a:spcAft>
                <a:spcPts val="857"/>
              </a:spcAft>
              <a:buNone/>
            </a:pPr>
            <a:r>
              <a:rPr lang="en-US" b="0" i="0" dirty="0">
                <a:solidFill>
                  <a:srgbClr val="0F1115"/>
                </a:solidFill>
                <a:effectLst/>
                <a:latin typeface="Menlo"/>
              </a:rPr>
              <a:t>   poll() always returns highest priority task.</a:t>
            </a:r>
          </a:p>
        </p:txBody>
      </p:sp>
    </p:spTree>
    <p:extLst>
      <p:ext uri="{BB962C8B-B14F-4D97-AF65-F5344CB8AC3E}">
        <p14:creationId xmlns:p14="http://schemas.microsoft.com/office/powerpoint/2010/main" val="15638240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729ACE-DB96-C7CB-CC36-1A5B95A0EEF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37DDEF0-E1CA-937D-5803-CAC95E09530C}"/>
              </a:ext>
            </a:extLst>
          </p:cNvPr>
          <p:cNvSpPr txBox="1"/>
          <p:nvPr/>
        </p:nvSpPr>
        <p:spPr>
          <a:xfrm>
            <a:off x="3046344" y="2262655"/>
            <a:ext cx="6092686" cy="2332690"/>
          </a:xfrm>
          <a:prstGeom prst="rect">
            <a:avLst/>
          </a:prstGeom>
          <a:noFill/>
        </p:spPr>
        <p:txBody>
          <a:bodyPr wrap="square">
            <a:spAutoFit/>
          </a:bodyPr>
          <a:lstStyle/>
          <a:p>
            <a:pPr algn="l">
              <a:spcBef>
                <a:spcPts val="1200"/>
              </a:spcBef>
              <a:spcAft>
                <a:spcPts val="1200"/>
              </a:spcAft>
              <a:buNone/>
            </a:pPr>
            <a:r>
              <a:rPr lang="en-US" b="1" i="0" dirty="0">
                <a:solidFill>
                  <a:srgbClr val="0F1115"/>
                </a:solidFill>
                <a:effectLst/>
                <a:latin typeface="quote-cjk-patch"/>
              </a:rPr>
              <a:t>Cache implementation with LRU (Least Recently Used) eviction?</a:t>
            </a:r>
            <a:endParaRPr lang="en-US" b="0" i="0" dirty="0">
              <a:solidFill>
                <a:srgbClr val="0F1115"/>
              </a:solidFill>
              <a:effectLst/>
              <a:latin typeface="quote-cjk-patch"/>
            </a:endParaRPr>
          </a:p>
          <a:p>
            <a:pPr algn="l">
              <a:lnSpc>
                <a:spcPts val="1350"/>
              </a:lnSpc>
              <a:spcBef>
                <a:spcPts val="1200"/>
              </a:spcBef>
              <a:spcAft>
                <a:spcPts val="857"/>
              </a:spcAft>
              <a:buNone/>
            </a:pPr>
            <a:r>
              <a:rPr lang="en-US" b="0" i="0" dirty="0">
                <a:solidFill>
                  <a:srgbClr val="0F1115"/>
                </a:solidFill>
                <a:effectLst/>
                <a:latin typeface="Menlo"/>
              </a:rPr>
              <a:t>text</a:t>
            </a:r>
            <a:endParaRPr lang="en-US" b="0" i="0" dirty="0">
              <a:solidFill>
                <a:srgbClr val="0F1115"/>
              </a:solidFill>
              <a:effectLst/>
              <a:latin typeface="quote-cjk-patch"/>
            </a:endParaRPr>
          </a:p>
          <a:p>
            <a:pPr algn="l" latinLnBrk="1">
              <a:lnSpc>
                <a:spcPts val="1650"/>
              </a:lnSpc>
              <a:spcBef>
                <a:spcPts val="1200"/>
              </a:spcBef>
              <a:spcAft>
                <a:spcPts val="857"/>
              </a:spcAft>
              <a:buNone/>
            </a:pPr>
            <a:r>
              <a:rPr lang="en-US" b="0" i="0" dirty="0">
                <a:solidFill>
                  <a:srgbClr val="0F1115"/>
                </a:solidFill>
                <a:effectLst/>
                <a:latin typeface="Menlo"/>
              </a:rPr>
              <a:t>A: </a:t>
            </a:r>
            <a:r>
              <a:rPr lang="en-US" b="0" i="0" dirty="0" err="1">
                <a:solidFill>
                  <a:srgbClr val="0F1115"/>
                </a:solidFill>
                <a:effectLst/>
                <a:latin typeface="Menlo"/>
              </a:rPr>
              <a:t>LinkedHashMap</a:t>
            </a:r>
            <a:r>
              <a:rPr lang="en-US" b="0" i="0" dirty="0">
                <a:solidFill>
                  <a:srgbClr val="0F1115"/>
                </a:solidFill>
                <a:effectLst/>
                <a:latin typeface="Menlo"/>
              </a:rPr>
              <a:t> with </a:t>
            </a:r>
            <a:r>
              <a:rPr lang="en-US" b="0" i="0" dirty="0" err="1">
                <a:solidFill>
                  <a:srgbClr val="0F1115"/>
                </a:solidFill>
                <a:effectLst/>
                <a:latin typeface="Menlo"/>
              </a:rPr>
              <a:t>accessOrder</a:t>
            </a:r>
            <a:r>
              <a:rPr lang="en-US" b="0" i="0" dirty="0">
                <a:solidFill>
                  <a:srgbClr val="0F1115"/>
                </a:solidFill>
                <a:effectLst/>
                <a:latin typeface="Menlo"/>
              </a:rPr>
              <a:t>=true and override </a:t>
            </a:r>
            <a:r>
              <a:rPr lang="en-US" b="0" i="0" dirty="0" err="1">
                <a:solidFill>
                  <a:srgbClr val="0F1115"/>
                </a:solidFill>
                <a:effectLst/>
                <a:latin typeface="Menlo"/>
              </a:rPr>
              <a:t>removeEldestEntry</a:t>
            </a:r>
            <a:r>
              <a:rPr lang="en-US" b="0" i="0" dirty="0">
                <a:solidFill>
                  <a:srgbClr val="0F1115"/>
                </a:solidFill>
                <a:effectLst/>
                <a:latin typeface="Menlo"/>
              </a:rPr>
              <a:t>()</a:t>
            </a:r>
          </a:p>
          <a:p>
            <a:pPr algn="l" latinLnBrk="1">
              <a:lnSpc>
                <a:spcPts val="1650"/>
              </a:lnSpc>
              <a:spcBef>
                <a:spcPts val="1200"/>
              </a:spcBef>
              <a:spcAft>
                <a:spcPts val="857"/>
              </a:spcAft>
              <a:buNone/>
            </a:pPr>
            <a:r>
              <a:rPr lang="en-US" b="0" i="0" dirty="0">
                <a:solidFill>
                  <a:srgbClr val="0F1115"/>
                </a:solidFill>
                <a:effectLst/>
                <a:latin typeface="Menlo"/>
              </a:rPr>
              <a:t>   Example: new </a:t>
            </a:r>
            <a:r>
              <a:rPr lang="en-US" b="0" i="0" dirty="0" err="1">
                <a:solidFill>
                  <a:srgbClr val="0F1115"/>
                </a:solidFill>
                <a:effectLst/>
                <a:latin typeface="Menlo"/>
              </a:rPr>
              <a:t>LinkedHashMap</a:t>
            </a:r>
            <a:r>
              <a:rPr lang="en-US" b="0" i="0" dirty="0">
                <a:solidFill>
                  <a:srgbClr val="0F1115"/>
                </a:solidFill>
                <a:effectLst/>
                <a:latin typeface="Menlo"/>
              </a:rPr>
              <a:t>&lt;&gt;(capacity, 0.75f, true)</a:t>
            </a:r>
          </a:p>
        </p:txBody>
      </p:sp>
    </p:spTree>
    <p:extLst>
      <p:ext uri="{BB962C8B-B14F-4D97-AF65-F5344CB8AC3E}">
        <p14:creationId xmlns:p14="http://schemas.microsoft.com/office/powerpoint/2010/main" val="210536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0A6E2C-7543-BCB2-BB1E-FD4B8A72349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CD179F0-E501-E9B4-67A7-99376CA71A93}"/>
              </a:ext>
            </a:extLst>
          </p:cNvPr>
          <p:cNvSpPr txBox="1"/>
          <p:nvPr/>
        </p:nvSpPr>
        <p:spPr>
          <a:xfrm>
            <a:off x="3046344" y="2401155"/>
            <a:ext cx="6092686" cy="2055691"/>
          </a:xfrm>
          <a:prstGeom prst="rect">
            <a:avLst/>
          </a:prstGeom>
          <a:noFill/>
        </p:spPr>
        <p:txBody>
          <a:bodyPr wrap="square">
            <a:spAutoFit/>
          </a:bodyPr>
          <a:lstStyle/>
          <a:p>
            <a:pPr algn="l">
              <a:spcBef>
                <a:spcPts val="1200"/>
              </a:spcBef>
              <a:spcAft>
                <a:spcPts val="1200"/>
              </a:spcAft>
              <a:buNone/>
            </a:pPr>
            <a:r>
              <a:rPr lang="en-US" b="1" i="0" dirty="0">
                <a:solidFill>
                  <a:srgbClr val="0F1115"/>
                </a:solidFill>
                <a:effectLst/>
                <a:latin typeface="quote-cjk-patch"/>
              </a:rPr>
              <a:t> Banking transaction history maintenance?</a:t>
            </a:r>
            <a:endParaRPr lang="en-US" b="0" i="0" dirty="0">
              <a:solidFill>
                <a:srgbClr val="0F1115"/>
              </a:solidFill>
              <a:effectLst/>
              <a:latin typeface="quote-cjk-patch"/>
            </a:endParaRPr>
          </a:p>
          <a:p>
            <a:pPr algn="l">
              <a:lnSpc>
                <a:spcPts val="1350"/>
              </a:lnSpc>
              <a:spcBef>
                <a:spcPts val="1200"/>
              </a:spcBef>
              <a:spcAft>
                <a:spcPts val="857"/>
              </a:spcAft>
              <a:buNone/>
            </a:pPr>
            <a:r>
              <a:rPr lang="en-US" b="0" i="0" dirty="0">
                <a:solidFill>
                  <a:srgbClr val="0F1115"/>
                </a:solidFill>
                <a:effectLst/>
                <a:latin typeface="Menlo"/>
              </a:rPr>
              <a:t>text</a:t>
            </a:r>
            <a:endParaRPr lang="en-US" b="0" i="0" dirty="0">
              <a:solidFill>
                <a:srgbClr val="0F1115"/>
              </a:solidFill>
              <a:effectLst/>
              <a:latin typeface="quote-cjk-patch"/>
            </a:endParaRPr>
          </a:p>
          <a:p>
            <a:pPr algn="l" latinLnBrk="1">
              <a:lnSpc>
                <a:spcPts val="1650"/>
              </a:lnSpc>
              <a:spcBef>
                <a:spcPts val="1200"/>
              </a:spcBef>
              <a:spcAft>
                <a:spcPts val="857"/>
              </a:spcAft>
              <a:buNone/>
            </a:pPr>
            <a:r>
              <a:rPr lang="en-US" b="0" i="0" dirty="0">
                <a:solidFill>
                  <a:srgbClr val="0F1115"/>
                </a:solidFill>
                <a:effectLst/>
                <a:latin typeface="Menlo"/>
              </a:rPr>
              <a:t>A: Use LinkedList&lt;Transaction&gt; - efficient additions at both ends.</a:t>
            </a:r>
          </a:p>
          <a:p>
            <a:pPr algn="l" latinLnBrk="1">
              <a:lnSpc>
                <a:spcPts val="1650"/>
              </a:lnSpc>
              <a:spcBef>
                <a:spcPts val="1200"/>
              </a:spcBef>
              <a:spcAft>
                <a:spcPts val="857"/>
              </a:spcAft>
              <a:buNone/>
            </a:pPr>
            <a:r>
              <a:rPr lang="en-US" b="0" i="0" dirty="0">
                <a:solidFill>
                  <a:srgbClr val="0F1115"/>
                </a:solidFill>
                <a:effectLst/>
                <a:latin typeface="Menlo"/>
              </a:rPr>
              <a:t>   Or </a:t>
            </a:r>
            <a:r>
              <a:rPr lang="en-US" b="0" i="0" dirty="0" err="1">
                <a:solidFill>
                  <a:srgbClr val="0F1115"/>
                </a:solidFill>
                <a:effectLst/>
                <a:latin typeface="Menlo"/>
              </a:rPr>
              <a:t>ArrayList</a:t>
            </a:r>
            <a:r>
              <a:rPr lang="en-US" b="0" i="0" dirty="0">
                <a:solidFill>
                  <a:srgbClr val="0F1115"/>
                </a:solidFill>
                <a:effectLst/>
                <a:latin typeface="Menlo"/>
              </a:rPr>
              <a:t> if mostly appending and random access needed.</a:t>
            </a:r>
          </a:p>
        </p:txBody>
      </p:sp>
    </p:spTree>
    <p:extLst>
      <p:ext uri="{BB962C8B-B14F-4D97-AF65-F5344CB8AC3E}">
        <p14:creationId xmlns:p14="http://schemas.microsoft.com/office/powerpoint/2010/main" val="19034309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971134-5B4F-F752-F9B8-23CCB9A3AAD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1D50695-7688-C9BD-89BF-1E447C4DB908}"/>
              </a:ext>
            </a:extLst>
          </p:cNvPr>
          <p:cNvSpPr txBox="1"/>
          <p:nvPr/>
        </p:nvSpPr>
        <p:spPr>
          <a:xfrm>
            <a:off x="342900" y="192857"/>
            <a:ext cx="9264925" cy="6472285"/>
          </a:xfrm>
          <a:prstGeom prst="rect">
            <a:avLst/>
          </a:prstGeom>
          <a:noFill/>
        </p:spPr>
        <p:txBody>
          <a:bodyPr wrap="square">
            <a:spAutoFit/>
          </a:bodyPr>
          <a:lstStyle/>
          <a:p>
            <a:pPr algn="l">
              <a:lnSpc>
                <a:spcPts val="2400"/>
              </a:lnSpc>
              <a:buNone/>
            </a:pPr>
            <a:r>
              <a:rPr lang="en-US" b="1" dirty="0">
                <a:solidFill>
                  <a:srgbClr val="0F1115"/>
                </a:solidFill>
                <a:effectLst/>
                <a:latin typeface="quote-cjk-patch"/>
              </a:rPr>
              <a:t>Project Usage Scenarios</a:t>
            </a:r>
          </a:p>
          <a:p>
            <a:pPr algn="l">
              <a:lnSpc>
                <a:spcPts val="1350"/>
              </a:lnSpc>
              <a:buNone/>
            </a:pPr>
            <a:r>
              <a:rPr lang="en-US" b="0" i="0" dirty="0">
                <a:solidFill>
                  <a:srgbClr val="0F1115"/>
                </a:solidFill>
                <a:effectLst/>
                <a:latin typeface="Menlo"/>
              </a:rPr>
              <a:t>text</a:t>
            </a:r>
            <a:endParaRPr lang="en-US" b="0" i="0" dirty="0">
              <a:solidFill>
                <a:srgbClr val="0F1115"/>
              </a:solidFill>
              <a:effectLst/>
              <a:latin typeface="quote-cjk-patch"/>
            </a:endParaRPr>
          </a:p>
          <a:p>
            <a:pPr algn="l" latinLnBrk="1">
              <a:lnSpc>
                <a:spcPts val="1650"/>
              </a:lnSpc>
              <a:buNone/>
            </a:pPr>
            <a:r>
              <a:rPr lang="en-US" b="0" i="0" dirty="0">
                <a:solidFill>
                  <a:srgbClr val="0F1115"/>
                </a:solidFill>
                <a:effectLst/>
                <a:latin typeface="Menlo"/>
              </a:rPr>
              <a:t>WHERE WE USE COLLECTIONS IN PROJECTS:</a:t>
            </a:r>
          </a:p>
          <a:p>
            <a:pPr algn="l" latinLnBrk="1">
              <a:lnSpc>
                <a:spcPts val="1650"/>
              </a:lnSpc>
              <a:buNone/>
            </a:pPr>
            <a:r>
              <a:rPr lang="en-US" b="0" i="0" dirty="0">
                <a:solidFill>
                  <a:srgbClr val="0F1115"/>
                </a:solidFill>
                <a:effectLst/>
                <a:latin typeface="Menlo"/>
              </a:rPr>
              <a:t>───────────────────────────────────────</a:t>
            </a:r>
          </a:p>
          <a:p>
            <a:pPr algn="l" latinLnBrk="1">
              <a:lnSpc>
                <a:spcPts val="1650"/>
              </a:lnSpc>
              <a:buNone/>
            </a:pPr>
            <a:endParaRPr lang="en-US" b="0" i="0" dirty="0">
              <a:solidFill>
                <a:srgbClr val="0F1115"/>
              </a:solidFill>
              <a:effectLst/>
              <a:latin typeface="Menlo"/>
            </a:endParaRPr>
          </a:p>
          <a:p>
            <a:pPr algn="l" latinLnBrk="1">
              <a:lnSpc>
                <a:spcPts val="1650"/>
              </a:lnSpc>
              <a:buNone/>
            </a:pPr>
            <a:r>
              <a:rPr lang="en-US" b="0" i="0" dirty="0">
                <a:solidFill>
                  <a:srgbClr val="0F1115"/>
                </a:solidFill>
                <a:effectLst/>
                <a:latin typeface="Menlo"/>
              </a:rPr>
              <a:t>1. Web Applications:</a:t>
            </a:r>
          </a:p>
          <a:p>
            <a:pPr algn="l" latinLnBrk="1">
              <a:lnSpc>
                <a:spcPts val="1650"/>
              </a:lnSpc>
              <a:buNone/>
            </a:pPr>
            <a:r>
              <a:rPr lang="en-US" b="0" i="0" dirty="0">
                <a:solidFill>
                  <a:srgbClr val="0F1115"/>
                </a:solidFill>
                <a:effectLst/>
                <a:latin typeface="Menlo"/>
              </a:rPr>
              <a:t>   • Session management: </a:t>
            </a:r>
            <a:r>
              <a:rPr lang="en-US" b="0" i="0" dirty="0" err="1">
                <a:solidFill>
                  <a:srgbClr val="0F1115"/>
                </a:solidFill>
                <a:effectLst/>
                <a:latin typeface="Menlo"/>
              </a:rPr>
              <a:t>ConcurrentHashMap</a:t>
            </a:r>
            <a:r>
              <a:rPr lang="en-US" b="0" i="0" dirty="0">
                <a:solidFill>
                  <a:srgbClr val="0F1115"/>
                </a:solidFill>
                <a:effectLst/>
                <a:latin typeface="Menlo"/>
              </a:rPr>
              <a:t> for thread safety</a:t>
            </a:r>
          </a:p>
          <a:p>
            <a:pPr algn="l" latinLnBrk="1">
              <a:lnSpc>
                <a:spcPts val="1650"/>
              </a:lnSpc>
              <a:buNone/>
            </a:pPr>
            <a:r>
              <a:rPr lang="en-US" b="0" i="0" dirty="0">
                <a:solidFill>
                  <a:srgbClr val="0F1115"/>
                </a:solidFill>
                <a:effectLst/>
                <a:latin typeface="Menlo"/>
              </a:rPr>
              <a:t>   • Request parameters: HashMap&lt;String, String[]&gt;</a:t>
            </a:r>
          </a:p>
          <a:p>
            <a:pPr algn="l" latinLnBrk="1">
              <a:lnSpc>
                <a:spcPts val="1650"/>
              </a:lnSpc>
              <a:buNone/>
            </a:pPr>
            <a:r>
              <a:rPr lang="en-US" b="0" i="0" dirty="0">
                <a:solidFill>
                  <a:srgbClr val="0F1115"/>
                </a:solidFill>
                <a:effectLst/>
                <a:latin typeface="Menlo"/>
              </a:rPr>
              <a:t>   • Database results: </a:t>
            </a:r>
            <a:r>
              <a:rPr lang="en-US" b="0" i="0" dirty="0" err="1">
                <a:solidFill>
                  <a:srgbClr val="0F1115"/>
                </a:solidFill>
                <a:effectLst/>
                <a:latin typeface="Menlo"/>
              </a:rPr>
              <a:t>ArrayList</a:t>
            </a:r>
            <a:r>
              <a:rPr lang="en-US" b="0" i="0" dirty="0">
                <a:solidFill>
                  <a:srgbClr val="0F1115"/>
                </a:solidFill>
                <a:effectLst/>
                <a:latin typeface="Menlo"/>
              </a:rPr>
              <a:t>&lt;DTO&gt; for records</a:t>
            </a:r>
          </a:p>
          <a:p>
            <a:pPr algn="l" latinLnBrk="1">
              <a:lnSpc>
                <a:spcPts val="1650"/>
              </a:lnSpc>
              <a:buNone/>
            </a:pPr>
            <a:endParaRPr lang="en-US" b="0" i="0" dirty="0">
              <a:solidFill>
                <a:srgbClr val="0F1115"/>
              </a:solidFill>
              <a:effectLst/>
              <a:latin typeface="Menlo"/>
            </a:endParaRPr>
          </a:p>
          <a:p>
            <a:pPr algn="l" latinLnBrk="1">
              <a:lnSpc>
                <a:spcPts val="1650"/>
              </a:lnSpc>
              <a:buNone/>
            </a:pPr>
            <a:r>
              <a:rPr lang="en-US" b="0" i="0" dirty="0">
                <a:solidFill>
                  <a:srgbClr val="0F1115"/>
                </a:solidFill>
                <a:effectLst/>
                <a:latin typeface="Menlo"/>
              </a:rPr>
              <a:t>2. Mobile Applications:</a:t>
            </a:r>
          </a:p>
          <a:p>
            <a:pPr algn="l" latinLnBrk="1">
              <a:lnSpc>
                <a:spcPts val="1650"/>
              </a:lnSpc>
              <a:buNone/>
            </a:pPr>
            <a:r>
              <a:rPr lang="en-US" b="0" i="0" dirty="0">
                <a:solidFill>
                  <a:srgbClr val="0F1115"/>
                </a:solidFill>
                <a:effectLst/>
                <a:latin typeface="Menlo"/>
              </a:rPr>
              <a:t>   • Chat messages: LinkedList&lt;Message&gt; (frequent additions)</a:t>
            </a:r>
          </a:p>
          <a:p>
            <a:pPr algn="l" latinLnBrk="1">
              <a:lnSpc>
                <a:spcPts val="1650"/>
              </a:lnSpc>
              <a:buNone/>
            </a:pPr>
            <a:r>
              <a:rPr lang="en-US" b="0" i="0" dirty="0">
                <a:solidFill>
                  <a:srgbClr val="0F1115"/>
                </a:solidFill>
                <a:effectLst/>
                <a:latin typeface="Menlo"/>
              </a:rPr>
              <a:t>   • User contacts: </a:t>
            </a:r>
            <a:r>
              <a:rPr lang="en-US" b="0" i="0" dirty="0" err="1">
                <a:solidFill>
                  <a:srgbClr val="0F1115"/>
                </a:solidFill>
                <a:effectLst/>
                <a:latin typeface="Menlo"/>
              </a:rPr>
              <a:t>TreeSet</a:t>
            </a:r>
            <a:r>
              <a:rPr lang="en-US" b="0" i="0" dirty="0">
                <a:solidFill>
                  <a:srgbClr val="0F1115"/>
                </a:solidFill>
                <a:effectLst/>
                <a:latin typeface="Menlo"/>
              </a:rPr>
              <a:t>&lt;Contact&gt; (sorted alphabetically)</a:t>
            </a:r>
          </a:p>
          <a:p>
            <a:pPr algn="l" latinLnBrk="1">
              <a:lnSpc>
                <a:spcPts val="1650"/>
              </a:lnSpc>
              <a:buNone/>
            </a:pPr>
            <a:r>
              <a:rPr lang="en-US" b="0" i="0" dirty="0">
                <a:solidFill>
                  <a:srgbClr val="0F1115"/>
                </a:solidFill>
                <a:effectLst/>
                <a:latin typeface="Menlo"/>
              </a:rPr>
              <a:t>   • Image cache: </a:t>
            </a:r>
            <a:r>
              <a:rPr lang="en-US" b="0" i="0" dirty="0" err="1">
                <a:solidFill>
                  <a:srgbClr val="0F1115"/>
                </a:solidFill>
                <a:effectLst/>
                <a:latin typeface="Menlo"/>
              </a:rPr>
              <a:t>LinkedHashMap</a:t>
            </a:r>
            <a:r>
              <a:rPr lang="en-US" b="0" i="0" dirty="0">
                <a:solidFill>
                  <a:srgbClr val="0F1115"/>
                </a:solidFill>
                <a:effectLst/>
                <a:latin typeface="Menlo"/>
              </a:rPr>
              <a:t> for LRU cache</a:t>
            </a:r>
          </a:p>
          <a:p>
            <a:pPr algn="l" latinLnBrk="1">
              <a:lnSpc>
                <a:spcPts val="1650"/>
              </a:lnSpc>
              <a:buNone/>
            </a:pPr>
            <a:endParaRPr lang="en-US" b="0" i="0" dirty="0">
              <a:solidFill>
                <a:srgbClr val="0F1115"/>
              </a:solidFill>
              <a:effectLst/>
              <a:latin typeface="Menlo"/>
            </a:endParaRPr>
          </a:p>
          <a:p>
            <a:pPr algn="l" latinLnBrk="1">
              <a:lnSpc>
                <a:spcPts val="1650"/>
              </a:lnSpc>
              <a:buNone/>
            </a:pPr>
            <a:r>
              <a:rPr lang="en-US" b="0" i="0" dirty="0">
                <a:solidFill>
                  <a:srgbClr val="0F1115"/>
                </a:solidFill>
                <a:effectLst/>
                <a:latin typeface="Menlo"/>
              </a:rPr>
              <a:t>3. Enterprise Systems:</a:t>
            </a:r>
          </a:p>
          <a:p>
            <a:pPr algn="l" latinLnBrk="1">
              <a:lnSpc>
                <a:spcPts val="1650"/>
              </a:lnSpc>
              <a:buNone/>
            </a:pPr>
            <a:r>
              <a:rPr lang="en-US" b="0" i="0" dirty="0">
                <a:solidFill>
                  <a:srgbClr val="0F1115"/>
                </a:solidFill>
                <a:effectLst/>
                <a:latin typeface="Menlo"/>
              </a:rPr>
              <a:t>   • Employee directory: HashMap&lt;</a:t>
            </a:r>
            <a:r>
              <a:rPr lang="en-US" b="0" i="0" dirty="0" err="1">
                <a:solidFill>
                  <a:srgbClr val="0F1115"/>
                </a:solidFill>
                <a:effectLst/>
                <a:latin typeface="Menlo"/>
              </a:rPr>
              <a:t>EmployeeID</a:t>
            </a:r>
            <a:r>
              <a:rPr lang="en-US" b="0" i="0" dirty="0">
                <a:solidFill>
                  <a:srgbClr val="0F1115"/>
                </a:solidFill>
                <a:effectLst/>
                <a:latin typeface="Menlo"/>
              </a:rPr>
              <a:t>, Employee&gt;</a:t>
            </a:r>
          </a:p>
          <a:p>
            <a:pPr algn="l" latinLnBrk="1">
              <a:lnSpc>
                <a:spcPts val="1650"/>
              </a:lnSpc>
              <a:buNone/>
            </a:pPr>
            <a:r>
              <a:rPr lang="en-US" b="0" i="0" dirty="0">
                <a:solidFill>
                  <a:srgbClr val="0F1115"/>
                </a:solidFill>
                <a:effectLst/>
                <a:latin typeface="Menlo"/>
              </a:rPr>
              <a:t>   • Audit logs: Vector&lt;</a:t>
            </a:r>
            <a:r>
              <a:rPr lang="en-US" b="0" i="0" dirty="0" err="1">
                <a:solidFill>
                  <a:srgbClr val="0F1115"/>
                </a:solidFill>
                <a:effectLst/>
                <a:latin typeface="Menlo"/>
              </a:rPr>
              <a:t>LogEntry</a:t>
            </a:r>
            <a:r>
              <a:rPr lang="en-US" b="0" i="0" dirty="0">
                <a:solidFill>
                  <a:srgbClr val="0F1115"/>
                </a:solidFill>
                <a:effectLst/>
                <a:latin typeface="Menlo"/>
              </a:rPr>
              <a:t>&gt; (thread-safe legacy)</a:t>
            </a:r>
          </a:p>
          <a:p>
            <a:pPr algn="l" latinLnBrk="1">
              <a:lnSpc>
                <a:spcPts val="1650"/>
              </a:lnSpc>
              <a:buNone/>
            </a:pPr>
            <a:r>
              <a:rPr lang="en-US" b="0" i="0" dirty="0">
                <a:solidFill>
                  <a:srgbClr val="0F1115"/>
                </a:solidFill>
                <a:effectLst/>
                <a:latin typeface="Menlo"/>
              </a:rPr>
              <a:t>   • Configuration: Properties (extends </a:t>
            </a:r>
            <a:r>
              <a:rPr lang="en-US" b="0" i="0" dirty="0" err="1">
                <a:solidFill>
                  <a:srgbClr val="0F1115"/>
                </a:solidFill>
                <a:effectLst/>
                <a:latin typeface="Menlo"/>
              </a:rPr>
              <a:t>Hashtable</a:t>
            </a:r>
            <a:r>
              <a:rPr lang="en-US" b="0" i="0" dirty="0">
                <a:solidFill>
                  <a:srgbClr val="0F1115"/>
                </a:solidFill>
                <a:effectLst/>
                <a:latin typeface="Menlo"/>
              </a:rPr>
              <a:t>)</a:t>
            </a:r>
          </a:p>
          <a:p>
            <a:pPr algn="l" latinLnBrk="1">
              <a:lnSpc>
                <a:spcPts val="1650"/>
              </a:lnSpc>
              <a:buNone/>
            </a:pPr>
            <a:endParaRPr lang="en-US" b="0" i="0" dirty="0">
              <a:solidFill>
                <a:srgbClr val="0F1115"/>
              </a:solidFill>
              <a:effectLst/>
              <a:latin typeface="Menlo"/>
            </a:endParaRPr>
          </a:p>
          <a:p>
            <a:pPr algn="l" latinLnBrk="1">
              <a:lnSpc>
                <a:spcPts val="1650"/>
              </a:lnSpc>
              <a:buNone/>
            </a:pPr>
            <a:r>
              <a:rPr lang="en-US" b="0" i="0" dirty="0">
                <a:solidFill>
                  <a:srgbClr val="0F1115"/>
                </a:solidFill>
                <a:effectLst/>
                <a:latin typeface="Menlo"/>
              </a:rPr>
              <a:t>4. Gaming Applications:</a:t>
            </a:r>
          </a:p>
          <a:p>
            <a:pPr algn="l" latinLnBrk="1">
              <a:lnSpc>
                <a:spcPts val="1650"/>
              </a:lnSpc>
              <a:buNone/>
            </a:pPr>
            <a:r>
              <a:rPr lang="en-US" b="0" i="0" dirty="0">
                <a:solidFill>
                  <a:srgbClr val="0F1115"/>
                </a:solidFill>
                <a:effectLst/>
                <a:latin typeface="Menlo"/>
              </a:rPr>
              <a:t>   • Player inventory: HashSet&lt;Item&gt; (unique items)</a:t>
            </a:r>
          </a:p>
          <a:p>
            <a:pPr algn="l" latinLnBrk="1">
              <a:lnSpc>
                <a:spcPts val="1650"/>
              </a:lnSpc>
              <a:buNone/>
            </a:pPr>
            <a:r>
              <a:rPr lang="en-US" b="0" i="0" dirty="0">
                <a:solidFill>
                  <a:srgbClr val="0F1115"/>
                </a:solidFill>
                <a:effectLst/>
                <a:latin typeface="Menlo"/>
              </a:rPr>
              <a:t>   • Leaderboard: </a:t>
            </a:r>
            <a:r>
              <a:rPr lang="en-US" b="0" i="0" dirty="0" err="1">
                <a:solidFill>
                  <a:srgbClr val="0F1115"/>
                </a:solidFill>
                <a:effectLst/>
                <a:latin typeface="Menlo"/>
              </a:rPr>
              <a:t>TreeMap</a:t>
            </a:r>
            <a:r>
              <a:rPr lang="en-US" b="0" i="0" dirty="0">
                <a:solidFill>
                  <a:srgbClr val="0F1115"/>
                </a:solidFill>
                <a:effectLst/>
                <a:latin typeface="Menlo"/>
              </a:rPr>
              <a:t>&lt;Score, Player&gt; (sorted scores)</a:t>
            </a:r>
          </a:p>
          <a:p>
            <a:pPr algn="l" latinLnBrk="1">
              <a:lnSpc>
                <a:spcPts val="1650"/>
              </a:lnSpc>
              <a:buNone/>
            </a:pPr>
            <a:r>
              <a:rPr lang="en-US" b="0" i="0" dirty="0">
                <a:solidFill>
                  <a:srgbClr val="0F1115"/>
                </a:solidFill>
                <a:effectLst/>
                <a:latin typeface="Menlo"/>
              </a:rPr>
              <a:t>   • Game objects: </a:t>
            </a:r>
            <a:r>
              <a:rPr lang="en-US" b="0" i="0" dirty="0" err="1">
                <a:solidFill>
                  <a:srgbClr val="0F1115"/>
                </a:solidFill>
                <a:effectLst/>
                <a:latin typeface="Menlo"/>
              </a:rPr>
              <a:t>ArrayList</a:t>
            </a:r>
            <a:r>
              <a:rPr lang="en-US" b="0" i="0" dirty="0">
                <a:solidFill>
                  <a:srgbClr val="0F1115"/>
                </a:solidFill>
                <a:effectLst/>
                <a:latin typeface="Menlo"/>
              </a:rPr>
              <a:t>&lt;</a:t>
            </a:r>
            <a:r>
              <a:rPr lang="en-US" b="0" i="0" dirty="0" err="1">
                <a:solidFill>
                  <a:srgbClr val="0F1115"/>
                </a:solidFill>
                <a:effectLst/>
                <a:latin typeface="Menlo"/>
              </a:rPr>
              <a:t>GameObject</a:t>
            </a:r>
            <a:r>
              <a:rPr lang="en-US" b="0" i="0" dirty="0">
                <a:solidFill>
                  <a:srgbClr val="0F1115"/>
                </a:solidFill>
                <a:effectLst/>
                <a:latin typeface="Menlo"/>
              </a:rPr>
              <a:t>&gt;</a:t>
            </a:r>
          </a:p>
          <a:p>
            <a:pPr algn="l" latinLnBrk="1">
              <a:lnSpc>
                <a:spcPts val="1650"/>
              </a:lnSpc>
              <a:buNone/>
            </a:pPr>
            <a:endParaRPr lang="en-US" b="0" i="0" dirty="0">
              <a:solidFill>
                <a:srgbClr val="0F1115"/>
              </a:solidFill>
              <a:effectLst/>
              <a:latin typeface="Menlo"/>
            </a:endParaRPr>
          </a:p>
          <a:p>
            <a:pPr algn="l" latinLnBrk="1">
              <a:lnSpc>
                <a:spcPts val="1650"/>
              </a:lnSpc>
              <a:buNone/>
            </a:pPr>
            <a:r>
              <a:rPr lang="en-US" b="0" i="0" dirty="0">
                <a:solidFill>
                  <a:srgbClr val="0F1115"/>
                </a:solidFill>
                <a:effectLst/>
                <a:latin typeface="Menlo"/>
              </a:rPr>
              <a:t>5. Financial Systems:</a:t>
            </a:r>
          </a:p>
          <a:p>
            <a:pPr algn="l" latinLnBrk="1">
              <a:lnSpc>
                <a:spcPts val="1650"/>
              </a:lnSpc>
              <a:buNone/>
            </a:pPr>
            <a:r>
              <a:rPr lang="en-US" b="0" i="0" dirty="0">
                <a:solidFill>
                  <a:srgbClr val="0F1115"/>
                </a:solidFill>
                <a:effectLst/>
                <a:latin typeface="Menlo"/>
              </a:rPr>
              <a:t>   • Stock prices: </a:t>
            </a:r>
            <a:r>
              <a:rPr lang="en-US" b="0" i="0" dirty="0" err="1">
                <a:solidFill>
                  <a:srgbClr val="0F1115"/>
                </a:solidFill>
                <a:effectLst/>
                <a:latin typeface="Menlo"/>
              </a:rPr>
              <a:t>TreeMap</a:t>
            </a:r>
            <a:r>
              <a:rPr lang="en-US" b="0" i="0" dirty="0">
                <a:solidFill>
                  <a:srgbClr val="0F1115"/>
                </a:solidFill>
                <a:effectLst/>
                <a:latin typeface="Menlo"/>
              </a:rPr>
              <a:t>&lt;Date, Price&gt; (time-series data)</a:t>
            </a:r>
          </a:p>
          <a:p>
            <a:pPr algn="l" latinLnBrk="1">
              <a:lnSpc>
                <a:spcPts val="1650"/>
              </a:lnSpc>
              <a:buNone/>
            </a:pPr>
            <a:r>
              <a:rPr lang="en-US" b="0" i="0" dirty="0">
                <a:solidFill>
                  <a:srgbClr val="0F1115"/>
                </a:solidFill>
                <a:effectLst/>
                <a:latin typeface="Menlo"/>
              </a:rPr>
              <a:t>   • Transaction queue: </a:t>
            </a:r>
            <a:r>
              <a:rPr lang="en-US" b="0" i="0" dirty="0" err="1">
                <a:solidFill>
                  <a:srgbClr val="0F1115"/>
                </a:solidFill>
                <a:effectLst/>
                <a:latin typeface="Menlo"/>
              </a:rPr>
              <a:t>PriorityBlockingQueue</a:t>
            </a:r>
            <a:r>
              <a:rPr lang="en-US" b="0" i="0" dirty="0">
                <a:solidFill>
                  <a:srgbClr val="0F1115"/>
                </a:solidFill>
                <a:effectLst/>
                <a:latin typeface="Menlo"/>
              </a:rPr>
              <a:t> (thread-safe)</a:t>
            </a:r>
          </a:p>
          <a:p>
            <a:pPr algn="l" latinLnBrk="1">
              <a:lnSpc>
                <a:spcPts val="1650"/>
              </a:lnSpc>
              <a:buNone/>
            </a:pPr>
            <a:r>
              <a:rPr lang="en-US" b="0" i="0" dirty="0">
                <a:solidFill>
                  <a:srgbClr val="0F1115"/>
                </a:solidFill>
                <a:effectLst/>
                <a:latin typeface="Menlo"/>
              </a:rPr>
              <a:t>   • Currency pairs: </a:t>
            </a:r>
            <a:r>
              <a:rPr lang="en-US" b="0" i="0" dirty="0" err="1">
                <a:solidFill>
                  <a:srgbClr val="0F1115"/>
                </a:solidFill>
                <a:effectLst/>
                <a:latin typeface="Menlo"/>
              </a:rPr>
              <a:t>EnumMap</a:t>
            </a:r>
            <a:r>
              <a:rPr lang="en-US" b="0" i="0" dirty="0">
                <a:solidFill>
                  <a:srgbClr val="0F1115"/>
                </a:solidFill>
                <a:effectLst/>
                <a:latin typeface="Menlo"/>
              </a:rPr>
              <a:t>&lt;Currency, Rate&gt;</a:t>
            </a:r>
          </a:p>
        </p:txBody>
      </p:sp>
    </p:spTree>
    <p:extLst>
      <p:ext uri="{BB962C8B-B14F-4D97-AF65-F5344CB8AC3E}">
        <p14:creationId xmlns:p14="http://schemas.microsoft.com/office/powerpoint/2010/main" val="189088428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EC5AFC-6A1C-72E2-D32F-F42C6EAD011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76BCDE5-F70D-3E9E-3077-DBCD8EAFAD41}"/>
              </a:ext>
            </a:extLst>
          </p:cNvPr>
          <p:cNvSpPr txBox="1"/>
          <p:nvPr/>
        </p:nvSpPr>
        <p:spPr>
          <a:xfrm>
            <a:off x="3046344" y="-2378359"/>
            <a:ext cx="6092686" cy="11614718"/>
          </a:xfrm>
          <a:prstGeom prst="rect">
            <a:avLst/>
          </a:prstGeom>
          <a:noFill/>
        </p:spPr>
        <p:txBody>
          <a:bodyPr wrap="square">
            <a:spAutoFit/>
          </a:bodyPr>
          <a:lstStyle/>
          <a:p>
            <a:pPr algn="l">
              <a:lnSpc>
                <a:spcPts val="2400"/>
              </a:lnSpc>
              <a:spcBef>
                <a:spcPts val="2400"/>
              </a:spcBef>
              <a:spcAft>
                <a:spcPts val="1200"/>
              </a:spcAft>
              <a:buNone/>
            </a:pPr>
            <a:r>
              <a:rPr lang="en-US" b="1" dirty="0">
                <a:solidFill>
                  <a:srgbClr val="0F1115"/>
                </a:solidFill>
                <a:effectLst/>
                <a:latin typeface="quote-cjk-patch"/>
              </a:rPr>
              <a:t>Performance Comparison</a:t>
            </a:r>
          </a:p>
          <a:p>
            <a:pPr algn="l">
              <a:lnSpc>
                <a:spcPts val="1350"/>
              </a:lnSpc>
              <a:spcBef>
                <a:spcPts val="1200"/>
              </a:spcBef>
              <a:spcAft>
                <a:spcPts val="857"/>
              </a:spcAft>
              <a:buNone/>
            </a:pPr>
            <a:r>
              <a:rPr lang="en-US" b="0" i="0" dirty="0">
                <a:solidFill>
                  <a:srgbClr val="0F1115"/>
                </a:solidFill>
                <a:effectLst/>
                <a:latin typeface="Menlo"/>
              </a:rPr>
              <a:t>text</a:t>
            </a:r>
            <a:endParaRPr lang="en-US" b="0" i="0" dirty="0">
              <a:solidFill>
                <a:srgbClr val="0F1115"/>
              </a:solidFill>
              <a:effectLst/>
              <a:latin typeface="quote-cjk-patch"/>
            </a:endParaRPr>
          </a:p>
          <a:p>
            <a:pPr algn="l" latinLnBrk="1">
              <a:lnSpc>
                <a:spcPts val="1650"/>
              </a:lnSpc>
              <a:spcBef>
                <a:spcPts val="1200"/>
              </a:spcBef>
              <a:spcAft>
                <a:spcPts val="857"/>
              </a:spcAft>
              <a:buNone/>
            </a:pPr>
            <a:r>
              <a:rPr lang="en-US" b="0" i="0" dirty="0">
                <a:solidFill>
                  <a:srgbClr val="0F1115"/>
                </a:solidFill>
                <a:effectLst/>
                <a:latin typeface="Menlo"/>
              </a:rPr>
              <a:t>TIME COMPLEXITY SUMMARY</a:t>
            </a:r>
          </a:p>
          <a:p>
            <a:pPr algn="l" latinLnBrk="1">
              <a:lnSpc>
                <a:spcPts val="1650"/>
              </a:lnSpc>
              <a:spcBef>
                <a:spcPts val="1200"/>
              </a:spcBef>
              <a:spcAft>
                <a:spcPts val="857"/>
              </a:spcAft>
              <a:buNone/>
            </a:pPr>
            <a:r>
              <a:rPr lang="en-US" b="0" i="0" dirty="0">
                <a:solidFill>
                  <a:srgbClr val="0F1115"/>
                </a:solidFill>
                <a:effectLst/>
                <a:latin typeface="Menlo"/>
              </a:rPr>
              <a:t>────────────────────────────────</a:t>
            </a:r>
          </a:p>
          <a:p>
            <a:pPr algn="l" latinLnBrk="1">
              <a:lnSpc>
                <a:spcPts val="1650"/>
              </a:lnSpc>
              <a:spcBef>
                <a:spcPts val="1200"/>
              </a:spcBef>
              <a:spcAft>
                <a:spcPts val="857"/>
              </a:spcAft>
              <a:buNone/>
            </a:pPr>
            <a:endParaRPr lang="en-US" b="0" i="0" dirty="0">
              <a:solidFill>
                <a:srgbClr val="0F1115"/>
              </a:solidFill>
              <a:effectLst/>
              <a:latin typeface="Menlo"/>
            </a:endParaRPr>
          </a:p>
          <a:p>
            <a:pPr algn="l" latinLnBrk="1">
              <a:lnSpc>
                <a:spcPts val="1650"/>
              </a:lnSpc>
              <a:spcBef>
                <a:spcPts val="1200"/>
              </a:spcBef>
              <a:spcAft>
                <a:spcPts val="857"/>
              </a:spcAft>
              <a:buNone/>
            </a:pPr>
            <a:r>
              <a:rPr lang="en-US" b="0" i="0" dirty="0" err="1">
                <a:solidFill>
                  <a:srgbClr val="0F1115"/>
                </a:solidFill>
                <a:effectLst/>
                <a:latin typeface="Menlo"/>
              </a:rPr>
              <a:t>ArrayList</a:t>
            </a:r>
            <a:r>
              <a:rPr lang="en-US" b="0" i="0" dirty="0">
                <a:solidFill>
                  <a:srgbClr val="0F1115"/>
                </a:solidFill>
                <a:effectLst/>
                <a:latin typeface="Menlo"/>
              </a:rPr>
              <a:t>:</a:t>
            </a:r>
          </a:p>
          <a:p>
            <a:pPr algn="l" latinLnBrk="1">
              <a:lnSpc>
                <a:spcPts val="1650"/>
              </a:lnSpc>
              <a:spcBef>
                <a:spcPts val="1200"/>
              </a:spcBef>
              <a:spcAft>
                <a:spcPts val="857"/>
              </a:spcAft>
              <a:buNone/>
            </a:pPr>
            <a:r>
              <a:rPr lang="en-US" b="0" i="0" dirty="0">
                <a:solidFill>
                  <a:srgbClr val="0F1115"/>
                </a:solidFill>
                <a:effectLst/>
                <a:latin typeface="Menlo"/>
              </a:rPr>
              <a:t>• get(index): O(1)</a:t>
            </a:r>
          </a:p>
          <a:p>
            <a:pPr algn="l" latinLnBrk="1">
              <a:lnSpc>
                <a:spcPts val="1650"/>
              </a:lnSpc>
              <a:spcBef>
                <a:spcPts val="1200"/>
              </a:spcBef>
              <a:spcAft>
                <a:spcPts val="857"/>
              </a:spcAft>
              <a:buNone/>
            </a:pPr>
            <a:r>
              <a:rPr lang="en-US" b="0" i="0" dirty="0">
                <a:solidFill>
                  <a:srgbClr val="0F1115"/>
                </a:solidFill>
                <a:effectLst/>
                <a:latin typeface="Menlo"/>
              </a:rPr>
              <a:t>• add(element): O(1) amortized</a:t>
            </a:r>
          </a:p>
          <a:p>
            <a:pPr algn="l" latinLnBrk="1">
              <a:lnSpc>
                <a:spcPts val="1650"/>
              </a:lnSpc>
              <a:spcBef>
                <a:spcPts val="1200"/>
              </a:spcBef>
              <a:spcAft>
                <a:spcPts val="857"/>
              </a:spcAft>
              <a:buNone/>
            </a:pPr>
            <a:r>
              <a:rPr lang="en-US" b="0" i="0" dirty="0">
                <a:solidFill>
                  <a:srgbClr val="0F1115"/>
                </a:solidFill>
                <a:effectLst/>
                <a:latin typeface="Menlo"/>
              </a:rPr>
              <a:t>• add(index, element): O(n)</a:t>
            </a:r>
          </a:p>
          <a:p>
            <a:pPr algn="l" latinLnBrk="1">
              <a:lnSpc>
                <a:spcPts val="1650"/>
              </a:lnSpc>
              <a:spcBef>
                <a:spcPts val="1200"/>
              </a:spcBef>
              <a:spcAft>
                <a:spcPts val="857"/>
              </a:spcAft>
              <a:buNone/>
            </a:pPr>
            <a:r>
              <a:rPr lang="en-US" b="0" i="0" dirty="0">
                <a:solidFill>
                  <a:srgbClr val="0F1115"/>
                </a:solidFill>
                <a:effectLst/>
                <a:latin typeface="Menlo"/>
              </a:rPr>
              <a:t>• remove(index): O(n)</a:t>
            </a:r>
          </a:p>
          <a:p>
            <a:pPr algn="l" latinLnBrk="1">
              <a:lnSpc>
                <a:spcPts val="1650"/>
              </a:lnSpc>
              <a:spcBef>
                <a:spcPts val="1200"/>
              </a:spcBef>
              <a:spcAft>
                <a:spcPts val="857"/>
              </a:spcAft>
              <a:buNone/>
            </a:pPr>
            <a:endParaRPr lang="en-US" b="0" i="0" dirty="0">
              <a:solidFill>
                <a:srgbClr val="0F1115"/>
              </a:solidFill>
              <a:effectLst/>
              <a:latin typeface="Menlo"/>
            </a:endParaRPr>
          </a:p>
          <a:p>
            <a:pPr algn="l" latinLnBrk="1">
              <a:lnSpc>
                <a:spcPts val="1650"/>
              </a:lnSpc>
              <a:spcBef>
                <a:spcPts val="1200"/>
              </a:spcBef>
              <a:spcAft>
                <a:spcPts val="857"/>
              </a:spcAft>
              <a:buNone/>
            </a:pPr>
            <a:r>
              <a:rPr lang="en-US" b="0" i="0" dirty="0">
                <a:solidFill>
                  <a:srgbClr val="0F1115"/>
                </a:solidFill>
                <a:effectLst/>
                <a:latin typeface="Menlo"/>
              </a:rPr>
              <a:t>LinkedList:</a:t>
            </a:r>
          </a:p>
          <a:p>
            <a:pPr algn="l" latinLnBrk="1">
              <a:lnSpc>
                <a:spcPts val="1650"/>
              </a:lnSpc>
              <a:spcBef>
                <a:spcPts val="1200"/>
              </a:spcBef>
              <a:spcAft>
                <a:spcPts val="857"/>
              </a:spcAft>
              <a:buNone/>
            </a:pPr>
            <a:r>
              <a:rPr lang="en-US" b="0" i="0" dirty="0">
                <a:solidFill>
                  <a:srgbClr val="0F1115"/>
                </a:solidFill>
                <a:effectLst/>
                <a:latin typeface="Menlo"/>
              </a:rPr>
              <a:t>• get(index): O(n)</a:t>
            </a:r>
          </a:p>
          <a:p>
            <a:pPr algn="l" latinLnBrk="1">
              <a:lnSpc>
                <a:spcPts val="1650"/>
              </a:lnSpc>
              <a:spcBef>
                <a:spcPts val="1200"/>
              </a:spcBef>
              <a:spcAft>
                <a:spcPts val="857"/>
              </a:spcAft>
              <a:buNone/>
            </a:pPr>
            <a:r>
              <a:rPr lang="en-US" b="0" i="0" dirty="0">
                <a:solidFill>
                  <a:srgbClr val="0F1115"/>
                </a:solidFill>
                <a:effectLst/>
                <a:latin typeface="Menlo"/>
              </a:rPr>
              <a:t>• add(element): O(1)</a:t>
            </a:r>
          </a:p>
          <a:p>
            <a:pPr algn="l" latinLnBrk="1">
              <a:lnSpc>
                <a:spcPts val="1650"/>
              </a:lnSpc>
              <a:spcBef>
                <a:spcPts val="1200"/>
              </a:spcBef>
              <a:spcAft>
                <a:spcPts val="857"/>
              </a:spcAft>
              <a:buNone/>
            </a:pPr>
            <a:r>
              <a:rPr lang="en-US" b="0" i="0" dirty="0">
                <a:solidFill>
                  <a:srgbClr val="0F1115"/>
                </a:solidFill>
                <a:effectLst/>
                <a:latin typeface="Menlo"/>
              </a:rPr>
              <a:t>• add(index, element): O(n)</a:t>
            </a:r>
          </a:p>
          <a:p>
            <a:pPr algn="l" latinLnBrk="1">
              <a:lnSpc>
                <a:spcPts val="1650"/>
              </a:lnSpc>
              <a:spcBef>
                <a:spcPts val="1200"/>
              </a:spcBef>
              <a:spcAft>
                <a:spcPts val="857"/>
              </a:spcAft>
              <a:buNone/>
            </a:pPr>
            <a:r>
              <a:rPr lang="en-US" b="0" i="0" dirty="0">
                <a:solidFill>
                  <a:srgbClr val="0F1115"/>
                </a:solidFill>
                <a:effectLst/>
                <a:latin typeface="Menlo"/>
              </a:rPr>
              <a:t>• remove(index): O(n)</a:t>
            </a:r>
          </a:p>
          <a:p>
            <a:pPr algn="l" latinLnBrk="1">
              <a:lnSpc>
                <a:spcPts val="1650"/>
              </a:lnSpc>
              <a:spcBef>
                <a:spcPts val="1200"/>
              </a:spcBef>
              <a:spcAft>
                <a:spcPts val="857"/>
              </a:spcAft>
              <a:buNone/>
            </a:pPr>
            <a:endParaRPr lang="en-US" b="0" i="0" dirty="0">
              <a:solidFill>
                <a:srgbClr val="0F1115"/>
              </a:solidFill>
              <a:effectLst/>
              <a:latin typeface="Menlo"/>
            </a:endParaRPr>
          </a:p>
          <a:p>
            <a:pPr algn="l" latinLnBrk="1">
              <a:lnSpc>
                <a:spcPts val="1650"/>
              </a:lnSpc>
              <a:spcBef>
                <a:spcPts val="1200"/>
              </a:spcBef>
              <a:spcAft>
                <a:spcPts val="857"/>
              </a:spcAft>
              <a:buNone/>
            </a:pPr>
            <a:r>
              <a:rPr lang="en-US" b="0" i="0" dirty="0">
                <a:solidFill>
                  <a:srgbClr val="0F1115"/>
                </a:solidFill>
                <a:effectLst/>
                <a:latin typeface="Menlo"/>
              </a:rPr>
              <a:t>HashSet/HashMap:</a:t>
            </a:r>
          </a:p>
          <a:p>
            <a:pPr algn="l" latinLnBrk="1">
              <a:lnSpc>
                <a:spcPts val="1650"/>
              </a:lnSpc>
              <a:spcBef>
                <a:spcPts val="1200"/>
              </a:spcBef>
              <a:spcAft>
                <a:spcPts val="857"/>
              </a:spcAft>
              <a:buNone/>
            </a:pPr>
            <a:r>
              <a:rPr lang="en-US" b="0" i="0" dirty="0">
                <a:solidFill>
                  <a:srgbClr val="0F1115"/>
                </a:solidFill>
                <a:effectLst/>
                <a:latin typeface="Menlo"/>
              </a:rPr>
              <a:t>• add/put: O(1)</a:t>
            </a:r>
          </a:p>
          <a:p>
            <a:pPr algn="l" latinLnBrk="1">
              <a:lnSpc>
                <a:spcPts val="1650"/>
              </a:lnSpc>
              <a:spcBef>
                <a:spcPts val="1200"/>
              </a:spcBef>
              <a:spcAft>
                <a:spcPts val="857"/>
              </a:spcAft>
              <a:buNone/>
            </a:pPr>
            <a:r>
              <a:rPr lang="en-US" b="0" i="0" dirty="0">
                <a:solidFill>
                  <a:srgbClr val="0F1115"/>
                </a:solidFill>
                <a:effectLst/>
                <a:latin typeface="Menlo"/>
              </a:rPr>
              <a:t>• remove: O(1)</a:t>
            </a:r>
          </a:p>
          <a:p>
            <a:pPr algn="l" latinLnBrk="1">
              <a:lnSpc>
                <a:spcPts val="1650"/>
              </a:lnSpc>
              <a:spcBef>
                <a:spcPts val="1200"/>
              </a:spcBef>
              <a:spcAft>
                <a:spcPts val="857"/>
              </a:spcAft>
              <a:buNone/>
            </a:pPr>
            <a:r>
              <a:rPr lang="en-US" b="0" i="0" dirty="0">
                <a:solidFill>
                  <a:srgbClr val="0F1115"/>
                </a:solidFill>
                <a:effectLst/>
                <a:latin typeface="Menlo"/>
              </a:rPr>
              <a:t>• contains/get: O(1)</a:t>
            </a:r>
          </a:p>
          <a:p>
            <a:pPr algn="l" latinLnBrk="1">
              <a:lnSpc>
                <a:spcPts val="1650"/>
              </a:lnSpc>
              <a:spcBef>
                <a:spcPts val="1200"/>
              </a:spcBef>
              <a:spcAft>
                <a:spcPts val="857"/>
              </a:spcAft>
              <a:buNone/>
            </a:pPr>
            <a:endParaRPr lang="en-US" b="0" i="0" dirty="0">
              <a:solidFill>
                <a:srgbClr val="0F1115"/>
              </a:solidFill>
              <a:effectLst/>
              <a:latin typeface="Menlo"/>
            </a:endParaRPr>
          </a:p>
          <a:p>
            <a:pPr algn="l" latinLnBrk="1">
              <a:lnSpc>
                <a:spcPts val="1650"/>
              </a:lnSpc>
              <a:spcBef>
                <a:spcPts val="1200"/>
              </a:spcBef>
              <a:spcAft>
                <a:spcPts val="857"/>
              </a:spcAft>
              <a:buNone/>
            </a:pPr>
            <a:r>
              <a:rPr lang="en-US" b="0" i="0" dirty="0" err="1">
                <a:solidFill>
                  <a:srgbClr val="0F1115"/>
                </a:solidFill>
                <a:effectLst/>
                <a:latin typeface="Menlo"/>
              </a:rPr>
              <a:t>TreeSet</a:t>
            </a:r>
            <a:r>
              <a:rPr lang="en-US" b="0" i="0" dirty="0">
                <a:solidFill>
                  <a:srgbClr val="0F1115"/>
                </a:solidFill>
                <a:effectLst/>
                <a:latin typeface="Menlo"/>
              </a:rPr>
              <a:t>/</a:t>
            </a:r>
            <a:r>
              <a:rPr lang="en-US" b="0" i="0" dirty="0" err="1">
                <a:solidFill>
                  <a:srgbClr val="0F1115"/>
                </a:solidFill>
                <a:effectLst/>
                <a:latin typeface="Menlo"/>
              </a:rPr>
              <a:t>TreeMap</a:t>
            </a:r>
            <a:r>
              <a:rPr lang="en-US" b="0" i="0" dirty="0">
                <a:solidFill>
                  <a:srgbClr val="0F1115"/>
                </a:solidFill>
                <a:effectLst/>
                <a:latin typeface="Menlo"/>
              </a:rPr>
              <a:t>:</a:t>
            </a:r>
          </a:p>
          <a:p>
            <a:pPr algn="l" latinLnBrk="1">
              <a:lnSpc>
                <a:spcPts val="1650"/>
              </a:lnSpc>
              <a:spcBef>
                <a:spcPts val="1200"/>
              </a:spcBef>
              <a:spcAft>
                <a:spcPts val="857"/>
              </a:spcAft>
              <a:buNone/>
            </a:pPr>
            <a:r>
              <a:rPr lang="en-US" b="0" i="0" dirty="0">
                <a:solidFill>
                  <a:srgbClr val="0F1115"/>
                </a:solidFill>
                <a:effectLst/>
                <a:latin typeface="Menlo"/>
              </a:rPr>
              <a:t>• All operations: O(log n)</a:t>
            </a:r>
          </a:p>
        </p:txBody>
      </p:sp>
    </p:spTree>
    <p:extLst>
      <p:ext uri="{BB962C8B-B14F-4D97-AF65-F5344CB8AC3E}">
        <p14:creationId xmlns:p14="http://schemas.microsoft.com/office/powerpoint/2010/main" val="318791267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36988B-FD68-70D9-FBA8-BFAC7A1AE77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566B2B4-2BC6-8E76-3A4A-224EB7B9F106}"/>
              </a:ext>
            </a:extLst>
          </p:cNvPr>
          <p:cNvSpPr txBox="1"/>
          <p:nvPr/>
        </p:nvSpPr>
        <p:spPr>
          <a:xfrm>
            <a:off x="3046344" y="2266503"/>
            <a:ext cx="6092686" cy="2324995"/>
          </a:xfrm>
          <a:prstGeom prst="rect">
            <a:avLst/>
          </a:prstGeom>
          <a:noFill/>
        </p:spPr>
        <p:txBody>
          <a:bodyPr wrap="square">
            <a:spAutoFit/>
          </a:bodyPr>
          <a:lstStyle/>
          <a:p>
            <a:pPr algn="l">
              <a:spcBef>
                <a:spcPts val="1200"/>
              </a:spcBef>
              <a:spcAft>
                <a:spcPts val="1200"/>
              </a:spcAft>
              <a:buNone/>
            </a:pPr>
            <a:r>
              <a:rPr lang="en-US" b="1" i="0" dirty="0">
                <a:solidFill>
                  <a:srgbClr val="0F1115"/>
                </a:solidFill>
                <a:effectLst/>
                <a:latin typeface="quote-cjk-patch"/>
              </a:rPr>
              <a:t>Memory Consideration:</a:t>
            </a:r>
            <a:endParaRPr lang="en-US" b="0" i="0" dirty="0">
              <a:solidFill>
                <a:srgbClr val="0F1115"/>
              </a:solidFill>
              <a:effectLst/>
              <a:latin typeface="quote-cjk-patch"/>
            </a:endParaRPr>
          </a:p>
          <a:p>
            <a:pPr algn="l">
              <a:lnSpc>
                <a:spcPts val="1350"/>
              </a:lnSpc>
              <a:spcBef>
                <a:spcPts val="1200"/>
              </a:spcBef>
              <a:spcAft>
                <a:spcPts val="857"/>
              </a:spcAft>
              <a:buNone/>
            </a:pPr>
            <a:r>
              <a:rPr lang="en-US" b="0" i="0" dirty="0">
                <a:solidFill>
                  <a:srgbClr val="0F1115"/>
                </a:solidFill>
                <a:effectLst/>
                <a:latin typeface="Menlo"/>
              </a:rPr>
              <a:t>text</a:t>
            </a:r>
            <a:endParaRPr lang="en-US" b="0" i="0" dirty="0">
              <a:solidFill>
                <a:srgbClr val="0F1115"/>
              </a:solidFill>
              <a:effectLst/>
              <a:latin typeface="quote-cjk-patch"/>
            </a:endParaRPr>
          </a:p>
          <a:p>
            <a:pPr algn="l" latinLnBrk="1">
              <a:lnSpc>
                <a:spcPts val="1650"/>
              </a:lnSpc>
              <a:spcBef>
                <a:spcPts val="1200"/>
              </a:spcBef>
              <a:spcAft>
                <a:spcPts val="857"/>
              </a:spcAft>
              <a:buNone/>
            </a:pPr>
            <a:r>
              <a:rPr lang="en-US" b="0" i="0" dirty="0" err="1">
                <a:solidFill>
                  <a:srgbClr val="0F1115"/>
                </a:solidFill>
                <a:effectLst/>
                <a:latin typeface="Menlo"/>
              </a:rPr>
              <a:t>ArrayList</a:t>
            </a:r>
            <a:r>
              <a:rPr lang="en-US" b="0" i="0" dirty="0">
                <a:solidFill>
                  <a:srgbClr val="0F1115"/>
                </a:solidFill>
                <a:effectLst/>
                <a:latin typeface="Menlo"/>
              </a:rPr>
              <a:t>: Less memory (contiguous, no pointers)</a:t>
            </a:r>
          </a:p>
          <a:p>
            <a:pPr algn="l" latinLnBrk="1">
              <a:lnSpc>
                <a:spcPts val="1650"/>
              </a:lnSpc>
              <a:spcBef>
                <a:spcPts val="1200"/>
              </a:spcBef>
              <a:spcAft>
                <a:spcPts val="857"/>
              </a:spcAft>
              <a:buNone/>
            </a:pPr>
            <a:r>
              <a:rPr lang="en-US" b="0" i="0" dirty="0">
                <a:solidFill>
                  <a:srgbClr val="0F1115"/>
                </a:solidFill>
                <a:effectLst/>
                <a:latin typeface="Menlo"/>
              </a:rPr>
              <a:t>LinkedList: More memory (extra for pointers)</a:t>
            </a:r>
          </a:p>
          <a:p>
            <a:pPr algn="l" latinLnBrk="1">
              <a:lnSpc>
                <a:spcPts val="1650"/>
              </a:lnSpc>
              <a:spcBef>
                <a:spcPts val="1200"/>
              </a:spcBef>
              <a:spcAft>
                <a:spcPts val="857"/>
              </a:spcAft>
              <a:buNone/>
            </a:pPr>
            <a:r>
              <a:rPr lang="en-US" b="0" i="0" dirty="0">
                <a:solidFill>
                  <a:srgbClr val="0F1115"/>
                </a:solidFill>
                <a:effectLst/>
                <a:latin typeface="Menlo"/>
              </a:rPr>
              <a:t>HashMap: More memory (load factor, buckets)</a:t>
            </a:r>
          </a:p>
        </p:txBody>
      </p:sp>
    </p:spTree>
    <p:extLst>
      <p:ext uri="{BB962C8B-B14F-4D97-AF65-F5344CB8AC3E}">
        <p14:creationId xmlns:p14="http://schemas.microsoft.com/office/powerpoint/2010/main" val="53808191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9FBDFA-F20B-4A11-41DE-049849A5B35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10CC647-E2AE-6B18-8A01-70D4FB7F722E}"/>
              </a:ext>
            </a:extLst>
          </p:cNvPr>
          <p:cNvSpPr txBox="1"/>
          <p:nvPr/>
        </p:nvSpPr>
        <p:spPr>
          <a:xfrm>
            <a:off x="3046344" y="-3596641"/>
            <a:ext cx="6092686" cy="14051282"/>
          </a:xfrm>
          <a:prstGeom prst="rect">
            <a:avLst/>
          </a:prstGeom>
          <a:noFill/>
        </p:spPr>
        <p:txBody>
          <a:bodyPr wrap="square">
            <a:spAutoFit/>
          </a:bodyPr>
          <a:lstStyle/>
          <a:p>
            <a:pPr algn="l">
              <a:lnSpc>
                <a:spcPts val="2400"/>
              </a:lnSpc>
              <a:spcBef>
                <a:spcPts val="2400"/>
              </a:spcBef>
              <a:spcAft>
                <a:spcPts val="1200"/>
              </a:spcAft>
              <a:buNone/>
            </a:pPr>
            <a:r>
              <a:rPr lang="en-US" b="1" dirty="0">
                <a:solidFill>
                  <a:srgbClr val="0F1115"/>
                </a:solidFill>
                <a:effectLst/>
                <a:latin typeface="quote-cjk-patch"/>
              </a:rPr>
              <a:t> Best Practices</a:t>
            </a:r>
          </a:p>
          <a:p>
            <a:pPr algn="l">
              <a:lnSpc>
                <a:spcPts val="1350"/>
              </a:lnSpc>
              <a:spcBef>
                <a:spcPts val="1200"/>
              </a:spcBef>
              <a:spcAft>
                <a:spcPts val="857"/>
              </a:spcAft>
              <a:buNone/>
            </a:pPr>
            <a:r>
              <a:rPr lang="en-US" b="0" i="0" dirty="0">
                <a:solidFill>
                  <a:srgbClr val="0F1115"/>
                </a:solidFill>
                <a:effectLst/>
                <a:latin typeface="Menlo"/>
              </a:rPr>
              <a:t>text</a:t>
            </a:r>
            <a:endParaRPr lang="en-US" b="0" i="0" dirty="0">
              <a:solidFill>
                <a:srgbClr val="0F1115"/>
              </a:solidFill>
              <a:effectLst/>
              <a:latin typeface="quote-cjk-patch"/>
            </a:endParaRPr>
          </a:p>
          <a:p>
            <a:pPr algn="l" latinLnBrk="1">
              <a:lnSpc>
                <a:spcPts val="1650"/>
              </a:lnSpc>
              <a:spcBef>
                <a:spcPts val="1200"/>
              </a:spcBef>
              <a:spcAft>
                <a:spcPts val="857"/>
              </a:spcAft>
              <a:buNone/>
            </a:pPr>
            <a:r>
              <a:rPr lang="en-US" b="0" i="0" dirty="0">
                <a:solidFill>
                  <a:srgbClr val="0F1115"/>
                </a:solidFill>
                <a:effectLst/>
                <a:latin typeface="Menlo"/>
              </a:rPr>
              <a:t>COLLECTIONS BEST PRACTICES</a:t>
            </a:r>
          </a:p>
          <a:p>
            <a:pPr algn="l" latinLnBrk="1">
              <a:lnSpc>
                <a:spcPts val="1650"/>
              </a:lnSpc>
              <a:spcBef>
                <a:spcPts val="1200"/>
              </a:spcBef>
              <a:spcAft>
                <a:spcPts val="857"/>
              </a:spcAft>
              <a:buNone/>
            </a:pPr>
            <a:r>
              <a:rPr lang="en-US" b="0" i="0" dirty="0">
                <a:solidFill>
                  <a:srgbClr val="0F1115"/>
                </a:solidFill>
                <a:effectLst/>
                <a:latin typeface="Menlo"/>
              </a:rPr>
              <a:t>────────────────────────────</a:t>
            </a:r>
          </a:p>
          <a:p>
            <a:pPr algn="l" latinLnBrk="1">
              <a:lnSpc>
                <a:spcPts val="1650"/>
              </a:lnSpc>
              <a:spcBef>
                <a:spcPts val="1200"/>
              </a:spcBef>
              <a:spcAft>
                <a:spcPts val="857"/>
              </a:spcAft>
              <a:buNone/>
            </a:pPr>
            <a:r>
              <a:rPr lang="en-US" b="0" i="0" dirty="0">
                <a:solidFill>
                  <a:srgbClr val="0F1115"/>
                </a:solidFill>
                <a:effectLst/>
                <a:latin typeface="Menlo"/>
              </a:rPr>
              <a:t>1. Use Interface types in declarations</a:t>
            </a:r>
          </a:p>
          <a:p>
            <a:pPr algn="l" latinLnBrk="1">
              <a:lnSpc>
                <a:spcPts val="1650"/>
              </a:lnSpc>
              <a:spcBef>
                <a:spcPts val="1200"/>
              </a:spcBef>
              <a:spcAft>
                <a:spcPts val="857"/>
              </a:spcAft>
              <a:buNone/>
            </a:pPr>
            <a:r>
              <a:rPr lang="en-US" b="0" i="0" dirty="0">
                <a:solidFill>
                  <a:srgbClr val="0F1115"/>
                </a:solidFill>
                <a:effectLst/>
                <a:latin typeface="Menlo"/>
              </a:rPr>
              <a:t>   List&lt;String&gt; list = new </a:t>
            </a:r>
            <a:r>
              <a:rPr lang="en-US" b="0" i="0" dirty="0" err="1">
                <a:solidFill>
                  <a:srgbClr val="0F1115"/>
                </a:solidFill>
                <a:effectLst/>
                <a:latin typeface="Menlo"/>
              </a:rPr>
              <a:t>ArrayList</a:t>
            </a:r>
            <a:r>
              <a:rPr lang="en-US" b="0" i="0" dirty="0">
                <a:solidFill>
                  <a:srgbClr val="0F1115"/>
                </a:solidFill>
                <a:effectLst/>
                <a:latin typeface="Menlo"/>
              </a:rPr>
              <a:t>&lt;&gt;(); ✓</a:t>
            </a:r>
          </a:p>
          <a:p>
            <a:pPr algn="l" latinLnBrk="1">
              <a:lnSpc>
                <a:spcPts val="1650"/>
              </a:lnSpc>
              <a:spcBef>
                <a:spcPts val="1200"/>
              </a:spcBef>
              <a:spcAft>
                <a:spcPts val="857"/>
              </a:spcAft>
              <a:buNone/>
            </a:pPr>
            <a:r>
              <a:rPr lang="en-US" b="0" i="0" dirty="0">
                <a:solidFill>
                  <a:srgbClr val="0F1115"/>
                </a:solidFill>
                <a:effectLst/>
                <a:latin typeface="Menlo"/>
              </a:rPr>
              <a:t>   </a:t>
            </a:r>
            <a:r>
              <a:rPr lang="en-US" b="0" i="0" dirty="0" err="1">
                <a:solidFill>
                  <a:srgbClr val="0F1115"/>
                </a:solidFill>
                <a:effectLst/>
                <a:latin typeface="Menlo"/>
              </a:rPr>
              <a:t>ArrayList</a:t>
            </a:r>
            <a:r>
              <a:rPr lang="en-US" b="0" i="0" dirty="0">
                <a:solidFill>
                  <a:srgbClr val="0F1115"/>
                </a:solidFill>
                <a:effectLst/>
                <a:latin typeface="Menlo"/>
              </a:rPr>
              <a:t>&lt;String&gt; list = new </a:t>
            </a:r>
            <a:r>
              <a:rPr lang="en-US" b="0" i="0" dirty="0" err="1">
                <a:solidFill>
                  <a:srgbClr val="0F1115"/>
                </a:solidFill>
                <a:effectLst/>
                <a:latin typeface="Menlo"/>
              </a:rPr>
              <a:t>ArrayList</a:t>
            </a:r>
            <a:r>
              <a:rPr lang="en-US" b="0" i="0" dirty="0">
                <a:solidFill>
                  <a:srgbClr val="0F1115"/>
                </a:solidFill>
                <a:effectLst/>
                <a:latin typeface="Menlo"/>
              </a:rPr>
              <a:t>&lt;&gt;(); ✗</a:t>
            </a:r>
          </a:p>
          <a:p>
            <a:pPr algn="l" latinLnBrk="1">
              <a:lnSpc>
                <a:spcPts val="1650"/>
              </a:lnSpc>
              <a:spcBef>
                <a:spcPts val="1200"/>
              </a:spcBef>
              <a:spcAft>
                <a:spcPts val="857"/>
              </a:spcAft>
              <a:buNone/>
            </a:pPr>
            <a:endParaRPr lang="en-US" b="0" i="0" dirty="0">
              <a:solidFill>
                <a:srgbClr val="0F1115"/>
              </a:solidFill>
              <a:effectLst/>
              <a:latin typeface="Menlo"/>
            </a:endParaRPr>
          </a:p>
          <a:p>
            <a:pPr algn="l" latinLnBrk="1">
              <a:lnSpc>
                <a:spcPts val="1650"/>
              </a:lnSpc>
              <a:spcBef>
                <a:spcPts val="1200"/>
              </a:spcBef>
              <a:spcAft>
                <a:spcPts val="857"/>
              </a:spcAft>
              <a:buNone/>
            </a:pPr>
            <a:r>
              <a:rPr lang="en-US" b="0" i="0" dirty="0">
                <a:solidFill>
                  <a:srgbClr val="0F1115"/>
                </a:solidFill>
                <a:effectLst/>
                <a:latin typeface="Menlo"/>
              </a:rPr>
              <a:t>2. Specify initial capacity for large collections</a:t>
            </a:r>
          </a:p>
          <a:p>
            <a:pPr algn="l" latinLnBrk="1">
              <a:lnSpc>
                <a:spcPts val="1650"/>
              </a:lnSpc>
              <a:spcBef>
                <a:spcPts val="1200"/>
              </a:spcBef>
              <a:spcAft>
                <a:spcPts val="857"/>
              </a:spcAft>
              <a:buNone/>
            </a:pPr>
            <a:r>
              <a:rPr lang="en-US" b="0" i="0" dirty="0">
                <a:solidFill>
                  <a:srgbClr val="0F1115"/>
                </a:solidFill>
                <a:effectLst/>
                <a:latin typeface="Menlo"/>
              </a:rPr>
              <a:t>   new </a:t>
            </a:r>
            <a:r>
              <a:rPr lang="en-US" b="0" i="0" dirty="0" err="1">
                <a:solidFill>
                  <a:srgbClr val="0F1115"/>
                </a:solidFill>
                <a:effectLst/>
                <a:latin typeface="Menlo"/>
              </a:rPr>
              <a:t>ArrayList</a:t>
            </a:r>
            <a:r>
              <a:rPr lang="en-US" b="0" i="0" dirty="0">
                <a:solidFill>
                  <a:srgbClr val="0F1115"/>
                </a:solidFill>
                <a:effectLst/>
                <a:latin typeface="Menlo"/>
              </a:rPr>
              <a:t>&lt;&gt;(1000);</a:t>
            </a:r>
          </a:p>
          <a:p>
            <a:pPr algn="l" latinLnBrk="1">
              <a:lnSpc>
                <a:spcPts val="1650"/>
              </a:lnSpc>
              <a:spcBef>
                <a:spcPts val="1200"/>
              </a:spcBef>
              <a:spcAft>
                <a:spcPts val="857"/>
              </a:spcAft>
              <a:buNone/>
            </a:pPr>
            <a:endParaRPr lang="en-US" b="0" i="0" dirty="0">
              <a:solidFill>
                <a:srgbClr val="0F1115"/>
              </a:solidFill>
              <a:effectLst/>
              <a:latin typeface="Menlo"/>
            </a:endParaRPr>
          </a:p>
          <a:p>
            <a:pPr algn="l" latinLnBrk="1">
              <a:lnSpc>
                <a:spcPts val="1650"/>
              </a:lnSpc>
              <a:spcBef>
                <a:spcPts val="1200"/>
              </a:spcBef>
              <a:spcAft>
                <a:spcPts val="857"/>
              </a:spcAft>
              <a:buNone/>
            </a:pPr>
            <a:r>
              <a:rPr lang="en-US" b="0" i="0" dirty="0">
                <a:solidFill>
                  <a:srgbClr val="0F1115"/>
                </a:solidFill>
                <a:effectLst/>
                <a:latin typeface="Menlo"/>
              </a:rPr>
              <a:t>3. Use Collections utility methods</a:t>
            </a:r>
          </a:p>
          <a:p>
            <a:pPr algn="l" latinLnBrk="1">
              <a:lnSpc>
                <a:spcPts val="1650"/>
              </a:lnSpc>
              <a:spcBef>
                <a:spcPts val="1200"/>
              </a:spcBef>
              <a:spcAft>
                <a:spcPts val="857"/>
              </a:spcAft>
              <a:buNone/>
            </a:pPr>
            <a:r>
              <a:rPr lang="en-US" b="0" i="0" dirty="0">
                <a:solidFill>
                  <a:srgbClr val="0F1115"/>
                </a:solidFill>
                <a:effectLst/>
                <a:latin typeface="Menlo"/>
              </a:rPr>
              <a:t>   </a:t>
            </a:r>
            <a:r>
              <a:rPr lang="en-US" b="0" i="0" dirty="0" err="1">
                <a:solidFill>
                  <a:srgbClr val="0F1115"/>
                </a:solidFill>
                <a:effectLst/>
                <a:latin typeface="Menlo"/>
              </a:rPr>
              <a:t>Collections.sort</a:t>
            </a:r>
            <a:r>
              <a:rPr lang="en-US" b="0" i="0" dirty="0">
                <a:solidFill>
                  <a:srgbClr val="0F1115"/>
                </a:solidFill>
                <a:effectLst/>
                <a:latin typeface="Menlo"/>
              </a:rPr>
              <a:t>() instead of manual sorting</a:t>
            </a:r>
          </a:p>
          <a:p>
            <a:pPr algn="l" latinLnBrk="1">
              <a:lnSpc>
                <a:spcPts val="1650"/>
              </a:lnSpc>
              <a:spcBef>
                <a:spcPts val="1200"/>
              </a:spcBef>
              <a:spcAft>
                <a:spcPts val="857"/>
              </a:spcAft>
              <a:buNone/>
            </a:pPr>
            <a:endParaRPr lang="en-US" b="0" i="0" dirty="0">
              <a:solidFill>
                <a:srgbClr val="0F1115"/>
              </a:solidFill>
              <a:effectLst/>
              <a:latin typeface="Menlo"/>
            </a:endParaRPr>
          </a:p>
          <a:p>
            <a:pPr algn="l" latinLnBrk="1">
              <a:lnSpc>
                <a:spcPts val="1650"/>
              </a:lnSpc>
              <a:spcBef>
                <a:spcPts val="1200"/>
              </a:spcBef>
              <a:spcAft>
                <a:spcPts val="857"/>
              </a:spcAft>
              <a:buNone/>
            </a:pPr>
            <a:r>
              <a:rPr lang="en-US" b="0" i="0" dirty="0">
                <a:solidFill>
                  <a:srgbClr val="0F1115"/>
                </a:solidFill>
                <a:effectLst/>
                <a:latin typeface="Menlo"/>
              </a:rPr>
              <a:t>4. Choose right collection based on needs:</a:t>
            </a:r>
          </a:p>
          <a:p>
            <a:pPr algn="l" latinLnBrk="1">
              <a:lnSpc>
                <a:spcPts val="1650"/>
              </a:lnSpc>
              <a:spcBef>
                <a:spcPts val="1200"/>
              </a:spcBef>
              <a:spcAft>
                <a:spcPts val="857"/>
              </a:spcAft>
              <a:buNone/>
            </a:pPr>
            <a:r>
              <a:rPr lang="en-US" b="0" i="0" dirty="0">
                <a:solidFill>
                  <a:srgbClr val="0F1115"/>
                </a:solidFill>
                <a:effectLst/>
                <a:latin typeface="Menlo"/>
              </a:rPr>
              <a:t>   • Need ordering? List</a:t>
            </a:r>
          </a:p>
          <a:p>
            <a:pPr algn="l" latinLnBrk="1">
              <a:lnSpc>
                <a:spcPts val="1650"/>
              </a:lnSpc>
              <a:spcBef>
                <a:spcPts val="1200"/>
              </a:spcBef>
              <a:spcAft>
                <a:spcPts val="857"/>
              </a:spcAft>
              <a:buNone/>
            </a:pPr>
            <a:r>
              <a:rPr lang="en-US" b="0" i="0" dirty="0">
                <a:solidFill>
                  <a:srgbClr val="0F1115"/>
                </a:solidFill>
                <a:effectLst/>
                <a:latin typeface="Menlo"/>
              </a:rPr>
              <a:t>   • Need uniqueness? Set</a:t>
            </a:r>
          </a:p>
          <a:p>
            <a:pPr algn="l" latinLnBrk="1">
              <a:lnSpc>
                <a:spcPts val="1650"/>
              </a:lnSpc>
              <a:spcBef>
                <a:spcPts val="1200"/>
              </a:spcBef>
              <a:spcAft>
                <a:spcPts val="857"/>
              </a:spcAft>
              <a:buNone/>
            </a:pPr>
            <a:r>
              <a:rPr lang="en-US" b="0" i="0" dirty="0">
                <a:solidFill>
                  <a:srgbClr val="0F1115"/>
                </a:solidFill>
                <a:effectLst/>
                <a:latin typeface="Menlo"/>
              </a:rPr>
              <a:t>   • Need key-value? Map</a:t>
            </a:r>
          </a:p>
          <a:p>
            <a:pPr algn="l" latinLnBrk="1">
              <a:lnSpc>
                <a:spcPts val="1650"/>
              </a:lnSpc>
              <a:spcBef>
                <a:spcPts val="1200"/>
              </a:spcBef>
              <a:spcAft>
                <a:spcPts val="857"/>
              </a:spcAft>
              <a:buNone/>
            </a:pPr>
            <a:r>
              <a:rPr lang="en-US" b="0" i="0" dirty="0">
                <a:solidFill>
                  <a:srgbClr val="0F1115"/>
                </a:solidFill>
                <a:effectLst/>
                <a:latin typeface="Menlo"/>
              </a:rPr>
              <a:t>   • Need sorting? </a:t>
            </a:r>
            <a:r>
              <a:rPr lang="en-US" b="0" i="0" dirty="0" err="1">
                <a:solidFill>
                  <a:srgbClr val="0F1115"/>
                </a:solidFill>
                <a:effectLst/>
                <a:latin typeface="Menlo"/>
              </a:rPr>
              <a:t>TreeSet</a:t>
            </a:r>
            <a:r>
              <a:rPr lang="en-US" b="0" i="0" dirty="0">
                <a:solidFill>
                  <a:srgbClr val="0F1115"/>
                </a:solidFill>
                <a:effectLst/>
                <a:latin typeface="Menlo"/>
              </a:rPr>
              <a:t>/</a:t>
            </a:r>
            <a:r>
              <a:rPr lang="en-US" b="0" i="0" dirty="0" err="1">
                <a:solidFill>
                  <a:srgbClr val="0F1115"/>
                </a:solidFill>
                <a:effectLst/>
                <a:latin typeface="Menlo"/>
              </a:rPr>
              <a:t>TreeMap</a:t>
            </a:r>
            <a:endParaRPr lang="en-US" b="0" i="0" dirty="0">
              <a:solidFill>
                <a:srgbClr val="0F1115"/>
              </a:solidFill>
              <a:effectLst/>
              <a:latin typeface="Menlo"/>
            </a:endParaRPr>
          </a:p>
          <a:p>
            <a:pPr algn="l" latinLnBrk="1">
              <a:lnSpc>
                <a:spcPts val="1650"/>
              </a:lnSpc>
              <a:spcBef>
                <a:spcPts val="1200"/>
              </a:spcBef>
              <a:spcAft>
                <a:spcPts val="857"/>
              </a:spcAft>
              <a:buNone/>
            </a:pPr>
            <a:r>
              <a:rPr lang="en-US" b="0" i="0" dirty="0">
                <a:solidFill>
                  <a:srgbClr val="0F1115"/>
                </a:solidFill>
                <a:effectLst/>
                <a:latin typeface="Menlo"/>
              </a:rPr>
              <a:t>   • Need thread-safety? Concurrent collections</a:t>
            </a:r>
          </a:p>
          <a:p>
            <a:pPr algn="l" latinLnBrk="1">
              <a:lnSpc>
                <a:spcPts val="1650"/>
              </a:lnSpc>
              <a:spcBef>
                <a:spcPts val="1200"/>
              </a:spcBef>
              <a:spcAft>
                <a:spcPts val="857"/>
              </a:spcAft>
              <a:buNone/>
            </a:pPr>
            <a:endParaRPr lang="en-US" b="0" i="0" dirty="0">
              <a:solidFill>
                <a:srgbClr val="0F1115"/>
              </a:solidFill>
              <a:effectLst/>
              <a:latin typeface="Menlo"/>
            </a:endParaRPr>
          </a:p>
          <a:p>
            <a:pPr algn="l" latinLnBrk="1">
              <a:lnSpc>
                <a:spcPts val="1650"/>
              </a:lnSpc>
              <a:spcBef>
                <a:spcPts val="1200"/>
              </a:spcBef>
              <a:spcAft>
                <a:spcPts val="857"/>
              </a:spcAft>
              <a:buNone/>
            </a:pPr>
            <a:r>
              <a:rPr lang="en-US" b="0" i="0" dirty="0">
                <a:solidFill>
                  <a:srgbClr val="0F1115"/>
                </a:solidFill>
                <a:effectLst/>
                <a:latin typeface="Menlo"/>
              </a:rPr>
              <a:t>5. Use generics always</a:t>
            </a:r>
          </a:p>
          <a:p>
            <a:pPr algn="l" latinLnBrk="1">
              <a:lnSpc>
                <a:spcPts val="1650"/>
              </a:lnSpc>
              <a:spcBef>
                <a:spcPts val="1200"/>
              </a:spcBef>
              <a:spcAft>
                <a:spcPts val="857"/>
              </a:spcAft>
              <a:buNone/>
            </a:pPr>
            <a:r>
              <a:rPr lang="en-US" b="0" i="0" dirty="0">
                <a:solidFill>
                  <a:srgbClr val="0F1115"/>
                </a:solidFill>
                <a:effectLst/>
                <a:latin typeface="Menlo"/>
              </a:rPr>
              <a:t>   List&lt;String&gt; not List (raw type)</a:t>
            </a:r>
          </a:p>
          <a:p>
            <a:pPr algn="l" latinLnBrk="1">
              <a:lnSpc>
                <a:spcPts val="1650"/>
              </a:lnSpc>
              <a:spcBef>
                <a:spcPts val="1200"/>
              </a:spcBef>
              <a:spcAft>
                <a:spcPts val="857"/>
              </a:spcAft>
              <a:buNone/>
            </a:pPr>
            <a:endParaRPr lang="en-US" b="0" i="0" dirty="0">
              <a:solidFill>
                <a:srgbClr val="0F1115"/>
              </a:solidFill>
              <a:effectLst/>
              <a:latin typeface="Menlo"/>
            </a:endParaRPr>
          </a:p>
          <a:p>
            <a:pPr algn="l" latinLnBrk="1">
              <a:lnSpc>
                <a:spcPts val="1650"/>
              </a:lnSpc>
              <a:spcBef>
                <a:spcPts val="1200"/>
              </a:spcBef>
              <a:spcAft>
                <a:spcPts val="857"/>
              </a:spcAft>
              <a:buNone/>
            </a:pPr>
            <a:r>
              <a:rPr lang="en-US" b="0" i="0" dirty="0">
                <a:solidFill>
                  <a:srgbClr val="0F1115"/>
                </a:solidFill>
                <a:effectLst/>
                <a:latin typeface="Menlo"/>
              </a:rPr>
              <a:t>6. Consider </a:t>
            </a:r>
            <a:r>
              <a:rPr lang="en-US" b="0" i="0" dirty="0" err="1">
                <a:solidFill>
                  <a:srgbClr val="0F1115"/>
                </a:solidFill>
                <a:effectLst/>
                <a:latin typeface="Menlo"/>
              </a:rPr>
              <a:t>Arrays.asList</a:t>
            </a:r>
            <a:r>
              <a:rPr lang="en-US" b="0" i="0" dirty="0">
                <a:solidFill>
                  <a:srgbClr val="0F1115"/>
                </a:solidFill>
                <a:effectLst/>
                <a:latin typeface="Menlo"/>
              </a:rPr>
              <a:t>() for fixed lists</a:t>
            </a:r>
          </a:p>
          <a:p>
            <a:pPr algn="l" latinLnBrk="1">
              <a:lnSpc>
                <a:spcPts val="1650"/>
              </a:lnSpc>
              <a:spcBef>
                <a:spcPts val="1200"/>
              </a:spcBef>
              <a:spcAft>
                <a:spcPts val="857"/>
              </a:spcAft>
              <a:buNone/>
            </a:pPr>
            <a:r>
              <a:rPr lang="en-US" b="0" i="0" dirty="0">
                <a:solidFill>
                  <a:srgbClr val="0F1115"/>
                </a:solidFill>
                <a:effectLst/>
                <a:latin typeface="Menlo"/>
              </a:rPr>
              <a:t>   Returns fixed-size list backed by array</a:t>
            </a:r>
          </a:p>
          <a:p>
            <a:pPr algn="l" latinLnBrk="1">
              <a:lnSpc>
                <a:spcPts val="1650"/>
              </a:lnSpc>
              <a:spcBef>
                <a:spcPts val="1200"/>
              </a:spcBef>
              <a:spcAft>
                <a:spcPts val="857"/>
              </a:spcAft>
              <a:buNone/>
            </a:pPr>
            <a:endParaRPr lang="en-US" b="0" i="0" dirty="0">
              <a:solidFill>
                <a:srgbClr val="0F1115"/>
              </a:solidFill>
              <a:effectLst/>
              <a:latin typeface="Menlo"/>
            </a:endParaRPr>
          </a:p>
          <a:p>
            <a:pPr algn="l" latinLnBrk="1">
              <a:lnSpc>
                <a:spcPts val="1650"/>
              </a:lnSpc>
              <a:spcBef>
                <a:spcPts val="1200"/>
              </a:spcBef>
              <a:spcAft>
                <a:spcPts val="857"/>
              </a:spcAft>
              <a:buNone/>
            </a:pPr>
            <a:r>
              <a:rPr lang="en-US" b="0" i="0" dirty="0">
                <a:solidFill>
                  <a:srgbClr val="0F1115"/>
                </a:solidFill>
                <a:effectLst/>
                <a:latin typeface="Menlo"/>
              </a:rPr>
              <a:t>7. Use </a:t>
            </a:r>
            <a:r>
              <a:rPr lang="en-US" b="0" i="0" dirty="0" err="1">
                <a:solidFill>
                  <a:srgbClr val="0F1115"/>
                </a:solidFill>
                <a:effectLst/>
                <a:latin typeface="Menlo"/>
              </a:rPr>
              <a:t>entrySet</a:t>
            </a:r>
            <a:r>
              <a:rPr lang="en-US" b="0" i="0" dirty="0">
                <a:solidFill>
                  <a:srgbClr val="0F1115"/>
                </a:solidFill>
                <a:effectLst/>
                <a:latin typeface="Menlo"/>
              </a:rPr>
              <a:t>() for Map iteration</a:t>
            </a:r>
          </a:p>
          <a:p>
            <a:pPr algn="l" latinLnBrk="1">
              <a:lnSpc>
                <a:spcPts val="1650"/>
              </a:lnSpc>
              <a:spcBef>
                <a:spcPts val="1200"/>
              </a:spcBef>
              <a:spcAft>
                <a:spcPts val="857"/>
              </a:spcAft>
              <a:buNone/>
            </a:pPr>
            <a:r>
              <a:rPr lang="en-US" b="0" i="0" dirty="0">
                <a:solidFill>
                  <a:srgbClr val="0F1115"/>
                </a:solidFill>
                <a:effectLst/>
                <a:latin typeface="Menlo"/>
              </a:rPr>
              <a:t>   for(</a:t>
            </a:r>
            <a:r>
              <a:rPr lang="en-US" b="0" i="0" dirty="0" err="1">
                <a:solidFill>
                  <a:srgbClr val="0F1115"/>
                </a:solidFill>
                <a:effectLst/>
                <a:latin typeface="Menlo"/>
              </a:rPr>
              <a:t>Map.Entry</a:t>
            </a:r>
            <a:r>
              <a:rPr lang="en-US" b="0" i="0" dirty="0">
                <a:solidFill>
                  <a:srgbClr val="0F1115"/>
                </a:solidFill>
                <a:effectLst/>
                <a:latin typeface="Menlo"/>
              </a:rPr>
              <a:t>&lt;K,V&gt; entry : </a:t>
            </a:r>
            <a:r>
              <a:rPr lang="en-US" b="0" i="0" dirty="0" err="1">
                <a:solidFill>
                  <a:srgbClr val="0F1115"/>
                </a:solidFill>
                <a:effectLst/>
                <a:latin typeface="Menlo"/>
              </a:rPr>
              <a:t>map.entrySet</a:t>
            </a:r>
            <a:r>
              <a:rPr lang="en-US" b="0" i="0" dirty="0">
                <a:solidFill>
                  <a:srgbClr val="0F1115"/>
                </a:solidFill>
                <a:effectLst/>
                <a:latin typeface="Menlo"/>
              </a:rPr>
              <a:t>())</a:t>
            </a:r>
          </a:p>
        </p:txBody>
      </p:sp>
    </p:spTree>
    <p:extLst>
      <p:ext uri="{BB962C8B-B14F-4D97-AF65-F5344CB8AC3E}">
        <p14:creationId xmlns:p14="http://schemas.microsoft.com/office/powerpoint/2010/main" val="3531029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8F7942-4D46-7CE1-648C-08274B2163C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8F2021D-6E50-1D94-AC2C-EBCA33775E74}"/>
              </a:ext>
            </a:extLst>
          </p:cNvPr>
          <p:cNvSpPr txBox="1"/>
          <p:nvPr/>
        </p:nvSpPr>
        <p:spPr>
          <a:xfrm>
            <a:off x="3046344" y="-2134702"/>
            <a:ext cx="6092686" cy="11127405"/>
          </a:xfrm>
          <a:prstGeom prst="rect">
            <a:avLst/>
          </a:prstGeom>
          <a:noFill/>
        </p:spPr>
        <p:txBody>
          <a:bodyPr wrap="square">
            <a:spAutoFit/>
          </a:bodyPr>
          <a:lstStyle/>
          <a:p>
            <a:pPr algn="l">
              <a:lnSpc>
                <a:spcPts val="2400"/>
              </a:lnSpc>
              <a:spcBef>
                <a:spcPts val="2400"/>
              </a:spcBef>
              <a:spcAft>
                <a:spcPts val="1200"/>
              </a:spcAft>
              <a:buNone/>
            </a:pPr>
            <a:r>
              <a:rPr lang="en-US" b="1" dirty="0">
                <a:solidFill>
                  <a:srgbClr val="0F1115"/>
                </a:solidFill>
                <a:effectLst/>
                <a:latin typeface="quote-cjk-patch"/>
              </a:rPr>
              <a:t>Java 8+ Features with Collections</a:t>
            </a:r>
          </a:p>
          <a:p>
            <a:pPr algn="l">
              <a:lnSpc>
                <a:spcPts val="1350"/>
              </a:lnSpc>
              <a:spcBef>
                <a:spcPts val="1200"/>
              </a:spcBef>
              <a:spcAft>
                <a:spcPts val="857"/>
              </a:spcAft>
              <a:buNone/>
            </a:pPr>
            <a:r>
              <a:rPr lang="en-US" b="0" i="0" dirty="0">
                <a:solidFill>
                  <a:srgbClr val="0F1115"/>
                </a:solidFill>
                <a:effectLst/>
                <a:latin typeface="Menlo"/>
              </a:rPr>
              <a:t>text</a:t>
            </a:r>
            <a:endParaRPr lang="en-US" b="0" i="0" dirty="0">
              <a:solidFill>
                <a:srgbClr val="0F1115"/>
              </a:solidFill>
              <a:effectLst/>
              <a:latin typeface="quote-cjk-patch"/>
            </a:endParaRPr>
          </a:p>
          <a:p>
            <a:pPr algn="l" latinLnBrk="1">
              <a:lnSpc>
                <a:spcPts val="1650"/>
              </a:lnSpc>
              <a:spcBef>
                <a:spcPts val="1200"/>
              </a:spcBef>
              <a:spcAft>
                <a:spcPts val="857"/>
              </a:spcAft>
              <a:buNone/>
            </a:pPr>
            <a:r>
              <a:rPr lang="en-US" b="0" i="0" dirty="0">
                <a:solidFill>
                  <a:srgbClr val="0F1115"/>
                </a:solidFill>
                <a:effectLst/>
                <a:latin typeface="Menlo"/>
              </a:rPr>
              <a:t>MODERN JAVA ENHANCEMENTS</a:t>
            </a:r>
          </a:p>
          <a:p>
            <a:pPr algn="l" latinLnBrk="1">
              <a:lnSpc>
                <a:spcPts val="1650"/>
              </a:lnSpc>
              <a:spcBef>
                <a:spcPts val="1200"/>
              </a:spcBef>
              <a:spcAft>
                <a:spcPts val="857"/>
              </a:spcAft>
              <a:buNone/>
            </a:pPr>
            <a:r>
              <a:rPr lang="en-US" b="0" i="0" dirty="0">
                <a:solidFill>
                  <a:srgbClr val="0F1115"/>
                </a:solidFill>
                <a:effectLst/>
                <a:latin typeface="Menlo"/>
              </a:rPr>
              <a:t>──────────────────────────</a:t>
            </a:r>
          </a:p>
          <a:p>
            <a:pPr algn="l" latinLnBrk="1">
              <a:lnSpc>
                <a:spcPts val="1650"/>
              </a:lnSpc>
              <a:spcBef>
                <a:spcPts val="1200"/>
              </a:spcBef>
              <a:spcAft>
                <a:spcPts val="857"/>
              </a:spcAft>
              <a:buNone/>
            </a:pPr>
            <a:r>
              <a:rPr lang="en-US" b="0" i="0" dirty="0">
                <a:solidFill>
                  <a:srgbClr val="0F1115"/>
                </a:solidFill>
                <a:effectLst/>
                <a:latin typeface="Menlo"/>
              </a:rPr>
              <a:t>1. Stream API with Collections:</a:t>
            </a:r>
          </a:p>
          <a:p>
            <a:pPr algn="l" latinLnBrk="1">
              <a:lnSpc>
                <a:spcPts val="1650"/>
              </a:lnSpc>
              <a:spcBef>
                <a:spcPts val="1200"/>
              </a:spcBef>
              <a:spcAft>
                <a:spcPts val="857"/>
              </a:spcAft>
              <a:buNone/>
            </a:pPr>
            <a:r>
              <a:rPr lang="en-US" b="0" i="0" dirty="0">
                <a:solidFill>
                  <a:srgbClr val="0F1115"/>
                </a:solidFill>
                <a:effectLst/>
                <a:latin typeface="Menlo"/>
              </a:rPr>
              <a:t>   </a:t>
            </a:r>
            <a:r>
              <a:rPr lang="en-US" b="0" i="0" dirty="0" err="1">
                <a:solidFill>
                  <a:srgbClr val="0F1115"/>
                </a:solidFill>
                <a:effectLst/>
                <a:latin typeface="Menlo"/>
              </a:rPr>
              <a:t>list.stream</a:t>
            </a:r>
            <a:r>
              <a:rPr lang="en-US" b="0" i="0" dirty="0">
                <a:solidFill>
                  <a:srgbClr val="0F1115"/>
                </a:solidFill>
                <a:effectLst/>
                <a:latin typeface="Menlo"/>
              </a:rPr>
              <a:t>()</a:t>
            </a:r>
          </a:p>
          <a:p>
            <a:pPr algn="l" latinLnBrk="1">
              <a:lnSpc>
                <a:spcPts val="1650"/>
              </a:lnSpc>
              <a:spcBef>
                <a:spcPts val="1200"/>
              </a:spcBef>
              <a:spcAft>
                <a:spcPts val="857"/>
              </a:spcAft>
              <a:buNone/>
            </a:pPr>
            <a:r>
              <a:rPr lang="en-US" b="0" i="0" dirty="0">
                <a:solidFill>
                  <a:srgbClr val="0F1115"/>
                </a:solidFill>
                <a:effectLst/>
                <a:latin typeface="Menlo"/>
              </a:rPr>
              <a:t>       .filter(s -&gt; </a:t>
            </a:r>
            <a:r>
              <a:rPr lang="en-US" b="0" i="0" dirty="0" err="1">
                <a:solidFill>
                  <a:srgbClr val="0F1115"/>
                </a:solidFill>
                <a:effectLst/>
                <a:latin typeface="Menlo"/>
              </a:rPr>
              <a:t>s.length</a:t>
            </a:r>
            <a:r>
              <a:rPr lang="en-US" b="0" i="0" dirty="0">
                <a:solidFill>
                  <a:srgbClr val="0F1115"/>
                </a:solidFill>
                <a:effectLst/>
                <a:latin typeface="Menlo"/>
              </a:rPr>
              <a:t>() &gt; 3)</a:t>
            </a:r>
          </a:p>
          <a:p>
            <a:pPr algn="l" latinLnBrk="1">
              <a:lnSpc>
                <a:spcPts val="1650"/>
              </a:lnSpc>
              <a:spcBef>
                <a:spcPts val="1200"/>
              </a:spcBef>
              <a:spcAft>
                <a:spcPts val="857"/>
              </a:spcAft>
              <a:buNone/>
            </a:pPr>
            <a:r>
              <a:rPr lang="en-US" b="0" i="0" dirty="0">
                <a:solidFill>
                  <a:srgbClr val="0F1115"/>
                </a:solidFill>
                <a:effectLst/>
                <a:latin typeface="Menlo"/>
              </a:rPr>
              <a:t>       .map(String::</a:t>
            </a:r>
            <a:r>
              <a:rPr lang="en-US" b="0" i="0" dirty="0" err="1">
                <a:solidFill>
                  <a:srgbClr val="0F1115"/>
                </a:solidFill>
                <a:effectLst/>
                <a:latin typeface="Menlo"/>
              </a:rPr>
              <a:t>toUpperCase</a:t>
            </a:r>
            <a:r>
              <a:rPr lang="en-US" b="0" i="0" dirty="0">
                <a:solidFill>
                  <a:srgbClr val="0F1115"/>
                </a:solidFill>
                <a:effectLst/>
                <a:latin typeface="Menlo"/>
              </a:rPr>
              <a:t>)</a:t>
            </a:r>
          </a:p>
          <a:p>
            <a:pPr algn="l" latinLnBrk="1">
              <a:lnSpc>
                <a:spcPts val="1650"/>
              </a:lnSpc>
              <a:spcBef>
                <a:spcPts val="1200"/>
              </a:spcBef>
              <a:spcAft>
                <a:spcPts val="857"/>
              </a:spcAft>
              <a:buNone/>
            </a:pPr>
            <a:r>
              <a:rPr lang="en-US" b="0" i="0" dirty="0">
                <a:solidFill>
                  <a:srgbClr val="0F1115"/>
                </a:solidFill>
                <a:effectLst/>
                <a:latin typeface="Menlo"/>
              </a:rPr>
              <a:t>       .collect(</a:t>
            </a:r>
            <a:r>
              <a:rPr lang="en-US" b="0" i="0" dirty="0" err="1">
                <a:solidFill>
                  <a:srgbClr val="0F1115"/>
                </a:solidFill>
                <a:effectLst/>
                <a:latin typeface="Menlo"/>
              </a:rPr>
              <a:t>Collectors.toList</a:t>
            </a:r>
            <a:r>
              <a:rPr lang="en-US" b="0" i="0" dirty="0">
                <a:solidFill>
                  <a:srgbClr val="0F1115"/>
                </a:solidFill>
                <a:effectLst/>
                <a:latin typeface="Menlo"/>
              </a:rPr>
              <a:t>());</a:t>
            </a:r>
          </a:p>
          <a:p>
            <a:pPr algn="l" latinLnBrk="1">
              <a:lnSpc>
                <a:spcPts val="1650"/>
              </a:lnSpc>
              <a:spcBef>
                <a:spcPts val="1200"/>
              </a:spcBef>
              <a:spcAft>
                <a:spcPts val="857"/>
              </a:spcAft>
              <a:buNone/>
            </a:pPr>
            <a:endParaRPr lang="en-US" b="0" i="0" dirty="0">
              <a:solidFill>
                <a:srgbClr val="0F1115"/>
              </a:solidFill>
              <a:effectLst/>
              <a:latin typeface="Menlo"/>
            </a:endParaRPr>
          </a:p>
          <a:p>
            <a:pPr algn="l" latinLnBrk="1">
              <a:lnSpc>
                <a:spcPts val="1650"/>
              </a:lnSpc>
              <a:spcBef>
                <a:spcPts val="1200"/>
              </a:spcBef>
              <a:spcAft>
                <a:spcPts val="857"/>
              </a:spcAft>
              <a:buNone/>
            </a:pPr>
            <a:r>
              <a:rPr lang="en-US" b="0" i="0" dirty="0">
                <a:solidFill>
                  <a:srgbClr val="0F1115"/>
                </a:solidFill>
                <a:effectLst/>
                <a:latin typeface="Menlo"/>
              </a:rPr>
              <a:t>2. Factory Methods (Java 9+):</a:t>
            </a:r>
          </a:p>
          <a:p>
            <a:pPr algn="l" latinLnBrk="1">
              <a:lnSpc>
                <a:spcPts val="1650"/>
              </a:lnSpc>
              <a:spcBef>
                <a:spcPts val="1200"/>
              </a:spcBef>
              <a:spcAft>
                <a:spcPts val="857"/>
              </a:spcAft>
              <a:buNone/>
            </a:pPr>
            <a:r>
              <a:rPr lang="en-US" b="0" i="0" dirty="0">
                <a:solidFill>
                  <a:srgbClr val="0F1115"/>
                </a:solidFill>
                <a:effectLst/>
                <a:latin typeface="Menlo"/>
              </a:rPr>
              <a:t>   </a:t>
            </a:r>
            <a:r>
              <a:rPr lang="en-US" b="0" i="0" dirty="0" err="1">
                <a:solidFill>
                  <a:srgbClr val="0F1115"/>
                </a:solidFill>
                <a:effectLst/>
                <a:latin typeface="Menlo"/>
              </a:rPr>
              <a:t>List.of</a:t>
            </a:r>
            <a:r>
              <a:rPr lang="en-US" b="0" i="0" dirty="0">
                <a:solidFill>
                  <a:srgbClr val="0F1115"/>
                </a:solidFill>
                <a:effectLst/>
                <a:latin typeface="Menlo"/>
              </a:rPr>
              <a:t>("A", "B", "C") // Immutable</a:t>
            </a:r>
          </a:p>
          <a:p>
            <a:pPr algn="l" latinLnBrk="1">
              <a:lnSpc>
                <a:spcPts val="1650"/>
              </a:lnSpc>
              <a:spcBef>
                <a:spcPts val="1200"/>
              </a:spcBef>
              <a:spcAft>
                <a:spcPts val="857"/>
              </a:spcAft>
              <a:buNone/>
            </a:pPr>
            <a:r>
              <a:rPr lang="en-US" b="0" i="0" dirty="0">
                <a:solidFill>
                  <a:srgbClr val="0F1115"/>
                </a:solidFill>
                <a:effectLst/>
                <a:latin typeface="Menlo"/>
              </a:rPr>
              <a:t>   </a:t>
            </a:r>
            <a:r>
              <a:rPr lang="en-US" b="0" i="0" dirty="0" err="1">
                <a:solidFill>
                  <a:srgbClr val="0F1115"/>
                </a:solidFill>
                <a:effectLst/>
                <a:latin typeface="Menlo"/>
              </a:rPr>
              <a:t>Set.of</a:t>
            </a:r>
            <a:r>
              <a:rPr lang="en-US" b="0" i="0" dirty="0">
                <a:solidFill>
                  <a:srgbClr val="0F1115"/>
                </a:solidFill>
                <a:effectLst/>
                <a:latin typeface="Menlo"/>
              </a:rPr>
              <a:t>(1, 2, 3)</a:t>
            </a:r>
          </a:p>
          <a:p>
            <a:pPr algn="l" latinLnBrk="1">
              <a:lnSpc>
                <a:spcPts val="1650"/>
              </a:lnSpc>
              <a:spcBef>
                <a:spcPts val="1200"/>
              </a:spcBef>
              <a:spcAft>
                <a:spcPts val="857"/>
              </a:spcAft>
              <a:buNone/>
            </a:pPr>
            <a:r>
              <a:rPr lang="en-US" b="0" i="0" dirty="0">
                <a:solidFill>
                  <a:srgbClr val="0F1115"/>
                </a:solidFill>
                <a:effectLst/>
                <a:latin typeface="Menlo"/>
              </a:rPr>
              <a:t>   </a:t>
            </a:r>
            <a:r>
              <a:rPr lang="en-US" b="0" i="0" dirty="0" err="1">
                <a:solidFill>
                  <a:srgbClr val="0F1115"/>
                </a:solidFill>
                <a:effectLst/>
                <a:latin typeface="Menlo"/>
              </a:rPr>
              <a:t>Map.of</a:t>
            </a:r>
            <a:r>
              <a:rPr lang="en-US" b="0" i="0" dirty="0">
                <a:solidFill>
                  <a:srgbClr val="0F1115"/>
                </a:solidFill>
                <a:effectLst/>
                <a:latin typeface="Menlo"/>
              </a:rPr>
              <a:t>("key1", "value1", "key2", "value2")</a:t>
            </a:r>
          </a:p>
          <a:p>
            <a:pPr algn="l" latinLnBrk="1">
              <a:lnSpc>
                <a:spcPts val="1650"/>
              </a:lnSpc>
              <a:spcBef>
                <a:spcPts val="1200"/>
              </a:spcBef>
              <a:spcAft>
                <a:spcPts val="857"/>
              </a:spcAft>
              <a:buNone/>
            </a:pPr>
            <a:endParaRPr lang="en-US" b="0" i="0" dirty="0">
              <a:solidFill>
                <a:srgbClr val="0F1115"/>
              </a:solidFill>
              <a:effectLst/>
              <a:latin typeface="Menlo"/>
            </a:endParaRPr>
          </a:p>
          <a:p>
            <a:pPr algn="l" latinLnBrk="1">
              <a:lnSpc>
                <a:spcPts val="1650"/>
              </a:lnSpc>
              <a:spcBef>
                <a:spcPts val="1200"/>
              </a:spcBef>
              <a:spcAft>
                <a:spcPts val="857"/>
              </a:spcAft>
              <a:buNone/>
            </a:pPr>
            <a:r>
              <a:rPr lang="en-US" b="0" i="0" dirty="0">
                <a:solidFill>
                  <a:srgbClr val="0F1115"/>
                </a:solidFill>
                <a:effectLst/>
                <a:latin typeface="Menlo"/>
              </a:rPr>
              <a:t>3. Convenience Methods:</a:t>
            </a:r>
          </a:p>
          <a:p>
            <a:pPr algn="l" latinLnBrk="1">
              <a:lnSpc>
                <a:spcPts val="1650"/>
              </a:lnSpc>
              <a:spcBef>
                <a:spcPts val="1200"/>
              </a:spcBef>
              <a:spcAft>
                <a:spcPts val="857"/>
              </a:spcAft>
              <a:buNone/>
            </a:pPr>
            <a:r>
              <a:rPr lang="en-US" b="0" i="0" dirty="0">
                <a:solidFill>
                  <a:srgbClr val="0F1115"/>
                </a:solidFill>
                <a:effectLst/>
                <a:latin typeface="Menlo"/>
              </a:rPr>
              <a:t>   </a:t>
            </a:r>
            <a:r>
              <a:rPr lang="en-US" b="0" i="0" dirty="0" err="1">
                <a:solidFill>
                  <a:srgbClr val="0F1115"/>
                </a:solidFill>
                <a:effectLst/>
                <a:latin typeface="Menlo"/>
              </a:rPr>
              <a:t>map.putIfAbsent</a:t>
            </a:r>
            <a:r>
              <a:rPr lang="en-US" b="0" i="0" dirty="0">
                <a:solidFill>
                  <a:srgbClr val="0F1115"/>
                </a:solidFill>
                <a:effectLst/>
                <a:latin typeface="Menlo"/>
              </a:rPr>
              <a:t>(key, value)</a:t>
            </a:r>
          </a:p>
          <a:p>
            <a:pPr algn="l" latinLnBrk="1">
              <a:lnSpc>
                <a:spcPts val="1650"/>
              </a:lnSpc>
              <a:spcBef>
                <a:spcPts val="1200"/>
              </a:spcBef>
              <a:spcAft>
                <a:spcPts val="857"/>
              </a:spcAft>
              <a:buNone/>
            </a:pPr>
            <a:r>
              <a:rPr lang="en-US" b="0" i="0" dirty="0">
                <a:solidFill>
                  <a:srgbClr val="0F1115"/>
                </a:solidFill>
                <a:effectLst/>
                <a:latin typeface="Menlo"/>
              </a:rPr>
              <a:t>   </a:t>
            </a:r>
            <a:r>
              <a:rPr lang="en-US" b="0" i="0" dirty="0" err="1">
                <a:solidFill>
                  <a:srgbClr val="0F1115"/>
                </a:solidFill>
                <a:effectLst/>
                <a:latin typeface="Menlo"/>
              </a:rPr>
              <a:t>map.getOrDefault</a:t>
            </a:r>
            <a:r>
              <a:rPr lang="en-US" b="0" i="0" dirty="0">
                <a:solidFill>
                  <a:srgbClr val="0F1115"/>
                </a:solidFill>
                <a:effectLst/>
                <a:latin typeface="Menlo"/>
              </a:rPr>
              <a:t>(key, </a:t>
            </a:r>
            <a:r>
              <a:rPr lang="en-US" b="0" i="0" dirty="0" err="1">
                <a:solidFill>
                  <a:srgbClr val="0F1115"/>
                </a:solidFill>
                <a:effectLst/>
                <a:latin typeface="Menlo"/>
              </a:rPr>
              <a:t>defaultValue</a:t>
            </a:r>
            <a:r>
              <a:rPr lang="en-US" b="0" i="0" dirty="0">
                <a:solidFill>
                  <a:srgbClr val="0F1115"/>
                </a:solidFill>
                <a:effectLst/>
                <a:latin typeface="Menlo"/>
              </a:rPr>
              <a:t>)</a:t>
            </a:r>
          </a:p>
          <a:p>
            <a:pPr algn="l" latinLnBrk="1">
              <a:lnSpc>
                <a:spcPts val="1650"/>
              </a:lnSpc>
              <a:spcBef>
                <a:spcPts val="1200"/>
              </a:spcBef>
              <a:spcAft>
                <a:spcPts val="857"/>
              </a:spcAft>
              <a:buNone/>
            </a:pPr>
            <a:r>
              <a:rPr lang="en-US" b="0" i="0" dirty="0">
                <a:solidFill>
                  <a:srgbClr val="0F1115"/>
                </a:solidFill>
                <a:effectLst/>
                <a:latin typeface="Menlo"/>
              </a:rPr>
              <a:t>   </a:t>
            </a:r>
            <a:r>
              <a:rPr lang="en-US" b="0" i="0" dirty="0" err="1">
                <a:solidFill>
                  <a:srgbClr val="0F1115"/>
                </a:solidFill>
                <a:effectLst/>
                <a:latin typeface="Menlo"/>
              </a:rPr>
              <a:t>list.removeIf</a:t>
            </a:r>
            <a:r>
              <a:rPr lang="en-US" b="0" i="0" dirty="0">
                <a:solidFill>
                  <a:srgbClr val="0F1115"/>
                </a:solidFill>
                <a:effectLst/>
                <a:latin typeface="Menlo"/>
              </a:rPr>
              <a:t>(element -&gt; condition)</a:t>
            </a:r>
          </a:p>
          <a:p>
            <a:pPr algn="l" latinLnBrk="1">
              <a:lnSpc>
                <a:spcPts val="1650"/>
              </a:lnSpc>
              <a:spcBef>
                <a:spcPts val="1200"/>
              </a:spcBef>
              <a:spcAft>
                <a:spcPts val="857"/>
              </a:spcAft>
              <a:buNone/>
            </a:pPr>
            <a:endParaRPr lang="en-US" b="0" i="0" dirty="0">
              <a:solidFill>
                <a:srgbClr val="0F1115"/>
              </a:solidFill>
              <a:effectLst/>
              <a:latin typeface="Menlo"/>
            </a:endParaRPr>
          </a:p>
          <a:p>
            <a:pPr algn="l" latinLnBrk="1">
              <a:lnSpc>
                <a:spcPts val="1650"/>
              </a:lnSpc>
              <a:spcBef>
                <a:spcPts val="1200"/>
              </a:spcBef>
              <a:spcAft>
                <a:spcPts val="857"/>
              </a:spcAft>
              <a:buNone/>
            </a:pPr>
            <a:r>
              <a:rPr lang="en-US" b="0" i="0" dirty="0">
                <a:solidFill>
                  <a:srgbClr val="0F1115"/>
                </a:solidFill>
                <a:effectLst/>
                <a:latin typeface="Menlo"/>
              </a:rPr>
              <a:t>4. </a:t>
            </a:r>
            <a:r>
              <a:rPr lang="en-US" b="0" i="0" dirty="0" err="1">
                <a:solidFill>
                  <a:srgbClr val="0F1115"/>
                </a:solidFill>
                <a:effectLst/>
                <a:latin typeface="Menlo"/>
              </a:rPr>
              <a:t>forEach</a:t>
            </a:r>
            <a:r>
              <a:rPr lang="en-US" b="0" i="0" dirty="0">
                <a:solidFill>
                  <a:srgbClr val="0F1115"/>
                </a:solidFill>
                <a:effectLst/>
                <a:latin typeface="Menlo"/>
              </a:rPr>
              <a:t> with lambda:</a:t>
            </a:r>
          </a:p>
          <a:p>
            <a:pPr algn="l" latinLnBrk="1">
              <a:lnSpc>
                <a:spcPts val="1650"/>
              </a:lnSpc>
              <a:spcBef>
                <a:spcPts val="1200"/>
              </a:spcBef>
              <a:spcAft>
                <a:spcPts val="857"/>
              </a:spcAft>
              <a:buNone/>
            </a:pPr>
            <a:r>
              <a:rPr lang="en-US" b="0" i="0" dirty="0">
                <a:solidFill>
                  <a:srgbClr val="0F1115"/>
                </a:solidFill>
                <a:effectLst/>
                <a:latin typeface="Menlo"/>
              </a:rPr>
              <a:t>   </a:t>
            </a:r>
            <a:r>
              <a:rPr lang="en-US" b="0" i="0" dirty="0" err="1">
                <a:solidFill>
                  <a:srgbClr val="0F1115"/>
                </a:solidFill>
                <a:effectLst/>
                <a:latin typeface="Menlo"/>
              </a:rPr>
              <a:t>list.forEach</a:t>
            </a:r>
            <a:r>
              <a:rPr lang="en-US" b="0" i="0" dirty="0">
                <a:solidFill>
                  <a:srgbClr val="0F1115"/>
                </a:solidFill>
                <a:effectLst/>
                <a:latin typeface="Menlo"/>
              </a:rPr>
              <a:t>(</a:t>
            </a:r>
            <a:r>
              <a:rPr lang="en-US" b="0" i="0" dirty="0" err="1">
                <a:solidFill>
                  <a:srgbClr val="0F1115"/>
                </a:solidFill>
                <a:effectLst/>
                <a:latin typeface="Menlo"/>
              </a:rPr>
              <a:t>System.out</a:t>
            </a:r>
            <a:r>
              <a:rPr lang="en-US" b="0" i="0" dirty="0">
                <a:solidFill>
                  <a:srgbClr val="0F1115"/>
                </a:solidFill>
                <a:effectLst/>
                <a:latin typeface="Menlo"/>
              </a:rPr>
              <a:t>::</a:t>
            </a:r>
            <a:r>
              <a:rPr lang="en-US" b="0" i="0" dirty="0" err="1">
                <a:solidFill>
                  <a:srgbClr val="0F1115"/>
                </a:solidFill>
                <a:effectLst/>
                <a:latin typeface="Menlo"/>
              </a:rPr>
              <a:t>println</a:t>
            </a:r>
            <a:r>
              <a:rPr lang="en-US" b="0" i="0" dirty="0">
                <a:solidFill>
                  <a:srgbClr val="0F1115"/>
                </a:solidFill>
                <a:effectLst/>
                <a:latin typeface="Menlo"/>
              </a:rPr>
              <a:t>);</a:t>
            </a:r>
          </a:p>
          <a:p>
            <a:pPr algn="l" latinLnBrk="1">
              <a:lnSpc>
                <a:spcPts val="1650"/>
              </a:lnSpc>
              <a:spcBef>
                <a:spcPts val="1200"/>
              </a:spcBef>
              <a:spcAft>
                <a:spcPts val="857"/>
              </a:spcAft>
              <a:buNone/>
            </a:pPr>
            <a:r>
              <a:rPr lang="en-US" b="0" i="0" dirty="0">
                <a:solidFill>
                  <a:srgbClr val="0F1115"/>
                </a:solidFill>
                <a:effectLst/>
                <a:latin typeface="Menlo"/>
              </a:rPr>
              <a:t>   </a:t>
            </a:r>
            <a:r>
              <a:rPr lang="en-US" b="0" i="0" dirty="0" err="1">
                <a:solidFill>
                  <a:srgbClr val="0F1115"/>
                </a:solidFill>
                <a:effectLst/>
                <a:latin typeface="Menlo"/>
              </a:rPr>
              <a:t>map.forEach</a:t>
            </a:r>
            <a:r>
              <a:rPr lang="en-US" b="0" i="0" dirty="0">
                <a:solidFill>
                  <a:srgbClr val="0F1115"/>
                </a:solidFill>
                <a:effectLst/>
                <a:latin typeface="Menlo"/>
              </a:rPr>
              <a:t>((</a:t>
            </a:r>
            <a:r>
              <a:rPr lang="en-US" b="0" i="0" dirty="0" err="1">
                <a:solidFill>
                  <a:srgbClr val="0F1115"/>
                </a:solidFill>
                <a:effectLst/>
                <a:latin typeface="Menlo"/>
              </a:rPr>
              <a:t>k,v</a:t>
            </a:r>
            <a:r>
              <a:rPr lang="en-US" b="0" i="0" dirty="0">
                <a:solidFill>
                  <a:srgbClr val="0F1115"/>
                </a:solidFill>
                <a:effectLst/>
                <a:latin typeface="Menlo"/>
              </a:rPr>
              <a:t>) -&gt; </a:t>
            </a:r>
            <a:r>
              <a:rPr lang="en-US" b="0" i="0" dirty="0" err="1">
                <a:solidFill>
                  <a:srgbClr val="0F1115"/>
                </a:solidFill>
                <a:effectLst/>
                <a:latin typeface="Menlo"/>
              </a:rPr>
              <a:t>System.out.println</a:t>
            </a:r>
            <a:r>
              <a:rPr lang="en-US" b="0" i="0" dirty="0">
                <a:solidFill>
                  <a:srgbClr val="0F1115"/>
                </a:solidFill>
                <a:effectLst/>
                <a:latin typeface="Menlo"/>
              </a:rPr>
              <a:t>(k + ":" + v));</a:t>
            </a:r>
          </a:p>
        </p:txBody>
      </p:sp>
    </p:spTree>
    <p:extLst>
      <p:ext uri="{BB962C8B-B14F-4D97-AF65-F5344CB8AC3E}">
        <p14:creationId xmlns:p14="http://schemas.microsoft.com/office/powerpoint/2010/main" val="253166796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920ACE-A593-AFED-E9B9-30931734CD3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EA2A83E-A59A-6A93-3670-5CD131D7AA7B}"/>
              </a:ext>
            </a:extLst>
          </p:cNvPr>
          <p:cNvSpPr txBox="1"/>
          <p:nvPr/>
        </p:nvSpPr>
        <p:spPr>
          <a:xfrm>
            <a:off x="3046344" y="-3197173"/>
            <a:ext cx="6092686" cy="13252346"/>
          </a:xfrm>
          <a:prstGeom prst="rect">
            <a:avLst/>
          </a:prstGeom>
          <a:noFill/>
        </p:spPr>
        <p:txBody>
          <a:bodyPr wrap="square">
            <a:spAutoFit/>
          </a:bodyPr>
          <a:lstStyle/>
          <a:p>
            <a:pPr algn="l">
              <a:lnSpc>
                <a:spcPts val="2400"/>
              </a:lnSpc>
              <a:spcBef>
                <a:spcPts val="2400"/>
              </a:spcBef>
              <a:spcAft>
                <a:spcPts val="1200"/>
              </a:spcAft>
              <a:buNone/>
            </a:pPr>
            <a:r>
              <a:rPr lang="en-US" b="1" dirty="0">
                <a:solidFill>
                  <a:srgbClr val="0F1115"/>
                </a:solidFill>
                <a:effectLst/>
                <a:latin typeface="quote-cjk-patch"/>
              </a:rPr>
              <a:t>Hands-On Exercise</a:t>
            </a:r>
          </a:p>
          <a:p>
            <a:pPr algn="l">
              <a:lnSpc>
                <a:spcPts val="1350"/>
              </a:lnSpc>
              <a:spcBef>
                <a:spcPts val="1200"/>
              </a:spcBef>
              <a:spcAft>
                <a:spcPts val="857"/>
              </a:spcAft>
              <a:buNone/>
            </a:pPr>
            <a:r>
              <a:rPr lang="en-US" b="0" i="0" dirty="0">
                <a:solidFill>
                  <a:srgbClr val="0F1115"/>
                </a:solidFill>
                <a:effectLst/>
                <a:latin typeface="Menlo"/>
              </a:rPr>
              <a:t>text</a:t>
            </a:r>
            <a:endParaRPr lang="en-US" b="0" i="0" dirty="0">
              <a:solidFill>
                <a:srgbClr val="0F1115"/>
              </a:solidFill>
              <a:effectLst/>
              <a:latin typeface="quote-cjk-patch"/>
            </a:endParaRPr>
          </a:p>
          <a:p>
            <a:pPr algn="l" latinLnBrk="1">
              <a:lnSpc>
                <a:spcPts val="1650"/>
              </a:lnSpc>
              <a:spcBef>
                <a:spcPts val="1200"/>
              </a:spcBef>
              <a:spcAft>
                <a:spcPts val="857"/>
              </a:spcAft>
              <a:buNone/>
            </a:pPr>
            <a:r>
              <a:rPr lang="en-US" b="0" i="0" dirty="0">
                <a:solidFill>
                  <a:srgbClr val="0F1115"/>
                </a:solidFill>
                <a:effectLst/>
                <a:latin typeface="Menlo"/>
              </a:rPr>
              <a:t>PRACTICAL EXERCISE</a:t>
            </a:r>
          </a:p>
          <a:p>
            <a:pPr algn="l" latinLnBrk="1">
              <a:lnSpc>
                <a:spcPts val="1650"/>
              </a:lnSpc>
              <a:spcBef>
                <a:spcPts val="1200"/>
              </a:spcBef>
              <a:spcAft>
                <a:spcPts val="857"/>
              </a:spcAft>
              <a:buNone/>
            </a:pPr>
            <a:r>
              <a:rPr lang="en-US" b="0" i="0" dirty="0">
                <a:solidFill>
                  <a:srgbClr val="0F1115"/>
                </a:solidFill>
                <a:effectLst/>
                <a:latin typeface="Menlo"/>
              </a:rPr>
              <a:t>────────────────────────────────</a:t>
            </a:r>
          </a:p>
          <a:p>
            <a:pPr algn="l" latinLnBrk="1">
              <a:lnSpc>
                <a:spcPts val="1650"/>
              </a:lnSpc>
              <a:spcBef>
                <a:spcPts val="1200"/>
              </a:spcBef>
              <a:spcAft>
                <a:spcPts val="857"/>
              </a:spcAft>
              <a:buNone/>
            </a:pPr>
            <a:r>
              <a:rPr lang="en-US" b="0" i="0" dirty="0">
                <a:solidFill>
                  <a:srgbClr val="0F1115"/>
                </a:solidFill>
                <a:effectLst/>
                <a:latin typeface="Menlo"/>
              </a:rPr>
              <a:t>Problem: Build a simple library management system</a:t>
            </a:r>
          </a:p>
          <a:p>
            <a:pPr algn="l" latinLnBrk="1">
              <a:lnSpc>
                <a:spcPts val="1650"/>
              </a:lnSpc>
              <a:spcBef>
                <a:spcPts val="1200"/>
              </a:spcBef>
              <a:spcAft>
                <a:spcPts val="857"/>
              </a:spcAft>
              <a:buNone/>
            </a:pPr>
            <a:endParaRPr lang="en-US" b="0" i="0" dirty="0">
              <a:solidFill>
                <a:srgbClr val="0F1115"/>
              </a:solidFill>
              <a:effectLst/>
              <a:latin typeface="Menlo"/>
            </a:endParaRPr>
          </a:p>
          <a:p>
            <a:pPr algn="l" latinLnBrk="1">
              <a:lnSpc>
                <a:spcPts val="1650"/>
              </a:lnSpc>
              <a:spcBef>
                <a:spcPts val="1200"/>
              </a:spcBef>
              <a:spcAft>
                <a:spcPts val="857"/>
              </a:spcAft>
              <a:buNone/>
            </a:pPr>
            <a:r>
              <a:rPr lang="en-US" b="0" i="0" dirty="0">
                <a:solidFill>
                  <a:srgbClr val="0F1115"/>
                </a:solidFill>
                <a:effectLst/>
                <a:latin typeface="Menlo"/>
              </a:rPr>
              <a:t>Requirements:</a:t>
            </a:r>
          </a:p>
          <a:p>
            <a:pPr algn="l" latinLnBrk="1">
              <a:lnSpc>
                <a:spcPts val="1650"/>
              </a:lnSpc>
              <a:spcBef>
                <a:spcPts val="1200"/>
              </a:spcBef>
              <a:spcAft>
                <a:spcPts val="857"/>
              </a:spcAft>
              <a:buNone/>
            </a:pPr>
            <a:r>
              <a:rPr lang="en-US" b="0" i="0" dirty="0">
                <a:solidFill>
                  <a:srgbClr val="0F1115"/>
                </a:solidFill>
                <a:effectLst/>
                <a:latin typeface="Menlo"/>
              </a:rPr>
              <a:t>1. Store books (ISBN, title, author) - no duplicates</a:t>
            </a:r>
          </a:p>
          <a:p>
            <a:pPr algn="l" latinLnBrk="1">
              <a:lnSpc>
                <a:spcPts val="1650"/>
              </a:lnSpc>
              <a:spcBef>
                <a:spcPts val="1200"/>
              </a:spcBef>
              <a:spcAft>
                <a:spcPts val="857"/>
              </a:spcAft>
              <a:buNone/>
            </a:pPr>
            <a:r>
              <a:rPr lang="en-US" b="0" i="0" dirty="0">
                <a:solidFill>
                  <a:srgbClr val="0F1115"/>
                </a:solidFill>
                <a:effectLst/>
                <a:latin typeface="Menlo"/>
              </a:rPr>
              <a:t>2. Track borrowed books (user, book, due date)</a:t>
            </a:r>
          </a:p>
          <a:p>
            <a:pPr algn="l" latinLnBrk="1">
              <a:lnSpc>
                <a:spcPts val="1650"/>
              </a:lnSpc>
              <a:spcBef>
                <a:spcPts val="1200"/>
              </a:spcBef>
              <a:spcAft>
                <a:spcPts val="857"/>
              </a:spcAft>
              <a:buNone/>
            </a:pPr>
            <a:r>
              <a:rPr lang="en-US" b="0" i="0" dirty="0">
                <a:solidFill>
                  <a:srgbClr val="0F1115"/>
                </a:solidFill>
                <a:effectLst/>
                <a:latin typeface="Menlo"/>
              </a:rPr>
              <a:t>3. Show available books sorted by title</a:t>
            </a:r>
          </a:p>
          <a:p>
            <a:pPr algn="l" latinLnBrk="1">
              <a:lnSpc>
                <a:spcPts val="1650"/>
              </a:lnSpc>
              <a:spcBef>
                <a:spcPts val="1200"/>
              </a:spcBef>
              <a:spcAft>
                <a:spcPts val="857"/>
              </a:spcAft>
              <a:buNone/>
            </a:pPr>
            <a:r>
              <a:rPr lang="en-US" b="0" i="0" dirty="0">
                <a:solidFill>
                  <a:srgbClr val="0F1115"/>
                </a:solidFill>
                <a:effectLst/>
                <a:latin typeface="Menlo"/>
              </a:rPr>
              <a:t>4. Find books by author efficiently</a:t>
            </a:r>
          </a:p>
          <a:p>
            <a:pPr algn="l" latinLnBrk="1">
              <a:lnSpc>
                <a:spcPts val="1650"/>
              </a:lnSpc>
              <a:spcBef>
                <a:spcPts val="1200"/>
              </a:spcBef>
              <a:spcAft>
                <a:spcPts val="857"/>
              </a:spcAft>
              <a:buNone/>
            </a:pPr>
            <a:endParaRPr lang="en-US" b="0" i="0" dirty="0">
              <a:solidFill>
                <a:srgbClr val="0F1115"/>
              </a:solidFill>
              <a:effectLst/>
              <a:latin typeface="Menlo"/>
            </a:endParaRPr>
          </a:p>
          <a:p>
            <a:pPr algn="l" latinLnBrk="1">
              <a:lnSpc>
                <a:spcPts val="1650"/>
              </a:lnSpc>
              <a:spcBef>
                <a:spcPts val="1200"/>
              </a:spcBef>
              <a:spcAft>
                <a:spcPts val="857"/>
              </a:spcAft>
              <a:buNone/>
            </a:pPr>
            <a:r>
              <a:rPr lang="en-US" b="0" i="0" dirty="0">
                <a:solidFill>
                  <a:srgbClr val="0F1115"/>
                </a:solidFill>
                <a:effectLst/>
                <a:latin typeface="Menlo"/>
              </a:rPr>
              <a:t>Tasks:</a:t>
            </a:r>
          </a:p>
          <a:p>
            <a:pPr algn="l" latinLnBrk="1">
              <a:lnSpc>
                <a:spcPts val="1650"/>
              </a:lnSpc>
              <a:spcBef>
                <a:spcPts val="1200"/>
              </a:spcBef>
              <a:spcAft>
                <a:spcPts val="857"/>
              </a:spcAft>
              <a:buNone/>
            </a:pPr>
            <a:r>
              <a:rPr lang="en-US" b="0" i="0" dirty="0">
                <a:solidFill>
                  <a:srgbClr val="0F1115"/>
                </a:solidFill>
                <a:effectLst/>
                <a:latin typeface="Menlo"/>
              </a:rPr>
              <a:t>1. Which collections would you use for:</a:t>
            </a:r>
          </a:p>
          <a:p>
            <a:pPr algn="l" latinLnBrk="1">
              <a:lnSpc>
                <a:spcPts val="1650"/>
              </a:lnSpc>
              <a:spcBef>
                <a:spcPts val="1200"/>
              </a:spcBef>
              <a:spcAft>
                <a:spcPts val="857"/>
              </a:spcAft>
              <a:buNone/>
            </a:pPr>
            <a:r>
              <a:rPr lang="en-US" b="0" i="0" dirty="0">
                <a:solidFill>
                  <a:srgbClr val="0F1115"/>
                </a:solidFill>
                <a:effectLst/>
                <a:latin typeface="Menlo"/>
              </a:rPr>
              <a:t>   a) Book catalog?</a:t>
            </a:r>
          </a:p>
          <a:p>
            <a:pPr algn="l" latinLnBrk="1">
              <a:lnSpc>
                <a:spcPts val="1650"/>
              </a:lnSpc>
              <a:spcBef>
                <a:spcPts val="1200"/>
              </a:spcBef>
              <a:spcAft>
                <a:spcPts val="857"/>
              </a:spcAft>
              <a:buNone/>
            </a:pPr>
            <a:r>
              <a:rPr lang="en-US" b="0" i="0" dirty="0">
                <a:solidFill>
                  <a:srgbClr val="0F1115"/>
                </a:solidFill>
                <a:effectLst/>
                <a:latin typeface="Menlo"/>
              </a:rPr>
              <a:t>   b) Borrowed records?</a:t>
            </a:r>
          </a:p>
          <a:p>
            <a:pPr algn="l" latinLnBrk="1">
              <a:lnSpc>
                <a:spcPts val="1650"/>
              </a:lnSpc>
              <a:spcBef>
                <a:spcPts val="1200"/>
              </a:spcBef>
              <a:spcAft>
                <a:spcPts val="857"/>
              </a:spcAft>
              <a:buNone/>
            </a:pPr>
            <a:r>
              <a:rPr lang="en-US" b="0" i="0" dirty="0">
                <a:solidFill>
                  <a:srgbClr val="0F1115"/>
                </a:solidFill>
                <a:effectLst/>
                <a:latin typeface="Menlo"/>
              </a:rPr>
              <a:t>   c) Author index?</a:t>
            </a:r>
          </a:p>
          <a:p>
            <a:pPr algn="l" latinLnBrk="1">
              <a:lnSpc>
                <a:spcPts val="1650"/>
              </a:lnSpc>
              <a:spcBef>
                <a:spcPts val="1200"/>
              </a:spcBef>
              <a:spcAft>
                <a:spcPts val="857"/>
              </a:spcAft>
              <a:buNone/>
            </a:pPr>
            <a:r>
              <a:rPr lang="en-US" b="0" i="0" dirty="0">
                <a:solidFill>
                  <a:srgbClr val="0F1115"/>
                </a:solidFill>
                <a:effectLst/>
                <a:latin typeface="Menlo"/>
              </a:rPr>
              <a:t>   </a:t>
            </a:r>
          </a:p>
          <a:p>
            <a:pPr algn="l" latinLnBrk="1">
              <a:lnSpc>
                <a:spcPts val="1650"/>
              </a:lnSpc>
              <a:spcBef>
                <a:spcPts val="1200"/>
              </a:spcBef>
              <a:spcAft>
                <a:spcPts val="857"/>
              </a:spcAft>
              <a:buNone/>
            </a:pPr>
            <a:r>
              <a:rPr lang="en-US" b="0" i="0" dirty="0">
                <a:solidFill>
                  <a:srgbClr val="0F1115"/>
                </a:solidFill>
                <a:effectLst/>
                <a:latin typeface="Menlo"/>
              </a:rPr>
              <a:t>2. Implement Book class with equals() and </a:t>
            </a:r>
            <a:r>
              <a:rPr lang="en-US" b="0" i="0" dirty="0" err="1">
                <a:solidFill>
                  <a:srgbClr val="0F1115"/>
                </a:solidFill>
                <a:effectLst/>
                <a:latin typeface="Menlo"/>
              </a:rPr>
              <a:t>hashCode</a:t>
            </a:r>
            <a:r>
              <a:rPr lang="en-US" b="0" i="0" dirty="0">
                <a:solidFill>
                  <a:srgbClr val="0F1115"/>
                </a:solidFill>
                <a:effectLst/>
                <a:latin typeface="Menlo"/>
              </a:rPr>
              <a:t>()</a:t>
            </a:r>
          </a:p>
          <a:p>
            <a:pPr algn="l" latinLnBrk="1">
              <a:lnSpc>
                <a:spcPts val="1650"/>
              </a:lnSpc>
              <a:spcBef>
                <a:spcPts val="1200"/>
              </a:spcBef>
              <a:spcAft>
                <a:spcPts val="857"/>
              </a:spcAft>
              <a:buNone/>
            </a:pPr>
            <a:r>
              <a:rPr lang="en-US" b="0" i="0" dirty="0">
                <a:solidFill>
                  <a:srgbClr val="0F1115"/>
                </a:solidFill>
                <a:effectLst/>
                <a:latin typeface="Menlo"/>
              </a:rPr>
              <a:t>3. Write code to add, remove, and search books</a:t>
            </a:r>
          </a:p>
          <a:p>
            <a:pPr algn="l" latinLnBrk="1">
              <a:lnSpc>
                <a:spcPts val="1650"/>
              </a:lnSpc>
              <a:spcBef>
                <a:spcPts val="1200"/>
              </a:spcBef>
              <a:spcAft>
                <a:spcPts val="857"/>
              </a:spcAft>
              <a:buNone/>
            </a:pPr>
            <a:endParaRPr lang="en-US" b="0" i="0" dirty="0">
              <a:solidFill>
                <a:srgbClr val="0F1115"/>
              </a:solidFill>
              <a:effectLst/>
              <a:latin typeface="Menlo"/>
            </a:endParaRPr>
          </a:p>
          <a:p>
            <a:pPr algn="l" latinLnBrk="1">
              <a:lnSpc>
                <a:spcPts val="1650"/>
              </a:lnSpc>
              <a:spcBef>
                <a:spcPts val="1200"/>
              </a:spcBef>
              <a:spcAft>
                <a:spcPts val="857"/>
              </a:spcAft>
              <a:buNone/>
            </a:pPr>
            <a:r>
              <a:rPr lang="en-US" b="0" i="0" dirty="0">
                <a:solidFill>
                  <a:srgbClr val="0F1115"/>
                </a:solidFill>
                <a:effectLst/>
                <a:latin typeface="Menlo"/>
              </a:rPr>
              <a:t>Solution Hints:</a:t>
            </a:r>
          </a:p>
          <a:p>
            <a:pPr algn="l" latinLnBrk="1">
              <a:lnSpc>
                <a:spcPts val="1650"/>
              </a:lnSpc>
              <a:spcBef>
                <a:spcPts val="1200"/>
              </a:spcBef>
              <a:spcAft>
                <a:spcPts val="857"/>
              </a:spcAft>
              <a:buNone/>
            </a:pPr>
            <a:r>
              <a:rPr lang="en-US" b="0" i="0" dirty="0">
                <a:solidFill>
                  <a:srgbClr val="0F1115"/>
                </a:solidFill>
                <a:effectLst/>
                <a:latin typeface="Menlo"/>
              </a:rPr>
              <a:t>• Use HashSet&lt;Book&gt; for catalog (override equals/</a:t>
            </a:r>
            <a:r>
              <a:rPr lang="en-US" b="0" i="0" dirty="0" err="1">
                <a:solidFill>
                  <a:srgbClr val="0F1115"/>
                </a:solidFill>
                <a:effectLst/>
                <a:latin typeface="Menlo"/>
              </a:rPr>
              <a:t>hashCode</a:t>
            </a:r>
            <a:r>
              <a:rPr lang="en-US" b="0" i="0" dirty="0">
                <a:solidFill>
                  <a:srgbClr val="0F1115"/>
                </a:solidFill>
                <a:effectLst/>
                <a:latin typeface="Menlo"/>
              </a:rPr>
              <a:t>)</a:t>
            </a:r>
          </a:p>
          <a:p>
            <a:pPr algn="l" latinLnBrk="1">
              <a:lnSpc>
                <a:spcPts val="1650"/>
              </a:lnSpc>
              <a:spcBef>
                <a:spcPts val="1200"/>
              </a:spcBef>
              <a:spcAft>
                <a:spcPts val="857"/>
              </a:spcAft>
              <a:buNone/>
            </a:pPr>
            <a:r>
              <a:rPr lang="en-US" b="0" i="0" dirty="0">
                <a:solidFill>
                  <a:srgbClr val="0F1115"/>
                </a:solidFill>
                <a:effectLst/>
                <a:latin typeface="Menlo"/>
              </a:rPr>
              <a:t>• Use HashMap&lt;User, List&lt;Book&gt;&gt; for borrowed books</a:t>
            </a:r>
          </a:p>
          <a:p>
            <a:pPr algn="l" latinLnBrk="1">
              <a:lnSpc>
                <a:spcPts val="1650"/>
              </a:lnSpc>
              <a:spcBef>
                <a:spcPts val="1200"/>
              </a:spcBef>
              <a:spcAft>
                <a:spcPts val="857"/>
              </a:spcAft>
              <a:buNone/>
            </a:pPr>
            <a:r>
              <a:rPr lang="en-US" b="0" i="0" dirty="0">
                <a:solidFill>
                  <a:srgbClr val="0F1115"/>
                </a:solidFill>
                <a:effectLst/>
                <a:latin typeface="Menlo"/>
              </a:rPr>
              <a:t>• Use </a:t>
            </a:r>
            <a:r>
              <a:rPr lang="en-US" b="0" i="0" dirty="0" err="1">
                <a:solidFill>
                  <a:srgbClr val="0F1115"/>
                </a:solidFill>
                <a:effectLst/>
                <a:latin typeface="Menlo"/>
              </a:rPr>
              <a:t>TreeSet</a:t>
            </a:r>
            <a:r>
              <a:rPr lang="en-US" b="0" i="0" dirty="0">
                <a:solidFill>
                  <a:srgbClr val="0F1115"/>
                </a:solidFill>
                <a:effectLst/>
                <a:latin typeface="Menlo"/>
              </a:rPr>
              <a:t>&lt;Book&gt; for sorted display</a:t>
            </a:r>
          </a:p>
          <a:p>
            <a:pPr algn="l" latinLnBrk="1">
              <a:lnSpc>
                <a:spcPts val="1650"/>
              </a:lnSpc>
              <a:spcBef>
                <a:spcPts val="1200"/>
              </a:spcBef>
              <a:spcAft>
                <a:spcPts val="857"/>
              </a:spcAft>
              <a:buNone/>
            </a:pPr>
            <a:r>
              <a:rPr lang="en-US" b="0" i="0" dirty="0">
                <a:solidFill>
                  <a:srgbClr val="0F1115"/>
                </a:solidFill>
                <a:effectLst/>
                <a:latin typeface="Menlo"/>
              </a:rPr>
              <a:t>• Use HashMap&lt;String, Set&lt;Book&gt;&gt; for author index</a:t>
            </a:r>
          </a:p>
          <a:p>
            <a:pPr>
              <a:buNone/>
            </a:pPr>
            <a:br>
              <a:rPr lang="en-US" dirty="0"/>
            </a:br>
            <a:endParaRPr lang="en-US" dirty="0"/>
          </a:p>
        </p:txBody>
      </p:sp>
    </p:spTree>
    <p:extLst>
      <p:ext uri="{BB962C8B-B14F-4D97-AF65-F5344CB8AC3E}">
        <p14:creationId xmlns:p14="http://schemas.microsoft.com/office/powerpoint/2010/main" val="54935941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25FFCC-1C31-D741-C516-D1BED6D2780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667EFE9-2420-94E0-ED9A-41955BA47FE0}"/>
              </a:ext>
            </a:extLst>
          </p:cNvPr>
          <p:cNvSpPr txBox="1"/>
          <p:nvPr/>
        </p:nvSpPr>
        <p:spPr>
          <a:xfrm>
            <a:off x="3046344" y="-2487363"/>
            <a:ext cx="6092686" cy="11832726"/>
          </a:xfrm>
          <a:prstGeom prst="rect">
            <a:avLst/>
          </a:prstGeom>
          <a:noFill/>
        </p:spPr>
        <p:txBody>
          <a:bodyPr wrap="square">
            <a:spAutoFit/>
          </a:bodyPr>
          <a:lstStyle/>
          <a:p>
            <a:pPr algn="l">
              <a:lnSpc>
                <a:spcPts val="2400"/>
              </a:lnSpc>
              <a:spcBef>
                <a:spcPts val="2400"/>
              </a:spcBef>
              <a:spcAft>
                <a:spcPts val="1200"/>
              </a:spcAft>
              <a:buNone/>
            </a:pPr>
            <a:r>
              <a:rPr lang="en-US" b="1" dirty="0">
                <a:solidFill>
                  <a:srgbClr val="0F1115"/>
                </a:solidFill>
                <a:effectLst/>
                <a:latin typeface="quote-cjk-patch"/>
              </a:rPr>
              <a:t>Common Pitfalls &amp; Solutions</a:t>
            </a:r>
          </a:p>
          <a:p>
            <a:pPr algn="l">
              <a:lnSpc>
                <a:spcPts val="1350"/>
              </a:lnSpc>
              <a:spcBef>
                <a:spcPts val="1200"/>
              </a:spcBef>
              <a:spcAft>
                <a:spcPts val="857"/>
              </a:spcAft>
              <a:buNone/>
            </a:pPr>
            <a:r>
              <a:rPr lang="en-US" b="0" i="0" dirty="0">
                <a:solidFill>
                  <a:srgbClr val="0F1115"/>
                </a:solidFill>
                <a:effectLst/>
                <a:latin typeface="Menlo"/>
              </a:rPr>
              <a:t>text</a:t>
            </a:r>
            <a:endParaRPr lang="en-US" b="0" i="0" dirty="0">
              <a:solidFill>
                <a:srgbClr val="0F1115"/>
              </a:solidFill>
              <a:effectLst/>
              <a:latin typeface="quote-cjk-patch"/>
            </a:endParaRPr>
          </a:p>
          <a:p>
            <a:pPr algn="l" latinLnBrk="1">
              <a:lnSpc>
                <a:spcPts val="1650"/>
              </a:lnSpc>
              <a:spcBef>
                <a:spcPts val="1200"/>
              </a:spcBef>
              <a:spcAft>
                <a:spcPts val="857"/>
              </a:spcAft>
              <a:buNone/>
            </a:pPr>
            <a:r>
              <a:rPr lang="en-US" b="0" i="0" dirty="0">
                <a:solidFill>
                  <a:srgbClr val="0F1115"/>
                </a:solidFill>
                <a:effectLst/>
                <a:latin typeface="Menlo"/>
              </a:rPr>
              <a:t>COMMON MISTAKES &amp; FIXES</a:t>
            </a:r>
          </a:p>
          <a:p>
            <a:pPr algn="l" latinLnBrk="1">
              <a:lnSpc>
                <a:spcPts val="1650"/>
              </a:lnSpc>
              <a:spcBef>
                <a:spcPts val="1200"/>
              </a:spcBef>
              <a:spcAft>
                <a:spcPts val="857"/>
              </a:spcAft>
              <a:buNone/>
            </a:pPr>
            <a:r>
              <a:rPr lang="en-US" b="0" i="0" dirty="0">
                <a:solidFill>
                  <a:srgbClr val="0F1115"/>
                </a:solidFill>
                <a:effectLst/>
                <a:latin typeface="Menlo"/>
              </a:rPr>
              <a:t>──────────────────────────</a:t>
            </a:r>
          </a:p>
          <a:p>
            <a:pPr algn="l" latinLnBrk="1">
              <a:lnSpc>
                <a:spcPts val="1650"/>
              </a:lnSpc>
              <a:spcBef>
                <a:spcPts val="1200"/>
              </a:spcBef>
              <a:spcAft>
                <a:spcPts val="857"/>
              </a:spcAft>
              <a:buNone/>
            </a:pPr>
            <a:r>
              <a:rPr lang="en-US" b="0" i="0" dirty="0">
                <a:solidFill>
                  <a:srgbClr val="0F1115"/>
                </a:solidFill>
                <a:effectLst/>
                <a:latin typeface="Menlo"/>
              </a:rPr>
              <a:t>1. Modifying collection while iterating:</a:t>
            </a:r>
          </a:p>
          <a:p>
            <a:pPr algn="l" latinLnBrk="1">
              <a:lnSpc>
                <a:spcPts val="1650"/>
              </a:lnSpc>
              <a:spcBef>
                <a:spcPts val="1200"/>
              </a:spcBef>
              <a:spcAft>
                <a:spcPts val="857"/>
              </a:spcAft>
              <a:buNone/>
            </a:pPr>
            <a:r>
              <a:rPr lang="en-US" b="0" i="0" dirty="0">
                <a:solidFill>
                  <a:srgbClr val="0F1115"/>
                </a:solidFill>
                <a:effectLst/>
                <a:latin typeface="Menlo"/>
              </a:rPr>
              <a:t>   // Wrong:</a:t>
            </a:r>
          </a:p>
          <a:p>
            <a:pPr algn="l" latinLnBrk="1">
              <a:lnSpc>
                <a:spcPts val="1650"/>
              </a:lnSpc>
              <a:spcBef>
                <a:spcPts val="1200"/>
              </a:spcBef>
              <a:spcAft>
                <a:spcPts val="857"/>
              </a:spcAft>
              <a:buNone/>
            </a:pPr>
            <a:r>
              <a:rPr lang="en-US" b="0" i="0" dirty="0">
                <a:solidFill>
                  <a:srgbClr val="0F1115"/>
                </a:solidFill>
                <a:effectLst/>
                <a:latin typeface="Menlo"/>
              </a:rPr>
              <a:t>   for(String item : list) {</a:t>
            </a:r>
          </a:p>
          <a:p>
            <a:pPr algn="l" latinLnBrk="1">
              <a:lnSpc>
                <a:spcPts val="1650"/>
              </a:lnSpc>
              <a:spcBef>
                <a:spcPts val="1200"/>
              </a:spcBef>
              <a:spcAft>
                <a:spcPts val="857"/>
              </a:spcAft>
              <a:buNone/>
            </a:pPr>
            <a:r>
              <a:rPr lang="en-US" b="0" i="0" dirty="0">
                <a:solidFill>
                  <a:srgbClr val="0F1115"/>
                </a:solidFill>
                <a:effectLst/>
                <a:latin typeface="Menlo"/>
              </a:rPr>
              <a:t>       if(condition) </a:t>
            </a:r>
            <a:r>
              <a:rPr lang="en-US" b="0" i="0" dirty="0" err="1">
                <a:solidFill>
                  <a:srgbClr val="0F1115"/>
                </a:solidFill>
                <a:effectLst/>
                <a:latin typeface="Menlo"/>
              </a:rPr>
              <a:t>list.remove</a:t>
            </a:r>
            <a:r>
              <a:rPr lang="en-US" b="0" i="0" dirty="0">
                <a:solidFill>
                  <a:srgbClr val="0F1115"/>
                </a:solidFill>
                <a:effectLst/>
                <a:latin typeface="Menlo"/>
              </a:rPr>
              <a:t>(item); // </a:t>
            </a:r>
            <a:r>
              <a:rPr lang="en-US" b="0" i="0" dirty="0" err="1">
                <a:solidFill>
                  <a:srgbClr val="0F1115"/>
                </a:solidFill>
                <a:effectLst/>
                <a:latin typeface="Menlo"/>
              </a:rPr>
              <a:t>ConcurrentModificationException</a:t>
            </a:r>
            <a:endParaRPr lang="en-US" b="0" i="0" dirty="0">
              <a:solidFill>
                <a:srgbClr val="0F1115"/>
              </a:solidFill>
              <a:effectLst/>
              <a:latin typeface="Menlo"/>
            </a:endParaRPr>
          </a:p>
          <a:p>
            <a:pPr algn="l" latinLnBrk="1">
              <a:lnSpc>
                <a:spcPts val="1650"/>
              </a:lnSpc>
              <a:spcBef>
                <a:spcPts val="1200"/>
              </a:spcBef>
              <a:spcAft>
                <a:spcPts val="857"/>
              </a:spcAft>
              <a:buNone/>
            </a:pPr>
            <a:r>
              <a:rPr lang="en-US" b="0" i="0" dirty="0">
                <a:solidFill>
                  <a:srgbClr val="0F1115"/>
                </a:solidFill>
                <a:effectLst/>
                <a:latin typeface="Menlo"/>
              </a:rPr>
              <a:t>   }</a:t>
            </a:r>
          </a:p>
          <a:p>
            <a:pPr algn="l" latinLnBrk="1">
              <a:lnSpc>
                <a:spcPts val="1650"/>
              </a:lnSpc>
              <a:spcBef>
                <a:spcPts val="1200"/>
              </a:spcBef>
              <a:spcAft>
                <a:spcPts val="857"/>
              </a:spcAft>
              <a:buNone/>
            </a:pPr>
            <a:r>
              <a:rPr lang="en-US" b="0" i="0" dirty="0">
                <a:solidFill>
                  <a:srgbClr val="0F1115"/>
                </a:solidFill>
                <a:effectLst/>
                <a:latin typeface="Menlo"/>
              </a:rPr>
              <a:t>   </a:t>
            </a:r>
          </a:p>
          <a:p>
            <a:pPr algn="l" latinLnBrk="1">
              <a:lnSpc>
                <a:spcPts val="1650"/>
              </a:lnSpc>
              <a:spcBef>
                <a:spcPts val="1200"/>
              </a:spcBef>
              <a:spcAft>
                <a:spcPts val="857"/>
              </a:spcAft>
              <a:buNone/>
            </a:pPr>
            <a:r>
              <a:rPr lang="en-US" b="0" i="0" dirty="0">
                <a:solidFill>
                  <a:srgbClr val="0F1115"/>
                </a:solidFill>
                <a:effectLst/>
                <a:latin typeface="Menlo"/>
              </a:rPr>
              <a:t>   // Right:</a:t>
            </a:r>
          </a:p>
          <a:p>
            <a:pPr algn="l" latinLnBrk="1">
              <a:lnSpc>
                <a:spcPts val="1650"/>
              </a:lnSpc>
              <a:spcBef>
                <a:spcPts val="1200"/>
              </a:spcBef>
              <a:spcAft>
                <a:spcPts val="857"/>
              </a:spcAft>
              <a:buNone/>
            </a:pPr>
            <a:r>
              <a:rPr lang="en-US" b="0" i="0" dirty="0">
                <a:solidFill>
                  <a:srgbClr val="0F1115"/>
                </a:solidFill>
                <a:effectLst/>
                <a:latin typeface="Menlo"/>
              </a:rPr>
              <a:t>   </a:t>
            </a:r>
            <a:r>
              <a:rPr lang="en-US" b="0" i="0" dirty="0" err="1">
                <a:solidFill>
                  <a:srgbClr val="0F1115"/>
                </a:solidFill>
                <a:effectLst/>
                <a:latin typeface="Menlo"/>
              </a:rPr>
              <a:t>list.removeIf</a:t>
            </a:r>
            <a:r>
              <a:rPr lang="en-US" b="0" i="0" dirty="0">
                <a:solidFill>
                  <a:srgbClr val="0F1115"/>
                </a:solidFill>
                <a:effectLst/>
                <a:latin typeface="Menlo"/>
              </a:rPr>
              <a:t>(item -&gt; condition);</a:t>
            </a:r>
          </a:p>
          <a:p>
            <a:pPr algn="l" latinLnBrk="1">
              <a:lnSpc>
                <a:spcPts val="1650"/>
              </a:lnSpc>
              <a:spcBef>
                <a:spcPts val="1200"/>
              </a:spcBef>
              <a:spcAft>
                <a:spcPts val="857"/>
              </a:spcAft>
              <a:buNone/>
            </a:pPr>
            <a:endParaRPr lang="en-US" b="0" i="0" dirty="0">
              <a:solidFill>
                <a:srgbClr val="0F1115"/>
              </a:solidFill>
              <a:effectLst/>
              <a:latin typeface="Menlo"/>
            </a:endParaRPr>
          </a:p>
          <a:p>
            <a:pPr algn="l" latinLnBrk="1">
              <a:lnSpc>
                <a:spcPts val="1650"/>
              </a:lnSpc>
              <a:spcBef>
                <a:spcPts val="1200"/>
              </a:spcBef>
              <a:spcAft>
                <a:spcPts val="857"/>
              </a:spcAft>
              <a:buNone/>
            </a:pPr>
            <a:r>
              <a:rPr lang="en-US" b="0" i="0" dirty="0">
                <a:solidFill>
                  <a:srgbClr val="0F1115"/>
                </a:solidFill>
                <a:effectLst/>
                <a:latin typeface="Menlo"/>
              </a:rPr>
              <a:t>2. Not overriding equals() and </a:t>
            </a:r>
            <a:r>
              <a:rPr lang="en-US" b="0" i="0" dirty="0" err="1">
                <a:solidFill>
                  <a:srgbClr val="0F1115"/>
                </a:solidFill>
                <a:effectLst/>
                <a:latin typeface="Menlo"/>
              </a:rPr>
              <a:t>hashCode</a:t>
            </a:r>
            <a:r>
              <a:rPr lang="en-US" b="0" i="0" dirty="0">
                <a:solidFill>
                  <a:srgbClr val="0F1115"/>
                </a:solidFill>
                <a:effectLst/>
                <a:latin typeface="Menlo"/>
              </a:rPr>
              <a:t>():</a:t>
            </a:r>
          </a:p>
          <a:p>
            <a:pPr algn="l" latinLnBrk="1">
              <a:lnSpc>
                <a:spcPts val="1650"/>
              </a:lnSpc>
              <a:spcBef>
                <a:spcPts val="1200"/>
              </a:spcBef>
              <a:spcAft>
                <a:spcPts val="857"/>
              </a:spcAft>
              <a:buNone/>
            </a:pPr>
            <a:r>
              <a:rPr lang="en-US" b="0" i="0" dirty="0">
                <a:solidFill>
                  <a:srgbClr val="0F1115"/>
                </a:solidFill>
                <a:effectLst/>
                <a:latin typeface="Menlo"/>
              </a:rPr>
              <a:t>   • Required for HashSet/HashMap keys</a:t>
            </a:r>
          </a:p>
          <a:p>
            <a:pPr algn="l" latinLnBrk="1">
              <a:lnSpc>
                <a:spcPts val="1650"/>
              </a:lnSpc>
              <a:spcBef>
                <a:spcPts val="1200"/>
              </a:spcBef>
              <a:spcAft>
                <a:spcPts val="857"/>
              </a:spcAft>
              <a:buNone/>
            </a:pPr>
            <a:r>
              <a:rPr lang="en-US" b="0" i="0" dirty="0">
                <a:solidFill>
                  <a:srgbClr val="0F1115"/>
                </a:solidFill>
                <a:effectLst/>
                <a:latin typeface="Menlo"/>
              </a:rPr>
              <a:t>   • Use IDE generate or </a:t>
            </a:r>
            <a:r>
              <a:rPr lang="en-US" b="0" i="0" dirty="0" err="1">
                <a:solidFill>
                  <a:srgbClr val="0F1115"/>
                </a:solidFill>
                <a:effectLst/>
                <a:latin typeface="Menlo"/>
              </a:rPr>
              <a:t>lombok</a:t>
            </a:r>
            <a:r>
              <a:rPr lang="en-US" b="0" i="0" dirty="0">
                <a:solidFill>
                  <a:srgbClr val="0F1115"/>
                </a:solidFill>
                <a:effectLst/>
                <a:latin typeface="Menlo"/>
              </a:rPr>
              <a:t> @Data</a:t>
            </a:r>
          </a:p>
          <a:p>
            <a:pPr algn="l" latinLnBrk="1">
              <a:lnSpc>
                <a:spcPts val="1650"/>
              </a:lnSpc>
              <a:spcBef>
                <a:spcPts val="1200"/>
              </a:spcBef>
              <a:spcAft>
                <a:spcPts val="857"/>
              </a:spcAft>
              <a:buNone/>
            </a:pPr>
            <a:endParaRPr lang="en-US" b="0" i="0" dirty="0">
              <a:solidFill>
                <a:srgbClr val="0F1115"/>
              </a:solidFill>
              <a:effectLst/>
              <a:latin typeface="Menlo"/>
            </a:endParaRPr>
          </a:p>
          <a:p>
            <a:pPr algn="l" latinLnBrk="1">
              <a:lnSpc>
                <a:spcPts val="1650"/>
              </a:lnSpc>
              <a:spcBef>
                <a:spcPts val="1200"/>
              </a:spcBef>
              <a:spcAft>
                <a:spcPts val="857"/>
              </a:spcAft>
              <a:buNone/>
            </a:pPr>
            <a:r>
              <a:rPr lang="en-US" b="0" i="0" dirty="0">
                <a:solidFill>
                  <a:srgbClr val="0F1115"/>
                </a:solidFill>
                <a:effectLst/>
                <a:latin typeface="Menlo"/>
              </a:rPr>
              <a:t>3. Using synchronized collections incorrectly:</a:t>
            </a:r>
          </a:p>
          <a:p>
            <a:pPr algn="l" latinLnBrk="1">
              <a:lnSpc>
                <a:spcPts val="1650"/>
              </a:lnSpc>
              <a:spcBef>
                <a:spcPts val="1200"/>
              </a:spcBef>
              <a:spcAft>
                <a:spcPts val="857"/>
              </a:spcAft>
              <a:buNone/>
            </a:pPr>
            <a:r>
              <a:rPr lang="en-US" b="0" i="0" dirty="0">
                <a:solidFill>
                  <a:srgbClr val="0F1115"/>
                </a:solidFill>
                <a:effectLst/>
                <a:latin typeface="Menlo"/>
              </a:rPr>
              <a:t>   • Individual operations are thread-safe</a:t>
            </a:r>
          </a:p>
          <a:p>
            <a:pPr algn="l" latinLnBrk="1">
              <a:lnSpc>
                <a:spcPts val="1650"/>
              </a:lnSpc>
              <a:spcBef>
                <a:spcPts val="1200"/>
              </a:spcBef>
              <a:spcAft>
                <a:spcPts val="857"/>
              </a:spcAft>
              <a:buNone/>
            </a:pPr>
            <a:r>
              <a:rPr lang="en-US" b="0" i="0" dirty="0">
                <a:solidFill>
                  <a:srgbClr val="0F1115"/>
                </a:solidFill>
                <a:effectLst/>
                <a:latin typeface="Menlo"/>
              </a:rPr>
              <a:t>   • But compound operations need external synchronization</a:t>
            </a:r>
          </a:p>
          <a:p>
            <a:pPr algn="l" latinLnBrk="1">
              <a:lnSpc>
                <a:spcPts val="1650"/>
              </a:lnSpc>
              <a:spcBef>
                <a:spcPts val="1200"/>
              </a:spcBef>
              <a:spcAft>
                <a:spcPts val="857"/>
              </a:spcAft>
              <a:buNone/>
            </a:pPr>
            <a:endParaRPr lang="en-US" b="0" i="0" dirty="0">
              <a:solidFill>
                <a:srgbClr val="0F1115"/>
              </a:solidFill>
              <a:effectLst/>
              <a:latin typeface="Menlo"/>
            </a:endParaRPr>
          </a:p>
          <a:p>
            <a:pPr algn="l" latinLnBrk="1">
              <a:lnSpc>
                <a:spcPts val="1650"/>
              </a:lnSpc>
              <a:spcBef>
                <a:spcPts val="1200"/>
              </a:spcBef>
              <a:spcAft>
                <a:spcPts val="857"/>
              </a:spcAft>
              <a:buNone/>
            </a:pPr>
            <a:r>
              <a:rPr lang="en-US" b="0" i="0" dirty="0">
                <a:solidFill>
                  <a:srgbClr val="0F1115"/>
                </a:solidFill>
                <a:effectLst/>
                <a:latin typeface="Menlo"/>
              </a:rPr>
              <a:t>4. Memory leaks with HashMap:</a:t>
            </a:r>
          </a:p>
          <a:p>
            <a:pPr algn="l" latinLnBrk="1">
              <a:lnSpc>
                <a:spcPts val="1650"/>
              </a:lnSpc>
              <a:spcBef>
                <a:spcPts val="1200"/>
              </a:spcBef>
              <a:spcAft>
                <a:spcPts val="857"/>
              </a:spcAft>
              <a:buNone/>
            </a:pPr>
            <a:r>
              <a:rPr lang="en-US" b="0" i="0" dirty="0">
                <a:solidFill>
                  <a:srgbClr val="0F1115"/>
                </a:solidFill>
                <a:effectLst/>
                <a:latin typeface="Menlo"/>
              </a:rPr>
              <a:t>   • Use </a:t>
            </a:r>
            <a:r>
              <a:rPr lang="en-US" b="0" i="0" dirty="0" err="1">
                <a:solidFill>
                  <a:srgbClr val="0F1115"/>
                </a:solidFill>
                <a:effectLst/>
                <a:latin typeface="Menlo"/>
              </a:rPr>
              <a:t>WeakHashMap</a:t>
            </a:r>
            <a:r>
              <a:rPr lang="en-US" b="0" i="0" dirty="0">
                <a:solidFill>
                  <a:srgbClr val="0F1115"/>
                </a:solidFill>
                <a:effectLst/>
                <a:latin typeface="Menlo"/>
              </a:rPr>
              <a:t> for cache-like behavior</a:t>
            </a:r>
          </a:p>
          <a:p>
            <a:pPr algn="l" latinLnBrk="1">
              <a:lnSpc>
                <a:spcPts val="1650"/>
              </a:lnSpc>
              <a:spcBef>
                <a:spcPts val="1200"/>
              </a:spcBef>
              <a:spcAft>
                <a:spcPts val="857"/>
              </a:spcAft>
              <a:buNone/>
            </a:pPr>
            <a:r>
              <a:rPr lang="en-US" b="0" i="0" dirty="0">
                <a:solidFill>
                  <a:srgbClr val="0F1115"/>
                </a:solidFill>
                <a:effectLst/>
                <a:latin typeface="Menlo"/>
              </a:rPr>
              <a:t>   • Clear references no longer needed</a:t>
            </a:r>
          </a:p>
        </p:txBody>
      </p:sp>
    </p:spTree>
    <p:extLst>
      <p:ext uri="{BB962C8B-B14F-4D97-AF65-F5344CB8AC3E}">
        <p14:creationId xmlns:p14="http://schemas.microsoft.com/office/powerpoint/2010/main" val="308701069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5C9B09-12DA-BF50-9C9C-5DB7257EBAD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E4754FD-9EE8-F249-159E-89F02A6711F1}"/>
              </a:ext>
            </a:extLst>
          </p:cNvPr>
          <p:cNvSpPr txBox="1"/>
          <p:nvPr/>
        </p:nvSpPr>
        <p:spPr>
          <a:xfrm>
            <a:off x="3046344" y="-2622015"/>
            <a:ext cx="6092686" cy="12102031"/>
          </a:xfrm>
          <a:prstGeom prst="rect">
            <a:avLst/>
          </a:prstGeom>
          <a:noFill/>
        </p:spPr>
        <p:txBody>
          <a:bodyPr wrap="square">
            <a:spAutoFit/>
          </a:bodyPr>
          <a:lstStyle/>
          <a:p>
            <a:pPr algn="l">
              <a:lnSpc>
                <a:spcPts val="2400"/>
              </a:lnSpc>
              <a:spcBef>
                <a:spcPts val="2400"/>
              </a:spcBef>
              <a:spcAft>
                <a:spcPts val="1200"/>
              </a:spcAft>
              <a:buNone/>
            </a:pPr>
            <a:r>
              <a:rPr lang="en-US" b="1" dirty="0">
                <a:solidFill>
                  <a:srgbClr val="0F1115"/>
                </a:solidFill>
                <a:effectLst/>
                <a:latin typeface="quote-cjk-patch"/>
              </a:rPr>
              <a:t>Summary &amp; Key Takeaways</a:t>
            </a:r>
          </a:p>
          <a:p>
            <a:pPr algn="l">
              <a:lnSpc>
                <a:spcPts val="1350"/>
              </a:lnSpc>
              <a:spcBef>
                <a:spcPts val="1200"/>
              </a:spcBef>
              <a:spcAft>
                <a:spcPts val="857"/>
              </a:spcAft>
              <a:buNone/>
            </a:pPr>
            <a:r>
              <a:rPr lang="en-US" b="0" i="0" dirty="0">
                <a:solidFill>
                  <a:srgbClr val="0F1115"/>
                </a:solidFill>
                <a:effectLst/>
                <a:latin typeface="Menlo"/>
              </a:rPr>
              <a:t>text</a:t>
            </a:r>
            <a:endParaRPr lang="en-US" b="0" i="0" dirty="0">
              <a:solidFill>
                <a:srgbClr val="0F1115"/>
              </a:solidFill>
              <a:effectLst/>
              <a:latin typeface="quote-cjk-patch"/>
            </a:endParaRPr>
          </a:p>
          <a:p>
            <a:pPr algn="l" latinLnBrk="1">
              <a:lnSpc>
                <a:spcPts val="1650"/>
              </a:lnSpc>
              <a:spcBef>
                <a:spcPts val="1200"/>
              </a:spcBef>
              <a:spcAft>
                <a:spcPts val="857"/>
              </a:spcAft>
              <a:buNone/>
            </a:pPr>
            <a:r>
              <a:rPr lang="en-US" b="0" i="0" dirty="0">
                <a:solidFill>
                  <a:srgbClr val="0F1115"/>
                </a:solidFill>
                <a:effectLst/>
                <a:latin typeface="Menlo"/>
              </a:rPr>
              <a:t>KEY TAKEAWAYS</a:t>
            </a:r>
          </a:p>
          <a:p>
            <a:pPr algn="l" latinLnBrk="1">
              <a:lnSpc>
                <a:spcPts val="1650"/>
              </a:lnSpc>
              <a:spcBef>
                <a:spcPts val="1200"/>
              </a:spcBef>
              <a:spcAft>
                <a:spcPts val="857"/>
              </a:spcAft>
              <a:buNone/>
            </a:pPr>
            <a:r>
              <a:rPr lang="en-US" b="0" i="0" dirty="0">
                <a:solidFill>
                  <a:srgbClr val="0F1115"/>
                </a:solidFill>
                <a:effectLst/>
                <a:latin typeface="Menlo"/>
              </a:rPr>
              <a:t>──────────────────────────</a:t>
            </a:r>
          </a:p>
          <a:p>
            <a:pPr algn="l" latinLnBrk="1">
              <a:lnSpc>
                <a:spcPts val="1650"/>
              </a:lnSpc>
              <a:spcBef>
                <a:spcPts val="1200"/>
              </a:spcBef>
              <a:spcAft>
                <a:spcPts val="857"/>
              </a:spcAft>
              <a:buNone/>
            </a:pPr>
            <a:r>
              <a:rPr lang="en-US" b="0" i="0" dirty="0">
                <a:solidFill>
                  <a:srgbClr val="0F1115"/>
                </a:solidFill>
                <a:effectLst/>
                <a:latin typeface="Menlo"/>
              </a:rPr>
              <a:t>1. Collections Framework provides:</a:t>
            </a:r>
          </a:p>
          <a:p>
            <a:pPr algn="l" latinLnBrk="1">
              <a:lnSpc>
                <a:spcPts val="1650"/>
              </a:lnSpc>
              <a:spcBef>
                <a:spcPts val="1200"/>
              </a:spcBef>
              <a:spcAft>
                <a:spcPts val="857"/>
              </a:spcAft>
              <a:buNone/>
            </a:pPr>
            <a:r>
              <a:rPr lang="en-US" b="0" i="0" dirty="0">
                <a:solidFill>
                  <a:srgbClr val="0F1115"/>
                </a:solidFill>
                <a:effectLst/>
                <a:latin typeface="Menlo"/>
              </a:rPr>
              <a:t>   • Ready-made data structures</a:t>
            </a:r>
          </a:p>
          <a:p>
            <a:pPr algn="l" latinLnBrk="1">
              <a:lnSpc>
                <a:spcPts val="1650"/>
              </a:lnSpc>
              <a:spcBef>
                <a:spcPts val="1200"/>
              </a:spcBef>
              <a:spcAft>
                <a:spcPts val="857"/>
              </a:spcAft>
              <a:buNone/>
            </a:pPr>
            <a:r>
              <a:rPr lang="en-US" b="0" i="0" dirty="0">
                <a:solidFill>
                  <a:srgbClr val="0F1115"/>
                </a:solidFill>
                <a:effectLst/>
                <a:latin typeface="Menlo"/>
              </a:rPr>
              <a:t>   • Algorithms (sort, search, shuffle)</a:t>
            </a:r>
          </a:p>
          <a:p>
            <a:pPr algn="l" latinLnBrk="1">
              <a:lnSpc>
                <a:spcPts val="1650"/>
              </a:lnSpc>
              <a:spcBef>
                <a:spcPts val="1200"/>
              </a:spcBef>
              <a:spcAft>
                <a:spcPts val="857"/>
              </a:spcAft>
              <a:buNone/>
            </a:pPr>
            <a:r>
              <a:rPr lang="en-US" b="0" i="0" dirty="0">
                <a:solidFill>
                  <a:srgbClr val="0F1115"/>
                </a:solidFill>
                <a:effectLst/>
                <a:latin typeface="Menlo"/>
              </a:rPr>
              <a:t>   • Better than arrays for dynamic data</a:t>
            </a:r>
          </a:p>
          <a:p>
            <a:pPr algn="l" latinLnBrk="1">
              <a:lnSpc>
                <a:spcPts val="1650"/>
              </a:lnSpc>
              <a:spcBef>
                <a:spcPts val="1200"/>
              </a:spcBef>
              <a:spcAft>
                <a:spcPts val="857"/>
              </a:spcAft>
              <a:buNone/>
            </a:pPr>
            <a:endParaRPr lang="en-US" b="0" i="0" dirty="0">
              <a:solidFill>
                <a:srgbClr val="0F1115"/>
              </a:solidFill>
              <a:effectLst/>
              <a:latin typeface="Menlo"/>
            </a:endParaRPr>
          </a:p>
          <a:p>
            <a:pPr algn="l" latinLnBrk="1">
              <a:lnSpc>
                <a:spcPts val="1650"/>
              </a:lnSpc>
              <a:spcBef>
                <a:spcPts val="1200"/>
              </a:spcBef>
              <a:spcAft>
                <a:spcPts val="857"/>
              </a:spcAft>
              <a:buNone/>
            </a:pPr>
            <a:r>
              <a:rPr lang="en-US" b="0" i="0" dirty="0">
                <a:solidFill>
                  <a:srgbClr val="0F1115"/>
                </a:solidFill>
                <a:effectLst/>
                <a:latin typeface="Menlo"/>
              </a:rPr>
              <a:t>2. Choose collection based on:</a:t>
            </a:r>
          </a:p>
          <a:p>
            <a:pPr algn="l" latinLnBrk="1">
              <a:lnSpc>
                <a:spcPts val="1650"/>
              </a:lnSpc>
              <a:spcBef>
                <a:spcPts val="1200"/>
              </a:spcBef>
              <a:spcAft>
                <a:spcPts val="857"/>
              </a:spcAft>
              <a:buNone/>
            </a:pPr>
            <a:r>
              <a:rPr lang="en-US" b="0" i="0" dirty="0">
                <a:solidFill>
                  <a:srgbClr val="0F1115"/>
                </a:solidFill>
                <a:effectLst/>
                <a:latin typeface="Menlo"/>
              </a:rPr>
              <a:t>   • Ordering needs</a:t>
            </a:r>
          </a:p>
          <a:p>
            <a:pPr algn="l" latinLnBrk="1">
              <a:lnSpc>
                <a:spcPts val="1650"/>
              </a:lnSpc>
              <a:spcBef>
                <a:spcPts val="1200"/>
              </a:spcBef>
              <a:spcAft>
                <a:spcPts val="857"/>
              </a:spcAft>
              <a:buNone/>
            </a:pPr>
            <a:r>
              <a:rPr lang="en-US" b="0" i="0" dirty="0">
                <a:solidFill>
                  <a:srgbClr val="0F1115"/>
                </a:solidFill>
                <a:effectLst/>
                <a:latin typeface="Menlo"/>
              </a:rPr>
              <a:t>   • Duplicates allowed?</a:t>
            </a:r>
          </a:p>
          <a:p>
            <a:pPr algn="l" latinLnBrk="1">
              <a:lnSpc>
                <a:spcPts val="1650"/>
              </a:lnSpc>
              <a:spcBef>
                <a:spcPts val="1200"/>
              </a:spcBef>
              <a:spcAft>
                <a:spcPts val="857"/>
              </a:spcAft>
              <a:buNone/>
            </a:pPr>
            <a:r>
              <a:rPr lang="en-US" b="0" i="0" dirty="0">
                <a:solidFill>
                  <a:srgbClr val="0F1115"/>
                </a:solidFill>
                <a:effectLst/>
                <a:latin typeface="Menlo"/>
              </a:rPr>
              <a:t>   • Access patterns (random/sequential)</a:t>
            </a:r>
          </a:p>
          <a:p>
            <a:pPr algn="l" latinLnBrk="1">
              <a:lnSpc>
                <a:spcPts val="1650"/>
              </a:lnSpc>
              <a:spcBef>
                <a:spcPts val="1200"/>
              </a:spcBef>
              <a:spcAft>
                <a:spcPts val="857"/>
              </a:spcAft>
              <a:buNone/>
            </a:pPr>
            <a:r>
              <a:rPr lang="en-US" b="0" i="0" dirty="0">
                <a:solidFill>
                  <a:srgbClr val="0F1115"/>
                </a:solidFill>
                <a:effectLst/>
                <a:latin typeface="Menlo"/>
              </a:rPr>
              <a:t>   • Thread-safety requirements</a:t>
            </a:r>
          </a:p>
          <a:p>
            <a:pPr algn="l" latinLnBrk="1">
              <a:lnSpc>
                <a:spcPts val="1650"/>
              </a:lnSpc>
              <a:spcBef>
                <a:spcPts val="1200"/>
              </a:spcBef>
              <a:spcAft>
                <a:spcPts val="857"/>
              </a:spcAft>
              <a:buNone/>
            </a:pPr>
            <a:endParaRPr lang="en-US" b="0" i="0" dirty="0">
              <a:solidFill>
                <a:srgbClr val="0F1115"/>
              </a:solidFill>
              <a:effectLst/>
              <a:latin typeface="Menlo"/>
            </a:endParaRPr>
          </a:p>
          <a:p>
            <a:pPr algn="l" latinLnBrk="1">
              <a:lnSpc>
                <a:spcPts val="1650"/>
              </a:lnSpc>
              <a:spcBef>
                <a:spcPts val="1200"/>
              </a:spcBef>
              <a:spcAft>
                <a:spcPts val="857"/>
              </a:spcAft>
              <a:buNone/>
            </a:pPr>
            <a:r>
              <a:rPr lang="en-US" b="0" i="0" dirty="0">
                <a:solidFill>
                  <a:srgbClr val="0F1115"/>
                </a:solidFill>
                <a:effectLst/>
                <a:latin typeface="Menlo"/>
              </a:rPr>
              <a:t>3. Most commonly used:</a:t>
            </a:r>
          </a:p>
          <a:p>
            <a:pPr algn="l" latinLnBrk="1">
              <a:lnSpc>
                <a:spcPts val="1650"/>
              </a:lnSpc>
              <a:spcBef>
                <a:spcPts val="1200"/>
              </a:spcBef>
              <a:spcAft>
                <a:spcPts val="857"/>
              </a:spcAft>
              <a:buNone/>
            </a:pPr>
            <a:r>
              <a:rPr lang="en-US" b="0" i="0" dirty="0">
                <a:solidFill>
                  <a:srgbClr val="0F1115"/>
                </a:solidFill>
                <a:effectLst/>
                <a:latin typeface="Menlo"/>
              </a:rPr>
              <a:t>   • </a:t>
            </a:r>
            <a:r>
              <a:rPr lang="en-US" b="0" i="0" dirty="0" err="1">
                <a:solidFill>
                  <a:srgbClr val="0F1115"/>
                </a:solidFill>
                <a:effectLst/>
                <a:latin typeface="Menlo"/>
              </a:rPr>
              <a:t>ArrayList</a:t>
            </a:r>
            <a:r>
              <a:rPr lang="en-US" b="0" i="0" dirty="0">
                <a:solidFill>
                  <a:srgbClr val="0F1115"/>
                </a:solidFill>
                <a:effectLst/>
                <a:latin typeface="Menlo"/>
              </a:rPr>
              <a:t> - general purpose list</a:t>
            </a:r>
          </a:p>
          <a:p>
            <a:pPr algn="l" latinLnBrk="1">
              <a:lnSpc>
                <a:spcPts val="1650"/>
              </a:lnSpc>
              <a:spcBef>
                <a:spcPts val="1200"/>
              </a:spcBef>
              <a:spcAft>
                <a:spcPts val="857"/>
              </a:spcAft>
              <a:buNone/>
            </a:pPr>
            <a:r>
              <a:rPr lang="en-US" b="0" i="0" dirty="0">
                <a:solidFill>
                  <a:srgbClr val="0F1115"/>
                </a:solidFill>
                <a:effectLst/>
                <a:latin typeface="Menlo"/>
              </a:rPr>
              <a:t>   • HashMap - key-value storage</a:t>
            </a:r>
          </a:p>
          <a:p>
            <a:pPr algn="l" latinLnBrk="1">
              <a:lnSpc>
                <a:spcPts val="1650"/>
              </a:lnSpc>
              <a:spcBef>
                <a:spcPts val="1200"/>
              </a:spcBef>
              <a:spcAft>
                <a:spcPts val="857"/>
              </a:spcAft>
              <a:buNone/>
            </a:pPr>
            <a:r>
              <a:rPr lang="en-US" b="0" i="0" dirty="0">
                <a:solidFill>
                  <a:srgbClr val="0F1115"/>
                </a:solidFill>
                <a:effectLst/>
                <a:latin typeface="Menlo"/>
              </a:rPr>
              <a:t>   • HashSet - unique elements</a:t>
            </a:r>
          </a:p>
          <a:p>
            <a:pPr algn="l" latinLnBrk="1">
              <a:lnSpc>
                <a:spcPts val="1650"/>
              </a:lnSpc>
              <a:spcBef>
                <a:spcPts val="1200"/>
              </a:spcBef>
              <a:spcAft>
                <a:spcPts val="857"/>
              </a:spcAft>
              <a:buNone/>
            </a:pPr>
            <a:endParaRPr lang="en-US" b="0" i="0" dirty="0">
              <a:solidFill>
                <a:srgbClr val="0F1115"/>
              </a:solidFill>
              <a:effectLst/>
              <a:latin typeface="Menlo"/>
            </a:endParaRPr>
          </a:p>
          <a:p>
            <a:pPr algn="l" latinLnBrk="1">
              <a:lnSpc>
                <a:spcPts val="1650"/>
              </a:lnSpc>
              <a:spcBef>
                <a:spcPts val="1200"/>
              </a:spcBef>
              <a:spcAft>
                <a:spcPts val="857"/>
              </a:spcAft>
              <a:buNone/>
            </a:pPr>
            <a:r>
              <a:rPr lang="en-US" b="0" i="0" dirty="0">
                <a:solidFill>
                  <a:srgbClr val="0F1115"/>
                </a:solidFill>
                <a:effectLst/>
                <a:latin typeface="Menlo"/>
              </a:rPr>
              <a:t>4. Always:</a:t>
            </a:r>
          </a:p>
          <a:p>
            <a:pPr algn="l" latinLnBrk="1">
              <a:lnSpc>
                <a:spcPts val="1650"/>
              </a:lnSpc>
              <a:spcBef>
                <a:spcPts val="1200"/>
              </a:spcBef>
              <a:spcAft>
                <a:spcPts val="857"/>
              </a:spcAft>
              <a:buNone/>
            </a:pPr>
            <a:r>
              <a:rPr lang="en-US" b="0" i="0" dirty="0">
                <a:solidFill>
                  <a:srgbClr val="0F1115"/>
                </a:solidFill>
                <a:effectLst/>
                <a:latin typeface="Menlo"/>
              </a:rPr>
              <a:t>   • Use generics</a:t>
            </a:r>
          </a:p>
          <a:p>
            <a:pPr algn="l" latinLnBrk="1">
              <a:lnSpc>
                <a:spcPts val="1650"/>
              </a:lnSpc>
              <a:spcBef>
                <a:spcPts val="1200"/>
              </a:spcBef>
              <a:spcAft>
                <a:spcPts val="857"/>
              </a:spcAft>
              <a:buNone/>
            </a:pPr>
            <a:r>
              <a:rPr lang="en-US" b="0" i="0" dirty="0">
                <a:solidFill>
                  <a:srgbClr val="0F1115"/>
                </a:solidFill>
                <a:effectLst/>
                <a:latin typeface="Menlo"/>
              </a:rPr>
              <a:t>   • Program to interfaces</a:t>
            </a:r>
          </a:p>
          <a:p>
            <a:pPr algn="l" latinLnBrk="1">
              <a:lnSpc>
                <a:spcPts val="1650"/>
              </a:lnSpc>
              <a:spcBef>
                <a:spcPts val="1200"/>
              </a:spcBef>
              <a:spcAft>
                <a:spcPts val="857"/>
              </a:spcAft>
              <a:buNone/>
            </a:pPr>
            <a:r>
              <a:rPr lang="en-US" b="0" i="0" dirty="0">
                <a:solidFill>
                  <a:srgbClr val="0F1115"/>
                </a:solidFill>
                <a:effectLst/>
                <a:latin typeface="Menlo"/>
              </a:rPr>
              <a:t>   • Consider thread-safety</a:t>
            </a:r>
          </a:p>
          <a:p>
            <a:pPr algn="l" latinLnBrk="1">
              <a:lnSpc>
                <a:spcPts val="1650"/>
              </a:lnSpc>
              <a:spcBef>
                <a:spcPts val="1200"/>
              </a:spcBef>
              <a:spcAft>
                <a:spcPts val="857"/>
              </a:spcAft>
              <a:buNone/>
            </a:pPr>
            <a:r>
              <a:rPr lang="en-US" b="0" i="0" dirty="0">
                <a:solidFill>
                  <a:srgbClr val="0F1115"/>
                </a:solidFill>
                <a:effectLst/>
                <a:latin typeface="Menlo"/>
              </a:rPr>
              <a:t>   • Choose right collection for job</a:t>
            </a:r>
          </a:p>
        </p:txBody>
      </p:sp>
    </p:spTree>
    <p:extLst>
      <p:ext uri="{BB962C8B-B14F-4D97-AF65-F5344CB8AC3E}">
        <p14:creationId xmlns:p14="http://schemas.microsoft.com/office/powerpoint/2010/main" val="329546954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A01A50-F308-8574-A96E-76A9E0F22A0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6D01041-79A9-3617-05C0-1BDDB7F50072}"/>
              </a:ext>
            </a:extLst>
          </p:cNvPr>
          <p:cNvSpPr txBox="1"/>
          <p:nvPr/>
        </p:nvSpPr>
        <p:spPr>
          <a:xfrm>
            <a:off x="3046344" y="-1403733"/>
            <a:ext cx="6092686" cy="9665466"/>
          </a:xfrm>
          <a:prstGeom prst="rect">
            <a:avLst/>
          </a:prstGeom>
          <a:noFill/>
        </p:spPr>
        <p:txBody>
          <a:bodyPr wrap="square">
            <a:spAutoFit/>
          </a:bodyPr>
          <a:lstStyle/>
          <a:p>
            <a:pPr algn="l">
              <a:lnSpc>
                <a:spcPts val="2400"/>
              </a:lnSpc>
              <a:spcBef>
                <a:spcPts val="2400"/>
              </a:spcBef>
              <a:spcAft>
                <a:spcPts val="1200"/>
              </a:spcAft>
              <a:buNone/>
            </a:pPr>
            <a:r>
              <a:rPr lang="en-US" b="1" dirty="0">
                <a:solidFill>
                  <a:srgbClr val="0F1115"/>
                </a:solidFill>
                <a:effectLst/>
                <a:latin typeface="quote-cjk-patch"/>
              </a:rPr>
              <a:t>Further Resources</a:t>
            </a:r>
          </a:p>
          <a:p>
            <a:pPr algn="l">
              <a:lnSpc>
                <a:spcPts val="1350"/>
              </a:lnSpc>
              <a:spcBef>
                <a:spcPts val="1200"/>
              </a:spcBef>
              <a:spcAft>
                <a:spcPts val="857"/>
              </a:spcAft>
              <a:buNone/>
            </a:pPr>
            <a:r>
              <a:rPr lang="en-US" b="0" i="0" dirty="0">
                <a:solidFill>
                  <a:srgbClr val="0F1115"/>
                </a:solidFill>
                <a:effectLst/>
                <a:latin typeface="Menlo"/>
              </a:rPr>
              <a:t>text</a:t>
            </a:r>
            <a:endParaRPr lang="en-US" b="0" i="0" dirty="0">
              <a:solidFill>
                <a:srgbClr val="0F1115"/>
              </a:solidFill>
              <a:effectLst/>
              <a:latin typeface="quote-cjk-patch"/>
            </a:endParaRPr>
          </a:p>
          <a:p>
            <a:pPr algn="l" latinLnBrk="1">
              <a:lnSpc>
                <a:spcPts val="1650"/>
              </a:lnSpc>
              <a:spcBef>
                <a:spcPts val="1200"/>
              </a:spcBef>
              <a:spcAft>
                <a:spcPts val="857"/>
              </a:spcAft>
              <a:buNone/>
            </a:pPr>
            <a:r>
              <a:rPr lang="en-US" b="0" i="0" dirty="0">
                <a:solidFill>
                  <a:srgbClr val="0F1115"/>
                </a:solidFill>
                <a:effectLst/>
                <a:latin typeface="Menlo"/>
              </a:rPr>
              <a:t>LEARNING RESOURCES</a:t>
            </a:r>
          </a:p>
          <a:p>
            <a:pPr algn="l" latinLnBrk="1">
              <a:lnSpc>
                <a:spcPts val="1650"/>
              </a:lnSpc>
              <a:spcBef>
                <a:spcPts val="1200"/>
              </a:spcBef>
              <a:spcAft>
                <a:spcPts val="857"/>
              </a:spcAft>
              <a:buNone/>
            </a:pPr>
            <a:r>
              <a:rPr lang="en-US" b="0" i="0" dirty="0">
                <a:solidFill>
                  <a:srgbClr val="0F1115"/>
                </a:solidFill>
                <a:effectLst/>
                <a:latin typeface="Menlo"/>
              </a:rPr>
              <a:t>──────────────────────────</a:t>
            </a:r>
          </a:p>
          <a:p>
            <a:pPr algn="l" latinLnBrk="1">
              <a:lnSpc>
                <a:spcPts val="1650"/>
              </a:lnSpc>
              <a:spcBef>
                <a:spcPts val="1200"/>
              </a:spcBef>
              <a:spcAft>
                <a:spcPts val="857"/>
              </a:spcAft>
              <a:buNone/>
            </a:pPr>
            <a:r>
              <a:rPr lang="en-US" b="0" i="0" dirty="0">
                <a:solidFill>
                  <a:srgbClr val="0F1115"/>
                </a:solidFill>
                <a:effectLst/>
                <a:latin typeface="Menlo"/>
              </a:rPr>
              <a:t>Official Documentation:</a:t>
            </a:r>
          </a:p>
          <a:p>
            <a:pPr algn="l" latinLnBrk="1">
              <a:lnSpc>
                <a:spcPts val="1650"/>
              </a:lnSpc>
              <a:spcBef>
                <a:spcPts val="1200"/>
              </a:spcBef>
              <a:spcAft>
                <a:spcPts val="857"/>
              </a:spcAft>
              <a:buNone/>
            </a:pPr>
            <a:r>
              <a:rPr lang="en-US" b="0" i="0" dirty="0">
                <a:solidFill>
                  <a:srgbClr val="0F1115"/>
                </a:solidFill>
                <a:effectLst/>
                <a:latin typeface="Menlo"/>
              </a:rPr>
              <a:t>• Oracle Java Collections Tutorial</a:t>
            </a:r>
          </a:p>
          <a:p>
            <a:pPr algn="l" latinLnBrk="1">
              <a:lnSpc>
                <a:spcPts val="1650"/>
              </a:lnSpc>
              <a:spcBef>
                <a:spcPts val="1200"/>
              </a:spcBef>
              <a:spcAft>
                <a:spcPts val="857"/>
              </a:spcAft>
              <a:buNone/>
            </a:pPr>
            <a:r>
              <a:rPr lang="en-US" b="0" i="0" dirty="0">
                <a:solidFill>
                  <a:srgbClr val="0F1115"/>
                </a:solidFill>
                <a:effectLst/>
                <a:latin typeface="Menlo"/>
              </a:rPr>
              <a:t>• Java API Specification</a:t>
            </a:r>
          </a:p>
          <a:p>
            <a:pPr algn="l" latinLnBrk="1">
              <a:lnSpc>
                <a:spcPts val="1650"/>
              </a:lnSpc>
              <a:spcBef>
                <a:spcPts val="1200"/>
              </a:spcBef>
              <a:spcAft>
                <a:spcPts val="857"/>
              </a:spcAft>
              <a:buNone/>
            </a:pPr>
            <a:endParaRPr lang="en-US" b="0" i="0" dirty="0">
              <a:solidFill>
                <a:srgbClr val="0F1115"/>
              </a:solidFill>
              <a:effectLst/>
              <a:latin typeface="Menlo"/>
            </a:endParaRPr>
          </a:p>
          <a:p>
            <a:pPr algn="l" latinLnBrk="1">
              <a:lnSpc>
                <a:spcPts val="1650"/>
              </a:lnSpc>
              <a:spcBef>
                <a:spcPts val="1200"/>
              </a:spcBef>
              <a:spcAft>
                <a:spcPts val="857"/>
              </a:spcAft>
              <a:buNone/>
            </a:pPr>
            <a:r>
              <a:rPr lang="en-US" b="0" i="0" dirty="0">
                <a:solidFill>
                  <a:srgbClr val="0F1115"/>
                </a:solidFill>
                <a:effectLst/>
                <a:latin typeface="Menlo"/>
              </a:rPr>
              <a:t>Books:</a:t>
            </a:r>
          </a:p>
          <a:p>
            <a:pPr algn="l" latinLnBrk="1">
              <a:lnSpc>
                <a:spcPts val="1650"/>
              </a:lnSpc>
              <a:spcBef>
                <a:spcPts val="1200"/>
              </a:spcBef>
              <a:spcAft>
                <a:spcPts val="857"/>
              </a:spcAft>
              <a:buNone/>
            </a:pPr>
            <a:r>
              <a:rPr lang="en-US" b="0" i="0" dirty="0">
                <a:solidFill>
                  <a:srgbClr val="0F1115"/>
                </a:solidFill>
                <a:effectLst/>
                <a:latin typeface="Menlo"/>
              </a:rPr>
              <a:t>• Effective Java by Joshua Bloch</a:t>
            </a:r>
          </a:p>
          <a:p>
            <a:pPr algn="l" latinLnBrk="1">
              <a:lnSpc>
                <a:spcPts val="1650"/>
              </a:lnSpc>
              <a:spcBef>
                <a:spcPts val="1200"/>
              </a:spcBef>
              <a:spcAft>
                <a:spcPts val="857"/>
              </a:spcAft>
              <a:buNone/>
            </a:pPr>
            <a:r>
              <a:rPr lang="en-US" b="0" i="0" dirty="0">
                <a:solidFill>
                  <a:srgbClr val="0F1115"/>
                </a:solidFill>
                <a:effectLst/>
                <a:latin typeface="Menlo"/>
              </a:rPr>
              <a:t>• Java Generics and Collections by Naftalin &amp; Wadler</a:t>
            </a:r>
          </a:p>
          <a:p>
            <a:pPr algn="l" latinLnBrk="1">
              <a:lnSpc>
                <a:spcPts val="1650"/>
              </a:lnSpc>
              <a:spcBef>
                <a:spcPts val="1200"/>
              </a:spcBef>
              <a:spcAft>
                <a:spcPts val="857"/>
              </a:spcAft>
              <a:buNone/>
            </a:pPr>
            <a:endParaRPr lang="en-US" b="0" i="0" dirty="0">
              <a:solidFill>
                <a:srgbClr val="0F1115"/>
              </a:solidFill>
              <a:effectLst/>
              <a:latin typeface="Menlo"/>
            </a:endParaRPr>
          </a:p>
          <a:p>
            <a:pPr algn="l" latinLnBrk="1">
              <a:lnSpc>
                <a:spcPts val="1650"/>
              </a:lnSpc>
              <a:spcBef>
                <a:spcPts val="1200"/>
              </a:spcBef>
              <a:spcAft>
                <a:spcPts val="857"/>
              </a:spcAft>
              <a:buNone/>
            </a:pPr>
            <a:r>
              <a:rPr lang="en-US" b="0" i="0" dirty="0">
                <a:solidFill>
                  <a:srgbClr val="0F1115"/>
                </a:solidFill>
                <a:effectLst/>
                <a:latin typeface="Menlo"/>
              </a:rPr>
              <a:t>Practice:</a:t>
            </a:r>
          </a:p>
          <a:p>
            <a:pPr algn="l" latinLnBrk="1">
              <a:lnSpc>
                <a:spcPts val="1650"/>
              </a:lnSpc>
              <a:spcBef>
                <a:spcPts val="1200"/>
              </a:spcBef>
              <a:spcAft>
                <a:spcPts val="857"/>
              </a:spcAft>
              <a:buNone/>
            </a:pPr>
            <a:r>
              <a:rPr lang="en-US" b="0" i="0" dirty="0">
                <a:solidFill>
                  <a:srgbClr val="0F1115"/>
                </a:solidFill>
                <a:effectLst/>
                <a:latin typeface="Menlo"/>
              </a:rPr>
              <a:t>• </a:t>
            </a:r>
            <a:r>
              <a:rPr lang="en-US" b="0" i="0" dirty="0" err="1">
                <a:solidFill>
                  <a:srgbClr val="0F1115"/>
                </a:solidFill>
                <a:effectLst/>
                <a:latin typeface="Menlo"/>
              </a:rPr>
              <a:t>LeetCode</a:t>
            </a:r>
            <a:r>
              <a:rPr lang="en-US" b="0" i="0" dirty="0">
                <a:solidFill>
                  <a:srgbClr val="0F1115"/>
                </a:solidFill>
                <a:effectLst/>
                <a:latin typeface="Menlo"/>
              </a:rPr>
              <a:t>/</a:t>
            </a:r>
            <a:r>
              <a:rPr lang="en-US" b="0" i="0" dirty="0" err="1">
                <a:solidFill>
                  <a:srgbClr val="0F1115"/>
                </a:solidFill>
                <a:effectLst/>
                <a:latin typeface="Menlo"/>
              </a:rPr>
              <a:t>HackerRank</a:t>
            </a:r>
            <a:r>
              <a:rPr lang="en-US" b="0" i="0" dirty="0">
                <a:solidFill>
                  <a:srgbClr val="0F1115"/>
                </a:solidFill>
                <a:effectLst/>
                <a:latin typeface="Menlo"/>
              </a:rPr>
              <a:t> collection problems</a:t>
            </a:r>
          </a:p>
          <a:p>
            <a:pPr algn="l" latinLnBrk="1">
              <a:lnSpc>
                <a:spcPts val="1650"/>
              </a:lnSpc>
              <a:spcBef>
                <a:spcPts val="1200"/>
              </a:spcBef>
              <a:spcAft>
                <a:spcPts val="857"/>
              </a:spcAft>
              <a:buNone/>
            </a:pPr>
            <a:r>
              <a:rPr lang="en-US" b="0" i="0" dirty="0">
                <a:solidFill>
                  <a:srgbClr val="0F1115"/>
                </a:solidFill>
                <a:effectLst/>
                <a:latin typeface="Menlo"/>
              </a:rPr>
              <a:t>• Build real projects using collections</a:t>
            </a:r>
          </a:p>
          <a:p>
            <a:pPr algn="l" latinLnBrk="1">
              <a:lnSpc>
                <a:spcPts val="1650"/>
              </a:lnSpc>
              <a:spcBef>
                <a:spcPts val="1200"/>
              </a:spcBef>
              <a:spcAft>
                <a:spcPts val="857"/>
              </a:spcAft>
              <a:buNone/>
            </a:pPr>
            <a:endParaRPr lang="en-US" b="0" i="0" dirty="0">
              <a:solidFill>
                <a:srgbClr val="0F1115"/>
              </a:solidFill>
              <a:effectLst/>
              <a:latin typeface="Menlo"/>
            </a:endParaRPr>
          </a:p>
          <a:p>
            <a:pPr algn="l" latinLnBrk="1">
              <a:lnSpc>
                <a:spcPts val="1650"/>
              </a:lnSpc>
              <a:spcBef>
                <a:spcPts val="1200"/>
              </a:spcBef>
              <a:spcAft>
                <a:spcPts val="857"/>
              </a:spcAft>
              <a:buNone/>
            </a:pPr>
            <a:r>
              <a:rPr lang="en-US" b="0" i="0" dirty="0">
                <a:solidFill>
                  <a:srgbClr val="0F1115"/>
                </a:solidFill>
                <a:effectLst/>
                <a:latin typeface="Menlo"/>
              </a:rPr>
              <a:t>Advanced Topics:</a:t>
            </a:r>
          </a:p>
          <a:p>
            <a:pPr algn="l" latinLnBrk="1">
              <a:lnSpc>
                <a:spcPts val="1650"/>
              </a:lnSpc>
              <a:spcBef>
                <a:spcPts val="1200"/>
              </a:spcBef>
              <a:spcAft>
                <a:spcPts val="857"/>
              </a:spcAft>
              <a:buNone/>
            </a:pPr>
            <a:r>
              <a:rPr lang="en-US" b="0" i="0" dirty="0">
                <a:solidFill>
                  <a:srgbClr val="0F1115"/>
                </a:solidFill>
                <a:effectLst/>
                <a:latin typeface="Menlo"/>
              </a:rPr>
              <a:t>• Concurrent Collections (</a:t>
            </a:r>
            <a:r>
              <a:rPr lang="en-US" b="0" i="0" dirty="0" err="1">
                <a:solidFill>
                  <a:srgbClr val="0F1115"/>
                </a:solidFill>
                <a:effectLst/>
                <a:latin typeface="Menlo"/>
              </a:rPr>
              <a:t>java.util.concurrent</a:t>
            </a:r>
            <a:r>
              <a:rPr lang="en-US" b="0" i="0" dirty="0">
                <a:solidFill>
                  <a:srgbClr val="0F1115"/>
                </a:solidFill>
                <a:effectLst/>
                <a:latin typeface="Menlo"/>
              </a:rPr>
              <a:t>)</a:t>
            </a:r>
          </a:p>
          <a:p>
            <a:pPr algn="l" latinLnBrk="1">
              <a:lnSpc>
                <a:spcPts val="1650"/>
              </a:lnSpc>
              <a:spcBef>
                <a:spcPts val="1200"/>
              </a:spcBef>
              <a:spcAft>
                <a:spcPts val="857"/>
              </a:spcAft>
              <a:buNone/>
            </a:pPr>
            <a:r>
              <a:rPr lang="en-US" b="0" i="0" dirty="0">
                <a:solidFill>
                  <a:srgbClr val="0F1115"/>
                </a:solidFill>
                <a:effectLst/>
                <a:latin typeface="Menlo"/>
              </a:rPr>
              <a:t>• Immutable Collections (Guava, Java 9+)</a:t>
            </a:r>
          </a:p>
          <a:p>
            <a:pPr algn="l" latinLnBrk="1">
              <a:lnSpc>
                <a:spcPts val="1650"/>
              </a:lnSpc>
              <a:spcBef>
                <a:spcPts val="1200"/>
              </a:spcBef>
              <a:spcAft>
                <a:spcPts val="857"/>
              </a:spcAft>
              <a:buNone/>
            </a:pPr>
            <a:r>
              <a:rPr lang="en-US" b="0" i="0" dirty="0">
                <a:solidFill>
                  <a:srgbClr val="0F1115"/>
                </a:solidFill>
                <a:effectLst/>
                <a:latin typeface="Menlo"/>
              </a:rPr>
              <a:t>• Performance benchmarking</a:t>
            </a:r>
          </a:p>
        </p:txBody>
      </p:sp>
    </p:spTree>
    <p:extLst>
      <p:ext uri="{BB962C8B-B14F-4D97-AF65-F5344CB8AC3E}">
        <p14:creationId xmlns:p14="http://schemas.microsoft.com/office/powerpoint/2010/main" val="304743212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2BA071-1330-FC5F-32F2-3E4B26BC039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6ADF9AF-90FE-8FE4-4346-D90915322E80}"/>
              </a:ext>
            </a:extLst>
          </p:cNvPr>
          <p:cNvSpPr txBox="1"/>
          <p:nvPr/>
        </p:nvSpPr>
        <p:spPr>
          <a:xfrm>
            <a:off x="3046344" y="-429107"/>
            <a:ext cx="6092686" cy="7716215"/>
          </a:xfrm>
          <a:prstGeom prst="rect">
            <a:avLst/>
          </a:prstGeom>
          <a:noFill/>
        </p:spPr>
        <p:txBody>
          <a:bodyPr wrap="square">
            <a:spAutoFit/>
          </a:bodyPr>
          <a:lstStyle/>
          <a:p>
            <a:pPr algn="l">
              <a:lnSpc>
                <a:spcPts val="2400"/>
              </a:lnSpc>
              <a:spcBef>
                <a:spcPts val="2400"/>
              </a:spcBef>
              <a:spcAft>
                <a:spcPts val="1200"/>
              </a:spcAft>
              <a:buNone/>
            </a:pPr>
            <a:r>
              <a:rPr lang="en-US" b="1" dirty="0">
                <a:solidFill>
                  <a:srgbClr val="0F1115"/>
                </a:solidFill>
                <a:effectLst/>
                <a:latin typeface="quote-cjk-patch"/>
              </a:rPr>
              <a:t>Quick Reference Card</a:t>
            </a:r>
          </a:p>
          <a:p>
            <a:pPr algn="l">
              <a:lnSpc>
                <a:spcPts val="1350"/>
              </a:lnSpc>
              <a:spcBef>
                <a:spcPts val="1200"/>
              </a:spcBef>
              <a:spcAft>
                <a:spcPts val="857"/>
              </a:spcAft>
              <a:buNone/>
            </a:pPr>
            <a:r>
              <a:rPr lang="en-US" b="0" i="0" dirty="0">
                <a:solidFill>
                  <a:srgbClr val="0F1115"/>
                </a:solidFill>
                <a:effectLst/>
                <a:latin typeface="Menlo"/>
              </a:rPr>
              <a:t>text</a:t>
            </a:r>
            <a:endParaRPr lang="en-US" b="0" i="0" dirty="0">
              <a:solidFill>
                <a:srgbClr val="0F1115"/>
              </a:solidFill>
              <a:effectLst/>
              <a:latin typeface="quote-cjk-patch"/>
            </a:endParaRPr>
          </a:p>
          <a:p>
            <a:pPr algn="l" latinLnBrk="1">
              <a:lnSpc>
                <a:spcPts val="1650"/>
              </a:lnSpc>
              <a:spcBef>
                <a:spcPts val="1200"/>
              </a:spcBef>
              <a:spcAft>
                <a:spcPts val="857"/>
              </a:spcAft>
              <a:buNone/>
            </a:pPr>
            <a:r>
              <a:rPr lang="en-US" b="0" i="0" dirty="0">
                <a:solidFill>
                  <a:srgbClr val="0F1115"/>
                </a:solidFill>
                <a:effectLst/>
                <a:latin typeface="Menlo"/>
              </a:rPr>
              <a:t>COLLECTION SELECTION GUIDE:</a:t>
            </a:r>
          </a:p>
          <a:p>
            <a:pPr algn="l" latinLnBrk="1">
              <a:lnSpc>
                <a:spcPts val="1650"/>
              </a:lnSpc>
              <a:spcBef>
                <a:spcPts val="1200"/>
              </a:spcBef>
              <a:spcAft>
                <a:spcPts val="857"/>
              </a:spcAft>
              <a:buNone/>
            </a:pPr>
            <a:r>
              <a:rPr lang="en-US" b="0" i="0" dirty="0">
                <a:solidFill>
                  <a:srgbClr val="0F1115"/>
                </a:solidFill>
                <a:effectLst/>
                <a:latin typeface="Menlo"/>
              </a:rPr>
              <a:t>────────────────────────────</a:t>
            </a:r>
          </a:p>
          <a:p>
            <a:pPr algn="l" latinLnBrk="1">
              <a:lnSpc>
                <a:spcPts val="1650"/>
              </a:lnSpc>
              <a:spcBef>
                <a:spcPts val="1200"/>
              </a:spcBef>
              <a:spcAft>
                <a:spcPts val="857"/>
              </a:spcAft>
              <a:buNone/>
            </a:pPr>
            <a:r>
              <a:rPr lang="en-US" b="0" i="0" dirty="0">
                <a:solidFill>
                  <a:srgbClr val="0F1115"/>
                </a:solidFill>
                <a:effectLst/>
                <a:latin typeface="Menlo"/>
              </a:rPr>
              <a:t>Need to store:                  Use:</a:t>
            </a:r>
          </a:p>
          <a:p>
            <a:pPr algn="l" latinLnBrk="1">
              <a:lnSpc>
                <a:spcPts val="1650"/>
              </a:lnSpc>
              <a:spcBef>
                <a:spcPts val="1200"/>
              </a:spcBef>
              <a:spcAft>
                <a:spcPts val="857"/>
              </a:spcAft>
              <a:buNone/>
            </a:pPr>
            <a:r>
              <a:rPr lang="en-US" b="0" i="0" dirty="0">
                <a:solidFill>
                  <a:srgbClr val="0F1115"/>
                </a:solidFill>
                <a:effectLst/>
                <a:latin typeface="Menlo"/>
              </a:rPr>
              <a:t>• Ordered, allows duplicates → </a:t>
            </a:r>
            <a:r>
              <a:rPr lang="en-US" b="0" i="0" dirty="0" err="1">
                <a:solidFill>
                  <a:srgbClr val="0F1115"/>
                </a:solidFill>
                <a:effectLst/>
                <a:latin typeface="Menlo"/>
              </a:rPr>
              <a:t>ArrayList</a:t>
            </a:r>
            <a:r>
              <a:rPr lang="en-US" b="0" i="0" dirty="0">
                <a:solidFill>
                  <a:srgbClr val="0F1115"/>
                </a:solidFill>
                <a:effectLst/>
                <a:latin typeface="Menlo"/>
              </a:rPr>
              <a:t>/LinkedList</a:t>
            </a:r>
          </a:p>
          <a:p>
            <a:pPr algn="l" latinLnBrk="1">
              <a:lnSpc>
                <a:spcPts val="1650"/>
              </a:lnSpc>
              <a:spcBef>
                <a:spcPts val="1200"/>
              </a:spcBef>
              <a:spcAft>
                <a:spcPts val="857"/>
              </a:spcAft>
              <a:buNone/>
            </a:pPr>
            <a:r>
              <a:rPr lang="en-US" b="0" i="0" dirty="0">
                <a:solidFill>
                  <a:srgbClr val="0F1115"/>
                </a:solidFill>
                <a:effectLst/>
                <a:latin typeface="Menlo"/>
              </a:rPr>
              <a:t>• Unique elements, no order → HashSet</a:t>
            </a:r>
          </a:p>
          <a:p>
            <a:pPr algn="l" latinLnBrk="1">
              <a:lnSpc>
                <a:spcPts val="1650"/>
              </a:lnSpc>
              <a:spcBef>
                <a:spcPts val="1200"/>
              </a:spcBef>
              <a:spcAft>
                <a:spcPts val="857"/>
              </a:spcAft>
              <a:buNone/>
            </a:pPr>
            <a:r>
              <a:rPr lang="en-US" b="0" i="0" dirty="0">
                <a:solidFill>
                  <a:srgbClr val="0F1115"/>
                </a:solidFill>
                <a:effectLst/>
                <a:latin typeface="Menlo"/>
              </a:rPr>
              <a:t>• Unique elements, sorted → </a:t>
            </a:r>
            <a:r>
              <a:rPr lang="en-US" b="0" i="0" dirty="0" err="1">
                <a:solidFill>
                  <a:srgbClr val="0F1115"/>
                </a:solidFill>
                <a:effectLst/>
                <a:latin typeface="Menlo"/>
              </a:rPr>
              <a:t>TreeSet</a:t>
            </a:r>
            <a:endParaRPr lang="en-US" b="0" i="0" dirty="0">
              <a:solidFill>
                <a:srgbClr val="0F1115"/>
              </a:solidFill>
              <a:effectLst/>
              <a:latin typeface="Menlo"/>
            </a:endParaRPr>
          </a:p>
          <a:p>
            <a:pPr algn="l" latinLnBrk="1">
              <a:lnSpc>
                <a:spcPts val="1650"/>
              </a:lnSpc>
              <a:spcBef>
                <a:spcPts val="1200"/>
              </a:spcBef>
              <a:spcAft>
                <a:spcPts val="857"/>
              </a:spcAft>
              <a:buNone/>
            </a:pPr>
            <a:r>
              <a:rPr lang="en-US" b="0" i="0" dirty="0">
                <a:solidFill>
                  <a:srgbClr val="0F1115"/>
                </a:solidFill>
                <a:effectLst/>
                <a:latin typeface="Menlo"/>
              </a:rPr>
              <a:t>• Unique elements, insertion order → </a:t>
            </a:r>
            <a:r>
              <a:rPr lang="en-US" b="0" i="0" dirty="0" err="1">
                <a:solidFill>
                  <a:srgbClr val="0F1115"/>
                </a:solidFill>
                <a:effectLst/>
                <a:latin typeface="Menlo"/>
              </a:rPr>
              <a:t>LinkedHashSet</a:t>
            </a:r>
            <a:endParaRPr lang="en-US" b="0" i="0" dirty="0">
              <a:solidFill>
                <a:srgbClr val="0F1115"/>
              </a:solidFill>
              <a:effectLst/>
              <a:latin typeface="Menlo"/>
            </a:endParaRPr>
          </a:p>
          <a:p>
            <a:pPr algn="l" latinLnBrk="1">
              <a:lnSpc>
                <a:spcPts val="1650"/>
              </a:lnSpc>
              <a:spcBef>
                <a:spcPts val="1200"/>
              </a:spcBef>
              <a:spcAft>
                <a:spcPts val="857"/>
              </a:spcAft>
              <a:buNone/>
            </a:pPr>
            <a:r>
              <a:rPr lang="en-US" b="0" i="0" dirty="0">
                <a:solidFill>
                  <a:srgbClr val="0F1115"/>
                </a:solidFill>
                <a:effectLst/>
                <a:latin typeface="Menlo"/>
              </a:rPr>
              <a:t>• Key-value pairs, no order → HashMap</a:t>
            </a:r>
          </a:p>
          <a:p>
            <a:pPr algn="l" latinLnBrk="1">
              <a:lnSpc>
                <a:spcPts val="1650"/>
              </a:lnSpc>
              <a:spcBef>
                <a:spcPts val="1200"/>
              </a:spcBef>
              <a:spcAft>
                <a:spcPts val="857"/>
              </a:spcAft>
              <a:buNone/>
            </a:pPr>
            <a:r>
              <a:rPr lang="en-US" b="0" i="0" dirty="0">
                <a:solidFill>
                  <a:srgbClr val="0F1115"/>
                </a:solidFill>
                <a:effectLst/>
                <a:latin typeface="Menlo"/>
              </a:rPr>
              <a:t>• Key-value pairs, sorted keys → </a:t>
            </a:r>
            <a:r>
              <a:rPr lang="en-US" b="0" i="0" dirty="0" err="1">
                <a:solidFill>
                  <a:srgbClr val="0F1115"/>
                </a:solidFill>
                <a:effectLst/>
                <a:latin typeface="Menlo"/>
              </a:rPr>
              <a:t>TreeMap</a:t>
            </a:r>
            <a:endParaRPr lang="en-US" b="0" i="0" dirty="0">
              <a:solidFill>
                <a:srgbClr val="0F1115"/>
              </a:solidFill>
              <a:effectLst/>
              <a:latin typeface="Menlo"/>
            </a:endParaRPr>
          </a:p>
          <a:p>
            <a:pPr algn="l" latinLnBrk="1">
              <a:lnSpc>
                <a:spcPts val="1650"/>
              </a:lnSpc>
              <a:spcBef>
                <a:spcPts val="1200"/>
              </a:spcBef>
              <a:spcAft>
                <a:spcPts val="857"/>
              </a:spcAft>
              <a:buNone/>
            </a:pPr>
            <a:r>
              <a:rPr lang="en-US" b="0" i="0" dirty="0">
                <a:solidFill>
                  <a:srgbClr val="0F1115"/>
                </a:solidFill>
                <a:effectLst/>
                <a:latin typeface="Menlo"/>
              </a:rPr>
              <a:t>• Key-value pairs, insertion order → </a:t>
            </a:r>
            <a:r>
              <a:rPr lang="en-US" b="0" i="0" dirty="0" err="1">
                <a:solidFill>
                  <a:srgbClr val="0F1115"/>
                </a:solidFill>
                <a:effectLst/>
                <a:latin typeface="Menlo"/>
              </a:rPr>
              <a:t>LinkedHashMap</a:t>
            </a:r>
            <a:endParaRPr lang="en-US" b="0" i="0" dirty="0">
              <a:solidFill>
                <a:srgbClr val="0F1115"/>
              </a:solidFill>
              <a:effectLst/>
              <a:latin typeface="Menlo"/>
            </a:endParaRPr>
          </a:p>
          <a:p>
            <a:pPr algn="l" latinLnBrk="1">
              <a:lnSpc>
                <a:spcPts val="1650"/>
              </a:lnSpc>
              <a:spcBef>
                <a:spcPts val="1200"/>
              </a:spcBef>
              <a:spcAft>
                <a:spcPts val="857"/>
              </a:spcAft>
              <a:buNone/>
            </a:pPr>
            <a:r>
              <a:rPr lang="en-US" b="0" i="0" dirty="0">
                <a:solidFill>
                  <a:srgbClr val="0F1115"/>
                </a:solidFill>
                <a:effectLst/>
                <a:latin typeface="Menlo"/>
              </a:rPr>
              <a:t>• FIFO processing → LinkedList/</a:t>
            </a:r>
            <a:r>
              <a:rPr lang="en-US" b="0" i="0" dirty="0" err="1">
                <a:solidFill>
                  <a:srgbClr val="0F1115"/>
                </a:solidFill>
                <a:effectLst/>
                <a:latin typeface="Menlo"/>
              </a:rPr>
              <a:t>ArrayDeque</a:t>
            </a:r>
            <a:endParaRPr lang="en-US" b="0" i="0" dirty="0">
              <a:solidFill>
                <a:srgbClr val="0F1115"/>
              </a:solidFill>
              <a:effectLst/>
              <a:latin typeface="Menlo"/>
            </a:endParaRPr>
          </a:p>
          <a:p>
            <a:pPr algn="l" latinLnBrk="1">
              <a:lnSpc>
                <a:spcPts val="1650"/>
              </a:lnSpc>
              <a:spcBef>
                <a:spcPts val="1200"/>
              </a:spcBef>
              <a:spcAft>
                <a:spcPts val="857"/>
              </a:spcAft>
              <a:buNone/>
            </a:pPr>
            <a:r>
              <a:rPr lang="en-US" b="0" i="0" dirty="0">
                <a:solidFill>
                  <a:srgbClr val="0F1115"/>
                </a:solidFill>
                <a:effectLst/>
                <a:latin typeface="Menlo"/>
              </a:rPr>
              <a:t>• Priority processing → </a:t>
            </a:r>
            <a:r>
              <a:rPr lang="en-US" b="0" i="0" dirty="0" err="1">
                <a:solidFill>
                  <a:srgbClr val="0F1115"/>
                </a:solidFill>
                <a:effectLst/>
                <a:latin typeface="Menlo"/>
              </a:rPr>
              <a:t>PriorityQueue</a:t>
            </a:r>
            <a:endParaRPr lang="en-US" b="0" i="0" dirty="0">
              <a:solidFill>
                <a:srgbClr val="0F1115"/>
              </a:solidFill>
              <a:effectLst/>
              <a:latin typeface="Menlo"/>
            </a:endParaRPr>
          </a:p>
          <a:p>
            <a:pPr algn="l" latinLnBrk="1">
              <a:lnSpc>
                <a:spcPts val="1650"/>
              </a:lnSpc>
              <a:spcBef>
                <a:spcPts val="1200"/>
              </a:spcBef>
              <a:spcAft>
                <a:spcPts val="857"/>
              </a:spcAft>
              <a:buNone/>
            </a:pPr>
            <a:r>
              <a:rPr lang="en-US" b="0" i="0" dirty="0">
                <a:solidFill>
                  <a:srgbClr val="0F1115"/>
                </a:solidFill>
                <a:effectLst/>
                <a:latin typeface="Menlo"/>
              </a:rPr>
              <a:t>• Thread-safe lists → </a:t>
            </a:r>
            <a:r>
              <a:rPr lang="en-US" b="0" i="0" dirty="0" err="1">
                <a:solidFill>
                  <a:srgbClr val="0F1115"/>
                </a:solidFill>
                <a:effectLst/>
                <a:latin typeface="Menlo"/>
              </a:rPr>
              <a:t>CopyOnWriteArrayList</a:t>
            </a:r>
            <a:endParaRPr lang="en-US" b="0" i="0" dirty="0">
              <a:solidFill>
                <a:srgbClr val="0F1115"/>
              </a:solidFill>
              <a:effectLst/>
              <a:latin typeface="Menlo"/>
            </a:endParaRPr>
          </a:p>
          <a:p>
            <a:pPr algn="l" latinLnBrk="1">
              <a:lnSpc>
                <a:spcPts val="1650"/>
              </a:lnSpc>
              <a:spcBef>
                <a:spcPts val="1200"/>
              </a:spcBef>
              <a:spcAft>
                <a:spcPts val="857"/>
              </a:spcAft>
              <a:buNone/>
            </a:pPr>
            <a:r>
              <a:rPr lang="en-US" b="0" i="0" dirty="0">
                <a:solidFill>
                  <a:srgbClr val="0F1115"/>
                </a:solidFill>
                <a:effectLst/>
                <a:latin typeface="Menlo"/>
              </a:rPr>
              <a:t>• Thread-safe maps → </a:t>
            </a:r>
            <a:r>
              <a:rPr lang="en-US" b="0" i="0" dirty="0" err="1">
                <a:solidFill>
                  <a:srgbClr val="0F1115"/>
                </a:solidFill>
                <a:effectLst/>
                <a:latin typeface="Menlo"/>
              </a:rPr>
              <a:t>ConcurrentHashMap</a:t>
            </a:r>
            <a:endParaRPr lang="en-US" b="0" i="0" dirty="0">
              <a:solidFill>
                <a:srgbClr val="0F1115"/>
              </a:solidFill>
              <a:effectLst/>
              <a:latin typeface="Menlo"/>
            </a:endParaRPr>
          </a:p>
        </p:txBody>
      </p:sp>
    </p:spTree>
    <p:extLst>
      <p:ext uri="{BB962C8B-B14F-4D97-AF65-F5344CB8AC3E}">
        <p14:creationId xmlns:p14="http://schemas.microsoft.com/office/powerpoint/2010/main" val="374704181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ADAC57-2DE9-A08F-0438-BD13D7086D0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EA8FA09-60BF-C6DA-4902-7421A23D9B14}"/>
              </a:ext>
            </a:extLst>
          </p:cNvPr>
          <p:cNvSpPr txBox="1"/>
          <p:nvPr/>
        </p:nvSpPr>
        <p:spPr>
          <a:xfrm>
            <a:off x="1987826" y="1530626"/>
            <a:ext cx="1779654" cy="369332"/>
          </a:xfrm>
          <a:prstGeom prst="rect">
            <a:avLst/>
          </a:prstGeom>
          <a:noFill/>
        </p:spPr>
        <p:txBody>
          <a:bodyPr wrap="none" rtlCol="0">
            <a:spAutoFit/>
          </a:bodyPr>
          <a:lstStyle/>
          <a:p>
            <a:r>
              <a:rPr lang="en-US" dirty="0"/>
              <a:t>Dev.java Notes</a:t>
            </a:r>
          </a:p>
        </p:txBody>
      </p:sp>
    </p:spTree>
    <p:extLst>
      <p:ext uri="{BB962C8B-B14F-4D97-AF65-F5344CB8AC3E}">
        <p14:creationId xmlns:p14="http://schemas.microsoft.com/office/powerpoint/2010/main" val="279094088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661ADE-2D4D-0DAE-02CF-82EC621EC04C}"/>
            </a:ext>
          </a:extLst>
        </p:cNvPr>
        <p:cNvGrpSpPr/>
        <p:nvPr/>
      </p:nvGrpSpPr>
      <p:grpSpPr>
        <a:xfrm>
          <a:off x="0" y="0"/>
          <a:ext cx="0" cy="0"/>
          <a:chOff x="0" y="0"/>
          <a:chExt cx="0" cy="0"/>
        </a:xfrm>
      </p:grpSpPr>
      <p:sp>
        <p:nvSpPr>
          <p:cNvPr id="20" name="TextBox 19">
            <a:extLst>
              <a:ext uri="{FF2B5EF4-FFF2-40B4-BE49-F238E27FC236}">
                <a16:creationId xmlns:a16="http://schemas.microsoft.com/office/drawing/2014/main" id="{CF51B085-927E-9687-DCE3-1DD66E86FED7}"/>
              </a:ext>
            </a:extLst>
          </p:cNvPr>
          <p:cNvSpPr txBox="1"/>
          <p:nvPr/>
        </p:nvSpPr>
        <p:spPr>
          <a:xfrm>
            <a:off x="760344" y="799956"/>
            <a:ext cx="6092686" cy="646331"/>
          </a:xfrm>
          <a:prstGeom prst="rect">
            <a:avLst/>
          </a:prstGeom>
          <a:noFill/>
        </p:spPr>
        <p:txBody>
          <a:bodyPr wrap="square">
            <a:spAutoFit/>
          </a:bodyPr>
          <a:lstStyle/>
          <a:p>
            <a:r>
              <a:rPr lang="en-US" b="0" i="0" dirty="0">
                <a:solidFill>
                  <a:srgbClr val="131516"/>
                </a:solidFill>
                <a:effectLst/>
                <a:latin typeface="system-ui"/>
              </a:rPr>
              <a:t>The Collections Framework is the most widely used API of the JDK. </a:t>
            </a:r>
            <a:endParaRPr lang="en-US" dirty="0"/>
          </a:p>
        </p:txBody>
      </p:sp>
      <p:sp>
        <p:nvSpPr>
          <p:cNvPr id="22" name="TextBox 21">
            <a:extLst>
              <a:ext uri="{FF2B5EF4-FFF2-40B4-BE49-F238E27FC236}">
                <a16:creationId xmlns:a16="http://schemas.microsoft.com/office/drawing/2014/main" id="{39B24C1F-8033-6764-8F7B-E84AE908FE8D}"/>
              </a:ext>
            </a:extLst>
          </p:cNvPr>
          <p:cNvSpPr txBox="1"/>
          <p:nvPr/>
        </p:nvSpPr>
        <p:spPr>
          <a:xfrm>
            <a:off x="760344" y="1746488"/>
            <a:ext cx="6092686" cy="1682512"/>
          </a:xfrm>
          <a:prstGeom prst="rect">
            <a:avLst/>
          </a:prstGeom>
          <a:noFill/>
        </p:spPr>
        <p:txBody>
          <a:bodyPr wrap="square">
            <a:spAutoFit/>
          </a:bodyPr>
          <a:lstStyle/>
          <a:p>
            <a:pPr algn="l">
              <a:buNone/>
            </a:pPr>
            <a:r>
              <a:rPr lang="en-US" b="0" i="0" dirty="0">
                <a:solidFill>
                  <a:srgbClr val="131516"/>
                </a:solidFill>
                <a:effectLst/>
                <a:latin typeface="system-ui"/>
              </a:rPr>
              <a:t>The Collections Framework was first introduced in Java SE 2, in 1998 and was rewritten twice since then:</a:t>
            </a:r>
          </a:p>
          <a:p>
            <a:pPr algn="l">
              <a:spcBef>
                <a:spcPts val="750"/>
              </a:spcBef>
              <a:buFont typeface="Arial" panose="020B0604020202020204" pitchFamily="34" charset="0"/>
              <a:buChar char="•"/>
            </a:pPr>
            <a:r>
              <a:rPr lang="en-US" b="0" i="0" dirty="0">
                <a:solidFill>
                  <a:srgbClr val="131516"/>
                </a:solidFill>
                <a:effectLst/>
                <a:latin typeface="system-ui"/>
              </a:rPr>
              <a:t>in Java SE 5 when generics were added;</a:t>
            </a:r>
          </a:p>
          <a:p>
            <a:pPr algn="l">
              <a:spcBef>
                <a:spcPts val="750"/>
              </a:spcBef>
              <a:buFont typeface="Arial" panose="020B0604020202020204" pitchFamily="34" charset="0"/>
              <a:buChar char="•"/>
            </a:pPr>
            <a:r>
              <a:rPr lang="en-US" b="0" i="0" dirty="0">
                <a:solidFill>
                  <a:srgbClr val="131516"/>
                </a:solidFill>
                <a:effectLst/>
                <a:latin typeface="system-ui"/>
              </a:rPr>
              <a:t>in Java 8 when lambda expressions were introduced, along with default methods in interfaces.</a:t>
            </a:r>
          </a:p>
        </p:txBody>
      </p:sp>
      <p:sp>
        <p:nvSpPr>
          <p:cNvPr id="24" name="TextBox 23">
            <a:extLst>
              <a:ext uri="{FF2B5EF4-FFF2-40B4-BE49-F238E27FC236}">
                <a16:creationId xmlns:a16="http://schemas.microsoft.com/office/drawing/2014/main" id="{BB6DFD1B-78DC-1578-ED4D-141E7257D4AC}"/>
              </a:ext>
            </a:extLst>
          </p:cNvPr>
          <p:cNvSpPr txBox="1"/>
          <p:nvPr/>
        </p:nvSpPr>
        <p:spPr>
          <a:xfrm>
            <a:off x="760344" y="4022828"/>
            <a:ext cx="6092686" cy="1754326"/>
          </a:xfrm>
          <a:prstGeom prst="rect">
            <a:avLst/>
          </a:prstGeom>
          <a:noFill/>
        </p:spPr>
        <p:txBody>
          <a:bodyPr wrap="square">
            <a:spAutoFit/>
          </a:bodyPr>
          <a:lstStyle/>
          <a:p>
            <a:r>
              <a:rPr lang="en-US" b="0" i="0" dirty="0">
                <a:solidFill>
                  <a:srgbClr val="131516"/>
                </a:solidFill>
                <a:effectLst/>
                <a:latin typeface="system-ui"/>
              </a:rPr>
              <a:t>Collections Framework is a set of interfaces that models different way of storing data in different types of containers. Then the Framework provides at least one implementation for each interface. Knowing these implementations is as important as the interfaces, and choosing the right one depends on what you need to do with it.</a:t>
            </a:r>
            <a:endParaRPr lang="en-US" dirty="0"/>
          </a:p>
        </p:txBody>
      </p:sp>
      <p:sp>
        <p:nvSpPr>
          <p:cNvPr id="26" name="TextBox 25">
            <a:extLst>
              <a:ext uri="{FF2B5EF4-FFF2-40B4-BE49-F238E27FC236}">
                <a16:creationId xmlns:a16="http://schemas.microsoft.com/office/drawing/2014/main" id="{22CB7F5F-E5BC-5ED5-9BA9-D7EB383B3DDD}"/>
              </a:ext>
            </a:extLst>
          </p:cNvPr>
          <p:cNvSpPr txBox="1"/>
          <p:nvPr/>
        </p:nvSpPr>
        <p:spPr>
          <a:xfrm>
            <a:off x="760344" y="206128"/>
            <a:ext cx="6092686" cy="369332"/>
          </a:xfrm>
          <a:prstGeom prst="rect">
            <a:avLst/>
          </a:prstGeom>
          <a:noFill/>
        </p:spPr>
        <p:txBody>
          <a:bodyPr wrap="square">
            <a:spAutoFit/>
          </a:bodyPr>
          <a:lstStyle/>
          <a:p>
            <a:pPr algn="l">
              <a:spcAft>
                <a:spcPts val="1500"/>
              </a:spcAft>
              <a:buNone/>
            </a:pPr>
            <a:r>
              <a:rPr lang="en-US" b="1" i="0" dirty="0">
                <a:solidFill>
                  <a:srgbClr val="131516"/>
                </a:solidFill>
                <a:effectLst/>
                <a:latin typeface="system-ui"/>
              </a:rPr>
              <a:t>Introducing the Collections Framework</a:t>
            </a:r>
          </a:p>
        </p:txBody>
      </p:sp>
    </p:spTree>
    <p:extLst>
      <p:ext uri="{BB962C8B-B14F-4D97-AF65-F5344CB8AC3E}">
        <p14:creationId xmlns:p14="http://schemas.microsoft.com/office/powerpoint/2010/main" val="246143761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70CCC5-F696-4B31-2D48-B0800AA7C89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31F83B5-FB7A-B294-D592-90E2F73FD64F}"/>
              </a:ext>
            </a:extLst>
          </p:cNvPr>
          <p:cNvSpPr txBox="1"/>
          <p:nvPr/>
        </p:nvSpPr>
        <p:spPr>
          <a:xfrm>
            <a:off x="541683" y="302351"/>
            <a:ext cx="6092686" cy="369332"/>
          </a:xfrm>
          <a:prstGeom prst="rect">
            <a:avLst/>
          </a:prstGeom>
          <a:noFill/>
        </p:spPr>
        <p:txBody>
          <a:bodyPr wrap="square">
            <a:spAutoFit/>
          </a:bodyPr>
          <a:lstStyle/>
          <a:p>
            <a:pPr algn="l">
              <a:spcBef>
                <a:spcPts val="3750"/>
              </a:spcBef>
              <a:spcAft>
                <a:spcPts val="1500"/>
              </a:spcAft>
              <a:buNone/>
            </a:pPr>
            <a:r>
              <a:rPr lang="en-US" b="1" i="0" dirty="0">
                <a:solidFill>
                  <a:srgbClr val="131516"/>
                </a:solidFill>
                <a:effectLst/>
                <a:latin typeface="system-ui"/>
              </a:rPr>
              <a:t>Finding Your Way in the Collections Framework</a:t>
            </a:r>
          </a:p>
        </p:txBody>
      </p:sp>
      <p:sp>
        <p:nvSpPr>
          <p:cNvPr id="5" name="TextBox 4">
            <a:extLst>
              <a:ext uri="{FF2B5EF4-FFF2-40B4-BE49-F238E27FC236}">
                <a16:creationId xmlns:a16="http://schemas.microsoft.com/office/drawing/2014/main" id="{9F6E2CFD-2162-391D-C4E5-F78FF8FD36D5}"/>
              </a:ext>
            </a:extLst>
          </p:cNvPr>
          <p:cNvSpPr txBox="1"/>
          <p:nvPr/>
        </p:nvSpPr>
        <p:spPr>
          <a:xfrm>
            <a:off x="541683" y="671683"/>
            <a:ext cx="11108634" cy="923330"/>
          </a:xfrm>
          <a:prstGeom prst="rect">
            <a:avLst/>
          </a:prstGeom>
          <a:noFill/>
        </p:spPr>
        <p:txBody>
          <a:bodyPr wrap="square">
            <a:spAutoFit/>
          </a:bodyPr>
          <a:lstStyle/>
          <a:p>
            <a:r>
              <a:rPr lang="en-US" b="0" i="0" dirty="0">
                <a:solidFill>
                  <a:srgbClr val="131516"/>
                </a:solidFill>
                <a:effectLst/>
                <a:latin typeface="system-ui"/>
              </a:rPr>
              <a:t>The amount of interfaces and classes in the Collections Framework may be overwhelming at first. Indeed, there are many structures available, both classes and interfaces. Some have self-explanatory names, like </a:t>
            </a:r>
            <a:r>
              <a:rPr lang="en-US" b="0" i="0" u="sng" dirty="0">
                <a:solidFill>
                  <a:srgbClr val="3A75B0"/>
                </a:solidFill>
                <a:effectLst/>
                <a:latin typeface="SFMono-Regular"/>
                <a:hlinkClick r:id="rId2"/>
              </a:rPr>
              <a:t>LinkedList</a:t>
            </a:r>
            <a:r>
              <a:rPr lang="en-US" b="0" i="0" dirty="0">
                <a:solidFill>
                  <a:srgbClr val="131516"/>
                </a:solidFill>
                <a:effectLst/>
                <a:latin typeface="system-ui"/>
              </a:rPr>
              <a:t>, some are carrying behavior, like </a:t>
            </a:r>
            <a:r>
              <a:rPr lang="en-US" b="0" i="0" u="sng" dirty="0" err="1">
                <a:solidFill>
                  <a:srgbClr val="3A75B0"/>
                </a:solidFill>
                <a:effectLst/>
                <a:latin typeface="SFMono-Regular"/>
                <a:hlinkClick r:id="rId3"/>
              </a:rPr>
              <a:t>ConcurrentHashMap</a:t>
            </a:r>
            <a:r>
              <a:rPr lang="en-US" b="0" i="0" dirty="0">
                <a:solidFill>
                  <a:srgbClr val="131516"/>
                </a:solidFill>
                <a:effectLst/>
                <a:latin typeface="system-ui"/>
              </a:rPr>
              <a:t>, some may sound weird, like </a:t>
            </a:r>
            <a:r>
              <a:rPr lang="en-US" b="0" i="0" u="sng" dirty="0" err="1">
                <a:solidFill>
                  <a:srgbClr val="3A75B0"/>
                </a:solidFill>
                <a:effectLst/>
                <a:latin typeface="SFMono-Regular"/>
                <a:hlinkClick r:id="rId4"/>
              </a:rPr>
              <a:t>ConcurrentSkipListMap</a:t>
            </a:r>
            <a:r>
              <a:rPr lang="en-US" b="0" i="0" dirty="0">
                <a:solidFill>
                  <a:srgbClr val="131516"/>
                </a:solidFill>
                <a:effectLst/>
                <a:latin typeface="system-ui"/>
              </a:rPr>
              <a:t>.</a:t>
            </a:r>
            <a:endParaRPr lang="en-US" dirty="0"/>
          </a:p>
        </p:txBody>
      </p:sp>
      <p:sp>
        <p:nvSpPr>
          <p:cNvPr id="7" name="TextBox 6">
            <a:extLst>
              <a:ext uri="{FF2B5EF4-FFF2-40B4-BE49-F238E27FC236}">
                <a16:creationId xmlns:a16="http://schemas.microsoft.com/office/drawing/2014/main" id="{3E3F3F00-F967-6565-6B11-7A073AC5881A}"/>
              </a:ext>
            </a:extLst>
          </p:cNvPr>
          <p:cNvSpPr txBox="1"/>
          <p:nvPr/>
        </p:nvSpPr>
        <p:spPr>
          <a:xfrm>
            <a:off x="541683" y="1690063"/>
            <a:ext cx="11108634" cy="2923877"/>
          </a:xfrm>
          <a:prstGeom prst="rect">
            <a:avLst/>
          </a:prstGeom>
          <a:noFill/>
        </p:spPr>
        <p:txBody>
          <a:bodyPr wrap="square">
            <a:spAutoFit/>
          </a:bodyPr>
          <a:lstStyle/>
          <a:p>
            <a:pPr algn="l">
              <a:buNone/>
            </a:pPr>
            <a:r>
              <a:rPr lang="en-US" b="0" i="0" dirty="0">
                <a:solidFill>
                  <a:srgbClr val="131516"/>
                </a:solidFill>
                <a:effectLst/>
                <a:latin typeface="system-ui"/>
              </a:rPr>
              <a:t>First, the framework consists of interfaces and implementations. Choosing the right interface means you need to know what functions you want to bring to your application. Is what you need consists in:</a:t>
            </a:r>
          </a:p>
          <a:p>
            <a:pPr algn="l">
              <a:spcBef>
                <a:spcPts val="750"/>
              </a:spcBef>
              <a:buFont typeface="Arial" panose="020B0604020202020204" pitchFamily="34" charset="0"/>
              <a:buChar char="•"/>
            </a:pPr>
            <a:r>
              <a:rPr lang="en-US" b="0" i="0" dirty="0">
                <a:solidFill>
                  <a:srgbClr val="131516"/>
                </a:solidFill>
                <a:effectLst/>
                <a:latin typeface="system-ui"/>
              </a:rPr>
              <a:t>storing objects and iterating over them?</a:t>
            </a:r>
          </a:p>
          <a:p>
            <a:pPr algn="l">
              <a:spcBef>
                <a:spcPts val="750"/>
              </a:spcBef>
              <a:buFont typeface="Arial" panose="020B0604020202020204" pitchFamily="34" charset="0"/>
              <a:buChar char="•"/>
            </a:pPr>
            <a:r>
              <a:rPr lang="en-US" b="0" i="0" dirty="0">
                <a:solidFill>
                  <a:srgbClr val="131516"/>
                </a:solidFill>
                <a:effectLst/>
                <a:latin typeface="system-ui"/>
              </a:rPr>
              <a:t>pushing your object to a queue and popping them?</a:t>
            </a:r>
          </a:p>
          <a:p>
            <a:pPr algn="l">
              <a:spcBef>
                <a:spcPts val="750"/>
              </a:spcBef>
              <a:buFont typeface="Arial" panose="020B0604020202020204" pitchFamily="34" charset="0"/>
              <a:buChar char="•"/>
            </a:pPr>
            <a:r>
              <a:rPr lang="en-US" b="0" i="0" dirty="0">
                <a:solidFill>
                  <a:srgbClr val="131516"/>
                </a:solidFill>
                <a:effectLst/>
                <a:latin typeface="system-ui"/>
              </a:rPr>
              <a:t>retrieving them with the use of a key?</a:t>
            </a:r>
          </a:p>
          <a:p>
            <a:pPr algn="l">
              <a:spcBef>
                <a:spcPts val="750"/>
              </a:spcBef>
              <a:buFont typeface="Arial" panose="020B0604020202020204" pitchFamily="34" charset="0"/>
              <a:buChar char="•"/>
            </a:pPr>
            <a:r>
              <a:rPr lang="en-US" b="0" i="0" dirty="0">
                <a:solidFill>
                  <a:srgbClr val="131516"/>
                </a:solidFill>
                <a:effectLst/>
                <a:latin typeface="system-ui"/>
              </a:rPr>
              <a:t>accessing them by their index?</a:t>
            </a:r>
          </a:p>
          <a:p>
            <a:pPr algn="l">
              <a:spcBef>
                <a:spcPts val="750"/>
              </a:spcBef>
              <a:buFont typeface="Arial" panose="020B0604020202020204" pitchFamily="34" charset="0"/>
              <a:buChar char="•"/>
            </a:pPr>
            <a:r>
              <a:rPr lang="en-US" b="0" i="0" dirty="0">
                <a:solidFill>
                  <a:srgbClr val="131516"/>
                </a:solidFill>
                <a:effectLst/>
                <a:latin typeface="system-ui"/>
              </a:rPr>
              <a:t>sorting them?</a:t>
            </a:r>
          </a:p>
          <a:p>
            <a:pPr algn="l">
              <a:spcBef>
                <a:spcPts val="750"/>
              </a:spcBef>
              <a:buFont typeface="Arial" panose="020B0604020202020204" pitchFamily="34" charset="0"/>
              <a:buChar char="•"/>
            </a:pPr>
            <a:r>
              <a:rPr lang="en-US" b="0" i="0" dirty="0">
                <a:solidFill>
                  <a:srgbClr val="131516"/>
                </a:solidFill>
                <a:effectLst/>
                <a:latin typeface="system-ui"/>
              </a:rPr>
              <a:t>preventing the presence of duplicates, or null values?</a:t>
            </a:r>
          </a:p>
        </p:txBody>
      </p:sp>
      <p:sp>
        <p:nvSpPr>
          <p:cNvPr id="9" name="TextBox 8">
            <a:extLst>
              <a:ext uri="{FF2B5EF4-FFF2-40B4-BE49-F238E27FC236}">
                <a16:creationId xmlns:a16="http://schemas.microsoft.com/office/drawing/2014/main" id="{F6BE378E-F922-84C3-372D-21D64881D34B}"/>
              </a:ext>
            </a:extLst>
          </p:cNvPr>
          <p:cNvSpPr txBox="1"/>
          <p:nvPr/>
        </p:nvSpPr>
        <p:spPr>
          <a:xfrm>
            <a:off x="6096000" y="3290263"/>
            <a:ext cx="6092686" cy="3272691"/>
          </a:xfrm>
          <a:prstGeom prst="rect">
            <a:avLst/>
          </a:prstGeom>
          <a:noFill/>
        </p:spPr>
        <p:txBody>
          <a:bodyPr wrap="square">
            <a:spAutoFit/>
          </a:bodyPr>
          <a:lstStyle/>
          <a:p>
            <a:pPr algn="l">
              <a:buNone/>
            </a:pPr>
            <a:r>
              <a:rPr lang="en-US" b="0" i="0" dirty="0">
                <a:solidFill>
                  <a:srgbClr val="131516"/>
                </a:solidFill>
                <a:effectLst/>
                <a:latin typeface="system-ui"/>
              </a:rPr>
              <a:t>Choosing the right implementation means you need to know how you are going to use these functionalities:</a:t>
            </a:r>
          </a:p>
          <a:p>
            <a:pPr algn="l">
              <a:spcBef>
                <a:spcPts val="750"/>
              </a:spcBef>
              <a:buFont typeface="Arial" panose="020B0604020202020204" pitchFamily="34" charset="0"/>
              <a:buChar char="•"/>
            </a:pPr>
            <a:r>
              <a:rPr lang="en-US" b="0" i="0" dirty="0">
                <a:solidFill>
                  <a:srgbClr val="131516"/>
                </a:solidFill>
                <a:effectLst/>
                <a:latin typeface="system-ui"/>
              </a:rPr>
              <a:t>Will accessing your objects be done by iterating, or random, indexed access?</a:t>
            </a:r>
          </a:p>
          <a:p>
            <a:pPr algn="l">
              <a:spcBef>
                <a:spcPts val="750"/>
              </a:spcBef>
              <a:buFont typeface="Arial" panose="020B0604020202020204" pitchFamily="34" charset="0"/>
              <a:buChar char="•"/>
            </a:pPr>
            <a:r>
              <a:rPr lang="en-US" b="0" i="0" dirty="0">
                <a:solidFill>
                  <a:srgbClr val="131516"/>
                </a:solidFill>
                <a:effectLst/>
                <a:latin typeface="system-ui"/>
              </a:rPr>
              <a:t>Will the objects be fixed at the launch of your application, and will not change much over its lifetime?</a:t>
            </a:r>
          </a:p>
          <a:p>
            <a:pPr algn="l">
              <a:spcBef>
                <a:spcPts val="750"/>
              </a:spcBef>
              <a:buFont typeface="Arial" panose="020B0604020202020204" pitchFamily="34" charset="0"/>
              <a:buChar char="•"/>
            </a:pPr>
            <a:r>
              <a:rPr lang="en-US" b="0" i="0" dirty="0">
                <a:solidFill>
                  <a:srgbClr val="131516"/>
                </a:solidFill>
                <a:effectLst/>
                <a:latin typeface="system-ui"/>
              </a:rPr>
              <a:t>Will the amount of objects be important with a lot of checking for the presence of certain objects?</a:t>
            </a:r>
          </a:p>
          <a:p>
            <a:pPr algn="l">
              <a:spcBef>
                <a:spcPts val="750"/>
              </a:spcBef>
              <a:buFont typeface="Arial" panose="020B0604020202020204" pitchFamily="34" charset="0"/>
              <a:buChar char="•"/>
            </a:pPr>
            <a:r>
              <a:rPr lang="en-US" b="0" i="0" dirty="0">
                <a:solidFill>
                  <a:srgbClr val="131516"/>
                </a:solidFill>
                <a:effectLst/>
                <a:latin typeface="system-ui"/>
              </a:rPr>
              <a:t>Is the structure you need to store your objects in will be accessed concurrently?</a:t>
            </a:r>
          </a:p>
        </p:txBody>
      </p:sp>
    </p:spTree>
    <p:extLst>
      <p:ext uri="{BB962C8B-B14F-4D97-AF65-F5344CB8AC3E}">
        <p14:creationId xmlns:p14="http://schemas.microsoft.com/office/powerpoint/2010/main" val="118707308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4B85ED-B9A8-B381-8CCD-3CBE1081326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AE033B0-8299-EF3B-7BCD-ED2B4E0FF017}"/>
              </a:ext>
            </a:extLst>
          </p:cNvPr>
          <p:cNvSpPr txBox="1"/>
          <p:nvPr/>
        </p:nvSpPr>
        <p:spPr>
          <a:xfrm>
            <a:off x="3046344" y="3105835"/>
            <a:ext cx="6092686" cy="646331"/>
          </a:xfrm>
          <a:prstGeom prst="rect">
            <a:avLst/>
          </a:prstGeom>
          <a:noFill/>
        </p:spPr>
        <p:txBody>
          <a:bodyPr wrap="square">
            <a:spAutoFit/>
          </a:bodyPr>
          <a:lstStyle/>
          <a:p>
            <a:r>
              <a:rPr lang="en-US" b="0" i="0" dirty="0">
                <a:solidFill>
                  <a:srgbClr val="131516"/>
                </a:solidFill>
                <a:effectLst/>
                <a:latin typeface="system-ui"/>
              </a:rPr>
              <a:t>The Collections Framework can give you the right solution to all of these problems.</a:t>
            </a:r>
            <a:endParaRPr lang="en-US" dirty="0"/>
          </a:p>
        </p:txBody>
      </p:sp>
    </p:spTree>
    <p:extLst>
      <p:ext uri="{BB962C8B-B14F-4D97-AF65-F5344CB8AC3E}">
        <p14:creationId xmlns:p14="http://schemas.microsoft.com/office/powerpoint/2010/main" val="248326894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601DE2-5B7F-C526-BA64-141F06FA23F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864B4DA-37DB-F900-EC9D-000B0C195ECD}"/>
              </a:ext>
            </a:extLst>
          </p:cNvPr>
          <p:cNvSpPr txBox="1"/>
          <p:nvPr/>
        </p:nvSpPr>
        <p:spPr>
          <a:xfrm>
            <a:off x="700710" y="640930"/>
            <a:ext cx="6092686" cy="646331"/>
          </a:xfrm>
          <a:prstGeom prst="rect">
            <a:avLst/>
          </a:prstGeom>
          <a:noFill/>
        </p:spPr>
        <p:txBody>
          <a:bodyPr wrap="square">
            <a:spAutoFit/>
          </a:bodyPr>
          <a:lstStyle/>
          <a:p>
            <a:r>
              <a:rPr lang="en-US" b="0" i="0" dirty="0">
                <a:solidFill>
                  <a:srgbClr val="131516"/>
                </a:solidFill>
                <a:effectLst/>
                <a:latin typeface="system-ui"/>
              </a:rPr>
              <a:t>There are two main categories of interfaces in the Collections Framework: collections and maps.</a:t>
            </a:r>
            <a:endParaRPr lang="en-US" dirty="0"/>
          </a:p>
        </p:txBody>
      </p:sp>
      <p:sp>
        <p:nvSpPr>
          <p:cNvPr id="5" name="TextBox 4">
            <a:extLst>
              <a:ext uri="{FF2B5EF4-FFF2-40B4-BE49-F238E27FC236}">
                <a16:creationId xmlns:a16="http://schemas.microsoft.com/office/drawing/2014/main" id="{E9293A56-1242-C883-3233-C086B8630E03}"/>
              </a:ext>
            </a:extLst>
          </p:cNvPr>
          <p:cNvSpPr txBox="1"/>
          <p:nvPr/>
        </p:nvSpPr>
        <p:spPr>
          <a:xfrm>
            <a:off x="700709" y="1437358"/>
            <a:ext cx="11146733" cy="923330"/>
          </a:xfrm>
          <a:prstGeom prst="rect">
            <a:avLst/>
          </a:prstGeom>
          <a:noFill/>
        </p:spPr>
        <p:txBody>
          <a:bodyPr wrap="square">
            <a:spAutoFit/>
          </a:bodyPr>
          <a:lstStyle/>
          <a:p>
            <a:r>
              <a:rPr lang="en-US" b="0" i="0" dirty="0">
                <a:solidFill>
                  <a:srgbClr val="131516"/>
                </a:solidFill>
                <a:effectLst/>
                <a:latin typeface="system-ui"/>
              </a:rPr>
              <a:t>Collections are about storing objects and iterating over them. The </a:t>
            </a:r>
            <a:r>
              <a:rPr lang="en-US" b="0" i="0" u="sng" dirty="0">
                <a:solidFill>
                  <a:srgbClr val="3A75B0"/>
                </a:solidFill>
                <a:effectLst/>
                <a:latin typeface="SFMono-Regular"/>
                <a:hlinkClick r:id="rId2"/>
              </a:rPr>
              <a:t>Collection</a:t>
            </a:r>
            <a:r>
              <a:rPr lang="en-US" b="0" i="0" dirty="0">
                <a:solidFill>
                  <a:srgbClr val="131516"/>
                </a:solidFill>
                <a:effectLst/>
                <a:latin typeface="system-ui"/>
              </a:rPr>
              <a:t> interface is the root interface of this category. In fact, the </a:t>
            </a:r>
            <a:r>
              <a:rPr lang="en-US" b="0" i="0" u="sng" dirty="0">
                <a:solidFill>
                  <a:srgbClr val="3A75B0"/>
                </a:solidFill>
                <a:effectLst/>
                <a:latin typeface="SFMono-Regular"/>
                <a:hlinkClick r:id="rId2"/>
              </a:rPr>
              <a:t>Collection</a:t>
            </a:r>
            <a:r>
              <a:rPr lang="en-US" b="0" i="0" dirty="0">
                <a:solidFill>
                  <a:srgbClr val="131516"/>
                </a:solidFill>
                <a:effectLst/>
                <a:latin typeface="system-ui"/>
              </a:rPr>
              <a:t> interface extends the </a:t>
            </a:r>
            <a:r>
              <a:rPr lang="en-US" b="0" i="0" u="sng" dirty="0" err="1">
                <a:solidFill>
                  <a:srgbClr val="3A75B0"/>
                </a:solidFill>
                <a:effectLst/>
                <a:latin typeface="SFMono-Regular"/>
                <a:hlinkClick r:id="rId3"/>
              </a:rPr>
              <a:t>Iterable</a:t>
            </a:r>
            <a:r>
              <a:rPr lang="en-US" b="0" i="0" dirty="0">
                <a:solidFill>
                  <a:srgbClr val="131516"/>
                </a:solidFill>
                <a:effectLst/>
                <a:latin typeface="system-ui"/>
              </a:rPr>
              <a:t> interface, but this interface is not part of the Collections Framework.</a:t>
            </a:r>
            <a:endParaRPr lang="en-US" dirty="0"/>
          </a:p>
        </p:txBody>
      </p:sp>
      <p:sp>
        <p:nvSpPr>
          <p:cNvPr id="7" name="TextBox 6">
            <a:extLst>
              <a:ext uri="{FF2B5EF4-FFF2-40B4-BE49-F238E27FC236}">
                <a16:creationId xmlns:a16="http://schemas.microsoft.com/office/drawing/2014/main" id="{DF88915B-911B-9010-6594-4B369D30709E}"/>
              </a:ext>
            </a:extLst>
          </p:cNvPr>
          <p:cNvSpPr txBox="1"/>
          <p:nvPr/>
        </p:nvSpPr>
        <p:spPr>
          <a:xfrm>
            <a:off x="700709" y="3836291"/>
            <a:ext cx="10828681" cy="923330"/>
          </a:xfrm>
          <a:prstGeom prst="rect">
            <a:avLst/>
          </a:prstGeom>
          <a:noFill/>
        </p:spPr>
        <p:txBody>
          <a:bodyPr wrap="square">
            <a:spAutoFit/>
          </a:bodyPr>
          <a:lstStyle/>
          <a:p>
            <a:r>
              <a:rPr lang="en-US" b="0" i="0" dirty="0">
                <a:solidFill>
                  <a:srgbClr val="131516"/>
                </a:solidFill>
                <a:effectLst/>
                <a:latin typeface="system-ui"/>
              </a:rPr>
              <a:t>A Map stores an object along with a key, which represents that object, just as a primary key represents an object in a database, if you are familiar with this concept. Sometimes you will hear that maps store </a:t>
            </a:r>
            <a:r>
              <a:rPr lang="en-US" b="0" i="1" dirty="0">
                <a:solidFill>
                  <a:srgbClr val="131516"/>
                </a:solidFill>
                <a:effectLst/>
                <a:latin typeface="system-ui"/>
              </a:rPr>
              <a:t>key/value</a:t>
            </a:r>
            <a:r>
              <a:rPr lang="en-US" b="0" i="0" dirty="0">
                <a:solidFill>
                  <a:srgbClr val="131516"/>
                </a:solidFill>
                <a:effectLst/>
                <a:latin typeface="system-ui"/>
              </a:rPr>
              <a:t> pairs, which exactly describes what a map does. The </a:t>
            </a:r>
            <a:r>
              <a:rPr lang="en-US" b="0" i="0" u="sng" dirty="0">
                <a:solidFill>
                  <a:srgbClr val="3A75B0"/>
                </a:solidFill>
                <a:effectLst/>
                <a:latin typeface="SFMono-Regular"/>
                <a:hlinkClick r:id="rId4"/>
              </a:rPr>
              <a:t>Map</a:t>
            </a:r>
            <a:r>
              <a:rPr lang="en-US" b="0" i="0" dirty="0">
                <a:solidFill>
                  <a:srgbClr val="131516"/>
                </a:solidFill>
                <a:effectLst/>
                <a:latin typeface="system-ui"/>
              </a:rPr>
              <a:t> interface is the root interface of this category.</a:t>
            </a:r>
            <a:endParaRPr lang="en-US" dirty="0"/>
          </a:p>
        </p:txBody>
      </p:sp>
    </p:spTree>
    <p:extLst>
      <p:ext uri="{BB962C8B-B14F-4D97-AF65-F5344CB8AC3E}">
        <p14:creationId xmlns:p14="http://schemas.microsoft.com/office/powerpoint/2010/main" val="142406850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8DC09E-E531-EC7F-432B-91BA368241D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DBC1869-BCA1-E04C-A29B-B2343272325C}"/>
              </a:ext>
            </a:extLst>
          </p:cNvPr>
          <p:cNvSpPr txBox="1"/>
          <p:nvPr/>
        </p:nvSpPr>
        <p:spPr>
          <a:xfrm>
            <a:off x="621197" y="660809"/>
            <a:ext cx="6092686" cy="646331"/>
          </a:xfrm>
          <a:prstGeom prst="rect">
            <a:avLst/>
          </a:prstGeom>
          <a:noFill/>
        </p:spPr>
        <p:txBody>
          <a:bodyPr wrap="square">
            <a:spAutoFit/>
          </a:bodyPr>
          <a:lstStyle/>
          <a:p>
            <a:r>
              <a:rPr lang="en-US" b="0" i="0" dirty="0">
                <a:solidFill>
                  <a:srgbClr val="131516"/>
                </a:solidFill>
                <a:effectLst/>
                <a:latin typeface="system-ui"/>
              </a:rPr>
              <a:t>There is no direct relationship between the interfaces of the </a:t>
            </a:r>
            <a:r>
              <a:rPr lang="en-US" b="0" i="0" u="sng" dirty="0">
                <a:solidFill>
                  <a:srgbClr val="3A75B0"/>
                </a:solidFill>
                <a:effectLst/>
                <a:latin typeface="SFMono-Regular"/>
                <a:hlinkClick r:id="rId2"/>
              </a:rPr>
              <a:t>Collection</a:t>
            </a:r>
            <a:r>
              <a:rPr lang="en-US" b="0" i="0" dirty="0">
                <a:solidFill>
                  <a:srgbClr val="131516"/>
                </a:solidFill>
                <a:effectLst/>
                <a:latin typeface="system-ui"/>
              </a:rPr>
              <a:t> hierarchy and the </a:t>
            </a:r>
            <a:r>
              <a:rPr lang="en-US" b="0" i="0" u="sng" dirty="0">
                <a:solidFill>
                  <a:srgbClr val="3A75B0"/>
                </a:solidFill>
                <a:effectLst/>
                <a:latin typeface="SFMono-Regular"/>
                <a:hlinkClick r:id="rId3"/>
              </a:rPr>
              <a:t>Map</a:t>
            </a:r>
            <a:r>
              <a:rPr lang="en-US" b="0" i="0" dirty="0">
                <a:solidFill>
                  <a:srgbClr val="131516"/>
                </a:solidFill>
                <a:effectLst/>
                <a:latin typeface="system-ui"/>
              </a:rPr>
              <a:t> hierarchy.</a:t>
            </a:r>
            <a:endParaRPr lang="en-US" dirty="0"/>
          </a:p>
        </p:txBody>
      </p:sp>
      <p:sp>
        <p:nvSpPr>
          <p:cNvPr id="5" name="TextBox 4">
            <a:extLst>
              <a:ext uri="{FF2B5EF4-FFF2-40B4-BE49-F238E27FC236}">
                <a16:creationId xmlns:a16="http://schemas.microsoft.com/office/drawing/2014/main" id="{177C445E-4B22-F534-F524-A8192BDA80DA}"/>
              </a:ext>
            </a:extLst>
          </p:cNvPr>
          <p:cNvSpPr txBox="1"/>
          <p:nvPr/>
        </p:nvSpPr>
        <p:spPr>
          <a:xfrm>
            <a:off x="621197" y="1856097"/>
            <a:ext cx="6092686" cy="1754326"/>
          </a:xfrm>
          <a:prstGeom prst="rect">
            <a:avLst/>
          </a:prstGeom>
          <a:noFill/>
        </p:spPr>
        <p:txBody>
          <a:bodyPr wrap="square">
            <a:spAutoFit/>
          </a:bodyPr>
          <a:lstStyle/>
          <a:p>
            <a:r>
              <a:rPr lang="en-US" b="0" i="0" dirty="0">
                <a:solidFill>
                  <a:srgbClr val="131516"/>
                </a:solidFill>
                <a:effectLst/>
                <a:latin typeface="system-ui"/>
              </a:rPr>
              <a:t>Along with these collections and maps, you also need to know that you can find interfaces to model queues and stacks in the </a:t>
            </a:r>
            <a:r>
              <a:rPr lang="en-US" b="0" i="0" u="sng" dirty="0">
                <a:solidFill>
                  <a:srgbClr val="3A75B0"/>
                </a:solidFill>
                <a:effectLst/>
                <a:latin typeface="SFMono-Regular"/>
                <a:hlinkClick r:id="rId2"/>
              </a:rPr>
              <a:t>Collection</a:t>
            </a:r>
            <a:r>
              <a:rPr lang="en-US" b="0" i="0" dirty="0">
                <a:solidFill>
                  <a:srgbClr val="131516"/>
                </a:solidFill>
                <a:effectLst/>
                <a:latin typeface="system-ui"/>
              </a:rPr>
              <a:t> hierarchy. Queues and stacks are not really about iterating over collections of objects, but since they have been added to the </a:t>
            </a:r>
            <a:r>
              <a:rPr lang="en-US" b="0" i="0" u="sng" dirty="0">
                <a:solidFill>
                  <a:srgbClr val="3A75B0"/>
                </a:solidFill>
                <a:effectLst/>
                <a:latin typeface="SFMono-Regular"/>
                <a:hlinkClick r:id="rId2"/>
              </a:rPr>
              <a:t>Collection</a:t>
            </a:r>
            <a:r>
              <a:rPr lang="en-US" b="0" i="0" dirty="0">
                <a:solidFill>
                  <a:srgbClr val="131516"/>
                </a:solidFill>
                <a:effectLst/>
                <a:latin typeface="system-ui"/>
              </a:rPr>
              <a:t> hierarchy, it turns out you can do that with them.</a:t>
            </a:r>
            <a:endParaRPr lang="en-US" dirty="0"/>
          </a:p>
        </p:txBody>
      </p:sp>
    </p:spTree>
    <p:extLst>
      <p:ext uri="{BB962C8B-B14F-4D97-AF65-F5344CB8AC3E}">
        <p14:creationId xmlns:p14="http://schemas.microsoft.com/office/powerpoint/2010/main" val="308163718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7E7CDA-693A-59BB-9CF6-3ED460CA735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B761B1A-0C6A-8451-50D3-0CE230AB065E}"/>
              </a:ext>
            </a:extLst>
          </p:cNvPr>
          <p:cNvSpPr txBox="1"/>
          <p:nvPr/>
        </p:nvSpPr>
        <p:spPr>
          <a:xfrm>
            <a:off x="899492" y="921820"/>
            <a:ext cx="4845325" cy="2308324"/>
          </a:xfrm>
          <a:prstGeom prst="rect">
            <a:avLst/>
          </a:prstGeom>
          <a:noFill/>
        </p:spPr>
        <p:txBody>
          <a:bodyPr wrap="square">
            <a:spAutoFit/>
          </a:bodyPr>
          <a:lstStyle/>
          <a:p>
            <a:pPr algn="l">
              <a:buNone/>
            </a:pPr>
            <a:r>
              <a:rPr lang="en-US" b="0" i="0" dirty="0">
                <a:solidFill>
                  <a:srgbClr val="131516"/>
                </a:solidFill>
                <a:effectLst/>
                <a:latin typeface="system-ui"/>
              </a:rPr>
              <a:t>There is one last hierarchy that you also need to know, which is the </a:t>
            </a:r>
            <a:r>
              <a:rPr lang="en-US" b="0" i="0" u="sng" dirty="0">
                <a:solidFill>
                  <a:srgbClr val="3A75B0"/>
                </a:solidFill>
                <a:effectLst/>
                <a:latin typeface="SFMono-Regular"/>
                <a:hlinkClick r:id="rId2"/>
              </a:rPr>
              <a:t>Iterator</a:t>
            </a:r>
            <a:r>
              <a:rPr lang="en-US" b="0" i="0" dirty="0">
                <a:solidFill>
                  <a:srgbClr val="131516"/>
                </a:solidFill>
                <a:effectLst/>
                <a:latin typeface="system-ui"/>
              </a:rPr>
              <a:t> hierarchy. An iterator is an object that can iterate over a collection of objects, and it is part of the Collections Framework.</a:t>
            </a:r>
          </a:p>
          <a:p>
            <a:pPr algn="l">
              <a:buNone/>
            </a:pPr>
            <a:r>
              <a:rPr lang="en-US" b="0" i="0" dirty="0">
                <a:solidFill>
                  <a:srgbClr val="131516"/>
                </a:solidFill>
                <a:effectLst/>
                <a:latin typeface="system-ui"/>
              </a:rPr>
              <a:t>That makes two main categories, </a:t>
            </a:r>
            <a:r>
              <a:rPr lang="en-US" b="0" i="0" u="sng" dirty="0">
                <a:solidFill>
                  <a:srgbClr val="3A75B0"/>
                </a:solidFill>
                <a:effectLst/>
                <a:latin typeface="SFMono-Regular"/>
                <a:hlinkClick r:id="rId3"/>
              </a:rPr>
              <a:t>Collection</a:t>
            </a:r>
            <a:r>
              <a:rPr lang="en-US" b="0" i="0" dirty="0">
                <a:solidFill>
                  <a:srgbClr val="131516"/>
                </a:solidFill>
                <a:effectLst/>
                <a:latin typeface="system-ui"/>
              </a:rPr>
              <a:t> and </a:t>
            </a:r>
            <a:r>
              <a:rPr lang="en-US" b="0" i="0" u="sng" dirty="0">
                <a:solidFill>
                  <a:srgbClr val="3A75B0"/>
                </a:solidFill>
                <a:effectLst/>
                <a:latin typeface="SFMono-Regular"/>
                <a:hlinkClick r:id="rId4"/>
              </a:rPr>
              <a:t>Map</a:t>
            </a:r>
            <a:r>
              <a:rPr lang="en-US" b="0" i="0" dirty="0">
                <a:solidFill>
                  <a:srgbClr val="131516"/>
                </a:solidFill>
                <a:effectLst/>
                <a:latin typeface="system-ui"/>
              </a:rPr>
              <a:t>, a subcategory, </a:t>
            </a:r>
            <a:r>
              <a:rPr lang="en-US" b="0" i="0" u="sng" dirty="0">
                <a:solidFill>
                  <a:srgbClr val="3A75B0"/>
                </a:solidFill>
                <a:effectLst/>
                <a:latin typeface="SFMono-Regular"/>
                <a:hlinkClick r:id="rId5"/>
              </a:rPr>
              <a:t>Queue</a:t>
            </a:r>
            <a:r>
              <a:rPr lang="en-US" b="0" i="0" dirty="0">
                <a:solidFill>
                  <a:srgbClr val="131516"/>
                </a:solidFill>
                <a:effectLst/>
                <a:latin typeface="system-ui"/>
              </a:rPr>
              <a:t>, and a side category, </a:t>
            </a:r>
            <a:r>
              <a:rPr lang="en-US" b="0" i="0" u="sng" dirty="0">
                <a:solidFill>
                  <a:srgbClr val="3A75B0"/>
                </a:solidFill>
                <a:effectLst/>
                <a:latin typeface="SFMono-Regular"/>
                <a:hlinkClick r:id="rId2"/>
              </a:rPr>
              <a:t>Iterator</a:t>
            </a:r>
            <a:r>
              <a:rPr lang="en-US" b="0" i="0" dirty="0">
                <a:solidFill>
                  <a:srgbClr val="131516"/>
                </a:solidFill>
                <a:effectLst/>
                <a:latin typeface="system-ui"/>
              </a:rPr>
              <a:t>.</a:t>
            </a:r>
          </a:p>
        </p:txBody>
      </p:sp>
    </p:spTree>
    <p:extLst>
      <p:ext uri="{BB962C8B-B14F-4D97-AF65-F5344CB8AC3E}">
        <p14:creationId xmlns:p14="http://schemas.microsoft.com/office/powerpoint/2010/main" val="141930197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31F4CC-6F2D-F48A-1C52-B90856CF2F9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D818DB5-0FA4-8FFF-0C82-E6CD11DF6188}"/>
              </a:ext>
            </a:extLst>
          </p:cNvPr>
          <p:cNvSpPr txBox="1"/>
          <p:nvPr/>
        </p:nvSpPr>
        <p:spPr>
          <a:xfrm>
            <a:off x="501927" y="481256"/>
            <a:ext cx="6092686" cy="369332"/>
          </a:xfrm>
          <a:prstGeom prst="rect">
            <a:avLst/>
          </a:prstGeom>
          <a:noFill/>
        </p:spPr>
        <p:txBody>
          <a:bodyPr wrap="square">
            <a:spAutoFit/>
          </a:bodyPr>
          <a:lstStyle/>
          <a:p>
            <a:pPr algn="l">
              <a:spcBef>
                <a:spcPts val="3750"/>
              </a:spcBef>
              <a:spcAft>
                <a:spcPts val="1500"/>
              </a:spcAft>
              <a:buNone/>
            </a:pPr>
            <a:r>
              <a:rPr lang="en-US" b="1" i="0" dirty="0">
                <a:solidFill>
                  <a:srgbClr val="131516"/>
                </a:solidFill>
                <a:effectLst/>
                <a:latin typeface="system-ui"/>
              </a:rPr>
              <a:t>Avoiding Using Old Interfaces and Implementations</a:t>
            </a:r>
          </a:p>
        </p:txBody>
      </p:sp>
      <p:sp>
        <p:nvSpPr>
          <p:cNvPr id="5" name="TextBox 4">
            <a:extLst>
              <a:ext uri="{FF2B5EF4-FFF2-40B4-BE49-F238E27FC236}">
                <a16:creationId xmlns:a16="http://schemas.microsoft.com/office/drawing/2014/main" id="{E0CE31FA-35ED-F4D4-052B-C774FB168097}"/>
              </a:ext>
            </a:extLst>
          </p:cNvPr>
          <p:cNvSpPr txBox="1"/>
          <p:nvPr/>
        </p:nvSpPr>
        <p:spPr>
          <a:xfrm>
            <a:off x="501927" y="1060318"/>
            <a:ext cx="11305760" cy="923330"/>
          </a:xfrm>
          <a:prstGeom prst="rect">
            <a:avLst/>
          </a:prstGeom>
          <a:noFill/>
        </p:spPr>
        <p:txBody>
          <a:bodyPr wrap="square">
            <a:spAutoFit/>
          </a:bodyPr>
          <a:lstStyle/>
          <a:p>
            <a:r>
              <a:rPr lang="en-US" b="0" i="0" dirty="0">
                <a:solidFill>
                  <a:srgbClr val="131516"/>
                </a:solidFill>
                <a:effectLst/>
                <a:latin typeface="system-ui"/>
              </a:rPr>
              <a:t>The Collections Framework was only introduced in Java 2, meaning that there was a life before it. This life consisted in several classes and interfaces that are still in the JDK, to preserve backward compatibility, but that you should not use anymore in your applications.</a:t>
            </a:r>
            <a:endParaRPr lang="en-US" dirty="0"/>
          </a:p>
        </p:txBody>
      </p:sp>
      <p:sp>
        <p:nvSpPr>
          <p:cNvPr id="7" name="TextBox 6">
            <a:extLst>
              <a:ext uri="{FF2B5EF4-FFF2-40B4-BE49-F238E27FC236}">
                <a16:creationId xmlns:a16="http://schemas.microsoft.com/office/drawing/2014/main" id="{A267C604-D7D8-14DB-1EB3-B9C936F7413B}"/>
              </a:ext>
            </a:extLst>
          </p:cNvPr>
          <p:cNvSpPr txBox="1"/>
          <p:nvPr/>
        </p:nvSpPr>
        <p:spPr>
          <a:xfrm>
            <a:off x="740466" y="2190408"/>
            <a:ext cx="6092686" cy="4555093"/>
          </a:xfrm>
          <a:prstGeom prst="rect">
            <a:avLst/>
          </a:prstGeom>
          <a:noFill/>
        </p:spPr>
        <p:txBody>
          <a:bodyPr wrap="square">
            <a:spAutoFit/>
          </a:bodyPr>
          <a:lstStyle/>
          <a:p>
            <a:pPr algn="l">
              <a:buNone/>
            </a:pPr>
            <a:r>
              <a:rPr lang="en-US" b="0" i="0" dirty="0">
                <a:solidFill>
                  <a:srgbClr val="131516"/>
                </a:solidFill>
                <a:effectLst/>
                <a:latin typeface="system-ui"/>
              </a:rPr>
              <a:t>Those classes and interfaces are the following:</a:t>
            </a:r>
          </a:p>
          <a:p>
            <a:pPr algn="l">
              <a:spcBef>
                <a:spcPts val="750"/>
              </a:spcBef>
              <a:buFont typeface="Arial" panose="020B0604020202020204" pitchFamily="34" charset="0"/>
              <a:buChar char="•"/>
            </a:pPr>
            <a:r>
              <a:rPr lang="en-US" b="0" i="0" u="sng" dirty="0">
                <a:solidFill>
                  <a:srgbClr val="3A75B0"/>
                </a:solidFill>
                <a:effectLst/>
                <a:latin typeface="SFMono-Regular"/>
                <a:hlinkClick r:id="rId2"/>
              </a:rPr>
              <a:t>Vector</a:t>
            </a:r>
            <a:r>
              <a:rPr lang="en-US" b="0" i="0" dirty="0">
                <a:solidFill>
                  <a:srgbClr val="131516"/>
                </a:solidFill>
                <a:effectLst/>
                <a:latin typeface="system-ui"/>
              </a:rPr>
              <a:t> and </a:t>
            </a:r>
            <a:r>
              <a:rPr lang="en-US" b="0" i="0" u="sng" dirty="0">
                <a:solidFill>
                  <a:srgbClr val="3A75B0"/>
                </a:solidFill>
                <a:effectLst/>
                <a:latin typeface="SFMono-Regular"/>
                <a:hlinkClick r:id="rId3"/>
              </a:rPr>
              <a:t>Stack</a:t>
            </a:r>
            <a:r>
              <a:rPr lang="en-US" b="0" i="0" dirty="0">
                <a:solidFill>
                  <a:srgbClr val="131516"/>
                </a:solidFill>
                <a:effectLst/>
                <a:latin typeface="system-ui"/>
              </a:rPr>
              <a:t>. The </a:t>
            </a:r>
            <a:r>
              <a:rPr lang="en-US" b="0" i="0" u="sng" dirty="0">
                <a:solidFill>
                  <a:srgbClr val="3A75B0"/>
                </a:solidFill>
                <a:effectLst/>
                <a:latin typeface="SFMono-Regular"/>
                <a:hlinkClick r:id="rId2"/>
              </a:rPr>
              <a:t>Vector</a:t>
            </a:r>
            <a:r>
              <a:rPr lang="en-US" b="0" i="0" dirty="0">
                <a:solidFill>
                  <a:srgbClr val="131516"/>
                </a:solidFill>
                <a:effectLst/>
                <a:latin typeface="system-ui"/>
              </a:rPr>
              <a:t> class has been retrofitted to implement the </a:t>
            </a:r>
            <a:r>
              <a:rPr lang="en-US" b="0" i="0" u="sng" dirty="0">
                <a:solidFill>
                  <a:srgbClr val="3A75B0"/>
                </a:solidFill>
                <a:effectLst/>
                <a:latin typeface="SFMono-Regular"/>
                <a:hlinkClick r:id="rId4"/>
              </a:rPr>
              <a:t>List</a:t>
            </a:r>
            <a:r>
              <a:rPr lang="en-US" b="0" i="0" dirty="0">
                <a:solidFill>
                  <a:srgbClr val="131516"/>
                </a:solidFill>
                <a:effectLst/>
                <a:latin typeface="system-ui"/>
              </a:rPr>
              <a:t> interface. If you are using a vector in a non-concurrent environment, then you can safely replace it with </a:t>
            </a:r>
            <a:r>
              <a:rPr lang="en-US" b="0" i="0" u="sng" dirty="0" err="1">
                <a:solidFill>
                  <a:srgbClr val="3A75B0"/>
                </a:solidFill>
                <a:effectLst/>
                <a:latin typeface="SFMono-Regular"/>
                <a:hlinkClick r:id="rId5"/>
              </a:rPr>
              <a:t>ArrayList</a:t>
            </a:r>
            <a:r>
              <a:rPr lang="en-US" b="0" i="0" dirty="0">
                <a:solidFill>
                  <a:srgbClr val="131516"/>
                </a:solidFill>
                <a:effectLst/>
                <a:latin typeface="system-ui"/>
              </a:rPr>
              <a:t>. The </a:t>
            </a:r>
            <a:r>
              <a:rPr lang="en-US" b="0" i="0" u="sng" dirty="0">
                <a:solidFill>
                  <a:srgbClr val="3A75B0"/>
                </a:solidFill>
                <a:effectLst/>
                <a:latin typeface="SFMono-Regular"/>
                <a:hlinkClick r:id="rId3"/>
              </a:rPr>
              <a:t>Stack</a:t>
            </a:r>
            <a:r>
              <a:rPr lang="en-US" b="0" i="0" dirty="0">
                <a:solidFill>
                  <a:srgbClr val="131516"/>
                </a:solidFill>
                <a:effectLst/>
                <a:latin typeface="system-ui"/>
              </a:rPr>
              <a:t> class extends </a:t>
            </a:r>
            <a:r>
              <a:rPr lang="en-US" b="0" i="0" u="sng" dirty="0">
                <a:solidFill>
                  <a:srgbClr val="3A75B0"/>
                </a:solidFill>
                <a:effectLst/>
                <a:latin typeface="SFMono-Regular"/>
                <a:hlinkClick r:id="rId2"/>
              </a:rPr>
              <a:t>Vector</a:t>
            </a:r>
            <a:r>
              <a:rPr lang="en-US" b="0" i="0" dirty="0">
                <a:solidFill>
                  <a:srgbClr val="131516"/>
                </a:solidFill>
                <a:effectLst/>
                <a:latin typeface="system-ui"/>
              </a:rPr>
              <a:t> and should be replaced by </a:t>
            </a:r>
            <a:r>
              <a:rPr lang="en-US" b="0" i="0" u="sng" dirty="0" err="1">
                <a:solidFill>
                  <a:srgbClr val="3A75B0"/>
                </a:solidFill>
                <a:effectLst/>
                <a:latin typeface="SFMono-Regular"/>
                <a:hlinkClick r:id="rId6"/>
              </a:rPr>
              <a:t>ArrayDeque</a:t>
            </a:r>
            <a:r>
              <a:rPr lang="en-US" b="0" i="0" dirty="0">
                <a:solidFill>
                  <a:srgbClr val="131516"/>
                </a:solidFill>
                <a:effectLst/>
                <a:latin typeface="system-ui"/>
              </a:rPr>
              <a:t> in non-concurrent environments.</a:t>
            </a:r>
          </a:p>
          <a:p>
            <a:pPr algn="l">
              <a:spcBef>
                <a:spcPts val="750"/>
              </a:spcBef>
              <a:buFont typeface="Arial" panose="020B0604020202020204" pitchFamily="34" charset="0"/>
              <a:buChar char="•"/>
            </a:pPr>
            <a:r>
              <a:rPr lang="en-US" b="0" i="0" dirty="0">
                <a:solidFill>
                  <a:srgbClr val="131516"/>
                </a:solidFill>
                <a:effectLst/>
                <a:latin typeface="system-ui"/>
              </a:rPr>
              <a:t>The </a:t>
            </a:r>
            <a:r>
              <a:rPr lang="en-US" b="0" i="0" u="sng" dirty="0">
                <a:solidFill>
                  <a:srgbClr val="3A75B0"/>
                </a:solidFill>
                <a:effectLst/>
                <a:latin typeface="SFMono-Regular"/>
                <a:hlinkClick r:id="rId2"/>
              </a:rPr>
              <a:t>Vector</a:t>
            </a:r>
            <a:r>
              <a:rPr lang="en-US" b="0" i="0" dirty="0">
                <a:solidFill>
                  <a:srgbClr val="131516"/>
                </a:solidFill>
                <a:effectLst/>
                <a:latin typeface="system-ui"/>
              </a:rPr>
              <a:t> class uses the </a:t>
            </a:r>
            <a:r>
              <a:rPr lang="en-US" b="0" i="0" u="sng" dirty="0">
                <a:solidFill>
                  <a:srgbClr val="3A75B0"/>
                </a:solidFill>
                <a:effectLst/>
                <a:latin typeface="SFMono-Regular"/>
                <a:hlinkClick r:id="rId7"/>
              </a:rPr>
              <a:t>Enumeration</a:t>
            </a:r>
            <a:r>
              <a:rPr lang="en-US" b="0" i="0" dirty="0">
                <a:solidFill>
                  <a:srgbClr val="131516"/>
                </a:solidFill>
                <a:effectLst/>
                <a:latin typeface="system-ui"/>
              </a:rPr>
              <a:t> interface to model its iterator. This interface should not be used anymore: the preferred interface is now the </a:t>
            </a:r>
            <a:r>
              <a:rPr lang="en-US" b="0" i="0" u="sng" dirty="0">
                <a:solidFill>
                  <a:srgbClr val="3A75B0"/>
                </a:solidFill>
                <a:effectLst/>
                <a:latin typeface="SFMono-Regular"/>
                <a:hlinkClick r:id="rId8"/>
              </a:rPr>
              <a:t>Iterator</a:t>
            </a:r>
            <a:r>
              <a:rPr lang="en-US" b="0" i="0" dirty="0">
                <a:solidFill>
                  <a:srgbClr val="131516"/>
                </a:solidFill>
                <a:effectLst/>
                <a:latin typeface="system-ui"/>
              </a:rPr>
              <a:t> interface.</a:t>
            </a:r>
          </a:p>
          <a:p>
            <a:pPr algn="l">
              <a:spcBef>
                <a:spcPts val="750"/>
              </a:spcBef>
              <a:buFont typeface="Arial" panose="020B0604020202020204" pitchFamily="34" charset="0"/>
              <a:buChar char="•"/>
            </a:pPr>
            <a:r>
              <a:rPr lang="en-US" b="0" i="0" u="sng" dirty="0" err="1">
                <a:solidFill>
                  <a:srgbClr val="3A75B0"/>
                </a:solidFill>
                <a:effectLst/>
                <a:latin typeface="SFMono-Regular"/>
                <a:hlinkClick r:id="rId9"/>
              </a:rPr>
              <a:t>HashTable</a:t>
            </a:r>
            <a:r>
              <a:rPr lang="en-US" b="0" i="0" dirty="0">
                <a:solidFill>
                  <a:srgbClr val="131516"/>
                </a:solidFill>
                <a:effectLst/>
                <a:latin typeface="system-ui"/>
              </a:rPr>
              <a:t>: This class has been retrofitted to implement the </a:t>
            </a:r>
            <a:r>
              <a:rPr lang="en-US" b="0" i="0" u="sng" dirty="0">
                <a:solidFill>
                  <a:srgbClr val="3A75B0"/>
                </a:solidFill>
                <a:effectLst/>
                <a:latin typeface="SFMono-Regular"/>
                <a:hlinkClick r:id="rId10"/>
              </a:rPr>
              <a:t>Map</a:t>
            </a:r>
            <a:r>
              <a:rPr lang="en-US" b="0" i="0" dirty="0">
                <a:solidFill>
                  <a:srgbClr val="131516"/>
                </a:solidFill>
                <a:effectLst/>
                <a:latin typeface="system-ui"/>
              </a:rPr>
              <a:t> interface. If you are using instances of this class in a non-concurrent environment, then you can safely replace its use with </a:t>
            </a:r>
            <a:r>
              <a:rPr lang="en-US" b="0" i="0" u="sng" dirty="0">
                <a:solidFill>
                  <a:srgbClr val="3A75B0"/>
                </a:solidFill>
                <a:effectLst/>
                <a:latin typeface="SFMono-Regular"/>
                <a:hlinkClick r:id="rId11"/>
              </a:rPr>
              <a:t>HashMap</a:t>
            </a:r>
            <a:r>
              <a:rPr lang="en-US" b="0" i="0" dirty="0">
                <a:solidFill>
                  <a:srgbClr val="131516"/>
                </a:solidFill>
                <a:effectLst/>
                <a:latin typeface="system-ui"/>
              </a:rPr>
              <a:t>. In a concurrent environment, </a:t>
            </a:r>
            <a:r>
              <a:rPr lang="en-US" b="0" i="0" u="sng" dirty="0" err="1">
                <a:solidFill>
                  <a:srgbClr val="3A75B0"/>
                </a:solidFill>
                <a:effectLst/>
                <a:latin typeface="SFMono-Regular"/>
                <a:hlinkClick r:id="rId12"/>
              </a:rPr>
              <a:t>ConcurrentHashMap</a:t>
            </a:r>
            <a:r>
              <a:rPr lang="en-US" b="0" i="0" dirty="0">
                <a:solidFill>
                  <a:srgbClr val="131516"/>
                </a:solidFill>
                <a:effectLst/>
                <a:latin typeface="system-ui"/>
              </a:rPr>
              <a:t> can be used as a replacement.</a:t>
            </a:r>
          </a:p>
        </p:txBody>
      </p:sp>
    </p:spTree>
    <p:extLst>
      <p:ext uri="{BB962C8B-B14F-4D97-AF65-F5344CB8AC3E}">
        <p14:creationId xmlns:p14="http://schemas.microsoft.com/office/powerpoint/2010/main" val="93740998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E61428-07AD-6F9A-1511-892EAED6F56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00514BF-075C-FA23-F34F-A354CDE27DB6}"/>
              </a:ext>
            </a:extLst>
          </p:cNvPr>
          <p:cNvSpPr txBox="1"/>
          <p:nvPr/>
        </p:nvSpPr>
        <p:spPr>
          <a:xfrm>
            <a:off x="541683" y="242717"/>
            <a:ext cx="6092686" cy="369332"/>
          </a:xfrm>
          <a:prstGeom prst="rect">
            <a:avLst/>
          </a:prstGeom>
          <a:noFill/>
        </p:spPr>
        <p:txBody>
          <a:bodyPr wrap="square">
            <a:spAutoFit/>
          </a:bodyPr>
          <a:lstStyle/>
          <a:p>
            <a:pPr algn="l">
              <a:spcBef>
                <a:spcPts val="3750"/>
              </a:spcBef>
              <a:spcAft>
                <a:spcPts val="1500"/>
              </a:spcAft>
              <a:buNone/>
            </a:pPr>
            <a:r>
              <a:rPr lang="en-US" b="1" i="0" dirty="0">
                <a:solidFill>
                  <a:srgbClr val="131516"/>
                </a:solidFill>
                <a:effectLst/>
                <a:latin typeface="system-ui"/>
              </a:rPr>
              <a:t>Why Choose a Collection Over an Array?</a:t>
            </a:r>
          </a:p>
        </p:txBody>
      </p:sp>
      <p:sp>
        <p:nvSpPr>
          <p:cNvPr id="5" name="TextBox 4">
            <a:extLst>
              <a:ext uri="{FF2B5EF4-FFF2-40B4-BE49-F238E27FC236}">
                <a16:creationId xmlns:a16="http://schemas.microsoft.com/office/drawing/2014/main" id="{5F0E7E65-3649-4FF6-A77C-DDE5B2E002DA}"/>
              </a:ext>
            </a:extLst>
          </p:cNvPr>
          <p:cNvSpPr txBox="1"/>
          <p:nvPr/>
        </p:nvSpPr>
        <p:spPr>
          <a:xfrm>
            <a:off x="541682" y="1048861"/>
            <a:ext cx="10590143" cy="4483279"/>
          </a:xfrm>
          <a:prstGeom prst="rect">
            <a:avLst/>
          </a:prstGeom>
          <a:noFill/>
        </p:spPr>
        <p:txBody>
          <a:bodyPr wrap="square">
            <a:spAutoFit/>
          </a:bodyPr>
          <a:lstStyle/>
          <a:p>
            <a:pPr algn="l">
              <a:buNone/>
            </a:pPr>
            <a:r>
              <a:rPr lang="en-US" b="0" i="0" dirty="0">
                <a:solidFill>
                  <a:srgbClr val="131516"/>
                </a:solidFill>
                <a:effectLst/>
                <a:latin typeface="system-ui"/>
              </a:rPr>
              <a:t>You may be wondering why you should bother learn the Collection Frameworks when you may have the feeling that putting your data in a good old array does the job.</a:t>
            </a:r>
          </a:p>
          <a:p>
            <a:pPr algn="l">
              <a:buNone/>
            </a:pPr>
            <a:r>
              <a:rPr lang="en-US" b="0" i="0" dirty="0">
                <a:solidFill>
                  <a:srgbClr val="131516"/>
                </a:solidFill>
                <a:effectLst/>
                <a:latin typeface="system-ui"/>
              </a:rPr>
              <a:t>The fact is, in any case, if you have a solution that is simple, that you master well, and that fits your needs, then you should definitely stick with it!</a:t>
            </a:r>
          </a:p>
          <a:p>
            <a:pPr algn="l">
              <a:buNone/>
            </a:pPr>
            <a:r>
              <a:rPr lang="en-US" b="0" i="0" dirty="0">
                <a:solidFill>
                  <a:srgbClr val="131516"/>
                </a:solidFill>
                <a:effectLst/>
                <a:latin typeface="system-ui"/>
              </a:rPr>
              <a:t>What can a collection do for you, that an array cannot?</a:t>
            </a:r>
          </a:p>
          <a:p>
            <a:pPr algn="l">
              <a:spcBef>
                <a:spcPts val="750"/>
              </a:spcBef>
              <a:buFont typeface="Arial" panose="020B0604020202020204" pitchFamily="34" charset="0"/>
              <a:buChar char="•"/>
            </a:pPr>
            <a:r>
              <a:rPr lang="en-US" b="0" i="0" dirty="0">
                <a:solidFill>
                  <a:srgbClr val="131516"/>
                </a:solidFill>
                <a:effectLst/>
                <a:latin typeface="system-ui"/>
              </a:rPr>
              <a:t>A collection tracks the number of elements it contains</a:t>
            </a:r>
          </a:p>
          <a:p>
            <a:pPr algn="l">
              <a:spcBef>
                <a:spcPts val="750"/>
              </a:spcBef>
              <a:buFont typeface="Arial" panose="020B0604020202020204" pitchFamily="34" charset="0"/>
              <a:buChar char="•"/>
            </a:pPr>
            <a:r>
              <a:rPr lang="en-US" b="0" i="0" dirty="0">
                <a:solidFill>
                  <a:srgbClr val="131516"/>
                </a:solidFill>
                <a:effectLst/>
                <a:latin typeface="system-ui"/>
              </a:rPr>
              <a:t>The capacity of a collection is not limited: you can add (almost) any amount of elements in a collection</a:t>
            </a:r>
          </a:p>
          <a:p>
            <a:pPr algn="l">
              <a:spcBef>
                <a:spcPts val="750"/>
              </a:spcBef>
              <a:buFont typeface="Arial" panose="020B0604020202020204" pitchFamily="34" charset="0"/>
              <a:buChar char="•"/>
            </a:pPr>
            <a:r>
              <a:rPr lang="en-US" b="0" i="0" dirty="0">
                <a:solidFill>
                  <a:srgbClr val="131516"/>
                </a:solidFill>
                <a:effectLst/>
                <a:latin typeface="system-ui"/>
              </a:rPr>
              <a:t>A collection can control what elements you may store in it. For instance, you can prevent null elements to be added</a:t>
            </a:r>
          </a:p>
          <a:p>
            <a:pPr algn="l">
              <a:spcBef>
                <a:spcPts val="750"/>
              </a:spcBef>
              <a:buFont typeface="Arial" panose="020B0604020202020204" pitchFamily="34" charset="0"/>
              <a:buChar char="•"/>
            </a:pPr>
            <a:r>
              <a:rPr lang="en-US" b="0" i="0" dirty="0">
                <a:solidFill>
                  <a:srgbClr val="131516"/>
                </a:solidFill>
                <a:effectLst/>
                <a:latin typeface="system-ui"/>
              </a:rPr>
              <a:t>A collection can be queried for the presence of a given element</a:t>
            </a:r>
          </a:p>
          <a:p>
            <a:pPr algn="l">
              <a:spcBef>
                <a:spcPts val="750"/>
              </a:spcBef>
              <a:buFont typeface="Arial" panose="020B0604020202020204" pitchFamily="34" charset="0"/>
              <a:buChar char="•"/>
            </a:pPr>
            <a:r>
              <a:rPr lang="en-US" b="0" i="0" dirty="0">
                <a:solidFill>
                  <a:srgbClr val="131516"/>
                </a:solidFill>
                <a:effectLst/>
                <a:latin typeface="system-ui"/>
              </a:rPr>
              <a:t>A collection provides operations like intersecting or merging with another collection.</a:t>
            </a:r>
          </a:p>
          <a:p>
            <a:pPr algn="l">
              <a:buNone/>
            </a:pPr>
            <a:r>
              <a:rPr lang="en-US" b="0" i="0" dirty="0">
                <a:solidFill>
                  <a:srgbClr val="131516"/>
                </a:solidFill>
                <a:effectLst/>
                <a:latin typeface="system-ui"/>
              </a:rPr>
              <a:t>This is just a small sample of what a collection can do for you. In fact, since a collection is an object and given that an object is extensible, you can add any operation you need on most of the collections provided by the JDK. It is not possible to do this with an array.</a:t>
            </a:r>
          </a:p>
        </p:txBody>
      </p:sp>
    </p:spTree>
    <p:extLst>
      <p:ext uri="{BB962C8B-B14F-4D97-AF65-F5344CB8AC3E}">
        <p14:creationId xmlns:p14="http://schemas.microsoft.com/office/powerpoint/2010/main" val="192719836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0AA64A-5521-18A5-4ACA-4B6E168A6B1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7BA4AEE-DAE6-D28F-96CB-CC0C35D58A3F}"/>
              </a:ext>
            </a:extLst>
          </p:cNvPr>
          <p:cNvSpPr txBox="1"/>
          <p:nvPr/>
        </p:nvSpPr>
        <p:spPr>
          <a:xfrm>
            <a:off x="482048" y="381864"/>
            <a:ext cx="6092686" cy="369332"/>
          </a:xfrm>
          <a:prstGeom prst="rect">
            <a:avLst/>
          </a:prstGeom>
          <a:noFill/>
        </p:spPr>
        <p:txBody>
          <a:bodyPr wrap="square">
            <a:spAutoFit/>
          </a:bodyPr>
          <a:lstStyle/>
          <a:p>
            <a:pPr algn="l">
              <a:spcAft>
                <a:spcPts val="1500"/>
              </a:spcAft>
              <a:buNone/>
            </a:pPr>
            <a:r>
              <a:rPr lang="en-US" b="1" i="0" dirty="0">
                <a:solidFill>
                  <a:srgbClr val="131516"/>
                </a:solidFill>
                <a:effectLst/>
                <a:latin typeface="system-ui"/>
              </a:rPr>
              <a:t>Getting to Know the Collection Hierarchy</a:t>
            </a:r>
          </a:p>
        </p:txBody>
      </p:sp>
      <p:sp>
        <p:nvSpPr>
          <p:cNvPr id="5" name="TextBox 4">
            <a:extLst>
              <a:ext uri="{FF2B5EF4-FFF2-40B4-BE49-F238E27FC236}">
                <a16:creationId xmlns:a16="http://schemas.microsoft.com/office/drawing/2014/main" id="{35D68220-E914-3F4D-FF54-5119255D379B}"/>
              </a:ext>
            </a:extLst>
          </p:cNvPr>
          <p:cNvSpPr txBox="1"/>
          <p:nvPr/>
        </p:nvSpPr>
        <p:spPr>
          <a:xfrm>
            <a:off x="482048" y="998091"/>
            <a:ext cx="6092686" cy="369332"/>
          </a:xfrm>
          <a:prstGeom prst="rect">
            <a:avLst/>
          </a:prstGeom>
          <a:noFill/>
        </p:spPr>
        <p:txBody>
          <a:bodyPr wrap="square">
            <a:spAutoFit/>
          </a:bodyPr>
          <a:lstStyle/>
          <a:p>
            <a:pPr algn="l">
              <a:spcAft>
                <a:spcPts val="1500"/>
              </a:spcAft>
              <a:buNone/>
            </a:pPr>
            <a:r>
              <a:rPr lang="en-US" b="1" i="0" dirty="0">
                <a:solidFill>
                  <a:srgbClr val="131516"/>
                </a:solidFill>
                <a:effectLst/>
                <a:latin typeface="system-ui"/>
              </a:rPr>
              <a:t>Avoiding Getting Lost in the Collection Hierarchy</a:t>
            </a:r>
          </a:p>
        </p:txBody>
      </p:sp>
      <p:sp>
        <p:nvSpPr>
          <p:cNvPr id="7" name="Rectangle 3">
            <a:extLst>
              <a:ext uri="{FF2B5EF4-FFF2-40B4-BE49-F238E27FC236}">
                <a16:creationId xmlns:a16="http://schemas.microsoft.com/office/drawing/2014/main" id="{54EEC82B-24A1-D1A4-4174-CD97B134920F}"/>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131516"/>
                </a:solidFill>
                <a:effectLst/>
                <a:latin typeface="system-ui"/>
              </a:rPr>
              <a:t>The Collections Framework is divided in several hierarchies of interfaces and classes. The first one you need to understand is the following: the Collection interface hierarchy.</a:t>
            </a: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86200" b="0" i="0" u="none" strike="noStrike" cap="none" normalizeH="0" baseline="0" dirty="0">
                <a:ln>
                  <a:noFill/>
                </a:ln>
                <a:solidFill>
                  <a:schemeClr val="tx1"/>
                </a:solidFill>
                <a:effectLst/>
                <a:latin typeface="Arial" panose="020B0604020202020204" pitchFamily="34" charset="0"/>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The Collection Interface Hierarchy</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131516"/>
                </a:solidFill>
                <a:effectLst/>
                <a:latin typeface="system-ui"/>
              </a:rPr>
              <a:t>Note that some interfaces have been omitted, which you will see later.</a:t>
            </a: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2052" name="Picture 4" descr="The Collection Interface Hierarchy">
            <a:extLst>
              <a:ext uri="{FF2B5EF4-FFF2-40B4-BE49-F238E27FC236}">
                <a16:creationId xmlns:a16="http://schemas.microsoft.com/office/drawing/2014/main" id="{A01721CC-88BD-1A04-0137-B85FF2B43D3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70251" y="1884784"/>
            <a:ext cx="4477631" cy="40853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019729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BAF61C-B0CC-76D0-859F-DB71E358561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A95052B-F3B4-0DCC-A311-6E14D018EB18}"/>
              </a:ext>
            </a:extLst>
          </p:cNvPr>
          <p:cNvSpPr txBox="1"/>
          <p:nvPr/>
        </p:nvSpPr>
        <p:spPr>
          <a:xfrm>
            <a:off x="541683" y="441499"/>
            <a:ext cx="6092686" cy="369332"/>
          </a:xfrm>
          <a:prstGeom prst="rect">
            <a:avLst/>
          </a:prstGeom>
          <a:noFill/>
        </p:spPr>
        <p:txBody>
          <a:bodyPr wrap="square">
            <a:spAutoFit/>
          </a:bodyPr>
          <a:lstStyle/>
          <a:p>
            <a:pPr algn="l">
              <a:spcBef>
                <a:spcPts val="3750"/>
              </a:spcBef>
              <a:spcAft>
                <a:spcPts val="1500"/>
              </a:spcAft>
              <a:buNone/>
            </a:pPr>
            <a:r>
              <a:rPr lang="en-US" b="1" i="0" dirty="0">
                <a:solidFill>
                  <a:srgbClr val="131516"/>
                </a:solidFill>
                <a:effectLst/>
                <a:latin typeface="system-ui"/>
              </a:rPr>
              <a:t>The </a:t>
            </a:r>
            <a:r>
              <a:rPr lang="en-US" b="1" i="0" dirty="0" err="1">
                <a:solidFill>
                  <a:srgbClr val="131516"/>
                </a:solidFill>
                <a:effectLst/>
                <a:latin typeface="system-ui"/>
              </a:rPr>
              <a:t>Iterable</a:t>
            </a:r>
            <a:r>
              <a:rPr lang="en-US" b="1" i="0" dirty="0">
                <a:solidFill>
                  <a:srgbClr val="131516"/>
                </a:solidFill>
                <a:effectLst/>
                <a:latin typeface="system-ui"/>
              </a:rPr>
              <a:t> Interface</a:t>
            </a:r>
          </a:p>
        </p:txBody>
      </p:sp>
      <p:sp>
        <p:nvSpPr>
          <p:cNvPr id="5" name="TextBox 4">
            <a:extLst>
              <a:ext uri="{FF2B5EF4-FFF2-40B4-BE49-F238E27FC236}">
                <a16:creationId xmlns:a16="http://schemas.microsoft.com/office/drawing/2014/main" id="{372F9F25-2E51-AA6B-2866-B599205AAF49}"/>
              </a:ext>
            </a:extLst>
          </p:cNvPr>
          <p:cNvSpPr txBox="1"/>
          <p:nvPr/>
        </p:nvSpPr>
        <p:spPr>
          <a:xfrm>
            <a:off x="3046344" y="197346"/>
            <a:ext cx="6092686" cy="6463308"/>
          </a:xfrm>
          <a:prstGeom prst="rect">
            <a:avLst/>
          </a:prstGeom>
          <a:noFill/>
        </p:spPr>
        <p:txBody>
          <a:bodyPr wrap="square">
            <a:spAutoFit/>
          </a:bodyPr>
          <a:lstStyle/>
          <a:p>
            <a:pPr algn="l">
              <a:buNone/>
            </a:pPr>
            <a:r>
              <a:rPr lang="en-US" b="0" i="0" dirty="0">
                <a:solidFill>
                  <a:srgbClr val="131516"/>
                </a:solidFill>
                <a:effectLst/>
                <a:latin typeface="system-ui"/>
              </a:rPr>
              <a:t>The first interface of this hierarchy is the </a:t>
            </a:r>
            <a:r>
              <a:rPr lang="en-US" b="0" i="0" u="sng" dirty="0" err="1">
                <a:solidFill>
                  <a:srgbClr val="3A75B0"/>
                </a:solidFill>
                <a:effectLst/>
                <a:latin typeface="SFMono-Regular"/>
                <a:hlinkClick r:id="rId2"/>
              </a:rPr>
              <a:t>Iterable</a:t>
            </a:r>
            <a:r>
              <a:rPr lang="en-US" b="0" i="0" dirty="0">
                <a:solidFill>
                  <a:srgbClr val="131516"/>
                </a:solidFill>
                <a:effectLst/>
                <a:latin typeface="system-ui"/>
              </a:rPr>
              <a:t> interface, and it is in fact not part of the Collections Framework. It is still worth mentioning here because it is the super interface of the </a:t>
            </a:r>
            <a:r>
              <a:rPr lang="en-US" b="0" i="0" u="sng" dirty="0">
                <a:solidFill>
                  <a:srgbClr val="3A75B0"/>
                </a:solidFill>
                <a:effectLst/>
                <a:latin typeface="SFMono-Regular"/>
                <a:hlinkClick r:id="rId3"/>
              </a:rPr>
              <a:t>Collection</a:t>
            </a:r>
            <a:r>
              <a:rPr lang="en-US" b="0" i="0" dirty="0">
                <a:solidFill>
                  <a:srgbClr val="131516"/>
                </a:solidFill>
                <a:effectLst/>
                <a:latin typeface="system-ui"/>
              </a:rPr>
              <a:t> interface, and thus of all the interfaces of this hierarchy.</a:t>
            </a:r>
          </a:p>
          <a:p>
            <a:pPr algn="l">
              <a:buNone/>
            </a:pPr>
            <a:r>
              <a:rPr lang="en-US" b="0" i="0" dirty="0">
                <a:solidFill>
                  <a:srgbClr val="131516"/>
                </a:solidFill>
                <a:effectLst/>
                <a:latin typeface="system-ui"/>
              </a:rPr>
              <a:t>The </a:t>
            </a:r>
            <a:r>
              <a:rPr lang="en-US" b="0" i="0" u="sng" dirty="0" err="1">
                <a:solidFill>
                  <a:srgbClr val="3A75B0"/>
                </a:solidFill>
                <a:effectLst/>
                <a:latin typeface="SFMono-Regular"/>
                <a:hlinkClick r:id="rId2"/>
              </a:rPr>
              <a:t>Iterable</a:t>
            </a:r>
            <a:r>
              <a:rPr lang="en-US" b="0" i="0" dirty="0">
                <a:solidFill>
                  <a:srgbClr val="131516"/>
                </a:solidFill>
                <a:effectLst/>
                <a:latin typeface="system-ui"/>
              </a:rPr>
              <a:t> interface is an addition of Java SE 5 (2004). An object that implements </a:t>
            </a:r>
            <a:r>
              <a:rPr lang="en-US" b="0" i="0" u="sng" dirty="0" err="1">
                <a:solidFill>
                  <a:srgbClr val="3A75B0"/>
                </a:solidFill>
                <a:effectLst/>
                <a:latin typeface="SFMono-Regular"/>
                <a:hlinkClick r:id="rId2"/>
              </a:rPr>
              <a:t>Iterable</a:t>
            </a:r>
            <a:r>
              <a:rPr lang="en-US" b="0" i="0" dirty="0">
                <a:solidFill>
                  <a:srgbClr val="131516"/>
                </a:solidFill>
                <a:effectLst/>
                <a:latin typeface="system-ui"/>
              </a:rPr>
              <a:t> is an object that you can iterate over. It has been added in Java SE 5 along with the </a:t>
            </a:r>
            <a:r>
              <a:rPr lang="en-US" b="0" i="1" dirty="0">
                <a:solidFill>
                  <a:srgbClr val="131516"/>
                </a:solidFill>
                <a:effectLst/>
                <a:latin typeface="system-ui"/>
              </a:rPr>
              <a:t>for each</a:t>
            </a:r>
            <a:r>
              <a:rPr lang="en-US" b="0" i="0" dirty="0">
                <a:solidFill>
                  <a:srgbClr val="131516"/>
                </a:solidFill>
                <a:effectLst/>
                <a:latin typeface="system-ui"/>
              </a:rPr>
              <a:t> pattern of code.</a:t>
            </a:r>
          </a:p>
          <a:p>
            <a:pPr algn="l">
              <a:buNone/>
            </a:pPr>
            <a:r>
              <a:rPr lang="en-US" b="0" i="0" dirty="0">
                <a:solidFill>
                  <a:srgbClr val="131516"/>
                </a:solidFill>
                <a:effectLst/>
                <a:latin typeface="system-ui"/>
              </a:rPr>
              <a:t>You may be already familiar with this way of iterating over the elements of a </a:t>
            </a:r>
            <a:r>
              <a:rPr lang="en-US" b="0" i="0" u="sng" dirty="0">
                <a:solidFill>
                  <a:srgbClr val="3A75B0"/>
                </a:solidFill>
                <a:effectLst/>
                <a:latin typeface="SFMono-Regular"/>
                <a:hlinkClick r:id="rId3"/>
              </a:rPr>
              <a:t>Collection</a:t>
            </a:r>
            <a:r>
              <a:rPr lang="en-US" b="0" i="0" dirty="0">
                <a:solidFill>
                  <a:srgbClr val="131516"/>
                </a:solidFill>
                <a:effectLst/>
                <a:latin typeface="system-ui"/>
              </a:rPr>
              <a:t>:</a:t>
            </a:r>
          </a:p>
          <a:p>
            <a:pPr algn="l" latinLnBrk="0">
              <a:buNone/>
            </a:pPr>
            <a:r>
              <a:rPr lang="en-US" b="0" i="0" dirty="0">
                <a:solidFill>
                  <a:srgbClr val="F8C555"/>
                </a:solidFill>
                <a:effectLst/>
                <a:latin typeface="Consolas" panose="020B0609020204030204" pitchFamily="49" charset="0"/>
              </a:rPr>
              <a:t>Collection</a:t>
            </a:r>
            <a:r>
              <a:rPr lang="en-US" b="0" i="0" dirty="0">
                <a:solidFill>
                  <a:srgbClr val="CCCCCC"/>
                </a:solidFill>
                <a:effectLst/>
                <a:latin typeface="Consolas" panose="020B0609020204030204" pitchFamily="49" charset="0"/>
              </a:rPr>
              <a:t>&lt;</a:t>
            </a:r>
            <a:r>
              <a:rPr lang="en-US" b="0" i="0" dirty="0">
                <a:solidFill>
                  <a:srgbClr val="F8C555"/>
                </a:solidFill>
                <a:effectLst/>
                <a:latin typeface="Consolas" panose="020B0609020204030204" pitchFamily="49" charset="0"/>
              </a:rPr>
              <a:t>String</a:t>
            </a:r>
            <a:r>
              <a:rPr lang="en-US" b="0" i="0" dirty="0">
                <a:solidFill>
                  <a:srgbClr val="CCCCCC"/>
                </a:solidFill>
                <a:effectLst/>
                <a:latin typeface="Consolas" panose="020B0609020204030204" pitchFamily="49" charset="0"/>
              </a:rPr>
              <a:t>&gt; collection </a:t>
            </a:r>
            <a:r>
              <a:rPr lang="en-US" b="0" i="0" dirty="0">
                <a:solidFill>
                  <a:srgbClr val="67CDCC"/>
                </a:solidFill>
                <a:effectLst/>
                <a:latin typeface="Consolas" panose="020B0609020204030204" pitchFamily="49" charset="0"/>
              </a:rPr>
              <a:t>=</a:t>
            </a:r>
            <a:r>
              <a:rPr lang="en-US" b="0" i="0" dirty="0">
                <a:solidFill>
                  <a:srgbClr val="CCCCCC"/>
                </a:solidFill>
                <a:effectLst/>
                <a:latin typeface="Consolas" panose="020B0609020204030204" pitchFamily="49" charset="0"/>
              </a:rPr>
              <a:t> ...; </a:t>
            </a:r>
          </a:p>
          <a:p>
            <a:pPr algn="l" latinLnBrk="0">
              <a:buNone/>
            </a:pPr>
            <a:endParaRPr lang="en-US" b="0" i="0" dirty="0">
              <a:solidFill>
                <a:srgbClr val="CCCCCC"/>
              </a:solidFill>
              <a:effectLst/>
              <a:latin typeface="Consolas" panose="020B0609020204030204" pitchFamily="49" charset="0"/>
            </a:endParaRPr>
          </a:p>
          <a:p>
            <a:pPr algn="l" latinLnBrk="0">
              <a:buNone/>
            </a:pPr>
            <a:r>
              <a:rPr lang="en-US" b="0" i="0" dirty="0">
                <a:solidFill>
                  <a:srgbClr val="CC99CD"/>
                </a:solidFill>
                <a:effectLst/>
                <a:latin typeface="Consolas" panose="020B0609020204030204" pitchFamily="49" charset="0"/>
              </a:rPr>
              <a:t>for</a:t>
            </a:r>
            <a:r>
              <a:rPr lang="en-US" b="0" i="0" dirty="0">
                <a:solidFill>
                  <a:srgbClr val="CCCCCC"/>
                </a:solidFill>
                <a:effectLst/>
                <a:latin typeface="Consolas" panose="020B0609020204030204" pitchFamily="49" charset="0"/>
              </a:rPr>
              <a:t> (</a:t>
            </a:r>
            <a:r>
              <a:rPr lang="en-US" b="0" i="0" dirty="0">
                <a:solidFill>
                  <a:srgbClr val="F8C555"/>
                </a:solidFill>
                <a:effectLst/>
                <a:latin typeface="Consolas" panose="020B0609020204030204" pitchFamily="49" charset="0"/>
              </a:rPr>
              <a:t>String</a:t>
            </a:r>
            <a:r>
              <a:rPr lang="en-US" b="0" i="0" dirty="0">
                <a:solidFill>
                  <a:srgbClr val="CCCCCC"/>
                </a:solidFill>
                <a:effectLst/>
                <a:latin typeface="Consolas" panose="020B0609020204030204" pitchFamily="49" charset="0"/>
              </a:rPr>
              <a:t> element</a:t>
            </a:r>
            <a:r>
              <a:rPr lang="en-US" b="0" i="0" dirty="0">
                <a:solidFill>
                  <a:srgbClr val="67CDCC"/>
                </a:solidFill>
                <a:effectLst/>
                <a:latin typeface="Consolas" panose="020B0609020204030204" pitchFamily="49" charset="0"/>
              </a:rPr>
              <a:t>:</a:t>
            </a:r>
            <a:r>
              <a:rPr lang="en-US" b="0" i="0" dirty="0">
                <a:solidFill>
                  <a:srgbClr val="CCCCCC"/>
                </a:solidFill>
                <a:effectLst/>
                <a:latin typeface="Consolas" panose="020B0609020204030204" pitchFamily="49" charset="0"/>
              </a:rPr>
              <a:t> collection) {</a:t>
            </a:r>
          </a:p>
          <a:p>
            <a:pPr algn="l" latinLnBrk="0">
              <a:buNone/>
            </a:pPr>
            <a:r>
              <a:rPr lang="en-US" b="0" i="0" dirty="0">
                <a:solidFill>
                  <a:srgbClr val="CCCCCC"/>
                </a:solidFill>
                <a:effectLst/>
                <a:latin typeface="Consolas" panose="020B0609020204030204" pitchFamily="49" charset="0"/>
              </a:rPr>
              <a:t>    </a:t>
            </a:r>
            <a:r>
              <a:rPr lang="en-US" b="0" i="0" dirty="0">
                <a:solidFill>
                  <a:srgbClr val="999999"/>
                </a:solidFill>
                <a:effectLst/>
                <a:latin typeface="Consolas" panose="020B0609020204030204" pitchFamily="49" charset="0"/>
              </a:rPr>
              <a:t>// do </a:t>
            </a:r>
            <a:r>
              <a:rPr lang="en-US" b="0" i="0" dirty="0" err="1">
                <a:solidFill>
                  <a:srgbClr val="999999"/>
                </a:solidFill>
                <a:effectLst/>
                <a:latin typeface="Consolas" panose="020B0609020204030204" pitchFamily="49" charset="0"/>
              </a:rPr>
              <a:t>someting</a:t>
            </a:r>
            <a:r>
              <a:rPr lang="en-US" b="0" i="0" dirty="0">
                <a:solidFill>
                  <a:srgbClr val="999999"/>
                </a:solidFill>
                <a:effectLst/>
                <a:latin typeface="Consolas" panose="020B0609020204030204" pitchFamily="49" charset="0"/>
              </a:rPr>
              <a:t> with element</a:t>
            </a:r>
            <a:endParaRPr lang="en-US" b="0" i="0" dirty="0">
              <a:solidFill>
                <a:srgbClr val="CCCCCC"/>
              </a:solidFill>
              <a:effectLst/>
              <a:latin typeface="Consolas" panose="020B0609020204030204" pitchFamily="49" charset="0"/>
            </a:endParaRPr>
          </a:p>
          <a:p>
            <a:pPr algn="l" latinLnBrk="0">
              <a:buNone/>
            </a:pPr>
            <a:r>
              <a:rPr lang="en-US" b="0" i="0" dirty="0">
                <a:solidFill>
                  <a:srgbClr val="CCCCCC"/>
                </a:solidFill>
                <a:effectLst/>
                <a:latin typeface="Consolas" panose="020B0609020204030204" pitchFamily="49" charset="0"/>
              </a:rPr>
              <a:t>}</a:t>
            </a:r>
          </a:p>
          <a:p>
            <a:pPr algn="l">
              <a:buNone/>
            </a:pPr>
            <a:r>
              <a:rPr lang="en-US" b="0" i="0" dirty="0">
                <a:solidFill>
                  <a:srgbClr val="131516"/>
                </a:solidFill>
                <a:effectLst/>
                <a:latin typeface="system-ui"/>
              </a:rPr>
              <a:t>You may already know that you can iterate over any collection using this pattern, or any array. It turns out that in fact any instance of </a:t>
            </a:r>
            <a:r>
              <a:rPr lang="en-US" b="0" i="0" u="sng" dirty="0" err="1">
                <a:solidFill>
                  <a:srgbClr val="3A75B0"/>
                </a:solidFill>
                <a:effectLst/>
                <a:latin typeface="SFMono-Regular"/>
                <a:hlinkClick r:id="rId2"/>
              </a:rPr>
              <a:t>Iterable</a:t>
            </a:r>
            <a:r>
              <a:rPr lang="en-US" b="0" i="0" dirty="0">
                <a:solidFill>
                  <a:srgbClr val="131516"/>
                </a:solidFill>
                <a:effectLst/>
                <a:latin typeface="system-ui"/>
              </a:rPr>
              <a:t> may be used here.</a:t>
            </a:r>
          </a:p>
          <a:p>
            <a:pPr algn="l">
              <a:buNone/>
            </a:pPr>
            <a:r>
              <a:rPr lang="en-US" b="0" i="0" dirty="0">
                <a:solidFill>
                  <a:srgbClr val="131516"/>
                </a:solidFill>
                <a:effectLst/>
                <a:latin typeface="system-ui"/>
              </a:rPr>
              <a:t>To implement the </a:t>
            </a:r>
            <a:r>
              <a:rPr lang="en-US" b="0" i="0" u="sng" dirty="0" err="1">
                <a:solidFill>
                  <a:srgbClr val="3A75B0"/>
                </a:solidFill>
                <a:effectLst/>
                <a:latin typeface="SFMono-Regular"/>
                <a:hlinkClick r:id="rId2"/>
              </a:rPr>
              <a:t>Iterable</a:t>
            </a:r>
            <a:r>
              <a:rPr lang="en-US" b="0" i="0" dirty="0">
                <a:solidFill>
                  <a:srgbClr val="131516"/>
                </a:solidFill>
                <a:effectLst/>
                <a:latin typeface="system-ui"/>
              </a:rPr>
              <a:t> interface is really easy: all you need to do is provide an instance of another interface, </a:t>
            </a:r>
            <a:r>
              <a:rPr lang="en-US" b="0" i="0" u="sng" dirty="0">
                <a:solidFill>
                  <a:srgbClr val="3A75B0"/>
                </a:solidFill>
                <a:effectLst/>
                <a:latin typeface="SFMono-Regular"/>
                <a:hlinkClick r:id="rId4"/>
              </a:rPr>
              <a:t>Iterator</a:t>
            </a:r>
            <a:r>
              <a:rPr lang="en-US" b="0" i="0" dirty="0">
                <a:solidFill>
                  <a:srgbClr val="131516"/>
                </a:solidFill>
                <a:effectLst/>
                <a:latin typeface="system-ui"/>
              </a:rPr>
              <a:t>, that you are going to see in the following.</a:t>
            </a:r>
          </a:p>
          <a:p>
            <a:pPr algn="l">
              <a:buNone/>
            </a:pPr>
            <a:r>
              <a:rPr lang="en-US" b="0" i="0" u="none" strike="noStrike" dirty="0">
                <a:solidFill>
                  <a:srgbClr val="131516"/>
                </a:solidFill>
                <a:effectLst/>
                <a:latin typeface="system-ui"/>
              </a:rPr>
              <a:t> </a:t>
            </a:r>
            <a:endParaRPr lang="en-US" b="0" i="0" dirty="0">
              <a:solidFill>
                <a:srgbClr val="131516"/>
              </a:solidFill>
              <a:effectLst/>
              <a:latin typeface="system-ui"/>
            </a:endParaRPr>
          </a:p>
        </p:txBody>
      </p:sp>
    </p:spTree>
    <p:extLst>
      <p:ext uri="{BB962C8B-B14F-4D97-AF65-F5344CB8AC3E}">
        <p14:creationId xmlns:p14="http://schemas.microsoft.com/office/powerpoint/2010/main" val="343286953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1076A3-C418-D612-6F3C-01B5BB175E6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D852677-6EB7-8813-1503-05AFA90F0752}"/>
              </a:ext>
            </a:extLst>
          </p:cNvPr>
          <p:cNvSpPr txBox="1"/>
          <p:nvPr/>
        </p:nvSpPr>
        <p:spPr>
          <a:xfrm>
            <a:off x="342900" y="342108"/>
            <a:ext cx="6092686" cy="369332"/>
          </a:xfrm>
          <a:prstGeom prst="rect">
            <a:avLst/>
          </a:prstGeom>
          <a:noFill/>
        </p:spPr>
        <p:txBody>
          <a:bodyPr wrap="square">
            <a:spAutoFit/>
          </a:bodyPr>
          <a:lstStyle/>
          <a:p>
            <a:pPr algn="l">
              <a:spcBef>
                <a:spcPts val="3750"/>
              </a:spcBef>
              <a:spcAft>
                <a:spcPts val="1500"/>
              </a:spcAft>
              <a:buNone/>
            </a:pPr>
            <a:r>
              <a:rPr lang="en-US" b="1" i="0" dirty="0">
                <a:solidFill>
                  <a:srgbClr val="131516"/>
                </a:solidFill>
                <a:effectLst/>
                <a:latin typeface="system-ui"/>
              </a:rPr>
              <a:t>Storing Elements in a Container with the Collection Interface</a:t>
            </a:r>
          </a:p>
        </p:txBody>
      </p:sp>
      <p:sp>
        <p:nvSpPr>
          <p:cNvPr id="5" name="TextBox 4">
            <a:extLst>
              <a:ext uri="{FF2B5EF4-FFF2-40B4-BE49-F238E27FC236}">
                <a16:creationId xmlns:a16="http://schemas.microsoft.com/office/drawing/2014/main" id="{426CF046-5904-F9E6-2296-86E72B5F1ED1}"/>
              </a:ext>
            </a:extLst>
          </p:cNvPr>
          <p:cNvSpPr txBox="1"/>
          <p:nvPr/>
        </p:nvSpPr>
        <p:spPr>
          <a:xfrm>
            <a:off x="521805" y="939105"/>
            <a:ext cx="6092686" cy="646331"/>
          </a:xfrm>
          <a:prstGeom prst="rect">
            <a:avLst/>
          </a:prstGeom>
          <a:noFill/>
        </p:spPr>
        <p:txBody>
          <a:bodyPr wrap="square">
            <a:spAutoFit/>
          </a:bodyPr>
          <a:lstStyle/>
          <a:p>
            <a:r>
              <a:rPr lang="en-US" b="0" i="0" dirty="0">
                <a:solidFill>
                  <a:srgbClr val="131516"/>
                </a:solidFill>
                <a:effectLst/>
                <a:latin typeface="system-ui"/>
              </a:rPr>
              <a:t>All the other interfaces are about storing elements in containers.</a:t>
            </a:r>
            <a:endParaRPr lang="en-US" dirty="0"/>
          </a:p>
        </p:txBody>
      </p:sp>
      <p:sp>
        <p:nvSpPr>
          <p:cNvPr id="7" name="TextBox 6">
            <a:extLst>
              <a:ext uri="{FF2B5EF4-FFF2-40B4-BE49-F238E27FC236}">
                <a16:creationId xmlns:a16="http://schemas.microsoft.com/office/drawing/2014/main" id="{AB70D1C1-F4C0-C274-78B7-7358A5990B9D}"/>
              </a:ext>
            </a:extLst>
          </p:cNvPr>
          <p:cNvSpPr txBox="1"/>
          <p:nvPr/>
        </p:nvSpPr>
        <p:spPr>
          <a:xfrm>
            <a:off x="521805" y="1978922"/>
            <a:ext cx="6096000" cy="3272691"/>
          </a:xfrm>
          <a:prstGeom prst="rect">
            <a:avLst/>
          </a:prstGeom>
          <a:noFill/>
        </p:spPr>
        <p:txBody>
          <a:bodyPr wrap="square">
            <a:spAutoFit/>
          </a:bodyPr>
          <a:lstStyle/>
          <a:p>
            <a:pPr algn="l">
              <a:buNone/>
            </a:pPr>
            <a:r>
              <a:rPr lang="en-US" b="0" i="0" dirty="0">
                <a:solidFill>
                  <a:srgbClr val="131516"/>
                </a:solidFill>
                <a:effectLst/>
                <a:latin typeface="system-ui"/>
              </a:rPr>
              <a:t>The two interfaces </a:t>
            </a:r>
            <a:r>
              <a:rPr lang="en-US" b="0" i="0" u="sng" dirty="0">
                <a:solidFill>
                  <a:srgbClr val="3A75B0"/>
                </a:solidFill>
                <a:effectLst/>
                <a:latin typeface="SFMono-Regular"/>
                <a:hlinkClick r:id="rId2"/>
              </a:rPr>
              <a:t>List</a:t>
            </a:r>
            <a:r>
              <a:rPr lang="en-US" b="0" i="0" dirty="0">
                <a:solidFill>
                  <a:srgbClr val="131516"/>
                </a:solidFill>
                <a:effectLst/>
                <a:latin typeface="system-ui"/>
              </a:rPr>
              <a:t> and </a:t>
            </a:r>
            <a:r>
              <a:rPr lang="en-US" b="0" i="0" u="sng" dirty="0">
                <a:solidFill>
                  <a:srgbClr val="3A75B0"/>
                </a:solidFill>
                <a:effectLst/>
                <a:latin typeface="SFMono-Regular"/>
                <a:hlinkClick r:id="rId3"/>
              </a:rPr>
              <a:t>Set</a:t>
            </a:r>
            <a:r>
              <a:rPr lang="en-US" b="0" i="0" dirty="0">
                <a:solidFill>
                  <a:srgbClr val="131516"/>
                </a:solidFill>
                <a:effectLst/>
                <a:latin typeface="system-ui"/>
              </a:rPr>
              <a:t> both share a common behavior, which is modeled by the </a:t>
            </a:r>
            <a:r>
              <a:rPr lang="en-US" b="0" i="0" u="sng" dirty="0">
                <a:solidFill>
                  <a:srgbClr val="3A75B0"/>
                </a:solidFill>
                <a:effectLst/>
                <a:latin typeface="SFMono-Regular"/>
                <a:hlinkClick r:id="rId4"/>
              </a:rPr>
              <a:t>Collection</a:t>
            </a:r>
            <a:r>
              <a:rPr lang="en-US" b="0" i="0" dirty="0">
                <a:solidFill>
                  <a:srgbClr val="131516"/>
                </a:solidFill>
                <a:effectLst/>
                <a:latin typeface="system-ui"/>
              </a:rPr>
              <a:t> interface. The </a:t>
            </a:r>
            <a:r>
              <a:rPr lang="en-US" b="0" i="0" u="sng" dirty="0">
                <a:solidFill>
                  <a:srgbClr val="3A75B0"/>
                </a:solidFill>
                <a:effectLst/>
                <a:latin typeface="SFMono-Regular"/>
                <a:hlinkClick r:id="rId4"/>
              </a:rPr>
              <a:t>Collection</a:t>
            </a:r>
            <a:r>
              <a:rPr lang="en-US" b="0" i="0" dirty="0">
                <a:solidFill>
                  <a:srgbClr val="131516"/>
                </a:solidFill>
                <a:effectLst/>
                <a:latin typeface="system-ui"/>
              </a:rPr>
              <a:t> interface models several operations on containers of elements. Without diving in the technical details (yet!), here is what you can do with a </a:t>
            </a:r>
            <a:r>
              <a:rPr lang="en-US" b="0" i="0" u="sng" dirty="0">
                <a:solidFill>
                  <a:srgbClr val="3A75B0"/>
                </a:solidFill>
                <a:effectLst/>
                <a:latin typeface="SFMono-Regular"/>
                <a:hlinkClick r:id="rId4"/>
              </a:rPr>
              <a:t>Collection</a:t>
            </a:r>
            <a:r>
              <a:rPr lang="en-US" b="0" i="0" dirty="0">
                <a:solidFill>
                  <a:srgbClr val="131516"/>
                </a:solidFill>
                <a:effectLst/>
                <a:latin typeface="system-ui"/>
              </a:rPr>
              <a:t>:</a:t>
            </a:r>
          </a:p>
          <a:p>
            <a:pPr algn="l">
              <a:spcBef>
                <a:spcPts val="750"/>
              </a:spcBef>
              <a:buFont typeface="Arial" panose="020B0604020202020204" pitchFamily="34" charset="0"/>
              <a:buChar char="•"/>
            </a:pPr>
            <a:r>
              <a:rPr lang="en-US" b="0" i="0" dirty="0">
                <a:solidFill>
                  <a:srgbClr val="131516"/>
                </a:solidFill>
                <a:effectLst/>
                <a:latin typeface="system-ui"/>
              </a:rPr>
              <a:t>add or remove elements;</a:t>
            </a:r>
          </a:p>
          <a:p>
            <a:pPr algn="l">
              <a:spcBef>
                <a:spcPts val="750"/>
              </a:spcBef>
              <a:buFont typeface="Arial" panose="020B0604020202020204" pitchFamily="34" charset="0"/>
              <a:buChar char="•"/>
            </a:pPr>
            <a:r>
              <a:rPr lang="en-US" b="0" i="0" dirty="0">
                <a:solidFill>
                  <a:srgbClr val="131516"/>
                </a:solidFill>
                <a:effectLst/>
                <a:latin typeface="system-ui"/>
              </a:rPr>
              <a:t>test for the presence of a given element;</a:t>
            </a:r>
          </a:p>
          <a:p>
            <a:pPr algn="l">
              <a:spcBef>
                <a:spcPts val="750"/>
              </a:spcBef>
              <a:buFont typeface="Arial" panose="020B0604020202020204" pitchFamily="34" charset="0"/>
              <a:buChar char="•"/>
            </a:pPr>
            <a:r>
              <a:rPr lang="en-US" b="0" i="0" dirty="0">
                <a:solidFill>
                  <a:srgbClr val="131516"/>
                </a:solidFill>
                <a:effectLst/>
                <a:latin typeface="system-ui"/>
              </a:rPr>
              <a:t>ask for the number of elements contained, or if this collection is empty;</a:t>
            </a:r>
          </a:p>
          <a:p>
            <a:pPr algn="l">
              <a:spcBef>
                <a:spcPts val="750"/>
              </a:spcBef>
              <a:buFont typeface="Arial" panose="020B0604020202020204" pitchFamily="34" charset="0"/>
              <a:buChar char="•"/>
            </a:pPr>
            <a:r>
              <a:rPr lang="en-US" b="0" i="0" dirty="0">
                <a:solidFill>
                  <a:srgbClr val="131516"/>
                </a:solidFill>
                <a:effectLst/>
                <a:latin typeface="system-ui"/>
              </a:rPr>
              <a:t>clear this content.</a:t>
            </a:r>
          </a:p>
        </p:txBody>
      </p:sp>
      <p:sp>
        <p:nvSpPr>
          <p:cNvPr id="9" name="TextBox 8">
            <a:extLst>
              <a:ext uri="{FF2B5EF4-FFF2-40B4-BE49-F238E27FC236}">
                <a16:creationId xmlns:a16="http://schemas.microsoft.com/office/drawing/2014/main" id="{F284E20B-96D6-11B5-C918-684931AC09DE}"/>
              </a:ext>
            </a:extLst>
          </p:cNvPr>
          <p:cNvSpPr txBox="1"/>
          <p:nvPr/>
        </p:nvSpPr>
        <p:spPr>
          <a:xfrm>
            <a:off x="6841067" y="364589"/>
            <a:ext cx="4829128" cy="2441694"/>
          </a:xfrm>
          <a:prstGeom prst="rect">
            <a:avLst/>
          </a:prstGeom>
          <a:noFill/>
        </p:spPr>
        <p:txBody>
          <a:bodyPr wrap="square">
            <a:spAutoFit/>
          </a:bodyPr>
          <a:lstStyle/>
          <a:p>
            <a:pPr algn="l">
              <a:buNone/>
            </a:pPr>
            <a:r>
              <a:rPr lang="en-US" b="0" i="0" dirty="0">
                <a:solidFill>
                  <a:srgbClr val="131516"/>
                </a:solidFill>
                <a:effectLst/>
                <a:latin typeface="system-ui"/>
              </a:rPr>
              <a:t>Since a </a:t>
            </a:r>
            <a:r>
              <a:rPr lang="en-US" b="0" i="0" u="sng" dirty="0">
                <a:solidFill>
                  <a:srgbClr val="3A75B0"/>
                </a:solidFill>
                <a:effectLst/>
                <a:latin typeface="SFMono-Regular"/>
                <a:hlinkClick r:id="rId4"/>
              </a:rPr>
              <a:t>Collection</a:t>
            </a:r>
            <a:r>
              <a:rPr lang="en-US" b="0" i="0" dirty="0">
                <a:solidFill>
                  <a:srgbClr val="131516"/>
                </a:solidFill>
                <a:effectLst/>
                <a:latin typeface="system-ui"/>
              </a:rPr>
              <a:t> is a set of elements, there also set operations defined on the </a:t>
            </a:r>
            <a:r>
              <a:rPr lang="en-US" b="0" i="0" u="sng" dirty="0">
                <a:solidFill>
                  <a:srgbClr val="3A75B0"/>
                </a:solidFill>
                <a:effectLst/>
                <a:latin typeface="SFMono-Regular"/>
                <a:hlinkClick r:id="rId4"/>
              </a:rPr>
              <a:t>Collection</a:t>
            </a:r>
            <a:r>
              <a:rPr lang="en-US" b="0" i="0" dirty="0">
                <a:solidFill>
                  <a:srgbClr val="131516"/>
                </a:solidFill>
                <a:effectLst/>
                <a:latin typeface="system-ui"/>
              </a:rPr>
              <a:t> interface:</a:t>
            </a:r>
          </a:p>
          <a:p>
            <a:pPr algn="l">
              <a:spcBef>
                <a:spcPts val="750"/>
              </a:spcBef>
              <a:buFont typeface="Arial" panose="020B0604020202020204" pitchFamily="34" charset="0"/>
              <a:buChar char="•"/>
            </a:pPr>
            <a:r>
              <a:rPr lang="en-US" b="0" i="0" dirty="0">
                <a:solidFill>
                  <a:srgbClr val="131516"/>
                </a:solidFill>
                <a:effectLst/>
                <a:latin typeface="system-ui"/>
              </a:rPr>
              <a:t>testing for the inclusion of a set in another set;</a:t>
            </a:r>
          </a:p>
          <a:p>
            <a:pPr algn="l">
              <a:spcBef>
                <a:spcPts val="750"/>
              </a:spcBef>
              <a:buFont typeface="Arial" panose="020B0604020202020204" pitchFamily="34" charset="0"/>
              <a:buChar char="•"/>
            </a:pPr>
            <a:r>
              <a:rPr lang="en-US" b="0" i="0" dirty="0">
                <a:solidFill>
                  <a:srgbClr val="131516"/>
                </a:solidFill>
                <a:effectLst/>
                <a:latin typeface="system-ui"/>
              </a:rPr>
              <a:t>union;</a:t>
            </a:r>
          </a:p>
          <a:p>
            <a:pPr algn="l">
              <a:spcBef>
                <a:spcPts val="750"/>
              </a:spcBef>
              <a:buFont typeface="Arial" panose="020B0604020202020204" pitchFamily="34" charset="0"/>
              <a:buChar char="•"/>
            </a:pPr>
            <a:r>
              <a:rPr lang="en-US" b="0" i="0" dirty="0">
                <a:solidFill>
                  <a:srgbClr val="131516"/>
                </a:solidFill>
                <a:effectLst/>
                <a:latin typeface="system-ui"/>
              </a:rPr>
              <a:t>intersection;</a:t>
            </a:r>
          </a:p>
          <a:p>
            <a:pPr algn="l">
              <a:spcBef>
                <a:spcPts val="750"/>
              </a:spcBef>
              <a:buFont typeface="Arial" panose="020B0604020202020204" pitchFamily="34" charset="0"/>
              <a:buChar char="•"/>
            </a:pPr>
            <a:r>
              <a:rPr lang="en-US" b="0" i="0" dirty="0">
                <a:solidFill>
                  <a:srgbClr val="131516"/>
                </a:solidFill>
                <a:effectLst/>
                <a:latin typeface="system-ui"/>
              </a:rPr>
              <a:t>complement.</a:t>
            </a:r>
          </a:p>
        </p:txBody>
      </p:sp>
      <p:sp>
        <p:nvSpPr>
          <p:cNvPr id="11" name="TextBox 10">
            <a:extLst>
              <a:ext uri="{FF2B5EF4-FFF2-40B4-BE49-F238E27FC236}">
                <a16:creationId xmlns:a16="http://schemas.microsoft.com/office/drawing/2014/main" id="{E1F37C93-8AB2-B42F-1910-7AB56C886519}"/>
              </a:ext>
            </a:extLst>
          </p:cNvPr>
          <p:cNvSpPr txBox="1"/>
          <p:nvPr/>
        </p:nvSpPr>
        <p:spPr>
          <a:xfrm>
            <a:off x="6741031" y="3138038"/>
            <a:ext cx="5029199" cy="3067506"/>
          </a:xfrm>
          <a:prstGeom prst="rect">
            <a:avLst/>
          </a:prstGeom>
          <a:noFill/>
        </p:spPr>
        <p:txBody>
          <a:bodyPr wrap="square">
            <a:spAutoFit/>
          </a:bodyPr>
          <a:lstStyle/>
          <a:p>
            <a:pPr algn="l">
              <a:buNone/>
            </a:pPr>
            <a:r>
              <a:rPr lang="en-US" b="0" i="0" dirty="0">
                <a:solidFill>
                  <a:srgbClr val="131516"/>
                </a:solidFill>
                <a:effectLst/>
                <a:latin typeface="system-ui"/>
              </a:rPr>
              <a:t>Lastly, the </a:t>
            </a:r>
            <a:r>
              <a:rPr lang="en-US" b="0" i="0" u="sng" dirty="0">
                <a:solidFill>
                  <a:srgbClr val="3A75B0"/>
                </a:solidFill>
                <a:effectLst/>
                <a:latin typeface="SFMono-Regular"/>
                <a:hlinkClick r:id="rId4"/>
              </a:rPr>
              <a:t>Collection</a:t>
            </a:r>
            <a:r>
              <a:rPr lang="en-US" b="0" i="0" dirty="0">
                <a:solidFill>
                  <a:srgbClr val="131516"/>
                </a:solidFill>
                <a:effectLst/>
                <a:latin typeface="system-ui"/>
              </a:rPr>
              <a:t> interface also models different ways of accessing its elements:</a:t>
            </a:r>
          </a:p>
          <a:p>
            <a:pPr algn="l">
              <a:spcBef>
                <a:spcPts val="750"/>
              </a:spcBef>
              <a:buFont typeface="Arial" panose="020B0604020202020204" pitchFamily="34" charset="0"/>
              <a:buChar char="•"/>
            </a:pPr>
            <a:r>
              <a:rPr lang="en-US" b="0" i="0" dirty="0">
                <a:solidFill>
                  <a:srgbClr val="131516"/>
                </a:solidFill>
                <a:effectLst/>
                <a:latin typeface="system-ui"/>
              </a:rPr>
              <a:t>you can iterate over the elements of a collection, through the use of an iterator;</a:t>
            </a:r>
          </a:p>
          <a:p>
            <a:pPr algn="l">
              <a:spcBef>
                <a:spcPts val="750"/>
              </a:spcBef>
              <a:buFont typeface="Arial" panose="020B0604020202020204" pitchFamily="34" charset="0"/>
              <a:buChar char="•"/>
            </a:pPr>
            <a:r>
              <a:rPr lang="en-US" b="0" i="0" dirty="0">
                <a:solidFill>
                  <a:srgbClr val="131516"/>
                </a:solidFill>
                <a:effectLst/>
                <a:latin typeface="system-ui"/>
              </a:rPr>
              <a:t>you can create a stream on these elements, that can be parallel.</a:t>
            </a:r>
          </a:p>
          <a:p>
            <a:pPr algn="l">
              <a:buNone/>
            </a:pPr>
            <a:r>
              <a:rPr lang="en-US" b="0" i="0" dirty="0">
                <a:solidFill>
                  <a:srgbClr val="131516"/>
                </a:solidFill>
                <a:effectLst/>
                <a:latin typeface="system-ui"/>
              </a:rPr>
              <a:t>Of course, all these operations are also available on </a:t>
            </a:r>
            <a:r>
              <a:rPr lang="en-US" b="0" i="0" u="sng" dirty="0">
                <a:solidFill>
                  <a:srgbClr val="3A75B0"/>
                </a:solidFill>
                <a:effectLst/>
                <a:latin typeface="SFMono-Regular"/>
                <a:hlinkClick r:id="rId2"/>
              </a:rPr>
              <a:t>List</a:t>
            </a:r>
            <a:r>
              <a:rPr lang="en-US" b="0" i="0" dirty="0">
                <a:solidFill>
                  <a:srgbClr val="131516"/>
                </a:solidFill>
                <a:effectLst/>
                <a:latin typeface="system-ui"/>
              </a:rPr>
              <a:t> and </a:t>
            </a:r>
            <a:r>
              <a:rPr lang="en-US" b="0" i="0" u="sng" dirty="0">
                <a:solidFill>
                  <a:srgbClr val="3A75B0"/>
                </a:solidFill>
                <a:effectLst/>
                <a:latin typeface="SFMono-Regular"/>
                <a:hlinkClick r:id="rId3"/>
              </a:rPr>
              <a:t>Set</a:t>
            </a:r>
            <a:r>
              <a:rPr lang="en-US" b="0" i="0" dirty="0">
                <a:solidFill>
                  <a:srgbClr val="131516"/>
                </a:solidFill>
                <a:effectLst/>
                <a:latin typeface="system-ui"/>
              </a:rPr>
              <a:t>. So what does make the difference between a plain instance of </a:t>
            </a:r>
            <a:r>
              <a:rPr lang="en-US" b="0" i="0" u="sng" dirty="0">
                <a:solidFill>
                  <a:srgbClr val="3A75B0"/>
                </a:solidFill>
                <a:effectLst/>
                <a:latin typeface="SFMono-Regular"/>
                <a:hlinkClick r:id="rId4"/>
              </a:rPr>
              <a:t>Collection</a:t>
            </a:r>
            <a:r>
              <a:rPr lang="en-US" b="0" i="0" dirty="0">
                <a:solidFill>
                  <a:srgbClr val="131516"/>
                </a:solidFill>
                <a:effectLst/>
                <a:latin typeface="system-ui"/>
              </a:rPr>
              <a:t> and an instance of </a:t>
            </a:r>
            <a:r>
              <a:rPr lang="en-US" b="0" i="0" u="sng" dirty="0">
                <a:solidFill>
                  <a:srgbClr val="3A75B0"/>
                </a:solidFill>
                <a:effectLst/>
                <a:latin typeface="SFMono-Regular"/>
                <a:hlinkClick r:id="rId3"/>
              </a:rPr>
              <a:t>Set</a:t>
            </a:r>
            <a:r>
              <a:rPr lang="en-US" b="0" i="0" dirty="0">
                <a:solidFill>
                  <a:srgbClr val="131516"/>
                </a:solidFill>
                <a:effectLst/>
                <a:latin typeface="system-ui"/>
              </a:rPr>
              <a:t> or an instance of </a:t>
            </a:r>
            <a:r>
              <a:rPr lang="en-US" b="0" i="0" u="sng" dirty="0">
                <a:solidFill>
                  <a:srgbClr val="3A75B0"/>
                </a:solidFill>
                <a:effectLst/>
                <a:latin typeface="SFMono-Regular"/>
                <a:hlinkClick r:id="rId2"/>
              </a:rPr>
              <a:t>List</a:t>
            </a:r>
            <a:r>
              <a:rPr lang="en-US" b="0" i="0" dirty="0">
                <a:solidFill>
                  <a:srgbClr val="131516"/>
                </a:solidFill>
                <a:effectLst/>
                <a:latin typeface="system-ui"/>
              </a:rPr>
              <a:t>?</a:t>
            </a:r>
          </a:p>
        </p:txBody>
      </p:sp>
    </p:spTree>
    <p:extLst>
      <p:ext uri="{BB962C8B-B14F-4D97-AF65-F5344CB8AC3E}">
        <p14:creationId xmlns:p14="http://schemas.microsoft.com/office/powerpoint/2010/main" val="339715395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120AA7-07CC-2308-E390-6868EC3E1C9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8CEECFC-BA31-BB90-180B-ABB9F72A09C5}"/>
              </a:ext>
            </a:extLst>
          </p:cNvPr>
          <p:cNvSpPr txBox="1"/>
          <p:nvPr/>
        </p:nvSpPr>
        <p:spPr>
          <a:xfrm>
            <a:off x="270933" y="260389"/>
            <a:ext cx="6096000" cy="1392689"/>
          </a:xfrm>
          <a:prstGeom prst="rect">
            <a:avLst/>
          </a:prstGeom>
          <a:noFill/>
        </p:spPr>
        <p:txBody>
          <a:bodyPr wrap="square">
            <a:spAutoFit/>
          </a:bodyPr>
          <a:lstStyle/>
          <a:p>
            <a:pPr algn="l">
              <a:spcBef>
                <a:spcPts val="3750"/>
              </a:spcBef>
              <a:spcAft>
                <a:spcPts val="1500"/>
              </a:spcAft>
              <a:buNone/>
            </a:pPr>
            <a:r>
              <a:rPr lang="en-US" b="1" i="0" dirty="0">
                <a:solidFill>
                  <a:srgbClr val="131516"/>
                </a:solidFill>
                <a:effectLst/>
                <a:latin typeface="system-ui"/>
              </a:rPr>
              <a:t>Extending Collection with List</a:t>
            </a:r>
          </a:p>
          <a:p>
            <a:pPr algn="l">
              <a:buNone/>
            </a:pPr>
            <a:r>
              <a:rPr lang="en-US" b="0" i="0" dirty="0">
                <a:solidFill>
                  <a:srgbClr val="131516"/>
                </a:solidFill>
                <a:effectLst/>
                <a:latin typeface="system-ui"/>
              </a:rPr>
              <a:t>The difference between a </a:t>
            </a:r>
            <a:r>
              <a:rPr lang="en-US" b="0" i="0" u="sng" dirty="0">
                <a:solidFill>
                  <a:srgbClr val="3A75B0"/>
                </a:solidFill>
                <a:effectLst/>
                <a:latin typeface="SFMono-Regular"/>
                <a:hlinkClick r:id="rId2"/>
              </a:rPr>
              <a:t>List</a:t>
            </a:r>
            <a:r>
              <a:rPr lang="en-US" b="0" i="0" dirty="0">
                <a:solidFill>
                  <a:srgbClr val="131516"/>
                </a:solidFill>
                <a:effectLst/>
                <a:latin typeface="system-ui"/>
              </a:rPr>
              <a:t> of elements and a </a:t>
            </a:r>
            <a:r>
              <a:rPr lang="en-US" b="0" i="0" u="sng" dirty="0">
                <a:solidFill>
                  <a:srgbClr val="3A75B0"/>
                </a:solidFill>
                <a:effectLst/>
                <a:latin typeface="SFMono-Regular"/>
                <a:hlinkClick r:id="rId3"/>
              </a:rPr>
              <a:t>Collection</a:t>
            </a:r>
            <a:r>
              <a:rPr lang="en-US" b="0" i="0" dirty="0">
                <a:solidFill>
                  <a:srgbClr val="131516"/>
                </a:solidFill>
                <a:effectLst/>
                <a:latin typeface="system-ui"/>
              </a:rPr>
              <a:t> of elements, is that a </a:t>
            </a:r>
            <a:r>
              <a:rPr lang="en-US" b="0" i="0" u="sng" dirty="0">
                <a:solidFill>
                  <a:srgbClr val="3A75B0"/>
                </a:solidFill>
                <a:effectLst/>
                <a:latin typeface="SFMono-Regular"/>
                <a:hlinkClick r:id="rId2"/>
              </a:rPr>
              <a:t>List</a:t>
            </a:r>
            <a:r>
              <a:rPr lang="en-US" b="0" i="0" dirty="0">
                <a:solidFill>
                  <a:srgbClr val="131516"/>
                </a:solidFill>
                <a:effectLst/>
                <a:latin typeface="system-ui"/>
              </a:rPr>
              <a:t> remembers in what order its elements have been added.</a:t>
            </a:r>
          </a:p>
        </p:txBody>
      </p:sp>
      <p:sp>
        <p:nvSpPr>
          <p:cNvPr id="5" name="TextBox 4">
            <a:extLst>
              <a:ext uri="{FF2B5EF4-FFF2-40B4-BE49-F238E27FC236}">
                <a16:creationId xmlns:a16="http://schemas.microsoft.com/office/drawing/2014/main" id="{19F795A2-2452-B1F9-3DF2-4498438249CC}"/>
              </a:ext>
            </a:extLst>
          </p:cNvPr>
          <p:cNvSpPr txBox="1"/>
          <p:nvPr/>
        </p:nvSpPr>
        <p:spPr>
          <a:xfrm>
            <a:off x="270933" y="1777705"/>
            <a:ext cx="6096000" cy="2862322"/>
          </a:xfrm>
          <a:prstGeom prst="rect">
            <a:avLst/>
          </a:prstGeom>
          <a:noFill/>
        </p:spPr>
        <p:txBody>
          <a:bodyPr wrap="square">
            <a:spAutoFit/>
          </a:bodyPr>
          <a:lstStyle/>
          <a:p>
            <a:pPr algn="l">
              <a:buNone/>
            </a:pPr>
            <a:r>
              <a:rPr lang="en-US" b="0" i="0" dirty="0">
                <a:solidFill>
                  <a:srgbClr val="131516"/>
                </a:solidFill>
                <a:effectLst/>
                <a:latin typeface="system-ui"/>
              </a:rPr>
              <a:t>The difference between a </a:t>
            </a:r>
            <a:r>
              <a:rPr lang="en-US" b="0" i="0" u="sng" dirty="0">
                <a:solidFill>
                  <a:srgbClr val="3A75B0"/>
                </a:solidFill>
                <a:effectLst/>
                <a:latin typeface="SFMono-Regular"/>
                <a:hlinkClick r:id="rId2"/>
              </a:rPr>
              <a:t>List</a:t>
            </a:r>
            <a:r>
              <a:rPr lang="en-US" b="0" i="0" dirty="0">
                <a:solidFill>
                  <a:srgbClr val="131516"/>
                </a:solidFill>
                <a:effectLst/>
                <a:latin typeface="system-ui"/>
              </a:rPr>
              <a:t> of elements and a </a:t>
            </a:r>
            <a:r>
              <a:rPr lang="en-US" b="0" i="0" u="sng" dirty="0">
                <a:solidFill>
                  <a:srgbClr val="3A75B0"/>
                </a:solidFill>
                <a:effectLst/>
                <a:latin typeface="SFMono-Regular"/>
                <a:hlinkClick r:id="rId3"/>
              </a:rPr>
              <a:t>Collection</a:t>
            </a:r>
            <a:r>
              <a:rPr lang="en-US" b="0" i="0" dirty="0">
                <a:solidFill>
                  <a:srgbClr val="131516"/>
                </a:solidFill>
                <a:effectLst/>
                <a:latin typeface="system-ui"/>
              </a:rPr>
              <a:t> of elements, is that a </a:t>
            </a:r>
            <a:r>
              <a:rPr lang="en-US" b="0" i="0" u="sng" dirty="0">
                <a:solidFill>
                  <a:srgbClr val="3A75B0"/>
                </a:solidFill>
                <a:effectLst/>
                <a:latin typeface="SFMono-Regular"/>
                <a:hlinkClick r:id="rId2"/>
              </a:rPr>
              <a:t>List</a:t>
            </a:r>
            <a:r>
              <a:rPr lang="en-US" b="0" i="0" dirty="0">
                <a:solidFill>
                  <a:srgbClr val="131516"/>
                </a:solidFill>
                <a:effectLst/>
                <a:latin typeface="system-ui"/>
              </a:rPr>
              <a:t> remembers in what order its elements have been added.</a:t>
            </a:r>
          </a:p>
          <a:p>
            <a:pPr algn="l">
              <a:buNone/>
            </a:pPr>
            <a:r>
              <a:rPr lang="en-US" b="0" i="0" dirty="0">
                <a:solidFill>
                  <a:srgbClr val="131516"/>
                </a:solidFill>
                <a:effectLst/>
                <a:latin typeface="system-ui"/>
              </a:rPr>
              <a:t>The first consequence is that if you iterate over the elements of a list, the first element you will get is the first that has been added. Then you will get the second one, and so on until all the elements have been seen. So the order you will iterate over the elements is always the same, it is fixed by the order in which these elements have been added. You do not have this guarantee with a plain </a:t>
            </a:r>
            <a:r>
              <a:rPr lang="en-US" b="0" i="0" u="sng" dirty="0">
                <a:solidFill>
                  <a:srgbClr val="3A75B0"/>
                </a:solidFill>
                <a:effectLst/>
                <a:latin typeface="SFMono-Regular"/>
                <a:hlinkClick r:id="rId3"/>
              </a:rPr>
              <a:t>Collection</a:t>
            </a:r>
            <a:r>
              <a:rPr lang="en-US" b="0" i="0" dirty="0">
                <a:solidFill>
                  <a:srgbClr val="131516"/>
                </a:solidFill>
                <a:effectLst/>
                <a:latin typeface="system-ui"/>
              </a:rPr>
              <a:t> nor for a </a:t>
            </a:r>
            <a:r>
              <a:rPr lang="en-US" b="0" i="0" u="sng" dirty="0">
                <a:solidFill>
                  <a:srgbClr val="3A75B0"/>
                </a:solidFill>
                <a:effectLst/>
                <a:latin typeface="SFMono-Regular"/>
                <a:hlinkClick r:id="rId4"/>
              </a:rPr>
              <a:t>Set</a:t>
            </a:r>
            <a:r>
              <a:rPr lang="en-US" b="0" i="0" dirty="0">
                <a:solidFill>
                  <a:srgbClr val="131516"/>
                </a:solidFill>
                <a:effectLst/>
                <a:latin typeface="system-ui"/>
              </a:rPr>
              <a:t>.</a:t>
            </a:r>
          </a:p>
        </p:txBody>
      </p:sp>
      <p:sp>
        <p:nvSpPr>
          <p:cNvPr id="7" name="TextBox 6">
            <a:extLst>
              <a:ext uri="{FF2B5EF4-FFF2-40B4-BE49-F238E27FC236}">
                <a16:creationId xmlns:a16="http://schemas.microsoft.com/office/drawing/2014/main" id="{0663E299-D16A-2D76-BD7A-0585947BF1C7}"/>
              </a:ext>
            </a:extLst>
          </p:cNvPr>
          <p:cNvSpPr txBox="1"/>
          <p:nvPr/>
        </p:nvSpPr>
        <p:spPr>
          <a:xfrm>
            <a:off x="457200" y="5013236"/>
            <a:ext cx="6096000" cy="1200329"/>
          </a:xfrm>
          <a:prstGeom prst="rect">
            <a:avLst/>
          </a:prstGeom>
          <a:noFill/>
        </p:spPr>
        <p:txBody>
          <a:bodyPr wrap="square">
            <a:spAutoFit/>
          </a:bodyPr>
          <a:lstStyle/>
          <a:p>
            <a:r>
              <a:rPr lang="en-US" b="0" i="1" dirty="0">
                <a:solidFill>
                  <a:srgbClr val="131516"/>
                </a:solidFill>
                <a:effectLst/>
                <a:latin typeface="system-ui"/>
              </a:rPr>
              <a:t>It turns out that some implementations of </a:t>
            </a:r>
            <a:r>
              <a:rPr lang="en-US" b="0" i="1" u="sng" dirty="0">
                <a:solidFill>
                  <a:srgbClr val="3A75B0"/>
                </a:solidFill>
                <a:effectLst/>
                <a:latin typeface="SFMono-Regular"/>
                <a:hlinkClick r:id="rId4"/>
              </a:rPr>
              <a:t>Set</a:t>
            </a:r>
            <a:r>
              <a:rPr lang="en-US" b="0" i="1" dirty="0">
                <a:solidFill>
                  <a:srgbClr val="131516"/>
                </a:solidFill>
                <a:effectLst/>
                <a:latin typeface="system-ui"/>
              </a:rPr>
              <a:t> provided by the Collections Framework happen to always iterate over the elements in the same order. This is an accidental effect, and your code should not rely on this behavior.</a:t>
            </a:r>
            <a:endParaRPr lang="en-US" dirty="0"/>
          </a:p>
        </p:txBody>
      </p:sp>
      <p:sp>
        <p:nvSpPr>
          <p:cNvPr id="9" name="TextBox 8">
            <a:extLst>
              <a:ext uri="{FF2B5EF4-FFF2-40B4-BE49-F238E27FC236}">
                <a16:creationId xmlns:a16="http://schemas.microsoft.com/office/drawing/2014/main" id="{52B403EC-1514-E300-20F3-C7E9C9D2829A}"/>
              </a:ext>
            </a:extLst>
          </p:cNvPr>
          <p:cNvSpPr txBox="1"/>
          <p:nvPr/>
        </p:nvSpPr>
        <p:spPr>
          <a:xfrm>
            <a:off x="7027334" y="430426"/>
            <a:ext cx="4893733" cy="1754326"/>
          </a:xfrm>
          <a:prstGeom prst="rect">
            <a:avLst/>
          </a:prstGeom>
          <a:noFill/>
        </p:spPr>
        <p:txBody>
          <a:bodyPr wrap="square">
            <a:spAutoFit/>
          </a:bodyPr>
          <a:lstStyle/>
          <a:p>
            <a:r>
              <a:rPr lang="en-US" b="0" i="0" dirty="0">
                <a:solidFill>
                  <a:srgbClr val="131516"/>
                </a:solidFill>
                <a:effectLst/>
                <a:latin typeface="system-ui"/>
              </a:rPr>
              <a:t>There is a second consequence, maybe not as clear as the first one, which is that the elements of a list have an index. Querying a collection for its </a:t>
            </a:r>
            <a:r>
              <a:rPr lang="en-US" b="0" i="1" dirty="0">
                <a:solidFill>
                  <a:srgbClr val="131516"/>
                </a:solidFill>
                <a:effectLst/>
                <a:latin typeface="system-ui"/>
              </a:rPr>
              <a:t>first</a:t>
            </a:r>
            <a:r>
              <a:rPr lang="en-US" b="0" i="0" dirty="0">
                <a:solidFill>
                  <a:srgbClr val="131516"/>
                </a:solidFill>
                <a:effectLst/>
                <a:latin typeface="system-ui"/>
              </a:rPr>
              <a:t> element does not make sense. Querying a list for its first element does make sense, since a list does remember that.</a:t>
            </a:r>
            <a:endParaRPr lang="en-US" dirty="0"/>
          </a:p>
        </p:txBody>
      </p:sp>
      <p:sp>
        <p:nvSpPr>
          <p:cNvPr id="11" name="TextBox 10">
            <a:extLst>
              <a:ext uri="{FF2B5EF4-FFF2-40B4-BE49-F238E27FC236}">
                <a16:creationId xmlns:a16="http://schemas.microsoft.com/office/drawing/2014/main" id="{F20B6EC6-643F-534F-69B0-670E10D9A4B7}"/>
              </a:ext>
            </a:extLst>
          </p:cNvPr>
          <p:cNvSpPr txBox="1"/>
          <p:nvPr/>
        </p:nvSpPr>
        <p:spPr>
          <a:xfrm>
            <a:off x="6908800" y="2428193"/>
            <a:ext cx="5130800" cy="1200329"/>
          </a:xfrm>
          <a:prstGeom prst="rect">
            <a:avLst/>
          </a:prstGeom>
          <a:noFill/>
        </p:spPr>
        <p:txBody>
          <a:bodyPr wrap="square">
            <a:spAutoFit/>
          </a:bodyPr>
          <a:lstStyle/>
          <a:p>
            <a:r>
              <a:rPr lang="en-US" b="0" i="0" dirty="0">
                <a:solidFill>
                  <a:srgbClr val="131516"/>
                </a:solidFill>
                <a:effectLst/>
                <a:latin typeface="system-ui"/>
              </a:rPr>
              <a:t>How are those indexes handled? Well, once again, this is the responsibility of the implementation. The first role of an interface is to specify a behavior, not to tell how an implementation should achieve that.</a:t>
            </a:r>
            <a:endParaRPr lang="en-US" dirty="0"/>
          </a:p>
        </p:txBody>
      </p:sp>
      <p:sp>
        <p:nvSpPr>
          <p:cNvPr id="13" name="TextBox 12">
            <a:extLst>
              <a:ext uri="{FF2B5EF4-FFF2-40B4-BE49-F238E27FC236}">
                <a16:creationId xmlns:a16="http://schemas.microsoft.com/office/drawing/2014/main" id="{007216B8-1A30-C56D-B312-03AD6BD18194}"/>
              </a:ext>
            </a:extLst>
          </p:cNvPr>
          <p:cNvSpPr txBox="1"/>
          <p:nvPr/>
        </p:nvSpPr>
        <p:spPr>
          <a:xfrm>
            <a:off x="7027334" y="3871963"/>
            <a:ext cx="4555067" cy="3170099"/>
          </a:xfrm>
          <a:prstGeom prst="rect">
            <a:avLst/>
          </a:prstGeom>
          <a:noFill/>
        </p:spPr>
        <p:txBody>
          <a:bodyPr wrap="square">
            <a:spAutoFit/>
          </a:bodyPr>
          <a:lstStyle/>
          <a:p>
            <a:pPr algn="l">
              <a:buNone/>
            </a:pPr>
            <a:r>
              <a:rPr lang="en-US" b="0" i="0" dirty="0">
                <a:solidFill>
                  <a:srgbClr val="131516"/>
                </a:solidFill>
                <a:effectLst/>
                <a:latin typeface="system-ui"/>
              </a:rPr>
              <a:t>As you will see it, the </a:t>
            </a:r>
            <a:r>
              <a:rPr lang="en-US" b="0" i="0" u="sng" dirty="0">
                <a:solidFill>
                  <a:srgbClr val="3A75B0"/>
                </a:solidFill>
                <a:effectLst/>
                <a:latin typeface="SFMono-Regular"/>
                <a:hlinkClick r:id="rId2"/>
              </a:rPr>
              <a:t>List</a:t>
            </a:r>
            <a:r>
              <a:rPr lang="en-US" b="0" i="0" dirty="0">
                <a:solidFill>
                  <a:srgbClr val="131516"/>
                </a:solidFill>
                <a:effectLst/>
                <a:latin typeface="system-ui"/>
              </a:rPr>
              <a:t> interface adds new operations to the </a:t>
            </a:r>
            <a:r>
              <a:rPr lang="en-US" b="0" i="0" u="sng" dirty="0">
                <a:solidFill>
                  <a:srgbClr val="3A75B0"/>
                </a:solidFill>
                <a:effectLst/>
                <a:latin typeface="SFMono-Regular"/>
                <a:hlinkClick r:id="rId3"/>
              </a:rPr>
              <a:t>Collection</a:t>
            </a:r>
            <a:r>
              <a:rPr lang="en-US" b="0" i="0" dirty="0">
                <a:solidFill>
                  <a:srgbClr val="131516"/>
                </a:solidFill>
                <a:effectLst/>
                <a:latin typeface="system-ui"/>
              </a:rPr>
              <a:t> interface. As the elements of a list have an index, you can do the following with that index.</a:t>
            </a:r>
          </a:p>
          <a:p>
            <a:pPr algn="l">
              <a:spcBef>
                <a:spcPts val="750"/>
              </a:spcBef>
              <a:buFont typeface="Arial" panose="020B0604020202020204" pitchFamily="34" charset="0"/>
              <a:buChar char="•"/>
            </a:pPr>
            <a:r>
              <a:rPr lang="en-US" b="0" i="0" dirty="0">
                <a:solidFill>
                  <a:srgbClr val="131516"/>
                </a:solidFill>
                <a:effectLst/>
                <a:latin typeface="system-ui"/>
              </a:rPr>
              <a:t>Get an element at a specific index, or delete it</a:t>
            </a:r>
          </a:p>
          <a:p>
            <a:pPr algn="l">
              <a:spcBef>
                <a:spcPts val="750"/>
              </a:spcBef>
              <a:buFont typeface="Arial" panose="020B0604020202020204" pitchFamily="34" charset="0"/>
              <a:buChar char="•"/>
            </a:pPr>
            <a:r>
              <a:rPr lang="en-US" b="0" i="0" dirty="0">
                <a:solidFill>
                  <a:srgbClr val="131516"/>
                </a:solidFill>
                <a:effectLst/>
                <a:latin typeface="system-ui"/>
              </a:rPr>
              <a:t>Insert an element or replace an element at a specific position</a:t>
            </a:r>
          </a:p>
          <a:p>
            <a:pPr algn="l">
              <a:spcBef>
                <a:spcPts val="750"/>
              </a:spcBef>
              <a:buFont typeface="Arial" panose="020B0604020202020204" pitchFamily="34" charset="0"/>
              <a:buChar char="•"/>
            </a:pPr>
            <a:r>
              <a:rPr lang="en-US" b="0" i="0" dirty="0">
                <a:solidFill>
                  <a:srgbClr val="131516"/>
                </a:solidFill>
                <a:effectLst/>
                <a:latin typeface="system-ui"/>
              </a:rPr>
              <a:t>Get a range of elements between two indexes.</a:t>
            </a:r>
          </a:p>
          <a:p>
            <a:pPr algn="l">
              <a:buNone/>
            </a:pPr>
            <a:r>
              <a:rPr lang="en-US" b="0" i="0" u="none" strike="noStrike" dirty="0">
                <a:solidFill>
                  <a:srgbClr val="131516"/>
                </a:solidFill>
                <a:effectLst/>
                <a:latin typeface="system-ui"/>
              </a:rPr>
              <a:t> </a:t>
            </a:r>
            <a:endParaRPr lang="en-US" b="0" i="0" dirty="0">
              <a:solidFill>
                <a:srgbClr val="131516"/>
              </a:solidFill>
              <a:effectLst/>
              <a:latin typeface="system-ui"/>
            </a:endParaRPr>
          </a:p>
        </p:txBody>
      </p:sp>
    </p:spTree>
    <p:extLst>
      <p:ext uri="{BB962C8B-B14F-4D97-AF65-F5344CB8AC3E}">
        <p14:creationId xmlns:p14="http://schemas.microsoft.com/office/powerpoint/2010/main" val="424433386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66CA14-FBE8-8D2D-19F8-519B23B80E0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1B7D78FB-8824-7C7A-F6FF-E71115B13102}"/>
              </a:ext>
            </a:extLst>
          </p:cNvPr>
          <p:cNvSpPr txBox="1"/>
          <p:nvPr/>
        </p:nvSpPr>
        <p:spPr>
          <a:xfrm>
            <a:off x="932329" y="798145"/>
            <a:ext cx="8211671" cy="4162678"/>
          </a:xfrm>
          <a:prstGeom prst="rect">
            <a:avLst/>
          </a:prstGeom>
          <a:noFill/>
        </p:spPr>
        <p:txBody>
          <a:bodyPr wrap="square">
            <a:spAutoFit/>
          </a:bodyPr>
          <a:lstStyle/>
          <a:p>
            <a:pPr algn="l">
              <a:spcBef>
                <a:spcPts val="3750"/>
              </a:spcBef>
              <a:spcAft>
                <a:spcPts val="1500"/>
              </a:spcAft>
              <a:buNone/>
            </a:pPr>
            <a:r>
              <a:rPr lang="en-US" b="1" i="0" dirty="0">
                <a:solidFill>
                  <a:srgbClr val="131516"/>
                </a:solidFill>
                <a:effectLst/>
                <a:latin typeface="system-ui"/>
              </a:rPr>
              <a:t>Extending Collection with Set</a:t>
            </a:r>
          </a:p>
          <a:p>
            <a:pPr algn="l">
              <a:buNone/>
            </a:pPr>
            <a:r>
              <a:rPr lang="en-US" b="0" i="0" dirty="0">
                <a:solidFill>
                  <a:srgbClr val="131516"/>
                </a:solidFill>
                <a:effectLst/>
                <a:latin typeface="system-ui"/>
              </a:rPr>
              <a:t>The difference between a </a:t>
            </a:r>
            <a:r>
              <a:rPr lang="en-US" b="0" i="0" u="sng" dirty="0">
                <a:solidFill>
                  <a:srgbClr val="3A75B0"/>
                </a:solidFill>
                <a:effectLst/>
                <a:latin typeface="SFMono-Regular"/>
                <a:hlinkClick r:id="rId2"/>
              </a:rPr>
              <a:t>Set</a:t>
            </a:r>
            <a:r>
              <a:rPr lang="en-US" b="0" i="0" dirty="0">
                <a:solidFill>
                  <a:srgbClr val="131516"/>
                </a:solidFill>
                <a:effectLst/>
                <a:latin typeface="system-ui"/>
              </a:rPr>
              <a:t> of elements and a </a:t>
            </a:r>
            <a:r>
              <a:rPr lang="en-US" b="0" i="0" u="sng" dirty="0">
                <a:solidFill>
                  <a:srgbClr val="3A75B0"/>
                </a:solidFill>
                <a:effectLst/>
                <a:latin typeface="SFMono-Regular"/>
                <a:hlinkClick r:id="rId3"/>
              </a:rPr>
              <a:t>Collection</a:t>
            </a:r>
            <a:r>
              <a:rPr lang="en-US" b="0" i="0" dirty="0">
                <a:solidFill>
                  <a:srgbClr val="131516"/>
                </a:solidFill>
                <a:effectLst/>
                <a:latin typeface="system-ui"/>
              </a:rPr>
              <a:t> of elements, is that you cannot have duplicates in a </a:t>
            </a:r>
            <a:r>
              <a:rPr lang="en-US" b="0" i="0" u="sng" dirty="0">
                <a:solidFill>
                  <a:srgbClr val="3A75B0"/>
                </a:solidFill>
                <a:effectLst/>
                <a:latin typeface="SFMono-Regular"/>
                <a:hlinkClick r:id="rId2"/>
              </a:rPr>
              <a:t>Set</a:t>
            </a:r>
            <a:r>
              <a:rPr lang="en-US" b="0" i="0" dirty="0">
                <a:solidFill>
                  <a:srgbClr val="131516"/>
                </a:solidFill>
                <a:effectLst/>
                <a:latin typeface="system-ui"/>
              </a:rPr>
              <a:t>. You can have several instances of the same class that are equal in a </a:t>
            </a:r>
            <a:r>
              <a:rPr lang="en-US" b="0" i="0" u="sng" dirty="0">
                <a:solidFill>
                  <a:srgbClr val="3A75B0"/>
                </a:solidFill>
                <a:effectLst/>
                <a:latin typeface="SFMono-Regular"/>
                <a:hlinkClick r:id="rId3"/>
              </a:rPr>
              <a:t>Collection</a:t>
            </a:r>
            <a:r>
              <a:rPr lang="en-US" b="0" i="0" dirty="0">
                <a:solidFill>
                  <a:srgbClr val="131516"/>
                </a:solidFill>
                <a:effectLst/>
                <a:latin typeface="system-ui"/>
              </a:rPr>
              <a:t>, or even the same instance more than once. This is not allowed in a </a:t>
            </a:r>
            <a:r>
              <a:rPr lang="en-US" b="0" i="0" u="sng" dirty="0">
                <a:solidFill>
                  <a:srgbClr val="3A75B0"/>
                </a:solidFill>
                <a:effectLst/>
                <a:latin typeface="SFMono-Regular"/>
                <a:hlinkClick r:id="rId2"/>
              </a:rPr>
              <a:t>Set</a:t>
            </a:r>
            <a:r>
              <a:rPr lang="en-US" b="0" i="0" dirty="0">
                <a:solidFill>
                  <a:srgbClr val="131516"/>
                </a:solidFill>
                <a:effectLst/>
                <a:latin typeface="system-ui"/>
              </a:rPr>
              <a:t>. How is this enforced is the responsibility of the implementation, you will see that later in this tutorial.</a:t>
            </a:r>
          </a:p>
          <a:p>
            <a:pPr algn="l">
              <a:buNone/>
            </a:pPr>
            <a:r>
              <a:rPr lang="en-US" b="0" i="0" dirty="0">
                <a:solidFill>
                  <a:srgbClr val="131516"/>
                </a:solidFill>
                <a:effectLst/>
                <a:latin typeface="system-ui"/>
              </a:rPr>
              <a:t>One of the consequences of this behavior, is that adding an element to a </a:t>
            </a:r>
            <a:r>
              <a:rPr lang="en-US" b="0" i="0" u="sng" dirty="0">
                <a:solidFill>
                  <a:srgbClr val="3A75B0"/>
                </a:solidFill>
                <a:effectLst/>
                <a:latin typeface="SFMono-Regular"/>
                <a:hlinkClick r:id="rId2"/>
              </a:rPr>
              <a:t>Set</a:t>
            </a:r>
            <a:r>
              <a:rPr lang="en-US" b="0" i="0" dirty="0">
                <a:solidFill>
                  <a:srgbClr val="131516"/>
                </a:solidFill>
                <a:effectLst/>
                <a:latin typeface="system-ui"/>
              </a:rPr>
              <a:t> may fail.</a:t>
            </a:r>
          </a:p>
          <a:p>
            <a:pPr algn="l">
              <a:buNone/>
            </a:pPr>
            <a:r>
              <a:rPr lang="en-US" b="0" i="0" dirty="0">
                <a:solidFill>
                  <a:srgbClr val="131516"/>
                </a:solidFill>
                <a:effectLst/>
                <a:latin typeface="system-ui"/>
              </a:rPr>
              <a:t>Then you may ask yourself: can I have a container that prevents having duplicates, and in which elements have an index? The answer is not that simple. The Collections Framework gives you an implementation of </a:t>
            </a:r>
            <a:r>
              <a:rPr lang="en-US" b="0" i="0" u="sng" dirty="0">
                <a:solidFill>
                  <a:srgbClr val="3A75B0"/>
                </a:solidFill>
                <a:effectLst/>
                <a:latin typeface="SFMono-Regular"/>
                <a:hlinkClick r:id="rId2"/>
              </a:rPr>
              <a:t>Set</a:t>
            </a:r>
            <a:r>
              <a:rPr lang="en-US" b="0" i="0" dirty="0">
                <a:solidFill>
                  <a:srgbClr val="131516"/>
                </a:solidFill>
                <a:effectLst/>
                <a:latin typeface="system-ui"/>
              </a:rPr>
              <a:t> with which you will iterate over the elements always in the same order, but these elements do not have an index, so this class does not implement </a:t>
            </a:r>
            <a:r>
              <a:rPr lang="en-US" b="0" i="0" u="sng" dirty="0">
                <a:solidFill>
                  <a:srgbClr val="3A75B0"/>
                </a:solidFill>
                <a:effectLst/>
                <a:latin typeface="SFMono-Regular"/>
                <a:hlinkClick r:id="rId4"/>
              </a:rPr>
              <a:t>List</a:t>
            </a:r>
            <a:r>
              <a:rPr lang="en-US" b="0" i="0" dirty="0">
                <a:solidFill>
                  <a:srgbClr val="131516"/>
                </a:solidFill>
                <a:effectLst/>
                <a:latin typeface="system-ui"/>
              </a:rPr>
              <a:t>.</a:t>
            </a:r>
          </a:p>
          <a:p>
            <a:pPr algn="l">
              <a:buNone/>
            </a:pPr>
            <a:r>
              <a:rPr lang="en-US" b="0" i="0" dirty="0">
                <a:solidFill>
                  <a:srgbClr val="131516"/>
                </a:solidFill>
                <a:effectLst/>
                <a:latin typeface="system-ui"/>
              </a:rPr>
              <a:t>This difference in behavior does not bring any new operations in the </a:t>
            </a:r>
            <a:r>
              <a:rPr lang="en-US" b="0" i="0" u="sng" dirty="0">
                <a:solidFill>
                  <a:srgbClr val="3A75B0"/>
                </a:solidFill>
                <a:effectLst/>
                <a:latin typeface="SFMono-Regular"/>
                <a:hlinkClick r:id="rId2"/>
              </a:rPr>
              <a:t>Set</a:t>
            </a:r>
            <a:r>
              <a:rPr lang="en-US" b="0" i="0" dirty="0">
                <a:solidFill>
                  <a:srgbClr val="131516"/>
                </a:solidFill>
                <a:effectLst/>
                <a:latin typeface="system-ui"/>
              </a:rPr>
              <a:t> interface.</a:t>
            </a:r>
          </a:p>
          <a:p>
            <a:pPr algn="l">
              <a:buNone/>
            </a:pPr>
            <a:r>
              <a:rPr lang="en-US" b="0" i="0" u="none" strike="noStrike" dirty="0">
                <a:solidFill>
                  <a:srgbClr val="131516"/>
                </a:solidFill>
                <a:effectLst/>
                <a:latin typeface="system-ui"/>
              </a:rPr>
              <a:t> </a:t>
            </a:r>
            <a:endParaRPr lang="en-US" b="0" i="0" dirty="0">
              <a:solidFill>
                <a:srgbClr val="131516"/>
              </a:solidFill>
              <a:effectLst/>
              <a:latin typeface="system-ui"/>
            </a:endParaRPr>
          </a:p>
        </p:txBody>
      </p:sp>
    </p:spTree>
    <p:extLst>
      <p:ext uri="{BB962C8B-B14F-4D97-AF65-F5344CB8AC3E}">
        <p14:creationId xmlns:p14="http://schemas.microsoft.com/office/powerpoint/2010/main" val="354049214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84D1CB-F3BA-CFCF-5340-F90E45DD382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788341C-E197-D1AC-C677-C0D413D60471}"/>
              </a:ext>
            </a:extLst>
          </p:cNvPr>
          <p:cNvSpPr txBox="1"/>
          <p:nvPr/>
        </p:nvSpPr>
        <p:spPr>
          <a:xfrm>
            <a:off x="304800" y="279302"/>
            <a:ext cx="11582400" cy="6789038"/>
          </a:xfrm>
          <a:prstGeom prst="rect">
            <a:avLst/>
          </a:prstGeom>
          <a:noFill/>
        </p:spPr>
        <p:txBody>
          <a:bodyPr wrap="square">
            <a:spAutoFit/>
          </a:bodyPr>
          <a:lstStyle/>
          <a:p>
            <a:pPr algn="l">
              <a:spcBef>
                <a:spcPts val="3750"/>
              </a:spcBef>
              <a:spcAft>
                <a:spcPts val="1500"/>
              </a:spcAft>
              <a:buNone/>
            </a:pPr>
            <a:r>
              <a:rPr lang="en-US" b="1" i="0" dirty="0">
                <a:solidFill>
                  <a:srgbClr val="131516"/>
                </a:solidFill>
                <a:effectLst/>
                <a:latin typeface="system-ui"/>
              </a:rPr>
              <a:t>Sorting the element of a Set with </a:t>
            </a:r>
            <a:r>
              <a:rPr lang="en-US" b="1" i="0" dirty="0" err="1">
                <a:solidFill>
                  <a:srgbClr val="131516"/>
                </a:solidFill>
                <a:effectLst/>
                <a:latin typeface="system-ui"/>
              </a:rPr>
              <a:t>SortedSet</a:t>
            </a:r>
            <a:r>
              <a:rPr lang="en-US" b="1" i="0" dirty="0">
                <a:solidFill>
                  <a:srgbClr val="131516"/>
                </a:solidFill>
                <a:effectLst/>
                <a:latin typeface="system-ui"/>
              </a:rPr>
              <a:t> and </a:t>
            </a:r>
            <a:r>
              <a:rPr lang="en-US" b="1" i="0" dirty="0" err="1">
                <a:solidFill>
                  <a:srgbClr val="131516"/>
                </a:solidFill>
                <a:effectLst/>
                <a:latin typeface="system-ui"/>
              </a:rPr>
              <a:t>NavigableSet</a:t>
            </a:r>
            <a:endParaRPr lang="en-US" b="1" i="0" dirty="0">
              <a:solidFill>
                <a:srgbClr val="131516"/>
              </a:solidFill>
              <a:effectLst/>
              <a:latin typeface="system-ui"/>
            </a:endParaRPr>
          </a:p>
          <a:p>
            <a:pPr algn="l">
              <a:buNone/>
            </a:pPr>
            <a:r>
              <a:rPr lang="en-US" b="0" i="0" dirty="0">
                <a:solidFill>
                  <a:srgbClr val="131516"/>
                </a:solidFill>
                <a:effectLst/>
                <a:latin typeface="system-ui"/>
              </a:rPr>
              <a:t>The </a:t>
            </a:r>
            <a:r>
              <a:rPr lang="en-US" b="0" i="0" u="sng" dirty="0">
                <a:solidFill>
                  <a:srgbClr val="3A75B0"/>
                </a:solidFill>
                <a:effectLst/>
                <a:latin typeface="SFMono-Regular"/>
                <a:hlinkClick r:id="rId2"/>
              </a:rPr>
              <a:t>Set</a:t>
            </a:r>
            <a:r>
              <a:rPr lang="en-US" b="0" i="0" dirty="0">
                <a:solidFill>
                  <a:srgbClr val="131516"/>
                </a:solidFill>
                <a:effectLst/>
                <a:latin typeface="system-ui"/>
              </a:rPr>
              <a:t> interface has itself two extensions: </a:t>
            </a:r>
            <a:r>
              <a:rPr lang="en-US" b="0" i="0" u="sng" dirty="0" err="1">
                <a:solidFill>
                  <a:srgbClr val="3A75B0"/>
                </a:solidFill>
                <a:effectLst/>
                <a:latin typeface="SFMono-Regular"/>
                <a:hlinkClick r:id="rId3"/>
              </a:rPr>
              <a:t>SortedSet</a:t>
            </a:r>
            <a:r>
              <a:rPr lang="en-US" b="0" i="0" dirty="0">
                <a:solidFill>
                  <a:srgbClr val="131516"/>
                </a:solidFill>
                <a:effectLst/>
                <a:latin typeface="system-ui"/>
              </a:rPr>
              <a:t> and </a:t>
            </a:r>
            <a:r>
              <a:rPr lang="en-US" b="0" i="0" u="sng" dirty="0" err="1">
                <a:solidFill>
                  <a:srgbClr val="3A75B0"/>
                </a:solidFill>
                <a:effectLst/>
                <a:latin typeface="SFMono-Regular"/>
                <a:hlinkClick r:id="rId4"/>
              </a:rPr>
              <a:t>NavigableSet</a:t>
            </a:r>
            <a:r>
              <a:rPr lang="en-US" b="0" i="0" dirty="0">
                <a:solidFill>
                  <a:srgbClr val="131516"/>
                </a:solidFill>
                <a:effectLst/>
                <a:latin typeface="system-ui"/>
              </a:rPr>
              <a:t>.</a:t>
            </a:r>
          </a:p>
          <a:p>
            <a:pPr algn="l">
              <a:buNone/>
            </a:pPr>
            <a:r>
              <a:rPr lang="en-US" b="0" i="0" dirty="0">
                <a:solidFill>
                  <a:srgbClr val="131516"/>
                </a:solidFill>
                <a:effectLst/>
                <a:latin typeface="system-ui"/>
              </a:rPr>
              <a:t>The </a:t>
            </a:r>
            <a:r>
              <a:rPr lang="en-US" b="0" i="0" u="sng" dirty="0" err="1">
                <a:solidFill>
                  <a:srgbClr val="3A75B0"/>
                </a:solidFill>
                <a:effectLst/>
                <a:latin typeface="SFMono-Regular"/>
                <a:hlinkClick r:id="rId3"/>
              </a:rPr>
              <a:t>SortedSet</a:t>
            </a:r>
            <a:r>
              <a:rPr lang="en-US" b="0" i="0" dirty="0">
                <a:solidFill>
                  <a:srgbClr val="131516"/>
                </a:solidFill>
                <a:effectLst/>
                <a:latin typeface="system-ui"/>
              </a:rPr>
              <a:t> interface maintains its elements sorted in the ascending order. Once again, how this is enforced is the responsibility of the implementation, as you will see it later.</a:t>
            </a:r>
          </a:p>
          <a:p>
            <a:pPr algn="l">
              <a:buNone/>
            </a:pPr>
            <a:r>
              <a:rPr lang="en-US" b="0" i="0" dirty="0">
                <a:solidFill>
                  <a:srgbClr val="131516"/>
                </a:solidFill>
                <a:effectLst/>
                <a:latin typeface="system-ui"/>
              </a:rPr>
              <a:t>To be able to sort them, a </a:t>
            </a:r>
            <a:r>
              <a:rPr lang="en-US" b="0" i="0" u="sng" dirty="0" err="1">
                <a:solidFill>
                  <a:srgbClr val="3A75B0"/>
                </a:solidFill>
                <a:effectLst/>
                <a:latin typeface="SFMono-Regular"/>
                <a:hlinkClick r:id="rId3"/>
              </a:rPr>
              <a:t>SortedSet</a:t>
            </a:r>
            <a:r>
              <a:rPr lang="en-US" b="0" i="0" dirty="0">
                <a:solidFill>
                  <a:srgbClr val="131516"/>
                </a:solidFill>
                <a:effectLst/>
                <a:latin typeface="system-ui"/>
              </a:rPr>
              <a:t> needs to compare your elements. How can it achieve that? Well, there are two standard mechanisms defined in the Java language for that.</a:t>
            </a:r>
          </a:p>
          <a:p>
            <a:pPr algn="l">
              <a:spcBef>
                <a:spcPts val="750"/>
              </a:spcBef>
              <a:buFont typeface="Arial" panose="020B0604020202020204" pitchFamily="34" charset="0"/>
              <a:buChar char="•"/>
            </a:pPr>
            <a:r>
              <a:rPr lang="en-US" b="0" i="0" dirty="0">
                <a:solidFill>
                  <a:srgbClr val="131516"/>
                </a:solidFill>
                <a:effectLst/>
                <a:latin typeface="system-ui"/>
              </a:rPr>
              <a:t>Your elements may implement the </a:t>
            </a:r>
            <a:r>
              <a:rPr lang="en-US" b="0" i="0" u="sng" dirty="0">
                <a:solidFill>
                  <a:srgbClr val="3A75B0"/>
                </a:solidFill>
                <a:effectLst/>
                <a:latin typeface="SFMono-Regular"/>
                <a:hlinkClick r:id="rId5"/>
              </a:rPr>
              <a:t>Comparable</a:t>
            </a:r>
            <a:r>
              <a:rPr lang="en-US" b="0" i="0" dirty="0">
                <a:solidFill>
                  <a:srgbClr val="131516"/>
                </a:solidFill>
                <a:effectLst/>
                <a:latin typeface="system-ui"/>
              </a:rPr>
              <a:t> interface, and provide a </a:t>
            </a:r>
            <a:r>
              <a:rPr lang="en-US" b="0" i="0" u="sng" dirty="0" err="1">
                <a:solidFill>
                  <a:srgbClr val="3A75B0"/>
                </a:solidFill>
                <a:effectLst/>
                <a:latin typeface="SFMono-Regular"/>
                <a:hlinkClick r:id="rId6"/>
              </a:rPr>
              <a:t>compareTo</a:t>
            </a:r>
            <a:r>
              <a:rPr lang="en-US" b="0" i="0" u="sng" dirty="0">
                <a:solidFill>
                  <a:srgbClr val="3A75B0"/>
                </a:solidFill>
                <a:effectLst/>
                <a:latin typeface="SFMono-Regular"/>
                <a:hlinkClick r:id="rId6"/>
              </a:rPr>
              <a:t>()</a:t>
            </a:r>
            <a:r>
              <a:rPr lang="en-US" b="0" i="0" dirty="0">
                <a:solidFill>
                  <a:srgbClr val="131516"/>
                </a:solidFill>
                <a:effectLst/>
                <a:latin typeface="system-ui"/>
              </a:rPr>
              <a:t> method</a:t>
            </a:r>
          </a:p>
          <a:p>
            <a:pPr algn="l">
              <a:spcBef>
                <a:spcPts val="750"/>
              </a:spcBef>
              <a:buFont typeface="Arial" panose="020B0604020202020204" pitchFamily="34" charset="0"/>
              <a:buChar char="•"/>
            </a:pPr>
            <a:r>
              <a:rPr lang="en-US" b="0" i="0" dirty="0">
                <a:solidFill>
                  <a:srgbClr val="131516"/>
                </a:solidFill>
                <a:effectLst/>
                <a:latin typeface="system-ui"/>
              </a:rPr>
              <a:t>You give a </a:t>
            </a:r>
            <a:r>
              <a:rPr lang="en-US" b="0" i="0" u="sng" dirty="0">
                <a:solidFill>
                  <a:srgbClr val="3A75B0"/>
                </a:solidFill>
                <a:effectLst/>
                <a:latin typeface="SFMono-Regular"/>
                <a:hlinkClick r:id="rId7"/>
              </a:rPr>
              <a:t>Comparator</a:t>
            </a:r>
            <a:r>
              <a:rPr lang="en-US" b="0" i="0" dirty="0">
                <a:solidFill>
                  <a:srgbClr val="131516"/>
                </a:solidFill>
                <a:effectLst/>
                <a:latin typeface="system-ui"/>
              </a:rPr>
              <a:t> to the </a:t>
            </a:r>
            <a:r>
              <a:rPr lang="en-US" b="0" i="0" u="sng" dirty="0" err="1">
                <a:solidFill>
                  <a:srgbClr val="3A75B0"/>
                </a:solidFill>
                <a:effectLst/>
                <a:latin typeface="SFMono-Regular"/>
                <a:hlinkClick r:id="rId3"/>
              </a:rPr>
              <a:t>SortedSet</a:t>
            </a:r>
            <a:r>
              <a:rPr lang="en-US" b="0" i="0" dirty="0">
                <a:solidFill>
                  <a:srgbClr val="131516"/>
                </a:solidFill>
                <a:effectLst/>
                <a:latin typeface="system-ui"/>
              </a:rPr>
              <a:t> so that it can compare them.</a:t>
            </a:r>
          </a:p>
          <a:p>
            <a:pPr algn="l">
              <a:buNone/>
            </a:pPr>
            <a:r>
              <a:rPr lang="en-US" b="0" i="0" dirty="0">
                <a:solidFill>
                  <a:srgbClr val="131516"/>
                </a:solidFill>
                <a:effectLst/>
                <a:latin typeface="system-ui"/>
              </a:rPr>
              <a:t>Even if your elements are </a:t>
            </a:r>
            <a:r>
              <a:rPr lang="en-US" b="0" i="0" u="sng" dirty="0">
                <a:solidFill>
                  <a:srgbClr val="3A75B0"/>
                </a:solidFill>
                <a:effectLst/>
                <a:latin typeface="SFMono-Regular"/>
                <a:hlinkClick r:id="rId5"/>
              </a:rPr>
              <a:t>Comparable</a:t>
            </a:r>
            <a:r>
              <a:rPr lang="en-US" b="0" i="0" dirty="0">
                <a:solidFill>
                  <a:srgbClr val="131516"/>
                </a:solidFill>
                <a:effectLst/>
                <a:latin typeface="system-ui"/>
              </a:rPr>
              <a:t>, you can still provide a </a:t>
            </a:r>
            <a:r>
              <a:rPr lang="en-US" b="0" i="0" u="sng" dirty="0">
                <a:solidFill>
                  <a:srgbClr val="3A75B0"/>
                </a:solidFill>
                <a:effectLst/>
                <a:latin typeface="SFMono-Regular"/>
                <a:hlinkClick r:id="rId7"/>
              </a:rPr>
              <a:t>Comparator</a:t>
            </a:r>
            <a:r>
              <a:rPr lang="en-US" b="0" i="0" dirty="0">
                <a:solidFill>
                  <a:srgbClr val="131516"/>
                </a:solidFill>
                <a:effectLst/>
                <a:latin typeface="system-ui"/>
              </a:rPr>
              <a:t> when building a </a:t>
            </a:r>
            <a:r>
              <a:rPr lang="en-US" b="0" i="0" u="sng" dirty="0" err="1">
                <a:solidFill>
                  <a:srgbClr val="3A75B0"/>
                </a:solidFill>
                <a:effectLst/>
                <a:latin typeface="SFMono-Regular"/>
                <a:hlinkClick r:id="rId3"/>
              </a:rPr>
              <a:t>SortedSet</a:t>
            </a:r>
            <a:r>
              <a:rPr lang="en-US" b="0" i="0" dirty="0">
                <a:solidFill>
                  <a:srgbClr val="131516"/>
                </a:solidFill>
                <a:effectLst/>
                <a:latin typeface="system-ui"/>
              </a:rPr>
              <a:t>. This may prove useful if you need to sort your elements in an order that is different from the one implemented in the </a:t>
            </a:r>
            <a:r>
              <a:rPr lang="en-US" b="0" i="0" u="sng" dirty="0" err="1">
                <a:solidFill>
                  <a:srgbClr val="3A75B0"/>
                </a:solidFill>
                <a:effectLst/>
                <a:latin typeface="SFMono-Regular"/>
                <a:hlinkClick r:id="rId6"/>
              </a:rPr>
              <a:t>compareTo</a:t>
            </a:r>
            <a:r>
              <a:rPr lang="en-US" b="0" i="0" u="sng" dirty="0">
                <a:solidFill>
                  <a:srgbClr val="3A75B0"/>
                </a:solidFill>
                <a:effectLst/>
                <a:latin typeface="SFMono-Regular"/>
                <a:hlinkClick r:id="rId6"/>
              </a:rPr>
              <a:t>()</a:t>
            </a:r>
            <a:r>
              <a:rPr lang="en-US" b="0" i="0" dirty="0">
                <a:solidFill>
                  <a:srgbClr val="131516"/>
                </a:solidFill>
                <a:effectLst/>
                <a:latin typeface="system-ui"/>
              </a:rPr>
              <a:t> method.</a:t>
            </a:r>
          </a:p>
          <a:p>
            <a:pPr algn="l">
              <a:buNone/>
            </a:pPr>
            <a:r>
              <a:rPr lang="en-US" b="0" i="1" dirty="0">
                <a:solidFill>
                  <a:srgbClr val="131516"/>
                </a:solidFill>
                <a:effectLst/>
                <a:latin typeface="system-ui"/>
              </a:rPr>
              <a:t>What is the difference between sorting and ordering? A </a:t>
            </a:r>
            <a:r>
              <a:rPr lang="en-US" b="0" i="1" u="sng" dirty="0">
                <a:solidFill>
                  <a:srgbClr val="3A75B0"/>
                </a:solidFill>
                <a:effectLst/>
                <a:latin typeface="SFMono-Regular"/>
                <a:hlinkClick r:id="rId8"/>
              </a:rPr>
              <a:t>List</a:t>
            </a:r>
            <a:r>
              <a:rPr lang="en-US" b="0" i="1" dirty="0">
                <a:solidFill>
                  <a:srgbClr val="131516"/>
                </a:solidFill>
                <a:effectLst/>
                <a:latin typeface="system-ui"/>
              </a:rPr>
              <a:t> keeps its elements in the order they have been added, and a </a:t>
            </a:r>
            <a:r>
              <a:rPr lang="en-US" b="0" i="1" u="sng" dirty="0" err="1">
                <a:solidFill>
                  <a:srgbClr val="3A75B0"/>
                </a:solidFill>
                <a:effectLst/>
                <a:latin typeface="SFMono-Regular"/>
                <a:hlinkClick r:id="rId3"/>
              </a:rPr>
              <a:t>SortedSet</a:t>
            </a:r>
            <a:r>
              <a:rPr lang="en-US" b="0" i="1" dirty="0">
                <a:solidFill>
                  <a:srgbClr val="131516"/>
                </a:solidFill>
                <a:effectLst/>
                <a:latin typeface="system-ui"/>
              </a:rPr>
              <a:t> keeps them sorted. Sorting elements means that the first element you get while traversing a set will be the lowest one, in the sense of a given comparison logic. Ordering elements means that the order in which you added them in a list is kept throughout the life of this list. So the first element you get while traversing a list is the first that has been added to it.</a:t>
            </a:r>
          </a:p>
          <a:p>
            <a:pPr algn="l">
              <a:buNone/>
            </a:pPr>
            <a:r>
              <a:rPr lang="en-US" b="0" i="0" dirty="0">
                <a:solidFill>
                  <a:srgbClr val="131516"/>
                </a:solidFill>
                <a:effectLst/>
                <a:latin typeface="system-ui"/>
              </a:rPr>
              <a:t>The </a:t>
            </a:r>
            <a:r>
              <a:rPr lang="en-US" b="0" i="0" u="sng" dirty="0" err="1">
                <a:solidFill>
                  <a:srgbClr val="3A75B0"/>
                </a:solidFill>
                <a:effectLst/>
                <a:latin typeface="SFMono-Regular"/>
                <a:hlinkClick r:id="rId3"/>
              </a:rPr>
              <a:t>SortedSet</a:t>
            </a:r>
            <a:r>
              <a:rPr lang="en-US" b="0" i="0" dirty="0">
                <a:solidFill>
                  <a:srgbClr val="131516"/>
                </a:solidFill>
                <a:effectLst/>
                <a:latin typeface="system-ui"/>
              </a:rPr>
              <a:t> adds several operations to </a:t>
            </a:r>
            <a:r>
              <a:rPr lang="en-US" b="0" i="0" u="sng" dirty="0">
                <a:solidFill>
                  <a:srgbClr val="3A75B0"/>
                </a:solidFill>
                <a:effectLst/>
                <a:latin typeface="SFMono-Regular"/>
                <a:hlinkClick r:id="rId2"/>
              </a:rPr>
              <a:t>Set</a:t>
            </a:r>
            <a:r>
              <a:rPr lang="en-US" b="0" i="0" dirty="0">
                <a:solidFill>
                  <a:srgbClr val="131516"/>
                </a:solidFill>
                <a:effectLst/>
                <a:latin typeface="system-ui"/>
              </a:rPr>
              <a:t>. Here is what you can do with a </a:t>
            </a:r>
            <a:r>
              <a:rPr lang="en-US" b="0" i="0" u="sng" dirty="0" err="1">
                <a:solidFill>
                  <a:srgbClr val="3A75B0"/>
                </a:solidFill>
                <a:effectLst/>
                <a:latin typeface="SFMono-Regular"/>
                <a:hlinkClick r:id="rId3"/>
              </a:rPr>
              <a:t>SortedSet</a:t>
            </a:r>
            <a:r>
              <a:rPr lang="en-US" b="0" i="0" dirty="0">
                <a:solidFill>
                  <a:srgbClr val="131516"/>
                </a:solidFill>
                <a:effectLst/>
                <a:latin typeface="system-ui"/>
              </a:rPr>
              <a:t>.</a:t>
            </a:r>
          </a:p>
          <a:p>
            <a:pPr algn="l">
              <a:spcBef>
                <a:spcPts val="750"/>
              </a:spcBef>
              <a:buFont typeface="Arial" panose="020B0604020202020204" pitchFamily="34" charset="0"/>
              <a:buChar char="•"/>
            </a:pPr>
            <a:r>
              <a:rPr lang="en-US" b="0" i="0" dirty="0">
                <a:solidFill>
                  <a:srgbClr val="131516"/>
                </a:solidFill>
                <a:effectLst/>
                <a:latin typeface="system-ui"/>
              </a:rPr>
              <a:t>You can get the lowest element, and the largest element of the set</a:t>
            </a:r>
          </a:p>
          <a:p>
            <a:pPr algn="l">
              <a:spcBef>
                <a:spcPts val="750"/>
              </a:spcBef>
              <a:buFont typeface="Arial" panose="020B0604020202020204" pitchFamily="34" charset="0"/>
              <a:buChar char="•"/>
            </a:pPr>
            <a:r>
              <a:rPr lang="en-US" b="0" i="0" dirty="0">
                <a:solidFill>
                  <a:srgbClr val="131516"/>
                </a:solidFill>
                <a:effectLst/>
                <a:latin typeface="system-ui"/>
              </a:rPr>
              <a:t>You can extract a </a:t>
            </a:r>
            <a:r>
              <a:rPr lang="en-US" b="0" i="0" u="sng" dirty="0" err="1">
                <a:solidFill>
                  <a:srgbClr val="3A75B0"/>
                </a:solidFill>
                <a:effectLst/>
                <a:latin typeface="SFMono-Regular"/>
                <a:hlinkClick r:id="rId9"/>
              </a:rPr>
              <a:t>headSet</a:t>
            </a:r>
            <a:r>
              <a:rPr lang="en-US" b="0" i="0" dirty="0">
                <a:solidFill>
                  <a:srgbClr val="131516"/>
                </a:solidFill>
                <a:effectLst/>
                <a:latin typeface="system-ui"/>
              </a:rPr>
              <a:t> and a </a:t>
            </a:r>
            <a:r>
              <a:rPr lang="en-US" b="0" i="0" u="sng" dirty="0" err="1">
                <a:solidFill>
                  <a:srgbClr val="3A75B0"/>
                </a:solidFill>
                <a:effectLst/>
                <a:latin typeface="SFMono-Regular"/>
                <a:hlinkClick r:id="rId10"/>
              </a:rPr>
              <a:t>tailSet</a:t>
            </a:r>
            <a:r>
              <a:rPr lang="en-US" b="0" i="0" dirty="0">
                <a:solidFill>
                  <a:srgbClr val="131516"/>
                </a:solidFill>
                <a:effectLst/>
                <a:latin typeface="system-ui"/>
              </a:rPr>
              <a:t> of all the elements lesser than, or greater than a given element.</a:t>
            </a:r>
          </a:p>
          <a:p>
            <a:pPr algn="l">
              <a:buNone/>
            </a:pPr>
            <a:r>
              <a:rPr lang="en-US" b="0" i="0" dirty="0">
                <a:solidFill>
                  <a:srgbClr val="131516"/>
                </a:solidFill>
                <a:effectLst/>
                <a:latin typeface="system-ui"/>
              </a:rPr>
              <a:t>Iterating over the elements of a </a:t>
            </a:r>
            <a:r>
              <a:rPr lang="en-US" b="0" i="0" u="sng" dirty="0" err="1">
                <a:solidFill>
                  <a:srgbClr val="3A75B0"/>
                </a:solidFill>
                <a:effectLst/>
                <a:latin typeface="SFMono-Regular"/>
                <a:hlinkClick r:id="rId3"/>
              </a:rPr>
              <a:t>SortedSet</a:t>
            </a:r>
            <a:r>
              <a:rPr lang="en-US" b="0" i="0" dirty="0">
                <a:solidFill>
                  <a:srgbClr val="131516"/>
                </a:solidFill>
                <a:effectLst/>
                <a:latin typeface="system-ui"/>
              </a:rPr>
              <a:t> will be made from the lowest element to the greatest.</a:t>
            </a:r>
          </a:p>
          <a:p>
            <a:pPr algn="l">
              <a:buNone/>
            </a:pPr>
            <a:r>
              <a:rPr lang="en-US" b="0" i="0" dirty="0">
                <a:solidFill>
                  <a:srgbClr val="131516"/>
                </a:solidFill>
                <a:effectLst/>
                <a:latin typeface="system-ui"/>
              </a:rPr>
              <a:t>The </a:t>
            </a:r>
            <a:r>
              <a:rPr lang="en-US" b="0" i="0" u="sng" dirty="0" err="1">
                <a:solidFill>
                  <a:srgbClr val="3A75B0"/>
                </a:solidFill>
                <a:effectLst/>
                <a:latin typeface="SFMono-Regular"/>
                <a:hlinkClick r:id="rId4"/>
              </a:rPr>
              <a:t>NavigableSet</a:t>
            </a:r>
            <a:r>
              <a:rPr lang="en-US" b="0" i="0" dirty="0">
                <a:solidFill>
                  <a:srgbClr val="131516"/>
                </a:solidFill>
                <a:effectLst/>
                <a:latin typeface="system-ui"/>
              </a:rPr>
              <a:t> does not change the behavior of a </a:t>
            </a:r>
            <a:r>
              <a:rPr lang="en-US" b="0" i="0" u="sng" dirty="0" err="1">
                <a:solidFill>
                  <a:srgbClr val="3A75B0"/>
                </a:solidFill>
                <a:effectLst/>
                <a:latin typeface="SFMono-Regular"/>
                <a:hlinkClick r:id="rId3"/>
              </a:rPr>
              <a:t>SortedSet</a:t>
            </a:r>
            <a:r>
              <a:rPr lang="en-US" b="0" i="0" dirty="0">
                <a:solidFill>
                  <a:srgbClr val="131516"/>
                </a:solidFill>
                <a:effectLst/>
                <a:latin typeface="system-ui"/>
              </a:rPr>
              <a:t>. It adds several vey useful operations on </a:t>
            </a:r>
            <a:r>
              <a:rPr lang="en-US" b="0" i="0" u="sng" dirty="0" err="1">
                <a:solidFill>
                  <a:srgbClr val="3A75B0"/>
                </a:solidFill>
                <a:effectLst/>
                <a:latin typeface="SFMono-Regular"/>
                <a:hlinkClick r:id="rId3"/>
              </a:rPr>
              <a:t>SortedSet</a:t>
            </a:r>
            <a:r>
              <a:rPr lang="en-US" b="0" i="0" dirty="0">
                <a:solidFill>
                  <a:srgbClr val="131516"/>
                </a:solidFill>
                <a:effectLst/>
                <a:latin typeface="system-ui"/>
              </a:rPr>
              <a:t>, among them the possibility to iterate over the elements in the descending order. You will see more details </a:t>
            </a:r>
            <a:r>
              <a:rPr lang="en-US" b="0" i="0" dirty="0" err="1">
                <a:solidFill>
                  <a:srgbClr val="131516"/>
                </a:solidFill>
                <a:effectLst/>
                <a:latin typeface="system-ui"/>
              </a:rPr>
              <a:t>ont</a:t>
            </a:r>
            <a:r>
              <a:rPr lang="en-US" b="0" i="0" dirty="0">
                <a:solidFill>
                  <a:srgbClr val="131516"/>
                </a:solidFill>
                <a:effectLst/>
                <a:latin typeface="system-ui"/>
              </a:rPr>
              <a:t> that later.</a:t>
            </a:r>
          </a:p>
        </p:txBody>
      </p:sp>
    </p:spTree>
    <p:extLst>
      <p:ext uri="{BB962C8B-B14F-4D97-AF65-F5344CB8AC3E}">
        <p14:creationId xmlns:p14="http://schemas.microsoft.com/office/powerpoint/2010/main" val="290454299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34F94D-6F67-4724-0F8E-3B0108787D3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82CE77B-D802-5D26-E011-0D49E7206A49}"/>
              </a:ext>
            </a:extLst>
          </p:cNvPr>
          <p:cNvSpPr txBox="1"/>
          <p:nvPr/>
        </p:nvSpPr>
        <p:spPr>
          <a:xfrm>
            <a:off x="286871" y="218745"/>
            <a:ext cx="6096000" cy="369332"/>
          </a:xfrm>
          <a:prstGeom prst="rect">
            <a:avLst/>
          </a:prstGeom>
          <a:noFill/>
        </p:spPr>
        <p:txBody>
          <a:bodyPr wrap="square">
            <a:spAutoFit/>
          </a:bodyPr>
          <a:lstStyle/>
          <a:p>
            <a:pPr algn="l">
              <a:spcAft>
                <a:spcPts val="1500"/>
              </a:spcAft>
              <a:buNone/>
            </a:pPr>
            <a:r>
              <a:rPr lang="en-US" b="1" i="0" dirty="0">
                <a:solidFill>
                  <a:srgbClr val="131516"/>
                </a:solidFill>
                <a:effectLst/>
                <a:latin typeface="system-ui"/>
              </a:rPr>
              <a:t>3. Storing Elements in a Collection</a:t>
            </a:r>
          </a:p>
        </p:txBody>
      </p:sp>
      <p:sp>
        <p:nvSpPr>
          <p:cNvPr id="5" name="TextBox 4">
            <a:extLst>
              <a:ext uri="{FF2B5EF4-FFF2-40B4-BE49-F238E27FC236}">
                <a16:creationId xmlns:a16="http://schemas.microsoft.com/office/drawing/2014/main" id="{78D01E5F-4BDE-D941-9486-B5B4DE5160B9}"/>
              </a:ext>
            </a:extLst>
          </p:cNvPr>
          <p:cNvSpPr txBox="1"/>
          <p:nvPr/>
        </p:nvSpPr>
        <p:spPr>
          <a:xfrm>
            <a:off x="286871" y="815569"/>
            <a:ext cx="6096000" cy="2223686"/>
          </a:xfrm>
          <a:prstGeom prst="rect">
            <a:avLst/>
          </a:prstGeom>
          <a:noFill/>
        </p:spPr>
        <p:txBody>
          <a:bodyPr wrap="square">
            <a:spAutoFit/>
          </a:bodyPr>
          <a:lstStyle/>
          <a:p>
            <a:pPr algn="l">
              <a:spcAft>
                <a:spcPts val="1500"/>
              </a:spcAft>
              <a:buNone/>
            </a:pPr>
            <a:r>
              <a:rPr lang="en-US" b="1" i="0" dirty="0">
                <a:solidFill>
                  <a:srgbClr val="131516"/>
                </a:solidFill>
                <a:effectLst/>
                <a:latin typeface="system-ui"/>
              </a:rPr>
              <a:t>Exploring the Collection Interface</a:t>
            </a:r>
          </a:p>
          <a:p>
            <a:pPr algn="l">
              <a:buNone/>
            </a:pPr>
            <a:r>
              <a:rPr lang="en-US" b="0" i="0" dirty="0">
                <a:solidFill>
                  <a:srgbClr val="131516"/>
                </a:solidFill>
                <a:effectLst/>
                <a:latin typeface="system-ui"/>
              </a:rPr>
              <a:t>The first interface you need to know is the </a:t>
            </a:r>
            <a:r>
              <a:rPr lang="en-US" b="0" i="0" u="sng" dirty="0">
                <a:solidFill>
                  <a:srgbClr val="3A75B0"/>
                </a:solidFill>
                <a:effectLst/>
                <a:latin typeface="SFMono-Regular"/>
                <a:hlinkClick r:id="rId2"/>
              </a:rPr>
              <a:t>Collection</a:t>
            </a:r>
            <a:r>
              <a:rPr lang="en-US" b="0" i="0" dirty="0">
                <a:solidFill>
                  <a:srgbClr val="131516"/>
                </a:solidFill>
                <a:effectLst/>
                <a:latin typeface="system-ui"/>
              </a:rPr>
              <a:t> interface. It models a plain collection, which can store elements and gives you different ways to retrieve them.</a:t>
            </a:r>
          </a:p>
          <a:p>
            <a:pPr algn="l">
              <a:buNone/>
            </a:pPr>
            <a:r>
              <a:rPr lang="en-US" b="0" i="0" dirty="0">
                <a:solidFill>
                  <a:srgbClr val="131516"/>
                </a:solidFill>
                <a:effectLst/>
                <a:latin typeface="system-ui"/>
              </a:rPr>
              <a:t>If you want to run the examples in this part, you need to know how to create a collection. We have not covered the </a:t>
            </a:r>
            <a:r>
              <a:rPr lang="en-US" b="0" i="0" u="sng" dirty="0" err="1">
                <a:solidFill>
                  <a:srgbClr val="3A75B0"/>
                </a:solidFill>
                <a:effectLst/>
                <a:latin typeface="SFMono-Regular"/>
                <a:hlinkClick r:id="rId3"/>
              </a:rPr>
              <a:t>ArrayList</a:t>
            </a:r>
            <a:r>
              <a:rPr lang="en-US" b="0" i="0" dirty="0">
                <a:solidFill>
                  <a:srgbClr val="131516"/>
                </a:solidFill>
                <a:effectLst/>
                <a:latin typeface="system-ui"/>
              </a:rPr>
              <a:t> class yet, we will do that later.</a:t>
            </a:r>
          </a:p>
        </p:txBody>
      </p:sp>
      <p:sp>
        <p:nvSpPr>
          <p:cNvPr id="7" name="TextBox 6">
            <a:extLst>
              <a:ext uri="{FF2B5EF4-FFF2-40B4-BE49-F238E27FC236}">
                <a16:creationId xmlns:a16="http://schemas.microsoft.com/office/drawing/2014/main" id="{ECE3710B-397E-C60E-AC50-AF0122C91C42}"/>
              </a:ext>
            </a:extLst>
          </p:cNvPr>
          <p:cNvSpPr txBox="1"/>
          <p:nvPr/>
        </p:nvSpPr>
        <p:spPr>
          <a:xfrm>
            <a:off x="6382871" y="-4546155"/>
            <a:ext cx="6096000" cy="15170820"/>
          </a:xfrm>
          <a:prstGeom prst="rect">
            <a:avLst/>
          </a:prstGeom>
          <a:noFill/>
        </p:spPr>
        <p:txBody>
          <a:bodyPr wrap="square">
            <a:spAutoFit/>
          </a:bodyPr>
          <a:lstStyle/>
          <a:p>
            <a:pPr algn="l">
              <a:spcBef>
                <a:spcPts val="3750"/>
              </a:spcBef>
              <a:spcAft>
                <a:spcPts val="1500"/>
              </a:spcAft>
              <a:buNone/>
            </a:pPr>
            <a:r>
              <a:rPr lang="en-US" b="1" i="0" dirty="0">
                <a:solidFill>
                  <a:srgbClr val="131516"/>
                </a:solidFill>
                <a:effectLst/>
                <a:latin typeface="system-ui"/>
              </a:rPr>
              <a:t>Methods That Handle Individual Elements</a:t>
            </a:r>
          </a:p>
          <a:p>
            <a:pPr algn="l">
              <a:buNone/>
            </a:pPr>
            <a:r>
              <a:rPr lang="en-US" b="0" i="0" dirty="0">
                <a:solidFill>
                  <a:srgbClr val="131516"/>
                </a:solidFill>
                <a:effectLst/>
                <a:latin typeface="system-ui"/>
              </a:rPr>
              <a:t>Let us begin by storing and removing an element from a collection. The two methods involved are </a:t>
            </a:r>
            <a:r>
              <a:rPr lang="en-US" b="0" i="0" u="sng" dirty="0">
                <a:solidFill>
                  <a:srgbClr val="3A75B0"/>
                </a:solidFill>
                <a:effectLst/>
                <a:latin typeface="SFMono-Regular"/>
                <a:hlinkClick r:id="rId4"/>
              </a:rPr>
              <a:t>add()</a:t>
            </a:r>
            <a:r>
              <a:rPr lang="en-US" b="0" i="0" dirty="0">
                <a:solidFill>
                  <a:srgbClr val="131516"/>
                </a:solidFill>
                <a:effectLst/>
                <a:latin typeface="system-ui"/>
              </a:rPr>
              <a:t> and </a:t>
            </a:r>
            <a:r>
              <a:rPr lang="en-US" b="0" i="0" u="sng" dirty="0">
                <a:solidFill>
                  <a:srgbClr val="3A75B0"/>
                </a:solidFill>
                <a:effectLst/>
                <a:latin typeface="SFMono-Regular"/>
                <a:hlinkClick r:id="rId4"/>
              </a:rPr>
              <a:t>remove()</a:t>
            </a:r>
            <a:r>
              <a:rPr lang="en-US" b="0" i="0" dirty="0">
                <a:solidFill>
                  <a:srgbClr val="131516"/>
                </a:solidFill>
                <a:effectLst/>
                <a:latin typeface="system-ui"/>
              </a:rPr>
              <a:t>.</a:t>
            </a:r>
          </a:p>
          <a:p>
            <a:pPr algn="l">
              <a:spcBef>
                <a:spcPts val="750"/>
              </a:spcBef>
              <a:buFont typeface="Arial" panose="020B0604020202020204" pitchFamily="34" charset="0"/>
              <a:buChar char="•"/>
            </a:pPr>
            <a:r>
              <a:rPr lang="en-US" b="0" i="0" u="sng" dirty="0">
                <a:solidFill>
                  <a:srgbClr val="3A75B0"/>
                </a:solidFill>
                <a:effectLst/>
                <a:latin typeface="SFMono-Regular"/>
                <a:hlinkClick r:id="rId4"/>
              </a:rPr>
              <a:t>add(element)</a:t>
            </a:r>
            <a:r>
              <a:rPr lang="en-US" b="0" i="0" dirty="0">
                <a:solidFill>
                  <a:srgbClr val="131516"/>
                </a:solidFill>
                <a:effectLst/>
                <a:latin typeface="system-ui"/>
              </a:rPr>
              <a:t>: adds an element in the collection. This method returns a </a:t>
            </a:r>
            <a:r>
              <a:rPr lang="en-US" b="0" i="0" dirty="0" err="1">
                <a:solidFill>
                  <a:srgbClr val="E76F00"/>
                </a:solidFill>
                <a:effectLst/>
                <a:latin typeface="SFMono-Regular"/>
              </a:rPr>
              <a:t>boolean</a:t>
            </a:r>
            <a:r>
              <a:rPr lang="en-US" b="0" i="0" dirty="0">
                <a:solidFill>
                  <a:srgbClr val="131516"/>
                </a:solidFill>
                <a:effectLst/>
                <a:latin typeface="system-ui"/>
              </a:rPr>
              <a:t> in case the operation failed. You saw in the introduction that it should not fail for a </a:t>
            </a:r>
            <a:r>
              <a:rPr lang="en-US" b="0" i="0" u="sng" dirty="0">
                <a:solidFill>
                  <a:srgbClr val="3A75B0"/>
                </a:solidFill>
                <a:effectLst/>
                <a:latin typeface="SFMono-Regular"/>
                <a:hlinkClick r:id="rId5"/>
              </a:rPr>
              <a:t>List</a:t>
            </a:r>
            <a:r>
              <a:rPr lang="en-US" b="0" i="0" dirty="0">
                <a:solidFill>
                  <a:srgbClr val="131516"/>
                </a:solidFill>
                <a:effectLst/>
                <a:latin typeface="system-ui"/>
              </a:rPr>
              <a:t>, whereas it may fail for a </a:t>
            </a:r>
            <a:r>
              <a:rPr lang="en-US" b="0" i="0" u="sng" dirty="0">
                <a:solidFill>
                  <a:srgbClr val="3A75B0"/>
                </a:solidFill>
                <a:effectLst/>
                <a:latin typeface="SFMono-Regular"/>
                <a:hlinkClick r:id="rId6"/>
              </a:rPr>
              <a:t>Set</a:t>
            </a:r>
            <a:r>
              <a:rPr lang="en-US" b="0" i="0" dirty="0">
                <a:solidFill>
                  <a:srgbClr val="131516"/>
                </a:solidFill>
                <a:effectLst/>
                <a:latin typeface="system-ui"/>
              </a:rPr>
              <a:t>, because a set does not allow duplicates.</a:t>
            </a:r>
          </a:p>
          <a:p>
            <a:pPr algn="l">
              <a:spcBef>
                <a:spcPts val="750"/>
              </a:spcBef>
              <a:buFont typeface="Arial" panose="020B0604020202020204" pitchFamily="34" charset="0"/>
              <a:buChar char="•"/>
            </a:pPr>
            <a:r>
              <a:rPr lang="en-US" b="0" i="0" u="sng" dirty="0">
                <a:solidFill>
                  <a:srgbClr val="3A75B0"/>
                </a:solidFill>
                <a:effectLst/>
                <a:latin typeface="SFMono-Regular"/>
                <a:hlinkClick r:id="rId7"/>
              </a:rPr>
              <a:t>remove(element)</a:t>
            </a:r>
            <a:r>
              <a:rPr lang="en-US" b="0" i="0" dirty="0">
                <a:solidFill>
                  <a:srgbClr val="131516"/>
                </a:solidFill>
                <a:effectLst/>
                <a:latin typeface="system-ui"/>
              </a:rPr>
              <a:t>: removes the given element from the collection. This method also returns a </a:t>
            </a:r>
            <a:r>
              <a:rPr lang="en-US" b="0" i="0" dirty="0" err="1">
                <a:solidFill>
                  <a:srgbClr val="131516"/>
                </a:solidFill>
                <a:effectLst/>
                <a:latin typeface="system-ui"/>
              </a:rPr>
              <a:t>boolean</a:t>
            </a:r>
            <a:r>
              <a:rPr lang="en-US" b="0" i="0" dirty="0">
                <a:solidFill>
                  <a:srgbClr val="131516"/>
                </a:solidFill>
                <a:effectLst/>
                <a:latin typeface="system-ui"/>
              </a:rPr>
              <a:t>, because the operation may fail. A remove may fail, for instance, when the item requested for removal is not present in the collection</a:t>
            </a:r>
          </a:p>
          <a:p>
            <a:pPr algn="l">
              <a:buNone/>
            </a:pPr>
            <a:r>
              <a:rPr lang="en-US" b="0" i="0" dirty="0">
                <a:solidFill>
                  <a:srgbClr val="131516"/>
                </a:solidFill>
                <a:effectLst/>
                <a:latin typeface="system-ui"/>
              </a:rPr>
              <a:t>You can run the following example. Here, you create an instance of the </a:t>
            </a:r>
            <a:r>
              <a:rPr lang="en-US" b="0" i="0" u="sng" dirty="0">
                <a:solidFill>
                  <a:srgbClr val="3A75B0"/>
                </a:solidFill>
                <a:effectLst/>
                <a:latin typeface="SFMono-Regular"/>
                <a:hlinkClick r:id="rId2"/>
              </a:rPr>
              <a:t>Collection</a:t>
            </a:r>
            <a:r>
              <a:rPr lang="en-US" b="0" i="0" dirty="0">
                <a:solidFill>
                  <a:srgbClr val="131516"/>
                </a:solidFill>
                <a:effectLst/>
                <a:latin typeface="system-ui"/>
              </a:rPr>
              <a:t> interface using the </a:t>
            </a:r>
            <a:r>
              <a:rPr lang="en-US" b="0" i="0" u="sng" dirty="0" err="1">
                <a:solidFill>
                  <a:srgbClr val="3A75B0"/>
                </a:solidFill>
                <a:effectLst/>
                <a:latin typeface="SFMono-Regular"/>
                <a:hlinkClick r:id="rId3"/>
              </a:rPr>
              <a:t>ArrayList</a:t>
            </a:r>
            <a:r>
              <a:rPr lang="en-US" b="0" i="0" dirty="0">
                <a:solidFill>
                  <a:srgbClr val="131516"/>
                </a:solidFill>
                <a:effectLst/>
                <a:latin typeface="system-ui"/>
              </a:rPr>
              <a:t> implementation. The generics used tells the Java compiler that you want to store </a:t>
            </a:r>
            <a:r>
              <a:rPr lang="en-US" b="0" i="0" u="sng" dirty="0">
                <a:solidFill>
                  <a:srgbClr val="3A75B0"/>
                </a:solidFill>
                <a:effectLst/>
                <a:latin typeface="SFMono-Regular"/>
                <a:hlinkClick r:id="rId8"/>
              </a:rPr>
              <a:t>String</a:t>
            </a:r>
            <a:r>
              <a:rPr lang="en-US" b="0" i="0" dirty="0">
                <a:solidFill>
                  <a:srgbClr val="131516"/>
                </a:solidFill>
                <a:effectLst/>
                <a:latin typeface="system-ui"/>
              </a:rPr>
              <a:t> objects in this collection. </a:t>
            </a:r>
            <a:r>
              <a:rPr lang="en-US" b="0" i="0" u="sng" dirty="0" err="1">
                <a:solidFill>
                  <a:srgbClr val="3A75B0"/>
                </a:solidFill>
                <a:effectLst/>
                <a:latin typeface="SFMono-Regular"/>
                <a:hlinkClick r:id="rId3"/>
              </a:rPr>
              <a:t>ArrayList</a:t>
            </a:r>
            <a:r>
              <a:rPr lang="en-US" b="0" i="0" dirty="0">
                <a:solidFill>
                  <a:srgbClr val="131516"/>
                </a:solidFill>
                <a:effectLst/>
                <a:latin typeface="system-ui"/>
              </a:rPr>
              <a:t> is not the only implementation of </a:t>
            </a:r>
            <a:r>
              <a:rPr lang="en-US" b="0" i="0" u="sng" dirty="0">
                <a:solidFill>
                  <a:srgbClr val="3A75B0"/>
                </a:solidFill>
                <a:effectLst/>
                <a:latin typeface="SFMono-Regular"/>
                <a:hlinkClick r:id="rId2"/>
              </a:rPr>
              <a:t>Collection</a:t>
            </a:r>
            <a:r>
              <a:rPr lang="en-US" b="0" i="0" dirty="0">
                <a:solidFill>
                  <a:srgbClr val="131516"/>
                </a:solidFill>
                <a:effectLst/>
                <a:latin typeface="system-ui"/>
              </a:rPr>
              <a:t> you may use. More on that later.</a:t>
            </a:r>
          </a:p>
          <a:p>
            <a:pPr algn="l" latinLnBrk="0">
              <a:buNone/>
            </a:pPr>
            <a:r>
              <a:rPr lang="en-US" b="0" i="0" dirty="0">
                <a:solidFill>
                  <a:srgbClr val="F8C555"/>
                </a:solidFill>
                <a:effectLst/>
                <a:latin typeface="Consolas" panose="020B0609020204030204" pitchFamily="49" charset="0"/>
              </a:rPr>
              <a:t>Collection</a:t>
            </a:r>
            <a:r>
              <a:rPr lang="en-US" b="0" i="0" dirty="0">
                <a:solidFill>
                  <a:srgbClr val="CCCCCC"/>
                </a:solidFill>
                <a:effectLst/>
                <a:latin typeface="Consolas" panose="020B0609020204030204" pitchFamily="49" charset="0"/>
              </a:rPr>
              <a:t>&lt;</a:t>
            </a:r>
            <a:r>
              <a:rPr lang="en-US" b="0" i="0" dirty="0">
                <a:solidFill>
                  <a:srgbClr val="F8C555"/>
                </a:solidFill>
                <a:effectLst/>
                <a:latin typeface="Consolas" panose="020B0609020204030204" pitchFamily="49" charset="0"/>
              </a:rPr>
              <a:t>String</a:t>
            </a:r>
            <a:r>
              <a:rPr lang="en-US" b="0" i="0" dirty="0">
                <a:solidFill>
                  <a:srgbClr val="CCCCCC"/>
                </a:solidFill>
                <a:effectLst/>
                <a:latin typeface="Consolas" panose="020B0609020204030204" pitchFamily="49" charset="0"/>
              </a:rPr>
              <a:t>&gt; strings </a:t>
            </a:r>
            <a:r>
              <a:rPr lang="en-US" b="0" i="0" dirty="0">
                <a:solidFill>
                  <a:srgbClr val="67CDCC"/>
                </a:solidFill>
                <a:effectLst/>
                <a:latin typeface="Consolas" panose="020B0609020204030204" pitchFamily="49" charset="0"/>
              </a:rPr>
              <a:t>=</a:t>
            </a:r>
            <a:r>
              <a:rPr lang="en-US" b="0" i="0" dirty="0">
                <a:solidFill>
                  <a:srgbClr val="CCCCCC"/>
                </a:solidFill>
                <a:effectLst/>
                <a:latin typeface="Consolas" panose="020B0609020204030204" pitchFamily="49" charset="0"/>
              </a:rPr>
              <a:t> </a:t>
            </a:r>
            <a:r>
              <a:rPr lang="en-US" b="0" i="0" dirty="0">
                <a:solidFill>
                  <a:srgbClr val="CC99CD"/>
                </a:solidFill>
                <a:effectLst/>
                <a:latin typeface="Consolas" panose="020B0609020204030204" pitchFamily="49" charset="0"/>
              </a:rPr>
              <a:t>new</a:t>
            </a:r>
            <a:r>
              <a:rPr lang="en-US" b="0" i="0" dirty="0">
                <a:solidFill>
                  <a:srgbClr val="CCCCCC"/>
                </a:solidFill>
                <a:effectLst/>
                <a:latin typeface="Consolas" panose="020B0609020204030204" pitchFamily="49" charset="0"/>
              </a:rPr>
              <a:t> </a:t>
            </a:r>
            <a:r>
              <a:rPr lang="en-US" b="0" i="0" dirty="0" err="1">
                <a:solidFill>
                  <a:srgbClr val="F8C555"/>
                </a:solidFill>
                <a:effectLst/>
                <a:latin typeface="Consolas" panose="020B0609020204030204" pitchFamily="49" charset="0"/>
              </a:rPr>
              <a:t>ArrayList</a:t>
            </a:r>
            <a:r>
              <a:rPr lang="en-US" b="0" i="0" dirty="0">
                <a:solidFill>
                  <a:srgbClr val="CCCCCC"/>
                </a:solidFill>
                <a:effectLst/>
                <a:latin typeface="Consolas" panose="020B0609020204030204" pitchFamily="49" charset="0"/>
              </a:rPr>
              <a:t>&lt;&gt;();</a:t>
            </a:r>
          </a:p>
          <a:p>
            <a:pPr algn="l" latinLnBrk="0">
              <a:buNone/>
            </a:pPr>
            <a:r>
              <a:rPr lang="en-US" b="0" i="0" dirty="0" err="1">
                <a:solidFill>
                  <a:srgbClr val="CCCCCC"/>
                </a:solidFill>
                <a:effectLst/>
                <a:latin typeface="Consolas" panose="020B0609020204030204" pitchFamily="49" charset="0"/>
              </a:rPr>
              <a:t>strings.</a:t>
            </a:r>
            <a:r>
              <a:rPr lang="en-US" b="0" i="0" dirty="0" err="1">
                <a:solidFill>
                  <a:srgbClr val="F08D49"/>
                </a:solidFill>
                <a:effectLst/>
                <a:latin typeface="Consolas" panose="020B0609020204030204" pitchFamily="49" charset="0"/>
              </a:rPr>
              <a:t>add</a:t>
            </a:r>
            <a:r>
              <a:rPr lang="en-US" b="0" i="0" dirty="0">
                <a:solidFill>
                  <a:srgbClr val="CCCCCC"/>
                </a:solidFill>
                <a:effectLst/>
                <a:latin typeface="Consolas" panose="020B0609020204030204" pitchFamily="49" charset="0"/>
              </a:rPr>
              <a:t>(</a:t>
            </a:r>
            <a:r>
              <a:rPr lang="en-US" b="0" i="0" dirty="0">
                <a:solidFill>
                  <a:srgbClr val="7EC699"/>
                </a:solidFill>
                <a:effectLst/>
                <a:latin typeface="Consolas" panose="020B0609020204030204" pitchFamily="49" charset="0"/>
              </a:rPr>
              <a:t>"one"</a:t>
            </a:r>
            <a:r>
              <a:rPr lang="en-US" b="0" i="0" dirty="0">
                <a:solidFill>
                  <a:srgbClr val="CCCCCC"/>
                </a:solidFill>
                <a:effectLst/>
                <a:latin typeface="Consolas" panose="020B0609020204030204" pitchFamily="49" charset="0"/>
              </a:rPr>
              <a:t>);</a:t>
            </a:r>
          </a:p>
          <a:p>
            <a:pPr algn="l" latinLnBrk="0">
              <a:buNone/>
            </a:pPr>
            <a:r>
              <a:rPr lang="en-US" b="0" i="0" dirty="0" err="1">
                <a:solidFill>
                  <a:srgbClr val="CCCCCC"/>
                </a:solidFill>
                <a:effectLst/>
                <a:latin typeface="Consolas" panose="020B0609020204030204" pitchFamily="49" charset="0"/>
              </a:rPr>
              <a:t>strings.</a:t>
            </a:r>
            <a:r>
              <a:rPr lang="en-US" b="0" i="0" dirty="0" err="1">
                <a:solidFill>
                  <a:srgbClr val="F08D49"/>
                </a:solidFill>
                <a:effectLst/>
                <a:latin typeface="Consolas" panose="020B0609020204030204" pitchFamily="49" charset="0"/>
              </a:rPr>
              <a:t>add</a:t>
            </a:r>
            <a:r>
              <a:rPr lang="en-US" b="0" i="0" dirty="0">
                <a:solidFill>
                  <a:srgbClr val="CCCCCC"/>
                </a:solidFill>
                <a:effectLst/>
                <a:latin typeface="Consolas" panose="020B0609020204030204" pitchFamily="49" charset="0"/>
              </a:rPr>
              <a:t>(</a:t>
            </a:r>
            <a:r>
              <a:rPr lang="en-US" b="0" i="0" dirty="0">
                <a:solidFill>
                  <a:srgbClr val="7EC699"/>
                </a:solidFill>
                <a:effectLst/>
                <a:latin typeface="Consolas" panose="020B0609020204030204" pitchFamily="49" charset="0"/>
              </a:rPr>
              <a:t>"two"</a:t>
            </a:r>
            <a:r>
              <a:rPr lang="en-US" b="0" i="0" dirty="0">
                <a:solidFill>
                  <a:srgbClr val="CCCCCC"/>
                </a:solidFill>
                <a:effectLst/>
                <a:latin typeface="Consolas" panose="020B0609020204030204" pitchFamily="49" charset="0"/>
              </a:rPr>
              <a:t>);</a:t>
            </a:r>
          </a:p>
          <a:p>
            <a:pPr algn="l" latinLnBrk="0">
              <a:buNone/>
            </a:pPr>
            <a:r>
              <a:rPr lang="en-US" b="0" i="0" dirty="0" err="1">
                <a:solidFill>
                  <a:srgbClr val="CCCCCC"/>
                </a:solidFill>
                <a:effectLst/>
                <a:latin typeface="Consolas" panose="020B0609020204030204" pitchFamily="49" charset="0"/>
              </a:rPr>
              <a:t>IO.</a:t>
            </a:r>
            <a:r>
              <a:rPr lang="en-US" b="0" i="0" dirty="0" err="1">
                <a:solidFill>
                  <a:srgbClr val="F08D49"/>
                </a:solidFill>
                <a:effectLst/>
                <a:latin typeface="Consolas" panose="020B0609020204030204" pitchFamily="49" charset="0"/>
              </a:rPr>
              <a:t>println</a:t>
            </a:r>
            <a:r>
              <a:rPr lang="en-US" b="0" i="0" dirty="0">
                <a:solidFill>
                  <a:srgbClr val="CCCCCC"/>
                </a:solidFill>
                <a:effectLst/>
                <a:latin typeface="Consolas" panose="020B0609020204030204" pitchFamily="49" charset="0"/>
              </a:rPr>
              <a:t>(</a:t>
            </a:r>
            <a:r>
              <a:rPr lang="en-US" b="0" i="0" dirty="0">
                <a:solidFill>
                  <a:srgbClr val="7EC699"/>
                </a:solidFill>
                <a:effectLst/>
                <a:latin typeface="Consolas" panose="020B0609020204030204" pitchFamily="49" charset="0"/>
              </a:rPr>
              <a:t>"strings = "</a:t>
            </a:r>
            <a:r>
              <a:rPr lang="en-US" b="0" i="0" dirty="0">
                <a:solidFill>
                  <a:srgbClr val="CCCCCC"/>
                </a:solidFill>
                <a:effectLst/>
                <a:latin typeface="Consolas" panose="020B0609020204030204" pitchFamily="49" charset="0"/>
              </a:rPr>
              <a:t> </a:t>
            </a:r>
            <a:r>
              <a:rPr lang="en-US" b="0" i="0" dirty="0">
                <a:solidFill>
                  <a:srgbClr val="67CDCC"/>
                </a:solidFill>
                <a:effectLst/>
                <a:latin typeface="Consolas" panose="020B0609020204030204" pitchFamily="49" charset="0"/>
              </a:rPr>
              <a:t>+</a:t>
            </a:r>
            <a:r>
              <a:rPr lang="en-US" b="0" i="0" dirty="0">
                <a:solidFill>
                  <a:srgbClr val="CCCCCC"/>
                </a:solidFill>
                <a:effectLst/>
                <a:latin typeface="Consolas" panose="020B0609020204030204" pitchFamily="49" charset="0"/>
              </a:rPr>
              <a:t> strings);</a:t>
            </a:r>
          </a:p>
          <a:p>
            <a:pPr algn="l" latinLnBrk="0">
              <a:buNone/>
            </a:pPr>
            <a:r>
              <a:rPr lang="en-US" b="0" i="0" dirty="0" err="1">
                <a:solidFill>
                  <a:srgbClr val="CCCCCC"/>
                </a:solidFill>
                <a:effectLst/>
                <a:latin typeface="Consolas" panose="020B0609020204030204" pitchFamily="49" charset="0"/>
              </a:rPr>
              <a:t>strings.</a:t>
            </a:r>
            <a:r>
              <a:rPr lang="en-US" b="0" i="0" dirty="0" err="1">
                <a:solidFill>
                  <a:srgbClr val="F08D49"/>
                </a:solidFill>
                <a:effectLst/>
                <a:latin typeface="Consolas" panose="020B0609020204030204" pitchFamily="49" charset="0"/>
              </a:rPr>
              <a:t>remove</a:t>
            </a:r>
            <a:r>
              <a:rPr lang="en-US" b="0" i="0" dirty="0">
                <a:solidFill>
                  <a:srgbClr val="CCCCCC"/>
                </a:solidFill>
                <a:effectLst/>
                <a:latin typeface="Consolas" panose="020B0609020204030204" pitchFamily="49" charset="0"/>
              </a:rPr>
              <a:t>(</a:t>
            </a:r>
            <a:r>
              <a:rPr lang="en-US" b="0" i="0" dirty="0">
                <a:solidFill>
                  <a:srgbClr val="7EC699"/>
                </a:solidFill>
                <a:effectLst/>
                <a:latin typeface="Consolas" panose="020B0609020204030204" pitchFamily="49" charset="0"/>
              </a:rPr>
              <a:t>"one"</a:t>
            </a:r>
            <a:r>
              <a:rPr lang="en-US" b="0" i="0" dirty="0">
                <a:solidFill>
                  <a:srgbClr val="CCCCCC"/>
                </a:solidFill>
                <a:effectLst/>
                <a:latin typeface="Consolas" panose="020B0609020204030204" pitchFamily="49" charset="0"/>
              </a:rPr>
              <a:t>);</a:t>
            </a:r>
          </a:p>
          <a:p>
            <a:pPr algn="l" latinLnBrk="0">
              <a:buNone/>
            </a:pPr>
            <a:r>
              <a:rPr lang="en-US" b="0" i="0" dirty="0" err="1">
                <a:solidFill>
                  <a:srgbClr val="CCCCCC"/>
                </a:solidFill>
                <a:effectLst/>
                <a:latin typeface="Consolas" panose="020B0609020204030204" pitchFamily="49" charset="0"/>
              </a:rPr>
              <a:t>IO.</a:t>
            </a:r>
            <a:r>
              <a:rPr lang="en-US" b="0" i="0" dirty="0" err="1">
                <a:solidFill>
                  <a:srgbClr val="F08D49"/>
                </a:solidFill>
                <a:effectLst/>
                <a:latin typeface="Consolas" panose="020B0609020204030204" pitchFamily="49" charset="0"/>
              </a:rPr>
              <a:t>println</a:t>
            </a:r>
            <a:r>
              <a:rPr lang="en-US" b="0" i="0" dirty="0">
                <a:solidFill>
                  <a:srgbClr val="CCCCCC"/>
                </a:solidFill>
                <a:effectLst/>
                <a:latin typeface="Consolas" panose="020B0609020204030204" pitchFamily="49" charset="0"/>
              </a:rPr>
              <a:t>(</a:t>
            </a:r>
            <a:r>
              <a:rPr lang="en-US" b="0" i="0" dirty="0">
                <a:solidFill>
                  <a:srgbClr val="7EC699"/>
                </a:solidFill>
                <a:effectLst/>
                <a:latin typeface="Consolas" panose="020B0609020204030204" pitchFamily="49" charset="0"/>
              </a:rPr>
              <a:t>"strings = "</a:t>
            </a:r>
            <a:r>
              <a:rPr lang="en-US" b="0" i="0" dirty="0">
                <a:solidFill>
                  <a:srgbClr val="CCCCCC"/>
                </a:solidFill>
                <a:effectLst/>
                <a:latin typeface="Consolas" panose="020B0609020204030204" pitchFamily="49" charset="0"/>
              </a:rPr>
              <a:t> </a:t>
            </a:r>
            <a:r>
              <a:rPr lang="en-US" b="0" i="0" dirty="0">
                <a:solidFill>
                  <a:srgbClr val="67CDCC"/>
                </a:solidFill>
                <a:effectLst/>
                <a:latin typeface="Consolas" panose="020B0609020204030204" pitchFamily="49" charset="0"/>
              </a:rPr>
              <a:t>+</a:t>
            </a:r>
            <a:r>
              <a:rPr lang="en-US" b="0" i="0" dirty="0">
                <a:solidFill>
                  <a:srgbClr val="CCCCCC"/>
                </a:solidFill>
                <a:effectLst/>
                <a:latin typeface="Consolas" panose="020B0609020204030204" pitchFamily="49" charset="0"/>
              </a:rPr>
              <a:t> strings);</a:t>
            </a:r>
          </a:p>
          <a:p>
            <a:pPr algn="l">
              <a:buNone/>
            </a:pPr>
            <a:r>
              <a:rPr lang="en-US" b="0" i="0" dirty="0">
                <a:solidFill>
                  <a:srgbClr val="131516"/>
                </a:solidFill>
                <a:effectLst/>
                <a:latin typeface="system-ui"/>
              </a:rPr>
              <a:t>Running the previous code should print the following:</a:t>
            </a:r>
          </a:p>
          <a:p>
            <a:pPr algn="l" latinLnBrk="0">
              <a:buNone/>
            </a:pPr>
            <a:r>
              <a:rPr lang="en-US" b="0" i="0" dirty="0">
                <a:solidFill>
                  <a:srgbClr val="CCCCCC"/>
                </a:solidFill>
                <a:effectLst/>
                <a:latin typeface="Consolas" panose="020B0609020204030204" pitchFamily="49" charset="0"/>
              </a:rPr>
              <a:t>strings = [one, two]</a:t>
            </a:r>
          </a:p>
          <a:p>
            <a:pPr algn="l" latinLnBrk="0">
              <a:buNone/>
            </a:pPr>
            <a:r>
              <a:rPr lang="en-US" b="0" i="0" dirty="0">
                <a:solidFill>
                  <a:srgbClr val="CCCCCC"/>
                </a:solidFill>
                <a:effectLst/>
                <a:latin typeface="Consolas" panose="020B0609020204030204" pitchFamily="49" charset="0"/>
              </a:rPr>
              <a:t>strings = [two]</a:t>
            </a:r>
          </a:p>
          <a:p>
            <a:pPr algn="l">
              <a:buNone/>
            </a:pPr>
            <a:r>
              <a:rPr lang="en-US" b="0" i="0" dirty="0">
                <a:solidFill>
                  <a:srgbClr val="131516"/>
                </a:solidFill>
                <a:effectLst/>
                <a:latin typeface="system-ui"/>
              </a:rPr>
              <a:t>You can check for the presence of an element in a collection with the </a:t>
            </a:r>
            <a:r>
              <a:rPr lang="en-US" b="0" i="0" u="sng" dirty="0">
                <a:solidFill>
                  <a:srgbClr val="3A75B0"/>
                </a:solidFill>
                <a:effectLst/>
                <a:latin typeface="SFMono-Regular"/>
                <a:hlinkClick r:id="rId9"/>
              </a:rPr>
              <a:t>contains()</a:t>
            </a:r>
            <a:r>
              <a:rPr lang="en-US" b="0" i="0" dirty="0">
                <a:solidFill>
                  <a:srgbClr val="131516"/>
                </a:solidFill>
                <a:effectLst/>
                <a:latin typeface="system-ui"/>
              </a:rPr>
              <a:t> method. Note that you can check the presence of any type of element. For instance, it is valid to check for the presence of a </a:t>
            </a:r>
            <a:r>
              <a:rPr lang="en-US" b="0" i="0" dirty="0">
                <a:solidFill>
                  <a:srgbClr val="E76F00"/>
                </a:solidFill>
                <a:effectLst/>
                <a:latin typeface="SFMono-Regular"/>
              </a:rPr>
              <a:t>User</a:t>
            </a:r>
            <a:r>
              <a:rPr lang="en-US" b="0" i="0" dirty="0">
                <a:solidFill>
                  <a:srgbClr val="131516"/>
                </a:solidFill>
                <a:effectLst/>
                <a:latin typeface="system-ui"/>
              </a:rPr>
              <a:t> object in a collection of </a:t>
            </a:r>
            <a:r>
              <a:rPr lang="en-US" b="0" i="0" u="sng" dirty="0">
                <a:solidFill>
                  <a:srgbClr val="3A75B0"/>
                </a:solidFill>
                <a:effectLst/>
                <a:latin typeface="SFMono-Regular"/>
                <a:hlinkClick r:id="rId8"/>
              </a:rPr>
              <a:t>String</a:t>
            </a:r>
            <a:r>
              <a:rPr lang="en-US" b="0" i="0" dirty="0">
                <a:solidFill>
                  <a:srgbClr val="131516"/>
                </a:solidFill>
                <a:effectLst/>
                <a:latin typeface="system-ui"/>
              </a:rPr>
              <a:t>. This may seem odd, since there is no chance that this check returns </a:t>
            </a:r>
            <a:r>
              <a:rPr lang="en-US" b="0" i="0" dirty="0">
                <a:solidFill>
                  <a:srgbClr val="E76F00"/>
                </a:solidFill>
                <a:effectLst/>
                <a:latin typeface="SFMono-Regular"/>
              </a:rPr>
              <a:t>true</a:t>
            </a:r>
            <a:r>
              <a:rPr lang="en-US" b="0" i="0" dirty="0">
                <a:solidFill>
                  <a:srgbClr val="131516"/>
                </a:solidFill>
                <a:effectLst/>
                <a:latin typeface="system-ui"/>
              </a:rPr>
              <a:t>, but it is allowed by the compiler. If you are using an IDE to test this code, your IDE may warn about testing for the presence of a </a:t>
            </a:r>
            <a:r>
              <a:rPr lang="en-US" b="0" i="0" dirty="0">
                <a:solidFill>
                  <a:srgbClr val="E76F00"/>
                </a:solidFill>
                <a:effectLst/>
                <a:latin typeface="SFMono-Regular"/>
              </a:rPr>
              <a:t>User</a:t>
            </a:r>
            <a:r>
              <a:rPr lang="en-US" b="0" i="0" dirty="0">
                <a:solidFill>
                  <a:srgbClr val="131516"/>
                </a:solidFill>
                <a:effectLst/>
                <a:latin typeface="system-ui"/>
              </a:rPr>
              <a:t> object in a collection of </a:t>
            </a:r>
            <a:r>
              <a:rPr lang="en-US" b="0" i="0" u="sng" dirty="0">
                <a:solidFill>
                  <a:srgbClr val="3A75B0"/>
                </a:solidFill>
                <a:effectLst/>
                <a:latin typeface="SFMono-Regular"/>
                <a:hlinkClick r:id="rId8"/>
              </a:rPr>
              <a:t>String</a:t>
            </a:r>
            <a:r>
              <a:rPr lang="en-US" b="0" i="0" dirty="0">
                <a:solidFill>
                  <a:srgbClr val="131516"/>
                </a:solidFill>
                <a:effectLst/>
                <a:latin typeface="system-ui"/>
              </a:rPr>
              <a:t> objects.</a:t>
            </a:r>
          </a:p>
          <a:p>
            <a:pPr algn="l" latinLnBrk="0">
              <a:buNone/>
            </a:pPr>
            <a:r>
              <a:rPr lang="en-US" b="0" i="0" dirty="0">
                <a:solidFill>
                  <a:srgbClr val="F8C555"/>
                </a:solidFill>
                <a:effectLst/>
                <a:latin typeface="Consolas" panose="020B0609020204030204" pitchFamily="49" charset="0"/>
              </a:rPr>
              <a:t>Collection</a:t>
            </a:r>
            <a:r>
              <a:rPr lang="en-US" b="0" i="0" dirty="0">
                <a:solidFill>
                  <a:srgbClr val="CCCCCC"/>
                </a:solidFill>
                <a:effectLst/>
                <a:latin typeface="Consolas" panose="020B0609020204030204" pitchFamily="49" charset="0"/>
              </a:rPr>
              <a:t>&lt;</a:t>
            </a:r>
            <a:r>
              <a:rPr lang="en-US" b="0" i="0" dirty="0">
                <a:solidFill>
                  <a:srgbClr val="F8C555"/>
                </a:solidFill>
                <a:effectLst/>
                <a:latin typeface="Consolas" panose="020B0609020204030204" pitchFamily="49" charset="0"/>
              </a:rPr>
              <a:t>String</a:t>
            </a:r>
            <a:r>
              <a:rPr lang="en-US" b="0" i="0" dirty="0">
                <a:solidFill>
                  <a:srgbClr val="CCCCCC"/>
                </a:solidFill>
                <a:effectLst/>
                <a:latin typeface="Consolas" panose="020B0609020204030204" pitchFamily="49" charset="0"/>
              </a:rPr>
              <a:t>&gt; strings </a:t>
            </a:r>
            <a:r>
              <a:rPr lang="en-US" b="0" i="0" dirty="0">
                <a:solidFill>
                  <a:srgbClr val="67CDCC"/>
                </a:solidFill>
                <a:effectLst/>
                <a:latin typeface="Consolas" panose="020B0609020204030204" pitchFamily="49" charset="0"/>
              </a:rPr>
              <a:t>=</a:t>
            </a:r>
            <a:r>
              <a:rPr lang="en-US" b="0" i="0" dirty="0">
                <a:solidFill>
                  <a:srgbClr val="CCCCCC"/>
                </a:solidFill>
                <a:effectLst/>
                <a:latin typeface="Consolas" panose="020B0609020204030204" pitchFamily="49" charset="0"/>
              </a:rPr>
              <a:t> </a:t>
            </a:r>
            <a:r>
              <a:rPr lang="en-US" b="0" i="0" dirty="0">
                <a:solidFill>
                  <a:srgbClr val="CC99CD"/>
                </a:solidFill>
                <a:effectLst/>
                <a:latin typeface="Consolas" panose="020B0609020204030204" pitchFamily="49" charset="0"/>
              </a:rPr>
              <a:t>new</a:t>
            </a:r>
            <a:r>
              <a:rPr lang="en-US" b="0" i="0" dirty="0">
                <a:solidFill>
                  <a:srgbClr val="CCCCCC"/>
                </a:solidFill>
                <a:effectLst/>
                <a:latin typeface="Consolas" panose="020B0609020204030204" pitchFamily="49" charset="0"/>
              </a:rPr>
              <a:t> </a:t>
            </a:r>
            <a:r>
              <a:rPr lang="en-US" b="0" i="0" dirty="0" err="1">
                <a:solidFill>
                  <a:srgbClr val="F8C555"/>
                </a:solidFill>
                <a:effectLst/>
                <a:latin typeface="Consolas" panose="020B0609020204030204" pitchFamily="49" charset="0"/>
              </a:rPr>
              <a:t>ArrayList</a:t>
            </a:r>
            <a:r>
              <a:rPr lang="en-US" b="0" i="0" dirty="0">
                <a:solidFill>
                  <a:srgbClr val="CCCCCC"/>
                </a:solidFill>
                <a:effectLst/>
                <a:latin typeface="Consolas" panose="020B0609020204030204" pitchFamily="49" charset="0"/>
              </a:rPr>
              <a:t>&lt;&gt;();</a:t>
            </a:r>
          </a:p>
          <a:p>
            <a:pPr algn="l" latinLnBrk="0">
              <a:buNone/>
            </a:pPr>
            <a:r>
              <a:rPr lang="en-US" b="0" i="0" dirty="0" err="1">
                <a:solidFill>
                  <a:srgbClr val="CCCCCC"/>
                </a:solidFill>
                <a:effectLst/>
                <a:latin typeface="Consolas" panose="020B0609020204030204" pitchFamily="49" charset="0"/>
              </a:rPr>
              <a:t>strings.</a:t>
            </a:r>
            <a:r>
              <a:rPr lang="en-US" b="0" i="0" dirty="0" err="1">
                <a:solidFill>
                  <a:srgbClr val="F08D49"/>
                </a:solidFill>
                <a:effectLst/>
                <a:latin typeface="Consolas" panose="020B0609020204030204" pitchFamily="49" charset="0"/>
              </a:rPr>
              <a:t>add</a:t>
            </a:r>
            <a:r>
              <a:rPr lang="en-US" b="0" i="0" dirty="0">
                <a:solidFill>
                  <a:srgbClr val="CCCCCC"/>
                </a:solidFill>
                <a:effectLst/>
                <a:latin typeface="Consolas" panose="020B0609020204030204" pitchFamily="49" charset="0"/>
              </a:rPr>
              <a:t>(</a:t>
            </a:r>
            <a:r>
              <a:rPr lang="en-US" b="0" i="0" dirty="0">
                <a:solidFill>
                  <a:srgbClr val="7EC699"/>
                </a:solidFill>
                <a:effectLst/>
                <a:latin typeface="Consolas" panose="020B0609020204030204" pitchFamily="49" charset="0"/>
              </a:rPr>
              <a:t>"one"</a:t>
            </a:r>
            <a:r>
              <a:rPr lang="en-US" b="0" i="0" dirty="0">
                <a:solidFill>
                  <a:srgbClr val="CCCCCC"/>
                </a:solidFill>
                <a:effectLst/>
                <a:latin typeface="Consolas" panose="020B0609020204030204" pitchFamily="49" charset="0"/>
              </a:rPr>
              <a:t>);</a:t>
            </a:r>
          </a:p>
          <a:p>
            <a:pPr algn="l" latinLnBrk="0">
              <a:buNone/>
            </a:pPr>
            <a:r>
              <a:rPr lang="en-US" b="0" i="0" dirty="0" err="1">
                <a:solidFill>
                  <a:srgbClr val="CCCCCC"/>
                </a:solidFill>
                <a:effectLst/>
                <a:latin typeface="Consolas" panose="020B0609020204030204" pitchFamily="49" charset="0"/>
              </a:rPr>
              <a:t>strings.</a:t>
            </a:r>
            <a:r>
              <a:rPr lang="en-US" b="0" i="0" dirty="0" err="1">
                <a:solidFill>
                  <a:srgbClr val="F08D49"/>
                </a:solidFill>
                <a:effectLst/>
                <a:latin typeface="Consolas" panose="020B0609020204030204" pitchFamily="49" charset="0"/>
              </a:rPr>
              <a:t>add</a:t>
            </a:r>
            <a:r>
              <a:rPr lang="en-US" b="0" i="0" dirty="0">
                <a:solidFill>
                  <a:srgbClr val="CCCCCC"/>
                </a:solidFill>
                <a:effectLst/>
                <a:latin typeface="Consolas" panose="020B0609020204030204" pitchFamily="49" charset="0"/>
              </a:rPr>
              <a:t>(</a:t>
            </a:r>
            <a:r>
              <a:rPr lang="en-US" b="0" i="0" dirty="0">
                <a:solidFill>
                  <a:srgbClr val="7EC699"/>
                </a:solidFill>
                <a:effectLst/>
                <a:latin typeface="Consolas" panose="020B0609020204030204" pitchFamily="49" charset="0"/>
              </a:rPr>
              <a:t>"two"</a:t>
            </a:r>
            <a:r>
              <a:rPr lang="en-US" b="0" i="0" dirty="0">
                <a:solidFill>
                  <a:srgbClr val="CCCCCC"/>
                </a:solidFill>
                <a:effectLst/>
                <a:latin typeface="Consolas" panose="020B0609020204030204" pitchFamily="49" charset="0"/>
              </a:rPr>
              <a:t>);</a:t>
            </a:r>
          </a:p>
          <a:p>
            <a:pPr algn="l" latinLnBrk="0">
              <a:buNone/>
            </a:pPr>
            <a:r>
              <a:rPr lang="en-US" b="0" i="0" dirty="0">
                <a:solidFill>
                  <a:srgbClr val="CC99CD"/>
                </a:solidFill>
                <a:effectLst/>
                <a:latin typeface="Consolas" panose="020B0609020204030204" pitchFamily="49" charset="0"/>
              </a:rPr>
              <a:t>if</a:t>
            </a:r>
            <a:r>
              <a:rPr lang="en-US" b="0" i="0" dirty="0">
                <a:solidFill>
                  <a:srgbClr val="CCCCCC"/>
                </a:solidFill>
                <a:effectLst/>
                <a:latin typeface="Consolas" panose="020B0609020204030204" pitchFamily="49" charset="0"/>
              </a:rPr>
              <a:t> (</a:t>
            </a:r>
            <a:r>
              <a:rPr lang="en-US" b="0" i="0" dirty="0" err="1">
                <a:solidFill>
                  <a:srgbClr val="CCCCCC"/>
                </a:solidFill>
                <a:effectLst/>
                <a:latin typeface="Consolas" panose="020B0609020204030204" pitchFamily="49" charset="0"/>
              </a:rPr>
              <a:t>strings.</a:t>
            </a:r>
            <a:r>
              <a:rPr lang="en-US" b="0" i="0" dirty="0" err="1">
                <a:solidFill>
                  <a:srgbClr val="F08D49"/>
                </a:solidFill>
                <a:effectLst/>
                <a:latin typeface="Consolas" panose="020B0609020204030204" pitchFamily="49" charset="0"/>
              </a:rPr>
              <a:t>contains</a:t>
            </a:r>
            <a:r>
              <a:rPr lang="en-US" b="0" i="0" dirty="0">
                <a:solidFill>
                  <a:srgbClr val="CCCCCC"/>
                </a:solidFill>
                <a:effectLst/>
                <a:latin typeface="Consolas" panose="020B0609020204030204" pitchFamily="49" charset="0"/>
              </a:rPr>
              <a:t>(</a:t>
            </a:r>
            <a:r>
              <a:rPr lang="en-US" b="0" i="0" dirty="0">
                <a:solidFill>
                  <a:srgbClr val="7EC699"/>
                </a:solidFill>
                <a:effectLst/>
                <a:latin typeface="Consolas" panose="020B0609020204030204" pitchFamily="49" charset="0"/>
              </a:rPr>
              <a:t>"one"</a:t>
            </a:r>
            <a:r>
              <a:rPr lang="en-US" b="0" i="0" dirty="0">
                <a:solidFill>
                  <a:srgbClr val="CCCCCC"/>
                </a:solidFill>
                <a:effectLst/>
                <a:latin typeface="Consolas" panose="020B0609020204030204" pitchFamily="49" charset="0"/>
              </a:rPr>
              <a:t>)) {</a:t>
            </a:r>
          </a:p>
          <a:p>
            <a:pPr algn="l" latinLnBrk="0">
              <a:buNone/>
            </a:pPr>
            <a:r>
              <a:rPr lang="en-US" b="0" i="0" dirty="0">
                <a:solidFill>
                  <a:srgbClr val="CCCCCC"/>
                </a:solidFill>
                <a:effectLst/>
                <a:latin typeface="Consolas" panose="020B0609020204030204" pitchFamily="49" charset="0"/>
              </a:rPr>
              <a:t>    </a:t>
            </a:r>
            <a:r>
              <a:rPr lang="en-US" b="0" i="0" dirty="0" err="1">
                <a:solidFill>
                  <a:srgbClr val="CCCCCC"/>
                </a:solidFill>
                <a:effectLst/>
                <a:latin typeface="Consolas" panose="020B0609020204030204" pitchFamily="49" charset="0"/>
              </a:rPr>
              <a:t>IO.</a:t>
            </a:r>
            <a:r>
              <a:rPr lang="en-US" b="0" i="0" dirty="0" err="1">
                <a:solidFill>
                  <a:srgbClr val="F08D49"/>
                </a:solidFill>
                <a:effectLst/>
                <a:latin typeface="Consolas" panose="020B0609020204030204" pitchFamily="49" charset="0"/>
              </a:rPr>
              <a:t>println</a:t>
            </a:r>
            <a:r>
              <a:rPr lang="en-US" b="0" i="0" dirty="0">
                <a:solidFill>
                  <a:srgbClr val="CCCCCC"/>
                </a:solidFill>
                <a:effectLst/>
                <a:latin typeface="Consolas" panose="020B0609020204030204" pitchFamily="49" charset="0"/>
              </a:rPr>
              <a:t>(</a:t>
            </a:r>
            <a:r>
              <a:rPr lang="en-US" b="0" i="0" dirty="0">
                <a:solidFill>
                  <a:srgbClr val="7EC699"/>
                </a:solidFill>
                <a:effectLst/>
                <a:latin typeface="Consolas" panose="020B0609020204030204" pitchFamily="49" charset="0"/>
              </a:rPr>
              <a:t>"one is here"</a:t>
            </a:r>
            <a:r>
              <a:rPr lang="en-US" b="0" i="0" dirty="0">
                <a:solidFill>
                  <a:srgbClr val="CCCCCC"/>
                </a:solidFill>
                <a:effectLst/>
                <a:latin typeface="Consolas" panose="020B0609020204030204" pitchFamily="49" charset="0"/>
              </a:rPr>
              <a:t>);</a:t>
            </a:r>
          </a:p>
          <a:p>
            <a:pPr algn="l" latinLnBrk="0">
              <a:buNone/>
            </a:pPr>
            <a:r>
              <a:rPr lang="en-US" b="0" i="0" dirty="0">
                <a:solidFill>
                  <a:srgbClr val="CCCCCC"/>
                </a:solidFill>
                <a:effectLst/>
                <a:latin typeface="Consolas" panose="020B0609020204030204" pitchFamily="49" charset="0"/>
              </a:rPr>
              <a:t>}</a:t>
            </a:r>
          </a:p>
          <a:p>
            <a:pPr algn="l" latinLnBrk="0">
              <a:buNone/>
            </a:pPr>
            <a:r>
              <a:rPr lang="en-US" b="0" i="0" dirty="0">
                <a:solidFill>
                  <a:srgbClr val="CC99CD"/>
                </a:solidFill>
                <a:effectLst/>
                <a:latin typeface="Consolas" panose="020B0609020204030204" pitchFamily="49" charset="0"/>
              </a:rPr>
              <a:t>if</a:t>
            </a:r>
            <a:r>
              <a:rPr lang="en-US" b="0" i="0" dirty="0">
                <a:solidFill>
                  <a:srgbClr val="CCCCCC"/>
                </a:solidFill>
                <a:effectLst/>
                <a:latin typeface="Consolas" panose="020B0609020204030204" pitchFamily="49" charset="0"/>
              </a:rPr>
              <a:t> (</a:t>
            </a:r>
            <a:r>
              <a:rPr lang="en-US" b="0" i="0" dirty="0">
                <a:solidFill>
                  <a:srgbClr val="67CDCC"/>
                </a:solidFill>
                <a:effectLst/>
                <a:latin typeface="Consolas" panose="020B0609020204030204" pitchFamily="49" charset="0"/>
              </a:rPr>
              <a:t>!</a:t>
            </a:r>
            <a:r>
              <a:rPr lang="en-US" b="0" i="0" dirty="0" err="1">
                <a:solidFill>
                  <a:srgbClr val="CCCCCC"/>
                </a:solidFill>
                <a:effectLst/>
                <a:latin typeface="Consolas" panose="020B0609020204030204" pitchFamily="49" charset="0"/>
              </a:rPr>
              <a:t>strings.</a:t>
            </a:r>
            <a:r>
              <a:rPr lang="en-US" b="0" i="0" dirty="0" err="1">
                <a:solidFill>
                  <a:srgbClr val="F08D49"/>
                </a:solidFill>
                <a:effectLst/>
                <a:latin typeface="Consolas" panose="020B0609020204030204" pitchFamily="49" charset="0"/>
              </a:rPr>
              <a:t>contains</a:t>
            </a:r>
            <a:r>
              <a:rPr lang="en-US" b="0" i="0" dirty="0">
                <a:solidFill>
                  <a:srgbClr val="CCCCCC"/>
                </a:solidFill>
                <a:effectLst/>
                <a:latin typeface="Consolas" panose="020B0609020204030204" pitchFamily="49" charset="0"/>
              </a:rPr>
              <a:t>(</a:t>
            </a:r>
            <a:r>
              <a:rPr lang="en-US" b="0" i="0" dirty="0">
                <a:solidFill>
                  <a:srgbClr val="7EC699"/>
                </a:solidFill>
                <a:effectLst/>
                <a:latin typeface="Consolas" panose="020B0609020204030204" pitchFamily="49" charset="0"/>
              </a:rPr>
              <a:t>"three"</a:t>
            </a:r>
            <a:r>
              <a:rPr lang="en-US" b="0" i="0" dirty="0">
                <a:solidFill>
                  <a:srgbClr val="CCCCCC"/>
                </a:solidFill>
                <a:effectLst/>
                <a:latin typeface="Consolas" panose="020B0609020204030204" pitchFamily="49" charset="0"/>
              </a:rPr>
              <a:t>)) {</a:t>
            </a:r>
          </a:p>
          <a:p>
            <a:pPr algn="l" latinLnBrk="0">
              <a:buNone/>
            </a:pPr>
            <a:r>
              <a:rPr lang="en-US" b="0" i="0" dirty="0">
                <a:solidFill>
                  <a:srgbClr val="CCCCCC"/>
                </a:solidFill>
                <a:effectLst/>
                <a:latin typeface="Consolas" panose="020B0609020204030204" pitchFamily="49" charset="0"/>
              </a:rPr>
              <a:t>    </a:t>
            </a:r>
            <a:r>
              <a:rPr lang="en-US" b="0" i="0" dirty="0" err="1">
                <a:solidFill>
                  <a:srgbClr val="CCCCCC"/>
                </a:solidFill>
                <a:effectLst/>
                <a:latin typeface="Consolas" panose="020B0609020204030204" pitchFamily="49" charset="0"/>
              </a:rPr>
              <a:t>IO.</a:t>
            </a:r>
            <a:r>
              <a:rPr lang="en-US" b="0" i="0" dirty="0" err="1">
                <a:solidFill>
                  <a:srgbClr val="F08D49"/>
                </a:solidFill>
                <a:effectLst/>
                <a:latin typeface="Consolas" panose="020B0609020204030204" pitchFamily="49" charset="0"/>
              </a:rPr>
              <a:t>println</a:t>
            </a:r>
            <a:r>
              <a:rPr lang="en-US" b="0" i="0" dirty="0">
                <a:solidFill>
                  <a:srgbClr val="CCCCCC"/>
                </a:solidFill>
                <a:effectLst/>
                <a:latin typeface="Consolas" panose="020B0609020204030204" pitchFamily="49" charset="0"/>
              </a:rPr>
              <a:t>(</a:t>
            </a:r>
            <a:r>
              <a:rPr lang="en-US" b="0" i="0" dirty="0">
                <a:solidFill>
                  <a:srgbClr val="7EC699"/>
                </a:solidFill>
                <a:effectLst/>
                <a:latin typeface="Consolas" panose="020B0609020204030204" pitchFamily="49" charset="0"/>
              </a:rPr>
              <a:t>"three is not here"</a:t>
            </a:r>
            <a:r>
              <a:rPr lang="en-US" b="0" i="0" dirty="0">
                <a:solidFill>
                  <a:srgbClr val="CCCCCC"/>
                </a:solidFill>
                <a:effectLst/>
                <a:latin typeface="Consolas" panose="020B0609020204030204" pitchFamily="49" charset="0"/>
              </a:rPr>
              <a:t>);</a:t>
            </a:r>
          </a:p>
          <a:p>
            <a:pPr algn="l" latinLnBrk="0">
              <a:buNone/>
            </a:pPr>
            <a:r>
              <a:rPr lang="en-US" b="0" i="0" dirty="0">
                <a:solidFill>
                  <a:srgbClr val="CCCCCC"/>
                </a:solidFill>
                <a:effectLst/>
                <a:latin typeface="Consolas" panose="020B0609020204030204" pitchFamily="49" charset="0"/>
              </a:rPr>
              <a:t>}</a:t>
            </a:r>
          </a:p>
          <a:p>
            <a:pPr algn="l" latinLnBrk="0">
              <a:buNone/>
            </a:pPr>
            <a:endParaRPr lang="en-US" b="0" i="0" dirty="0">
              <a:solidFill>
                <a:srgbClr val="CCCCCC"/>
              </a:solidFill>
              <a:effectLst/>
              <a:latin typeface="Consolas" panose="020B0609020204030204" pitchFamily="49" charset="0"/>
            </a:endParaRPr>
          </a:p>
          <a:p>
            <a:pPr algn="l" latinLnBrk="0">
              <a:buNone/>
            </a:pPr>
            <a:r>
              <a:rPr lang="en-US" b="0" i="0" dirty="0">
                <a:solidFill>
                  <a:srgbClr val="F8C555"/>
                </a:solidFill>
                <a:effectLst/>
                <a:latin typeface="Consolas" panose="020B0609020204030204" pitchFamily="49" charset="0"/>
              </a:rPr>
              <a:t>User</a:t>
            </a:r>
            <a:r>
              <a:rPr lang="en-US" b="0" i="0" dirty="0">
                <a:solidFill>
                  <a:srgbClr val="CCCCCC"/>
                </a:solidFill>
                <a:effectLst/>
                <a:latin typeface="Consolas" panose="020B0609020204030204" pitchFamily="49" charset="0"/>
              </a:rPr>
              <a:t> </a:t>
            </a:r>
            <a:r>
              <a:rPr lang="en-US" b="0" i="0" dirty="0" err="1">
                <a:solidFill>
                  <a:srgbClr val="CCCCCC"/>
                </a:solidFill>
                <a:effectLst/>
                <a:latin typeface="Consolas" panose="020B0609020204030204" pitchFamily="49" charset="0"/>
              </a:rPr>
              <a:t>rebecca</a:t>
            </a:r>
            <a:r>
              <a:rPr lang="en-US" b="0" i="0" dirty="0">
                <a:solidFill>
                  <a:srgbClr val="CCCCCC"/>
                </a:solidFill>
                <a:effectLst/>
                <a:latin typeface="Consolas" panose="020B0609020204030204" pitchFamily="49" charset="0"/>
              </a:rPr>
              <a:t> </a:t>
            </a:r>
            <a:r>
              <a:rPr lang="en-US" b="0" i="0" dirty="0">
                <a:solidFill>
                  <a:srgbClr val="67CDCC"/>
                </a:solidFill>
                <a:effectLst/>
                <a:latin typeface="Consolas" panose="020B0609020204030204" pitchFamily="49" charset="0"/>
              </a:rPr>
              <a:t>=</a:t>
            </a:r>
            <a:r>
              <a:rPr lang="en-US" b="0" i="0" dirty="0">
                <a:solidFill>
                  <a:srgbClr val="CCCCCC"/>
                </a:solidFill>
                <a:effectLst/>
                <a:latin typeface="Consolas" panose="020B0609020204030204" pitchFamily="49" charset="0"/>
              </a:rPr>
              <a:t> </a:t>
            </a:r>
            <a:r>
              <a:rPr lang="en-US" b="0" i="0" dirty="0">
                <a:solidFill>
                  <a:srgbClr val="CC99CD"/>
                </a:solidFill>
                <a:effectLst/>
                <a:latin typeface="Consolas" panose="020B0609020204030204" pitchFamily="49" charset="0"/>
              </a:rPr>
              <a:t>new</a:t>
            </a:r>
            <a:r>
              <a:rPr lang="en-US" b="0" i="0" dirty="0">
                <a:solidFill>
                  <a:srgbClr val="CCCCCC"/>
                </a:solidFill>
                <a:effectLst/>
                <a:latin typeface="Consolas" panose="020B0609020204030204" pitchFamily="49" charset="0"/>
              </a:rPr>
              <a:t> </a:t>
            </a:r>
            <a:r>
              <a:rPr lang="en-US" b="0" i="0" dirty="0">
                <a:solidFill>
                  <a:srgbClr val="F8C555"/>
                </a:solidFill>
                <a:effectLst/>
                <a:latin typeface="Consolas" panose="020B0609020204030204" pitchFamily="49" charset="0"/>
              </a:rPr>
              <a:t>User</a:t>
            </a:r>
            <a:r>
              <a:rPr lang="en-US" b="0" i="0" dirty="0">
                <a:solidFill>
                  <a:srgbClr val="CCCCCC"/>
                </a:solidFill>
                <a:effectLst/>
                <a:latin typeface="Consolas" panose="020B0609020204030204" pitchFamily="49" charset="0"/>
              </a:rPr>
              <a:t>(</a:t>
            </a:r>
            <a:r>
              <a:rPr lang="en-US" b="0" i="0" dirty="0">
                <a:solidFill>
                  <a:srgbClr val="7EC699"/>
                </a:solidFill>
                <a:effectLst/>
                <a:latin typeface="Consolas" panose="020B0609020204030204" pitchFamily="49" charset="0"/>
              </a:rPr>
              <a:t>"Rebecca"</a:t>
            </a:r>
            <a:r>
              <a:rPr lang="en-US" b="0" i="0" dirty="0">
                <a:solidFill>
                  <a:srgbClr val="CCCCCC"/>
                </a:solidFill>
                <a:effectLst/>
                <a:latin typeface="Consolas" panose="020B0609020204030204" pitchFamily="49" charset="0"/>
              </a:rPr>
              <a:t>);</a:t>
            </a:r>
          </a:p>
          <a:p>
            <a:pPr algn="l" latinLnBrk="0">
              <a:buNone/>
            </a:pPr>
            <a:r>
              <a:rPr lang="en-US" b="0" i="0" dirty="0">
                <a:solidFill>
                  <a:srgbClr val="CC99CD"/>
                </a:solidFill>
                <a:effectLst/>
                <a:latin typeface="Consolas" panose="020B0609020204030204" pitchFamily="49" charset="0"/>
              </a:rPr>
              <a:t>if</a:t>
            </a:r>
            <a:r>
              <a:rPr lang="en-US" b="0" i="0" dirty="0">
                <a:solidFill>
                  <a:srgbClr val="CCCCCC"/>
                </a:solidFill>
                <a:effectLst/>
                <a:latin typeface="Consolas" panose="020B0609020204030204" pitchFamily="49" charset="0"/>
              </a:rPr>
              <a:t> (</a:t>
            </a:r>
            <a:r>
              <a:rPr lang="en-US" b="0" i="0" dirty="0">
                <a:solidFill>
                  <a:srgbClr val="67CDCC"/>
                </a:solidFill>
                <a:effectLst/>
                <a:latin typeface="Consolas" panose="020B0609020204030204" pitchFamily="49" charset="0"/>
              </a:rPr>
              <a:t>!</a:t>
            </a:r>
            <a:r>
              <a:rPr lang="en-US" b="0" i="0" dirty="0" err="1">
                <a:solidFill>
                  <a:srgbClr val="CCCCCC"/>
                </a:solidFill>
                <a:effectLst/>
                <a:latin typeface="Consolas" panose="020B0609020204030204" pitchFamily="49" charset="0"/>
              </a:rPr>
              <a:t>strings.</a:t>
            </a:r>
            <a:r>
              <a:rPr lang="en-US" b="0" i="0" dirty="0" err="1">
                <a:solidFill>
                  <a:srgbClr val="F08D49"/>
                </a:solidFill>
                <a:effectLst/>
                <a:latin typeface="Consolas" panose="020B0609020204030204" pitchFamily="49" charset="0"/>
              </a:rPr>
              <a:t>contains</a:t>
            </a:r>
            <a:r>
              <a:rPr lang="en-US" b="0" i="0" dirty="0">
                <a:solidFill>
                  <a:srgbClr val="CCCCCC"/>
                </a:solidFill>
                <a:effectLst/>
                <a:latin typeface="Consolas" panose="020B0609020204030204" pitchFamily="49" charset="0"/>
              </a:rPr>
              <a:t>(</a:t>
            </a:r>
            <a:r>
              <a:rPr lang="en-US" b="0" i="0" dirty="0" err="1">
                <a:solidFill>
                  <a:srgbClr val="CCCCCC"/>
                </a:solidFill>
                <a:effectLst/>
                <a:latin typeface="Consolas" panose="020B0609020204030204" pitchFamily="49" charset="0"/>
              </a:rPr>
              <a:t>rebecca</a:t>
            </a:r>
            <a:r>
              <a:rPr lang="en-US" b="0" i="0" dirty="0">
                <a:solidFill>
                  <a:srgbClr val="CCCCCC"/>
                </a:solidFill>
                <a:effectLst/>
                <a:latin typeface="Consolas" panose="020B0609020204030204" pitchFamily="49" charset="0"/>
              </a:rPr>
              <a:t>)) {</a:t>
            </a:r>
          </a:p>
          <a:p>
            <a:pPr algn="l" latinLnBrk="0">
              <a:buNone/>
            </a:pPr>
            <a:r>
              <a:rPr lang="en-US" b="0" i="0" dirty="0">
                <a:solidFill>
                  <a:srgbClr val="CCCCCC"/>
                </a:solidFill>
                <a:effectLst/>
                <a:latin typeface="Consolas" panose="020B0609020204030204" pitchFamily="49" charset="0"/>
              </a:rPr>
              <a:t>    </a:t>
            </a:r>
            <a:r>
              <a:rPr lang="en-US" b="0" i="0" dirty="0" err="1">
                <a:solidFill>
                  <a:srgbClr val="CCCCCC"/>
                </a:solidFill>
                <a:effectLst/>
                <a:latin typeface="Consolas" panose="020B0609020204030204" pitchFamily="49" charset="0"/>
              </a:rPr>
              <a:t>IO.</a:t>
            </a:r>
            <a:r>
              <a:rPr lang="en-US" b="0" i="0" dirty="0" err="1">
                <a:solidFill>
                  <a:srgbClr val="F08D49"/>
                </a:solidFill>
                <a:effectLst/>
                <a:latin typeface="Consolas" panose="020B0609020204030204" pitchFamily="49" charset="0"/>
              </a:rPr>
              <a:t>println</a:t>
            </a:r>
            <a:r>
              <a:rPr lang="en-US" b="0" i="0" dirty="0">
                <a:solidFill>
                  <a:srgbClr val="CCCCCC"/>
                </a:solidFill>
                <a:effectLst/>
                <a:latin typeface="Consolas" panose="020B0609020204030204" pitchFamily="49" charset="0"/>
              </a:rPr>
              <a:t>(</a:t>
            </a:r>
            <a:r>
              <a:rPr lang="en-US" b="0" i="0" dirty="0">
                <a:solidFill>
                  <a:srgbClr val="7EC699"/>
                </a:solidFill>
                <a:effectLst/>
                <a:latin typeface="Consolas" panose="020B0609020204030204" pitchFamily="49" charset="0"/>
              </a:rPr>
              <a:t>"Rebecca is not here"</a:t>
            </a:r>
            <a:r>
              <a:rPr lang="en-US" b="0" i="0" dirty="0">
                <a:solidFill>
                  <a:srgbClr val="CCCCCC"/>
                </a:solidFill>
                <a:effectLst/>
                <a:latin typeface="Consolas" panose="020B0609020204030204" pitchFamily="49" charset="0"/>
              </a:rPr>
              <a:t>);</a:t>
            </a:r>
          </a:p>
          <a:p>
            <a:pPr algn="l" latinLnBrk="0">
              <a:buNone/>
            </a:pPr>
            <a:r>
              <a:rPr lang="en-US" b="0" i="0" dirty="0">
                <a:solidFill>
                  <a:srgbClr val="CCCCCC"/>
                </a:solidFill>
                <a:effectLst/>
                <a:latin typeface="Consolas" panose="020B0609020204030204" pitchFamily="49" charset="0"/>
              </a:rPr>
              <a:t>}</a:t>
            </a:r>
          </a:p>
          <a:p>
            <a:pPr algn="l">
              <a:buNone/>
            </a:pPr>
            <a:r>
              <a:rPr lang="en-US" b="0" i="0" dirty="0">
                <a:solidFill>
                  <a:srgbClr val="131516"/>
                </a:solidFill>
                <a:effectLst/>
                <a:latin typeface="system-ui"/>
              </a:rPr>
              <a:t>Running this code produces the following:</a:t>
            </a:r>
          </a:p>
          <a:p>
            <a:pPr algn="l" latinLnBrk="0">
              <a:buNone/>
            </a:pPr>
            <a:r>
              <a:rPr lang="en-US" b="0" i="0" dirty="0">
                <a:solidFill>
                  <a:srgbClr val="CCCCCC"/>
                </a:solidFill>
                <a:effectLst/>
                <a:latin typeface="Consolas" panose="020B0609020204030204" pitchFamily="49" charset="0"/>
              </a:rPr>
              <a:t>one is here</a:t>
            </a:r>
          </a:p>
          <a:p>
            <a:pPr algn="l" latinLnBrk="0">
              <a:buNone/>
            </a:pPr>
            <a:r>
              <a:rPr lang="en-US" b="0" i="0" dirty="0">
                <a:solidFill>
                  <a:srgbClr val="CCCCCC"/>
                </a:solidFill>
                <a:effectLst/>
                <a:latin typeface="Consolas" panose="020B0609020204030204" pitchFamily="49" charset="0"/>
              </a:rPr>
              <a:t>three is not here</a:t>
            </a:r>
          </a:p>
          <a:p>
            <a:pPr algn="l" latinLnBrk="0">
              <a:buNone/>
            </a:pPr>
            <a:r>
              <a:rPr lang="en-US" b="0" i="0" dirty="0">
                <a:solidFill>
                  <a:srgbClr val="CCCCCC"/>
                </a:solidFill>
                <a:effectLst/>
                <a:latin typeface="Consolas" panose="020B0609020204030204" pitchFamily="49" charset="0"/>
              </a:rPr>
              <a:t>Rebecca is not here</a:t>
            </a:r>
          </a:p>
          <a:p>
            <a:pPr algn="l">
              <a:buNone/>
            </a:pPr>
            <a:r>
              <a:rPr lang="en-US" b="0" i="0" u="none" strike="noStrike" dirty="0">
                <a:solidFill>
                  <a:srgbClr val="131516"/>
                </a:solidFill>
                <a:effectLst/>
                <a:latin typeface="system-ui"/>
              </a:rPr>
              <a:t> </a:t>
            </a:r>
            <a:endParaRPr lang="en-US" b="0" i="0" dirty="0">
              <a:solidFill>
                <a:srgbClr val="131516"/>
              </a:solidFill>
              <a:effectLst/>
              <a:latin typeface="system-ui"/>
            </a:endParaRPr>
          </a:p>
        </p:txBody>
      </p:sp>
    </p:spTree>
    <p:extLst>
      <p:ext uri="{BB962C8B-B14F-4D97-AF65-F5344CB8AC3E}">
        <p14:creationId xmlns:p14="http://schemas.microsoft.com/office/powerpoint/2010/main" val="257660121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DFA2E1-576C-32BC-AEE3-90D643755F8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36DF310-4EB2-74B9-271D-AFB758F6E2BB}"/>
              </a:ext>
            </a:extLst>
          </p:cNvPr>
          <p:cNvSpPr txBox="1"/>
          <p:nvPr/>
        </p:nvSpPr>
        <p:spPr>
          <a:xfrm>
            <a:off x="3048000" y="-18131396"/>
            <a:ext cx="6096000" cy="43129756"/>
          </a:xfrm>
          <a:prstGeom prst="rect">
            <a:avLst/>
          </a:prstGeom>
          <a:noFill/>
        </p:spPr>
        <p:txBody>
          <a:bodyPr wrap="square">
            <a:spAutoFit/>
          </a:bodyPr>
          <a:lstStyle/>
          <a:p>
            <a:pPr algn="l">
              <a:spcBef>
                <a:spcPts val="3750"/>
              </a:spcBef>
              <a:spcAft>
                <a:spcPts val="1500"/>
              </a:spcAft>
              <a:buNone/>
            </a:pPr>
            <a:r>
              <a:rPr lang="en-US" b="1" i="0" dirty="0">
                <a:solidFill>
                  <a:srgbClr val="131516"/>
                </a:solidFill>
                <a:effectLst/>
                <a:latin typeface="system-ui"/>
              </a:rPr>
              <a:t>Methods That Handle Other Collections</a:t>
            </a:r>
          </a:p>
          <a:p>
            <a:pPr algn="l">
              <a:buNone/>
            </a:pPr>
            <a:r>
              <a:rPr lang="en-US" b="0" i="0" dirty="0">
                <a:solidFill>
                  <a:srgbClr val="131516"/>
                </a:solidFill>
                <a:effectLst/>
                <a:latin typeface="system-ui"/>
              </a:rPr>
              <a:t>This first set of methods you saw allows you to handle individual elements.</a:t>
            </a:r>
          </a:p>
          <a:p>
            <a:pPr algn="l">
              <a:buNone/>
            </a:pPr>
            <a:r>
              <a:rPr lang="en-US" b="0" i="0" dirty="0">
                <a:solidFill>
                  <a:srgbClr val="131516"/>
                </a:solidFill>
                <a:effectLst/>
                <a:latin typeface="system-ui"/>
              </a:rPr>
              <a:t>There are four such methods: </a:t>
            </a:r>
            <a:r>
              <a:rPr lang="en-US" b="0" i="0" u="sng" dirty="0" err="1">
                <a:solidFill>
                  <a:srgbClr val="3A75B0"/>
                </a:solidFill>
                <a:effectLst/>
                <a:latin typeface="SFMono-Regular"/>
                <a:hlinkClick r:id="rId2"/>
              </a:rPr>
              <a:t>containsAll</a:t>
            </a:r>
            <a:r>
              <a:rPr lang="en-US" b="0" i="0" u="sng" dirty="0">
                <a:solidFill>
                  <a:srgbClr val="3A75B0"/>
                </a:solidFill>
                <a:effectLst/>
                <a:latin typeface="SFMono-Regular"/>
                <a:hlinkClick r:id="rId2"/>
              </a:rPr>
              <a:t>()</a:t>
            </a:r>
            <a:r>
              <a:rPr lang="en-US" b="0" i="0" dirty="0">
                <a:solidFill>
                  <a:srgbClr val="131516"/>
                </a:solidFill>
                <a:effectLst/>
                <a:latin typeface="system-ui"/>
              </a:rPr>
              <a:t>, </a:t>
            </a:r>
            <a:r>
              <a:rPr lang="en-US" b="0" i="0" u="sng" dirty="0" err="1">
                <a:solidFill>
                  <a:srgbClr val="3A75B0"/>
                </a:solidFill>
                <a:effectLst/>
                <a:latin typeface="SFMono-Regular"/>
                <a:hlinkClick r:id="rId3"/>
              </a:rPr>
              <a:t>addAll</a:t>
            </a:r>
            <a:r>
              <a:rPr lang="en-US" b="0" i="0" u="sng" dirty="0">
                <a:solidFill>
                  <a:srgbClr val="3A75B0"/>
                </a:solidFill>
                <a:effectLst/>
                <a:latin typeface="SFMono-Regular"/>
                <a:hlinkClick r:id="rId3"/>
              </a:rPr>
              <a:t>()</a:t>
            </a:r>
            <a:r>
              <a:rPr lang="en-US" b="0" i="0" dirty="0">
                <a:solidFill>
                  <a:srgbClr val="131516"/>
                </a:solidFill>
                <a:effectLst/>
                <a:latin typeface="system-ui"/>
              </a:rPr>
              <a:t>, </a:t>
            </a:r>
            <a:r>
              <a:rPr lang="en-US" b="0" i="0" u="sng" dirty="0" err="1">
                <a:solidFill>
                  <a:srgbClr val="3A75B0"/>
                </a:solidFill>
                <a:effectLst/>
                <a:latin typeface="SFMono-Regular"/>
                <a:hlinkClick r:id="rId4"/>
              </a:rPr>
              <a:t>removeAll</a:t>
            </a:r>
            <a:r>
              <a:rPr lang="en-US" b="0" i="0" u="sng" dirty="0">
                <a:solidFill>
                  <a:srgbClr val="3A75B0"/>
                </a:solidFill>
                <a:effectLst/>
                <a:latin typeface="SFMono-Regular"/>
                <a:hlinkClick r:id="rId4"/>
              </a:rPr>
              <a:t>()</a:t>
            </a:r>
            <a:r>
              <a:rPr lang="en-US" b="0" i="0" dirty="0">
                <a:solidFill>
                  <a:srgbClr val="131516"/>
                </a:solidFill>
                <a:effectLst/>
                <a:latin typeface="system-ui"/>
              </a:rPr>
              <a:t> and </a:t>
            </a:r>
            <a:r>
              <a:rPr lang="en-US" b="0" i="0" u="sng" dirty="0" err="1">
                <a:solidFill>
                  <a:srgbClr val="3A75B0"/>
                </a:solidFill>
                <a:effectLst/>
                <a:latin typeface="SFMono-Regular"/>
                <a:hlinkClick r:id="rId5"/>
              </a:rPr>
              <a:t>retainAll</a:t>
            </a:r>
            <a:r>
              <a:rPr lang="en-US" b="0" i="0" u="sng" dirty="0">
                <a:solidFill>
                  <a:srgbClr val="3A75B0"/>
                </a:solidFill>
                <a:effectLst/>
                <a:latin typeface="SFMono-Regular"/>
                <a:hlinkClick r:id="rId5"/>
              </a:rPr>
              <a:t>()</a:t>
            </a:r>
            <a:r>
              <a:rPr lang="en-US" b="0" i="0" dirty="0">
                <a:solidFill>
                  <a:srgbClr val="131516"/>
                </a:solidFill>
                <a:effectLst/>
                <a:latin typeface="system-ui"/>
              </a:rPr>
              <a:t>. They define the four fundamental operations on set of objects.</a:t>
            </a:r>
          </a:p>
          <a:p>
            <a:pPr algn="l">
              <a:spcBef>
                <a:spcPts val="750"/>
              </a:spcBef>
              <a:buFont typeface="Arial" panose="020B0604020202020204" pitchFamily="34" charset="0"/>
              <a:buChar char="•"/>
            </a:pPr>
            <a:r>
              <a:rPr lang="en-US" b="0" i="0" u="sng" dirty="0" err="1">
                <a:solidFill>
                  <a:srgbClr val="3A75B0"/>
                </a:solidFill>
                <a:effectLst/>
                <a:latin typeface="SFMono-Regular"/>
                <a:hlinkClick r:id="rId2"/>
              </a:rPr>
              <a:t>containsAll</a:t>
            </a:r>
            <a:r>
              <a:rPr lang="en-US" b="0" i="0" u="sng" dirty="0">
                <a:solidFill>
                  <a:srgbClr val="3A75B0"/>
                </a:solidFill>
                <a:effectLst/>
                <a:latin typeface="SFMono-Regular"/>
                <a:hlinkClick r:id="rId2"/>
              </a:rPr>
              <a:t>()</a:t>
            </a:r>
            <a:r>
              <a:rPr lang="en-US" b="0" i="0" dirty="0">
                <a:solidFill>
                  <a:srgbClr val="131516"/>
                </a:solidFill>
                <a:effectLst/>
                <a:latin typeface="system-ui"/>
              </a:rPr>
              <a:t>: defines the inclusion</a:t>
            </a:r>
          </a:p>
          <a:p>
            <a:pPr algn="l">
              <a:spcBef>
                <a:spcPts val="750"/>
              </a:spcBef>
              <a:buFont typeface="Arial" panose="020B0604020202020204" pitchFamily="34" charset="0"/>
              <a:buChar char="•"/>
            </a:pPr>
            <a:r>
              <a:rPr lang="en-US" b="0" i="0" u="sng" dirty="0" err="1">
                <a:solidFill>
                  <a:srgbClr val="3A75B0"/>
                </a:solidFill>
                <a:effectLst/>
                <a:latin typeface="SFMono-Regular"/>
                <a:hlinkClick r:id="rId3"/>
              </a:rPr>
              <a:t>addAll</a:t>
            </a:r>
            <a:r>
              <a:rPr lang="en-US" b="0" i="0" u="sng" dirty="0">
                <a:solidFill>
                  <a:srgbClr val="3A75B0"/>
                </a:solidFill>
                <a:effectLst/>
                <a:latin typeface="SFMono-Regular"/>
                <a:hlinkClick r:id="rId3"/>
              </a:rPr>
              <a:t>()</a:t>
            </a:r>
            <a:r>
              <a:rPr lang="en-US" b="0" i="0" dirty="0">
                <a:solidFill>
                  <a:srgbClr val="131516"/>
                </a:solidFill>
                <a:effectLst/>
                <a:latin typeface="system-ui"/>
              </a:rPr>
              <a:t>: defines the union</a:t>
            </a:r>
          </a:p>
          <a:p>
            <a:pPr algn="l">
              <a:spcBef>
                <a:spcPts val="750"/>
              </a:spcBef>
              <a:buFont typeface="Arial" panose="020B0604020202020204" pitchFamily="34" charset="0"/>
              <a:buChar char="•"/>
            </a:pPr>
            <a:r>
              <a:rPr lang="en-US" b="0" i="0" u="sng" dirty="0" err="1">
                <a:solidFill>
                  <a:srgbClr val="3A75B0"/>
                </a:solidFill>
                <a:effectLst/>
                <a:latin typeface="SFMono-Regular"/>
                <a:hlinkClick r:id="rId4"/>
              </a:rPr>
              <a:t>removeAll</a:t>
            </a:r>
            <a:r>
              <a:rPr lang="en-US" b="0" i="0" u="sng" dirty="0">
                <a:solidFill>
                  <a:srgbClr val="3A75B0"/>
                </a:solidFill>
                <a:effectLst/>
                <a:latin typeface="SFMono-Regular"/>
                <a:hlinkClick r:id="rId4"/>
              </a:rPr>
              <a:t>()</a:t>
            </a:r>
            <a:r>
              <a:rPr lang="en-US" b="0" i="0" dirty="0">
                <a:solidFill>
                  <a:srgbClr val="131516"/>
                </a:solidFill>
                <a:effectLst/>
                <a:latin typeface="system-ui"/>
              </a:rPr>
              <a:t>: defines the complement</a:t>
            </a:r>
          </a:p>
          <a:p>
            <a:pPr algn="l">
              <a:spcBef>
                <a:spcPts val="750"/>
              </a:spcBef>
              <a:buFont typeface="Arial" panose="020B0604020202020204" pitchFamily="34" charset="0"/>
              <a:buChar char="•"/>
            </a:pPr>
            <a:r>
              <a:rPr lang="en-US" b="0" i="0" u="sng" dirty="0" err="1">
                <a:solidFill>
                  <a:srgbClr val="3A75B0"/>
                </a:solidFill>
                <a:effectLst/>
                <a:latin typeface="SFMono-Regular"/>
                <a:hlinkClick r:id="rId5"/>
              </a:rPr>
              <a:t>retainAll</a:t>
            </a:r>
            <a:r>
              <a:rPr lang="en-US" b="0" i="0" u="sng" dirty="0">
                <a:solidFill>
                  <a:srgbClr val="3A75B0"/>
                </a:solidFill>
                <a:effectLst/>
                <a:latin typeface="SFMono-Regular"/>
                <a:hlinkClick r:id="rId5"/>
              </a:rPr>
              <a:t>()</a:t>
            </a:r>
            <a:r>
              <a:rPr lang="en-US" b="0" i="0" dirty="0">
                <a:solidFill>
                  <a:srgbClr val="131516"/>
                </a:solidFill>
                <a:effectLst/>
                <a:latin typeface="system-ui"/>
              </a:rPr>
              <a:t>: defines the intersection.</a:t>
            </a:r>
          </a:p>
          <a:p>
            <a:pPr algn="l">
              <a:buNone/>
            </a:pPr>
            <a:r>
              <a:rPr lang="en-US" b="0" i="0" dirty="0">
                <a:solidFill>
                  <a:srgbClr val="131516"/>
                </a:solidFill>
                <a:effectLst/>
                <a:latin typeface="system-ui"/>
              </a:rPr>
              <a:t>The first one is really simple: </a:t>
            </a:r>
            <a:r>
              <a:rPr lang="en-US" b="0" i="0" u="sng" dirty="0" err="1">
                <a:solidFill>
                  <a:srgbClr val="3A75B0"/>
                </a:solidFill>
                <a:effectLst/>
                <a:latin typeface="SFMono-Regular"/>
                <a:hlinkClick r:id="rId2"/>
              </a:rPr>
              <a:t>containsAll</a:t>
            </a:r>
            <a:r>
              <a:rPr lang="en-US" b="0" i="0" u="sng" dirty="0">
                <a:solidFill>
                  <a:srgbClr val="3A75B0"/>
                </a:solidFill>
                <a:effectLst/>
                <a:latin typeface="SFMono-Regular"/>
                <a:hlinkClick r:id="rId2"/>
              </a:rPr>
              <a:t>()</a:t>
            </a:r>
            <a:r>
              <a:rPr lang="en-US" b="0" i="0" dirty="0">
                <a:solidFill>
                  <a:srgbClr val="131516"/>
                </a:solidFill>
                <a:effectLst/>
                <a:latin typeface="system-ui"/>
              </a:rPr>
              <a:t> takes another collection as an argument and returns </a:t>
            </a:r>
            <a:r>
              <a:rPr lang="en-US" b="0" i="0" dirty="0">
                <a:solidFill>
                  <a:srgbClr val="E76F00"/>
                </a:solidFill>
                <a:effectLst/>
                <a:latin typeface="SFMono-Regular"/>
              </a:rPr>
              <a:t>true</a:t>
            </a:r>
            <a:r>
              <a:rPr lang="en-US" b="0" i="0" dirty="0">
                <a:solidFill>
                  <a:srgbClr val="131516"/>
                </a:solidFill>
                <a:effectLst/>
                <a:latin typeface="system-ui"/>
              </a:rPr>
              <a:t> if all the elements of the other collections are contained in this collection. The collection passed as an argument does not have to be the same type as this collection: it is legal to ask if a collection of </a:t>
            </a:r>
            <a:r>
              <a:rPr lang="en-US" b="0" i="0" u="sng" dirty="0">
                <a:solidFill>
                  <a:srgbClr val="3A75B0"/>
                </a:solidFill>
                <a:effectLst/>
                <a:latin typeface="SFMono-Regular"/>
                <a:hlinkClick r:id="rId6"/>
              </a:rPr>
              <a:t>String</a:t>
            </a:r>
            <a:r>
              <a:rPr lang="en-US" b="0" i="0" dirty="0">
                <a:solidFill>
                  <a:srgbClr val="131516"/>
                </a:solidFill>
                <a:effectLst/>
                <a:latin typeface="system-ui"/>
              </a:rPr>
              <a:t>, of type </a:t>
            </a:r>
            <a:r>
              <a:rPr lang="en-US" b="0" i="0" u="sng" dirty="0">
                <a:solidFill>
                  <a:srgbClr val="3A75B0"/>
                </a:solidFill>
                <a:effectLst/>
                <a:latin typeface="SFMono-Regular"/>
                <a:hlinkClick r:id="rId7"/>
              </a:rPr>
              <a:t>Collection&lt;String&gt;</a:t>
            </a:r>
            <a:r>
              <a:rPr lang="en-US" b="0" i="0" dirty="0">
                <a:solidFill>
                  <a:srgbClr val="131516"/>
                </a:solidFill>
                <a:effectLst/>
                <a:latin typeface="system-ui"/>
              </a:rPr>
              <a:t> is contained in a collection of </a:t>
            </a:r>
            <a:r>
              <a:rPr lang="en-US" b="0" i="0" dirty="0">
                <a:solidFill>
                  <a:srgbClr val="E76F00"/>
                </a:solidFill>
                <a:effectLst/>
                <a:latin typeface="SFMono-Regular"/>
              </a:rPr>
              <a:t>User</a:t>
            </a:r>
            <a:r>
              <a:rPr lang="en-US" b="0" i="0" dirty="0">
                <a:solidFill>
                  <a:srgbClr val="131516"/>
                </a:solidFill>
                <a:effectLst/>
                <a:latin typeface="system-ui"/>
              </a:rPr>
              <a:t>, of type </a:t>
            </a:r>
            <a:r>
              <a:rPr lang="en-US" b="0" i="0" u="sng" dirty="0">
                <a:solidFill>
                  <a:srgbClr val="3A75B0"/>
                </a:solidFill>
                <a:effectLst/>
                <a:latin typeface="SFMono-Regular"/>
                <a:hlinkClick r:id="rId7"/>
              </a:rPr>
              <a:t>Collection&lt;User&gt;</a:t>
            </a:r>
            <a:r>
              <a:rPr lang="en-US" b="0" i="0" dirty="0">
                <a:solidFill>
                  <a:srgbClr val="131516"/>
                </a:solidFill>
                <a:effectLst/>
                <a:latin typeface="system-ui"/>
              </a:rPr>
              <a:t>.</a:t>
            </a:r>
          </a:p>
          <a:p>
            <a:pPr algn="l">
              <a:buNone/>
            </a:pPr>
            <a:r>
              <a:rPr lang="en-US" b="0" i="0" dirty="0">
                <a:solidFill>
                  <a:srgbClr val="131516"/>
                </a:solidFill>
                <a:effectLst/>
                <a:latin typeface="system-ui"/>
              </a:rPr>
              <a:t>Here is an example of the use of this method:</a:t>
            </a:r>
          </a:p>
          <a:p>
            <a:pPr algn="l" latinLnBrk="0">
              <a:buNone/>
            </a:pPr>
            <a:r>
              <a:rPr lang="en-US" b="0" i="0" dirty="0">
                <a:solidFill>
                  <a:srgbClr val="F8C555"/>
                </a:solidFill>
                <a:effectLst/>
                <a:latin typeface="Consolas" panose="020B0609020204030204" pitchFamily="49" charset="0"/>
              </a:rPr>
              <a:t>Collection</a:t>
            </a:r>
            <a:r>
              <a:rPr lang="en-US" b="0" i="0" dirty="0">
                <a:solidFill>
                  <a:srgbClr val="CCCCCC"/>
                </a:solidFill>
                <a:effectLst/>
                <a:latin typeface="Consolas" panose="020B0609020204030204" pitchFamily="49" charset="0"/>
              </a:rPr>
              <a:t>&lt;</a:t>
            </a:r>
            <a:r>
              <a:rPr lang="en-US" b="0" i="0" dirty="0">
                <a:solidFill>
                  <a:srgbClr val="F8C555"/>
                </a:solidFill>
                <a:effectLst/>
                <a:latin typeface="Consolas" panose="020B0609020204030204" pitchFamily="49" charset="0"/>
              </a:rPr>
              <a:t>String</a:t>
            </a:r>
            <a:r>
              <a:rPr lang="en-US" b="0" i="0" dirty="0">
                <a:solidFill>
                  <a:srgbClr val="CCCCCC"/>
                </a:solidFill>
                <a:effectLst/>
                <a:latin typeface="Consolas" panose="020B0609020204030204" pitchFamily="49" charset="0"/>
              </a:rPr>
              <a:t>&gt; strings </a:t>
            </a:r>
            <a:r>
              <a:rPr lang="en-US" b="0" i="0" dirty="0">
                <a:solidFill>
                  <a:srgbClr val="67CDCC"/>
                </a:solidFill>
                <a:effectLst/>
                <a:latin typeface="Consolas" panose="020B0609020204030204" pitchFamily="49" charset="0"/>
              </a:rPr>
              <a:t>=</a:t>
            </a:r>
            <a:r>
              <a:rPr lang="en-US" b="0" i="0" dirty="0">
                <a:solidFill>
                  <a:srgbClr val="CCCCCC"/>
                </a:solidFill>
                <a:effectLst/>
                <a:latin typeface="Consolas" panose="020B0609020204030204" pitchFamily="49" charset="0"/>
              </a:rPr>
              <a:t> </a:t>
            </a:r>
            <a:r>
              <a:rPr lang="en-US" b="0" i="0" dirty="0">
                <a:solidFill>
                  <a:srgbClr val="CC99CD"/>
                </a:solidFill>
                <a:effectLst/>
                <a:latin typeface="Consolas" panose="020B0609020204030204" pitchFamily="49" charset="0"/>
              </a:rPr>
              <a:t>new</a:t>
            </a:r>
            <a:r>
              <a:rPr lang="en-US" b="0" i="0" dirty="0">
                <a:solidFill>
                  <a:srgbClr val="CCCCCC"/>
                </a:solidFill>
                <a:effectLst/>
                <a:latin typeface="Consolas" panose="020B0609020204030204" pitchFamily="49" charset="0"/>
              </a:rPr>
              <a:t> </a:t>
            </a:r>
            <a:r>
              <a:rPr lang="en-US" b="0" i="0" dirty="0" err="1">
                <a:solidFill>
                  <a:srgbClr val="F8C555"/>
                </a:solidFill>
                <a:effectLst/>
                <a:latin typeface="Consolas" panose="020B0609020204030204" pitchFamily="49" charset="0"/>
              </a:rPr>
              <a:t>ArrayList</a:t>
            </a:r>
            <a:r>
              <a:rPr lang="en-US" b="0" i="0" dirty="0">
                <a:solidFill>
                  <a:srgbClr val="CCCCCC"/>
                </a:solidFill>
                <a:effectLst/>
                <a:latin typeface="Consolas" panose="020B0609020204030204" pitchFamily="49" charset="0"/>
              </a:rPr>
              <a:t>&lt;&gt;();</a:t>
            </a:r>
          </a:p>
          <a:p>
            <a:pPr algn="l" latinLnBrk="0">
              <a:buNone/>
            </a:pPr>
            <a:r>
              <a:rPr lang="en-US" b="0" i="0" dirty="0" err="1">
                <a:solidFill>
                  <a:srgbClr val="CCCCCC"/>
                </a:solidFill>
                <a:effectLst/>
                <a:latin typeface="Consolas" panose="020B0609020204030204" pitchFamily="49" charset="0"/>
              </a:rPr>
              <a:t>strings.</a:t>
            </a:r>
            <a:r>
              <a:rPr lang="en-US" b="0" i="0" dirty="0" err="1">
                <a:solidFill>
                  <a:srgbClr val="F08D49"/>
                </a:solidFill>
                <a:effectLst/>
                <a:latin typeface="Consolas" panose="020B0609020204030204" pitchFamily="49" charset="0"/>
              </a:rPr>
              <a:t>add</a:t>
            </a:r>
            <a:r>
              <a:rPr lang="en-US" b="0" i="0" dirty="0">
                <a:solidFill>
                  <a:srgbClr val="CCCCCC"/>
                </a:solidFill>
                <a:effectLst/>
                <a:latin typeface="Consolas" panose="020B0609020204030204" pitchFamily="49" charset="0"/>
              </a:rPr>
              <a:t>(</a:t>
            </a:r>
            <a:r>
              <a:rPr lang="en-US" b="0" i="0" dirty="0">
                <a:solidFill>
                  <a:srgbClr val="7EC699"/>
                </a:solidFill>
                <a:effectLst/>
                <a:latin typeface="Consolas" panose="020B0609020204030204" pitchFamily="49" charset="0"/>
              </a:rPr>
              <a:t>"one"</a:t>
            </a:r>
            <a:r>
              <a:rPr lang="en-US" b="0" i="0" dirty="0">
                <a:solidFill>
                  <a:srgbClr val="CCCCCC"/>
                </a:solidFill>
                <a:effectLst/>
                <a:latin typeface="Consolas" panose="020B0609020204030204" pitchFamily="49" charset="0"/>
              </a:rPr>
              <a:t>);</a:t>
            </a:r>
          </a:p>
          <a:p>
            <a:pPr algn="l" latinLnBrk="0">
              <a:buNone/>
            </a:pPr>
            <a:r>
              <a:rPr lang="en-US" b="0" i="0" dirty="0" err="1">
                <a:solidFill>
                  <a:srgbClr val="CCCCCC"/>
                </a:solidFill>
                <a:effectLst/>
                <a:latin typeface="Consolas" panose="020B0609020204030204" pitchFamily="49" charset="0"/>
              </a:rPr>
              <a:t>strings.</a:t>
            </a:r>
            <a:r>
              <a:rPr lang="en-US" b="0" i="0" dirty="0" err="1">
                <a:solidFill>
                  <a:srgbClr val="F08D49"/>
                </a:solidFill>
                <a:effectLst/>
                <a:latin typeface="Consolas" panose="020B0609020204030204" pitchFamily="49" charset="0"/>
              </a:rPr>
              <a:t>add</a:t>
            </a:r>
            <a:r>
              <a:rPr lang="en-US" b="0" i="0" dirty="0">
                <a:solidFill>
                  <a:srgbClr val="CCCCCC"/>
                </a:solidFill>
                <a:effectLst/>
                <a:latin typeface="Consolas" panose="020B0609020204030204" pitchFamily="49" charset="0"/>
              </a:rPr>
              <a:t>(</a:t>
            </a:r>
            <a:r>
              <a:rPr lang="en-US" b="0" i="0" dirty="0">
                <a:solidFill>
                  <a:srgbClr val="7EC699"/>
                </a:solidFill>
                <a:effectLst/>
                <a:latin typeface="Consolas" panose="020B0609020204030204" pitchFamily="49" charset="0"/>
              </a:rPr>
              <a:t>"two"</a:t>
            </a:r>
            <a:r>
              <a:rPr lang="en-US" b="0" i="0" dirty="0">
                <a:solidFill>
                  <a:srgbClr val="CCCCCC"/>
                </a:solidFill>
                <a:effectLst/>
                <a:latin typeface="Consolas" panose="020B0609020204030204" pitchFamily="49" charset="0"/>
              </a:rPr>
              <a:t>);</a:t>
            </a:r>
          </a:p>
          <a:p>
            <a:pPr algn="l" latinLnBrk="0">
              <a:buNone/>
            </a:pPr>
            <a:r>
              <a:rPr lang="en-US" b="0" i="0" dirty="0" err="1">
                <a:solidFill>
                  <a:srgbClr val="CCCCCC"/>
                </a:solidFill>
                <a:effectLst/>
                <a:latin typeface="Consolas" panose="020B0609020204030204" pitchFamily="49" charset="0"/>
              </a:rPr>
              <a:t>strings.</a:t>
            </a:r>
            <a:r>
              <a:rPr lang="en-US" b="0" i="0" dirty="0" err="1">
                <a:solidFill>
                  <a:srgbClr val="F08D49"/>
                </a:solidFill>
                <a:effectLst/>
                <a:latin typeface="Consolas" panose="020B0609020204030204" pitchFamily="49" charset="0"/>
              </a:rPr>
              <a:t>add</a:t>
            </a:r>
            <a:r>
              <a:rPr lang="en-US" b="0" i="0" dirty="0">
                <a:solidFill>
                  <a:srgbClr val="CCCCCC"/>
                </a:solidFill>
                <a:effectLst/>
                <a:latin typeface="Consolas" panose="020B0609020204030204" pitchFamily="49" charset="0"/>
              </a:rPr>
              <a:t>(</a:t>
            </a:r>
            <a:r>
              <a:rPr lang="en-US" b="0" i="0" dirty="0">
                <a:solidFill>
                  <a:srgbClr val="7EC699"/>
                </a:solidFill>
                <a:effectLst/>
                <a:latin typeface="Consolas" panose="020B0609020204030204" pitchFamily="49" charset="0"/>
              </a:rPr>
              <a:t>"three"</a:t>
            </a:r>
            <a:r>
              <a:rPr lang="en-US" b="0" i="0" dirty="0">
                <a:solidFill>
                  <a:srgbClr val="CCCCCC"/>
                </a:solidFill>
                <a:effectLst/>
                <a:latin typeface="Consolas" panose="020B0609020204030204" pitchFamily="49" charset="0"/>
              </a:rPr>
              <a:t>);</a:t>
            </a:r>
          </a:p>
          <a:p>
            <a:pPr algn="l" latinLnBrk="0">
              <a:buNone/>
            </a:pPr>
            <a:endParaRPr lang="en-US" b="0" i="0" dirty="0">
              <a:solidFill>
                <a:srgbClr val="CCCCCC"/>
              </a:solidFill>
              <a:effectLst/>
              <a:latin typeface="Consolas" panose="020B0609020204030204" pitchFamily="49" charset="0"/>
            </a:endParaRPr>
          </a:p>
          <a:p>
            <a:pPr algn="l" latinLnBrk="0">
              <a:buNone/>
            </a:pPr>
            <a:r>
              <a:rPr lang="en-US" b="0" i="0" dirty="0">
                <a:solidFill>
                  <a:srgbClr val="F8C555"/>
                </a:solidFill>
                <a:effectLst/>
                <a:latin typeface="Consolas" panose="020B0609020204030204" pitchFamily="49" charset="0"/>
              </a:rPr>
              <a:t>Collection</a:t>
            </a:r>
            <a:r>
              <a:rPr lang="en-US" b="0" i="0" dirty="0">
                <a:solidFill>
                  <a:srgbClr val="CCCCCC"/>
                </a:solidFill>
                <a:effectLst/>
                <a:latin typeface="Consolas" panose="020B0609020204030204" pitchFamily="49" charset="0"/>
              </a:rPr>
              <a:t>&lt;</a:t>
            </a:r>
            <a:r>
              <a:rPr lang="en-US" b="0" i="0" dirty="0">
                <a:solidFill>
                  <a:srgbClr val="F8C555"/>
                </a:solidFill>
                <a:effectLst/>
                <a:latin typeface="Consolas" panose="020B0609020204030204" pitchFamily="49" charset="0"/>
              </a:rPr>
              <a:t>String</a:t>
            </a:r>
            <a:r>
              <a:rPr lang="en-US" b="0" i="0" dirty="0">
                <a:solidFill>
                  <a:srgbClr val="CCCCCC"/>
                </a:solidFill>
                <a:effectLst/>
                <a:latin typeface="Consolas" panose="020B0609020204030204" pitchFamily="49" charset="0"/>
              </a:rPr>
              <a:t>&gt; first </a:t>
            </a:r>
            <a:r>
              <a:rPr lang="en-US" b="0" i="0" dirty="0">
                <a:solidFill>
                  <a:srgbClr val="67CDCC"/>
                </a:solidFill>
                <a:effectLst/>
                <a:latin typeface="Consolas" panose="020B0609020204030204" pitchFamily="49" charset="0"/>
              </a:rPr>
              <a:t>=</a:t>
            </a:r>
            <a:r>
              <a:rPr lang="en-US" b="0" i="0" dirty="0">
                <a:solidFill>
                  <a:srgbClr val="CCCCCC"/>
                </a:solidFill>
                <a:effectLst/>
                <a:latin typeface="Consolas" panose="020B0609020204030204" pitchFamily="49" charset="0"/>
              </a:rPr>
              <a:t> </a:t>
            </a:r>
            <a:r>
              <a:rPr lang="en-US" b="0" i="0" dirty="0">
                <a:solidFill>
                  <a:srgbClr val="CC99CD"/>
                </a:solidFill>
                <a:effectLst/>
                <a:latin typeface="Consolas" panose="020B0609020204030204" pitchFamily="49" charset="0"/>
              </a:rPr>
              <a:t>new</a:t>
            </a:r>
            <a:r>
              <a:rPr lang="en-US" b="0" i="0" dirty="0">
                <a:solidFill>
                  <a:srgbClr val="CCCCCC"/>
                </a:solidFill>
                <a:effectLst/>
                <a:latin typeface="Consolas" panose="020B0609020204030204" pitchFamily="49" charset="0"/>
              </a:rPr>
              <a:t> </a:t>
            </a:r>
            <a:r>
              <a:rPr lang="en-US" b="0" i="0" dirty="0" err="1">
                <a:solidFill>
                  <a:srgbClr val="F8C555"/>
                </a:solidFill>
                <a:effectLst/>
                <a:latin typeface="Consolas" panose="020B0609020204030204" pitchFamily="49" charset="0"/>
              </a:rPr>
              <a:t>ArrayList</a:t>
            </a:r>
            <a:r>
              <a:rPr lang="en-US" b="0" i="0" dirty="0">
                <a:solidFill>
                  <a:srgbClr val="CCCCCC"/>
                </a:solidFill>
                <a:effectLst/>
                <a:latin typeface="Consolas" panose="020B0609020204030204" pitchFamily="49" charset="0"/>
              </a:rPr>
              <a:t>&lt;&gt;();</a:t>
            </a:r>
          </a:p>
          <a:p>
            <a:pPr algn="l" latinLnBrk="0">
              <a:buNone/>
            </a:pPr>
            <a:r>
              <a:rPr lang="en-US" b="0" i="0" dirty="0" err="1">
                <a:solidFill>
                  <a:srgbClr val="CCCCCC"/>
                </a:solidFill>
                <a:effectLst/>
                <a:latin typeface="Consolas" panose="020B0609020204030204" pitchFamily="49" charset="0"/>
              </a:rPr>
              <a:t>first.</a:t>
            </a:r>
            <a:r>
              <a:rPr lang="en-US" b="0" i="0" dirty="0" err="1">
                <a:solidFill>
                  <a:srgbClr val="F08D49"/>
                </a:solidFill>
                <a:effectLst/>
                <a:latin typeface="Consolas" panose="020B0609020204030204" pitchFamily="49" charset="0"/>
              </a:rPr>
              <a:t>add</a:t>
            </a:r>
            <a:r>
              <a:rPr lang="en-US" b="0" i="0" dirty="0">
                <a:solidFill>
                  <a:srgbClr val="CCCCCC"/>
                </a:solidFill>
                <a:effectLst/>
                <a:latin typeface="Consolas" panose="020B0609020204030204" pitchFamily="49" charset="0"/>
              </a:rPr>
              <a:t>(</a:t>
            </a:r>
            <a:r>
              <a:rPr lang="en-US" b="0" i="0" dirty="0">
                <a:solidFill>
                  <a:srgbClr val="7EC699"/>
                </a:solidFill>
                <a:effectLst/>
                <a:latin typeface="Consolas" panose="020B0609020204030204" pitchFamily="49" charset="0"/>
              </a:rPr>
              <a:t>"one"</a:t>
            </a:r>
            <a:r>
              <a:rPr lang="en-US" b="0" i="0" dirty="0">
                <a:solidFill>
                  <a:srgbClr val="CCCCCC"/>
                </a:solidFill>
                <a:effectLst/>
                <a:latin typeface="Consolas" panose="020B0609020204030204" pitchFamily="49" charset="0"/>
              </a:rPr>
              <a:t>);</a:t>
            </a:r>
          </a:p>
          <a:p>
            <a:pPr algn="l" latinLnBrk="0">
              <a:buNone/>
            </a:pPr>
            <a:r>
              <a:rPr lang="en-US" b="0" i="0" dirty="0" err="1">
                <a:solidFill>
                  <a:srgbClr val="CCCCCC"/>
                </a:solidFill>
                <a:effectLst/>
                <a:latin typeface="Consolas" panose="020B0609020204030204" pitchFamily="49" charset="0"/>
              </a:rPr>
              <a:t>first.</a:t>
            </a:r>
            <a:r>
              <a:rPr lang="en-US" b="0" i="0" dirty="0" err="1">
                <a:solidFill>
                  <a:srgbClr val="F08D49"/>
                </a:solidFill>
                <a:effectLst/>
                <a:latin typeface="Consolas" panose="020B0609020204030204" pitchFamily="49" charset="0"/>
              </a:rPr>
              <a:t>add</a:t>
            </a:r>
            <a:r>
              <a:rPr lang="en-US" b="0" i="0" dirty="0">
                <a:solidFill>
                  <a:srgbClr val="CCCCCC"/>
                </a:solidFill>
                <a:effectLst/>
                <a:latin typeface="Consolas" panose="020B0609020204030204" pitchFamily="49" charset="0"/>
              </a:rPr>
              <a:t>(</a:t>
            </a:r>
            <a:r>
              <a:rPr lang="en-US" b="0" i="0" dirty="0">
                <a:solidFill>
                  <a:srgbClr val="7EC699"/>
                </a:solidFill>
                <a:effectLst/>
                <a:latin typeface="Consolas" panose="020B0609020204030204" pitchFamily="49" charset="0"/>
              </a:rPr>
              <a:t>"two"</a:t>
            </a:r>
            <a:r>
              <a:rPr lang="en-US" b="0" i="0" dirty="0">
                <a:solidFill>
                  <a:srgbClr val="CCCCCC"/>
                </a:solidFill>
                <a:effectLst/>
                <a:latin typeface="Consolas" panose="020B0609020204030204" pitchFamily="49" charset="0"/>
              </a:rPr>
              <a:t>);</a:t>
            </a:r>
          </a:p>
          <a:p>
            <a:pPr algn="l" latinLnBrk="0">
              <a:buNone/>
            </a:pPr>
            <a:endParaRPr lang="en-US" b="0" i="0" dirty="0">
              <a:solidFill>
                <a:srgbClr val="CCCCCC"/>
              </a:solidFill>
              <a:effectLst/>
              <a:latin typeface="Consolas" panose="020B0609020204030204" pitchFamily="49" charset="0"/>
            </a:endParaRPr>
          </a:p>
          <a:p>
            <a:pPr algn="l" latinLnBrk="0">
              <a:buNone/>
            </a:pPr>
            <a:r>
              <a:rPr lang="en-US" b="0" i="0" dirty="0">
                <a:solidFill>
                  <a:srgbClr val="F8C555"/>
                </a:solidFill>
                <a:effectLst/>
                <a:latin typeface="Consolas" panose="020B0609020204030204" pitchFamily="49" charset="0"/>
              </a:rPr>
              <a:t>Collection</a:t>
            </a:r>
            <a:r>
              <a:rPr lang="en-US" b="0" i="0" dirty="0">
                <a:solidFill>
                  <a:srgbClr val="CCCCCC"/>
                </a:solidFill>
                <a:effectLst/>
                <a:latin typeface="Consolas" panose="020B0609020204030204" pitchFamily="49" charset="0"/>
              </a:rPr>
              <a:t>&lt;</a:t>
            </a:r>
            <a:r>
              <a:rPr lang="en-US" b="0" i="0" dirty="0">
                <a:solidFill>
                  <a:srgbClr val="F8C555"/>
                </a:solidFill>
                <a:effectLst/>
                <a:latin typeface="Consolas" panose="020B0609020204030204" pitchFamily="49" charset="0"/>
              </a:rPr>
              <a:t>String</a:t>
            </a:r>
            <a:r>
              <a:rPr lang="en-US" b="0" i="0" dirty="0">
                <a:solidFill>
                  <a:srgbClr val="CCCCCC"/>
                </a:solidFill>
                <a:effectLst/>
                <a:latin typeface="Consolas" panose="020B0609020204030204" pitchFamily="49" charset="0"/>
              </a:rPr>
              <a:t>&gt; second </a:t>
            </a:r>
            <a:r>
              <a:rPr lang="en-US" b="0" i="0" dirty="0">
                <a:solidFill>
                  <a:srgbClr val="67CDCC"/>
                </a:solidFill>
                <a:effectLst/>
                <a:latin typeface="Consolas" panose="020B0609020204030204" pitchFamily="49" charset="0"/>
              </a:rPr>
              <a:t>=</a:t>
            </a:r>
            <a:r>
              <a:rPr lang="en-US" b="0" i="0" dirty="0">
                <a:solidFill>
                  <a:srgbClr val="CCCCCC"/>
                </a:solidFill>
                <a:effectLst/>
                <a:latin typeface="Consolas" panose="020B0609020204030204" pitchFamily="49" charset="0"/>
              </a:rPr>
              <a:t> </a:t>
            </a:r>
            <a:r>
              <a:rPr lang="en-US" b="0" i="0" dirty="0">
                <a:solidFill>
                  <a:srgbClr val="CC99CD"/>
                </a:solidFill>
                <a:effectLst/>
                <a:latin typeface="Consolas" panose="020B0609020204030204" pitchFamily="49" charset="0"/>
              </a:rPr>
              <a:t>new</a:t>
            </a:r>
            <a:r>
              <a:rPr lang="en-US" b="0" i="0" dirty="0">
                <a:solidFill>
                  <a:srgbClr val="CCCCCC"/>
                </a:solidFill>
                <a:effectLst/>
                <a:latin typeface="Consolas" panose="020B0609020204030204" pitchFamily="49" charset="0"/>
              </a:rPr>
              <a:t> </a:t>
            </a:r>
            <a:r>
              <a:rPr lang="en-US" b="0" i="0" dirty="0" err="1">
                <a:solidFill>
                  <a:srgbClr val="F8C555"/>
                </a:solidFill>
                <a:effectLst/>
                <a:latin typeface="Consolas" panose="020B0609020204030204" pitchFamily="49" charset="0"/>
              </a:rPr>
              <a:t>ArrayList</a:t>
            </a:r>
            <a:r>
              <a:rPr lang="en-US" b="0" i="0" dirty="0">
                <a:solidFill>
                  <a:srgbClr val="CCCCCC"/>
                </a:solidFill>
                <a:effectLst/>
                <a:latin typeface="Consolas" panose="020B0609020204030204" pitchFamily="49" charset="0"/>
              </a:rPr>
              <a:t>&lt;&gt;();</a:t>
            </a:r>
          </a:p>
          <a:p>
            <a:pPr algn="l" latinLnBrk="0">
              <a:buNone/>
            </a:pPr>
            <a:r>
              <a:rPr lang="en-US" b="0" i="0" dirty="0" err="1">
                <a:solidFill>
                  <a:srgbClr val="CCCCCC"/>
                </a:solidFill>
                <a:effectLst/>
                <a:latin typeface="Consolas" panose="020B0609020204030204" pitchFamily="49" charset="0"/>
              </a:rPr>
              <a:t>second.</a:t>
            </a:r>
            <a:r>
              <a:rPr lang="en-US" b="0" i="0" dirty="0" err="1">
                <a:solidFill>
                  <a:srgbClr val="F08D49"/>
                </a:solidFill>
                <a:effectLst/>
                <a:latin typeface="Consolas" panose="020B0609020204030204" pitchFamily="49" charset="0"/>
              </a:rPr>
              <a:t>add</a:t>
            </a:r>
            <a:r>
              <a:rPr lang="en-US" b="0" i="0" dirty="0">
                <a:solidFill>
                  <a:srgbClr val="CCCCCC"/>
                </a:solidFill>
                <a:effectLst/>
                <a:latin typeface="Consolas" panose="020B0609020204030204" pitchFamily="49" charset="0"/>
              </a:rPr>
              <a:t>(</a:t>
            </a:r>
            <a:r>
              <a:rPr lang="en-US" b="0" i="0" dirty="0">
                <a:solidFill>
                  <a:srgbClr val="7EC699"/>
                </a:solidFill>
                <a:effectLst/>
                <a:latin typeface="Consolas" panose="020B0609020204030204" pitchFamily="49" charset="0"/>
              </a:rPr>
              <a:t>"one"</a:t>
            </a:r>
            <a:r>
              <a:rPr lang="en-US" b="0" i="0" dirty="0">
                <a:solidFill>
                  <a:srgbClr val="CCCCCC"/>
                </a:solidFill>
                <a:effectLst/>
                <a:latin typeface="Consolas" panose="020B0609020204030204" pitchFamily="49" charset="0"/>
              </a:rPr>
              <a:t>);</a:t>
            </a:r>
          </a:p>
          <a:p>
            <a:pPr algn="l" latinLnBrk="0">
              <a:buNone/>
            </a:pPr>
            <a:r>
              <a:rPr lang="en-US" b="0" i="0" dirty="0" err="1">
                <a:solidFill>
                  <a:srgbClr val="CCCCCC"/>
                </a:solidFill>
                <a:effectLst/>
                <a:latin typeface="Consolas" panose="020B0609020204030204" pitchFamily="49" charset="0"/>
              </a:rPr>
              <a:t>second.</a:t>
            </a:r>
            <a:r>
              <a:rPr lang="en-US" b="0" i="0" dirty="0" err="1">
                <a:solidFill>
                  <a:srgbClr val="F08D49"/>
                </a:solidFill>
                <a:effectLst/>
                <a:latin typeface="Consolas" panose="020B0609020204030204" pitchFamily="49" charset="0"/>
              </a:rPr>
              <a:t>add</a:t>
            </a:r>
            <a:r>
              <a:rPr lang="en-US" b="0" i="0" dirty="0">
                <a:solidFill>
                  <a:srgbClr val="CCCCCC"/>
                </a:solidFill>
                <a:effectLst/>
                <a:latin typeface="Consolas" panose="020B0609020204030204" pitchFamily="49" charset="0"/>
              </a:rPr>
              <a:t>(</a:t>
            </a:r>
            <a:r>
              <a:rPr lang="en-US" b="0" i="0" dirty="0">
                <a:solidFill>
                  <a:srgbClr val="7EC699"/>
                </a:solidFill>
                <a:effectLst/>
                <a:latin typeface="Consolas" panose="020B0609020204030204" pitchFamily="49" charset="0"/>
              </a:rPr>
              <a:t>"four"</a:t>
            </a:r>
            <a:r>
              <a:rPr lang="en-US" b="0" i="0" dirty="0">
                <a:solidFill>
                  <a:srgbClr val="CCCCCC"/>
                </a:solidFill>
                <a:effectLst/>
                <a:latin typeface="Consolas" panose="020B0609020204030204" pitchFamily="49" charset="0"/>
              </a:rPr>
              <a:t>);</a:t>
            </a:r>
          </a:p>
          <a:p>
            <a:pPr algn="l" latinLnBrk="0">
              <a:buNone/>
            </a:pPr>
            <a:endParaRPr lang="en-US" b="0" i="0" dirty="0">
              <a:solidFill>
                <a:srgbClr val="CCCCCC"/>
              </a:solidFill>
              <a:effectLst/>
              <a:latin typeface="Consolas" panose="020B0609020204030204" pitchFamily="49" charset="0"/>
            </a:endParaRPr>
          </a:p>
          <a:p>
            <a:pPr algn="l" latinLnBrk="0">
              <a:buNone/>
            </a:pPr>
            <a:r>
              <a:rPr lang="en-US" b="0" i="0" dirty="0" err="1">
                <a:solidFill>
                  <a:srgbClr val="CCCCCC"/>
                </a:solidFill>
                <a:effectLst/>
                <a:latin typeface="Consolas" panose="020B0609020204030204" pitchFamily="49" charset="0"/>
              </a:rPr>
              <a:t>IO.</a:t>
            </a:r>
            <a:r>
              <a:rPr lang="en-US" b="0" i="0" dirty="0" err="1">
                <a:solidFill>
                  <a:srgbClr val="F08D49"/>
                </a:solidFill>
                <a:effectLst/>
                <a:latin typeface="Consolas" panose="020B0609020204030204" pitchFamily="49" charset="0"/>
              </a:rPr>
              <a:t>println</a:t>
            </a:r>
            <a:r>
              <a:rPr lang="en-US" b="0" i="0" dirty="0">
                <a:solidFill>
                  <a:srgbClr val="CCCCCC"/>
                </a:solidFill>
                <a:effectLst/>
                <a:latin typeface="Consolas" panose="020B0609020204030204" pitchFamily="49" charset="0"/>
              </a:rPr>
              <a:t>(</a:t>
            </a:r>
            <a:r>
              <a:rPr lang="en-US" b="0" i="0" dirty="0">
                <a:solidFill>
                  <a:srgbClr val="7EC699"/>
                </a:solidFill>
                <a:effectLst/>
                <a:latin typeface="Consolas" panose="020B0609020204030204" pitchFamily="49" charset="0"/>
              </a:rPr>
              <a:t>"Is first contained in strings? "</a:t>
            </a:r>
            <a:r>
              <a:rPr lang="en-US" b="0" i="0" dirty="0">
                <a:solidFill>
                  <a:srgbClr val="CCCCCC"/>
                </a:solidFill>
                <a:effectLst/>
                <a:latin typeface="Consolas" panose="020B0609020204030204" pitchFamily="49" charset="0"/>
              </a:rPr>
              <a:t> </a:t>
            </a:r>
            <a:r>
              <a:rPr lang="en-US" b="0" i="0" dirty="0">
                <a:solidFill>
                  <a:srgbClr val="67CDCC"/>
                </a:solidFill>
                <a:effectLst/>
                <a:latin typeface="Consolas" panose="020B0609020204030204" pitchFamily="49" charset="0"/>
              </a:rPr>
              <a:t>+</a:t>
            </a:r>
            <a:r>
              <a:rPr lang="en-US" b="0" i="0" dirty="0">
                <a:solidFill>
                  <a:srgbClr val="CCCCCC"/>
                </a:solidFill>
                <a:effectLst/>
                <a:latin typeface="Consolas" panose="020B0609020204030204" pitchFamily="49" charset="0"/>
              </a:rPr>
              <a:t> </a:t>
            </a:r>
            <a:r>
              <a:rPr lang="en-US" b="0" i="0" dirty="0" err="1">
                <a:solidFill>
                  <a:srgbClr val="CCCCCC"/>
                </a:solidFill>
                <a:effectLst/>
                <a:latin typeface="Consolas" panose="020B0609020204030204" pitchFamily="49" charset="0"/>
              </a:rPr>
              <a:t>strings.</a:t>
            </a:r>
            <a:r>
              <a:rPr lang="en-US" b="0" i="0" dirty="0" err="1">
                <a:solidFill>
                  <a:srgbClr val="F08D49"/>
                </a:solidFill>
                <a:effectLst/>
                <a:latin typeface="Consolas" panose="020B0609020204030204" pitchFamily="49" charset="0"/>
              </a:rPr>
              <a:t>containsAll</a:t>
            </a:r>
            <a:r>
              <a:rPr lang="en-US" b="0" i="0" dirty="0">
                <a:solidFill>
                  <a:srgbClr val="CCCCCC"/>
                </a:solidFill>
                <a:effectLst/>
                <a:latin typeface="Consolas" panose="020B0609020204030204" pitchFamily="49" charset="0"/>
              </a:rPr>
              <a:t>(first));</a:t>
            </a:r>
          </a:p>
          <a:p>
            <a:pPr algn="l" latinLnBrk="0">
              <a:buNone/>
            </a:pPr>
            <a:r>
              <a:rPr lang="en-US" b="0" i="0" dirty="0" err="1">
                <a:solidFill>
                  <a:srgbClr val="CCCCCC"/>
                </a:solidFill>
                <a:effectLst/>
                <a:latin typeface="Consolas" panose="020B0609020204030204" pitchFamily="49" charset="0"/>
              </a:rPr>
              <a:t>IO.</a:t>
            </a:r>
            <a:r>
              <a:rPr lang="en-US" b="0" i="0" dirty="0" err="1">
                <a:solidFill>
                  <a:srgbClr val="F08D49"/>
                </a:solidFill>
                <a:effectLst/>
                <a:latin typeface="Consolas" panose="020B0609020204030204" pitchFamily="49" charset="0"/>
              </a:rPr>
              <a:t>println</a:t>
            </a:r>
            <a:r>
              <a:rPr lang="en-US" b="0" i="0" dirty="0">
                <a:solidFill>
                  <a:srgbClr val="CCCCCC"/>
                </a:solidFill>
                <a:effectLst/>
                <a:latin typeface="Consolas" panose="020B0609020204030204" pitchFamily="49" charset="0"/>
              </a:rPr>
              <a:t>(</a:t>
            </a:r>
            <a:r>
              <a:rPr lang="en-US" b="0" i="0" dirty="0">
                <a:solidFill>
                  <a:srgbClr val="7EC699"/>
                </a:solidFill>
                <a:effectLst/>
                <a:latin typeface="Consolas" panose="020B0609020204030204" pitchFamily="49" charset="0"/>
              </a:rPr>
              <a:t>"Is second contained in strings? "</a:t>
            </a:r>
            <a:r>
              <a:rPr lang="en-US" b="0" i="0" dirty="0">
                <a:solidFill>
                  <a:srgbClr val="CCCCCC"/>
                </a:solidFill>
                <a:effectLst/>
                <a:latin typeface="Consolas" panose="020B0609020204030204" pitchFamily="49" charset="0"/>
              </a:rPr>
              <a:t> </a:t>
            </a:r>
            <a:r>
              <a:rPr lang="en-US" b="0" i="0" dirty="0">
                <a:solidFill>
                  <a:srgbClr val="67CDCC"/>
                </a:solidFill>
                <a:effectLst/>
                <a:latin typeface="Consolas" panose="020B0609020204030204" pitchFamily="49" charset="0"/>
              </a:rPr>
              <a:t>+</a:t>
            </a:r>
            <a:r>
              <a:rPr lang="en-US" b="0" i="0" dirty="0">
                <a:solidFill>
                  <a:srgbClr val="CCCCCC"/>
                </a:solidFill>
                <a:effectLst/>
                <a:latin typeface="Consolas" panose="020B0609020204030204" pitchFamily="49" charset="0"/>
              </a:rPr>
              <a:t> </a:t>
            </a:r>
            <a:r>
              <a:rPr lang="en-US" b="0" i="0" dirty="0" err="1">
                <a:solidFill>
                  <a:srgbClr val="CCCCCC"/>
                </a:solidFill>
                <a:effectLst/>
                <a:latin typeface="Consolas" panose="020B0609020204030204" pitchFamily="49" charset="0"/>
              </a:rPr>
              <a:t>strings.</a:t>
            </a:r>
            <a:r>
              <a:rPr lang="en-US" b="0" i="0" dirty="0" err="1">
                <a:solidFill>
                  <a:srgbClr val="F08D49"/>
                </a:solidFill>
                <a:effectLst/>
                <a:latin typeface="Consolas" panose="020B0609020204030204" pitchFamily="49" charset="0"/>
              </a:rPr>
              <a:t>containsAll</a:t>
            </a:r>
            <a:r>
              <a:rPr lang="en-US" b="0" i="0" dirty="0">
                <a:solidFill>
                  <a:srgbClr val="CCCCCC"/>
                </a:solidFill>
                <a:effectLst/>
                <a:latin typeface="Consolas" panose="020B0609020204030204" pitchFamily="49" charset="0"/>
              </a:rPr>
              <a:t>(second));</a:t>
            </a:r>
          </a:p>
          <a:p>
            <a:pPr algn="l">
              <a:buNone/>
            </a:pPr>
            <a:r>
              <a:rPr lang="en-US" b="0" i="0" dirty="0">
                <a:solidFill>
                  <a:srgbClr val="131516"/>
                </a:solidFill>
                <a:effectLst/>
                <a:latin typeface="system-ui"/>
              </a:rPr>
              <a:t>Running this code produces the following:</a:t>
            </a:r>
          </a:p>
          <a:p>
            <a:pPr algn="l" latinLnBrk="0">
              <a:buNone/>
            </a:pPr>
            <a:r>
              <a:rPr lang="en-US" b="0" i="0" dirty="0">
                <a:solidFill>
                  <a:srgbClr val="CCCCCC"/>
                </a:solidFill>
                <a:effectLst/>
                <a:latin typeface="Consolas" panose="020B0609020204030204" pitchFamily="49" charset="0"/>
              </a:rPr>
              <a:t>Is first contained in strings? true</a:t>
            </a:r>
          </a:p>
          <a:p>
            <a:pPr algn="l" latinLnBrk="0">
              <a:buNone/>
            </a:pPr>
            <a:r>
              <a:rPr lang="en-US" b="0" i="0" dirty="0">
                <a:solidFill>
                  <a:srgbClr val="CCCCCC"/>
                </a:solidFill>
                <a:effectLst/>
                <a:latin typeface="Consolas" panose="020B0609020204030204" pitchFamily="49" charset="0"/>
              </a:rPr>
              <a:t>Is second contained in strings? false</a:t>
            </a:r>
          </a:p>
          <a:p>
            <a:pPr algn="l">
              <a:buNone/>
            </a:pPr>
            <a:r>
              <a:rPr lang="en-US" b="0" i="0" dirty="0">
                <a:solidFill>
                  <a:srgbClr val="131516"/>
                </a:solidFill>
                <a:effectLst/>
                <a:latin typeface="system-ui"/>
              </a:rPr>
              <a:t>The second one is </a:t>
            </a:r>
            <a:r>
              <a:rPr lang="en-US" b="0" i="0" u="sng" dirty="0" err="1">
                <a:solidFill>
                  <a:srgbClr val="3A75B0"/>
                </a:solidFill>
                <a:effectLst/>
                <a:latin typeface="SFMono-Regular"/>
                <a:hlinkClick r:id="rId3"/>
              </a:rPr>
              <a:t>addAll</a:t>
            </a:r>
            <a:r>
              <a:rPr lang="en-US" b="0" i="0" u="sng" dirty="0">
                <a:solidFill>
                  <a:srgbClr val="3A75B0"/>
                </a:solidFill>
                <a:effectLst/>
                <a:latin typeface="SFMono-Regular"/>
                <a:hlinkClick r:id="rId3"/>
              </a:rPr>
              <a:t>()</a:t>
            </a:r>
            <a:r>
              <a:rPr lang="en-US" b="0" i="0" dirty="0">
                <a:solidFill>
                  <a:srgbClr val="131516"/>
                </a:solidFill>
                <a:effectLst/>
                <a:latin typeface="system-ui"/>
              </a:rPr>
              <a:t>. It allows you to add all the elements of a given collection to this collection. As with the </a:t>
            </a:r>
            <a:r>
              <a:rPr lang="en-US" b="0" i="0" u="sng" dirty="0">
                <a:solidFill>
                  <a:srgbClr val="3A75B0"/>
                </a:solidFill>
                <a:effectLst/>
                <a:latin typeface="SFMono-Regular"/>
                <a:hlinkClick r:id="rId8"/>
              </a:rPr>
              <a:t>add()</a:t>
            </a:r>
            <a:r>
              <a:rPr lang="en-US" b="0" i="0" dirty="0">
                <a:solidFill>
                  <a:srgbClr val="131516"/>
                </a:solidFill>
                <a:effectLst/>
                <a:latin typeface="system-ui"/>
              </a:rPr>
              <a:t> method, this may fail for some elements in some cases. This method returns </a:t>
            </a:r>
            <a:r>
              <a:rPr lang="en-US" b="0" i="0" dirty="0">
                <a:solidFill>
                  <a:srgbClr val="E76F00"/>
                </a:solidFill>
                <a:effectLst/>
                <a:latin typeface="SFMono-Regular"/>
              </a:rPr>
              <a:t>true</a:t>
            </a:r>
            <a:r>
              <a:rPr lang="en-US" b="0" i="0" dirty="0">
                <a:solidFill>
                  <a:srgbClr val="131516"/>
                </a:solidFill>
                <a:effectLst/>
                <a:latin typeface="system-ui"/>
              </a:rPr>
              <a:t> if this collection has been modified by this call. This is an important point to understand: getting a </a:t>
            </a:r>
            <a:r>
              <a:rPr lang="en-US" b="0" i="0" dirty="0">
                <a:solidFill>
                  <a:srgbClr val="E76F00"/>
                </a:solidFill>
                <a:effectLst/>
                <a:latin typeface="SFMono-Regular"/>
              </a:rPr>
              <a:t>true</a:t>
            </a:r>
            <a:r>
              <a:rPr lang="en-US" b="0" i="0" dirty="0">
                <a:solidFill>
                  <a:srgbClr val="131516"/>
                </a:solidFill>
                <a:effectLst/>
                <a:latin typeface="system-ui"/>
              </a:rPr>
              <a:t> value does not mean that all the elements of the other collection have been added; it means that at least one has been added.</a:t>
            </a:r>
          </a:p>
          <a:p>
            <a:pPr algn="l">
              <a:buNone/>
            </a:pPr>
            <a:r>
              <a:rPr lang="en-US" b="0" i="0" dirty="0">
                <a:solidFill>
                  <a:srgbClr val="131516"/>
                </a:solidFill>
                <a:effectLst/>
                <a:latin typeface="system-ui"/>
              </a:rPr>
              <a:t>You can see </a:t>
            </a:r>
            <a:r>
              <a:rPr lang="en-US" b="0" i="0" u="sng" dirty="0" err="1">
                <a:solidFill>
                  <a:srgbClr val="3A75B0"/>
                </a:solidFill>
                <a:effectLst/>
                <a:latin typeface="SFMono-Regular"/>
                <a:hlinkClick r:id="rId3"/>
              </a:rPr>
              <a:t>addAll</a:t>
            </a:r>
            <a:r>
              <a:rPr lang="en-US" b="0" i="0" u="sng" dirty="0">
                <a:solidFill>
                  <a:srgbClr val="3A75B0"/>
                </a:solidFill>
                <a:effectLst/>
                <a:latin typeface="SFMono-Regular"/>
                <a:hlinkClick r:id="rId3"/>
              </a:rPr>
              <a:t>()</a:t>
            </a:r>
            <a:r>
              <a:rPr lang="en-US" b="0" i="0" dirty="0">
                <a:solidFill>
                  <a:srgbClr val="131516"/>
                </a:solidFill>
                <a:effectLst/>
                <a:latin typeface="system-ui"/>
              </a:rPr>
              <a:t> in action on the following example:</a:t>
            </a:r>
          </a:p>
          <a:p>
            <a:pPr algn="l" latinLnBrk="0">
              <a:buNone/>
            </a:pPr>
            <a:r>
              <a:rPr lang="en-US" b="0" i="0" dirty="0">
                <a:solidFill>
                  <a:srgbClr val="F8C555"/>
                </a:solidFill>
                <a:effectLst/>
                <a:latin typeface="Consolas" panose="020B0609020204030204" pitchFamily="49" charset="0"/>
              </a:rPr>
              <a:t>Collection</a:t>
            </a:r>
            <a:r>
              <a:rPr lang="en-US" b="0" i="0" dirty="0">
                <a:solidFill>
                  <a:srgbClr val="CCCCCC"/>
                </a:solidFill>
                <a:effectLst/>
                <a:latin typeface="Consolas" panose="020B0609020204030204" pitchFamily="49" charset="0"/>
              </a:rPr>
              <a:t>&lt;</a:t>
            </a:r>
            <a:r>
              <a:rPr lang="en-US" b="0" i="0" dirty="0">
                <a:solidFill>
                  <a:srgbClr val="F8C555"/>
                </a:solidFill>
                <a:effectLst/>
                <a:latin typeface="Consolas" panose="020B0609020204030204" pitchFamily="49" charset="0"/>
              </a:rPr>
              <a:t>String</a:t>
            </a:r>
            <a:r>
              <a:rPr lang="en-US" b="0" i="0" dirty="0">
                <a:solidFill>
                  <a:srgbClr val="CCCCCC"/>
                </a:solidFill>
                <a:effectLst/>
                <a:latin typeface="Consolas" panose="020B0609020204030204" pitchFamily="49" charset="0"/>
              </a:rPr>
              <a:t>&gt; strings </a:t>
            </a:r>
            <a:r>
              <a:rPr lang="en-US" b="0" i="0" dirty="0">
                <a:solidFill>
                  <a:srgbClr val="67CDCC"/>
                </a:solidFill>
                <a:effectLst/>
                <a:latin typeface="Consolas" panose="020B0609020204030204" pitchFamily="49" charset="0"/>
              </a:rPr>
              <a:t>=</a:t>
            </a:r>
            <a:r>
              <a:rPr lang="en-US" b="0" i="0" dirty="0">
                <a:solidFill>
                  <a:srgbClr val="CCCCCC"/>
                </a:solidFill>
                <a:effectLst/>
                <a:latin typeface="Consolas" panose="020B0609020204030204" pitchFamily="49" charset="0"/>
              </a:rPr>
              <a:t> </a:t>
            </a:r>
            <a:r>
              <a:rPr lang="en-US" b="0" i="0" dirty="0">
                <a:solidFill>
                  <a:srgbClr val="CC99CD"/>
                </a:solidFill>
                <a:effectLst/>
                <a:latin typeface="Consolas" panose="020B0609020204030204" pitchFamily="49" charset="0"/>
              </a:rPr>
              <a:t>new</a:t>
            </a:r>
            <a:r>
              <a:rPr lang="en-US" b="0" i="0" dirty="0">
                <a:solidFill>
                  <a:srgbClr val="CCCCCC"/>
                </a:solidFill>
                <a:effectLst/>
                <a:latin typeface="Consolas" panose="020B0609020204030204" pitchFamily="49" charset="0"/>
              </a:rPr>
              <a:t> </a:t>
            </a:r>
            <a:r>
              <a:rPr lang="en-US" b="0" i="0" dirty="0" err="1">
                <a:solidFill>
                  <a:srgbClr val="F8C555"/>
                </a:solidFill>
                <a:effectLst/>
                <a:latin typeface="Consolas" panose="020B0609020204030204" pitchFamily="49" charset="0"/>
              </a:rPr>
              <a:t>ArrayList</a:t>
            </a:r>
            <a:r>
              <a:rPr lang="en-US" b="0" i="0" dirty="0">
                <a:solidFill>
                  <a:srgbClr val="CCCCCC"/>
                </a:solidFill>
                <a:effectLst/>
                <a:latin typeface="Consolas" panose="020B0609020204030204" pitchFamily="49" charset="0"/>
              </a:rPr>
              <a:t>&lt;&gt;();</a:t>
            </a:r>
          </a:p>
          <a:p>
            <a:pPr algn="l" latinLnBrk="0">
              <a:buNone/>
            </a:pPr>
            <a:r>
              <a:rPr lang="en-US" b="0" i="0" dirty="0" err="1">
                <a:solidFill>
                  <a:srgbClr val="CCCCCC"/>
                </a:solidFill>
                <a:effectLst/>
                <a:latin typeface="Consolas" panose="020B0609020204030204" pitchFamily="49" charset="0"/>
              </a:rPr>
              <a:t>strings.</a:t>
            </a:r>
            <a:r>
              <a:rPr lang="en-US" b="0" i="0" dirty="0" err="1">
                <a:solidFill>
                  <a:srgbClr val="F08D49"/>
                </a:solidFill>
                <a:effectLst/>
                <a:latin typeface="Consolas" panose="020B0609020204030204" pitchFamily="49" charset="0"/>
              </a:rPr>
              <a:t>add</a:t>
            </a:r>
            <a:r>
              <a:rPr lang="en-US" b="0" i="0" dirty="0">
                <a:solidFill>
                  <a:srgbClr val="CCCCCC"/>
                </a:solidFill>
                <a:effectLst/>
                <a:latin typeface="Consolas" panose="020B0609020204030204" pitchFamily="49" charset="0"/>
              </a:rPr>
              <a:t>(</a:t>
            </a:r>
            <a:r>
              <a:rPr lang="en-US" b="0" i="0" dirty="0">
                <a:solidFill>
                  <a:srgbClr val="7EC699"/>
                </a:solidFill>
                <a:effectLst/>
                <a:latin typeface="Consolas" panose="020B0609020204030204" pitchFamily="49" charset="0"/>
              </a:rPr>
              <a:t>"one"</a:t>
            </a:r>
            <a:r>
              <a:rPr lang="en-US" b="0" i="0" dirty="0">
                <a:solidFill>
                  <a:srgbClr val="CCCCCC"/>
                </a:solidFill>
                <a:effectLst/>
                <a:latin typeface="Consolas" panose="020B0609020204030204" pitchFamily="49" charset="0"/>
              </a:rPr>
              <a:t>);</a:t>
            </a:r>
          </a:p>
          <a:p>
            <a:pPr algn="l" latinLnBrk="0">
              <a:buNone/>
            </a:pPr>
            <a:r>
              <a:rPr lang="en-US" b="0" i="0" dirty="0" err="1">
                <a:solidFill>
                  <a:srgbClr val="CCCCCC"/>
                </a:solidFill>
                <a:effectLst/>
                <a:latin typeface="Consolas" panose="020B0609020204030204" pitchFamily="49" charset="0"/>
              </a:rPr>
              <a:t>strings.</a:t>
            </a:r>
            <a:r>
              <a:rPr lang="en-US" b="0" i="0" dirty="0" err="1">
                <a:solidFill>
                  <a:srgbClr val="F08D49"/>
                </a:solidFill>
                <a:effectLst/>
                <a:latin typeface="Consolas" panose="020B0609020204030204" pitchFamily="49" charset="0"/>
              </a:rPr>
              <a:t>add</a:t>
            </a:r>
            <a:r>
              <a:rPr lang="en-US" b="0" i="0" dirty="0">
                <a:solidFill>
                  <a:srgbClr val="CCCCCC"/>
                </a:solidFill>
                <a:effectLst/>
                <a:latin typeface="Consolas" panose="020B0609020204030204" pitchFamily="49" charset="0"/>
              </a:rPr>
              <a:t>(</a:t>
            </a:r>
            <a:r>
              <a:rPr lang="en-US" b="0" i="0" dirty="0">
                <a:solidFill>
                  <a:srgbClr val="7EC699"/>
                </a:solidFill>
                <a:effectLst/>
                <a:latin typeface="Consolas" panose="020B0609020204030204" pitchFamily="49" charset="0"/>
              </a:rPr>
              <a:t>"two"</a:t>
            </a:r>
            <a:r>
              <a:rPr lang="en-US" b="0" i="0" dirty="0">
                <a:solidFill>
                  <a:srgbClr val="CCCCCC"/>
                </a:solidFill>
                <a:effectLst/>
                <a:latin typeface="Consolas" panose="020B0609020204030204" pitchFamily="49" charset="0"/>
              </a:rPr>
              <a:t>);</a:t>
            </a:r>
          </a:p>
          <a:p>
            <a:pPr algn="l" latinLnBrk="0">
              <a:buNone/>
            </a:pPr>
            <a:r>
              <a:rPr lang="en-US" b="0" i="0" dirty="0" err="1">
                <a:solidFill>
                  <a:srgbClr val="CCCCCC"/>
                </a:solidFill>
                <a:effectLst/>
                <a:latin typeface="Consolas" panose="020B0609020204030204" pitchFamily="49" charset="0"/>
              </a:rPr>
              <a:t>strings.</a:t>
            </a:r>
            <a:r>
              <a:rPr lang="en-US" b="0" i="0" dirty="0" err="1">
                <a:solidFill>
                  <a:srgbClr val="F08D49"/>
                </a:solidFill>
                <a:effectLst/>
                <a:latin typeface="Consolas" panose="020B0609020204030204" pitchFamily="49" charset="0"/>
              </a:rPr>
              <a:t>add</a:t>
            </a:r>
            <a:r>
              <a:rPr lang="en-US" b="0" i="0" dirty="0">
                <a:solidFill>
                  <a:srgbClr val="CCCCCC"/>
                </a:solidFill>
                <a:effectLst/>
                <a:latin typeface="Consolas" panose="020B0609020204030204" pitchFamily="49" charset="0"/>
              </a:rPr>
              <a:t>(</a:t>
            </a:r>
            <a:r>
              <a:rPr lang="en-US" b="0" i="0" dirty="0">
                <a:solidFill>
                  <a:srgbClr val="7EC699"/>
                </a:solidFill>
                <a:effectLst/>
                <a:latin typeface="Consolas" panose="020B0609020204030204" pitchFamily="49" charset="0"/>
              </a:rPr>
              <a:t>"three"</a:t>
            </a:r>
            <a:r>
              <a:rPr lang="en-US" b="0" i="0" dirty="0">
                <a:solidFill>
                  <a:srgbClr val="CCCCCC"/>
                </a:solidFill>
                <a:effectLst/>
                <a:latin typeface="Consolas" panose="020B0609020204030204" pitchFamily="49" charset="0"/>
              </a:rPr>
              <a:t>);</a:t>
            </a:r>
          </a:p>
          <a:p>
            <a:pPr algn="l" latinLnBrk="0">
              <a:buNone/>
            </a:pPr>
            <a:endParaRPr lang="en-US" b="0" i="0" dirty="0">
              <a:solidFill>
                <a:srgbClr val="CCCCCC"/>
              </a:solidFill>
              <a:effectLst/>
              <a:latin typeface="Consolas" panose="020B0609020204030204" pitchFamily="49" charset="0"/>
            </a:endParaRPr>
          </a:p>
          <a:p>
            <a:pPr algn="l" latinLnBrk="0">
              <a:buNone/>
            </a:pPr>
            <a:r>
              <a:rPr lang="en-US" b="0" i="0" dirty="0">
                <a:solidFill>
                  <a:srgbClr val="F8C555"/>
                </a:solidFill>
                <a:effectLst/>
                <a:latin typeface="Consolas" panose="020B0609020204030204" pitchFamily="49" charset="0"/>
              </a:rPr>
              <a:t>Collection</a:t>
            </a:r>
            <a:r>
              <a:rPr lang="en-US" b="0" i="0" dirty="0">
                <a:solidFill>
                  <a:srgbClr val="CCCCCC"/>
                </a:solidFill>
                <a:effectLst/>
                <a:latin typeface="Consolas" panose="020B0609020204030204" pitchFamily="49" charset="0"/>
              </a:rPr>
              <a:t>&lt;</a:t>
            </a:r>
            <a:r>
              <a:rPr lang="en-US" b="0" i="0" dirty="0">
                <a:solidFill>
                  <a:srgbClr val="F8C555"/>
                </a:solidFill>
                <a:effectLst/>
                <a:latin typeface="Consolas" panose="020B0609020204030204" pitchFamily="49" charset="0"/>
              </a:rPr>
              <a:t>String</a:t>
            </a:r>
            <a:r>
              <a:rPr lang="en-US" b="0" i="0" dirty="0">
                <a:solidFill>
                  <a:srgbClr val="CCCCCC"/>
                </a:solidFill>
                <a:effectLst/>
                <a:latin typeface="Consolas" panose="020B0609020204030204" pitchFamily="49" charset="0"/>
              </a:rPr>
              <a:t>&gt; first </a:t>
            </a:r>
            <a:r>
              <a:rPr lang="en-US" b="0" i="0" dirty="0">
                <a:solidFill>
                  <a:srgbClr val="67CDCC"/>
                </a:solidFill>
                <a:effectLst/>
                <a:latin typeface="Consolas" panose="020B0609020204030204" pitchFamily="49" charset="0"/>
              </a:rPr>
              <a:t>=</a:t>
            </a:r>
            <a:r>
              <a:rPr lang="en-US" b="0" i="0" dirty="0">
                <a:solidFill>
                  <a:srgbClr val="CCCCCC"/>
                </a:solidFill>
                <a:effectLst/>
                <a:latin typeface="Consolas" panose="020B0609020204030204" pitchFamily="49" charset="0"/>
              </a:rPr>
              <a:t> </a:t>
            </a:r>
            <a:r>
              <a:rPr lang="en-US" b="0" i="0" dirty="0">
                <a:solidFill>
                  <a:srgbClr val="CC99CD"/>
                </a:solidFill>
                <a:effectLst/>
                <a:latin typeface="Consolas" panose="020B0609020204030204" pitchFamily="49" charset="0"/>
              </a:rPr>
              <a:t>new</a:t>
            </a:r>
            <a:r>
              <a:rPr lang="en-US" b="0" i="0" dirty="0">
                <a:solidFill>
                  <a:srgbClr val="CCCCCC"/>
                </a:solidFill>
                <a:effectLst/>
                <a:latin typeface="Consolas" panose="020B0609020204030204" pitchFamily="49" charset="0"/>
              </a:rPr>
              <a:t> </a:t>
            </a:r>
            <a:r>
              <a:rPr lang="en-US" b="0" i="0" dirty="0" err="1">
                <a:solidFill>
                  <a:srgbClr val="F8C555"/>
                </a:solidFill>
                <a:effectLst/>
                <a:latin typeface="Consolas" panose="020B0609020204030204" pitchFamily="49" charset="0"/>
              </a:rPr>
              <a:t>ArrayList</a:t>
            </a:r>
            <a:r>
              <a:rPr lang="en-US" b="0" i="0" dirty="0">
                <a:solidFill>
                  <a:srgbClr val="CCCCCC"/>
                </a:solidFill>
                <a:effectLst/>
                <a:latin typeface="Consolas" panose="020B0609020204030204" pitchFamily="49" charset="0"/>
              </a:rPr>
              <a:t>&lt;&gt;();</a:t>
            </a:r>
          </a:p>
          <a:p>
            <a:pPr algn="l" latinLnBrk="0">
              <a:buNone/>
            </a:pPr>
            <a:r>
              <a:rPr lang="en-US" b="0" i="0" dirty="0" err="1">
                <a:solidFill>
                  <a:srgbClr val="CCCCCC"/>
                </a:solidFill>
                <a:effectLst/>
                <a:latin typeface="Consolas" panose="020B0609020204030204" pitchFamily="49" charset="0"/>
              </a:rPr>
              <a:t>first.</a:t>
            </a:r>
            <a:r>
              <a:rPr lang="en-US" b="0" i="0" dirty="0" err="1">
                <a:solidFill>
                  <a:srgbClr val="F08D49"/>
                </a:solidFill>
                <a:effectLst/>
                <a:latin typeface="Consolas" panose="020B0609020204030204" pitchFamily="49" charset="0"/>
              </a:rPr>
              <a:t>add</a:t>
            </a:r>
            <a:r>
              <a:rPr lang="en-US" b="0" i="0" dirty="0">
                <a:solidFill>
                  <a:srgbClr val="CCCCCC"/>
                </a:solidFill>
                <a:effectLst/>
                <a:latin typeface="Consolas" panose="020B0609020204030204" pitchFamily="49" charset="0"/>
              </a:rPr>
              <a:t>(</a:t>
            </a:r>
            <a:r>
              <a:rPr lang="en-US" b="0" i="0" dirty="0">
                <a:solidFill>
                  <a:srgbClr val="7EC699"/>
                </a:solidFill>
                <a:effectLst/>
                <a:latin typeface="Consolas" panose="020B0609020204030204" pitchFamily="49" charset="0"/>
              </a:rPr>
              <a:t>"one"</a:t>
            </a:r>
            <a:r>
              <a:rPr lang="en-US" b="0" i="0" dirty="0">
                <a:solidFill>
                  <a:srgbClr val="CCCCCC"/>
                </a:solidFill>
                <a:effectLst/>
                <a:latin typeface="Consolas" panose="020B0609020204030204" pitchFamily="49" charset="0"/>
              </a:rPr>
              <a:t>);</a:t>
            </a:r>
          </a:p>
          <a:p>
            <a:pPr algn="l" latinLnBrk="0">
              <a:buNone/>
            </a:pPr>
            <a:r>
              <a:rPr lang="en-US" b="0" i="0" dirty="0" err="1">
                <a:solidFill>
                  <a:srgbClr val="CCCCCC"/>
                </a:solidFill>
                <a:effectLst/>
                <a:latin typeface="Consolas" panose="020B0609020204030204" pitchFamily="49" charset="0"/>
              </a:rPr>
              <a:t>first.</a:t>
            </a:r>
            <a:r>
              <a:rPr lang="en-US" b="0" i="0" dirty="0" err="1">
                <a:solidFill>
                  <a:srgbClr val="F08D49"/>
                </a:solidFill>
                <a:effectLst/>
                <a:latin typeface="Consolas" panose="020B0609020204030204" pitchFamily="49" charset="0"/>
              </a:rPr>
              <a:t>add</a:t>
            </a:r>
            <a:r>
              <a:rPr lang="en-US" b="0" i="0" dirty="0">
                <a:solidFill>
                  <a:srgbClr val="CCCCCC"/>
                </a:solidFill>
                <a:effectLst/>
                <a:latin typeface="Consolas" panose="020B0609020204030204" pitchFamily="49" charset="0"/>
              </a:rPr>
              <a:t>(</a:t>
            </a:r>
            <a:r>
              <a:rPr lang="en-US" b="0" i="0" dirty="0">
                <a:solidFill>
                  <a:srgbClr val="7EC699"/>
                </a:solidFill>
                <a:effectLst/>
                <a:latin typeface="Consolas" panose="020B0609020204030204" pitchFamily="49" charset="0"/>
              </a:rPr>
              <a:t>"four"</a:t>
            </a:r>
            <a:r>
              <a:rPr lang="en-US" b="0" i="0" dirty="0">
                <a:solidFill>
                  <a:srgbClr val="CCCCCC"/>
                </a:solidFill>
                <a:effectLst/>
                <a:latin typeface="Consolas" panose="020B0609020204030204" pitchFamily="49" charset="0"/>
              </a:rPr>
              <a:t>);</a:t>
            </a:r>
          </a:p>
          <a:p>
            <a:pPr algn="l" latinLnBrk="0">
              <a:buNone/>
            </a:pPr>
            <a:endParaRPr lang="en-US" b="0" i="0" dirty="0">
              <a:solidFill>
                <a:srgbClr val="CCCCCC"/>
              </a:solidFill>
              <a:effectLst/>
              <a:latin typeface="Consolas" panose="020B0609020204030204" pitchFamily="49" charset="0"/>
            </a:endParaRPr>
          </a:p>
          <a:p>
            <a:pPr algn="l" latinLnBrk="0">
              <a:buNone/>
            </a:pPr>
            <a:r>
              <a:rPr lang="en-US" b="0" i="0" dirty="0" err="1">
                <a:solidFill>
                  <a:srgbClr val="CC99CD"/>
                </a:solidFill>
                <a:effectLst/>
                <a:latin typeface="Consolas" panose="020B0609020204030204" pitchFamily="49" charset="0"/>
              </a:rPr>
              <a:t>boolean</a:t>
            </a:r>
            <a:r>
              <a:rPr lang="en-US" b="0" i="0" dirty="0">
                <a:solidFill>
                  <a:srgbClr val="CCCCCC"/>
                </a:solidFill>
                <a:effectLst/>
                <a:latin typeface="Consolas" panose="020B0609020204030204" pitchFamily="49" charset="0"/>
              </a:rPr>
              <a:t> </a:t>
            </a:r>
            <a:r>
              <a:rPr lang="en-US" b="0" i="0" dirty="0" err="1">
                <a:solidFill>
                  <a:srgbClr val="CCCCCC"/>
                </a:solidFill>
                <a:effectLst/>
                <a:latin typeface="Consolas" panose="020B0609020204030204" pitchFamily="49" charset="0"/>
              </a:rPr>
              <a:t>hasChanged</a:t>
            </a:r>
            <a:r>
              <a:rPr lang="en-US" b="0" i="0" dirty="0">
                <a:solidFill>
                  <a:srgbClr val="CCCCCC"/>
                </a:solidFill>
                <a:effectLst/>
                <a:latin typeface="Consolas" panose="020B0609020204030204" pitchFamily="49" charset="0"/>
              </a:rPr>
              <a:t> </a:t>
            </a:r>
            <a:r>
              <a:rPr lang="en-US" b="0" i="0" dirty="0">
                <a:solidFill>
                  <a:srgbClr val="67CDCC"/>
                </a:solidFill>
                <a:effectLst/>
                <a:latin typeface="Consolas" panose="020B0609020204030204" pitchFamily="49" charset="0"/>
              </a:rPr>
              <a:t>=</a:t>
            </a:r>
            <a:r>
              <a:rPr lang="en-US" b="0" i="0" dirty="0">
                <a:solidFill>
                  <a:srgbClr val="CCCCCC"/>
                </a:solidFill>
                <a:effectLst/>
                <a:latin typeface="Consolas" panose="020B0609020204030204" pitchFamily="49" charset="0"/>
              </a:rPr>
              <a:t> </a:t>
            </a:r>
            <a:r>
              <a:rPr lang="en-US" b="0" i="0" dirty="0" err="1">
                <a:solidFill>
                  <a:srgbClr val="CCCCCC"/>
                </a:solidFill>
                <a:effectLst/>
                <a:latin typeface="Consolas" panose="020B0609020204030204" pitchFamily="49" charset="0"/>
              </a:rPr>
              <a:t>strings.</a:t>
            </a:r>
            <a:r>
              <a:rPr lang="en-US" b="0" i="0" dirty="0" err="1">
                <a:solidFill>
                  <a:srgbClr val="F08D49"/>
                </a:solidFill>
                <a:effectLst/>
                <a:latin typeface="Consolas" panose="020B0609020204030204" pitchFamily="49" charset="0"/>
              </a:rPr>
              <a:t>addAll</a:t>
            </a:r>
            <a:r>
              <a:rPr lang="en-US" b="0" i="0" dirty="0">
                <a:solidFill>
                  <a:srgbClr val="CCCCCC"/>
                </a:solidFill>
                <a:effectLst/>
                <a:latin typeface="Consolas" panose="020B0609020204030204" pitchFamily="49" charset="0"/>
              </a:rPr>
              <a:t>(first);</a:t>
            </a:r>
          </a:p>
          <a:p>
            <a:pPr algn="l" latinLnBrk="0">
              <a:buNone/>
            </a:pPr>
            <a:endParaRPr lang="en-US" b="0" i="0" dirty="0">
              <a:solidFill>
                <a:srgbClr val="CCCCCC"/>
              </a:solidFill>
              <a:effectLst/>
              <a:latin typeface="Consolas" panose="020B0609020204030204" pitchFamily="49" charset="0"/>
            </a:endParaRPr>
          </a:p>
          <a:p>
            <a:pPr algn="l" latinLnBrk="0">
              <a:buNone/>
            </a:pPr>
            <a:r>
              <a:rPr lang="en-US" b="0" i="0" dirty="0" err="1">
                <a:solidFill>
                  <a:srgbClr val="CCCCCC"/>
                </a:solidFill>
                <a:effectLst/>
                <a:latin typeface="Consolas" panose="020B0609020204030204" pitchFamily="49" charset="0"/>
              </a:rPr>
              <a:t>IO.</a:t>
            </a:r>
            <a:r>
              <a:rPr lang="en-US" b="0" i="0" dirty="0" err="1">
                <a:solidFill>
                  <a:srgbClr val="F08D49"/>
                </a:solidFill>
                <a:effectLst/>
                <a:latin typeface="Consolas" panose="020B0609020204030204" pitchFamily="49" charset="0"/>
              </a:rPr>
              <a:t>println</a:t>
            </a:r>
            <a:r>
              <a:rPr lang="en-US" b="0" i="0" dirty="0">
                <a:solidFill>
                  <a:srgbClr val="CCCCCC"/>
                </a:solidFill>
                <a:effectLst/>
                <a:latin typeface="Consolas" panose="020B0609020204030204" pitchFamily="49" charset="0"/>
              </a:rPr>
              <a:t>(</a:t>
            </a:r>
            <a:r>
              <a:rPr lang="en-US" b="0" i="0" dirty="0">
                <a:solidFill>
                  <a:srgbClr val="7EC699"/>
                </a:solidFill>
                <a:effectLst/>
                <a:latin typeface="Consolas" panose="020B0609020204030204" pitchFamily="49" charset="0"/>
              </a:rPr>
              <a:t>"Has strings changed? "</a:t>
            </a:r>
            <a:r>
              <a:rPr lang="en-US" b="0" i="0" dirty="0">
                <a:solidFill>
                  <a:srgbClr val="CCCCCC"/>
                </a:solidFill>
                <a:effectLst/>
                <a:latin typeface="Consolas" panose="020B0609020204030204" pitchFamily="49" charset="0"/>
              </a:rPr>
              <a:t> </a:t>
            </a:r>
            <a:r>
              <a:rPr lang="en-US" b="0" i="0" dirty="0">
                <a:solidFill>
                  <a:srgbClr val="67CDCC"/>
                </a:solidFill>
                <a:effectLst/>
                <a:latin typeface="Consolas" panose="020B0609020204030204" pitchFamily="49" charset="0"/>
              </a:rPr>
              <a:t>+</a:t>
            </a:r>
            <a:r>
              <a:rPr lang="en-US" b="0" i="0" dirty="0">
                <a:solidFill>
                  <a:srgbClr val="CCCCCC"/>
                </a:solidFill>
                <a:effectLst/>
                <a:latin typeface="Consolas" panose="020B0609020204030204" pitchFamily="49" charset="0"/>
              </a:rPr>
              <a:t> </a:t>
            </a:r>
            <a:r>
              <a:rPr lang="en-US" b="0" i="0" dirty="0" err="1">
                <a:solidFill>
                  <a:srgbClr val="CCCCCC"/>
                </a:solidFill>
                <a:effectLst/>
                <a:latin typeface="Consolas" panose="020B0609020204030204" pitchFamily="49" charset="0"/>
              </a:rPr>
              <a:t>hasChanged</a:t>
            </a:r>
            <a:r>
              <a:rPr lang="en-US" b="0" i="0" dirty="0">
                <a:solidFill>
                  <a:srgbClr val="CCCCCC"/>
                </a:solidFill>
                <a:effectLst/>
                <a:latin typeface="Consolas" panose="020B0609020204030204" pitchFamily="49" charset="0"/>
              </a:rPr>
              <a:t>);</a:t>
            </a:r>
          </a:p>
          <a:p>
            <a:pPr algn="l" latinLnBrk="0">
              <a:buNone/>
            </a:pPr>
            <a:r>
              <a:rPr lang="en-US" b="0" i="0" dirty="0" err="1">
                <a:solidFill>
                  <a:srgbClr val="CCCCCC"/>
                </a:solidFill>
                <a:effectLst/>
                <a:latin typeface="Consolas" panose="020B0609020204030204" pitchFamily="49" charset="0"/>
              </a:rPr>
              <a:t>IO.</a:t>
            </a:r>
            <a:r>
              <a:rPr lang="en-US" b="0" i="0" dirty="0" err="1">
                <a:solidFill>
                  <a:srgbClr val="F08D49"/>
                </a:solidFill>
                <a:effectLst/>
                <a:latin typeface="Consolas" panose="020B0609020204030204" pitchFamily="49" charset="0"/>
              </a:rPr>
              <a:t>println</a:t>
            </a:r>
            <a:r>
              <a:rPr lang="en-US" b="0" i="0" dirty="0">
                <a:solidFill>
                  <a:srgbClr val="CCCCCC"/>
                </a:solidFill>
                <a:effectLst/>
                <a:latin typeface="Consolas" panose="020B0609020204030204" pitchFamily="49" charset="0"/>
              </a:rPr>
              <a:t>(</a:t>
            </a:r>
            <a:r>
              <a:rPr lang="en-US" b="0" i="0" dirty="0">
                <a:solidFill>
                  <a:srgbClr val="7EC699"/>
                </a:solidFill>
                <a:effectLst/>
                <a:latin typeface="Consolas" panose="020B0609020204030204" pitchFamily="49" charset="0"/>
              </a:rPr>
              <a:t>"strings = "</a:t>
            </a:r>
            <a:r>
              <a:rPr lang="en-US" b="0" i="0" dirty="0">
                <a:solidFill>
                  <a:srgbClr val="CCCCCC"/>
                </a:solidFill>
                <a:effectLst/>
                <a:latin typeface="Consolas" panose="020B0609020204030204" pitchFamily="49" charset="0"/>
              </a:rPr>
              <a:t> </a:t>
            </a:r>
            <a:r>
              <a:rPr lang="en-US" b="0" i="0" dirty="0">
                <a:solidFill>
                  <a:srgbClr val="67CDCC"/>
                </a:solidFill>
                <a:effectLst/>
                <a:latin typeface="Consolas" panose="020B0609020204030204" pitchFamily="49" charset="0"/>
              </a:rPr>
              <a:t>+</a:t>
            </a:r>
            <a:r>
              <a:rPr lang="en-US" b="0" i="0" dirty="0">
                <a:solidFill>
                  <a:srgbClr val="CCCCCC"/>
                </a:solidFill>
                <a:effectLst/>
                <a:latin typeface="Consolas" panose="020B0609020204030204" pitchFamily="49" charset="0"/>
              </a:rPr>
              <a:t> strings);</a:t>
            </a:r>
          </a:p>
          <a:p>
            <a:pPr algn="l">
              <a:buNone/>
            </a:pPr>
            <a:r>
              <a:rPr lang="en-US" b="0" i="0" dirty="0">
                <a:solidFill>
                  <a:srgbClr val="131516"/>
                </a:solidFill>
                <a:effectLst/>
                <a:latin typeface="system-ui"/>
              </a:rPr>
              <a:t>Running this code produces the following result:</a:t>
            </a:r>
          </a:p>
          <a:p>
            <a:pPr algn="l" latinLnBrk="0">
              <a:buNone/>
            </a:pPr>
            <a:r>
              <a:rPr lang="en-US" b="0" i="0" dirty="0">
                <a:solidFill>
                  <a:srgbClr val="CCCCCC"/>
                </a:solidFill>
                <a:effectLst/>
                <a:latin typeface="Consolas" panose="020B0609020204030204" pitchFamily="49" charset="0"/>
              </a:rPr>
              <a:t>Has strings changed? true</a:t>
            </a:r>
          </a:p>
          <a:p>
            <a:pPr algn="l" latinLnBrk="0">
              <a:buNone/>
            </a:pPr>
            <a:r>
              <a:rPr lang="en-US" b="0" i="0" dirty="0">
                <a:solidFill>
                  <a:srgbClr val="CCCCCC"/>
                </a:solidFill>
                <a:effectLst/>
                <a:latin typeface="Consolas" panose="020B0609020204030204" pitchFamily="49" charset="0"/>
              </a:rPr>
              <a:t>strings = [one, two, three, one, four]</a:t>
            </a:r>
          </a:p>
          <a:p>
            <a:pPr algn="l">
              <a:buNone/>
            </a:pPr>
            <a:r>
              <a:rPr lang="en-US" b="0" i="0" dirty="0">
                <a:solidFill>
                  <a:srgbClr val="131516"/>
                </a:solidFill>
                <a:effectLst/>
                <a:latin typeface="system-ui"/>
              </a:rPr>
              <a:t>You need to be aware that running this code will produce a different result if you change the implementation of </a:t>
            </a:r>
            <a:r>
              <a:rPr lang="en-US" b="0" i="0" u="sng" dirty="0">
                <a:solidFill>
                  <a:srgbClr val="3A75B0"/>
                </a:solidFill>
                <a:effectLst/>
                <a:latin typeface="SFMono-Regular"/>
                <a:hlinkClick r:id="rId7"/>
              </a:rPr>
              <a:t>Collection</a:t>
            </a:r>
            <a:r>
              <a:rPr lang="en-US" b="0" i="0" dirty="0">
                <a:solidFill>
                  <a:srgbClr val="131516"/>
                </a:solidFill>
                <a:effectLst/>
                <a:latin typeface="system-ui"/>
              </a:rPr>
              <a:t>. This result stands for </a:t>
            </a:r>
            <a:r>
              <a:rPr lang="en-US" b="0" i="0" u="sng" dirty="0" err="1">
                <a:solidFill>
                  <a:srgbClr val="3A75B0"/>
                </a:solidFill>
                <a:effectLst/>
                <a:latin typeface="SFMono-Regular"/>
                <a:hlinkClick r:id="rId9"/>
              </a:rPr>
              <a:t>ArrayList</a:t>
            </a:r>
            <a:r>
              <a:rPr lang="en-US" b="0" i="0" dirty="0">
                <a:solidFill>
                  <a:srgbClr val="131516"/>
                </a:solidFill>
                <a:effectLst/>
                <a:latin typeface="system-ui"/>
              </a:rPr>
              <a:t>, as you will see in the following, it would not be the same for </a:t>
            </a:r>
            <a:r>
              <a:rPr lang="en-US" b="0" i="0" u="sng" dirty="0">
                <a:solidFill>
                  <a:srgbClr val="3A75B0"/>
                </a:solidFill>
                <a:effectLst/>
                <a:latin typeface="SFMono-Regular"/>
                <a:hlinkClick r:id="rId10"/>
              </a:rPr>
              <a:t>HashSet</a:t>
            </a:r>
            <a:r>
              <a:rPr lang="en-US" b="0" i="0" dirty="0">
                <a:solidFill>
                  <a:srgbClr val="131516"/>
                </a:solidFill>
                <a:effectLst/>
                <a:latin typeface="system-ui"/>
              </a:rPr>
              <a:t>.</a:t>
            </a:r>
          </a:p>
          <a:p>
            <a:pPr algn="l">
              <a:buNone/>
            </a:pPr>
            <a:r>
              <a:rPr lang="en-US" b="0" i="0" dirty="0">
                <a:solidFill>
                  <a:srgbClr val="131516"/>
                </a:solidFill>
                <a:effectLst/>
                <a:latin typeface="system-ui"/>
              </a:rPr>
              <a:t>The third one is </a:t>
            </a:r>
            <a:r>
              <a:rPr lang="en-US" b="0" i="0" u="sng" dirty="0" err="1">
                <a:solidFill>
                  <a:srgbClr val="3A75B0"/>
                </a:solidFill>
                <a:effectLst/>
                <a:latin typeface="SFMono-Regular"/>
                <a:hlinkClick r:id="rId4"/>
              </a:rPr>
              <a:t>removeAll</a:t>
            </a:r>
            <a:r>
              <a:rPr lang="en-US" b="0" i="0" u="sng" dirty="0">
                <a:solidFill>
                  <a:srgbClr val="3A75B0"/>
                </a:solidFill>
                <a:effectLst/>
                <a:latin typeface="SFMono-Regular"/>
                <a:hlinkClick r:id="rId4"/>
              </a:rPr>
              <a:t>()</a:t>
            </a:r>
            <a:r>
              <a:rPr lang="en-US" b="0" i="0" dirty="0">
                <a:solidFill>
                  <a:srgbClr val="131516"/>
                </a:solidFill>
                <a:effectLst/>
                <a:latin typeface="system-ui"/>
              </a:rPr>
              <a:t>. It removes all the elements of this collection that are contained in the other collection. Just as it is the case for </a:t>
            </a:r>
            <a:r>
              <a:rPr lang="en-US" b="0" i="0" u="sng" dirty="0">
                <a:solidFill>
                  <a:srgbClr val="3A75B0"/>
                </a:solidFill>
                <a:effectLst/>
                <a:latin typeface="SFMono-Regular"/>
                <a:hlinkClick r:id="rId11"/>
              </a:rPr>
              <a:t>contains()</a:t>
            </a:r>
            <a:r>
              <a:rPr lang="en-US" b="0" i="0" dirty="0">
                <a:solidFill>
                  <a:srgbClr val="131516"/>
                </a:solidFill>
                <a:effectLst/>
                <a:latin typeface="system-ui"/>
              </a:rPr>
              <a:t> or </a:t>
            </a:r>
            <a:r>
              <a:rPr lang="en-US" b="0" i="0" u="sng" dirty="0">
                <a:solidFill>
                  <a:srgbClr val="3A75B0"/>
                </a:solidFill>
                <a:effectLst/>
                <a:latin typeface="SFMono-Regular"/>
                <a:hlinkClick r:id="rId12"/>
              </a:rPr>
              <a:t>remove()</a:t>
            </a:r>
            <a:r>
              <a:rPr lang="en-US" b="0" i="0" dirty="0">
                <a:solidFill>
                  <a:srgbClr val="131516"/>
                </a:solidFill>
                <a:effectLst/>
                <a:latin typeface="system-ui"/>
              </a:rPr>
              <a:t>, the other collection can be defined on any type; it does not have to be compatible with the one of this collection.</a:t>
            </a:r>
          </a:p>
          <a:p>
            <a:pPr algn="l">
              <a:buNone/>
            </a:pPr>
            <a:r>
              <a:rPr lang="en-US" b="0" i="0" dirty="0">
                <a:solidFill>
                  <a:srgbClr val="131516"/>
                </a:solidFill>
                <a:effectLst/>
                <a:latin typeface="system-ui"/>
              </a:rPr>
              <a:t>You can see </a:t>
            </a:r>
            <a:r>
              <a:rPr lang="en-US" b="0" i="0" u="sng" dirty="0" err="1">
                <a:solidFill>
                  <a:srgbClr val="3A75B0"/>
                </a:solidFill>
                <a:effectLst/>
                <a:latin typeface="SFMono-Regular"/>
                <a:hlinkClick r:id="rId3"/>
              </a:rPr>
              <a:t>removeAll</a:t>
            </a:r>
            <a:r>
              <a:rPr lang="en-US" b="0" i="0" u="sng" dirty="0">
                <a:solidFill>
                  <a:srgbClr val="3A75B0"/>
                </a:solidFill>
                <a:effectLst/>
                <a:latin typeface="SFMono-Regular"/>
                <a:hlinkClick r:id="rId3"/>
              </a:rPr>
              <a:t>()</a:t>
            </a:r>
            <a:r>
              <a:rPr lang="en-US" b="0" i="0" dirty="0">
                <a:solidFill>
                  <a:srgbClr val="131516"/>
                </a:solidFill>
                <a:effectLst/>
                <a:latin typeface="system-ui"/>
              </a:rPr>
              <a:t> in action on the following example:</a:t>
            </a:r>
          </a:p>
          <a:p>
            <a:pPr algn="l" latinLnBrk="0">
              <a:buNone/>
            </a:pPr>
            <a:r>
              <a:rPr lang="en-US" b="0" i="0" dirty="0">
                <a:solidFill>
                  <a:srgbClr val="F8C555"/>
                </a:solidFill>
                <a:effectLst/>
                <a:latin typeface="Consolas" panose="020B0609020204030204" pitchFamily="49" charset="0"/>
              </a:rPr>
              <a:t>Collection</a:t>
            </a:r>
            <a:r>
              <a:rPr lang="en-US" b="0" i="0" dirty="0">
                <a:solidFill>
                  <a:srgbClr val="CCCCCC"/>
                </a:solidFill>
                <a:effectLst/>
                <a:latin typeface="Consolas" panose="020B0609020204030204" pitchFamily="49" charset="0"/>
              </a:rPr>
              <a:t>&lt;</a:t>
            </a:r>
            <a:r>
              <a:rPr lang="en-US" b="0" i="0" dirty="0">
                <a:solidFill>
                  <a:srgbClr val="F8C555"/>
                </a:solidFill>
                <a:effectLst/>
                <a:latin typeface="Consolas" panose="020B0609020204030204" pitchFamily="49" charset="0"/>
              </a:rPr>
              <a:t>String</a:t>
            </a:r>
            <a:r>
              <a:rPr lang="en-US" b="0" i="0" dirty="0">
                <a:solidFill>
                  <a:srgbClr val="CCCCCC"/>
                </a:solidFill>
                <a:effectLst/>
                <a:latin typeface="Consolas" panose="020B0609020204030204" pitchFamily="49" charset="0"/>
              </a:rPr>
              <a:t>&gt; strings </a:t>
            </a:r>
            <a:r>
              <a:rPr lang="en-US" b="0" i="0" dirty="0">
                <a:solidFill>
                  <a:srgbClr val="67CDCC"/>
                </a:solidFill>
                <a:effectLst/>
                <a:latin typeface="Consolas" panose="020B0609020204030204" pitchFamily="49" charset="0"/>
              </a:rPr>
              <a:t>=</a:t>
            </a:r>
            <a:r>
              <a:rPr lang="en-US" b="0" i="0" dirty="0">
                <a:solidFill>
                  <a:srgbClr val="CCCCCC"/>
                </a:solidFill>
                <a:effectLst/>
                <a:latin typeface="Consolas" panose="020B0609020204030204" pitchFamily="49" charset="0"/>
              </a:rPr>
              <a:t> </a:t>
            </a:r>
            <a:r>
              <a:rPr lang="en-US" b="0" i="0" dirty="0">
                <a:solidFill>
                  <a:srgbClr val="CC99CD"/>
                </a:solidFill>
                <a:effectLst/>
                <a:latin typeface="Consolas" panose="020B0609020204030204" pitchFamily="49" charset="0"/>
              </a:rPr>
              <a:t>new</a:t>
            </a:r>
            <a:r>
              <a:rPr lang="en-US" b="0" i="0" dirty="0">
                <a:solidFill>
                  <a:srgbClr val="CCCCCC"/>
                </a:solidFill>
                <a:effectLst/>
                <a:latin typeface="Consolas" panose="020B0609020204030204" pitchFamily="49" charset="0"/>
              </a:rPr>
              <a:t> </a:t>
            </a:r>
            <a:r>
              <a:rPr lang="en-US" b="0" i="0" dirty="0" err="1">
                <a:solidFill>
                  <a:srgbClr val="F8C555"/>
                </a:solidFill>
                <a:effectLst/>
                <a:latin typeface="Consolas" panose="020B0609020204030204" pitchFamily="49" charset="0"/>
              </a:rPr>
              <a:t>ArrayList</a:t>
            </a:r>
            <a:r>
              <a:rPr lang="en-US" b="0" i="0" dirty="0">
                <a:solidFill>
                  <a:srgbClr val="CCCCCC"/>
                </a:solidFill>
                <a:effectLst/>
                <a:latin typeface="Consolas" panose="020B0609020204030204" pitchFamily="49" charset="0"/>
              </a:rPr>
              <a:t>&lt;&gt;();</a:t>
            </a:r>
          </a:p>
          <a:p>
            <a:pPr algn="l" latinLnBrk="0">
              <a:buNone/>
            </a:pPr>
            <a:r>
              <a:rPr lang="en-US" b="0" i="0" dirty="0" err="1">
                <a:solidFill>
                  <a:srgbClr val="CCCCCC"/>
                </a:solidFill>
                <a:effectLst/>
                <a:latin typeface="Consolas" panose="020B0609020204030204" pitchFamily="49" charset="0"/>
              </a:rPr>
              <a:t>strings.</a:t>
            </a:r>
            <a:r>
              <a:rPr lang="en-US" b="0" i="0" dirty="0" err="1">
                <a:solidFill>
                  <a:srgbClr val="F08D49"/>
                </a:solidFill>
                <a:effectLst/>
                <a:latin typeface="Consolas" panose="020B0609020204030204" pitchFamily="49" charset="0"/>
              </a:rPr>
              <a:t>add</a:t>
            </a:r>
            <a:r>
              <a:rPr lang="en-US" b="0" i="0" dirty="0">
                <a:solidFill>
                  <a:srgbClr val="CCCCCC"/>
                </a:solidFill>
                <a:effectLst/>
                <a:latin typeface="Consolas" panose="020B0609020204030204" pitchFamily="49" charset="0"/>
              </a:rPr>
              <a:t>(</a:t>
            </a:r>
            <a:r>
              <a:rPr lang="en-US" b="0" i="0" dirty="0">
                <a:solidFill>
                  <a:srgbClr val="7EC699"/>
                </a:solidFill>
                <a:effectLst/>
                <a:latin typeface="Consolas" panose="020B0609020204030204" pitchFamily="49" charset="0"/>
              </a:rPr>
              <a:t>"one"</a:t>
            </a:r>
            <a:r>
              <a:rPr lang="en-US" b="0" i="0" dirty="0">
                <a:solidFill>
                  <a:srgbClr val="CCCCCC"/>
                </a:solidFill>
                <a:effectLst/>
                <a:latin typeface="Consolas" panose="020B0609020204030204" pitchFamily="49" charset="0"/>
              </a:rPr>
              <a:t>);</a:t>
            </a:r>
          </a:p>
          <a:p>
            <a:pPr algn="l" latinLnBrk="0">
              <a:buNone/>
            </a:pPr>
            <a:r>
              <a:rPr lang="en-US" b="0" i="0" dirty="0" err="1">
                <a:solidFill>
                  <a:srgbClr val="CCCCCC"/>
                </a:solidFill>
                <a:effectLst/>
                <a:latin typeface="Consolas" panose="020B0609020204030204" pitchFamily="49" charset="0"/>
              </a:rPr>
              <a:t>strings.</a:t>
            </a:r>
            <a:r>
              <a:rPr lang="en-US" b="0" i="0" dirty="0" err="1">
                <a:solidFill>
                  <a:srgbClr val="F08D49"/>
                </a:solidFill>
                <a:effectLst/>
                <a:latin typeface="Consolas" panose="020B0609020204030204" pitchFamily="49" charset="0"/>
              </a:rPr>
              <a:t>add</a:t>
            </a:r>
            <a:r>
              <a:rPr lang="en-US" b="0" i="0" dirty="0">
                <a:solidFill>
                  <a:srgbClr val="CCCCCC"/>
                </a:solidFill>
                <a:effectLst/>
                <a:latin typeface="Consolas" panose="020B0609020204030204" pitchFamily="49" charset="0"/>
              </a:rPr>
              <a:t>(</a:t>
            </a:r>
            <a:r>
              <a:rPr lang="en-US" b="0" i="0" dirty="0">
                <a:solidFill>
                  <a:srgbClr val="7EC699"/>
                </a:solidFill>
                <a:effectLst/>
                <a:latin typeface="Consolas" panose="020B0609020204030204" pitchFamily="49" charset="0"/>
              </a:rPr>
              <a:t>"two"</a:t>
            </a:r>
            <a:r>
              <a:rPr lang="en-US" b="0" i="0" dirty="0">
                <a:solidFill>
                  <a:srgbClr val="CCCCCC"/>
                </a:solidFill>
                <a:effectLst/>
                <a:latin typeface="Consolas" panose="020B0609020204030204" pitchFamily="49" charset="0"/>
              </a:rPr>
              <a:t>);</a:t>
            </a:r>
          </a:p>
          <a:p>
            <a:pPr algn="l" latinLnBrk="0">
              <a:buNone/>
            </a:pPr>
            <a:r>
              <a:rPr lang="en-US" b="0" i="0" dirty="0" err="1">
                <a:solidFill>
                  <a:srgbClr val="CCCCCC"/>
                </a:solidFill>
                <a:effectLst/>
                <a:latin typeface="Consolas" panose="020B0609020204030204" pitchFamily="49" charset="0"/>
              </a:rPr>
              <a:t>strings.</a:t>
            </a:r>
            <a:r>
              <a:rPr lang="en-US" b="0" i="0" dirty="0" err="1">
                <a:solidFill>
                  <a:srgbClr val="F08D49"/>
                </a:solidFill>
                <a:effectLst/>
                <a:latin typeface="Consolas" panose="020B0609020204030204" pitchFamily="49" charset="0"/>
              </a:rPr>
              <a:t>add</a:t>
            </a:r>
            <a:r>
              <a:rPr lang="en-US" b="0" i="0" dirty="0">
                <a:solidFill>
                  <a:srgbClr val="CCCCCC"/>
                </a:solidFill>
                <a:effectLst/>
                <a:latin typeface="Consolas" panose="020B0609020204030204" pitchFamily="49" charset="0"/>
              </a:rPr>
              <a:t>(</a:t>
            </a:r>
            <a:r>
              <a:rPr lang="en-US" b="0" i="0" dirty="0">
                <a:solidFill>
                  <a:srgbClr val="7EC699"/>
                </a:solidFill>
                <a:effectLst/>
                <a:latin typeface="Consolas" panose="020B0609020204030204" pitchFamily="49" charset="0"/>
              </a:rPr>
              <a:t>"three"</a:t>
            </a:r>
            <a:r>
              <a:rPr lang="en-US" b="0" i="0" dirty="0">
                <a:solidFill>
                  <a:srgbClr val="CCCCCC"/>
                </a:solidFill>
                <a:effectLst/>
                <a:latin typeface="Consolas" panose="020B0609020204030204" pitchFamily="49" charset="0"/>
              </a:rPr>
              <a:t>);</a:t>
            </a:r>
          </a:p>
          <a:p>
            <a:pPr algn="l" latinLnBrk="0">
              <a:buNone/>
            </a:pPr>
            <a:endParaRPr lang="en-US" b="0" i="0" dirty="0">
              <a:solidFill>
                <a:srgbClr val="CCCCCC"/>
              </a:solidFill>
              <a:effectLst/>
              <a:latin typeface="Consolas" panose="020B0609020204030204" pitchFamily="49" charset="0"/>
            </a:endParaRPr>
          </a:p>
          <a:p>
            <a:pPr algn="l" latinLnBrk="0">
              <a:buNone/>
            </a:pPr>
            <a:r>
              <a:rPr lang="en-US" b="0" i="0" dirty="0">
                <a:solidFill>
                  <a:srgbClr val="F8C555"/>
                </a:solidFill>
                <a:effectLst/>
                <a:latin typeface="Consolas" panose="020B0609020204030204" pitchFamily="49" charset="0"/>
              </a:rPr>
              <a:t>Collection</a:t>
            </a:r>
            <a:r>
              <a:rPr lang="en-US" b="0" i="0" dirty="0">
                <a:solidFill>
                  <a:srgbClr val="CCCCCC"/>
                </a:solidFill>
                <a:effectLst/>
                <a:latin typeface="Consolas" panose="020B0609020204030204" pitchFamily="49" charset="0"/>
              </a:rPr>
              <a:t>&lt;</a:t>
            </a:r>
            <a:r>
              <a:rPr lang="en-US" b="0" i="0" dirty="0">
                <a:solidFill>
                  <a:srgbClr val="F8C555"/>
                </a:solidFill>
                <a:effectLst/>
                <a:latin typeface="Consolas" panose="020B0609020204030204" pitchFamily="49" charset="0"/>
              </a:rPr>
              <a:t>String</a:t>
            </a:r>
            <a:r>
              <a:rPr lang="en-US" b="0" i="0" dirty="0">
                <a:solidFill>
                  <a:srgbClr val="CCCCCC"/>
                </a:solidFill>
                <a:effectLst/>
                <a:latin typeface="Consolas" panose="020B0609020204030204" pitchFamily="49" charset="0"/>
              </a:rPr>
              <a:t>&gt; </a:t>
            </a:r>
            <a:r>
              <a:rPr lang="en-US" b="0" i="0" dirty="0" err="1">
                <a:solidFill>
                  <a:srgbClr val="CCCCCC"/>
                </a:solidFill>
                <a:effectLst/>
                <a:latin typeface="Consolas" panose="020B0609020204030204" pitchFamily="49" charset="0"/>
              </a:rPr>
              <a:t>toBeRemoved</a:t>
            </a:r>
            <a:r>
              <a:rPr lang="en-US" b="0" i="0" dirty="0">
                <a:solidFill>
                  <a:srgbClr val="CCCCCC"/>
                </a:solidFill>
                <a:effectLst/>
                <a:latin typeface="Consolas" panose="020B0609020204030204" pitchFamily="49" charset="0"/>
              </a:rPr>
              <a:t> </a:t>
            </a:r>
            <a:r>
              <a:rPr lang="en-US" b="0" i="0" dirty="0">
                <a:solidFill>
                  <a:srgbClr val="67CDCC"/>
                </a:solidFill>
                <a:effectLst/>
                <a:latin typeface="Consolas" panose="020B0609020204030204" pitchFamily="49" charset="0"/>
              </a:rPr>
              <a:t>=</a:t>
            </a:r>
            <a:r>
              <a:rPr lang="en-US" b="0" i="0" dirty="0">
                <a:solidFill>
                  <a:srgbClr val="CCCCCC"/>
                </a:solidFill>
                <a:effectLst/>
                <a:latin typeface="Consolas" panose="020B0609020204030204" pitchFamily="49" charset="0"/>
              </a:rPr>
              <a:t> </a:t>
            </a:r>
            <a:r>
              <a:rPr lang="en-US" b="0" i="0" dirty="0">
                <a:solidFill>
                  <a:srgbClr val="CC99CD"/>
                </a:solidFill>
                <a:effectLst/>
                <a:latin typeface="Consolas" panose="020B0609020204030204" pitchFamily="49" charset="0"/>
              </a:rPr>
              <a:t>new</a:t>
            </a:r>
            <a:r>
              <a:rPr lang="en-US" b="0" i="0" dirty="0">
                <a:solidFill>
                  <a:srgbClr val="CCCCCC"/>
                </a:solidFill>
                <a:effectLst/>
                <a:latin typeface="Consolas" panose="020B0609020204030204" pitchFamily="49" charset="0"/>
              </a:rPr>
              <a:t> </a:t>
            </a:r>
            <a:r>
              <a:rPr lang="en-US" b="0" i="0" dirty="0" err="1">
                <a:solidFill>
                  <a:srgbClr val="F8C555"/>
                </a:solidFill>
                <a:effectLst/>
                <a:latin typeface="Consolas" panose="020B0609020204030204" pitchFamily="49" charset="0"/>
              </a:rPr>
              <a:t>ArrayList</a:t>
            </a:r>
            <a:r>
              <a:rPr lang="en-US" b="0" i="0" dirty="0">
                <a:solidFill>
                  <a:srgbClr val="CCCCCC"/>
                </a:solidFill>
                <a:effectLst/>
                <a:latin typeface="Consolas" panose="020B0609020204030204" pitchFamily="49" charset="0"/>
              </a:rPr>
              <a:t>&lt;&gt;();</a:t>
            </a:r>
          </a:p>
          <a:p>
            <a:pPr algn="l" latinLnBrk="0">
              <a:buNone/>
            </a:pPr>
            <a:r>
              <a:rPr lang="en-US" b="0" i="0" dirty="0" err="1">
                <a:solidFill>
                  <a:srgbClr val="CCCCCC"/>
                </a:solidFill>
                <a:effectLst/>
                <a:latin typeface="Consolas" panose="020B0609020204030204" pitchFamily="49" charset="0"/>
              </a:rPr>
              <a:t>toBeRemoved.</a:t>
            </a:r>
            <a:r>
              <a:rPr lang="en-US" b="0" i="0" dirty="0" err="1">
                <a:solidFill>
                  <a:srgbClr val="F08D49"/>
                </a:solidFill>
                <a:effectLst/>
                <a:latin typeface="Consolas" panose="020B0609020204030204" pitchFamily="49" charset="0"/>
              </a:rPr>
              <a:t>add</a:t>
            </a:r>
            <a:r>
              <a:rPr lang="en-US" b="0" i="0" dirty="0">
                <a:solidFill>
                  <a:srgbClr val="CCCCCC"/>
                </a:solidFill>
                <a:effectLst/>
                <a:latin typeface="Consolas" panose="020B0609020204030204" pitchFamily="49" charset="0"/>
              </a:rPr>
              <a:t>(</a:t>
            </a:r>
            <a:r>
              <a:rPr lang="en-US" b="0" i="0" dirty="0">
                <a:solidFill>
                  <a:srgbClr val="7EC699"/>
                </a:solidFill>
                <a:effectLst/>
                <a:latin typeface="Consolas" panose="020B0609020204030204" pitchFamily="49" charset="0"/>
              </a:rPr>
              <a:t>"one"</a:t>
            </a:r>
            <a:r>
              <a:rPr lang="en-US" b="0" i="0" dirty="0">
                <a:solidFill>
                  <a:srgbClr val="CCCCCC"/>
                </a:solidFill>
                <a:effectLst/>
                <a:latin typeface="Consolas" panose="020B0609020204030204" pitchFamily="49" charset="0"/>
              </a:rPr>
              <a:t>);</a:t>
            </a:r>
          </a:p>
          <a:p>
            <a:pPr algn="l" latinLnBrk="0">
              <a:buNone/>
            </a:pPr>
            <a:r>
              <a:rPr lang="en-US" b="0" i="0" dirty="0" err="1">
                <a:solidFill>
                  <a:srgbClr val="CCCCCC"/>
                </a:solidFill>
                <a:effectLst/>
                <a:latin typeface="Consolas" panose="020B0609020204030204" pitchFamily="49" charset="0"/>
              </a:rPr>
              <a:t>toBeRemoved.</a:t>
            </a:r>
            <a:r>
              <a:rPr lang="en-US" b="0" i="0" dirty="0" err="1">
                <a:solidFill>
                  <a:srgbClr val="F08D49"/>
                </a:solidFill>
                <a:effectLst/>
                <a:latin typeface="Consolas" panose="020B0609020204030204" pitchFamily="49" charset="0"/>
              </a:rPr>
              <a:t>add</a:t>
            </a:r>
            <a:r>
              <a:rPr lang="en-US" b="0" i="0" dirty="0">
                <a:solidFill>
                  <a:srgbClr val="CCCCCC"/>
                </a:solidFill>
                <a:effectLst/>
                <a:latin typeface="Consolas" panose="020B0609020204030204" pitchFamily="49" charset="0"/>
              </a:rPr>
              <a:t>(</a:t>
            </a:r>
            <a:r>
              <a:rPr lang="en-US" b="0" i="0" dirty="0">
                <a:solidFill>
                  <a:srgbClr val="7EC699"/>
                </a:solidFill>
                <a:effectLst/>
                <a:latin typeface="Consolas" panose="020B0609020204030204" pitchFamily="49" charset="0"/>
              </a:rPr>
              <a:t>"four"</a:t>
            </a:r>
            <a:r>
              <a:rPr lang="en-US" b="0" i="0" dirty="0">
                <a:solidFill>
                  <a:srgbClr val="CCCCCC"/>
                </a:solidFill>
                <a:effectLst/>
                <a:latin typeface="Consolas" panose="020B0609020204030204" pitchFamily="49" charset="0"/>
              </a:rPr>
              <a:t>);</a:t>
            </a:r>
          </a:p>
          <a:p>
            <a:pPr algn="l" latinLnBrk="0">
              <a:buNone/>
            </a:pPr>
            <a:endParaRPr lang="en-US" b="0" i="0" dirty="0">
              <a:solidFill>
                <a:srgbClr val="CCCCCC"/>
              </a:solidFill>
              <a:effectLst/>
              <a:latin typeface="Consolas" panose="020B0609020204030204" pitchFamily="49" charset="0"/>
            </a:endParaRPr>
          </a:p>
          <a:p>
            <a:pPr algn="l" latinLnBrk="0">
              <a:buNone/>
            </a:pPr>
            <a:r>
              <a:rPr lang="en-US" b="0" i="0" dirty="0" err="1">
                <a:solidFill>
                  <a:srgbClr val="CC99CD"/>
                </a:solidFill>
                <a:effectLst/>
                <a:latin typeface="Consolas" panose="020B0609020204030204" pitchFamily="49" charset="0"/>
              </a:rPr>
              <a:t>boolean</a:t>
            </a:r>
            <a:r>
              <a:rPr lang="en-US" b="0" i="0" dirty="0">
                <a:solidFill>
                  <a:srgbClr val="CCCCCC"/>
                </a:solidFill>
                <a:effectLst/>
                <a:latin typeface="Consolas" panose="020B0609020204030204" pitchFamily="49" charset="0"/>
              </a:rPr>
              <a:t> </a:t>
            </a:r>
            <a:r>
              <a:rPr lang="en-US" b="0" i="0" dirty="0" err="1">
                <a:solidFill>
                  <a:srgbClr val="CCCCCC"/>
                </a:solidFill>
                <a:effectLst/>
                <a:latin typeface="Consolas" panose="020B0609020204030204" pitchFamily="49" charset="0"/>
              </a:rPr>
              <a:t>hasChanged</a:t>
            </a:r>
            <a:r>
              <a:rPr lang="en-US" b="0" i="0" dirty="0">
                <a:solidFill>
                  <a:srgbClr val="CCCCCC"/>
                </a:solidFill>
                <a:effectLst/>
                <a:latin typeface="Consolas" panose="020B0609020204030204" pitchFamily="49" charset="0"/>
              </a:rPr>
              <a:t> </a:t>
            </a:r>
            <a:r>
              <a:rPr lang="en-US" b="0" i="0" dirty="0">
                <a:solidFill>
                  <a:srgbClr val="67CDCC"/>
                </a:solidFill>
                <a:effectLst/>
                <a:latin typeface="Consolas" panose="020B0609020204030204" pitchFamily="49" charset="0"/>
              </a:rPr>
              <a:t>=</a:t>
            </a:r>
            <a:r>
              <a:rPr lang="en-US" b="0" i="0" dirty="0">
                <a:solidFill>
                  <a:srgbClr val="CCCCCC"/>
                </a:solidFill>
                <a:effectLst/>
                <a:latin typeface="Consolas" panose="020B0609020204030204" pitchFamily="49" charset="0"/>
              </a:rPr>
              <a:t> </a:t>
            </a:r>
            <a:r>
              <a:rPr lang="en-US" b="0" i="0" dirty="0" err="1">
                <a:solidFill>
                  <a:srgbClr val="CCCCCC"/>
                </a:solidFill>
                <a:effectLst/>
                <a:latin typeface="Consolas" panose="020B0609020204030204" pitchFamily="49" charset="0"/>
              </a:rPr>
              <a:t>strings.</a:t>
            </a:r>
            <a:r>
              <a:rPr lang="en-US" b="0" i="0" dirty="0" err="1">
                <a:solidFill>
                  <a:srgbClr val="F08D49"/>
                </a:solidFill>
                <a:effectLst/>
                <a:latin typeface="Consolas" panose="020B0609020204030204" pitchFamily="49" charset="0"/>
              </a:rPr>
              <a:t>removeAll</a:t>
            </a:r>
            <a:r>
              <a:rPr lang="en-US" b="0" i="0" dirty="0">
                <a:solidFill>
                  <a:srgbClr val="CCCCCC"/>
                </a:solidFill>
                <a:effectLst/>
                <a:latin typeface="Consolas" panose="020B0609020204030204" pitchFamily="49" charset="0"/>
              </a:rPr>
              <a:t>(</a:t>
            </a:r>
            <a:r>
              <a:rPr lang="en-US" b="0" i="0" dirty="0" err="1">
                <a:solidFill>
                  <a:srgbClr val="CCCCCC"/>
                </a:solidFill>
                <a:effectLst/>
                <a:latin typeface="Consolas" panose="020B0609020204030204" pitchFamily="49" charset="0"/>
              </a:rPr>
              <a:t>toBeRemoved</a:t>
            </a:r>
            <a:r>
              <a:rPr lang="en-US" b="0" i="0" dirty="0">
                <a:solidFill>
                  <a:srgbClr val="CCCCCC"/>
                </a:solidFill>
                <a:effectLst/>
                <a:latin typeface="Consolas" panose="020B0609020204030204" pitchFamily="49" charset="0"/>
              </a:rPr>
              <a:t>);</a:t>
            </a:r>
          </a:p>
          <a:p>
            <a:pPr algn="l" latinLnBrk="0">
              <a:buNone/>
            </a:pPr>
            <a:endParaRPr lang="en-US" b="0" i="0" dirty="0">
              <a:solidFill>
                <a:srgbClr val="CCCCCC"/>
              </a:solidFill>
              <a:effectLst/>
              <a:latin typeface="Consolas" panose="020B0609020204030204" pitchFamily="49" charset="0"/>
            </a:endParaRPr>
          </a:p>
          <a:p>
            <a:pPr algn="l" latinLnBrk="0">
              <a:buNone/>
            </a:pPr>
            <a:r>
              <a:rPr lang="en-US" b="0" i="0" dirty="0" err="1">
                <a:solidFill>
                  <a:srgbClr val="CCCCCC"/>
                </a:solidFill>
                <a:effectLst/>
                <a:latin typeface="Consolas" panose="020B0609020204030204" pitchFamily="49" charset="0"/>
              </a:rPr>
              <a:t>IO.</a:t>
            </a:r>
            <a:r>
              <a:rPr lang="en-US" b="0" i="0" dirty="0" err="1">
                <a:solidFill>
                  <a:srgbClr val="F08D49"/>
                </a:solidFill>
                <a:effectLst/>
                <a:latin typeface="Consolas" panose="020B0609020204030204" pitchFamily="49" charset="0"/>
              </a:rPr>
              <a:t>println</a:t>
            </a:r>
            <a:r>
              <a:rPr lang="en-US" b="0" i="0" dirty="0">
                <a:solidFill>
                  <a:srgbClr val="CCCCCC"/>
                </a:solidFill>
                <a:effectLst/>
                <a:latin typeface="Consolas" panose="020B0609020204030204" pitchFamily="49" charset="0"/>
              </a:rPr>
              <a:t>(</a:t>
            </a:r>
            <a:r>
              <a:rPr lang="en-US" b="0" i="0" dirty="0">
                <a:solidFill>
                  <a:srgbClr val="7EC699"/>
                </a:solidFill>
                <a:effectLst/>
                <a:latin typeface="Consolas" panose="020B0609020204030204" pitchFamily="49" charset="0"/>
              </a:rPr>
              <a:t>"Has strings changed? "</a:t>
            </a:r>
            <a:r>
              <a:rPr lang="en-US" b="0" i="0" dirty="0">
                <a:solidFill>
                  <a:srgbClr val="CCCCCC"/>
                </a:solidFill>
                <a:effectLst/>
                <a:latin typeface="Consolas" panose="020B0609020204030204" pitchFamily="49" charset="0"/>
              </a:rPr>
              <a:t> </a:t>
            </a:r>
            <a:r>
              <a:rPr lang="en-US" b="0" i="0" dirty="0">
                <a:solidFill>
                  <a:srgbClr val="67CDCC"/>
                </a:solidFill>
                <a:effectLst/>
                <a:latin typeface="Consolas" panose="020B0609020204030204" pitchFamily="49" charset="0"/>
              </a:rPr>
              <a:t>+</a:t>
            </a:r>
            <a:r>
              <a:rPr lang="en-US" b="0" i="0" dirty="0">
                <a:solidFill>
                  <a:srgbClr val="CCCCCC"/>
                </a:solidFill>
                <a:effectLst/>
                <a:latin typeface="Consolas" panose="020B0609020204030204" pitchFamily="49" charset="0"/>
              </a:rPr>
              <a:t> </a:t>
            </a:r>
            <a:r>
              <a:rPr lang="en-US" b="0" i="0" dirty="0" err="1">
                <a:solidFill>
                  <a:srgbClr val="CCCCCC"/>
                </a:solidFill>
                <a:effectLst/>
                <a:latin typeface="Consolas" panose="020B0609020204030204" pitchFamily="49" charset="0"/>
              </a:rPr>
              <a:t>hasChanged</a:t>
            </a:r>
            <a:r>
              <a:rPr lang="en-US" b="0" i="0" dirty="0">
                <a:solidFill>
                  <a:srgbClr val="CCCCCC"/>
                </a:solidFill>
                <a:effectLst/>
                <a:latin typeface="Consolas" panose="020B0609020204030204" pitchFamily="49" charset="0"/>
              </a:rPr>
              <a:t>);</a:t>
            </a:r>
          </a:p>
          <a:p>
            <a:pPr algn="l" latinLnBrk="0">
              <a:buNone/>
            </a:pPr>
            <a:r>
              <a:rPr lang="en-US" b="0" i="0" dirty="0" err="1">
                <a:solidFill>
                  <a:srgbClr val="CCCCCC"/>
                </a:solidFill>
                <a:effectLst/>
                <a:latin typeface="Consolas" panose="020B0609020204030204" pitchFamily="49" charset="0"/>
              </a:rPr>
              <a:t>IO.</a:t>
            </a:r>
            <a:r>
              <a:rPr lang="en-US" b="0" i="0" dirty="0" err="1">
                <a:solidFill>
                  <a:srgbClr val="F08D49"/>
                </a:solidFill>
                <a:effectLst/>
                <a:latin typeface="Consolas" panose="020B0609020204030204" pitchFamily="49" charset="0"/>
              </a:rPr>
              <a:t>println</a:t>
            </a:r>
            <a:r>
              <a:rPr lang="en-US" b="0" i="0" dirty="0">
                <a:solidFill>
                  <a:srgbClr val="CCCCCC"/>
                </a:solidFill>
                <a:effectLst/>
                <a:latin typeface="Consolas" panose="020B0609020204030204" pitchFamily="49" charset="0"/>
              </a:rPr>
              <a:t>(</a:t>
            </a:r>
            <a:r>
              <a:rPr lang="en-US" b="0" i="0" dirty="0">
                <a:solidFill>
                  <a:srgbClr val="7EC699"/>
                </a:solidFill>
                <a:effectLst/>
                <a:latin typeface="Consolas" panose="020B0609020204030204" pitchFamily="49" charset="0"/>
              </a:rPr>
              <a:t>"strings = "</a:t>
            </a:r>
            <a:r>
              <a:rPr lang="en-US" b="0" i="0" dirty="0">
                <a:solidFill>
                  <a:srgbClr val="CCCCCC"/>
                </a:solidFill>
                <a:effectLst/>
                <a:latin typeface="Consolas" panose="020B0609020204030204" pitchFamily="49" charset="0"/>
              </a:rPr>
              <a:t> </a:t>
            </a:r>
            <a:r>
              <a:rPr lang="en-US" b="0" i="0" dirty="0">
                <a:solidFill>
                  <a:srgbClr val="67CDCC"/>
                </a:solidFill>
                <a:effectLst/>
                <a:latin typeface="Consolas" panose="020B0609020204030204" pitchFamily="49" charset="0"/>
              </a:rPr>
              <a:t>+</a:t>
            </a:r>
            <a:r>
              <a:rPr lang="en-US" b="0" i="0" dirty="0">
                <a:solidFill>
                  <a:srgbClr val="CCCCCC"/>
                </a:solidFill>
                <a:effectLst/>
                <a:latin typeface="Consolas" panose="020B0609020204030204" pitchFamily="49" charset="0"/>
              </a:rPr>
              <a:t> strings);</a:t>
            </a:r>
          </a:p>
          <a:p>
            <a:pPr algn="l">
              <a:buNone/>
            </a:pPr>
            <a:r>
              <a:rPr lang="en-US" b="0" i="0" dirty="0">
                <a:solidFill>
                  <a:srgbClr val="131516"/>
                </a:solidFill>
                <a:effectLst/>
                <a:latin typeface="system-ui"/>
              </a:rPr>
              <a:t>Running this code produces the following result:</a:t>
            </a:r>
          </a:p>
          <a:p>
            <a:pPr algn="l" latinLnBrk="0">
              <a:buNone/>
            </a:pPr>
            <a:r>
              <a:rPr lang="en-US" b="0" i="0" dirty="0">
                <a:solidFill>
                  <a:srgbClr val="CCCCCC"/>
                </a:solidFill>
                <a:effectLst/>
                <a:latin typeface="Consolas" panose="020B0609020204030204" pitchFamily="49" charset="0"/>
              </a:rPr>
              <a:t>Has strings changed? true</a:t>
            </a:r>
          </a:p>
          <a:p>
            <a:pPr algn="l" latinLnBrk="0">
              <a:buNone/>
            </a:pPr>
            <a:r>
              <a:rPr lang="en-US" b="0" i="0" dirty="0">
                <a:solidFill>
                  <a:srgbClr val="CCCCCC"/>
                </a:solidFill>
                <a:effectLst/>
                <a:latin typeface="Consolas" panose="020B0609020204030204" pitchFamily="49" charset="0"/>
              </a:rPr>
              <a:t>strings = [two, three]</a:t>
            </a:r>
          </a:p>
          <a:p>
            <a:pPr algn="l">
              <a:buNone/>
            </a:pPr>
            <a:r>
              <a:rPr lang="en-US" b="0" i="0" dirty="0">
                <a:solidFill>
                  <a:srgbClr val="131516"/>
                </a:solidFill>
                <a:effectLst/>
                <a:latin typeface="system-ui"/>
              </a:rPr>
              <a:t>The last one is </a:t>
            </a:r>
            <a:r>
              <a:rPr lang="en-US" b="0" i="0" u="sng" dirty="0" err="1">
                <a:solidFill>
                  <a:srgbClr val="3A75B0"/>
                </a:solidFill>
                <a:effectLst/>
                <a:latin typeface="SFMono-Regular"/>
                <a:hlinkClick r:id="rId5"/>
              </a:rPr>
              <a:t>retainAll</a:t>
            </a:r>
            <a:r>
              <a:rPr lang="en-US" b="0" i="0" u="sng" dirty="0">
                <a:solidFill>
                  <a:srgbClr val="3A75B0"/>
                </a:solidFill>
                <a:effectLst/>
                <a:latin typeface="SFMono-Regular"/>
                <a:hlinkClick r:id="rId5"/>
              </a:rPr>
              <a:t>()</a:t>
            </a:r>
            <a:r>
              <a:rPr lang="en-US" b="0" i="0" dirty="0">
                <a:solidFill>
                  <a:srgbClr val="131516"/>
                </a:solidFill>
                <a:effectLst/>
                <a:latin typeface="system-ui"/>
              </a:rPr>
              <a:t>. This operation retains only the elements from this collection that are contained in the other collection; all the others are removed. Once again, as it is the case for </a:t>
            </a:r>
            <a:r>
              <a:rPr lang="en-US" b="0" i="0" u="sng" dirty="0">
                <a:solidFill>
                  <a:srgbClr val="3A75B0"/>
                </a:solidFill>
                <a:effectLst/>
                <a:latin typeface="SFMono-Regular"/>
                <a:hlinkClick r:id="rId11"/>
              </a:rPr>
              <a:t>contains()</a:t>
            </a:r>
            <a:r>
              <a:rPr lang="en-US" b="0" i="0" dirty="0">
                <a:solidFill>
                  <a:srgbClr val="131516"/>
                </a:solidFill>
                <a:effectLst/>
                <a:latin typeface="system-ui"/>
              </a:rPr>
              <a:t> or </a:t>
            </a:r>
            <a:r>
              <a:rPr lang="en-US" b="0" i="0" u="sng" dirty="0">
                <a:solidFill>
                  <a:srgbClr val="3A75B0"/>
                </a:solidFill>
                <a:effectLst/>
                <a:latin typeface="SFMono-Regular"/>
                <a:hlinkClick r:id="rId12"/>
              </a:rPr>
              <a:t>remove()</a:t>
            </a:r>
            <a:r>
              <a:rPr lang="en-US" b="0" i="0" dirty="0">
                <a:solidFill>
                  <a:srgbClr val="131516"/>
                </a:solidFill>
                <a:effectLst/>
                <a:latin typeface="system-ui"/>
              </a:rPr>
              <a:t>, the other collection can be defined on any type.</a:t>
            </a:r>
          </a:p>
          <a:p>
            <a:pPr algn="l">
              <a:buNone/>
            </a:pPr>
            <a:r>
              <a:rPr lang="en-US" b="0" i="0" dirty="0">
                <a:solidFill>
                  <a:srgbClr val="131516"/>
                </a:solidFill>
                <a:effectLst/>
                <a:latin typeface="system-ui"/>
              </a:rPr>
              <a:t>You can see </a:t>
            </a:r>
            <a:r>
              <a:rPr lang="en-US" b="0" i="0" u="sng" dirty="0" err="1">
                <a:solidFill>
                  <a:srgbClr val="3A75B0"/>
                </a:solidFill>
                <a:effectLst/>
                <a:latin typeface="SFMono-Regular"/>
                <a:hlinkClick r:id="rId5"/>
              </a:rPr>
              <a:t>retainAll</a:t>
            </a:r>
            <a:r>
              <a:rPr lang="en-US" b="0" i="0" u="sng" dirty="0">
                <a:solidFill>
                  <a:srgbClr val="3A75B0"/>
                </a:solidFill>
                <a:effectLst/>
                <a:latin typeface="SFMono-Regular"/>
                <a:hlinkClick r:id="rId5"/>
              </a:rPr>
              <a:t>()</a:t>
            </a:r>
            <a:r>
              <a:rPr lang="en-US" b="0" i="0" dirty="0">
                <a:solidFill>
                  <a:srgbClr val="131516"/>
                </a:solidFill>
                <a:effectLst/>
                <a:latin typeface="system-ui"/>
              </a:rPr>
              <a:t> in action on the following example:</a:t>
            </a:r>
          </a:p>
          <a:p>
            <a:pPr algn="l" latinLnBrk="0">
              <a:buNone/>
            </a:pPr>
            <a:r>
              <a:rPr lang="en-US" b="0" i="0" dirty="0">
                <a:solidFill>
                  <a:srgbClr val="F8C555"/>
                </a:solidFill>
                <a:effectLst/>
                <a:latin typeface="Consolas" panose="020B0609020204030204" pitchFamily="49" charset="0"/>
              </a:rPr>
              <a:t>Collection</a:t>
            </a:r>
            <a:r>
              <a:rPr lang="en-US" b="0" i="0" dirty="0">
                <a:solidFill>
                  <a:srgbClr val="CCCCCC"/>
                </a:solidFill>
                <a:effectLst/>
                <a:latin typeface="Consolas" panose="020B0609020204030204" pitchFamily="49" charset="0"/>
              </a:rPr>
              <a:t>&lt;</a:t>
            </a:r>
            <a:r>
              <a:rPr lang="en-US" b="0" i="0" dirty="0">
                <a:solidFill>
                  <a:srgbClr val="F8C555"/>
                </a:solidFill>
                <a:effectLst/>
                <a:latin typeface="Consolas" panose="020B0609020204030204" pitchFamily="49" charset="0"/>
              </a:rPr>
              <a:t>String</a:t>
            </a:r>
            <a:r>
              <a:rPr lang="en-US" b="0" i="0" dirty="0">
                <a:solidFill>
                  <a:srgbClr val="CCCCCC"/>
                </a:solidFill>
                <a:effectLst/>
                <a:latin typeface="Consolas" panose="020B0609020204030204" pitchFamily="49" charset="0"/>
              </a:rPr>
              <a:t>&gt; strings </a:t>
            </a:r>
            <a:r>
              <a:rPr lang="en-US" b="0" i="0" dirty="0">
                <a:solidFill>
                  <a:srgbClr val="67CDCC"/>
                </a:solidFill>
                <a:effectLst/>
                <a:latin typeface="Consolas" panose="020B0609020204030204" pitchFamily="49" charset="0"/>
              </a:rPr>
              <a:t>=</a:t>
            </a:r>
            <a:r>
              <a:rPr lang="en-US" b="0" i="0" dirty="0">
                <a:solidFill>
                  <a:srgbClr val="CCCCCC"/>
                </a:solidFill>
                <a:effectLst/>
                <a:latin typeface="Consolas" panose="020B0609020204030204" pitchFamily="49" charset="0"/>
              </a:rPr>
              <a:t> </a:t>
            </a:r>
            <a:r>
              <a:rPr lang="en-US" b="0" i="0" dirty="0">
                <a:solidFill>
                  <a:srgbClr val="CC99CD"/>
                </a:solidFill>
                <a:effectLst/>
                <a:latin typeface="Consolas" panose="020B0609020204030204" pitchFamily="49" charset="0"/>
              </a:rPr>
              <a:t>new</a:t>
            </a:r>
            <a:r>
              <a:rPr lang="en-US" b="0" i="0" dirty="0">
                <a:solidFill>
                  <a:srgbClr val="CCCCCC"/>
                </a:solidFill>
                <a:effectLst/>
                <a:latin typeface="Consolas" panose="020B0609020204030204" pitchFamily="49" charset="0"/>
              </a:rPr>
              <a:t> </a:t>
            </a:r>
            <a:r>
              <a:rPr lang="en-US" b="0" i="0" dirty="0" err="1">
                <a:solidFill>
                  <a:srgbClr val="F8C555"/>
                </a:solidFill>
                <a:effectLst/>
                <a:latin typeface="Consolas" panose="020B0609020204030204" pitchFamily="49" charset="0"/>
              </a:rPr>
              <a:t>ArrayList</a:t>
            </a:r>
            <a:r>
              <a:rPr lang="en-US" b="0" i="0" dirty="0">
                <a:solidFill>
                  <a:srgbClr val="CCCCCC"/>
                </a:solidFill>
                <a:effectLst/>
                <a:latin typeface="Consolas" panose="020B0609020204030204" pitchFamily="49" charset="0"/>
              </a:rPr>
              <a:t>&lt;&gt;();</a:t>
            </a:r>
          </a:p>
          <a:p>
            <a:pPr algn="l" latinLnBrk="0">
              <a:buNone/>
            </a:pPr>
            <a:r>
              <a:rPr lang="en-US" b="0" i="0" dirty="0" err="1">
                <a:solidFill>
                  <a:srgbClr val="CCCCCC"/>
                </a:solidFill>
                <a:effectLst/>
                <a:latin typeface="Consolas" panose="020B0609020204030204" pitchFamily="49" charset="0"/>
              </a:rPr>
              <a:t>strings.</a:t>
            </a:r>
            <a:r>
              <a:rPr lang="en-US" b="0" i="0" dirty="0" err="1">
                <a:solidFill>
                  <a:srgbClr val="F08D49"/>
                </a:solidFill>
                <a:effectLst/>
                <a:latin typeface="Consolas" panose="020B0609020204030204" pitchFamily="49" charset="0"/>
              </a:rPr>
              <a:t>add</a:t>
            </a:r>
            <a:r>
              <a:rPr lang="en-US" b="0" i="0" dirty="0">
                <a:solidFill>
                  <a:srgbClr val="CCCCCC"/>
                </a:solidFill>
                <a:effectLst/>
                <a:latin typeface="Consolas" panose="020B0609020204030204" pitchFamily="49" charset="0"/>
              </a:rPr>
              <a:t>(</a:t>
            </a:r>
            <a:r>
              <a:rPr lang="en-US" b="0" i="0" dirty="0">
                <a:solidFill>
                  <a:srgbClr val="7EC699"/>
                </a:solidFill>
                <a:effectLst/>
                <a:latin typeface="Consolas" panose="020B0609020204030204" pitchFamily="49" charset="0"/>
              </a:rPr>
              <a:t>"one"</a:t>
            </a:r>
            <a:r>
              <a:rPr lang="en-US" b="0" i="0" dirty="0">
                <a:solidFill>
                  <a:srgbClr val="CCCCCC"/>
                </a:solidFill>
                <a:effectLst/>
                <a:latin typeface="Consolas" panose="020B0609020204030204" pitchFamily="49" charset="0"/>
              </a:rPr>
              <a:t>);</a:t>
            </a:r>
          </a:p>
          <a:p>
            <a:pPr algn="l" latinLnBrk="0">
              <a:buNone/>
            </a:pPr>
            <a:r>
              <a:rPr lang="en-US" b="0" i="0" dirty="0" err="1">
                <a:solidFill>
                  <a:srgbClr val="CCCCCC"/>
                </a:solidFill>
                <a:effectLst/>
                <a:latin typeface="Consolas" panose="020B0609020204030204" pitchFamily="49" charset="0"/>
              </a:rPr>
              <a:t>strings.</a:t>
            </a:r>
            <a:r>
              <a:rPr lang="en-US" b="0" i="0" dirty="0" err="1">
                <a:solidFill>
                  <a:srgbClr val="F08D49"/>
                </a:solidFill>
                <a:effectLst/>
                <a:latin typeface="Consolas" panose="020B0609020204030204" pitchFamily="49" charset="0"/>
              </a:rPr>
              <a:t>add</a:t>
            </a:r>
            <a:r>
              <a:rPr lang="en-US" b="0" i="0" dirty="0">
                <a:solidFill>
                  <a:srgbClr val="CCCCCC"/>
                </a:solidFill>
                <a:effectLst/>
                <a:latin typeface="Consolas" panose="020B0609020204030204" pitchFamily="49" charset="0"/>
              </a:rPr>
              <a:t>(</a:t>
            </a:r>
            <a:r>
              <a:rPr lang="en-US" b="0" i="0" dirty="0">
                <a:solidFill>
                  <a:srgbClr val="7EC699"/>
                </a:solidFill>
                <a:effectLst/>
                <a:latin typeface="Consolas" panose="020B0609020204030204" pitchFamily="49" charset="0"/>
              </a:rPr>
              <a:t>"two"</a:t>
            </a:r>
            <a:r>
              <a:rPr lang="en-US" b="0" i="0" dirty="0">
                <a:solidFill>
                  <a:srgbClr val="CCCCCC"/>
                </a:solidFill>
                <a:effectLst/>
                <a:latin typeface="Consolas" panose="020B0609020204030204" pitchFamily="49" charset="0"/>
              </a:rPr>
              <a:t>);</a:t>
            </a:r>
          </a:p>
          <a:p>
            <a:pPr algn="l" latinLnBrk="0">
              <a:buNone/>
            </a:pPr>
            <a:r>
              <a:rPr lang="en-US" b="0" i="0" dirty="0" err="1">
                <a:solidFill>
                  <a:srgbClr val="CCCCCC"/>
                </a:solidFill>
                <a:effectLst/>
                <a:latin typeface="Consolas" panose="020B0609020204030204" pitchFamily="49" charset="0"/>
              </a:rPr>
              <a:t>strings.</a:t>
            </a:r>
            <a:r>
              <a:rPr lang="en-US" b="0" i="0" dirty="0" err="1">
                <a:solidFill>
                  <a:srgbClr val="F08D49"/>
                </a:solidFill>
                <a:effectLst/>
                <a:latin typeface="Consolas" panose="020B0609020204030204" pitchFamily="49" charset="0"/>
              </a:rPr>
              <a:t>add</a:t>
            </a:r>
            <a:r>
              <a:rPr lang="en-US" b="0" i="0" dirty="0">
                <a:solidFill>
                  <a:srgbClr val="CCCCCC"/>
                </a:solidFill>
                <a:effectLst/>
                <a:latin typeface="Consolas" panose="020B0609020204030204" pitchFamily="49" charset="0"/>
              </a:rPr>
              <a:t>(</a:t>
            </a:r>
            <a:r>
              <a:rPr lang="en-US" b="0" i="0" dirty="0">
                <a:solidFill>
                  <a:srgbClr val="7EC699"/>
                </a:solidFill>
                <a:effectLst/>
                <a:latin typeface="Consolas" panose="020B0609020204030204" pitchFamily="49" charset="0"/>
              </a:rPr>
              <a:t>"three"</a:t>
            </a:r>
            <a:r>
              <a:rPr lang="en-US" b="0" i="0" dirty="0">
                <a:solidFill>
                  <a:srgbClr val="CCCCCC"/>
                </a:solidFill>
                <a:effectLst/>
                <a:latin typeface="Consolas" panose="020B0609020204030204" pitchFamily="49" charset="0"/>
              </a:rPr>
              <a:t>);</a:t>
            </a:r>
          </a:p>
          <a:p>
            <a:pPr algn="l" latinLnBrk="0">
              <a:buNone/>
            </a:pPr>
            <a:endParaRPr lang="en-US" b="0" i="0" dirty="0">
              <a:solidFill>
                <a:srgbClr val="CCCCCC"/>
              </a:solidFill>
              <a:effectLst/>
              <a:latin typeface="Consolas" panose="020B0609020204030204" pitchFamily="49" charset="0"/>
            </a:endParaRPr>
          </a:p>
          <a:p>
            <a:pPr algn="l" latinLnBrk="0">
              <a:buNone/>
            </a:pPr>
            <a:r>
              <a:rPr lang="en-US" b="0" i="0" dirty="0">
                <a:solidFill>
                  <a:srgbClr val="F8C555"/>
                </a:solidFill>
                <a:effectLst/>
                <a:latin typeface="Consolas" panose="020B0609020204030204" pitchFamily="49" charset="0"/>
              </a:rPr>
              <a:t>Collection</a:t>
            </a:r>
            <a:r>
              <a:rPr lang="en-US" b="0" i="0" dirty="0">
                <a:solidFill>
                  <a:srgbClr val="CCCCCC"/>
                </a:solidFill>
                <a:effectLst/>
                <a:latin typeface="Consolas" panose="020B0609020204030204" pitchFamily="49" charset="0"/>
              </a:rPr>
              <a:t>&lt;</a:t>
            </a:r>
            <a:r>
              <a:rPr lang="en-US" b="0" i="0" dirty="0">
                <a:solidFill>
                  <a:srgbClr val="F8C555"/>
                </a:solidFill>
                <a:effectLst/>
                <a:latin typeface="Consolas" panose="020B0609020204030204" pitchFamily="49" charset="0"/>
              </a:rPr>
              <a:t>String</a:t>
            </a:r>
            <a:r>
              <a:rPr lang="en-US" b="0" i="0" dirty="0">
                <a:solidFill>
                  <a:srgbClr val="CCCCCC"/>
                </a:solidFill>
                <a:effectLst/>
                <a:latin typeface="Consolas" panose="020B0609020204030204" pitchFamily="49" charset="0"/>
              </a:rPr>
              <a:t>&gt; </a:t>
            </a:r>
            <a:r>
              <a:rPr lang="en-US" b="0" i="0" dirty="0" err="1">
                <a:solidFill>
                  <a:srgbClr val="CCCCCC"/>
                </a:solidFill>
                <a:effectLst/>
                <a:latin typeface="Consolas" panose="020B0609020204030204" pitchFamily="49" charset="0"/>
              </a:rPr>
              <a:t>toBeRetained</a:t>
            </a:r>
            <a:r>
              <a:rPr lang="en-US" b="0" i="0" dirty="0">
                <a:solidFill>
                  <a:srgbClr val="CCCCCC"/>
                </a:solidFill>
                <a:effectLst/>
                <a:latin typeface="Consolas" panose="020B0609020204030204" pitchFamily="49" charset="0"/>
              </a:rPr>
              <a:t> </a:t>
            </a:r>
            <a:r>
              <a:rPr lang="en-US" b="0" i="0" dirty="0">
                <a:solidFill>
                  <a:srgbClr val="67CDCC"/>
                </a:solidFill>
                <a:effectLst/>
                <a:latin typeface="Consolas" panose="020B0609020204030204" pitchFamily="49" charset="0"/>
              </a:rPr>
              <a:t>=</a:t>
            </a:r>
            <a:r>
              <a:rPr lang="en-US" b="0" i="0" dirty="0">
                <a:solidFill>
                  <a:srgbClr val="CCCCCC"/>
                </a:solidFill>
                <a:effectLst/>
                <a:latin typeface="Consolas" panose="020B0609020204030204" pitchFamily="49" charset="0"/>
              </a:rPr>
              <a:t> </a:t>
            </a:r>
            <a:r>
              <a:rPr lang="en-US" b="0" i="0" dirty="0">
                <a:solidFill>
                  <a:srgbClr val="CC99CD"/>
                </a:solidFill>
                <a:effectLst/>
                <a:latin typeface="Consolas" panose="020B0609020204030204" pitchFamily="49" charset="0"/>
              </a:rPr>
              <a:t>new</a:t>
            </a:r>
            <a:r>
              <a:rPr lang="en-US" b="0" i="0" dirty="0">
                <a:solidFill>
                  <a:srgbClr val="CCCCCC"/>
                </a:solidFill>
                <a:effectLst/>
                <a:latin typeface="Consolas" panose="020B0609020204030204" pitchFamily="49" charset="0"/>
              </a:rPr>
              <a:t> </a:t>
            </a:r>
            <a:r>
              <a:rPr lang="en-US" b="0" i="0" dirty="0" err="1">
                <a:solidFill>
                  <a:srgbClr val="F8C555"/>
                </a:solidFill>
                <a:effectLst/>
                <a:latin typeface="Consolas" panose="020B0609020204030204" pitchFamily="49" charset="0"/>
              </a:rPr>
              <a:t>ArrayList</a:t>
            </a:r>
            <a:r>
              <a:rPr lang="en-US" b="0" i="0" dirty="0">
                <a:solidFill>
                  <a:srgbClr val="CCCCCC"/>
                </a:solidFill>
                <a:effectLst/>
                <a:latin typeface="Consolas" panose="020B0609020204030204" pitchFamily="49" charset="0"/>
              </a:rPr>
              <a:t>&lt;&gt;();</a:t>
            </a:r>
          </a:p>
          <a:p>
            <a:pPr algn="l" latinLnBrk="0">
              <a:buNone/>
            </a:pPr>
            <a:r>
              <a:rPr lang="en-US" b="0" i="0" dirty="0" err="1">
                <a:solidFill>
                  <a:srgbClr val="CCCCCC"/>
                </a:solidFill>
                <a:effectLst/>
                <a:latin typeface="Consolas" panose="020B0609020204030204" pitchFamily="49" charset="0"/>
              </a:rPr>
              <a:t>toBeRetained.</a:t>
            </a:r>
            <a:r>
              <a:rPr lang="en-US" b="0" i="0" dirty="0" err="1">
                <a:solidFill>
                  <a:srgbClr val="F08D49"/>
                </a:solidFill>
                <a:effectLst/>
                <a:latin typeface="Consolas" panose="020B0609020204030204" pitchFamily="49" charset="0"/>
              </a:rPr>
              <a:t>add</a:t>
            </a:r>
            <a:r>
              <a:rPr lang="en-US" b="0" i="0" dirty="0">
                <a:solidFill>
                  <a:srgbClr val="CCCCCC"/>
                </a:solidFill>
                <a:effectLst/>
                <a:latin typeface="Consolas" panose="020B0609020204030204" pitchFamily="49" charset="0"/>
              </a:rPr>
              <a:t>(</a:t>
            </a:r>
            <a:r>
              <a:rPr lang="en-US" b="0" i="0" dirty="0">
                <a:solidFill>
                  <a:srgbClr val="7EC699"/>
                </a:solidFill>
                <a:effectLst/>
                <a:latin typeface="Consolas" panose="020B0609020204030204" pitchFamily="49" charset="0"/>
              </a:rPr>
              <a:t>"one"</a:t>
            </a:r>
            <a:r>
              <a:rPr lang="en-US" b="0" i="0" dirty="0">
                <a:solidFill>
                  <a:srgbClr val="CCCCCC"/>
                </a:solidFill>
                <a:effectLst/>
                <a:latin typeface="Consolas" panose="020B0609020204030204" pitchFamily="49" charset="0"/>
              </a:rPr>
              <a:t>);</a:t>
            </a:r>
          </a:p>
          <a:p>
            <a:pPr algn="l" latinLnBrk="0">
              <a:buNone/>
            </a:pPr>
            <a:r>
              <a:rPr lang="en-US" b="0" i="0" dirty="0" err="1">
                <a:solidFill>
                  <a:srgbClr val="CCCCCC"/>
                </a:solidFill>
                <a:effectLst/>
                <a:latin typeface="Consolas" panose="020B0609020204030204" pitchFamily="49" charset="0"/>
              </a:rPr>
              <a:t>toBeRetained.</a:t>
            </a:r>
            <a:r>
              <a:rPr lang="en-US" b="0" i="0" dirty="0" err="1">
                <a:solidFill>
                  <a:srgbClr val="F08D49"/>
                </a:solidFill>
                <a:effectLst/>
                <a:latin typeface="Consolas" panose="020B0609020204030204" pitchFamily="49" charset="0"/>
              </a:rPr>
              <a:t>add</a:t>
            </a:r>
            <a:r>
              <a:rPr lang="en-US" b="0" i="0" dirty="0">
                <a:solidFill>
                  <a:srgbClr val="CCCCCC"/>
                </a:solidFill>
                <a:effectLst/>
                <a:latin typeface="Consolas" panose="020B0609020204030204" pitchFamily="49" charset="0"/>
              </a:rPr>
              <a:t>(</a:t>
            </a:r>
            <a:r>
              <a:rPr lang="en-US" b="0" i="0" dirty="0">
                <a:solidFill>
                  <a:srgbClr val="7EC699"/>
                </a:solidFill>
                <a:effectLst/>
                <a:latin typeface="Consolas" panose="020B0609020204030204" pitchFamily="49" charset="0"/>
              </a:rPr>
              <a:t>"four"</a:t>
            </a:r>
            <a:r>
              <a:rPr lang="en-US" b="0" i="0" dirty="0">
                <a:solidFill>
                  <a:srgbClr val="CCCCCC"/>
                </a:solidFill>
                <a:effectLst/>
                <a:latin typeface="Consolas" panose="020B0609020204030204" pitchFamily="49" charset="0"/>
              </a:rPr>
              <a:t>);</a:t>
            </a:r>
          </a:p>
          <a:p>
            <a:pPr algn="l" latinLnBrk="0">
              <a:buNone/>
            </a:pPr>
            <a:endParaRPr lang="en-US" b="0" i="0" dirty="0">
              <a:solidFill>
                <a:srgbClr val="CCCCCC"/>
              </a:solidFill>
              <a:effectLst/>
              <a:latin typeface="Consolas" panose="020B0609020204030204" pitchFamily="49" charset="0"/>
            </a:endParaRPr>
          </a:p>
          <a:p>
            <a:pPr algn="l" latinLnBrk="0">
              <a:buNone/>
            </a:pPr>
            <a:r>
              <a:rPr lang="en-US" b="0" i="0" dirty="0" err="1">
                <a:solidFill>
                  <a:srgbClr val="CC99CD"/>
                </a:solidFill>
                <a:effectLst/>
                <a:latin typeface="Consolas" panose="020B0609020204030204" pitchFamily="49" charset="0"/>
              </a:rPr>
              <a:t>boolean</a:t>
            </a:r>
            <a:r>
              <a:rPr lang="en-US" b="0" i="0" dirty="0">
                <a:solidFill>
                  <a:srgbClr val="CCCCCC"/>
                </a:solidFill>
                <a:effectLst/>
                <a:latin typeface="Consolas" panose="020B0609020204030204" pitchFamily="49" charset="0"/>
              </a:rPr>
              <a:t> </a:t>
            </a:r>
            <a:r>
              <a:rPr lang="en-US" b="0" i="0" dirty="0" err="1">
                <a:solidFill>
                  <a:srgbClr val="CCCCCC"/>
                </a:solidFill>
                <a:effectLst/>
                <a:latin typeface="Consolas" panose="020B0609020204030204" pitchFamily="49" charset="0"/>
              </a:rPr>
              <a:t>hasChanged</a:t>
            </a:r>
            <a:r>
              <a:rPr lang="en-US" b="0" i="0" dirty="0">
                <a:solidFill>
                  <a:srgbClr val="CCCCCC"/>
                </a:solidFill>
                <a:effectLst/>
                <a:latin typeface="Consolas" panose="020B0609020204030204" pitchFamily="49" charset="0"/>
              </a:rPr>
              <a:t> </a:t>
            </a:r>
            <a:r>
              <a:rPr lang="en-US" b="0" i="0" dirty="0">
                <a:solidFill>
                  <a:srgbClr val="67CDCC"/>
                </a:solidFill>
                <a:effectLst/>
                <a:latin typeface="Consolas" panose="020B0609020204030204" pitchFamily="49" charset="0"/>
              </a:rPr>
              <a:t>=</a:t>
            </a:r>
            <a:r>
              <a:rPr lang="en-US" b="0" i="0" dirty="0">
                <a:solidFill>
                  <a:srgbClr val="CCCCCC"/>
                </a:solidFill>
                <a:effectLst/>
                <a:latin typeface="Consolas" panose="020B0609020204030204" pitchFamily="49" charset="0"/>
              </a:rPr>
              <a:t> </a:t>
            </a:r>
            <a:r>
              <a:rPr lang="en-US" b="0" i="0" dirty="0" err="1">
                <a:solidFill>
                  <a:srgbClr val="CCCCCC"/>
                </a:solidFill>
                <a:effectLst/>
                <a:latin typeface="Consolas" panose="020B0609020204030204" pitchFamily="49" charset="0"/>
              </a:rPr>
              <a:t>strings.</a:t>
            </a:r>
            <a:r>
              <a:rPr lang="en-US" b="0" i="0" dirty="0" err="1">
                <a:solidFill>
                  <a:srgbClr val="F08D49"/>
                </a:solidFill>
                <a:effectLst/>
                <a:latin typeface="Consolas" panose="020B0609020204030204" pitchFamily="49" charset="0"/>
              </a:rPr>
              <a:t>retainAll</a:t>
            </a:r>
            <a:r>
              <a:rPr lang="en-US" b="0" i="0" dirty="0">
                <a:solidFill>
                  <a:srgbClr val="CCCCCC"/>
                </a:solidFill>
                <a:effectLst/>
                <a:latin typeface="Consolas" panose="020B0609020204030204" pitchFamily="49" charset="0"/>
              </a:rPr>
              <a:t>(</a:t>
            </a:r>
            <a:r>
              <a:rPr lang="en-US" b="0" i="0" dirty="0" err="1">
                <a:solidFill>
                  <a:srgbClr val="CCCCCC"/>
                </a:solidFill>
                <a:effectLst/>
                <a:latin typeface="Consolas" panose="020B0609020204030204" pitchFamily="49" charset="0"/>
              </a:rPr>
              <a:t>toBeRetained</a:t>
            </a:r>
            <a:r>
              <a:rPr lang="en-US" b="0" i="0" dirty="0">
                <a:solidFill>
                  <a:srgbClr val="CCCCCC"/>
                </a:solidFill>
                <a:effectLst/>
                <a:latin typeface="Consolas" panose="020B0609020204030204" pitchFamily="49" charset="0"/>
              </a:rPr>
              <a:t>);</a:t>
            </a:r>
          </a:p>
          <a:p>
            <a:pPr algn="l" latinLnBrk="0">
              <a:buNone/>
            </a:pPr>
            <a:endParaRPr lang="en-US" b="0" i="0" dirty="0">
              <a:solidFill>
                <a:srgbClr val="CCCCCC"/>
              </a:solidFill>
              <a:effectLst/>
              <a:latin typeface="Consolas" panose="020B0609020204030204" pitchFamily="49" charset="0"/>
            </a:endParaRPr>
          </a:p>
          <a:p>
            <a:pPr algn="l" latinLnBrk="0">
              <a:buNone/>
            </a:pPr>
            <a:r>
              <a:rPr lang="en-US" b="0" i="0" dirty="0" err="1">
                <a:solidFill>
                  <a:srgbClr val="CCCCCC"/>
                </a:solidFill>
                <a:effectLst/>
                <a:latin typeface="Consolas" panose="020B0609020204030204" pitchFamily="49" charset="0"/>
              </a:rPr>
              <a:t>IO.</a:t>
            </a:r>
            <a:r>
              <a:rPr lang="en-US" b="0" i="0" dirty="0" err="1">
                <a:solidFill>
                  <a:srgbClr val="F08D49"/>
                </a:solidFill>
                <a:effectLst/>
                <a:latin typeface="Consolas" panose="020B0609020204030204" pitchFamily="49" charset="0"/>
              </a:rPr>
              <a:t>println</a:t>
            </a:r>
            <a:r>
              <a:rPr lang="en-US" b="0" i="0" dirty="0">
                <a:solidFill>
                  <a:srgbClr val="CCCCCC"/>
                </a:solidFill>
                <a:effectLst/>
                <a:latin typeface="Consolas" panose="020B0609020204030204" pitchFamily="49" charset="0"/>
              </a:rPr>
              <a:t>(</a:t>
            </a:r>
            <a:r>
              <a:rPr lang="en-US" b="0" i="0" dirty="0">
                <a:solidFill>
                  <a:srgbClr val="7EC699"/>
                </a:solidFill>
                <a:effectLst/>
                <a:latin typeface="Consolas" panose="020B0609020204030204" pitchFamily="49" charset="0"/>
              </a:rPr>
              <a:t>"Has strings changed? "</a:t>
            </a:r>
            <a:r>
              <a:rPr lang="en-US" b="0" i="0" dirty="0">
                <a:solidFill>
                  <a:srgbClr val="CCCCCC"/>
                </a:solidFill>
                <a:effectLst/>
                <a:latin typeface="Consolas" panose="020B0609020204030204" pitchFamily="49" charset="0"/>
              </a:rPr>
              <a:t> </a:t>
            </a:r>
            <a:r>
              <a:rPr lang="en-US" b="0" i="0" dirty="0">
                <a:solidFill>
                  <a:srgbClr val="67CDCC"/>
                </a:solidFill>
                <a:effectLst/>
                <a:latin typeface="Consolas" panose="020B0609020204030204" pitchFamily="49" charset="0"/>
              </a:rPr>
              <a:t>+</a:t>
            </a:r>
            <a:r>
              <a:rPr lang="en-US" b="0" i="0" dirty="0">
                <a:solidFill>
                  <a:srgbClr val="CCCCCC"/>
                </a:solidFill>
                <a:effectLst/>
                <a:latin typeface="Consolas" panose="020B0609020204030204" pitchFamily="49" charset="0"/>
              </a:rPr>
              <a:t> </a:t>
            </a:r>
            <a:r>
              <a:rPr lang="en-US" b="0" i="0" dirty="0" err="1">
                <a:solidFill>
                  <a:srgbClr val="CCCCCC"/>
                </a:solidFill>
                <a:effectLst/>
                <a:latin typeface="Consolas" panose="020B0609020204030204" pitchFamily="49" charset="0"/>
              </a:rPr>
              <a:t>hasChanged</a:t>
            </a:r>
            <a:r>
              <a:rPr lang="en-US" b="0" i="0" dirty="0">
                <a:solidFill>
                  <a:srgbClr val="CCCCCC"/>
                </a:solidFill>
                <a:effectLst/>
                <a:latin typeface="Consolas" panose="020B0609020204030204" pitchFamily="49" charset="0"/>
              </a:rPr>
              <a:t>);</a:t>
            </a:r>
          </a:p>
          <a:p>
            <a:pPr algn="l" latinLnBrk="0">
              <a:buNone/>
            </a:pPr>
            <a:r>
              <a:rPr lang="en-US" b="0" i="0" dirty="0" err="1">
                <a:solidFill>
                  <a:srgbClr val="CCCCCC"/>
                </a:solidFill>
                <a:effectLst/>
                <a:latin typeface="Consolas" panose="020B0609020204030204" pitchFamily="49" charset="0"/>
              </a:rPr>
              <a:t>IO.</a:t>
            </a:r>
            <a:r>
              <a:rPr lang="en-US" b="0" i="0" dirty="0" err="1">
                <a:solidFill>
                  <a:srgbClr val="F08D49"/>
                </a:solidFill>
                <a:effectLst/>
                <a:latin typeface="Consolas" panose="020B0609020204030204" pitchFamily="49" charset="0"/>
              </a:rPr>
              <a:t>println</a:t>
            </a:r>
            <a:r>
              <a:rPr lang="en-US" b="0" i="0" dirty="0">
                <a:solidFill>
                  <a:srgbClr val="CCCCCC"/>
                </a:solidFill>
                <a:effectLst/>
                <a:latin typeface="Consolas" panose="020B0609020204030204" pitchFamily="49" charset="0"/>
              </a:rPr>
              <a:t>(</a:t>
            </a:r>
            <a:r>
              <a:rPr lang="en-US" b="0" i="0" dirty="0">
                <a:solidFill>
                  <a:srgbClr val="7EC699"/>
                </a:solidFill>
                <a:effectLst/>
                <a:latin typeface="Consolas" panose="020B0609020204030204" pitchFamily="49" charset="0"/>
              </a:rPr>
              <a:t>"strings = "</a:t>
            </a:r>
            <a:r>
              <a:rPr lang="en-US" b="0" i="0" dirty="0">
                <a:solidFill>
                  <a:srgbClr val="CCCCCC"/>
                </a:solidFill>
                <a:effectLst/>
                <a:latin typeface="Consolas" panose="020B0609020204030204" pitchFamily="49" charset="0"/>
              </a:rPr>
              <a:t> </a:t>
            </a:r>
            <a:r>
              <a:rPr lang="en-US" b="0" i="0" dirty="0">
                <a:solidFill>
                  <a:srgbClr val="67CDCC"/>
                </a:solidFill>
                <a:effectLst/>
                <a:latin typeface="Consolas" panose="020B0609020204030204" pitchFamily="49" charset="0"/>
              </a:rPr>
              <a:t>+</a:t>
            </a:r>
            <a:r>
              <a:rPr lang="en-US" b="0" i="0" dirty="0">
                <a:solidFill>
                  <a:srgbClr val="CCCCCC"/>
                </a:solidFill>
                <a:effectLst/>
                <a:latin typeface="Consolas" panose="020B0609020204030204" pitchFamily="49" charset="0"/>
              </a:rPr>
              <a:t> strings);</a:t>
            </a:r>
          </a:p>
          <a:p>
            <a:pPr algn="l">
              <a:buNone/>
            </a:pPr>
            <a:r>
              <a:rPr lang="en-US" b="0" i="0" dirty="0">
                <a:solidFill>
                  <a:srgbClr val="131516"/>
                </a:solidFill>
                <a:effectLst/>
                <a:latin typeface="system-ui"/>
              </a:rPr>
              <a:t>Running this code produces the following result:</a:t>
            </a:r>
          </a:p>
          <a:p>
            <a:pPr algn="l" latinLnBrk="0">
              <a:buNone/>
            </a:pPr>
            <a:r>
              <a:rPr lang="en-US" b="0" i="0" dirty="0">
                <a:solidFill>
                  <a:srgbClr val="CCCCCC"/>
                </a:solidFill>
                <a:effectLst/>
                <a:latin typeface="Consolas" panose="020B0609020204030204" pitchFamily="49" charset="0"/>
              </a:rPr>
              <a:t>Has strings changed? true</a:t>
            </a:r>
          </a:p>
          <a:p>
            <a:pPr algn="l" latinLnBrk="0">
              <a:buNone/>
            </a:pPr>
            <a:r>
              <a:rPr lang="en-US" b="0" i="0" dirty="0">
                <a:solidFill>
                  <a:srgbClr val="CCCCCC"/>
                </a:solidFill>
                <a:effectLst/>
                <a:latin typeface="Consolas" panose="020B0609020204030204" pitchFamily="49" charset="0"/>
              </a:rPr>
              <a:t>strings = [one]</a:t>
            </a:r>
          </a:p>
          <a:p>
            <a:pPr algn="l">
              <a:buNone/>
            </a:pPr>
            <a:r>
              <a:rPr lang="en-US" b="0" i="0" u="none" strike="noStrike" dirty="0">
                <a:solidFill>
                  <a:srgbClr val="131516"/>
                </a:solidFill>
                <a:effectLst/>
                <a:latin typeface="system-ui"/>
              </a:rPr>
              <a:t> </a:t>
            </a:r>
            <a:endParaRPr lang="en-US" b="0" i="0" dirty="0">
              <a:solidFill>
                <a:srgbClr val="131516"/>
              </a:solidFill>
              <a:effectLst/>
              <a:latin typeface="system-ui"/>
            </a:endParaRPr>
          </a:p>
          <a:p>
            <a:pPr algn="l">
              <a:spcBef>
                <a:spcPts val="3750"/>
              </a:spcBef>
              <a:spcAft>
                <a:spcPts val="1500"/>
              </a:spcAft>
              <a:buNone/>
            </a:pPr>
            <a:r>
              <a:rPr lang="en-US" b="1" i="0" dirty="0">
                <a:solidFill>
                  <a:srgbClr val="131516"/>
                </a:solidFill>
                <a:effectLst/>
                <a:latin typeface="system-ui"/>
              </a:rPr>
              <a:t>Methods That Handle The Collection Itself</a:t>
            </a:r>
          </a:p>
          <a:p>
            <a:pPr algn="l">
              <a:buNone/>
            </a:pPr>
            <a:r>
              <a:rPr lang="en-US" b="0" i="0" dirty="0">
                <a:solidFill>
                  <a:srgbClr val="131516"/>
                </a:solidFill>
                <a:effectLst/>
                <a:latin typeface="system-ui"/>
              </a:rPr>
              <a:t>Then the last batch of methods deal with the collection itself.</a:t>
            </a:r>
          </a:p>
          <a:p>
            <a:pPr algn="l">
              <a:buNone/>
            </a:pPr>
            <a:r>
              <a:rPr lang="en-US" b="0" i="0" dirty="0">
                <a:solidFill>
                  <a:srgbClr val="131516"/>
                </a:solidFill>
                <a:effectLst/>
                <a:latin typeface="system-ui"/>
              </a:rPr>
              <a:t>You have two methods to check the content of a collection.</a:t>
            </a:r>
          </a:p>
          <a:p>
            <a:pPr algn="l">
              <a:spcBef>
                <a:spcPts val="750"/>
              </a:spcBef>
              <a:buFont typeface="Arial" panose="020B0604020202020204" pitchFamily="34" charset="0"/>
              <a:buChar char="•"/>
            </a:pPr>
            <a:r>
              <a:rPr lang="en-US" b="0" i="0" u="sng" dirty="0">
                <a:solidFill>
                  <a:srgbClr val="3A75B0"/>
                </a:solidFill>
                <a:effectLst/>
                <a:latin typeface="SFMono-Regular"/>
                <a:hlinkClick r:id="rId13"/>
              </a:rPr>
              <a:t>size()</a:t>
            </a:r>
            <a:r>
              <a:rPr lang="en-US" b="0" i="0" dirty="0">
                <a:solidFill>
                  <a:srgbClr val="131516"/>
                </a:solidFill>
                <a:effectLst/>
                <a:latin typeface="system-ui"/>
              </a:rPr>
              <a:t>: Returns the number of elements in a collection, as an </a:t>
            </a:r>
            <a:r>
              <a:rPr lang="en-US" b="0" i="0" dirty="0">
                <a:solidFill>
                  <a:srgbClr val="E76F00"/>
                </a:solidFill>
                <a:effectLst/>
                <a:latin typeface="SFMono-Regular"/>
              </a:rPr>
              <a:t>int</a:t>
            </a:r>
            <a:r>
              <a:rPr lang="en-US" b="0" i="0" dirty="0">
                <a:solidFill>
                  <a:srgbClr val="131516"/>
                </a:solidFill>
                <a:effectLst/>
                <a:latin typeface="system-ui"/>
              </a:rPr>
              <a:t>.</a:t>
            </a:r>
          </a:p>
          <a:p>
            <a:pPr algn="l">
              <a:spcBef>
                <a:spcPts val="750"/>
              </a:spcBef>
              <a:buFont typeface="Arial" panose="020B0604020202020204" pitchFamily="34" charset="0"/>
              <a:buChar char="•"/>
            </a:pPr>
            <a:r>
              <a:rPr lang="en-US" b="0" i="0" u="sng" dirty="0" err="1">
                <a:solidFill>
                  <a:srgbClr val="3A75B0"/>
                </a:solidFill>
                <a:effectLst/>
                <a:latin typeface="SFMono-Regular"/>
                <a:hlinkClick r:id="rId14"/>
              </a:rPr>
              <a:t>isEmpty</a:t>
            </a:r>
            <a:r>
              <a:rPr lang="en-US" b="0" i="0" u="sng" dirty="0">
                <a:solidFill>
                  <a:srgbClr val="3A75B0"/>
                </a:solidFill>
                <a:effectLst/>
                <a:latin typeface="SFMono-Regular"/>
                <a:hlinkClick r:id="rId14"/>
              </a:rPr>
              <a:t>()</a:t>
            </a:r>
            <a:r>
              <a:rPr lang="en-US" b="0" i="0" dirty="0">
                <a:solidFill>
                  <a:srgbClr val="131516"/>
                </a:solidFill>
                <a:effectLst/>
                <a:latin typeface="system-ui"/>
              </a:rPr>
              <a:t>: Tells you if the given collection is empty or not.</a:t>
            </a:r>
          </a:p>
          <a:p>
            <a:pPr algn="l" latinLnBrk="0">
              <a:buNone/>
            </a:pPr>
            <a:r>
              <a:rPr lang="en-US" b="0" i="0" dirty="0">
                <a:solidFill>
                  <a:srgbClr val="F8C555"/>
                </a:solidFill>
                <a:effectLst/>
                <a:latin typeface="Consolas" panose="020B0609020204030204" pitchFamily="49" charset="0"/>
              </a:rPr>
              <a:t>Collection</a:t>
            </a:r>
            <a:r>
              <a:rPr lang="en-US" b="0" i="0" dirty="0">
                <a:solidFill>
                  <a:srgbClr val="CCCCCC"/>
                </a:solidFill>
                <a:effectLst/>
                <a:latin typeface="Consolas" panose="020B0609020204030204" pitchFamily="49" charset="0"/>
              </a:rPr>
              <a:t>&lt;</a:t>
            </a:r>
            <a:r>
              <a:rPr lang="en-US" b="0" i="0" dirty="0">
                <a:solidFill>
                  <a:srgbClr val="F8C555"/>
                </a:solidFill>
                <a:effectLst/>
                <a:latin typeface="Consolas" panose="020B0609020204030204" pitchFamily="49" charset="0"/>
              </a:rPr>
              <a:t>String</a:t>
            </a:r>
            <a:r>
              <a:rPr lang="en-US" b="0" i="0" dirty="0">
                <a:solidFill>
                  <a:srgbClr val="CCCCCC"/>
                </a:solidFill>
                <a:effectLst/>
                <a:latin typeface="Consolas" panose="020B0609020204030204" pitchFamily="49" charset="0"/>
              </a:rPr>
              <a:t>&gt; strings </a:t>
            </a:r>
            <a:r>
              <a:rPr lang="en-US" b="0" i="0" dirty="0">
                <a:solidFill>
                  <a:srgbClr val="67CDCC"/>
                </a:solidFill>
                <a:effectLst/>
                <a:latin typeface="Consolas" panose="020B0609020204030204" pitchFamily="49" charset="0"/>
              </a:rPr>
              <a:t>=</a:t>
            </a:r>
            <a:r>
              <a:rPr lang="en-US" b="0" i="0" dirty="0">
                <a:solidFill>
                  <a:srgbClr val="CCCCCC"/>
                </a:solidFill>
                <a:effectLst/>
                <a:latin typeface="Consolas" panose="020B0609020204030204" pitchFamily="49" charset="0"/>
              </a:rPr>
              <a:t> </a:t>
            </a:r>
            <a:r>
              <a:rPr lang="en-US" b="0" i="0" dirty="0">
                <a:solidFill>
                  <a:srgbClr val="CC99CD"/>
                </a:solidFill>
                <a:effectLst/>
                <a:latin typeface="Consolas" panose="020B0609020204030204" pitchFamily="49" charset="0"/>
              </a:rPr>
              <a:t>new</a:t>
            </a:r>
            <a:r>
              <a:rPr lang="en-US" b="0" i="0" dirty="0">
                <a:solidFill>
                  <a:srgbClr val="CCCCCC"/>
                </a:solidFill>
                <a:effectLst/>
                <a:latin typeface="Consolas" panose="020B0609020204030204" pitchFamily="49" charset="0"/>
              </a:rPr>
              <a:t> </a:t>
            </a:r>
            <a:r>
              <a:rPr lang="en-US" b="0" i="0" dirty="0" err="1">
                <a:solidFill>
                  <a:srgbClr val="F8C555"/>
                </a:solidFill>
                <a:effectLst/>
                <a:latin typeface="Consolas" panose="020B0609020204030204" pitchFamily="49" charset="0"/>
              </a:rPr>
              <a:t>ArrayList</a:t>
            </a:r>
            <a:r>
              <a:rPr lang="en-US" b="0" i="0" dirty="0">
                <a:solidFill>
                  <a:srgbClr val="CCCCCC"/>
                </a:solidFill>
                <a:effectLst/>
                <a:latin typeface="Consolas" panose="020B0609020204030204" pitchFamily="49" charset="0"/>
              </a:rPr>
              <a:t>&lt;&gt;();</a:t>
            </a:r>
          </a:p>
          <a:p>
            <a:pPr algn="l" latinLnBrk="0">
              <a:buNone/>
            </a:pPr>
            <a:r>
              <a:rPr lang="en-US" b="0" i="0" dirty="0" err="1">
                <a:solidFill>
                  <a:srgbClr val="CCCCCC"/>
                </a:solidFill>
                <a:effectLst/>
                <a:latin typeface="Consolas" panose="020B0609020204030204" pitchFamily="49" charset="0"/>
              </a:rPr>
              <a:t>strings.</a:t>
            </a:r>
            <a:r>
              <a:rPr lang="en-US" b="0" i="0" dirty="0" err="1">
                <a:solidFill>
                  <a:srgbClr val="F08D49"/>
                </a:solidFill>
                <a:effectLst/>
                <a:latin typeface="Consolas" panose="020B0609020204030204" pitchFamily="49" charset="0"/>
              </a:rPr>
              <a:t>add</a:t>
            </a:r>
            <a:r>
              <a:rPr lang="en-US" b="0" i="0" dirty="0">
                <a:solidFill>
                  <a:srgbClr val="CCCCCC"/>
                </a:solidFill>
                <a:effectLst/>
                <a:latin typeface="Consolas" panose="020B0609020204030204" pitchFamily="49" charset="0"/>
              </a:rPr>
              <a:t>(</a:t>
            </a:r>
            <a:r>
              <a:rPr lang="en-US" b="0" i="0" dirty="0">
                <a:solidFill>
                  <a:srgbClr val="7EC699"/>
                </a:solidFill>
                <a:effectLst/>
                <a:latin typeface="Consolas" panose="020B0609020204030204" pitchFamily="49" charset="0"/>
              </a:rPr>
              <a:t>"one"</a:t>
            </a:r>
            <a:r>
              <a:rPr lang="en-US" b="0" i="0" dirty="0">
                <a:solidFill>
                  <a:srgbClr val="CCCCCC"/>
                </a:solidFill>
                <a:effectLst/>
                <a:latin typeface="Consolas" panose="020B0609020204030204" pitchFamily="49" charset="0"/>
              </a:rPr>
              <a:t>);</a:t>
            </a:r>
          </a:p>
          <a:p>
            <a:pPr algn="l" latinLnBrk="0">
              <a:buNone/>
            </a:pPr>
            <a:r>
              <a:rPr lang="en-US" b="0" i="0" dirty="0" err="1">
                <a:solidFill>
                  <a:srgbClr val="CCCCCC"/>
                </a:solidFill>
                <a:effectLst/>
                <a:latin typeface="Consolas" panose="020B0609020204030204" pitchFamily="49" charset="0"/>
              </a:rPr>
              <a:t>strings.</a:t>
            </a:r>
            <a:r>
              <a:rPr lang="en-US" b="0" i="0" dirty="0" err="1">
                <a:solidFill>
                  <a:srgbClr val="F08D49"/>
                </a:solidFill>
                <a:effectLst/>
                <a:latin typeface="Consolas" panose="020B0609020204030204" pitchFamily="49" charset="0"/>
              </a:rPr>
              <a:t>add</a:t>
            </a:r>
            <a:r>
              <a:rPr lang="en-US" b="0" i="0" dirty="0">
                <a:solidFill>
                  <a:srgbClr val="CCCCCC"/>
                </a:solidFill>
                <a:effectLst/>
                <a:latin typeface="Consolas" panose="020B0609020204030204" pitchFamily="49" charset="0"/>
              </a:rPr>
              <a:t>(</a:t>
            </a:r>
            <a:r>
              <a:rPr lang="en-US" b="0" i="0" dirty="0">
                <a:solidFill>
                  <a:srgbClr val="7EC699"/>
                </a:solidFill>
                <a:effectLst/>
                <a:latin typeface="Consolas" panose="020B0609020204030204" pitchFamily="49" charset="0"/>
              </a:rPr>
              <a:t>"two"</a:t>
            </a:r>
            <a:r>
              <a:rPr lang="en-US" b="0" i="0" dirty="0">
                <a:solidFill>
                  <a:srgbClr val="CCCCCC"/>
                </a:solidFill>
                <a:effectLst/>
                <a:latin typeface="Consolas" panose="020B0609020204030204" pitchFamily="49" charset="0"/>
              </a:rPr>
              <a:t>);</a:t>
            </a:r>
          </a:p>
          <a:p>
            <a:pPr algn="l" latinLnBrk="0">
              <a:buNone/>
            </a:pPr>
            <a:r>
              <a:rPr lang="en-US" b="0" i="0" dirty="0">
                <a:solidFill>
                  <a:srgbClr val="CC99CD"/>
                </a:solidFill>
                <a:effectLst/>
                <a:latin typeface="Consolas" panose="020B0609020204030204" pitchFamily="49" charset="0"/>
              </a:rPr>
              <a:t>if</a:t>
            </a:r>
            <a:r>
              <a:rPr lang="en-US" b="0" i="0" dirty="0">
                <a:solidFill>
                  <a:srgbClr val="CCCCCC"/>
                </a:solidFill>
                <a:effectLst/>
                <a:latin typeface="Consolas" panose="020B0609020204030204" pitchFamily="49" charset="0"/>
              </a:rPr>
              <a:t> (</a:t>
            </a:r>
            <a:r>
              <a:rPr lang="en-US" b="0" i="0" dirty="0">
                <a:solidFill>
                  <a:srgbClr val="67CDCC"/>
                </a:solidFill>
                <a:effectLst/>
                <a:latin typeface="Consolas" panose="020B0609020204030204" pitchFamily="49" charset="0"/>
              </a:rPr>
              <a:t>!</a:t>
            </a:r>
            <a:r>
              <a:rPr lang="en-US" b="0" i="0" dirty="0" err="1">
                <a:solidFill>
                  <a:srgbClr val="CCCCCC"/>
                </a:solidFill>
                <a:effectLst/>
                <a:latin typeface="Consolas" panose="020B0609020204030204" pitchFamily="49" charset="0"/>
              </a:rPr>
              <a:t>strings.</a:t>
            </a:r>
            <a:r>
              <a:rPr lang="en-US" b="0" i="0" dirty="0" err="1">
                <a:solidFill>
                  <a:srgbClr val="F08D49"/>
                </a:solidFill>
                <a:effectLst/>
                <a:latin typeface="Consolas" panose="020B0609020204030204" pitchFamily="49" charset="0"/>
              </a:rPr>
              <a:t>isEmpty</a:t>
            </a:r>
            <a:r>
              <a:rPr lang="en-US" b="0" i="0" dirty="0">
                <a:solidFill>
                  <a:srgbClr val="CCCCCC"/>
                </a:solidFill>
                <a:effectLst/>
                <a:latin typeface="Consolas" panose="020B0609020204030204" pitchFamily="49" charset="0"/>
              </a:rPr>
              <a:t>()) {</a:t>
            </a:r>
          </a:p>
          <a:p>
            <a:pPr algn="l" latinLnBrk="0">
              <a:buNone/>
            </a:pPr>
            <a:r>
              <a:rPr lang="en-US" b="0" i="0" dirty="0">
                <a:solidFill>
                  <a:srgbClr val="CCCCCC"/>
                </a:solidFill>
                <a:effectLst/>
                <a:latin typeface="Consolas" panose="020B0609020204030204" pitchFamily="49" charset="0"/>
              </a:rPr>
              <a:t>    </a:t>
            </a:r>
            <a:r>
              <a:rPr lang="en-US" b="0" i="0" dirty="0" err="1">
                <a:solidFill>
                  <a:srgbClr val="CCCCCC"/>
                </a:solidFill>
                <a:effectLst/>
                <a:latin typeface="Consolas" panose="020B0609020204030204" pitchFamily="49" charset="0"/>
              </a:rPr>
              <a:t>IO.</a:t>
            </a:r>
            <a:r>
              <a:rPr lang="en-US" b="0" i="0" dirty="0" err="1">
                <a:solidFill>
                  <a:srgbClr val="F08D49"/>
                </a:solidFill>
                <a:effectLst/>
                <a:latin typeface="Consolas" panose="020B0609020204030204" pitchFamily="49" charset="0"/>
              </a:rPr>
              <a:t>println</a:t>
            </a:r>
            <a:r>
              <a:rPr lang="en-US" b="0" i="0" dirty="0">
                <a:solidFill>
                  <a:srgbClr val="CCCCCC"/>
                </a:solidFill>
                <a:effectLst/>
                <a:latin typeface="Consolas" panose="020B0609020204030204" pitchFamily="49" charset="0"/>
              </a:rPr>
              <a:t>(</a:t>
            </a:r>
            <a:r>
              <a:rPr lang="en-US" b="0" i="0" dirty="0">
                <a:solidFill>
                  <a:srgbClr val="7EC699"/>
                </a:solidFill>
                <a:effectLst/>
                <a:latin typeface="Consolas" panose="020B0609020204030204" pitchFamily="49" charset="0"/>
              </a:rPr>
              <a:t>"Indeed strings is not empty!"</a:t>
            </a:r>
            <a:r>
              <a:rPr lang="en-US" b="0" i="0" dirty="0">
                <a:solidFill>
                  <a:srgbClr val="CCCCCC"/>
                </a:solidFill>
                <a:effectLst/>
                <a:latin typeface="Consolas" panose="020B0609020204030204" pitchFamily="49" charset="0"/>
              </a:rPr>
              <a:t>);</a:t>
            </a:r>
          </a:p>
          <a:p>
            <a:pPr algn="l" latinLnBrk="0">
              <a:buNone/>
            </a:pPr>
            <a:r>
              <a:rPr lang="en-US" b="0" i="0" dirty="0">
                <a:solidFill>
                  <a:srgbClr val="CCCCCC"/>
                </a:solidFill>
                <a:effectLst/>
                <a:latin typeface="Consolas" panose="020B0609020204030204" pitchFamily="49" charset="0"/>
              </a:rPr>
              <a:t>}</a:t>
            </a:r>
          </a:p>
          <a:p>
            <a:pPr algn="l" latinLnBrk="0">
              <a:buNone/>
            </a:pPr>
            <a:r>
              <a:rPr lang="en-US" b="0" i="0" dirty="0" err="1">
                <a:solidFill>
                  <a:srgbClr val="CCCCCC"/>
                </a:solidFill>
                <a:effectLst/>
                <a:latin typeface="Consolas" panose="020B0609020204030204" pitchFamily="49" charset="0"/>
              </a:rPr>
              <a:t>IO.</a:t>
            </a:r>
            <a:r>
              <a:rPr lang="en-US" b="0" i="0" dirty="0" err="1">
                <a:solidFill>
                  <a:srgbClr val="F08D49"/>
                </a:solidFill>
                <a:effectLst/>
                <a:latin typeface="Consolas" panose="020B0609020204030204" pitchFamily="49" charset="0"/>
              </a:rPr>
              <a:t>println</a:t>
            </a:r>
            <a:r>
              <a:rPr lang="en-US" b="0" i="0" dirty="0">
                <a:solidFill>
                  <a:srgbClr val="CCCCCC"/>
                </a:solidFill>
                <a:effectLst/>
                <a:latin typeface="Consolas" panose="020B0609020204030204" pitchFamily="49" charset="0"/>
              </a:rPr>
              <a:t>(</a:t>
            </a:r>
            <a:r>
              <a:rPr lang="en-US" b="0" i="0" dirty="0">
                <a:solidFill>
                  <a:srgbClr val="7EC699"/>
                </a:solidFill>
                <a:effectLst/>
                <a:latin typeface="Consolas" panose="020B0609020204030204" pitchFamily="49" charset="0"/>
              </a:rPr>
              <a:t>"The number of elements in strings is "</a:t>
            </a:r>
            <a:r>
              <a:rPr lang="en-US" b="0" i="0" dirty="0">
                <a:solidFill>
                  <a:srgbClr val="CCCCCC"/>
                </a:solidFill>
                <a:effectLst/>
                <a:latin typeface="Consolas" panose="020B0609020204030204" pitchFamily="49" charset="0"/>
              </a:rPr>
              <a:t> </a:t>
            </a:r>
            <a:r>
              <a:rPr lang="en-US" b="0" i="0" dirty="0">
                <a:solidFill>
                  <a:srgbClr val="67CDCC"/>
                </a:solidFill>
                <a:effectLst/>
                <a:latin typeface="Consolas" panose="020B0609020204030204" pitchFamily="49" charset="0"/>
              </a:rPr>
              <a:t>+</a:t>
            </a:r>
            <a:r>
              <a:rPr lang="en-US" b="0" i="0" dirty="0">
                <a:solidFill>
                  <a:srgbClr val="CCCCCC"/>
                </a:solidFill>
                <a:effectLst/>
                <a:latin typeface="Consolas" panose="020B0609020204030204" pitchFamily="49" charset="0"/>
              </a:rPr>
              <a:t> </a:t>
            </a:r>
            <a:r>
              <a:rPr lang="en-US" b="0" i="0" dirty="0" err="1">
                <a:solidFill>
                  <a:srgbClr val="CCCCCC"/>
                </a:solidFill>
                <a:effectLst/>
                <a:latin typeface="Consolas" panose="020B0609020204030204" pitchFamily="49" charset="0"/>
              </a:rPr>
              <a:t>strings.</a:t>
            </a:r>
            <a:r>
              <a:rPr lang="en-US" b="0" i="0" dirty="0" err="1">
                <a:solidFill>
                  <a:srgbClr val="F08D49"/>
                </a:solidFill>
                <a:effectLst/>
                <a:latin typeface="Consolas" panose="020B0609020204030204" pitchFamily="49" charset="0"/>
              </a:rPr>
              <a:t>size</a:t>
            </a:r>
            <a:r>
              <a:rPr lang="en-US" b="0" i="0" dirty="0">
                <a:solidFill>
                  <a:srgbClr val="CCCCCC"/>
                </a:solidFill>
                <a:effectLst/>
                <a:latin typeface="Consolas" panose="020B0609020204030204" pitchFamily="49" charset="0"/>
              </a:rPr>
              <a:t>());</a:t>
            </a:r>
          </a:p>
          <a:p>
            <a:pPr algn="l">
              <a:buNone/>
            </a:pPr>
            <a:r>
              <a:rPr lang="en-US" b="0" i="0" dirty="0">
                <a:solidFill>
                  <a:srgbClr val="131516"/>
                </a:solidFill>
                <a:effectLst/>
                <a:latin typeface="system-ui"/>
              </a:rPr>
              <a:t>Running this code produces the following:</a:t>
            </a:r>
          </a:p>
          <a:p>
            <a:pPr algn="l" latinLnBrk="0">
              <a:buNone/>
            </a:pPr>
            <a:r>
              <a:rPr lang="en-US" b="0" i="0" dirty="0">
                <a:solidFill>
                  <a:srgbClr val="CCCCCC"/>
                </a:solidFill>
                <a:effectLst/>
                <a:latin typeface="Consolas" panose="020B0609020204030204" pitchFamily="49" charset="0"/>
              </a:rPr>
              <a:t>Indeed strings is not empty!</a:t>
            </a:r>
          </a:p>
          <a:p>
            <a:pPr algn="l" latinLnBrk="0">
              <a:buNone/>
            </a:pPr>
            <a:r>
              <a:rPr lang="en-US" b="0" i="0" dirty="0">
                <a:solidFill>
                  <a:srgbClr val="CCCCCC"/>
                </a:solidFill>
                <a:effectLst/>
                <a:latin typeface="Consolas" panose="020B0609020204030204" pitchFamily="49" charset="0"/>
              </a:rPr>
              <a:t>The number of elements in strings is 2</a:t>
            </a:r>
          </a:p>
          <a:p>
            <a:pPr algn="l">
              <a:buNone/>
            </a:pPr>
            <a:r>
              <a:rPr lang="en-US" b="0" i="0" dirty="0">
                <a:solidFill>
                  <a:srgbClr val="131516"/>
                </a:solidFill>
                <a:effectLst/>
                <a:latin typeface="system-ui"/>
              </a:rPr>
              <a:t>Then you can delete the content of a collection by simply calling </a:t>
            </a:r>
            <a:r>
              <a:rPr lang="en-US" b="0" i="0" u="sng" dirty="0">
                <a:solidFill>
                  <a:srgbClr val="3A75B0"/>
                </a:solidFill>
                <a:effectLst/>
                <a:latin typeface="SFMono-Regular"/>
                <a:hlinkClick r:id="rId15"/>
              </a:rPr>
              <a:t>clear()</a:t>
            </a:r>
            <a:r>
              <a:rPr lang="en-US" b="0" i="0" dirty="0">
                <a:solidFill>
                  <a:srgbClr val="131516"/>
                </a:solidFill>
                <a:effectLst/>
                <a:latin typeface="system-ui"/>
              </a:rPr>
              <a:t> on it.</a:t>
            </a:r>
          </a:p>
          <a:p>
            <a:pPr algn="l" latinLnBrk="0">
              <a:buNone/>
            </a:pPr>
            <a:r>
              <a:rPr lang="en-US" b="0" i="0" dirty="0">
                <a:solidFill>
                  <a:srgbClr val="F8C555"/>
                </a:solidFill>
                <a:effectLst/>
                <a:latin typeface="Consolas" panose="020B0609020204030204" pitchFamily="49" charset="0"/>
              </a:rPr>
              <a:t>Collection</a:t>
            </a:r>
            <a:r>
              <a:rPr lang="en-US" b="0" i="0" dirty="0">
                <a:solidFill>
                  <a:srgbClr val="CCCCCC"/>
                </a:solidFill>
                <a:effectLst/>
                <a:latin typeface="Consolas" panose="020B0609020204030204" pitchFamily="49" charset="0"/>
              </a:rPr>
              <a:t>&lt;</a:t>
            </a:r>
            <a:r>
              <a:rPr lang="en-US" b="0" i="0" dirty="0">
                <a:solidFill>
                  <a:srgbClr val="F8C555"/>
                </a:solidFill>
                <a:effectLst/>
                <a:latin typeface="Consolas" panose="020B0609020204030204" pitchFamily="49" charset="0"/>
              </a:rPr>
              <a:t>String</a:t>
            </a:r>
            <a:r>
              <a:rPr lang="en-US" b="0" i="0" dirty="0">
                <a:solidFill>
                  <a:srgbClr val="CCCCCC"/>
                </a:solidFill>
                <a:effectLst/>
                <a:latin typeface="Consolas" panose="020B0609020204030204" pitchFamily="49" charset="0"/>
              </a:rPr>
              <a:t>&gt; strings </a:t>
            </a:r>
            <a:r>
              <a:rPr lang="en-US" b="0" i="0" dirty="0">
                <a:solidFill>
                  <a:srgbClr val="67CDCC"/>
                </a:solidFill>
                <a:effectLst/>
                <a:latin typeface="Consolas" panose="020B0609020204030204" pitchFamily="49" charset="0"/>
              </a:rPr>
              <a:t>=</a:t>
            </a:r>
            <a:r>
              <a:rPr lang="en-US" b="0" i="0" dirty="0">
                <a:solidFill>
                  <a:srgbClr val="CCCCCC"/>
                </a:solidFill>
                <a:effectLst/>
                <a:latin typeface="Consolas" panose="020B0609020204030204" pitchFamily="49" charset="0"/>
              </a:rPr>
              <a:t> </a:t>
            </a:r>
            <a:r>
              <a:rPr lang="en-US" b="0" i="0" dirty="0">
                <a:solidFill>
                  <a:srgbClr val="CC99CD"/>
                </a:solidFill>
                <a:effectLst/>
                <a:latin typeface="Consolas" panose="020B0609020204030204" pitchFamily="49" charset="0"/>
              </a:rPr>
              <a:t>new</a:t>
            </a:r>
            <a:r>
              <a:rPr lang="en-US" b="0" i="0" dirty="0">
                <a:solidFill>
                  <a:srgbClr val="CCCCCC"/>
                </a:solidFill>
                <a:effectLst/>
                <a:latin typeface="Consolas" panose="020B0609020204030204" pitchFamily="49" charset="0"/>
              </a:rPr>
              <a:t> </a:t>
            </a:r>
            <a:r>
              <a:rPr lang="en-US" b="0" i="0" dirty="0" err="1">
                <a:solidFill>
                  <a:srgbClr val="F8C555"/>
                </a:solidFill>
                <a:effectLst/>
                <a:latin typeface="Consolas" panose="020B0609020204030204" pitchFamily="49" charset="0"/>
              </a:rPr>
              <a:t>ArrayList</a:t>
            </a:r>
            <a:r>
              <a:rPr lang="en-US" b="0" i="0" dirty="0">
                <a:solidFill>
                  <a:srgbClr val="CCCCCC"/>
                </a:solidFill>
                <a:effectLst/>
                <a:latin typeface="Consolas" panose="020B0609020204030204" pitchFamily="49" charset="0"/>
              </a:rPr>
              <a:t>&lt;&gt;();</a:t>
            </a:r>
          </a:p>
          <a:p>
            <a:pPr algn="l" latinLnBrk="0">
              <a:buNone/>
            </a:pPr>
            <a:r>
              <a:rPr lang="en-US" b="0" i="0" dirty="0" err="1">
                <a:solidFill>
                  <a:srgbClr val="CCCCCC"/>
                </a:solidFill>
                <a:effectLst/>
                <a:latin typeface="Consolas" panose="020B0609020204030204" pitchFamily="49" charset="0"/>
              </a:rPr>
              <a:t>strings.</a:t>
            </a:r>
            <a:r>
              <a:rPr lang="en-US" b="0" i="0" dirty="0" err="1">
                <a:solidFill>
                  <a:srgbClr val="F08D49"/>
                </a:solidFill>
                <a:effectLst/>
                <a:latin typeface="Consolas" panose="020B0609020204030204" pitchFamily="49" charset="0"/>
              </a:rPr>
              <a:t>add</a:t>
            </a:r>
            <a:r>
              <a:rPr lang="en-US" b="0" i="0" dirty="0">
                <a:solidFill>
                  <a:srgbClr val="CCCCCC"/>
                </a:solidFill>
                <a:effectLst/>
                <a:latin typeface="Consolas" panose="020B0609020204030204" pitchFamily="49" charset="0"/>
              </a:rPr>
              <a:t>(</a:t>
            </a:r>
            <a:r>
              <a:rPr lang="en-US" b="0" i="0" dirty="0">
                <a:solidFill>
                  <a:srgbClr val="7EC699"/>
                </a:solidFill>
                <a:effectLst/>
                <a:latin typeface="Consolas" panose="020B0609020204030204" pitchFamily="49" charset="0"/>
              </a:rPr>
              <a:t>"one"</a:t>
            </a:r>
            <a:r>
              <a:rPr lang="en-US" b="0" i="0" dirty="0">
                <a:solidFill>
                  <a:srgbClr val="CCCCCC"/>
                </a:solidFill>
                <a:effectLst/>
                <a:latin typeface="Consolas" panose="020B0609020204030204" pitchFamily="49" charset="0"/>
              </a:rPr>
              <a:t>);</a:t>
            </a:r>
          </a:p>
          <a:p>
            <a:pPr algn="l" latinLnBrk="0">
              <a:buNone/>
            </a:pPr>
            <a:r>
              <a:rPr lang="en-US" b="0" i="0" dirty="0" err="1">
                <a:solidFill>
                  <a:srgbClr val="CCCCCC"/>
                </a:solidFill>
                <a:effectLst/>
                <a:latin typeface="Consolas" panose="020B0609020204030204" pitchFamily="49" charset="0"/>
              </a:rPr>
              <a:t>strings.</a:t>
            </a:r>
            <a:r>
              <a:rPr lang="en-US" b="0" i="0" dirty="0" err="1">
                <a:solidFill>
                  <a:srgbClr val="F08D49"/>
                </a:solidFill>
                <a:effectLst/>
                <a:latin typeface="Consolas" panose="020B0609020204030204" pitchFamily="49" charset="0"/>
              </a:rPr>
              <a:t>add</a:t>
            </a:r>
            <a:r>
              <a:rPr lang="en-US" b="0" i="0" dirty="0">
                <a:solidFill>
                  <a:srgbClr val="CCCCCC"/>
                </a:solidFill>
                <a:effectLst/>
                <a:latin typeface="Consolas" panose="020B0609020204030204" pitchFamily="49" charset="0"/>
              </a:rPr>
              <a:t>(</a:t>
            </a:r>
            <a:r>
              <a:rPr lang="en-US" b="0" i="0" dirty="0">
                <a:solidFill>
                  <a:srgbClr val="7EC699"/>
                </a:solidFill>
                <a:effectLst/>
                <a:latin typeface="Consolas" panose="020B0609020204030204" pitchFamily="49" charset="0"/>
              </a:rPr>
              <a:t>"two"</a:t>
            </a:r>
            <a:r>
              <a:rPr lang="en-US" b="0" i="0" dirty="0">
                <a:solidFill>
                  <a:srgbClr val="CCCCCC"/>
                </a:solidFill>
                <a:effectLst/>
                <a:latin typeface="Consolas" panose="020B0609020204030204" pitchFamily="49" charset="0"/>
              </a:rPr>
              <a:t>);</a:t>
            </a:r>
          </a:p>
          <a:p>
            <a:pPr algn="l" latinLnBrk="0">
              <a:buNone/>
            </a:pPr>
            <a:r>
              <a:rPr lang="en-US" b="0" i="0" dirty="0" err="1">
                <a:solidFill>
                  <a:srgbClr val="CCCCCC"/>
                </a:solidFill>
                <a:effectLst/>
                <a:latin typeface="Consolas" panose="020B0609020204030204" pitchFamily="49" charset="0"/>
              </a:rPr>
              <a:t>IO.</a:t>
            </a:r>
            <a:r>
              <a:rPr lang="en-US" b="0" i="0" dirty="0" err="1">
                <a:solidFill>
                  <a:srgbClr val="F08D49"/>
                </a:solidFill>
                <a:effectLst/>
                <a:latin typeface="Consolas" panose="020B0609020204030204" pitchFamily="49" charset="0"/>
              </a:rPr>
              <a:t>println</a:t>
            </a:r>
            <a:r>
              <a:rPr lang="en-US" b="0" i="0" dirty="0">
                <a:solidFill>
                  <a:srgbClr val="CCCCCC"/>
                </a:solidFill>
                <a:effectLst/>
                <a:latin typeface="Consolas" panose="020B0609020204030204" pitchFamily="49" charset="0"/>
              </a:rPr>
              <a:t>(</a:t>
            </a:r>
            <a:r>
              <a:rPr lang="en-US" b="0" i="0" dirty="0">
                <a:solidFill>
                  <a:srgbClr val="7EC699"/>
                </a:solidFill>
                <a:effectLst/>
                <a:latin typeface="Consolas" panose="020B0609020204030204" pitchFamily="49" charset="0"/>
              </a:rPr>
              <a:t>"The number of elements in strings is "</a:t>
            </a:r>
            <a:r>
              <a:rPr lang="en-US" b="0" i="0" dirty="0">
                <a:solidFill>
                  <a:srgbClr val="CCCCCC"/>
                </a:solidFill>
                <a:effectLst/>
                <a:latin typeface="Consolas" panose="020B0609020204030204" pitchFamily="49" charset="0"/>
              </a:rPr>
              <a:t> </a:t>
            </a:r>
            <a:r>
              <a:rPr lang="en-US" b="0" i="0" dirty="0">
                <a:solidFill>
                  <a:srgbClr val="67CDCC"/>
                </a:solidFill>
                <a:effectLst/>
                <a:latin typeface="Consolas" panose="020B0609020204030204" pitchFamily="49" charset="0"/>
              </a:rPr>
              <a:t>+</a:t>
            </a:r>
            <a:r>
              <a:rPr lang="en-US" b="0" i="0" dirty="0">
                <a:solidFill>
                  <a:srgbClr val="CCCCCC"/>
                </a:solidFill>
                <a:effectLst/>
                <a:latin typeface="Consolas" panose="020B0609020204030204" pitchFamily="49" charset="0"/>
              </a:rPr>
              <a:t> </a:t>
            </a:r>
            <a:r>
              <a:rPr lang="en-US" b="0" i="0" dirty="0" err="1">
                <a:solidFill>
                  <a:srgbClr val="CCCCCC"/>
                </a:solidFill>
                <a:effectLst/>
                <a:latin typeface="Consolas" panose="020B0609020204030204" pitchFamily="49" charset="0"/>
              </a:rPr>
              <a:t>strings.</a:t>
            </a:r>
            <a:r>
              <a:rPr lang="en-US" b="0" i="0" dirty="0" err="1">
                <a:solidFill>
                  <a:srgbClr val="F08D49"/>
                </a:solidFill>
                <a:effectLst/>
                <a:latin typeface="Consolas" panose="020B0609020204030204" pitchFamily="49" charset="0"/>
              </a:rPr>
              <a:t>size</a:t>
            </a:r>
            <a:r>
              <a:rPr lang="en-US" b="0" i="0" dirty="0">
                <a:solidFill>
                  <a:srgbClr val="CCCCCC"/>
                </a:solidFill>
                <a:effectLst/>
                <a:latin typeface="Consolas" panose="020B0609020204030204" pitchFamily="49" charset="0"/>
              </a:rPr>
              <a:t>());</a:t>
            </a:r>
          </a:p>
          <a:p>
            <a:pPr algn="l" latinLnBrk="0">
              <a:buNone/>
            </a:pPr>
            <a:r>
              <a:rPr lang="en-US" b="0" i="0" dirty="0" err="1">
                <a:solidFill>
                  <a:srgbClr val="CCCCCC"/>
                </a:solidFill>
                <a:effectLst/>
                <a:latin typeface="Consolas" panose="020B0609020204030204" pitchFamily="49" charset="0"/>
              </a:rPr>
              <a:t>strings.</a:t>
            </a:r>
            <a:r>
              <a:rPr lang="en-US" b="0" i="0" dirty="0" err="1">
                <a:solidFill>
                  <a:srgbClr val="F08D49"/>
                </a:solidFill>
                <a:effectLst/>
                <a:latin typeface="Consolas" panose="020B0609020204030204" pitchFamily="49" charset="0"/>
              </a:rPr>
              <a:t>clear</a:t>
            </a:r>
            <a:r>
              <a:rPr lang="en-US" b="0" i="0" dirty="0">
                <a:solidFill>
                  <a:srgbClr val="CCCCCC"/>
                </a:solidFill>
                <a:effectLst/>
                <a:latin typeface="Consolas" panose="020B0609020204030204" pitchFamily="49" charset="0"/>
              </a:rPr>
              <a:t>();</a:t>
            </a:r>
          </a:p>
          <a:p>
            <a:pPr algn="l" latinLnBrk="0">
              <a:buNone/>
            </a:pPr>
            <a:r>
              <a:rPr lang="en-US" b="0" i="0" dirty="0" err="1">
                <a:solidFill>
                  <a:srgbClr val="CCCCCC"/>
                </a:solidFill>
                <a:effectLst/>
                <a:latin typeface="Consolas" panose="020B0609020204030204" pitchFamily="49" charset="0"/>
              </a:rPr>
              <a:t>IO.</a:t>
            </a:r>
            <a:r>
              <a:rPr lang="en-US" b="0" i="0" dirty="0" err="1">
                <a:solidFill>
                  <a:srgbClr val="F08D49"/>
                </a:solidFill>
                <a:effectLst/>
                <a:latin typeface="Consolas" panose="020B0609020204030204" pitchFamily="49" charset="0"/>
              </a:rPr>
              <a:t>println</a:t>
            </a:r>
            <a:r>
              <a:rPr lang="en-US" b="0" i="0" dirty="0">
                <a:solidFill>
                  <a:srgbClr val="CCCCCC"/>
                </a:solidFill>
                <a:effectLst/>
                <a:latin typeface="Consolas" panose="020B0609020204030204" pitchFamily="49" charset="0"/>
              </a:rPr>
              <a:t>(</a:t>
            </a:r>
            <a:r>
              <a:rPr lang="en-US" b="0" i="0" dirty="0">
                <a:solidFill>
                  <a:srgbClr val="7EC699"/>
                </a:solidFill>
                <a:effectLst/>
                <a:latin typeface="Consolas" panose="020B0609020204030204" pitchFamily="49" charset="0"/>
              </a:rPr>
              <a:t>"After clearing it, this number is now "</a:t>
            </a:r>
            <a:r>
              <a:rPr lang="en-US" b="0" i="0" dirty="0">
                <a:solidFill>
                  <a:srgbClr val="CCCCCC"/>
                </a:solidFill>
                <a:effectLst/>
                <a:latin typeface="Consolas" panose="020B0609020204030204" pitchFamily="49" charset="0"/>
              </a:rPr>
              <a:t> </a:t>
            </a:r>
            <a:r>
              <a:rPr lang="en-US" b="0" i="0" dirty="0">
                <a:solidFill>
                  <a:srgbClr val="67CDCC"/>
                </a:solidFill>
                <a:effectLst/>
                <a:latin typeface="Consolas" panose="020B0609020204030204" pitchFamily="49" charset="0"/>
              </a:rPr>
              <a:t>+</a:t>
            </a:r>
            <a:r>
              <a:rPr lang="en-US" b="0" i="0" dirty="0">
                <a:solidFill>
                  <a:srgbClr val="CCCCCC"/>
                </a:solidFill>
                <a:effectLst/>
                <a:latin typeface="Consolas" panose="020B0609020204030204" pitchFamily="49" charset="0"/>
              </a:rPr>
              <a:t> </a:t>
            </a:r>
            <a:r>
              <a:rPr lang="en-US" b="0" i="0" dirty="0" err="1">
                <a:solidFill>
                  <a:srgbClr val="CCCCCC"/>
                </a:solidFill>
                <a:effectLst/>
                <a:latin typeface="Consolas" panose="020B0609020204030204" pitchFamily="49" charset="0"/>
              </a:rPr>
              <a:t>strings.</a:t>
            </a:r>
            <a:r>
              <a:rPr lang="en-US" b="0" i="0" dirty="0" err="1">
                <a:solidFill>
                  <a:srgbClr val="F08D49"/>
                </a:solidFill>
                <a:effectLst/>
                <a:latin typeface="Consolas" panose="020B0609020204030204" pitchFamily="49" charset="0"/>
              </a:rPr>
              <a:t>size</a:t>
            </a:r>
            <a:r>
              <a:rPr lang="en-US" b="0" i="0" dirty="0">
                <a:solidFill>
                  <a:srgbClr val="CCCCCC"/>
                </a:solidFill>
                <a:effectLst/>
                <a:latin typeface="Consolas" panose="020B0609020204030204" pitchFamily="49" charset="0"/>
              </a:rPr>
              <a:t>());</a:t>
            </a:r>
          </a:p>
          <a:p>
            <a:pPr algn="l">
              <a:buNone/>
            </a:pPr>
            <a:r>
              <a:rPr lang="en-US" b="0" i="0" dirty="0">
                <a:solidFill>
                  <a:srgbClr val="131516"/>
                </a:solidFill>
                <a:effectLst/>
                <a:latin typeface="system-ui"/>
              </a:rPr>
              <a:t>Running this code produces the following:</a:t>
            </a:r>
          </a:p>
          <a:p>
            <a:pPr algn="l" latinLnBrk="0">
              <a:buNone/>
            </a:pPr>
            <a:r>
              <a:rPr lang="en-US" b="0" i="0" dirty="0">
                <a:solidFill>
                  <a:srgbClr val="CCCCCC"/>
                </a:solidFill>
                <a:effectLst/>
                <a:latin typeface="Consolas" panose="020B0609020204030204" pitchFamily="49" charset="0"/>
              </a:rPr>
              <a:t>The number of elements in strings is 2</a:t>
            </a:r>
          </a:p>
          <a:p>
            <a:pPr algn="l" latinLnBrk="0">
              <a:buNone/>
            </a:pPr>
            <a:r>
              <a:rPr lang="en-US" b="0" i="0" dirty="0">
                <a:solidFill>
                  <a:srgbClr val="CCCCCC"/>
                </a:solidFill>
                <a:effectLst/>
                <a:latin typeface="Consolas" panose="020B0609020204030204" pitchFamily="49" charset="0"/>
              </a:rPr>
              <a:t>After clearing it, this number is now 0</a:t>
            </a:r>
          </a:p>
          <a:p>
            <a:pPr algn="l">
              <a:buNone/>
            </a:pPr>
            <a:r>
              <a:rPr lang="en-US" b="0" i="0" u="none" strike="noStrike" dirty="0">
                <a:solidFill>
                  <a:srgbClr val="131516"/>
                </a:solidFill>
                <a:effectLst/>
                <a:latin typeface="system-ui"/>
              </a:rPr>
              <a:t> </a:t>
            </a:r>
            <a:endParaRPr lang="en-US" b="0" i="0" dirty="0">
              <a:solidFill>
                <a:srgbClr val="131516"/>
              </a:solidFill>
              <a:effectLst/>
              <a:latin typeface="system-ui"/>
            </a:endParaRPr>
          </a:p>
        </p:txBody>
      </p:sp>
    </p:spTree>
    <p:extLst>
      <p:ext uri="{BB962C8B-B14F-4D97-AF65-F5344CB8AC3E}">
        <p14:creationId xmlns:p14="http://schemas.microsoft.com/office/powerpoint/2010/main" val="98206686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4F028F-F3FC-B208-610B-8624BF1B22E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DD7AFC6-B770-743A-4F82-1A580451F9DD}"/>
              </a:ext>
            </a:extLst>
          </p:cNvPr>
          <p:cNvSpPr txBox="1"/>
          <p:nvPr/>
        </p:nvSpPr>
        <p:spPr>
          <a:xfrm>
            <a:off x="3048000" y="-1104940"/>
            <a:ext cx="6096000" cy="9076844"/>
          </a:xfrm>
          <a:prstGeom prst="rect">
            <a:avLst/>
          </a:prstGeom>
          <a:noFill/>
        </p:spPr>
        <p:txBody>
          <a:bodyPr wrap="square">
            <a:spAutoFit/>
          </a:bodyPr>
          <a:lstStyle/>
          <a:p>
            <a:pPr algn="l">
              <a:spcBef>
                <a:spcPts val="3750"/>
              </a:spcBef>
              <a:spcAft>
                <a:spcPts val="1500"/>
              </a:spcAft>
              <a:buNone/>
            </a:pPr>
            <a:r>
              <a:rPr lang="en-US" b="1" i="0" dirty="0">
                <a:solidFill>
                  <a:srgbClr val="131516"/>
                </a:solidFill>
                <a:effectLst/>
                <a:latin typeface="system-ui"/>
              </a:rPr>
              <a:t>Methods That Handle The Collection Itself</a:t>
            </a:r>
          </a:p>
          <a:p>
            <a:pPr algn="l">
              <a:buNone/>
            </a:pPr>
            <a:r>
              <a:rPr lang="en-US" b="0" i="0" dirty="0">
                <a:solidFill>
                  <a:srgbClr val="131516"/>
                </a:solidFill>
                <a:effectLst/>
                <a:latin typeface="system-ui"/>
              </a:rPr>
              <a:t>Then the last batch of methods deal with the collection itself.</a:t>
            </a:r>
          </a:p>
          <a:p>
            <a:pPr algn="l">
              <a:buNone/>
            </a:pPr>
            <a:r>
              <a:rPr lang="en-US" b="0" i="0" dirty="0">
                <a:solidFill>
                  <a:srgbClr val="131516"/>
                </a:solidFill>
                <a:effectLst/>
                <a:latin typeface="system-ui"/>
              </a:rPr>
              <a:t>You have two methods to check the content of a collection.</a:t>
            </a:r>
          </a:p>
          <a:p>
            <a:pPr algn="l">
              <a:spcBef>
                <a:spcPts val="750"/>
              </a:spcBef>
              <a:buFont typeface="Arial" panose="020B0604020202020204" pitchFamily="34" charset="0"/>
              <a:buChar char="•"/>
            </a:pPr>
            <a:r>
              <a:rPr lang="en-US" b="0" i="0" u="sng" dirty="0">
                <a:solidFill>
                  <a:srgbClr val="3A75B0"/>
                </a:solidFill>
                <a:effectLst/>
                <a:latin typeface="SFMono-Regular"/>
                <a:hlinkClick r:id="rId2"/>
              </a:rPr>
              <a:t>size()</a:t>
            </a:r>
            <a:r>
              <a:rPr lang="en-US" b="0" i="0" dirty="0">
                <a:solidFill>
                  <a:srgbClr val="131516"/>
                </a:solidFill>
                <a:effectLst/>
                <a:latin typeface="system-ui"/>
              </a:rPr>
              <a:t>: Returns the number of elements in a collection, as an </a:t>
            </a:r>
            <a:r>
              <a:rPr lang="en-US" b="0" i="0" dirty="0">
                <a:solidFill>
                  <a:srgbClr val="E76F00"/>
                </a:solidFill>
                <a:effectLst/>
                <a:latin typeface="SFMono-Regular"/>
              </a:rPr>
              <a:t>int</a:t>
            </a:r>
            <a:r>
              <a:rPr lang="en-US" b="0" i="0" dirty="0">
                <a:solidFill>
                  <a:srgbClr val="131516"/>
                </a:solidFill>
                <a:effectLst/>
                <a:latin typeface="system-ui"/>
              </a:rPr>
              <a:t>.</a:t>
            </a:r>
          </a:p>
          <a:p>
            <a:pPr algn="l">
              <a:spcBef>
                <a:spcPts val="750"/>
              </a:spcBef>
              <a:buFont typeface="Arial" panose="020B0604020202020204" pitchFamily="34" charset="0"/>
              <a:buChar char="•"/>
            </a:pPr>
            <a:r>
              <a:rPr lang="en-US" b="0" i="0" u="sng" dirty="0" err="1">
                <a:solidFill>
                  <a:srgbClr val="3A75B0"/>
                </a:solidFill>
                <a:effectLst/>
                <a:latin typeface="SFMono-Regular"/>
                <a:hlinkClick r:id="rId3"/>
              </a:rPr>
              <a:t>isEmpty</a:t>
            </a:r>
            <a:r>
              <a:rPr lang="en-US" b="0" i="0" u="sng" dirty="0">
                <a:solidFill>
                  <a:srgbClr val="3A75B0"/>
                </a:solidFill>
                <a:effectLst/>
                <a:latin typeface="SFMono-Regular"/>
                <a:hlinkClick r:id="rId3"/>
              </a:rPr>
              <a:t>()</a:t>
            </a:r>
            <a:r>
              <a:rPr lang="en-US" b="0" i="0" dirty="0">
                <a:solidFill>
                  <a:srgbClr val="131516"/>
                </a:solidFill>
                <a:effectLst/>
                <a:latin typeface="system-ui"/>
              </a:rPr>
              <a:t>: Tells you if the given collection is empty or not.</a:t>
            </a:r>
          </a:p>
          <a:p>
            <a:pPr algn="l" latinLnBrk="0">
              <a:buNone/>
            </a:pPr>
            <a:r>
              <a:rPr lang="en-US" b="0" i="0" dirty="0">
                <a:solidFill>
                  <a:srgbClr val="F8C555"/>
                </a:solidFill>
                <a:effectLst/>
                <a:latin typeface="Consolas" panose="020B0609020204030204" pitchFamily="49" charset="0"/>
              </a:rPr>
              <a:t>Collection</a:t>
            </a:r>
            <a:r>
              <a:rPr lang="en-US" b="0" i="0" dirty="0">
                <a:solidFill>
                  <a:srgbClr val="CCCCCC"/>
                </a:solidFill>
                <a:effectLst/>
                <a:latin typeface="Consolas" panose="020B0609020204030204" pitchFamily="49" charset="0"/>
              </a:rPr>
              <a:t>&lt;</a:t>
            </a:r>
            <a:r>
              <a:rPr lang="en-US" b="0" i="0" dirty="0">
                <a:solidFill>
                  <a:srgbClr val="F8C555"/>
                </a:solidFill>
                <a:effectLst/>
                <a:latin typeface="Consolas" panose="020B0609020204030204" pitchFamily="49" charset="0"/>
              </a:rPr>
              <a:t>String</a:t>
            </a:r>
            <a:r>
              <a:rPr lang="en-US" b="0" i="0" dirty="0">
                <a:solidFill>
                  <a:srgbClr val="CCCCCC"/>
                </a:solidFill>
                <a:effectLst/>
                <a:latin typeface="Consolas" panose="020B0609020204030204" pitchFamily="49" charset="0"/>
              </a:rPr>
              <a:t>&gt; strings </a:t>
            </a:r>
            <a:r>
              <a:rPr lang="en-US" b="0" i="0" dirty="0">
                <a:solidFill>
                  <a:srgbClr val="67CDCC"/>
                </a:solidFill>
                <a:effectLst/>
                <a:latin typeface="Consolas" panose="020B0609020204030204" pitchFamily="49" charset="0"/>
              </a:rPr>
              <a:t>=</a:t>
            </a:r>
            <a:r>
              <a:rPr lang="en-US" b="0" i="0" dirty="0">
                <a:solidFill>
                  <a:srgbClr val="CCCCCC"/>
                </a:solidFill>
                <a:effectLst/>
                <a:latin typeface="Consolas" panose="020B0609020204030204" pitchFamily="49" charset="0"/>
              </a:rPr>
              <a:t> </a:t>
            </a:r>
            <a:r>
              <a:rPr lang="en-US" b="0" i="0" dirty="0">
                <a:solidFill>
                  <a:srgbClr val="CC99CD"/>
                </a:solidFill>
                <a:effectLst/>
                <a:latin typeface="Consolas" panose="020B0609020204030204" pitchFamily="49" charset="0"/>
              </a:rPr>
              <a:t>new</a:t>
            </a:r>
            <a:r>
              <a:rPr lang="en-US" b="0" i="0" dirty="0">
                <a:solidFill>
                  <a:srgbClr val="CCCCCC"/>
                </a:solidFill>
                <a:effectLst/>
                <a:latin typeface="Consolas" panose="020B0609020204030204" pitchFamily="49" charset="0"/>
              </a:rPr>
              <a:t> </a:t>
            </a:r>
            <a:r>
              <a:rPr lang="en-US" b="0" i="0" dirty="0" err="1">
                <a:solidFill>
                  <a:srgbClr val="F8C555"/>
                </a:solidFill>
                <a:effectLst/>
                <a:latin typeface="Consolas" panose="020B0609020204030204" pitchFamily="49" charset="0"/>
              </a:rPr>
              <a:t>ArrayList</a:t>
            </a:r>
            <a:r>
              <a:rPr lang="en-US" b="0" i="0" dirty="0">
                <a:solidFill>
                  <a:srgbClr val="CCCCCC"/>
                </a:solidFill>
                <a:effectLst/>
                <a:latin typeface="Consolas" panose="020B0609020204030204" pitchFamily="49" charset="0"/>
              </a:rPr>
              <a:t>&lt;&gt;();</a:t>
            </a:r>
          </a:p>
          <a:p>
            <a:pPr algn="l" latinLnBrk="0">
              <a:buNone/>
            </a:pPr>
            <a:r>
              <a:rPr lang="en-US" b="0" i="0" dirty="0" err="1">
                <a:solidFill>
                  <a:srgbClr val="CCCCCC"/>
                </a:solidFill>
                <a:effectLst/>
                <a:latin typeface="Consolas" panose="020B0609020204030204" pitchFamily="49" charset="0"/>
              </a:rPr>
              <a:t>strings.</a:t>
            </a:r>
            <a:r>
              <a:rPr lang="en-US" b="0" i="0" dirty="0" err="1">
                <a:solidFill>
                  <a:srgbClr val="F08D49"/>
                </a:solidFill>
                <a:effectLst/>
                <a:latin typeface="Consolas" panose="020B0609020204030204" pitchFamily="49" charset="0"/>
              </a:rPr>
              <a:t>add</a:t>
            </a:r>
            <a:r>
              <a:rPr lang="en-US" b="0" i="0" dirty="0">
                <a:solidFill>
                  <a:srgbClr val="CCCCCC"/>
                </a:solidFill>
                <a:effectLst/>
                <a:latin typeface="Consolas" panose="020B0609020204030204" pitchFamily="49" charset="0"/>
              </a:rPr>
              <a:t>(</a:t>
            </a:r>
            <a:r>
              <a:rPr lang="en-US" b="0" i="0" dirty="0">
                <a:solidFill>
                  <a:srgbClr val="7EC699"/>
                </a:solidFill>
                <a:effectLst/>
                <a:latin typeface="Consolas" panose="020B0609020204030204" pitchFamily="49" charset="0"/>
              </a:rPr>
              <a:t>"one"</a:t>
            </a:r>
            <a:r>
              <a:rPr lang="en-US" b="0" i="0" dirty="0">
                <a:solidFill>
                  <a:srgbClr val="CCCCCC"/>
                </a:solidFill>
                <a:effectLst/>
                <a:latin typeface="Consolas" panose="020B0609020204030204" pitchFamily="49" charset="0"/>
              </a:rPr>
              <a:t>);</a:t>
            </a:r>
          </a:p>
          <a:p>
            <a:pPr algn="l" latinLnBrk="0">
              <a:buNone/>
            </a:pPr>
            <a:r>
              <a:rPr lang="en-US" b="0" i="0" dirty="0" err="1">
                <a:solidFill>
                  <a:srgbClr val="CCCCCC"/>
                </a:solidFill>
                <a:effectLst/>
                <a:latin typeface="Consolas" panose="020B0609020204030204" pitchFamily="49" charset="0"/>
              </a:rPr>
              <a:t>strings.</a:t>
            </a:r>
            <a:r>
              <a:rPr lang="en-US" b="0" i="0" dirty="0" err="1">
                <a:solidFill>
                  <a:srgbClr val="F08D49"/>
                </a:solidFill>
                <a:effectLst/>
                <a:latin typeface="Consolas" panose="020B0609020204030204" pitchFamily="49" charset="0"/>
              </a:rPr>
              <a:t>add</a:t>
            </a:r>
            <a:r>
              <a:rPr lang="en-US" b="0" i="0" dirty="0">
                <a:solidFill>
                  <a:srgbClr val="CCCCCC"/>
                </a:solidFill>
                <a:effectLst/>
                <a:latin typeface="Consolas" panose="020B0609020204030204" pitchFamily="49" charset="0"/>
              </a:rPr>
              <a:t>(</a:t>
            </a:r>
            <a:r>
              <a:rPr lang="en-US" b="0" i="0" dirty="0">
                <a:solidFill>
                  <a:srgbClr val="7EC699"/>
                </a:solidFill>
                <a:effectLst/>
                <a:latin typeface="Consolas" panose="020B0609020204030204" pitchFamily="49" charset="0"/>
              </a:rPr>
              <a:t>"two"</a:t>
            </a:r>
            <a:r>
              <a:rPr lang="en-US" b="0" i="0" dirty="0">
                <a:solidFill>
                  <a:srgbClr val="CCCCCC"/>
                </a:solidFill>
                <a:effectLst/>
                <a:latin typeface="Consolas" panose="020B0609020204030204" pitchFamily="49" charset="0"/>
              </a:rPr>
              <a:t>);</a:t>
            </a:r>
          </a:p>
          <a:p>
            <a:pPr algn="l" latinLnBrk="0">
              <a:buNone/>
            </a:pPr>
            <a:r>
              <a:rPr lang="en-US" b="0" i="0" dirty="0">
                <a:solidFill>
                  <a:srgbClr val="CC99CD"/>
                </a:solidFill>
                <a:effectLst/>
                <a:latin typeface="Consolas" panose="020B0609020204030204" pitchFamily="49" charset="0"/>
              </a:rPr>
              <a:t>if</a:t>
            </a:r>
            <a:r>
              <a:rPr lang="en-US" b="0" i="0" dirty="0">
                <a:solidFill>
                  <a:srgbClr val="CCCCCC"/>
                </a:solidFill>
                <a:effectLst/>
                <a:latin typeface="Consolas" panose="020B0609020204030204" pitchFamily="49" charset="0"/>
              </a:rPr>
              <a:t> (</a:t>
            </a:r>
            <a:r>
              <a:rPr lang="en-US" b="0" i="0" dirty="0">
                <a:solidFill>
                  <a:srgbClr val="67CDCC"/>
                </a:solidFill>
                <a:effectLst/>
                <a:latin typeface="Consolas" panose="020B0609020204030204" pitchFamily="49" charset="0"/>
              </a:rPr>
              <a:t>!</a:t>
            </a:r>
            <a:r>
              <a:rPr lang="en-US" b="0" i="0" dirty="0" err="1">
                <a:solidFill>
                  <a:srgbClr val="CCCCCC"/>
                </a:solidFill>
                <a:effectLst/>
                <a:latin typeface="Consolas" panose="020B0609020204030204" pitchFamily="49" charset="0"/>
              </a:rPr>
              <a:t>strings.</a:t>
            </a:r>
            <a:r>
              <a:rPr lang="en-US" b="0" i="0" dirty="0" err="1">
                <a:solidFill>
                  <a:srgbClr val="F08D49"/>
                </a:solidFill>
                <a:effectLst/>
                <a:latin typeface="Consolas" panose="020B0609020204030204" pitchFamily="49" charset="0"/>
              </a:rPr>
              <a:t>isEmpty</a:t>
            </a:r>
            <a:r>
              <a:rPr lang="en-US" b="0" i="0" dirty="0">
                <a:solidFill>
                  <a:srgbClr val="CCCCCC"/>
                </a:solidFill>
                <a:effectLst/>
                <a:latin typeface="Consolas" panose="020B0609020204030204" pitchFamily="49" charset="0"/>
              </a:rPr>
              <a:t>()) {</a:t>
            </a:r>
          </a:p>
          <a:p>
            <a:pPr algn="l" latinLnBrk="0">
              <a:buNone/>
            </a:pPr>
            <a:r>
              <a:rPr lang="en-US" b="0" i="0" dirty="0">
                <a:solidFill>
                  <a:srgbClr val="CCCCCC"/>
                </a:solidFill>
                <a:effectLst/>
                <a:latin typeface="Consolas" panose="020B0609020204030204" pitchFamily="49" charset="0"/>
              </a:rPr>
              <a:t>    </a:t>
            </a:r>
            <a:r>
              <a:rPr lang="en-US" b="0" i="0" dirty="0" err="1">
                <a:solidFill>
                  <a:srgbClr val="CCCCCC"/>
                </a:solidFill>
                <a:effectLst/>
                <a:latin typeface="Consolas" panose="020B0609020204030204" pitchFamily="49" charset="0"/>
              </a:rPr>
              <a:t>IO.</a:t>
            </a:r>
            <a:r>
              <a:rPr lang="en-US" b="0" i="0" dirty="0" err="1">
                <a:solidFill>
                  <a:srgbClr val="F08D49"/>
                </a:solidFill>
                <a:effectLst/>
                <a:latin typeface="Consolas" panose="020B0609020204030204" pitchFamily="49" charset="0"/>
              </a:rPr>
              <a:t>println</a:t>
            </a:r>
            <a:r>
              <a:rPr lang="en-US" b="0" i="0" dirty="0">
                <a:solidFill>
                  <a:srgbClr val="CCCCCC"/>
                </a:solidFill>
                <a:effectLst/>
                <a:latin typeface="Consolas" panose="020B0609020204030204" pitchFamily="49" charset="0"/>
              </a:rPr>
              <a:t>(</a:t>
            </a:r>
            <a:r>
              <a:rPr lang="en-US" b="0" i="0" dirty="0">
                <a:solidFill>
                  <a:srgbClr val="7EC699"/>
                </a:solidFill>
                <a:effectLst/>
                <a:latin typeface="Consolas" panose="020B0609020204030204" pitchFamily="49" charset="0"/>
              </a:rPr>
              <a:t>"Indeed strings is not empty!"</a:t>
            </a:r>
            <a:r>
              <a:rPr lang="en-US" b="0" i="0" dirty="0">
                <a:solidFill>
                  <a:srgbClr val="CCCCCC"/>
                </a:solidFill>
                <a:effectLst/>
                <a:latin typeface="Consolas" panose="020B0609020204030204" pitchFamily="49" charset="0"/>
              </a:rPr>
              <a:t>);</a:t>
            </a:r>
          </a:p>
          <a:p>
            <a:pPr algn="l" latinLnBrk="0">
              <a:buNone/>
            </a:pPr>
            <a:r>
              <a:rPr lang="en-US" b="0" i="0" dirty="0">
                <a:solidFill>
                  <a:srgbClr val="CCCCCC"/>
                </a:solidFill>
                <a:effectLst/>
                <a:latin typeface="Consolas" panose="020B0609020204030204" pitchFamily="49" charset="0"/>
              </a:rPr>
              <a:t>}</a:t>
            </a:r>
          </a:p>
          <a:p>
            <a:pPr algn="l" latinLnBrk="0">
              <a:buNone/>
            </a:pPr>
            <a:r>
              <a:rPr lang="en-US" b="0" i="0" dirty="0" err="1">
                <a:solidFill>
                  <a:srgbClr val="CCCCCC"/>
                </a:solidFill>
                <a:effectLst/>
                <a:latin typeface="Consolas" panose="020B0609020204030204" pitchFamily="49" charset="0"/>
              </a:rPr>
              <a:t>IO.</a:t>
            </a:r>
            <a:r>
              <a:rPr lang="en-US" b="0" i="0" dirty="0" err="1">
                <a:solidFill>
                  <a:srgbClr val="F08D49"/>
                </a:solidFill>
                <a:effectLst/>
                <a:latin typeface="Consolas" panose="020B0609020204030204" pitchFamily="49" charset="0"/>
              </a:rPr>
              <a:t>println</a:t>
            </a:r>
            <a:r>
              <a:rPr lang="en-US" b="0" i="0" dirty="0">
                <a:solidFill>
                  <a:srgbClr val="CCCCCC"/>
                </a:solidFill>
                <a:effectLst/>
                <a:latin typeface="Consolas" panose="020B0609020204030204" pitchFamily="49" charset="0"/>
              </a:rPr>
              <a:t>(</a:t>
            </a:r>
            <a:r>
              <a:rPr lang="en-US" b="0" i="0" dirty="0">
                <a:solidFill>
                  <a:srgbClr val="7EC699"/>
                </a:solidFill>
                <a:effectLst/>
                <a:latin typeface="Consolas" panose="020B0609020204030204" pitchFamily="49" charset="0"/>
              </a:rPr>
              <a:t>"The number of elements in strings is "</a:t>
            </a:r>
            <a:r>
              <a:rPr lang="en-US" b="0" i="0" dirty="0">
                <a:solidFill>
                  <a:srgbClr val="CCCCCC"/>
                </a:solidFill>
                <a:effectLst/>
                <a:latin typeface="Consolas" panose="020B0609020204030204" pitchFamily="49" charset="0"/>
              </a:rPr>
              <a:t> </a:t>
            </a:r>
            <a:r>
              <a:rPr lang="en-US" b="0" i="0" dirty="0">
                <a:solidFill>
                  <a:srgbClr val="67CDCC"/>
                </a:solidFill>
                <a:effectLst/>
                <a:latin typeface="Consolas" panose="020B0609020204030204" pitchFamily="49" charset="0"/>
              </a:rPr>
              <a:t>+</a:t>
            </a:r>
            <a:r>
              <a:rPr lang="en-US" b="0" i="0" dirty="0">
                <a:solidFill>
                  <a:srgbClr val="CCCCCC"/>
                </a:solidFill>
                <a:effectLst/>
                <a:latin typeface="Consolas" panose="020B0609020204030204" pitchFamily="49" charset="0"/>
              </a:rPr>
              <a:t> </a:t>
            </a:r>
            <a:r>
              <a:rPr lang="en-US" b="0" i="0" dirty="0" err="1">
                <a:solidFill>
                  <a:srgbClr val="CCCCCC"/>
                </a:solidFill>
                <a:effectLst/>
                <a:latin typeface="Consolas" panose="020B0609020204030204" pitchFamily="49" charset="0"/>
              </a:rPr>
              <a:t>strings.</a:t>
            </a:r>
            <a:r>
              <a:rPr lang="en-US" b="0" i="0" dirty="0" err="1">
                <a:solidFill>
                  <a:srgbClr val="F08D49"/>
                </a:solidFill>
                <a:effectLst/>
                <a:latin typeface="Consolas" panose="020B0609020204030204" pitchFamily="49" charset="0"/>
              </a:rPr>
              <a:t>size</a:t>
            </a:r>
            <a:r>
              <a:rPr lang="en-US" b="0" i="0" dirty="0">
                <a:solidFill>
                  <a:srgbClr val="CCCCCC"/>
                </a:solidFill>
                <a:effectLst/>
                <a:latin typeface="Consolas" panose="020B0609020204030204" pitchFamily="49" charset="0"/>
              </a:rPr>
              <a:t>());</a:t>
            </a:r>
          </a:p>
          <a:p>
            <a:pPr algn="l">
              <a:buNone/>
            </a:pPr>
            <a:r>
              <a:rPr lang="en-US" b="0" i="0" dirty="0">
                <a:solidFill>
                  <a:srgbClr val="131516"/>
                </a:solidFill>
                <a:effectLst/>
                <a:latin typeface="system-ui"/>
              </a:rPr>
              <a:t>Running this code produces the following:</a:t>
            </a:r>
          </a:p>
          <a:p>
            <a:pPr algn="l" latinLnBrk="0">
              <a:buNone/>
            </a:pPr>
            <a:r>
              <a:rPr lang="en-US" b="0" i="0" dirty="0">
                <a:solidFill>
                  <a:srgbClr val="CCCCCC"/>
                </a:solidFill>
                <a:effectLst/>
                <a:latin typeface="Consolas" panose="020B0609020204030204" pitchFamily="49" charset="0"/>
              </a:rPr>
              <a:t>Indeed strings is not empty!</a:t>
            </a:r>
          </a:p>
          <a:p>
            <a:pPr algn="l" latinLnBrk="0">
              <a:buNone/>
            </a:pPr>
            <a:r>
              <a:rPr lang="en-US" b="0" i="0" dirty="0">
                <a:solidFill>
                  <a:srgbClr val="CCCCCC"/>
                </a:solidFill>
                <a:effectLst/>
                <a:latin typeface="Consolas" panose="020B0609020204030204" pitchFamily="49" charset="0"/>
              </a:rPr>
              <a:t>The number of elements in strings is 2</a:t>
            </a:r>
          </a:p>
          <a:p>
            <a:pPr algn="l">
              <a:buNone/>
            </a:pPr>
            <a:r>
              <a:rPr lang="en-US" b="0" i="0" dirty="0">
                <a:solidFill>
                  <a:srgbClr val="131516"/>
                </a:solidFill>
                <a:effectLst/>
                <a:latin typeface="system-ui"/>
              </a:rPr>
              <a:t>Then you can delete the content of a collection by simply calling </a:t>
            </a:r>
            <a:r>
              <a:rPr lang="en-US" b="0" i="0" u="sng" dirty="0">
                <a:solidFill>
                  <a:srgbClr val="3A75B0"/>
                </a:solidFill>
                <a:effectLst/>
                <a:latin typeface="SFMono-Regular"/>
                <a:hlinkClick r:id="rId4"/>
              </a:rPr>
              <a:t>clear()</a:t>
            </a:r>
            <a:r>
              <a:rPr lang="en-US" b="0" i="0" dirty="0">
                <a:solidFill>
                  <a:srgbClr val="131516"/>
                </a:solidFill>
                <a:effectLst/>
                <a:latin typeface="system-ui"/>
              </a:rPr>
              <a:t> on it.</a:t>
            </a:r>
          </a:p>
          <a:p>
            <a:pPr algn="l" latinLnBrk="0">
              <a:buNone/>
            </a:pPr>
            <a:r>
              <a:rPr lang="en-US" b="0" i="0" dirty="0">
                <a:solidFill>
                  <a:srgbClr val="F8C555"/>
                </a:solidFill>
                <a:effectLst/>
                <a:latin typeface="Consolas" panose="020B0609020204030204" pitchFamily="49" charset="0"/>
              </a:rPr>
              <a:t>Collection</a:t>
            </a:r>
            <a:r>
              <a:rPr lang="en-US" b="0" i="0" dirty="0">
                <a:solidFill>
                  <a:srgbClr val="CCCCCC"/>
                </a:solidFill>
                <a:effectLst/>
                <a:latin typeface="Consolas" panose="020B0609020204030204" pitchFamily="49" charset="0"/>
              </a:rPr>
              <a:t>&lt;</a:t>
            </a:r>
            <a:r>
              <a:rPr lang="en-US" b="0" i="0" dirty="0">
                <a:solidFill>
                  <a:srgbClr val="F8C555"/>
                </a:solidFill>
                <a:effectLst/>
                <a:latin typeface="Consolas" panose="020B0609020204030204" pitchFamily="49" charset="0"/>
              </a:rPr>
              <a:t>String</a:t>
            </a:r>
            <a:r>
              <a:rPr lang="en-US" b="0" i="0" dirty="0">
                <a:solidFill>
                  <a:srgbClr val="CCCCCC"/>
                </a:solidFill>
                <a:effectLst/>
                <a:latin typeface="Consolas" panose="020B0609020204030204" pitchFamily="49" charset="0"/>
              </a:rPr>
              <a:t>&gt; strings </a:t>
            </a:r>
            <a:r>
              <a:rPr lang="en-US" b="0" i="0" dirty="0">
                <a:solidFill>
                  <a:srgbClr val="67CDCC"/>
                </a:solidFill>
                <a:effectLst/>
                <a:latin typeface="Consolas" panose="020B0609020204030204" pitchFamily="49" charset="0"/>
              </a:rPr>
              <a:t>=</a:t>
            </a:r>
            <a:r>
              <a:rPr lang="en-US" b="0" i="0" dirty="0">
                <a:solidFill>
                  <a:srgbClr val="CCCCCC"/>
                </a:solidFill>
                <a:effectLst/>
                <a:latin typeface="Consolas" panose="020B0609020204030204" pitchFamily="49" charset="0"/>
              </a:rPr>
              <a:t> </a:t>
            </a:r>
            <a:r>
              <a:rPr lang="en-US" b="0" i="0" dirty="0">
                <a:solidFill>
                  <a:srgbClr val="CC99CD"/>
                </a:solidFill>
                <a:effectLst/>
                <a:latin typeface="Consolas" panose="020B0609020204030204" pitchFamily="49" charset="0"/>
              </a:rPr>
              <a:t>new</a:t>
            </a:r>
            <a:r>
              <a:rPr lang="en-US" b="0" i="0" dirty="0">
                <a:solidFill>
                  <a:srgbClr val="CCCCCC"/>
                </a:solidFill>
                <a:effectLst/>
                <a:latin typeface="Consolas" panose="020B0609020204030204" pitchFamily="49" charset="0"/>
              </a:rPr>
              <a:t> </a:t>
            </a:r>
            <a:r>
              <a:rPr lang="en-US" b="0" i="0" dirty="0" err="1">
                <a:solidFill>
                  <a:srgbClr val="F8C555"/>
                </a:solidFill>
                <a:effectLst/>
                <a:latin typeface="Consolas" panose="020B0609020204030204" pitchFamily="49" charset="0"/>
              </a:rPr>
              <a:t>ArrayList</a:t>
            </a:r>
            <a:r>
              <a:rPr lang="en-US" b="0" i="0" dirty="0">
                <a:solidFill>
                  <a:srgbClr val="CCCCCC"/>
                </a:solidFill>
                <a:effectLst/>
                <a:latin typeface="Consolas" panose="020B0609020204030204" pitchFamily="49" charset="0"/>
              </a:rPr>
              <a:t>&lt;&gt;();</a:t>
            </a:r>
          </a:p>
          <a:p>
            <a:pPr algn="l" latinLnBrk="0">
              <a:buNone/>
            </a:pPr>
            <a:r>
              <a:rPr lang="en-US" b="0" i="0" dirty="0" err="1">
                <a:solidFill>
                  <a:srgbClr val="CCCCCC"/>
                </a:solidFill>
                <a:effectLst/>
                <a:latin typeface="Consolas" panose="020B0609020204030204" pitchFamily="49" charset="0"/>
              </a:rPr>
              <a:t>strings.</a:t>
            </a:r>
            <a:r>
              <a:rPr lang="en-US" b="0" i="0" dirty="0" err="1">
                <a:solidFill>
                  <a:srgbClr val="F08D49"/>
                </a:solidFill>
                <a:effectLst/>
                <a:latin typeface="Consolas" panose="020B0609020204030204" pitchFamily="49" charset="0"/>
              </a:rPr>
              <a:t>add</a:t>
            </a:r>
            <a:r>
              <a:rPr lang="en-US" b="0" i="0" dirty="0">
                <a:solidFill>
                  <a:srgbClr val="CCCCCC"/>
                </a:solidFill>
                <a:effectLst/>
                <a:latin typeface="Consolas" panose="020B0609020204030204" pitchFamily="49" charset="0"/>
              </a:rPr>
              <a:t>(</a:t>
            </a:r>
            <a:r>
              <a:rPr lang="en-US" b="0" i="0" dirty="0">
                <a:solidFill>
                  <a:srgbClr val="7EC699"/>
                </a:solidFill>
                <a:effectLst/>
                <a:latin typeface="Consolas" panose="020B0609020204030204" pitchFamily="49" charset="0"/>
              </a:rPr>
              <a:t>"one"</a:t>
            </a:r>
            <a:r>
              <a:rPr lang="en-US" b="0" i="0" dirty="0">
                <a:solidFill>
                  <a:srgbClr val="CCCCCC"/>
                </a:solidFill>
                <a:effectLst/>
                <a:latin typeface="Consolas" panose="020B0609020204030204" pitchFamily="49" charset="0"/>
              </a:rPr>
              <a:t>);</a:t>
            </a:r>
          </a:p>
          <a:p>
            <a:pPr algn="l" latinLnBrk="0">
              <a:buNone/>
            </a:pPr>
            <a:r>
              <a:rPr lang="en-US" b="0" i="0" dirty="0" err="1">
                <a:solidFill>
                  <a:srgbClr val="CCCCCC"/>
                </a:solidFill>
                <a:effectLst/>
                <a:latin typeface="Consolas" panose="020B0609020204030204" pitchFamily="49" charset="0"/>
              </a:rPr>
              <a:t>strings.</a:t>
            </a:r>
            <a:r>
              <a:rPr lang="en-US" b="0" i="0" dirty="0" err="1">
                <a:solidFill>
                  <a:srgbClr val="F08D49"/>
                </a:solidFill>
                <a:effectLst/>
                <a:latin typeface="Consolas" panose="020B0609020204030204" pitchFamily="49" charset="0"/>
              </a:rPr>
              <a:t>add</a:t>
            </a:r>
            <a:r>
              <a:rPr lang="en-US" b="0" i="0" dirty="0">
                <a:solidFill>
                  <a:srgbClr val="CCCCCC"/>
                </a:solidFill>
                <a:effectLst/>
                <a:latin typeface="Consolas" panose="020B0609020204030204" pitchFamily="49" charset="0"/>
              </a:rPr>
              <a:t>(</a:t>
            </a:r>
            <a:r>
              <a:rPr lang="en-US" b="0" i="0" dirty="0">
                <a:solidFill>
                  <a:srgbClr val="7EC699"/>
                </a:solidFill>
                <a:effectLst/>
                <a:latin typeface="Consolas" panose="020B0609020204030204" pitchFamily="49" charset="0"/>
              </a:rPr>
              <a:t>"two"</a:t>
            </a:r>
            <a:r>
              <a:rPr lang="en-US" b="0" i="0" dirty="0">
                <a:solidFill>
                  <a:srgbClr val="CCCCCC"/>
                </a:solidFill>
                <a:effectLst/>
                <a:latin typeface="Consolas" panose="020B0609020204030204" pitchFamily="49" charset="0"/>
              </a:rPr>
              <a:t>);</a:t>
            </a:r>
          </a:p>
          <a:p>
            <a:pPr algn="l" latinLnBrk="0">
              <a:buNone/>
            </a:pPr>
            <a:r>
              <a:rPr lang="en-US" b="0" i="0" dirty="0" err="1">
                <a:solidFill>
                  <a:srgbClr val="CCCCCC"/>
                </a:solidFill>
                <a:effectLst/>
                <a:latin typeface="Consolas" panose="020B0609020204030204" pitchFamily="49" charset="0"/>
              </a:rPr>
              <a:t>IO.</a:t>
            </a:r>
            <a:r>
              <a:rPr lang="en-US" b="0" i="0" dirty="0" err="1">
                <a:solidFill>
                  <a:srgbClr val="F08D49"/>
                </a:solidFill>
                <a:effectLst/>
                <a:latin typeface="Consolas" panose="020B0609020204030204" pitchFamily="49" charset="0"/>
              </a:rPr>
              <a:t>println</a:t>
            </a:r>
            <a:r>
              <a:rPr lang="en-US" b="0" i="0" dirty="0">
                <a:solidFill>
                  <a:srgbClr val="CCCCCC"/>
                </a:solidFill>
                <a:effectLst/>
                <a:latin typeface="Consolas" panose="020B0609020204030204" pitchFamily="49" charset="0"/>
              </a:rPr>
              <a:t>(</a:t>
            </a:r>
            <a:r>
              <a:rPr lang="en-US" b="0" i="0" dirty="0">
                <a:solidFill>
                  <a:srgbClr val="7EC699"/>
                </a:solidFill>
                <a:effectLst/>
                <a:latin typeface="Consolas" panose="020B0609020204030204" pitchFamily="49" charset="0"/>
              </a:rPr>
              <a:t>"The number of elements in strings is "</a:t>
            </a:r>
            <a:r>
              <a:rPr lang="en-US" b="0" i="0" dirty="0">
                <a:solidFill>
                  <a:srgbClr val="CCCCCC"/>
                </a:solidFill>
                <a:effectLst/>
                <a:latin typeface="Consolas" panose="020B0609020204030204" pitchFamily="49" charset="0"/>
              </a:rPr>
              <a:t> </a:t>
            </a:r>
            <a:r>
              <a:rPr lang="en-US" b="0" i="0" dirty="0">
                <a:solidFill>
                  <a:srgbClr val="67CDCC"/>
                </a:solidFill>
                <a:effectLst/>
                <a:latin typeface="Consolas" panose="020B0609020204030204" pitchFamily="49" charset="0"/>
              </a:rPr>
              <a:t>+</a:t>
            </a:r>
            <a:r>
              <a:rPr lang="en-US" b="0" i="0" dirty="0">
                <a:solidFill>
                  <a:srgbClr val="CCCCCC"/>
                </a:solidFill>
                <a:effectLst/>
                <a:latin typeface="Consolas" panose="020B0609020204030204" pitchFamily="49" charset="0"/>
              </a:rPr>
              <a:t> </a:t>
            </a:r>
            <a:r>
              <a:rPr lang="en-US" b="0" i="0" dirty="0" err="1">
                <a:solidFill>
                  <a:srgbClr val="CCCCCC"/>
                </a:solidFill>
                <a:effectLst/>
                <a:latin typeface="Consolas" panose="020B0609020204030204" pitchFamily="49" charset="0"/>
              </a:rPr>
              <a:t>strings.</a:t>
            </a:r>
            <a:r>
              <a:rPr lang="en-US" b="0" i="0" dirty="0" err="1">
                <a:solidFill>
                  <a:srgbClr val="F08D49"/>
                </a:solidFill>
                <a:effectLst/>
                <a:latin typeface="Consolas" panose="020B0609020204030204" pitchFamily="49" charset="0"/>
              </a:rPr>
              <a:t>size</a:t>
            </a:r>
            <a:r>
              <a:rPr lang="en-US" b="0" i="0" dirty="0">
                <a:solidFill>
                  <a:srgbClr val="CCCCCC"/>
                </a:solidFill>
                <a:effectLst/>
                <a:latin typeface="Consolas" panose="020B0609020204030204" pitchFamily="49" charset="0"/>
              </a:rPr>
              <a:t>());</a:t>
            </a:r>
          </a:p>
          <a:p>
            <a:pPr algn="l" latinLnBrk="0">
              <a:buNone/>
            </a:pPr>
            <a:r>
              <a:rPr lang="en-US" b="0" i="0" dirty="0" err="1">
                <a:solidFill>
                  <a:srgbClr val="CCCCCC"/>
                </a:solidFill>
                <a:effectLst/>
                <a:latin typeface="Consolas" panose="020B0609020204030204" pitchFamily="49" charset="0"/>
              </a:rPr>
              <a:t>strings.</a:t>
            </a:r>
            <a:r>
              <a:rPr lang="en-US" b="0" i="0" dirty="0" err="1">
                <a:solidFill>
                  <a:srgbClr val="F08D49"/>
                </a:solidFill>
                <a:effectLst/>
                <a:latin typeface="Consolas" panose="020B0609020204030204" pitchFamily="49" charset="0"/>
              </a:rPr>
              <a:t>clear</a:t>
            </a:r>
            <a:r>
              <a:rPr lang="en-US" b="0" i="0" dirty="0">
                <a:solidFill>
                  <a:srgbClr val="CCCCCC"/>
                </a:solidFill>
                <a:effectLst/>
                <a:latin typeface="Consolas" panose="020B0609020204030204" pitchFamily="49" charset="0"/>
              </a:rPr>
              <a:t>();</a:t>
            </a:r>
          </a:p>
          <a:p>
            <a:pPr algn="l" latinLnBrk="0">
              <a:buNone/>
            </a:pPr>
            <a:r>
              <a:rPr lang="en-US" b="0" i="0" dirty="0" err="1">
                <a:solidFill>
                  <a:srgbClr val="CCCCCC"/>
                </a:solidFill>
                <a:effectLst/>
                <a:latin typeface="Consolas" panose="020B0609020204030204" pitchFamily="49" charset="0"/>
              </a:rPr>
              <a:t>IO.</a:t>
            </a:r>
            <a:r>
              <a:rPr lang="en-US" b="0" i="0" dirty="0" err="1">
                <a:solidFill>
                  <a:srgbClr val="F08D49"/>
                </a:solidFill>
                <a:effectLst/>
                <a:latin typeface="Consolas" panose="020B0609020204030204" pitchFamily="49" charset="0"/>
              </a:rPr>
              <a:t>println</a:t>
            </a:r>
            <a:r>
              <a:rPr lang="en-US" b="0" i="0" dirty="0">
                <a:solidFill>
                  <a:srgbClr val="CCCCCC"/>
                </a:solidFill>
                <a:effectLst/>
                <a:latin typeface="Consolas" panose="020B0609020204030204" pitchFamily="49" charset="0"/>
              </a:rPr>
              <a:t>(</a:t>
            </a:r>
            <a:r>
              <a:rPr lang="en-US" b="0" i="0" dirty="0">
                <a:solidFill>
                  <a:srgbClr val="7EC699"/>
                </a:solidFill>
                <a:effectLst/>
                <a:latin typeface="Consolas" panose="020B0609020204030204" pitchFamily="49" charset="0"/>
              </a:rPr>
              <a:t>"After clearing it, this number is now "</a:t>
            </a:r>
            <a:r>
              <a:rPr lang="en-US" b="0" i="0" dirty="0">
                <a:solidFill>
                  <a:srgbClr val="CCCCCC"/>
                </a:solidFill>
                <a:effectLst/>
                <a:latin typeface="Consolas" panose="020B0609020204030204" pitchFamily="49" charset="0"/>
              </a:rPr>
              <a:t> </a:t>
            </a:r>
            <a:r>
              <a:rPr lang="en-US" b="0" i="0" dirty="0">
                <a:solidFill>
                  <a:srgbClr val="67CDCC"/>
                </a:solidFill>
                <a:effectLst/>
                <a:latin typeface="Consolas" panose="020B0609020204030204" pitchFamily="49" charset="0"/>
              </a:rPr>
              <a:t>+</a:t>
            </a:r>
            <a:r>
              <a:rPr lang="en-US" b="0" i="0" dirty="0">
                <a:solidFill>
                  <a:srgbClr val="CCCCCC"/>
                </a:solidFill>
                <a:effectLst/>
                <a:latin typeface="Consolas" panose="020B0609020204030204" pitchFamily="49" charset="0"/>
              </a:rPr>
              <a:t> </a:t>
            </a:r>
            <a:r>
              <a:rPr lang="en-US" b="0" i="0" dirty="0" err="1">
                <a:solidFill>
                  <a:srgbClr val="CCCCCC"/>
                </a:solidFill>
                <a:effectLst/>
                <a:latin typeface="Consolas" panose="020B0609020204030204" pitchFamily="49" charset="0"/>
              </a:rPr>
              <a:t>strings.</a:t>
            </a:r>
            <a:r>
              <a:rPr lang="en-US" b="0" i="0" dirty="0" err="1">
                <a:solidFill>
                  <a:srgbClr val="F08D49"/>
                </a:solidFill>
                <a:effectLst/>
                <a:latin typeface="Consolas" panose="020B0609020204030204" pitchFamily="49" charset="0"/>
              </a:rPr>
              <a:t>size</a:t>
            </a:r>
            <a:r>
              <a:rPr lang="en-US" b="0" i="0" dirty="0">
                <a:solidFill>
                  <a:srgbClr val="CCCCCC"/>
                </a:solidFill>
                <a:effectLst/>
                <a:latin typeface="Consolas" panose="020B0609020204030204" pitchFamily="49" charset="0"/>
              </a:rPr>
              <a:t>());</a:t>
            </a:r>
          </a:p>
          <a:p>
            <a:pPr algn="l">
              <a:buNone/>
            </a:pPr>
            <a:r>
              <a:rPr lang="en-US" b="0" i="0" dirty="0">
                <a:solidFill>
                  <a:srgbClr val="131516"/>
                </a:solidFill>
                <a:effectLst/>
                <a:latin typeface="system-ui"/>
              </a:rPr>
              <a:t>Running this code produces the following:</a:t>
            </a:r>
          </a:p>
          <a:p>
            <a:pPr algn="l" latinLnBrk="0">
              <a:buNone/>
            </a:pPr>
            <a:r>
              <a:rPr lang="en-US" b="0" i="0" dirty="0">
                <a:solidFill>
                  <a:srgbClr val="CCCCCC"/>
                </a:solidFill>
                <a:effectLst/>
                <a:latin typeface="Consolas" panose="020B0609020204030204" pitchFamily="49" charset="0"/>
              </a:rPr>
              <a:t>The number of elements in strings is 2</a:t>
            </a:r>
          </a:p>
          <a:p>
            <a:pPr algn="l" latinLnBrk="0">
              <a:buNone/>
            </a:pPr>
            <a:r>
              <a:rPr lang="en-US" b="0" i="0" dirty="0">
                <a:solidFill>
                  <a:srgbClr val="CCCCCC"/>
                </a:solidFill>
                <a:effectLst/>
                <a:latin typeface="Consolas" panose="020B0609020204030204" pitchFamily="49" charset="0"/>
              </a:rPr>
              <a:t>After clearing it, this number is now 0</a:t>
            </a:r>
          </a:p>
          <a:p>
            <a:pPr algn="l">
              <a:buNone/>
            </a:pPr>
            <a:r>
              <a:rPr lang="en-US" b="0" i="0" u="none" strike="noStrike" dirty="0">
                <a:solidFill>
                  <a:srgbClr val="131516"/>
                </a:solidFill>
                <a:effectLst/>
                <a:latin typeface="system-ui"/>
              </a:rPr>
              <a:t> </a:t>
            </a:r>
            <a:endParaRPr lang="en-US" b="0" i="0" dirty="0">
              <a:solidFill>
                <a:srgbClr val="131516"/>
              </a:solidFill>
              <a:effectLst/>
              <a:latin typeface="system-ui"/>
            </a:endParaRPr>
          </a:p>
        </p:txBody>
      </p:sp>
    </p:spTree>
    <p:extLst>
      <p:ext uri="{BB962C8B-B14F-4D97-AF65-F5344CB8AC3E}">
        <p14:creationId xmlns:p14="http://schemas.microsoft.com/office/powerpoint/2010/main" val="212267486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57FAA1-C6EE-8A9E-24F6-75BF47B81D5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0C410B9-FA4A-7D33-6222-A2D3E5AFEB23}"/>
              </a:ext>
            </a:extLst>
          </p:cNvPr>
          <p:cNvSpPr txBox="1"/>
          <p:nvPr/>
        </p:nvSpPr>
        <p:spPr>
          <a:xfrm>
            <a:off x="3048000" y="-9414907"/>
            <a:ext cx="6096000" cy="25696778"/>
          </a:xfrm>
          <a:prstGeom prst="rect">
            <a:avLst/>
          </a:prstGeom>
          <a:noFill/>
        </p:spPr>
        <p:txBody>
          <a:bodyPr wrap="square">
            <a:spAutoFit/>
          </a:bodyPr>
          <a:lstStyle/>
          <a:p>
            <a:pPr algn="l">
              <a:spcBef>
                <a:spcPts val="3750"/>
              </a:spcBef>
              <a:spcAft>
                <a:spcPts val="1500"/>
              </a:spcAft>
              <a:buNone/>
            </a:pPr>
            <a:r>
              <a:rPr lang="en-US" b="1" i="0" dirty="0">
                <a:solidFill>
                  <a:srgbClr val="131516"/>
                </a:solidFill>
                <a:effectLst/>
                <a:latin typeface="system-ui"/>
              </a:rPr>
              <a:t>Getting an Array of the Elements of a Collection</a:t>
            </a:r>
          </a:p>
          <a:p>
            <a:pPr algn="l">
              <a:buNone/>
            </a:pPr>
            <a:r>
              <a:rPr lang="en-US" b="0" i="0" dirty="0">
                <a:solidFill>
                  <a:srgbClr val="131516"/>
                </a:solidFill>
                <a:effectLst/>
                <a:latin typeface="system-ui"/>
              </a:rPr>
              <a:t>Even if storing your elements in a collection may make more sense in your application than putting them in an array, there are still cases where getting them in an array is something you will need.</a:t>
            </a:r>
          </a:p>
          <a:p>
            <a:pPr algn="l">
              <a:buNone/>
            </a:pPr>
            <a:r>
              <a:rPr lang="en-US" b="0" i="0" dirty="0">
                <a:solidFill>
                  <a:srgbClr val="131516"/>
                </a:solidFill>
                <a:effectLst/>
                <a:latin typeface="system-ui"/>
              </a:rPr>
              <a:t>The </a:t>
            </a:r>
            <a:r>
              <a:rPr lang="en-US" b="0" i="0" u="sng" dirty="0">
                <a:solidFill>
                  <a:srgbClr val="3A75B0"/>
                </a:solidFill>
                <a:effectLst/>
                <a:latin typeface="SFMono-Regular"/>
                <a:hlinkClick r:id="rId2"/>
              </a:rPr>
              <a:t>Collection</a:t>
            </a:r>
            <a:r>
              <a:rPr lang="en-US" b="0" i="0" dirty="0">
                <a:solidFill>
                  <a:srgbClr val="131516"/>
                </a:solidFill>
                <a:effectLst/>
                <a:latin typeface="system-ui"/>
              </a:rPr>
              <a:t> interface gives you three patterns to get the elements of a collection in an array, in the form of three overloads of a </a:t>
            </a:r>
            <a:r>
              <a:rPr lang="en-US" b="0" i="0" u="sng" dirty="0" err="1">
                <a:solidFill>
                  <a:srgbClr val="3A75B0"/>
                </a:solidFill>
                <a:effectLst/>
                <a:latin typeface="SFMono-Regular"/>
                <a:hlinkClick r:id="rId3"/>
              </a:rPr>
              <a:t>toArray</a:t>
            </a:r>
            <a:r>
              <a:rPr lang="en-US" b="0" i="0" u="sng" dirty="0">
                <a:solidFill>
                  <a:srgbClr val="3A75B0"/>
                </a:solidFill>
                <a:effectLst/>
                <a:latin typeface="SFMono-Regular"/>
                <a:hlinkClick r:id="rId3"/>
              </a:rPr>
              <a:t>()</a:t>
            </a:r>
            <a:r>
              <a:rPr lang="en-US" b="0" i="0" dirty="0">
                <a:solidFill>
                  <a:srgbClr val="131516"/>
                </a:solidFill>
                <a:effectLst/>
                <a:latin typeface="system-ui"/>
              </a:rPr>
              <a:t> method.</a:t>
            </a:r>
          </a:p>
          <a:p>
            <a:pPr algn="l">
              <a:buNone/>
            </a:pPr>
            <a:r>
              <a:rPr lang="en-US" b="0" i="0" dirty="0">
                <a:solidFill>
                  <a:srgbClr val="131516"/>
                </a:solidFill>
                <a:effectLst/>
                <a:latin typeface="system-ui"/>
              </a:rPr>
              <a:t>The first one is a plain </a:t>
            </a:r>
            <a:r>
              <a:rPr lang="en-US" b="0" i="0" u="sng" dirty="0" err="1">
                <a:solidFill>
                  <a:srgbClr val="3A75B0"/>
                </a:solidFill>
                <a:effectLst/>
                <a:latin typeface="SFMono-Regular"/>
                <a:hlinkClick r:id="rId3"/>
              </a:rPr>
              <a:t>toArray</a:t>
            </a:r>
            <a:r>
              <a:rPr lang="en-US" b="0" i="0" u="sng" dirty="0">
                <a:solidFill>
                  <a:srgbClr val="3A75B0"/>
                </a:solidFill>
                <a:effectLst/>
                <a:latin typeface="SFMono-Regular"/>
                <a:hlinkClick r:id="rId3"/>
              </a:rPr>
              <a:t>()</a:t>
            </a:r>
            <a:r>
              <a:rPr lang="en-US" b="0" i="0" dirty="0">
                <a:solidFill>
                  <a:srgbClr val="131516"/>
                </a:solidFill>
                <a:effectLst/>
                <a:latin typeface="system-ui"/>
              </a:rPr>
              <a:t> call, with no arguments. This returns your elements in an array of plain objects.</a:t>
            </a:r>
          </a:p>
          <a:p>
            <a:pPr algn="l">
              <a:buNone/>
            </a:pPr>
            <a:r>
              <a:rPr lang="en-US" b="0" i="0" dirty="0">
                <a:solidFill>
                  <a:srgbClr val="131516"/>
                </a:solidFill>
                <a:effectLst/>
                <a:latin typeface="system-ui"/>
              </a:rPr>
              <a:t>This may not be what you need. If you have a </a:t>
            </a:r>
            <a:r>
              <a:rPr lang="en-US" b="0" i="0" u="sng" dirty="0">
                <a:solidFill>
                  <a:srgbClr val="3A75B0"/>
                </a:solidFill>
                <a:effectLst/>
                <a:latin typeface="SFMono-Regular"/>
                <a:hlinkClick r:id="rId2"/>
              </a:rPr>
              <a:t>Collection&lt;String&gt;</a:t>
            </a:r>
            <a:r>
              <a:rPr lang="en-US" b="0" i="0" dirty="0">
                <a:solidFill>
                  <a:srgbClr val="131516"/>
                </a:solidFill>
                <a:effectLst/>
                <a:latin typeface="system-ui"/>
              </a:rPr>
              <a:t>, what you could prefer is an array of </a:t>
            </a:r>
            <a:r>
              <a:rPr lang="en-US" b="0" i="0" u="sng" dirty="0">
                <a:solidFill>
                  <a:srgbClr val="3A75B0"/>
                </a:solidFill>
                <a:effectLst/>
                <a:latin typeface="SFMono-Regular"/>
                <a:hlinkClick r:id="rId4"/>
              </a:rPr>
              <a:t>String</a:t>
            </a:r>
            <a:r>
              <a:rPr lang="en-US" b="0" i="0" dirty="0">
                <a:solidFill>
                  <a:srgbClr val="131516"/>
                </a:solidFill>
                <a:effectLst/>
                <a:latin typeface="system-ui"/>
              </a:rPr>
              <a:t>. You can still cast </a:t>
            </a:r>
            <a:r>
              <a:rPr lang="en-US" b="0" i="0" dirty="0">
                <a:solidFill>
                  <a:srgbClr val="E76F00"/>
                </a:solidFill>
                <a:effectLst/>
                <a:latin typeface="SFMono-Regular"/>
              </a:rPr>
              <a:t>Object[]</a:t>
            </a:r>
            <a:r>
              <a:rPr lang="en-US" b="0" i="0" dirty="0">
                <a:solidFill>
                  <a:srgbClr val="131516"/>
                </a:solidFill>
                <a:effectLst/>
                <a:latin typeface="system-ui"/>
              </a:rPr>
              <a:t> to </a:t>
            </a:r>
            <a:r>
              <a:rPr lang="en-US" b="0" i="0" dirty="0">
                <a:solidFill>
                  <a:srgbClr val="E76F00"/>
                </a:solidFill>
                <a:effectLst/>
                <a:latin typeface="SFMono-Regular"/>
              </a:rPr>
              <a:t>String[]</a:t>
            </a:r>
            <a:r>
              <a:rPr lang="en-US" b="0" i="0" dirty="0">
                <a:solidFill>
                  <a:srgbClr val="131516"/>
                </a:solidFill>
                <a:effectLst/>
                <a:latin typeface="system-ui"/>
              </a:rPr>
              <a:t>, but there is no guarantee that this cast will not fail at runtime. If you need type safety, then you can call either of the following methods.</a:t>
            </a:r>
          </a:p>
          <a:p>
            <a:pPr algn="l">
              <a:spcBef>
                <a:spcPts val="750"/>
              </a:spcBef>
              <a:buFont typeface="Arial" panose="020B0604020202020204" pitchFamily="34" charset="0"/>
              <a:buChar char="•"/>
            </a:pPr>
            <a:r>
              <a:rPr lang="en-US" b="0" i="0" u="sng" dirty="0" err="1">
                <a:solidFill>
                  <a:srgbClr val="3A75B0"/>
                </a:solidFill>
                <a:effectLst/>
                <a:latin typeface="SFMono-Regular"/>
                <a:hlinkClick r:id="rId5"/>
              </a:rPr>
              <a:t>toArray</a:t>
            </a:r>
            <a:r>
              <a:rPr lang="en-US" b="0" i="0" u="sng" dirty="0">
                <a:solidFill>
                  <a:srgbClr val="3A75B0"/>
                </a:solidFill>
                <a:effectLst/>
                <a:latin typeface="SFMono-Regular"/>
                <a:hlinkClick r:id="rId5"/>
              </a:rPr>
              <a:t>(T[] tab)</a:t>
            </a:r>
            <a:r>
              <a:rPr lang="en-US" b="0" i="0" dirty="0">
                <a:solidFill>
                  <a:srgbClr val="131516"/>
                </a:solidFill>
                <a:effectLst/>
                <a:latin typeface="system-ui"/>
              </a:rPr>
              <a:t> returns an array or </a:t>
            </a:r>
            <a:r>
              <a:rPr lang="en-US" b="0" i="0" dirty="0">
                <a:solidFill>
                  <a:srgbClr val="E76F00"/>
                </a:solidFill>
                <a:effectLst/>
                <a:latin typeface="SFMono-Regular"/>
              </a:rPr>
              <a:t>T</a:t>
            </a:r>
            <a:r>
              <a:rPr lang="en-US" b="0" i="0" dirty="0">
                <a:solidFill>
                  <a:srgbClr val="131516"/>
                </a:solidFill>
                <a:effectLst/>
                <a:latin typeface="system-ui"/>
              </a:rPr>
              <a:t>: </a:t>
            </a:r>
            <a:r>
              <a:rPr lang="en-US" b="0" i="0" dirty="0">
                <a:solidFill>
                  <a:srgbClr val="E76F00"/>
                </a:solidFill>
                <a:effectLst/>
                <a:latin typeface="SFMono-Regular"/>
              </a:rPr>
              <a:t>T[]</a:t>
            </a:r>
            <a:endParaRPr lang="en-US" b="0" i="0" dirty="0">
              <a:solidFill>
                <a:srgbClr val="131516"/>
              </a:solidFill>
              <a:effectLst/>
              <a:latin typeface="system-ui"/>
            </a:endParaRPr>
          </a:p>
          <a:p>
            <a:pPr algn="l">
              <a:spcBef>
                <a:spcPts val="750"/>
              </a:spcBef>
              <a:buFont typeface="Arial" panose="020B0604020202020204" pitchFamily="34" charset="0"/>
              <a:buChar char="•"/>
            </a:pPr>
            <a:r>
              <a:rPr lang="en-US" b="0" i="0" u="sng" dirty="0" err="1">
                <a:solidFill>
                  <a:srgbClr val="3A75B0"/>
                </a:solidFill>
                <a:effectLst/>
                <a:latin typeface="SFMono-Regular"/>
                <a:hlinkClick r:id="rId6"/>
              </a:rPr>
              <a:t>toArray</a:t>
            </a:r>
            <a:r>
              <a:rPr lang="en-US" b="0" i="0" u="sng" dirty="0">
                <a:solidFill>
                  <a:srgbClr val="3A75B0"/>
                </a:solidFill>
                <a:effectLst/>
                <a:latin typeface="SFMono-Regular"/>
                <a:hlinkClick r:id="rId6"/>
              </a:rPr>
              <a:t>(</a:t>
            </a:r>
            <a:r>
              <a:rPr lang="en-US" b="0" i="0" u="sng" dirty="0" err="1">
                <a:solidFill>
                  <a:srgbClr val="3A75B0"/>
                </a:solidFill>
                <a:effectLst/>
                <a:latin typeface="SFMono-Regular"/>
                <a:hlinkClick r:id="rId6"/>
              </a:rPr>
              <a:t>IntFunction</a:t>
            </a:r>
            <a:r>
              <a:rPr lang="en-US" b="0" i="0" u="sng" dirty="0">
                <a:solidFill>
                  <a:srgbClr val="3A75B0"/>
                </a:solidFill>
                <a:effectLst/>
                <a:latin typeface="SFMono-Regular"/>
                <a:hlinkClick r:id="rId6"/>
              </a:rPr>
              <a:t>&lt;T[]&gt; generator)</a:t>
            </a:r>
            <a:r>
              <a:rPr lang="en-US" b="0" i="0" dirty="0">
                <a:solidFill>
                  <a:srgbClr val="131516"/>
                </a:solidFill>
                <a:effectLst/>
                <a:latin typeface="system-ui"/>
              </a:rPr>
              <a:t>, returns the same type, with a different syntax.</a:t>
            </a:r>
          </a:p>
          <a:p>
            <a:pPr algn="l">
              <a:buNone/>
            </a:pPr>
            <a:r>
              <a:rPr lang="en-US" b="0" i="0" dirty="0">
                <a:solidFill>
                  <a:srgbClr val="131516"/>
                </a:solidFill>
                <a:effectLst/>
                <a:latin typeface="system-ui"/>
              </a:rPr>
              <a:t>What are the differences between the last two patterns? The first one is readability. Creating an instance of </a:t>
            </a:r>
            <a:r>
              <a:rPr lang="en-US" b="0" i="0" u="sng" dirty="0" err="1">
                <a:solidFill>
                  <a:srgbClr val="3A75B0"/>
                </a:solidFill>
                <a:effectLst/>
                <a:latin typeface="SFMono-Regular"/>
                <a:hlinkClick r:id="rId7"/>
              </a:rPr>
              <a:t>IntFunction</a:t>
            </a:r>
            <a:r>
              <a:rPr lang="en-US" b="0" i="0" u="sng" dirty="0">
                <a:solidFill>
                  <a:srgbClr val="3A75B0"/>
                </a:solidFill>
                <a:effectLst/>
                <a:latin typeface="SFMono-Regular"/>
                <a:hlinkClick r:id="rId7"/>
              </a:rPr>
              <a:t>&lt;T[]&gt;</a:t>
            </a:r>
            <a:r>
              <a:rPr lang="en-US" b="0" i="0" dirty="0">
                <a:solidFill>
                  <a:srgbClr val="131516"/>
                </a:solidFill>
                <a:effectLst/>
                <a:latin typeface="system-ui"/>
              </a:rPr>
              <a:t> may look weird at first, but writing it with a method reference is really a no brainer.</a:t>
            </a:r>
          </a:p>
          <a:p>
            <a:pPr algn="l">
              <a:buNone/>
            </a:pPr>
            <a:r>
              <a:rPr lang="en-US" b="0" i="0" dirty="0">
                <a:solidFill>
                  <a:srgbClr val="131516"/>
                </a:solidFill>
                <a:effectLst/>
                <a:latin typeface="system-ui"/>
              </a:rPr>
              <a:t>Here is the first pattern. In this first pattern, you need to pass an array of the corresponding type.</a:t>
            </a:r>
          </a:p>
          <a:p>
            <a:pPr algn="l" latinLnBrk="0">
              <a:buNone/>
            </a:pPr>
            <a:r>
              <a:rPr lang="en-US" b="0" i="0" dirty="0">
                <a:solidFill>
                  <a:srgbClr val="F8C555"/>
                </a:solidFill>
                <a:effectLst/>
                <a:latin typeface="Consolas" panose="020B0609020204030204" pitchFamily="49" charset="0"/>
              </a:rPr>
              <a:t>Collection</a:t>
            </a:r>
            <a:r>
              <a:rPr lang="en-US" b="0" i="0" dirty="0">
                <a:solidFill>
                  <a:srgbClr val="CCCCCC"/>
                </a:solidFill>
                <a:effectLst/>
                <a:latin typeface="Consolas" panose="020B0609020204030204" pitchFamily="49" charset="0"/>
              </a:rPr>
              <a:t>&lt;</a:t>
            </a:r>
            <a:r>
              <a:rPr lang="en-US" b="0" i="0" dirty="0">
                <a:solidFill>
                  <a:srgbClr val="F8C555"/>
                </a:solidFill>
                <a:effectLst/>
                <a:latin typeface="Consolas" panose="020B0609020204030204" pitchFamily="49" charset="0"/>
              </a:rPr>
              <a:t>String</a:t>
            </a:r>
            <a:r>
              <a:rPr lang="en-US" b="0" i="0" dirty="0">
                <a:solidFill>
                  <a:srgbClr val="CCCCCC"/>
                </a:solidFill>
                <a:effectLst/>
                <a:latin typeface="Consolas" panose="020B0609020204030204" pitchFamily="49" charset="0"/>
              </a:rPr>
              <a:t>&gt; strings </a:t>
            </a:r>
            <a:r>
              <a:rPr lang="en-US" b="0" i="0" dirty="0">
                <a:solidFill>
                  <a:srgbClr val="67CDCC"/>
                </a:solidFill>
                <a:effectLst/>
                <a:latin typeface="Consolas" panose="020B0609020204030204" pitchFamily="49" charset="0"/>
              </a:rPr>
              <a:t>=</a:t>
            </a:r>
            <a:r>
              <a:rPr lang="en-US" b="0" i="0" dirty="0">
                <a:solidFill>
                  <a:srgbClr val="CCCCCC"/>
                </a:solidFill>
                <a:effectLst/>
                <a:latin typeface="Consolas" panose="020B0609020204030204" pitchFamily="49" charset="0"/>
              </a:rPr>
              <a:t> ...; </a:t>
            </a:r>
            <a:r>
              <a:rPr lang="en-US" b="0" i="0" dirty="0">
                <a:solidFill>
                  <a:srgbClr val="999999"/>
                </a:solidFill>
                <a:effectLst/>
                <a:latin typeface="Consolas" panose="020B0609020204030204" pitchFamily="49" charset="0"/>
              </a:rPr>
              <a:t>// suppose you have 15 elements in that collection</a:t>
            </a:r>
            <a:endParaRPr lang="en-US" b="0" i="0" dirty="0">
              <a:solidFill>
                <a:srgbClr val="CCCCCC"/>
              </a:solidFill>
              <a:effectLst/>
              <a:latin typeface="Consolas" panose="020B0609020204030204" pitchFamily="49" charset="0"/>
            </a:endParaRPr>
          </a:p>
          <a:p>
            <a:pPr algn="l" latinLnBrk="0">
              <a:buNone/>
            </a:pPr>
            <a:endParaRPr lang="en-US" b="0" i="0" dirty="0">
              <a:solidFill>
                <a:srgbClr val="CCCCCC"/>
              </a:solidFill>
              <a:effectLst/>
              <a:latin typeface="Consolas" panose="020B0609020204030204" pitchFamily="49" charset="0"/>
            </a:endParaRPr>
          </a:p>
          <a:p>
            <a:pPr algn="l" latinLnBrk="0">
              <a:buNone/>
            </a:pPr>
            <a:r>
              <a:rPr lang="en-US" b="0" i="0" dirty="0">
                <a:solidFill>
                  <a:srgbClr val="F8C555"/>
                </a:solidFill>
                <a:effectLst/>
                <a:latin typeface="Consolas" panose="020B0609020204030204" pitchFamily="49" charset="0"/>
              </a:rPr>
              <a:t>String</a:t>
            </a:r>
            <a:r>
              <a:rPr lang="en-US" b="0" i="0" dirty="0">
                <a:solidFill>
                  <a:srgbClr val="CCCCCC"/>
                </a:solidFill>
                <a:effectLst/>
                <a:latin typeface="Consolas" panose="020B0609020204030204" pitchFamily="49" charset="0"/>
              </a:rPr>
              <a:t>[] tabString1 </a:t>
            </a:r>
            <a:r>
              <a:rPr lang="en-US" b="0" i="0" dirty="0">
                <a:solidFill>
                  <a:srgbClr val="67CDCC"/>
                </a:solidFill>
                <a:effectLst/>
                <a:latin typeface="Consolas" panose="020B0609020204030204" pitchFamily="49" charset="0"/>
              </a:rPr>
              <a:t>=</a:t>
            </a:r>
            <a:r>
              <a:rPr lang="en-US" b="0" i="0" dirty="0">
                <a:solidFill>
                  <a:srgbClr val="CCCCCC"/>
                </a:solidFill>
                <a:effectLst/>
                <a:latin typeface="Consolas" panose="020B0609020204030204" pitchFamily="49" charset="0"/>
              </a:rPr>
              <a:t> </a:t>
            </a:r>
            <a:r>
              <a:rPr lang="en-US" b="0" i="0" dirty="0" err="1">
                <a:solidFill>
                  <a:srgbClr val="CCCCCC"/>
                </a:solidFill>
                <a:effectLst/>
                <a:latin typeface="Consolas" panose="020B0609020204030204" pitchFamily="49" charset="0"/>
              </a:rPr>
              <a:t>strings.</a:t>
            </a:r>
            <a:r>
              <a:rPr lang="en-US" b="0" i="0" dirty="0" err="1">
                <a:solidFill>
                  <a:srgbClr val="F08D49"/>
                </a:solidFill>
                <a:effectLst/>
                <a:latin typeface="Consolas" panose="020B0609020204030204" pitchFamily="49" charset="0"/>
              </a:rPr>
              <a:t>toArray</a:t>
            </a:r>
            <a:r>
              <a:rPr lang="en-US" b="0" i="0" dirty="0">
                <a:solidFill>
                  <a:srgbClr val="CCCCCC"/>
                </a:solidFill>
                <a:effectLst/>
                <a:latin typeface="Consolas" panose="020B0609020204030204" pitchFamily="49" charset="0"/>
              </a:rPr>
              <a:t>(</a:t>
            </a:r>
            <a:r>
              <a:rPr lang="en-US" b="0" i="0" dirty="0">
                <a:solidFill>
                  <a:srgbClr val="CC99CD"/>
                </a:solidFill>
                <a:effectLst/>
                <a:latin typeface="Consolas" panose="020B0609020204030204" pitchFamily="49" charset="0"/>
              </a:rPr>
              <a:t>new</a:t>
            </a:r>
            <a:r>
              <a:rPr lang="en-US" b="0" i="0" dirty="0">
                <a:solidFill>
                  <a:srgbClr val="CCCCCC"/>
                </a:solidFill>
                <a:effectLst/>
                <a:latin typeface="Consolas" panose="020B0609020204030204" pitchFamily="49" charset="0"/>
              </a:rPr>
              <a:t> </a:t>
            </a:r>
            <a:r>
              <a:rPr lang="en-US" b="0" i="0" dirty="0">
                <a:solidFill>
                  <a:srgbClr val="F8C555"/>
                </a:solidFill>
                <a:effectLst/>
                <a:latin typeface="Consolas" panose="020B0609020204030204" pitchFamily="49" charset="0"/>
              </a:rPr>
              <a:t>String</a:t>
            </a:r>
            <a:r>
              <a:rPr lang="en-US" b="0" i="0" dirty="0">
                <a:solidFill>
                  <a:srgbClr val="CCCCCC"/>
                </a:solidFill>
                <a:effectLst/>
                <a:latin typeface="Consolas" panose="020B0609020204030204" pitchFamily="49" charset="0"/>
              </a:rPr>
              <a:t>[] {}); </a:t>
            </a:r>
            <a:r>
              <a:rPr lang="en-US" b="0" i="0" dirty="0">
                <a:solidFill>
                  <a:srgbClr val="999999"/>
                </a:solidFill>
                <a:effectLst/>
                <a:latin typeface="Consolas" panose="020B0609020204030204" pitchFamily="49" charset="0"/>
              </a:rPr>
              <a:t>// you can pass an empty array</a:t>
            </a:r>
            <a:endParaRPr lang="en-US" b="0" i="0" dirty="0">
              <a:solidFill>
                <a:srgbClr val="CCCCCC"/>
              </a:solidFill>
              <a:effectLst/>
              <a:latin typeface="Consolas" panose="020B0609020204030204" pitchFamily="49" charset="0"/>
            </a:endParaRPr>
          </a:p>
          <a:p>
            <a:pPr algn="l" latinLnBrk="0">
              <a:buNone/>
            </a:pPr>
            <a:r>
              <a:rPr lang="en-US" b="0" i="0" dirty="0">
                <a:solidFill>
                  <a:srgbClr val="F8C555"/>
                </a:solidFill>
                <a:effectLst/>
                <a:latin typeface="Consolas" panose="020B0609020204030204" pitchFamily="49" charset="0"/>
              </a:rPr>
              <a:t>String</a:t>
            </a:r>
            <a:r>
              <a:rPr lang="en-US" b="0" i="0" dirty="0">
                <a:solidFill>
                  <a:srgbClr val="CCCCCC"/>
                </a:solidFill>
                <a:effectLst/>
                <a:latin typeface="Consolas" panose="020B0609020204030204" pitchFamily="49" charset="0"/>
              </a:rPr>
              <a:t>[] tabString2 </a:t>
            </a:r>
            <a:r>
              <a:rPr lang="en-US" b="0" i="0" dirty="0">
                <a:solidFill>
                  <a:srgbClr val="67CDCC"/>
                </a:solidFill>
                <a:effectLst/>
                <a:latin typeface="Consolas" panose="020B0609020204030204" pitchFamily="49" charset="0"/>
              </a:rPr>
              <a:t>=</a:t>
            </a:r>
            <a:r>
              <a:rPr lang="en-US" b="0" i="0" dirty="0">
                <a:solidFill>
                  <a:srgbClr val="CCCCCC"/>
                </a:solidFill>
                <a:effectLst/>
                <a:latin typeface="Consolas" panose="020B0609020204030204" pitchFamily="49" charset="0"/>
              </a:rPr>
              <a:t> </a:t>
            </a:r>
            <a:r>
              <a:rPr lang="en-US" b="0" i="0" dirty="0" err="1">
                <a:solidFill>
                  <a:srgbClr val="CCCCCC"/>
                </a:solidFill>
                <a:effectLst/>
                <a:latin typeface="Consolas" panose="020B0609020204030204" pitchFamily="49" charset="0"/>
              </a:rPr>
              <a:t>strings.</a:t>
            </a:r>
            <a:r>
              <a:rPr lang="en-US" b="0" i="0" dirty="0" err="1">
                <a:solidFill>
                  <a:srgbClr val="F08D49"/>
                </a:solidFill>
                <a:effectLst/>
                <a:latin typeface="Consolas" panose="020B0609020204030204" pitchFamily="49" charset="0"/>
              </a:rPr>
              <a:t>toArray</a:t>
            </a:r>
            <a:r>
              <a:rPr lang="en-US" b="0" i="0" dirty="0">
                <a:solidFill>
                  <a:srgbClr val="CCCCCC"/>
                </a:solidFill>
                <a:effectLst/>
                <a:latin typeface="Consolas" panose="020B0609020204030204" pitchFamily="49" charset="0"/>
              </a:rPr>
              <a:t>(</a:t>
            </a:r>
            <a:r>
              <a:rPr lang="en-US" b="0" i="0" dirty="0">
                <a:solidFill>
                  <a:srgbClr val="CC99CD"/>
                </a:solidFill>
                <a:effectLst/>
                <a:latin typeface="Consolas" panose="020B0609020204030204" pitchFamily="49" charset="0"/>
              </a:rPr>
              <a:t>new</a:t>
            </a:r>
            <a:r>
              <a:rPr lang="en-US" b="0" i="0" dirty="0">
                <a:solidFill>
                  <a:srgbClr val="CCCCCC"/>
                </a:solidFill>
                <a:effectLst/>
                <a:latin typeface="Consolas" panose="020B0609020204030204" pitchFamily="49" charset="0"/>
              </a:rPr>
              <a:t> </a:t>
            </a:r>
            <a:r>
              <a:rPr lang="en-US" b="0" i="0" dirty="0">
                <a:solidFill>
                  <a:srgbClr val="F8C555"/>
                </a:solidFill>
                <a:effectLst/>
                <a:latin typeface="Consolas" panose="020B0609020204030204" pitchFamily="49" charset="0"/>
              </a:rPr>
              <a:t>String</a:t>
            </a:r>
            <a:r>
              <a:rPr lang="en-US" b="0" i="0" dirty="0">
                <a:solidFill>
                  <a:srgbClr val="CCCCCC"/>
                </a:solidFill>
                <a:effectLst/>
                <a:latin typeface="Consolas" panose="020B0609020204030204" pitchFamily="49" charset="0"/>
              </a:rPr>
              <a:t>[</a:t>
            </a:r>
            <a:r>
              <a:rPr lang="en-US" b="0" i="0" dirty="0">
                <a:solidFill>
                  <a:srgbClr val="F08D49"/>
                </a:solidFill>
                <a:effectLst/>
                <a:latin typeface="Consolas" panose="020B0609020204030204" pitchFamily="49" charset="0"/>
              </a:rPr>
              <a:t>15</a:t>
            </a:r>
            <a:r>
              <a:rPr lang="en-US" b="0" i="0" dirty="0">
                <a:solidFill>
                  <a:srgbClr val="CCCCCC"/>
                </a:solidFill>
                <a:effectLst/>
                <a:latin typeface="Consolas" panose="020B0609020204030204" pitchFamily="49" charset="0"/>
              </a:rPr>
              <a:t>]);   </a:t>
            </a:r>
            <a:r>
              <a:rPr lang="en-US" b="0" i="0" dirty="0">
                <a:solidFill>
                  <a:srgbClr val="999999"/>
                </a:solidFill>
                <a:effectLst/>
                <a:latin typeface="Consolas" panose="020B0609020204030204" pitchFamily="49" charset="0"/>
              </a:rPr>
              <a:t>// or an array of the right size</a:t>
            </a:r>
            <a:endParaRPr lang="en-US" b="0" i="0" dirty="0">
              <a:solidFill>
                <a:srgbClr val="CCCCCC"/>
              </a:solidFill>
              <a:effectLst/>
              <a:latin typeface="Consolas" panose="020B0609020204030204" pitchFamily="49" charset="0"/>
            </a:endParaRPr>
          </a:p>
          <a:p>
            <a:pPr algn="l">
              <a:buNone/>
            </a:pPr>
            <a:r>
              <a:rPr lang="en-US" b="0" i="0" dirty="0">
                <a:solidFill>
                  <a:srgbClr val="131516"/>
                </a:solidFill>
                <a:effectLst/>
                <a:latin typeface="system-ui"/>
              </a:rPr>
              <a:t>What is the use of this array passed as an argument? If it is big enough to hold all the elements of the collection, then these elements will be copied in the array, and it will be returned. If there is more room in the array than needed, then first of the unused cell of the array will be set to null. If the array you pass is too small, then a new array of the exact right size is created to hold the elements of the collection.</a:t>
            </a:r>
          </a:p>
          <a:p>
            <a:pPr algn="l">
              <a:buNone/>
            </a:pPr>
            <a:r>
              <a:rPr lang="en-US" b="0" i="0" dirty="0">
                <a:solidFill>
                  <a:srgbClr val="131516"/>
                </a:solidFill>
                <a:effectLst/>
                <a:latin typeface="system-ui"/>
              </a:rPr>
              <a:t>Here is this pattern in action:</a:t>
            </a:r>
          </a:p>
          <a:p>
            <a:pPr algn="l" latinLnBrk="0">
              <a:buNone/>
            </a:pPr>
            <a:r>
              <a:rPr lang="en-US" b="0" i="0" dirty="0">
                <a:solidFill>
                  <a:srgbClr val="F8C555"/>
                </a:solidFill>
                <a:effectLst/>
                <a:latin typeface="Consolas" panose="020B0609020204030204" pitchFamily="49" charset="0"/>
              </a:rPr>
              <a:t>Collection</a:t>
            </a:r>
            <a:r>
              <a:rPr lang="en-US" b="0" i="0" dirty="0">
                <a:solidFill>
                  <a:srgbClr val="CCCCCC"/>
                </a:solidFill>
                <a:effectLst/>
                <a:latin typeface="Consolas" panose="020B0609020204030204" pitchFamily="49" charset="0"/>
              </a:rPr>
              <a:t>&lt;</a:t>
            </a:r>
            <a:r>
              <a:rPr lang="en-US" b="0" i="0" dirty="0">
                <a:solidFill>
                  <a:srgbClr val="F8C555"/>
                </a:solidFill>
                <a:effectLst/>
                <a:latin typeface="Consolas" panose="020B0609020204030204" pitchFamily="49" charset="0"/>
              </a:rPr>
              <a:t>String</a:t>
            </a:r>
            <a:r>
              <a:rPr lang="en-US" b="0" i="0" dirty="0">
                <a:solidFill>
                  <a:srgbClr val="CCCCCC"/>
                </a:solidFill>
                <a:effectLst/>
                <a:latin typeface="Consolas" panose="020B0609020204030204" pitchFamily="49" charset="0"/>
              </a:rPr>
              <a:t>&gt; strings </a:t>
            </a:r>
            <a:r>
              <a:rPr lang="en-US" b="0" i="0" dirty="0">
                <a:solidFill>
                  <a:srgbClr val="67CDCC"/>
                </a:solidFill>
                <a:effectLst/>
                <a:latin typeface="Consolas" panose="020B0609020204030204" pitchFamily="49" charset="0"/>
              </a:rPr>
              <a:t>=</a:t>
            </a:r>
            <a:r>
              <a:rPr lang="en-US" b="0" i="0" dirty="0">
                <a:solidFill>
                  <a:srgbClr val="CCCCCC"/>
                </a:solidFill>
                <a:effectLst/>
                <a:latin typeface="Consolas" panose="020B0609020204030204" pitchFamily="49" charset="0"/>
              </a:rPr>
              <a:t> </a:t>
            </a:r>
            <a:r>
              <a:rPr lang="en-US" b="0" i="0" dirty="0" err="1">
                <a:solidFill>
                  <a:srgbClr val="F8C555"/>
                </a:solidFill>
                <a:effectLst/>
                <a:latin typeface="Consolas" panose="020B0609020204030204" pitchFamily="49" charset="0"/>
              </a:rPr>
              <a:t>List</a:t>
            </a:r>
            <a:r>
              <a:rPr lang="en-US" b="0" i="0" dirty="0" err="1">
                <a:solidFill>
                  <a:srgbClr val="CCCCCC"/>
                </a:solidFill>
                <a:effectLst/>
                <a:latin typeface="Consolas" panose="020B0609020204030204" pitchFamily="49" charset="0"/>
              </a:rPr>
              <a:t>.</a:t>
            </a:r>
            <a:r>
              <a:rPr lang="en-US" b="0" i="0" dirty="0" err="1">
                <a:solidFill>
                  <a:srgbClr val="F08D49"/>
                </a:solidFill>
                <a:effectLst/>
                <a:latin typeface="Consolas" panose="020B0609020204030204" pitchFamily="49" charset="0"/>
              </a:rPr>
              <a:t>of</a:t>
            </a:r>
            <a:r>
              <a:rPr lang="en-US" b="0" i="0" dirty="0">
                <a:solidFill>
                  <a:srgbClr val="CCCCCC"/>
                </a:solidFill>
                <a:effectLst/>
                <a:latin typeface="Consolas" panose="020B0609020204030204" pitchFamily="49" charset="0"/>
              </a:rPr>
              <a:t>(</a:t>
            </a:r>
            <a:r>
              <a:rPr lang="en-US" b="0" i="0" dirty="0">
                <a:solidFill>
                  <a:srgbClr val="7EC699"/>
                </a:solidFill>
                <a:effectLst/>
                <a:latin typeface="Consolas" panose="020B0609020204030204" pitchFamily="49" charset="0"/>
              </a:rPr>
              <a:t>"one"</a:t>
            </a:r>
            <a:r>
              <a:rPr lang="en-US" b="0" i="0" dirty="0">
                <a:solidFill>
                  <a:srgbClr val="CCCCCC"/>
                </a:solidFill>
                <a:effectLst/>
                <a:latin typeface="Consolas" panose="020B0609020204030204" pitchFamily="49" charset="0"/>
              </a:rPr>
              <a:t>, </a:t>
            </a:r>
            <a:r>
              <a:rPr lang="en-US" b="0" i="0" dirty="0">
                <a:solidFill>
                  <a:srgbClr val="7EC699"/>
                </a:solidFill>
                <a:effectLst/>
                <a:latin typeface="Consolas" panose="020B0609020204030204" pitchFamily="49" charset="0"/>
              </a:rPr>
              <a:t>"two"</a:t>
            </a:r>
            <a:r>
              <a:rPr lang="en-US" b="0" i="0" dirty="0">
                <a:solidFill>
                  <a:srgbClr val="CCCCCC"/>
                </a:solidFill>
                <a:effectLst/>
                <a:latin typeface="Consolas" panose="020B0609020204030204" pitchFamily="49" charset="0"/>
              </a:rPr>
              <a:t>);</a:t>
            </a:r>
          </a:p>
          <a:p>
            <a:pPr algn="l" latinLnBrk="0">
              <a:buNone/>
            </a:pPr>
            <a:endParaRPr lang="en-US" b="0" i="0" dirty="0">
              <a:solidFill>
                <a:srgbClr val="CCCCCC"/>
              </a:solidFill>
              <a:effectLst/>
              <a:latin typeface="Consolas" panose="020B0609020204030204" pitchFamily="49" charset="0"/>
            </a:endParaRPr>
          </a:p>
          <a:p>
            <a:pPr algn="l" latinLnBrk="0">
              <a:buNone/>
            </a:pPr>
            <a:r>
              <a:rPr lang="en-US" b="0" i="0" dirty="0">
                <a:solidFill>
                  <a:srgbClr val="F8C555"/>
                </a:solidFill>
                <a:effectLst/>
                <a:latin typeface="Consolas" panose="020B0609020204030204" pitchFamily="49" charset="0"/>
              </a:rPr>
              <a:t>String</a:t>
            </a:r>
            <a:r>
              <a:rPr lang="en-US" b="0" i="0" dirty="0">
                <a:solidFill>
                  <a:srgbClr val="CCCCCC"/>
                </a:solidFill>
                <a:effectLst/>
                <a:latin typeface="Consolas" panose="020B0609020204030204" pitchFamily="49" charset="0"/>
              </a:rPr>
              <a:t>[] </a:t>
            </a:r>
            <a:r>
              <a:rPr lang="en-US" b="0" i="0" dirty="0" err="1">
                <a:solidFill>
                  <a:srgbClr val="CCCCCC"/>
                </a:solidFill>
                <a:effectLst/>
                <a:latin typeface="Consolas" panose="020B0609020204030204" pitchFamily="49" charset="0"/>
              </a:rPr>
              <a:t>largerTab</a:t>
            </a:r>
            <a:r>
              <a:rPr lang="en-US" b="0" i="0" dirty="0">
                <a:solidFill>
                  <a:srgbClr val="CCCCCC"/>
                </a:solidFill>
                <a:effectLst/>
                <a:latin typeface="Consolas" panose="020B0609020204030204" pitchFamily="49" charset="0"/>
              </a:rPr>
              <a:t> </a:t>
            </a:r>
            <a:r>
              <a:rPr lang="en-US" b="0" i="0" dirty="0">
                <a:solidFill>
                  <a:srgbClr val="67CDCC"/>
                </a:solidFill>
                <a:effectLst/>
                <a:latin typeface="Consolas" panose="020B0609020204030204" pitchFamily="49" charset="0"/>
              </a:rPr>
              <a:t>=</a:t>
            </a:r>
            <a:r>
              <a:rPr lang="en-US" b="0" i="0" dirty="0">
                <a:solidFill>
                  <a:srgbClr val="CCCCCC"/>
                </a:solidFill>
                <a:effectLst/>
                <a:latin typeface="Consolas" panose="020B0609020204030204" pitchFamily="49" charset="0"/>
              </a:rPr>
              <a:t> {</a:t>
            </a:r>
            <a:r>
              <a:rPr lang="en-US" b="0" i="0" dirty="0">
                <a:solidFill>
                  <a:srgbClr val="7EC699"/>
                </a:solidFill>
                <a:effectLst/>
                <a:latin typeface="Consolas" panose="020B0609020204030204" pitchFamily="49" charset="0"/>
              </a:rPr>
              <a:t>"three"</a:t>
            </a:r>
            <a:r>
              <a:rPr lang="en-US" b="0" i="0" dirty="0">
                <a:solidFill>
                  <a:srgbClr val="CCCCCC"/>
                </a:solidFill>
                <a:effectLst/>
                <a:latin typeface="Consolas" panose="020B0609020204030204" pitchFamily="49" charset="0"/>
              </a:rPr>
              <a:t>, </a:t>
            </a:r>
            <a:r>
              <a:rPr lang="en-US" b="0" i="0" dirty="0">
                <a:solidFill>
                  <a:srgbClr val="7EC699"/>
                </a:solidFill>
                <a:effectLst/>
                <a:latin typeface="Consolas" panose="020B0609020204030204" pitchFamily="49" charset="0"/>
              </a:rPr>
              <a:t>"three"</a:t>
            </a:r>
            <a:r>
              <a:rPr lang="en-US" b="0" i="0" dirty="0">
                <a:solidFill>
                  <a:srgbClr val="CCCCCC"/>
                </a:solidFill>
                <a:effectLst/>
                <a:latin typeface="Consolas" panose="020B0609020204030204" pitchFamily="49" charset="0"/>
              </a:rPr>
              <a:t>, </a:t>
            </a:r>
            <a:r>
              <a:rPr lang="en-US" b="0" i="0" dirty="0">
                <a:solidFill>
                  <a:srgbClr val="7EC699"/>
                </a:solidFill>
                <a:effectLst/>
                <a:latin typeface="Consolas" panose="020B0609020204030204" pitchFamily="49" charset="0"/>
              </a:rPr>
              <a:t>"three"</a:t>
            </a:r>
            <a:r>
              <a:rPr lang="en-US" b="0" i="0" dirty="0">
                <a:solidFill>
                  <a:srgbClr val="CCCCCC"/>
                </a:solidFill>
                <a:effectLst/>
                <a:latin typeface="Consolas" panose="020B0609020204030204" pitchFamily="49" charset="0"/>
              </a:rPr>
              <a:t>, </a:t>
            </a:r>
            <a:r>
              <a:rPr lang="en-US" b="0" i="0" dirty="0">
                <a:solidFill>
                  <a:srgbClr val="7EC699"/>
                </a:solidFill>
                <a:effectLst/>
                <a:latin typeface="Consolas" panose="020B0609020204030204" pitchFamily="49" charset="0"/>
              </a:rPr>
              <a:t>"I"</a:t>
            </a:r>
            <a:r>
              <a:rPr lang="en-US" b="0" i="0" dirty="0">
                <a:solidFill>
                  <a:srgbClr val="CCCCCC"/>
                </a:solidFill>
                <a:effectLst/>
                <a:latin typeface="Consolas" panose="020B0609020204030204" pitchFamily="49" charset="0"/>
              </a:rPr>
              <a:t>, </a:t>
            </a:r>
            <a:r>
              <a:rPr lang="en-US" b="0" i="0" dirty="0">
                <a:solidFill>
                  <a:srgbClr val="7EC699"/>
                </a:solidFill>
                <a:effectLst/>
                <a:latin typeface="Consolas" panose="020B0609020204030204" pitchFamily="49" charset="0"/>
              </a:rPr>
              <a:t>"was"</a:t>
            </a:r>
            <a:r>
              <a:rPr lang="en-US" b="0" i="0" dirty="0">
                <a:solidFill>
                  <a:srgbClr val="CCCCCC"/>
                </a:solidFill>
                <a:effectLst/>
                <a:latin typeface="Consolas" panose="020B0609020204030204" pitchFamily="49" charset="0"/>
              </a:rPr>
              <a:t>, </a:t>
            </a:r>
            <a:r>
              <a:rPr lang="en-US" b="0" i="0" dirty="0">
                <a:solidFill>
                  <a:srgbClr val="7EC699"/>
                </a:solidFill>
                <a:effectLst/>
                <a:latin typeface="Consolas" panose="020B0609020204030204" pitchFamily="49" charset="0"/>
              </a:rPr>
              <a:t>"there"</a:t>
            </a:r>
            <a:r>
              <a:rPr lang="en-US" b="0" i="0" dirty="0">
                <a:solidFill>
                  <a:srgbClr val="CCCCCC"/>
                </a:solidFill>
                <a:effectLst/>
                <a:latin typeface="Consolas" panose="020B0609020204030204" pitchFamily="49" charset="0"/>
              </a:rPr>
              <a:t>};</a:t>
            </a:r>
          </a:p>
          <a:p>
            <a:pPr algn="l" latinLnBrk="0">
              <a:buNone/>
            </a:pPr>
            <a:r>
              <a:rPr lang="en-US" b="0" i="0" dirty="0" err="1">
                <a:solidFill>
                  <a:srgbClr val="CCCCCC"/>
                </a:solidFill>
                <a:effectLst/>
                <a:latin typeface="Consolas" panose="020B0609020204030204" pitchFamily="49" charset="0"/>
              </a:rPr>
              <a:t>IO.</a:t>
            </a:r>
            <a:r>
              <a:rPr lang="en-US" b="0" i="0" dirty="0" err="1">
                <a:solidFill>
                  <a:srgbClr val="F08D49"/>
                </a:solidFill>
                <a:effectLst/>
                <a:latin typeface="Consolas" panose="020B0609020204030204" pitchFamily="49" charset="0"/>
              </a:rPr>
              <a:t>println</a:t>
            </a:r>
            <a:r>
              <a:rPr lang="en-US" b="0" i="0" dirty="0">
                <a:solidFill>
                  <a:srgbClr val="CCCCCC"/>
                </a:solidFill>
                <a:effectLst/>
                <a:latin typeface="Consolas" panose="020B0609020204030204" pitchFamily="49" charset="0"/>
              </a:rPr>
              <a:t>(</a:t>
            </a:r>
            <a:r>
              <a:rPr lang="en-US" b="0" i="0" dirty="0">
                <a:solidFill>
                  <a:srgbClr val="7EC699"/>
                </a:solidFill>
                <a:effectLst/>
                <a:latin typeface="Consolas" panose="020B0609020204030204" pitchFamily="49" charset="0"/>
              </a:rPr>
              <a:t>"</a:t>
            </a:r>
            <a:r>
              <a:rPr lang="en-US" b="0" i="0" dirty="0" err="1">
                <a:solidFill>
                  <a:srgbClr val="7EC699"/>
                </a:solidFill>
                <a:effectLst/>
                <a:latin typeface="Consolas" panose="020B0609020204030204" pitchFamily="49" charset="0"/>
              </a:rPr>
              <a:t>largerTab</a:t>
            </a:r>
            <a:r>
              <a:rPr lang="en-US" b="0" i="0" dirty="0">
                <a:solidFill>
                  <a:srgbClr val="7EC699"/>
                </a:solidFill>
                <a:effectLst/>
                <a:latin typeface="Consolas" panose="020B0609020204030204" pitchFamily="49" charset="0"/>
              </a:rPr>
              <a:t> = "</a:t>
            </a:r>
            <a:r>
              <a:rPr lang="en-US" b="0" i="0" dirty="0">
                <a:solidFill>
                  <a:srgbClr val="CCCCCC"/>
                </a:solidFill>
                <a:effectLst/>
                <a:latin typeface="Consolas" panose="020B0609020204030204" pitchFamily="49" charset="0"/>
              </a:rPr>
              <a:t> </a:t>
            </a:r>
            <a:r>
              <a:rPr lang="en-US" b="0" i="0" dirty="0">
                <a:solidFill>
                  <a:srgbClr val="67CDCC"/>
                </a:solidFill>
                <a:effectLst/>
                <a:latin typeface="Consolas" panose="020B0609020204030204" pitchFamily="49" charset="0"/>
              </a:rPr>
              <a:t>+</a:t>
            </a:r>
            <a:r>
              <a:rPr lang="en-US" b="0" i="0" dirty="0">
                <a:solidFill>
                  <a:srgbClr val="CCCCCC"/>
                </a:solidFill>
                <a:effectLst/>
                <a:latin typeface="Consolas" panose="020B0609020204030204" pitchFamily="49" charset="0"/>
              </a:rPr>
              <a:t> </a:t>
            </a:r>
            <a:r>
              <a:rPr lang="en-US" b="0" i="0" dirty="0" err="1">
                <a:solidFill>
                  <a:srgbClr val="F8C555"/>
                </a:solidFill>
                <a:effectLst/>
                <a:latin typeface="Consolas" panose="020B0609020204030204" pitchFamily="49" charset="0"/>
              </a:rPr>
              <a:t>Arrays</a:t>
            </a:r>
            <a:r>
              <a:rPr lang="en-US" b="0" i="0" dirty="0" err="1">
                <a:solidFill>
                  <a:srgbClr val="CCCCCC"/>
                </a:solidFill>
                <a:effectLst/>
                <a:latin typeface="Consolas" panose="020B0609020204030204" pitchFamily="49" charset="0"/>
              </a:rPr>
              <a:t>.</a:t>
            </a:r>
            <a:r>
              <a:rPr lang="en-US" b="0" i="0" dirty="0" err="1">
                <a:solidFill>
                  <a:srgbClr val="F08D49"/>
                </a:solidFill>
                <a:effectLst/>
                <a:latin typeface="Consolas" panose="020B0609020204030204" pitchFamily="49" charset="0"/>
              </a:rPr>
              <a:t>toString</a:t>
            </a:r>
            <a:r>
              <a:rPr lang="en-US" b="0" i="0" dirty="0">
                <a:solidFill>
                  <a:srgbClr val="CCCCCC"/>
                </a:solidFill>
                <a:effectLst/>
                <a:latin typeface="Consolas" panose="020B0609020204030204" pitchFamily="49" charset="0"/>
              </a:rPr>
              <a:t>(</a:t>
            </a:r>
            <a:r>
              <a:rPr lang="en-US" b="0" i="0" dirty="0" err="1">
                <a:solidFill>
                  <a:srgbClr val="CCCCCC"/>
                </a:solidFill>
                <a:effectLst/>
                <a:latin typeface="Consolas" panose="020B0609020204030204" pitchFamily="49" charset="0"/>
              </a:rPr>
              <a:t>largerTab</a:t>
            </a:r>
            <a:r>
              <a:rPr lang="en-US" b="0" i="0" dirty="0">
                <a:solidFill>
                  <a:srgbClr val="CCCCCC"/>
                </a:solidFill>
                <a:effectLst/>
                <a:latin typeface="Consolas" panose="020B0609020204030204" pitchFamily="49" charset="0"/>
              </a:rPr>
              <a:t>));</a:t>
            </a:r>
          </a:p>
          <a:p>
            <a:pPr algn="l" latinLnBrk="0">
              <a:buNone/>
            </a:pPr>
            <a:endParaRPr lang="en-US" b="0" i="0" dirty="0">
              <a:solidFill>
                <a:srgbClr val="CCCCCC"/>
              </a:solidFill>
              <a:effectLst/>
              <a:latin typeface="Consolas" panose="020B0609020204030204" pitchFamily="49" charset="0"/>
            </a:endParaRPr>
          </a:p>
          <a:p>
            <a:pPr algn="l" latinLnBrk="0">
              <a:buNone/>
            </a:pPr>
            <a:r>
              <a:rPr lang="en-US" b="0" i="0" dirty="0">
                <a:solidFill>
                  <a:srgbClr val="F8C555"/>
                </a:solidFill>
                <a:effectLst/>
                <a:latin typeface="Consolas" panose="020B0609020204030204" pitchFamily="49" charset="0"/>
              </a:rPr>
              <a:t>String</a:t>
            </a:r>
            <a:r>
              <a:rPr lang="en-US" b="0" i="0" dirty="0">
                <a:solidFill>
                  <a:srgbClr val="CCCCCC"/>
                </a:solidFill>
                <a:effectLst/>
                <a:latin typeface="Consolas" panose="020B0609020204030204" pitchFamily="49" charset="0"/>
              </a:rPr>
              <a:t>[] result </a:t>
            </a:r>
            <a:r>
              <a:rPr lang="en-US" b="0" i="0" dirty="0">
                <a:solidFill>
                  <a:srgbClr val="67CDCC"/>
                </a:solidFill>
                <a:effectLst/>
                <a:latin typeface="Consolas" panose="020B0609020204030204" pitchFamily="49" charset="0"/>
              </a:rPr>
              <a:t>=</a:t>
            </a:r>
            <a:r>
              <a:rPr lang="en-US" b="0" i="0" dirty="0">
                <a:solidFill>
                  <a:srgbClr val="CCCCCC"/>
                </a:solidFill>
                <a:effectLst/>
                <a:latin typeface="Consolas" panose="020B0609020204030204" pitchFamily="49" charset="0"/>
              </a:rPr>
              <a:t> </a:t>
            </a:r>
            <a:r>
              <a:rPr lang="en-US" b="0" i="0" dirty="0" err="1">
                <a:solidFill>
                  <a:srgbClr val="CCCCCC"/>
                </a:solidFill>
                <a:effectLst/>
                <a:latin typeface="Consolas" panose="020B0609020204030204" pitchFamily="49" charset="0"/>
              </a:rPr>
              <a:t>strings.</a:t>
            </a:r>
            <a:r>
              <a:rPr lang="en-US" b="0" i="0" dirty="0" err="1">
                <a:solidFill>
                  <a:srgbClr val="F08D49"/>
                </a:solidFill>
                <a:effectLst/>
                <a:latin typeface="Consolas" panose="020B0609020204030204" pitchFamily="49" charset="0"/>
              </a:rPr>
              <a:t>toArray</a:t>
            </a:r>
            <a:r>
              <a:rPr lang="en-US" b="0" i="0" dirty="0">
                <a:solidFill>
                  <a:srgbClr val="CCCCCC"/>
                </a:solidFill>
                <a:effectLst/>
                <a:latin typeface="Consolas" panose="020B0609020204030204" pitchFamily="49" charset="0"/>
              </a:rPr>
              <a:t>(</a:t>
            </a:r>
            <a:r>
              <a:rPr lang="en-US" b="0" i="0" dirty="0" err="1">
                <a:solidFill>
                  <a:srgbClr val="CCCCCC"/>
                </a:solidFill>
                <a:effectLst/>
                <a:latin typeface="Consolas" panose="020B0609020204030204" pitchFamily="49" charset="0"/>
              </a:rPr>
              <a:t>largerTab</a:t>
            </a:r>
            <a:r>
              <a:rPr lang="en-US" b="0" i="0" dirty="0">
                <a:solidFill>
                  <a:srgbClr val="CCCCCC"/>
                </a:solidFill>
                <a:effectLst/>
                <a:latin typeface="Consolas" panose="020B0609020204030204" pitchFamily="49" charset="0"/>
              </a:rPr>
              <a:t>);</a:t>
            </a:r>
          </a:p>
          <a:p>
            <a:pPr algn="l" latinLnBrk="0">
              <a:buNone/>
            </a:pPr>
            <a:r>
              <a:rPr lang="en-US" b="0" i="0" dirty="0" err="1">
                <a:solidFill>
                  <a:srgbClr val="CCCCCC"/>
                </a:solidFill>
                <a:effectLst/>
                <a:latin typeface="Consolas" panose="020B0609020204030204" pitchFamily="49" charset="0"/>
              </a:rPr>
              <a:t>IO.</a:t>
            </a:r>
            <a:r>
              <a:rPr lang="en-US" b="0" i="0" dirty="0" err="1">
                <a:solidFill>
                  <a:srgbClr val="F08D49"/>
                </a:solidFill>
                <a:effectLst/>
                <a:latin typeface="Consolas" panose="020B0609020204030204" pitchFamily="49" charset="0"/>
              </a:rPr>
              <a:t>println</a:t>
            </a:r>
            <a:r>
              <a:rPr lang="en-US" b="0" i="0" dirty="0">
                <a:solidFill>
                  <a:srgbClr val="CCCCCC"/>
                </a:solidFill>
                <a:effectLst/>
                <a:latin typeface="Consolas" panose="020B0609020204030204" pitchFamily="49" charset="0"/>
              </a:rPr>
              <a:t>(</a:t>
            </a:r>
            <a:r>
              <a:rPr lang="en-US" b="0" i="0" dirty="0">
                <a:solidFill>
                  <a:srgbClr val="7EC699"/>
                </a:solidFill>
                <a:effectLst/>
                <a:latin typeface="Consolas" panose="020B0609020204030204" pitchFamily="49" charset="0"/>
              </a:rPr>
              <a:t>"result = "</a:t>
            </a:r>
            <a:r>
              <a:rPr lang="en-US" b="0" i="0" dirty="0">
                <a:solidFill>
                  <a:srgbClr val="CCCCCC"/>
                </a:solidFill>
                <a:effectLst/>
                <a:latin typeface="Consolas" panose="020B0609020204030204" pitchFamily="49" charset="0"/>
              </a:rPr>
              <a:t> </a:t>
            </a:r>
            <a:r>
              <a:rPr lang="en-US" b="0" i="0" dirty="0">
                <a:solidFill>
                  <a:srgbClr val="67CDCC"/>
                </a:solidFill>
                <a:effectLst/>
                <a:latin typeface="Consolas" panose="020B0609020204030204" pitchFamily="49" charset="0"/>
              </a:rPr>
              <a:t>+</a:t>
            </a:r>
            <a:r>
              <a:rPr lang="en-US" b="0" i="0" dirty="0">
                <a:solidFill>
                  <a:srgbClr val="CCCCCC"/>
                </a:solidFill>
                <a:effectLst/>
                <a:latin typeface="Consolas" panose="020B0609020204030204" pitchFamily="49" charset="0"/>
              </a:rPr>
              <a:t> </a:t>
            </a:r>
            <a:r>
              <a:rPr lang="en-US" b="0" i="0" dirty="0" err="1">
                <a:solidFill>
                  <a:srgbClr val="F8C555"/>
                </a:solidFill>
                <a:effectLst/>
                <a:latin typeface="Consolas" panose="020B0609020204030204" pitchFamily="49" charset="0"/>
              </a:rPr>
              <a:t>Arrays</a:t>
            </a:r>
            <a:r>
              <a:rPr lang="en-US" b="0" i="0" dirty="0" err="1">
                <a:solidFill>
                  <a:srgbClr val="CCCCCC"/>
                </a:solidFill>
                <a:effectLst/>
                <a:latin typeface="Consolas" panose="020B0609020204030204" pitchFamily="49" charset="0"/>
              </a:rPr>
              <a:t>.</a:t>
            </a:r>
            <a:r>
              <a:rPr lang="en-US" b="0" i="0" dirty="0" err="1">
                <a:solidFill>
                  <a:srgbClr val="F08D49"/>
                </a:solidFill>
                <a:effectLst/>
                <a:latin typeface="Consolas" panose="020B0609020204030204" pitchFamily="49" charset="0"/>
              </a:rPr>
              <a:t>toString</a:t>
            </a:r>
            <a:r>
              <a:rPr lang="en-US" b="0" i="0" dirty="0">
                <a:solidFill>
                  <a:srgbClr val="CCCCCC"/>
                </a:solidFill>
                <a:effectLst/>
                <a:latin typeface="Consolas" panose="020B0609020204030204" pitchFamily="49" charset="0"/>
              </a:rPr>
              <a:t>(result));</a:t>
            </a:r>
          </a:p>
          <a:p>
            <a:pPr algn="l" latinLnBrk="0">
              <a:buNone/>
            </a:pPr>
            <a:endParaRPr lang="en-US" b="0" i="0" dirty="0">
              <a:solidFill>
                <a:srgbClr val="CCCCCC"/>
              </a:solidFill>
              <a:effectLst/>
              <a:latin typeface="Consolas" panose="020B0609020204030204" pitchFamily="49" charset="0"/>
            </a:endParaRPr>
          </a:p>
          <a:p>
            <a:pPr algn="l" latinLnBrk="0">
              <a:buNone/>
            </a:pPr>
            <a:r>
              <a:rPr lang="en-US" b="0" i="0" dirty="0" err="1">
                <a:solidFill>
                  <a:srgbClr val="CCCCCC"/>
                </a:solidFill>
                <a:effectLst/>
                <a:latin typeface="Consolas" panose="020B0609020204030204" pitchFamily="49" charset="0"/>
              </a:rPr>
              <a:t>IO.</a:t>
            </a:r>
            <a:r>
              <a:rPr lang="en-US" b="0" i="0" dirty="0" err="1">
                <a:solidFill>
                  <a:srgbClr val="F08D49"/>
                </a:solidFill>
                <a:effectLst/>
                <a:latin typeface="Consolas" panose="020B0609020204030204" pitchFamily="49" charset="0"/>
              </a:rPr>
              <a:t>println</a:t>
            </a:r>
            <a:r>
              <a:rPr lang="en-US" b="0" i="0" dirty="0">
                <a:solidFill>
                  <a:srgbClr val="CCCCCC"/>
                </a:solidFill>
                <a:effectLst/>
                <a:latin typeface="Consolas" panose="020B0609020204030204" pitchFamily="49" charset="0"/>
              </a:rPr>
              <a:t>(</a:t>
            </a:r>
            <a:r>
              <a:rPr lang="en-US" b="0" i="0" dirty="0">
                <a:solidFill>
                  <a:srgbClr val="7EC699"/>
                </a:solidFill>
                <a:effectLst/>
                <a:latin typeface="Consolas" panose="020B0609020204030204" pitchFamily="49" charset="0"/>
              </a:rPr>
              <a:t>"Same arrays? "</a:t>
            </a:r>
            <a:r>
              <a:rPr lang="en-US" b="0" i="0" dirty="0">
                <a:solidFill>
                  <a:srgbClr val="CCCCCC"/>
                </a:solidFill>
                <a:effectLst/>
                <a:latin typeface="Consolas" panose="020B0609020204030204" pitchFamily="49" charset="0"/>
              </a:rPr>
              <a:t> </a:t>
            </a:r>
            <a:r>
              <a:rPr lang="en-US" b="0" i="0" dirty="0">
                <a:solidFill>
                  <a:srgbClr val="67CDCC"/>
                </a:solidFill>
                <a:effectLst/>
                <a:latin typeface="Consolas" panose="020B0609020204030204" pitchFamily="49" charset="0"/>
              </a:rPr>
              <a:t>+</a:t>
            </a:r>
            <a:r>
              <a:rPr lang="en-US" b="0" i="0" dirty="0">
                <a:solidFill>
                  <a:srgbClr val="CCCCCC"/>
                </a:solidFill>
                <a:effectLst/>
                <a:latin typeface="Consolas" panose="020B0609020204030204" pitchFamily="49" charset="0"/>
              </a:rPr>
              <a:t> (result </a:t>
            </a:r>
            <a:r>
              <a:rPr lang="en-US" b="0" i="0" dirty="0">
                <a:solidFill>
                  <a:srgbClr val="67CDCC"/>
                </a:solidFill>
                <a:effectLst/>
                <a:latin typeface="Consolas" panose="020B0609020204030204" pitchFamily="49" charset="0"/>
              </a:rPr>
              <a:t>==</a:t>
            </a:r>
            <a:r>
              <a:rPr lang="en-US" b="0" i="0" dirty="0">
                <a:solidFill>
                  <a:srgbClr val="CCCCCC"/>
                </a:solidFill>
                <a:effectLst/>
                <a:latin typeface="Consolas" panose="020B0609020204030204" pitchFamily="49" charset="0"/>
              </a:rPr>
              <a:t> </a:t>
            </a:r>
            <a:r>
              <a:rPr lang="en-US" b="0" i="0" dirty="0" err="1">
                <a:solidFill>
                  <a:srgbClr val="CCCCCC"/>
                </a:solidFill>
                <a:effectLst/>
                <a:latin typeface="Consolas" panose="020B0609020204030204" pitchFamily="49" charset="0"/>
              </a:rPr>
              <a:t>largerTab</a:t>
            </a:r>
            <a:r>
              <a:rPr lang="en-US" b="0" i="0" dirty="0">
                <a:solidFill>
                  <a:srgbClr val="CCCCCC"/>
                </a:solidFill>
                <a:effectLst/>
                <a:latin typeface="Consolas" panose="020B0609020204030204" pitchFamily="49" charset="0"/>
              </a:rPr>
              <a:t>));</a:t>
            </a:r>
          </a:p>
          <a:p>
            <a:pPr algn="l">
              <a:buNone/>
            </a:pPr>
            <a:r>
              <a:rPr lang="en-US" b="0" i="0" dirty="0">
                <a:solidFill>
                  <a:srgbClr val="131516"/>
                </a:solidFill>
                <a:effectLst/>
                <a:latin typeface="system-ui"/>
              </a:rPr>
              <a:t>Running the previous code will give you:</a:t>
            </a:r>
          </a:p>
          <a:p>
            <a:pPr algn="l" latinLnBrk="0">
              <a:buNone/>
            </a:pPr>
            <a:r>
              <a:rPr lang="en-US" b="0" i="0" dirty="0" err="1">
                <a:solidFill>
                  <a:srgbClr val="CCCCCC"/>
                </a:solidFill>
                <a:effectLst/>
                <a:latin typeface="Consolas" panose="020B0609020204030204" pitchFamily="49" charset="0"/>
              </a:rPr>
              <a:t>largerTab</a:t>
            </a:r>
            <a:r>
              <a:rPr lang="en-US" b="0" i="0" dirty="0">
                <a:solidFill>
                  <a:srgbClr val="CCCCCC"/>
                </a:solidFill>
                <a:effectLst/>
                <a:latin typeface="Consolas" panose="020B0609020204030204" pitchFamily="49" charset="0"/>
              </a:rPr>
              <a:t> = [three, three, three, I, was, there]</a:t>
            </a:r>
          </a:p>
          <a:p>
            <a:pPr algn="l" latinLnBrk="0">
              <a:buNone/>
            </a:pPr>
            <a:r>
              <a:rPr lang="en-US" b="0" i="0" dirty="0">
                <a:solidFill>
                  <a:srgbClr val="CCCCCC"/>
                </a:solidFill>
                <a:effectLst/>
                <a:latin typeface="Consolas" panose="020B0609020204030204" pitchFamily="49" charset="0"/>
              </a:rPr>
              <a:t>result = [one, two, null, I, was, there]</a:t>
            </a:r>
          </a:p>
          <a:p>
            <a:pPr algn="l" latinLnBrk="0">
              <a:buNone/>
            </a:pPr>
            <a:r>
              <a:rPr lang="en-US" b="0" i="0" dirty="0">
                <a:solidFill>
                  <a:srgbClr val="CCCCCC"/>
                </a:solidFill>
                <a:effectLst/>
                <a:latin typeface="Consolas" panose="020B0609020204030204" pitchFamily="49" charset="0"/>
              </a:rPr>
              <a:t>Same arrays? true</a:t>
            </a:r>
          </a:p>
          <a:p>
            <a:pPr algn="l">
              <a:buNone/>
            </a:pPr>
            <a:r>
              <a:rPr lang="en-US" b="0" i="0" dirty="0">
                <a:solidFill>
                  <a:srgbClr val="131516"/>
                </a:solidFill>
                <a:effectLst/>
                <a:latin typeface="system-ui"/>
              </a:rPr>
              <a:t>You can see that the array was copied in the first cells of the argument array, and </a:t>
            </a:r>
            <a:r>
              <a:rPr lang="en-US" b="0" i="0" dirty="0">
                <a:solidFill>
                  <a:srgbClr val="E76F00"/>
                </a:solidFill>
                <a:effectLst/>
                <a:latin typeface="SFMono-Regular"/>
              </a:rPr>
              <a:t>null</a:t>
            </a:r>
            <a:r>
              <a:rPr lang="en-US" b="0" i="0" dirty="0">
                <a:solidFill>
                  <a:srgbClr val="131516"/>
                </a:solidFill>
                <a:effectLst/>
                <a:latin typeface="system-ui"/>
              </a:rPr>
              <a:t> was added right after it, thus leaving the last elements of this array untouched. The returned array is the same array as the one you gave as an argument, with a different content.</a:t>
            </a:r>
          </a:p>
          <a:p>
            <a:pPr algn="l">
              <a:buNone/>
            </a:pPr>
            <a:r>
              <a:rPr lang="en-US" b="0" i="0" dirty="0">
                <a:solidFill>
                  <a:srgbClr val="131516"/>
                </a:solidFill>
                <a:effectLst/>
                <a:latin typeface="system-ui"/>
              </a:rPr>
              <a:t>Here is a second example, with a zero-length array:</a:t>
            </a:r>
          </a:p>
          <a:p>
            <a:pPr algn="l" latinLnBrk="0">
              <a:buNone/>
            </a:pPr>
            <a:r>
              <a:rPr lang="en-US" b="0" i="0" dirty="0">
                <a:solidFill>
                  <a:srgbClr val="F8C555"/>
                </a:solidFill>
                <a:effectLst/>
                <a:latin typeface="Consolas" panose="020B0609020204030204" pitchFamily="49" charset="0"/>
              </a:rPr>
              <a:t>Collection</a:t>
            </a:r>
            <a:r>
              <a:rPr lang="en-US" b="0" i="0" dirty="0">
                <a:solidFill>
                  <a:srgbClr val="CCCCCC"/>
                </a:solidFill>
                <a:effectLst/>
                <a:latin typeface="Consolas" panose="020B0609020204030204" pitchFamily="49" charset="0"/>
              </a:rPr>
              <a:t>&lt;</a:t>
            </a:r>
            <a:r>
              <a:rPr lang="en-US" b="0" i="0" dirty="0">
                <a:solidFill>
                  <a:srgbClr val="F8C555"/>
                </a:solidFill>
                <a:effectLst/>
                <a:latin typeface="Consolas" panose="020B0609020204030204" pitchFamily="49" charset="0"/>
              </a:rPr>
              <a:t>String</a:t>
            </a:r>
            <a:r>
              <a:rPr lang="en-US" b="0" i="0" dirty="0">
                <a:solidFill>
                  <a:srgbClr val="CCCCCC"/>
                </a:solidFill>
                <a:effectLst/>
                <a:latin typeface="Consolas" panose="020B0609020204030204" pitchFamily="49" charset="0"/>
              </a:rPr>
              <a:t>&gt; strings </a:t>
            </a:r>
            <a:r>
              <a:rPr lang="en-US" b="0" i="0" dirty="0">
                <a:solidFill>
                  <a:srgbClr val="67CDCC"/>
                </a:solidFill>
                <a:effectLst/>
                <a:latin typeface="Consolas" panose="020B0609020204030204" pitchFamily="49" charset="0"/>
              </a:rPr>
              <a:t>=</a:t>
            </a:r>
            <a:r>
              <a:rPr lang="en-US" b="0" i="0" dirty="0">
                <a:solidFill>
                  <a:srgbClr val="CCCCCC"/>
                </a:solidFill>
                <a:effectLst/>
                <a:latin typeface="Consolas" panose="020B0609020204030204" pitchFamily="49" charset="0"/>
              </a:rPr>
              <a:t> </a:t>
            </a:r>
            <a:r>
              <a:rPr lang="en-US" b="0" i="0" dirty="0" err="1">
                <a:solidFill>
                  <a:srgbClr val="F8C555"/>
                </a:solidFill>
                <a:effectLst/>
                <a:latin typeface="Consolas" panose="020B0609020204030204" pitchFamily="49" charset="0"/>
              </a:rPr>
              <a:t>List</a:t>
            </a:r>
            <a:r>
              <a:rPr lang="en-US" b="0" i="0" dirty="0" err="1">
                <a:solidFill>
                  <a:srgbClr val="CCCCCC"/>
                </a:solidFill>
                <a:effectLst/>
                <a:latin typeface="Consolas" panose="020B0609020204030204" pitchFamily="49" charset="0"/>
              </a:rPr>
              <a:t>.</a:t>
            </a:r>
            <a:r>
              <a:rPr lang="en-US" b="0" i="0" dirty="0" err="1">
                <a:solidFill>
                  <a:srgbClr val="F08D49"/>
                </a:solidFill>
                <a:effectLst/>
                <a:latin typeface="Consolas" panose="020B0609020204030204" pitchFamily="49" charset="0"/>
              </a:rPr>
              <a:t>of</a:t>
            </a:r>
            <a:r>
              <a:rPr lang="en-US" b="0" i="0" dirty="0">
                <a:solidFill>
                  <a:srgbClr val="CCCCCC"/>
                </a:solidFill>
                <a:effectLst/>
                <a:latin typeface="Consolas" panose="020B0609020204030204" pitchFamily="49" charset="0"/>
              </a:rPr>
              <a:t>(</a:t>
            </a:r>
            <a:r>
              <a:rPr lang="en-US" b="0" i="0" dirty="0">
                <a:solidFill>
                  <a:srgbClr val="7EC699"/>
                </a:solidFill>
                <a:effectLst/>
                <a:latin typeface="Consolas" panose="020B0609020204030204" pitchFamily="49" charset="0"/>
              </a:rPr>
              <a:t>"one"</a:t>
            </a:r>
            <a:r>
              <a:rPr lang="en-US" b="0" i="0" dirty="0">
                <a:solidFill>
                  <a:srgbClr val="CCCCCC"/>
                </a:solidFill>
                <a:effectLst/>
                <a:latin typeface="Consolas" panose="020B0609020204030204" pitchFamily="49" charset="0"/>
              </a:rPr>
              <a:t>, </a:t>
            </a:r>
            <a:r>
              <a:rPr lang="en-US" b="0" i="0" dirty="0">
                <a:solidFill>
                  <a:srgbClr val="7EC699"/>
                </a:solidFill>
                <a:effectLst/>
                <a:latin typeface="Consolas" panose="020B0609020204030204" pitchFamily="49" charset="0"/>
              </a:rPr>
              <a:t>"two"</a:t>
            </a:r>
            <a:r>
              <a:rPr lang="en-US" b="0" i="0" dirty="0">
                <a:solidFill>
                  <a:srgbClr val="CCCCCC"/>
                </a:solidFill>
                <a:effectLst/>
                <a:latin typeface="Consolas" panose="020B0609020204030204" pitchFamily="49" charset="0"/>
              </a:rPr>
              <a:t>);</a:t>
            </a:r>
          </a:p>
          <a:p>
            <a:pPr algn="l" latinLnBrk="0">
              <a:buNone/>
            </a:pPr>
            <a:endParaRPr lang="en-US" b="0" i="0" dirty="0">
              <a:solidFill>
                <a:srgbClr val="CCCCCC"/>
              </a:solidFill>
              <a:effectLst/>
              <a:latin typeface="Consolas" panose="020B0609020204030204" pitchFamily="49" charset="0"/>
            </a:endParaRPr>
          </a:p>
          <a:p>
            <a:pPr algn="l" latinLnBrk="0">
              <a:buNone/>
            </a:pPr>
            <a:r>
              <a:rPr lang="en-US" b="0" i="0" dirty="0">
                <a:solidFill>
                  <a:srgbClr val="F8C555"/>
                </a:solidFill>
                <a:effectLst/>
                <a:latin typeface="Consolas" panose="020B0609020204030204" pitchFamily="49" charset="0"/>
              </a:rPr>
              <a:t>String</a:t>
            </a:r>
            <a:r>
              <a:rPr lang="en-US" b="0" i="0" dirty="0">
                <a:solidFill>
                  <a:srgbClr val="CCCCCC"/>
                </a:solidFill>
                <a:effectLst/>
                <a:latin typeface="Consolas" panose="020B0609020204030204" pitchFamily="49" charset="0"/>
              </a:rPr>
              <a:t>[] </a:t>
            </a:r>
            <a:r>
              <a:rPr lang="en-US" b="0" i="0" dirty="0" err="1">
                <a:solidFill>
                  <a:srgbClr val="CCCCCC"/>
                </a:solidFill>
                <a:effectLst/>
                <a:latin typeface="Consolas" panose="020B0609020204030204" pitchFamily="49" charset="0"/>
              </a:rPr>
              <a:t>zeroLengthTab</a:t>
            </a:r>
            <a:r>
              <a:rPr lang="en-US" b="0" i="0" dirty="0">
                <a:solidFill>
                  <a:srgbClr val="CCCCCC"/>
                </a:solidFill>
                <a:effectLst/>
                <a:latin typeface="Consolas" panose="020B0609020204030204" pitchFamily="49" charset="0"/>
              </a:rPr>
              <a:t> </a:t>
            </a:r>
            <a:r>
              <a:rPr lang="en-US" b="0" i="0" dirty="0">
                <a:solidFill>
                  <a:srgbClr val="67CDCC"/>
                </a:solidFill>
                <a:effectLst/>
                <a:latin typeface="Consolas" panose="020B0609020204030204" pitchFamily="49" charset="0"/>
              </a:rPr>
              <a:t>=</a:t>
            </a:r>
            <a:r>
              <a:rPr lang="en-US" b="0" i="0" dirty="0">
                <a:solidFill>
                  <a:srgbClr val="CCCCCC"/>
                </a:solidFill>
                <a:effectLst/>
                <a:latin typeface="Consolas" panose="020B0609020204030204" pitchFamily="49" charset="0"/>
              </a:rPr>
              <a:t> {};</a:t>
            </a:r>
          </a:p>
          <a:p>
            <a:pPr algn="l" latinLnBrk="0">
              <a:buNone/>
            </a:pPr>
            <a:r>
              <a:rPr lang="en-US" b="0" i="0" dirty="0">
                <a:solidFill>
                  <a:srgbClr val="F8C555"/>
                </a:solidFill>
                <a:effectLst/>
                <a:latin typeface="Consolas" panose="020B0609020204030204" pitchFamily="49" charset="0"/>
              </a:rPr>
              <a:t>String</a:t>
            </a:r>
            <a:r>
              <a:rPr lang="en-US" b="0" i="0" dirty="0">
                <a:solidFill>
                  <a:srgbClr val="CCCCCC"/>
                </a:solidFill>
                <a:effectLst/>
                <a:latin typeface="Consolas" panose="020B0609020204030204" pitchFamily="49" charset="0"/>
              </a:rPr>
              <a:t>[] result </a:t>
            </a:r>
            <a:r>
              <a:rPr lang="en-US" b="0" i="0" dirty="0">
                <a:solidFill>
                  <a:srgbClr val="67CDCC"/>
                </a:solidFill>
                <a:effectLst/>
                <a:latin typeface="Consolas" panose="020B0609020204030204" pitchFamily="49" charset="0"/>
              </a:rPr>
              <a:t>=</a:t>
            </a:r>
            <a:r>
              <a:rPr lang="en-US" b="0" i="0" dirty="0">
                <a:solidFill>
                  <a:srgbClr val="CCCCCC"/>
                </a:solidFill>
                <a:effectLst/>
                <a:latin typeface="Consolas" panose="020B0609020204030204" pitchFamily="49" charset="0"/>
              </a:rPr>
              <a:t> </a:t>
            </a:r>
            <a:r>
              <a:rPr lang="en-US" b="0" i="0" dirty="0" err="1">
                <a:solidFill>
                  <a:srgbClr val="CCCCCC"/>
                </a:solidFill>
                <a:effectLst/>
                <a:latin typeface="Consolas" panose="020B0609020204030204" pitchFamily="49" charset="0"/>
              </a:rPr>
              <a:t>strings.</a:t>
            </a:r>
            <a:r>
              <a:rPr lang="en-US" b="0" i="0" dirty="0" err="1">
                <a:solidFill>
                  <a:srgbClr val="F08D49"/>
                </a:solidFill>
                <a:effectLst/>
                <a:latin typeface="Consolas" panose="020B0609020204030204" pitchFamily="49" charset="0"/>
              </a:rPr>
              <a:t>toArray</a:t>
            </a:r>
            <a:r>
              <a:rPr lang="en-US" b="0" i="0" dirty="0">
                <a:solidFill>
                  <a:srgbClr val="CCCCCC"/>
                </a:solidFill>
                <a:effectLst/>
                <a:latin typeface="Consolas" panose="020B0609020204030204" pitchFamily="49" charset="0"/>
              </a:rPr>
              <a:t>(</a:t>
            </a:r>
            <a:r>
              <a:rPr lang="en-US" b="0" i="0" dirty="0" err="1">
                <a:solidFill>
                  <a:srgbClr val="CCCCCC"/>
                </a:solidFill>
                <a:effectLst/>
                <a:latin typeface="Consolas" panose="020B0609020204030204" pitchFamily="49" charset="0"/>
              </a:rPr>
              <a:t>zeroLengthTab</a:t>
            </a:r>
            <a:r>
              <a:rPr lang="en-US" b="0" i="0" dirty="0">
                <a:solidFill>
                  <a:srgbClr val="CCCCCC"/>
                </a:solidFill>
                <a:effectLst/>
                <a:latin typeface="Consolas" panose="020B0609020204030204" pitchFamily="49" charset="0"/>
              </a:rPr>
              <a:t>);</a:t>
            </a:r>
          </a:p>
          <a:p>
            <a:pPr algn="l" latinLnBrk="0">
              <a:buNone/>
            </a:pPr>
            <a:endParaRPr lang="en-US" b="0" i="0" dirty="0">
              <a:solidFill>
                <a:srgbClr val="CCCCCC"/>
              </a:solidFill>
              <a:effectLst/>
              <a:latin typeface="Consolas" panose="020B0609020204030204" pitchFamily="49" charset="0"/>
            </a:endParaRPr>
          </a:p>
          <a:p>
            <a:pPr algn="l" latinLnBrk="0">
              <a:buNone/>
            </a:pPr>
            <a:r>
              <a:rPr lang="en-US" b="0" i="0" dirty="0" err="1">
                <a:solidFill>
                  <a:srgbClr val="CCCCCC"/>
                </a:solidFill>
                <a:effectLst/>
                <a:latin typeface="Consolas" panose="020B0609020204030204" pitchFamily="49" charset="0"/>
              </a:rPr>
              <a:t>IO.</a:t>
            </a:r>
            <a:r>
              <a:rPr lang="en-US" b="0" i="0" dirty="0" err="1">
                <a:solidFill>
                  <a:srgbClr val="F08D49"/>
                </a:solidFill>
                <a:effectLst/>
                <a:latin typeface="Consolas" panose="020B0609020204030204" pitchFamily="49" charset="0"/>
              </a:rPr>
              <a:t>println</a:t>
            </a:r>
            <a:r>
              <a:rPr lang="en-US" b="0" i="0" dirty="0">
                <a:solidFill>
                  <a:srgbClr val="CCCCCC"/>
                </a:solidFill>
                <a:effectLst/>
                <a:latin typeface="Consolas" panose="020B0609020204030204" pitchFamily="49" charset="0"/>
              </a:rPr>
              <a:t>(</a:t>
            </a:r>
            <a:r>
              <a:rPr lang="en-US" b="0" i="0" dirty="0">
                <a:solidFill>
                  <a:srgbClr val="7EC699"/>
                </a:solidFill>
                <a:effectLst/>
                <a:latin typeface="Consolas" panose="020B0609020204030204" pitchFamily="49" charset="0"/>
              </a:rPr>
              <a:t>"</a:t>
            </a:r>
            <a:r>
              <a:rPr lang="en-US" b="0" i="0" dirty="0" err="1">
                <a:solidFill>
                  <a:srgbClr val="7EC699"/>
                </a:solidFill>
                <a:effectLst/>
                <a:latin typeface="Consolas" panose="020B0609020204030204" pitchFamily="49" charset="0"/>
              </a:rPr>
              <a:t>zeroLengthTab</a:t>
            </a:r>
            <a:r>
              <a:rPr lang="en-US" b="0" i="0" dirty="0">
                <a:solidFill>
                  <a:srgbClr val="7EC699"/>
                </a:solidFill>
                <a:effectLst/>
                <a:latin typeface="Consolas" panose="020B0609020204030204" pitchFamily="49" charset="0"/>
              </a:rPr>
              <a:t> = "</a:t>
            </a:r>
            <a:r>
              <a:rPr lang="en-US" b="0" i="0" dirty="0">
                <a:solidFill>
                  <a:srgbClr val="CCCCCC"/>
                </a:solidFill>
                <a:effectLst/>
                <a:latin typeface="Consolas" panose="020B0609020204030204" pitchFamily="49" charset="0"/>
              </a:rPr>
              <a:t> </a:t>
            </a:r>
            <a:r>
              <a:rPr lang="en-US" b="0" i="0" dirty="0">
                <a:solidFill>
                  <a:srgbClr val="67CDCC"/>
                </a:solidFill>
                <a:effectLst/>
                <a:latin typeface="Consolas" panose="020B0609020204030204" pitchFamily="49" charset="0"/>
              </a:rPr>
              <a:t>+</a:t>
            </a:r>
            <a:r>
              <a:rPr lang="en-US" b="0" i="0" dirty="0">
                <a:solidFill>
                  <a:srgbClr val="CCCCCC"/>
                </a:solidFill>
                <a:effectLst/>
                <a:latin typeface="Consolas" panose="020B0609020204030204" pitchFamily="49" charset="0"/>
              </a:rPr>
              <a:t> </a:t>
            </a:r>
            <a:r>
              <a:rPr lang="en-US" b="0" i="0" dirty="0" err="1">
                <a:solidFill>
                  <a:srgbClr val="F8C555"/>
                </a:solidFill>
                <a:effectLst/>
                <a:latin typeface="Consolas" panose="020B0609020204030204" pitchFamily="49" charset="0"/>
              </a:rPr>
              <a:t>Arrays</a:t>
            </a:r>
            <a:r>
              <a:rPr lang="en-US" b="0" i="0" dirty="0" err="1">
                <a:solidFill>
                  <a:srgbClr val="CCCCCC"/>
                </a:solidFill>
                <a:effectLst/>
                <a:latin typeface="Consolas" panose="020B0609020204030204" pitchFamily="49" charset="0"/>
              </a:rPr>
              <a:t>.</a:t>
            </a:r>
            <a:r>
              <a:rPr lang="en-US" b="0" i="0" dirty="0" err="1">
                <a:solidFill>
                  <a:srgbClr val="F08D49"/>
                </a:solidFill>
                <a:effectLst/>
                <a:latin typeface="Consolas" panose="020B0609020204030204" pitchFamily="49" charset="0"/>
              </a:rPr>
              <a:t>toString</a:t>
            </a:r>
            <a:r>
              <a:rPr lang="en-US" b="0" i="0" dirty="0">
                <a:solidFill>
                  <a:srgbClr val="CCCCCC"/>
                </a:solidFill>
                <a:effectLst/>
                <a:latin typeface="Consolas" panose="020B0609020204030204" pitchFamily="49" charset="0"/>
              </a:rPr>
              <a:t>(</a:t>
            </a:r>
            <a:r>
              <a:rPr lang="en-US" b="0" i="0" dirty="0" err="1">
                <a:solidFill>
                  <a:srgbClr val="CCCCCC"/>
                </a:solidFill>
                <a:effectLst/>
                <a:latin typeface="Consolas" panose="020B0609020204030204" pitchFamily="49" charset="0"/>
              </a:rPr>
              <a:t>zeroLengthTab</a:t>
            </a:r>
            <a:r>
              <a:rPr lang="en-US" b="0" i="0" dirty="0">
                <a:solidFill>
                  <a:srgbClr val="CCCCCC"/>
                </a:solidFill>
                <a:effectLst/>
                <a:latin typeface="Consolas" panose="020B0609020204030204" pitchFamily="49" charset="0"/>
              </a:rPr>
              <a:t>));</a:t>
            </a:r>
          </a:p>
          <a:p>
            <a:pPr algn="l" latinLnBrk="0">
              <a:buNone/>
            </a:pPr>
            <a:r>
              <a:rPr lang="en-US" b="0" i="0" dirty="0" err="1">
                <a:solidFill>
                  <a:srgbClr val="CCCCCC"/>
                </a:solidFill>
                <a:effectLst/>
                <a:latin typeface="Consolas" panose="020B0609020204030204" pitchFamily="49" charset="0"/>
              </a:rPr>
              <a:t>IO.</a:t>
            </a:r>
            <a:r>
              <a:rPr lang="en-US" b="0" i="0" dirty="0" err="1">
                <a:solidFill>
                  <a:srgbClr val="F08D49"/>
                </a:solidFill>
                <a:effectLst/>
                <a:latin typeface="Consolas" panose="020B0609020204030204" pitchFamily="49" charset="0"/>
              </a:rPr>
              <a:t>println</a:t>
            </a:r>
            <a:r>
              <a:rPr lang="en-US" b="0" i="0" dirty="0">
                <a:solidFill>
                  <a:srgbClr val="CCCCCC"/>
                </a:solidFill>
                <a:effectLst/>
                <a:latin typeface="Consolas" panose="020B0609020204030204" pitchFamily="49" charset="0"/>
              </a:rPr>
              <a:t>(</a:t>
            </a:r>
            <a:r>
              <a:rPr lang="en-US" b="0" i="0" dirty="0">
                <a:solidFill>
                  <a:srgbClr val="7EC699"/>
                </a:solidFill>
                <a:effectLst/>
                <a:latin typeface="Consolas" panose="020B0609020204030204" pitchFamily="49" charset="0"/>
              </a:rPr>
              <a:t>"result = "</a:t>
            </a:r>
            <a:r>
              <a:rPr lang="en-US" b="0" i="0" dirty="0">
                <a:solidFill>
                  <a:srgbClr val="CCCCCC"/>
                </a:solidFill>
                <a:effectLst/>
                <a:latin typeface="Consolas" panose="020B0609020204030204" pitchFamily="49" charset="0"/>
              </a:rPr>
              <a:t> </a:t>
            </a:r>
            <a:r>
              <a:rPr lang="en-US" b="0" i="0" dirty="0">
                <a:solidFill>
                  <a:srgbClr val="67CDCC"/>
                </a:solidFill>
                <a:effectLst/>
                <a:latin typeface="Consolas" panose="020B0609020204030204" pitchFamily="49" charset="0"/>
              </a:rPr>
              <a:t>+</a:t>
            </a:r>
            <a:r>
              <a:rPr lang="en-US" b="0" i="0" dirty="0">
                <a:solidFill>
                  <a:srgbClr val="CCCCCC"/>
                </a:solidFill>
                <a:effectLst/>
                <a:latin typeface="Consolas" panose="020B0609020204030204" pitchFamily="49" charset="0"/>
              </a:rPr>
              <a:t> </a:t>
            </a:r>
            <a:r>
              <a:rPr lang="en-US" b="0" i="0" dirty="0" err="1">
                <a:solidFill>
                  <a:srgbClr val="F8C555"/>
                </a:solidFill>
                <a:effectLst/>
                <a:latin typeface="Consolas" panose="020B0609020204030204" pitchFamily="49" charset="0"/>
              </a:rPr>
              <a:t>Arrays</a:t>
            </a:r>
            <a:r>
              <a:rPr lang="en-US" b="0" i="0" dirty="0" err="1">
                <a:solidFill>
                  <a:srgbClr val="CCCCCC"/>
                </a:solidFill>
                <a:effectLst/>
                <a:latin typeface="Consolas" panose="020B0609020204030204" pitchFamily="49" charset="0"/>
              </a:rPr>
              <a:t>.</a:t>
            </a:r>
            <a:r>
              <a:rPr lang="en-US" b="0" i="0" dirty="0" err="1">
                <a:solidFill>
                  <a:srgbClr val="F08D49"/>
                </a:solidFill>
                <a:effectLst/>
                <a:latin typeface="Consolas" panose="020B0609020204030204" pitchFamily="49" charset="0"/>
              </a:rPr>
              <a:t>toString</a:t>
            </a:r>
            <a:r>
              <a:rPr lang="en-US" b="0" i="0" dirty="0">
                <a:solidFill>
                  <a:srgbClr val="CCCCCC"/>
                </a:solidFill>
                <a:effectLst/>
                <a:latin typeface="Consolas" panose="020B0609020204030204" pitchFamily="49" charset="0"/>
              </a:rPr>
              <a:t>(result));</a:t>
            </a:r>
          </a:p>
          <a:p>
            <a:pPr algn="l">
              <a:buNone/>
            </a:pPr>
            <a:r>
              <a:rPr lang="en-US" b="0" i="0" dirty="0">
                <a:solidFill>
                  <a:srgbClr val="131516"/>
                </a:solidFill>
                <a:effectLst/>
                <a:latin typeface="system-ui"/>
              </a:rPr>
              <a:t>Running this code gives you the following result:</a:t>
            </a:r>
          </a:p>
          <a:p>
            <a:pPr algn="l" latinLnBrk="0">
              <a:buNone/>
            </a:pPr>
            <a:r>
              <a:rPr lang="en-US" b="0" i="0" dirty="0" err="1">
                <a:solidFill>
                  <a:srgbClr val="CCCCCC"/>
                </a:solidFill>
                <a:effectLst/>
                <a:latin typeface="Consolas" panose="020B0609020204030204" pitchFamily="49" charset="0"/>
              </a:rPr>
              <a:t>zeroLengthTab</a:t>
            </a:r>
            <a:r>
              <a:rPr lang="en-US" b="0" i="0" dirty="0">
                <a:solidFill>
                  <a:srgbClr val="CCCCCC"/>
                </a:solidFill>
                <a:effectLst/>
                <a:latin typeface="Consolas" panose="020B0609020204030204" pitchFamily="49" charset="0"/>
              </a:rPr>
              <a:t> = []</a:t>
            </a:r>
          </a:p>
          <a:p>
            <a:pPr algn="l" latinLnBrk="0">
              <a:buNone/>
            </a:pPr>
            <a:r>
              <a:rPr lang="en-US" b="0" i="0" dirty="0">
                <a:solidFill>
                  <a:srgbClr val="CCCCCC"/>
                </a:solidFill>
                <a:effectLst/>
                <a:latin typeface="Consolas" panose="020B0609020204030204" pitchFamily="49" charset="0"/>
              </a:rPr>
              <a:t>result = [one, two]</a:t>
            </a:r>
          </a:p>
          <a:p>
            <a:pPr algn="l">
              <a:buNone/>
            </a:pPr>
            <a:r>
              <a:rPr lang="en-US" b="0" i="0" dirty="0">
                <a:solidFill>
                  <a:srgbClr val="131516"/>
                </a:solidFill>
                <a:effectLst/>
                <a:latin typeface="system-ui"/>
              </a:rPr>
              <a:t>A new array has been created in this case.</a:t>
            </a:r>
          </a:p>
          <a:p>
            <a:pPr algn="l">
              <a:buNone/>
            </a:pPr>
            <a:r>
              <a:rPr lang="en-US" b="0" i="0" dirty="0">
                <a:solidFill>
                  <a:srgbClr val="131516"/>
                </a:solidFill>
                <a:effectLst/>
                <a:latin typeface="system-ui"/>
              </a:rPr>
              <a:t>The second pattern is written using a constructor method reference to implement </a:t>
            </a:r>
            <a:r>
              <a:rPr lang="en-US" b="0" i="0" u="sng" dirty="0" err="1">
                <a:solidFill>
                  <a:srgbClr val="3A75B0"/>
                </a:solidFill>
                <a:effectLst/>
                <a:latin typeface="SFMono-Regular"/>
                <a:hlinkClick r:id="rId7"/>
              </a:rPr>
              <a:t>IntFunction</a:t>
            </a:r>
            <a:r>
              <a:rPr lang="en-US" b="0" i="0" u="sng" dirty="0">
                <a:solidFill>
                  <a:srgbClr val="3A75B0"/>
                </a:solidFill>
                <a:effectLst/>
                <a:latin typeface="SFMono-Regular"/>
                <a:hlinkClick r:id="rId7"/>
              </a:rPr>
              <a:t>&lt;T[]&gt;</a:t>
            </a:r>
            <a:r>
              <a:rPr lang="en-US" b="0" i="0" dirty="0">
                <a:solidFill>
                  <a:srgbClr val="131516"/>
                </a:solidFill>
                <a:effectLst/>
                <a:latin typeface="system-ui"/>
              </a:rPr>
              <a:t>:</a:t>
            </a:r>
          </a:p>
          <a:p>
            <a:pPr algn="l" latinLnBrk="0">
              <a:buNone/>
            </a:pPr>
            <a:r>
              <a:rPr lang="en-US" b="0" i="0" dirty="0">
                <a:solidFill>
                  <a:srgbClr val="F8C555"/>
                </a:solidFill>
                <a:effectLst/>
                <a:latin typeface="Consolas" panose="020B0609020204030204" pitchFamily="49" charset="0"/>
              </a:rPr>
              <a:t>Collection</a:t>
            </a:r>
            <a:r>
              <a:rPr lang="en-US" b="0" i="0" dirty="0">
                <a:solidFill>
                  <a:srgbClr val="CCCCCC"/>
                </a:solidFill>
                <a:effectLst/>
                <a:latin typeface="Consolas" panose="020B0609020204030204" pitchFamily="49" charset="0"/>
              </a:rPr>
              <a:t>&lt;</a:t>
            </a:r>
            <a:r>
              <a:rPr lang="en-US" b="0" i="0" dirty="0">
                <a:solidFill>
                  <a:srgbClr val="F8C555"/>
                </a:solidFill>
                <a:effectLst/>
                <a:latin typeface="Consolas" panose="020B0609020204030204" pitchFamily="49" charset="0"/>
              </a:rPr>
              <a:t>String</a:t>
            </a:r>
            <a:r>
              <a:rPr lang="en-US" b="0" i="0" dirty="0">
                <a:solidFill>
                  <a:srgbClr val="CCCCCC"/>
                </a:solidFill>
                <a:effectLst/>
                <a:latin typeface="Consolas" panose="020B0609020204030204" pitchFamily="49" charset="0"/>
              </a:rPr>
              <a:t>&gt; strings </a:t>
            </a:r>
            <a:r>
              <a:rPr lang="en-US" b="0" i="0" dirty="0">
                <a:solidFill>
                  <a:srgbClr val="67CDCC"/>
                </a:solidFill>
                <a:effectLst/>
                <a:latin typeface="Consolas" panose="020B0609020204030204" pitchFamily="49" charset="0"/>
              </a:rPr>
              <a:t>=</a:t>
            </a:r>
            <a:r>
              <a:rPr lang="en-US" b="0" i="0" dirty="0">
                <a:solidFill>
                  <a:srgbClr val="CCCCCC"/>
                </a:solidFill>
                <a:effectLst/>
                <a:latin typeface="Consolas" panose="020B0609020204030204" pitchFamily="49" charset="0"/>
              </a:rPr>
              <a:t> ...;</a:t>
            </a:r>
          </a:p>
          <a:p>
            <a:pPr algn="l" latinLnBrk="0">
              <a:buNone/>
            </a:pPr>
            <a:endParaRPr lang="en-US" b="0" i="0" dirty="0">
              <a:solidFill>
                <a:srgbClr val="CCCCCC"/>
              </a:solidFill>
              <a:effectLst/>
              <a:latin typeface="Consolas" panose="020B0609020204030204" pitchFamily="49" charset="0"/>
            </a:endParaRPr>
          </a:p>
          <a:p>
            <a:pPr algn="l" latinLnBrk="0">
              <a:buNone/>
            </a:pPr>
            <a:r>
              <a:rPr lang="en-US" b="0" i="0" dirty="0">
                <a:solidFill>
                  <a:srgbClr val="F8C555"/>
                </a:solidFill>
                <a:effectLst/>
                <a:latin typeface="Consolas" panose="020B0609020204030204" pitchFamily="49" charset="0"/>
              </a:rPr>
              <a:t>String</a:t>
            </a:r>
            <a:r>
              <a:rPr lang="en-US" b="0" i="0" dirty="0">
                <a:solidFill>
                  <a:srgbClr val="CCCCCC"/>
                </a:solidFill>
                <a:effectLst/>
                <a:latin typeface="Consolas" panose="020B0609020204030204" pitchFamily="49" charset="0"/>
              </a:rPr>
              <a:t>[] tabString3 </a:t>
            </a:r>
            <a:r>
              <a:rPr lang="en-US" b="0" i="0" dirty="0">
                <a:solidFill>
                  <a:srgbClr val="67CDCC"/>
                </a:solidFill>
                <a:effectLst/>
                <a:latin typeface="Consolas" panose="020B0609020204030204" pitchFamily="49" charset="0"/>
              </a:rPr>
              <a:t>=</a:t>
            </a:r>
            <a:r>
              <a:rPr lang="en-US" b="0" i="0" dirty="0">
                <a:solidFill>
                  <a:srgbClr val="CCCCCC"/>
                </a:solidFill>
                <a:effectLst/>
                <a:latin typeface="Consolas" panose="020B0609020204030204" pitchFamily="49" charset="0"/>
              </a:rPr>
              <a:t> </a:t>
            </a:r>
            <a:r>
              <a:rPr lang="en-US" b="0" i="0" dirty="0" err="1">
                <a:solidFill>
                  <a:srgbClr val="CCCCCC"/>
                </a:solidFill>
                <a:effectLst/>
                <a:latin typeface="Consolas" panose="020B0609020204030204" pitchFamily="49" charset="0"/>
              </a:rPr>
              <a:t>strings.</a:t>
            </a:r>
            <a:r>
              <a:rPr lang="en-US" b="0" i="0" dirty="0" err="1">
                <a:solidFill>
                  <a:srgbClr val="F08D49"/>
                </a:solidFill>
                <a:effectLst/>
                <a:latin typeface="Consolas" panose="020B0609020204030204" pitchFamily="49" charset="0"/>
              </a:rPr>
              <a:t>toArray</a:t>
            </a:r>
            <a:r>
              <a:rPr lang="en-US" b="0" i="0" dirty="0">
                <a:solidFill>
                  <a:srgbClr val="CCCCCC"/>
                </a:solidFill>
                <a:effectLst/>
                <a:latin typeface="Consolas" panose="020B0609020204030204" pitchFamily="49" charset="0"/>
              </a:rPr>
              <a:t>(</a:t>
            </a:r>
            <a:r>
              <a:rPr lang="en-US" b="0" i="0" dirty="0">
                <a:solidFill>
                  <a:srgbClr val="F8C555"/>
                </a:solidFill>
                <a:effectLst/>
                <a:latin typeface="Consolas" panose="020B0609020204030204" pitchFamily="49" charset="0"/>
              </a:rPr>
              <a:t>String</a:t>
            </a:r>
            <a:r>
              <a:rPr lang="en-US" b="0" i="0" dirty="0">
                <a:solidFill>
                  <a:srgbClr val="CCCCCC"/>
                </a:solidFill>
                <a:effectLst/>
                <a:latin typeface="Consolas" panose="020B0609020204030204" pitchFamily="49" charset="0"/>
              </a:rPr>
              <a:t>[]</a:t>
            </a:r>
            <a:r>
              <a:rPr lang="en-US" b="0" i="0" dirty="0">
                <a:solidFill>
                  <a:srgbClr val="67CDCC"/>
                </a:solidFill>
                <a:effectLst/>
                <a:latin typeface="Consolas" panose="020B0609020204030204" pitchFamily="49" charset="0"/>
              </a:rPr>
              <a:t>::</a:t>
            </a:r>
            <a:r>
              <a:rPr lang="en-US" b="0" i="0" dirty="0">
                <a:solidFill>
                  <a:srgbClr val="CC99CD"/>
                </a:solidFill>
                <a:effectLst/>
                <a:latin typeface="Consolas" panose="020B0609020204030204" pitchFamily="49" charset="0"/>
              </a:rPr>
              <a:t>new</a:t>
            </a:r>
            <a:r>
              <a:rPr lang="en-US" b="0" i="0" dirty="0">
                <a:solidFill>
                  <a:srgbClr val="CCCCCC"/>
                </a:solidFill>
                <a:effectLst/>
                <a:latin typeface="Consolas" panose="020B0609020204030204" pitchFamily="49" charset="0"/>
              </a:rPr>
              <a:t>);</a:t>
            </a:r>
          </a:p>
          <a:p>
            <a:pPr algn="l">
              <a:buNone/>
            </a:pPr>
            <a:r>
              <a:rPr lang="en-US" b="0" i="0" dirty="0">
                <a:solidFill>
                  <a:srgbClr val="131516"/>
                </a:solidFill>
                <a:effectLst/>
                <a:latin typeface="system-ui"/>
              </a:rPr>
              <a:t>In that case, a zero-length array of the right type is created with this function, and this method then calls to </a:t>
            </a:r>
            <a:r>
              <a:rPr lang="en-US" b="0" i="0" u="sng" dirty="0" err="1">
                <a:solidFill>
                  <a:srgbClr val="3A75B0"/>
                </a:solidFill>
                <a:effectLst/>
                <a:latin typeface="SFMono-Regular"/>
                <a:hlinkClick r:id="rId3"/>
              </a:rPr>
              <a:t>toArray</a:t>
            </a:r>
            <a:r>
              <a:rPr lang="en-US" b="0" i="0" u="sng" dirty="0">
                <a:solidFill>
                  <a:srgbClr val="3A75B0"/>
                </a:solidFill>
                <a:effectLst/>
                <a:latin typeface="SFMono-Regular"/>
                <a:hlinkClick r:id="rId3"/>
              </a:rPr>
              <a:t>()</a:t>
            </a:r>
            <a:r>
              <a:rPr lang="en-US" b="0" i="0" dirty="0">
                <a:solidFill>
                  <a:srgbClr val="131516"/>
                </a:solidFill>
                <a:effectLst/>
                <a:latin typeface="system-ui"/>
              </a:rPr>
              <a:t> with this array passed as an argument.</a:t>
            </a:r>
          </a:p>
          <a:p>
            <a:pPr algn="l">
              <a:buNone/>
            </a:pPr>
            <a:r>
              <a:rPr lang="en-US" b="0" i="0" dirty="0">
                <a:solidFill>
                  <a:srgbClr val="131516"/>
                </a:solidFill>
                <a:effectLst/>
                <a:latin typeface="system-ui"/>
              </a:rPr>
              <a:t>This pattern of code was added in JDK 8 to improve the readability of the </a:t>
            </a:r>
            <a:r>
              <a:rPr lang="en-US" b="0" i="0" u="sng" dirty="0" err="1">
                <a:solidFill>
                  <a:srgbClr val="3A75B0"/>
                </a:solidFill>
                <a:effectLst/>
                <a:latin typeface="SFMono-Regular"/>
                <a:hlinkClick r:id="rId3"/>
              </a:rPr>
              <a:t>toArray</a:t>
            </a:r>
            <a:r>
              <a:rPr lang="en-US" b="0" i="0" u="sng" dirty="0">
                <a:solidFill>
                  <a:srgbClr val="3A75B0"/>
                </a:solidFill>
                <a:effectLst/>
                <a:latin typeface="SFMono-Regular"/>
                <a:hlinkClick r:id="rId3"/>
              </a:rPr>
              <a:t>()</a:t>
            </a:r>
            <a:r>
              <a:rPr lang="en-US" b="0" i="0" dirty="0">
                <a:solidFill>
                  <a:srgbClr val="131516"/>
                </a:solidFill>
                <a:effectLst/>
                <a:latin typeface="system-ui"/>
              </a:rPr>
              <a:t> calls.</a:t>
            </a:r>
          </a:p>
          <a:p>
            <a:pPr algn="l">
              <a:buNone/>
            </a:pPr>
            <a:r>
              <a:rPr lang="en-US" b="0" i="0" u="none" strike="noStrike" dirty="0">
                <a:solidFill>
                  <a:srgbClr val="131516"/>
                </a:solidFill>
                <a:effectLst/>
                <a:latin typeface="system-ui"/>
              </a:rPr>
              <a:t> </a:t>
            </a:r>
            <a:endParaRPr lang="en-US" b="0" i="0" dirty="0">
              <a:solidFill>
                <a:srgbClr val="131516"/>
              </a:solidFill>
              <a:effectLst/>
              <a:latin typeface="system-ui"/>
            </a:endParaRPr>
          </a:p>
        </p:txBody>
      </p:sp>
    </p:spTree>
    <p:extLst>
      <p:ext uri="{BB962C8B-B14F-4D97-AF65-F5344CB8AC3E}">
        <p14:creationId xmlns:p14="http://schemas.microsoft.com/office/powerpoint/2010/main" val="299156230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AE102C-C05A-8D03-1728-E2F9C9D5996E}"/>
            </a:ext>
          </a:extLst>
        </p:cNvPr>
        <p:cNvGrpSpPr/>
        <p:nvPr/>
      </p:nvGrpSpPr>
      <p:grpSpPr>
        <a:xfrm>
          <a:off x="0" y="0"/>
          <a:ext cx="0" cy="0"/>
          <a:chOff x="0" y="0"/>
          <a:chExt cx="0" cy="0"/>
        </a:xfrm>
      </p:grpSpPr>
    </p:spTree>
    <p:extLst>
      <p:ext uri="{BB962C8B-B14F-4D97-AF65-F5344CB8AC3E}">
        <p14:creationId xmlns:p14="http://schemas.microsoft.com/office/powerpoint/2010/main" val="68089126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B8CD9B-2F00-A10A-A6EE-C42EE17F748A}"/>
            </a:ext>
          </a:extLst>
        </p:cNvPr>
        <p:cNvGrpSpPr/>
        <p:nvPr/>
      </p:nvGrpSpPr>
      <p:grpSpPr>
        <a:xfrm>
          <a:off x="0" y="0"/>
          <a:ext cx="0" cy="0"/>
          <a:chOff x="0" y="0"/>
          <a:chExt cx="0" cy="0"/>
        </a:xfrm>
      </p:grpSpPr>
    </p:spTree>
    <p:extLst>
      <p:ext uri="{BB962C8B-B14F-4D97-AF65-F5344CB8AC3E}">
        <p14:creationId xmlns:p14="http://schemas.microsoft.com/office/powerpoint/2010/main" val="270575572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56788D-BE4F-53D1-0A05-0855EEB543EC}"/>
            </a:ext>
          </a:extLst>
        </p:cNvPr>
        <p:cNvGrpSpPr/>
        <p:nvPr/>
      </p:nvGrpSpPr>
      <p:grpSpPr>
        <a:xfrm>
          <a:off x="0" y="0"/>
          <a:ext cx="0" cy="0"/>
          <a:chOff x="0" y="0"/>
          <a:chExt cx="0" cy="0"/>
        </a:xfrm>
      </p:grpSpPr>
    </p:spTree>
    <p:extLst>
      <p:ext uri="{BB962C8B-B14F-4D97-AF65-F5344CB8AC3E}">
        <p14:creationId xmlns:p14="http://schemas.microsoft.com/office/powerpoint/2010/main" val="316216641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7100B4-0BC2-4798-C98D-4E148D559E12}"/>
            </a:ext>
          </a:extLst>
        </p:cNvPr>
        <p:cNvGrpSpPr/>
        <p:nvPr/>
      </p:nvGrpSpPr>
      <p:grpSpPr>
        <a:xfrm>
          <a:off x="0" y="0"/>
          <a:ext cx="0" cy="0"/>
          <a:chOff x="0" y="0"/>
          <a:chExt cx="0" cy="0"/>
        </a:xfrm>
      </p:grpSpPr>
    </p:spTree>
    <p:extLst>
      <p:ext uri="{BB962C8B-B14F-4D97-AF65-F5344CB8AC3E}">
        <p14:creationId xmlns:p14="http://schemas.microsoft.com/office/powerpoint/2010/main" val="388260493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8EED95-57F1-5BA3-6EB9-DC538497B978}"/>
            </a:ext>
          </a:extLst>
        </p:cNvPr>
        <p:cNvGrpSpPr/>
        <p:nvPr/>
      </p:nvGrpSpPr>
      <p:grpSpPr>
        <a:xfrm>
          <a:off x="0" y="0"/>
          <a:ext cx="0" cy="0"/>
          <a:chOff x="0" y="0"/>
          <a:chExt cx="0" cy="0"/>
        </a:xfrm>
      </p:grpSpPr>
    </p:spTree>
    <p:extLst>
      <p:ext uri="{BB962C8B-B14F-4D97-AF65-F5344CB8AC3E}">
        <p14:creationId xmlns:p14="http://schemas.microsoft.com/office/powerpoint/2010/main" val="314465757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97FE27-3CD3-CAC1-FF30-88454B6DF515}"/>
            </a:ext>
          </a:extLst>
        </p:cNvPr>
        <p:cNvGrpSpPr/>
        <p:nvPr/>
      </p:nvGrpSpPr>
      <p:grpSpPr>
        <a:xfrm>
          <a:off x="0" y="0"/>
          <a:ext cx="0" cy="0"/>
          <a:chOff x="0" y="0"/>
          <a:chExt cx="0" cy="0"/>
        </a:xfrm>
      </p:grpSpPr>
    </p:spTree>
    <p:extLst>
      <p:ext uri="{BB962C8B-B14F-4D97-AF65-F5344CB8AC3E}">
        <p14:creationId xmlns:p14="http://schemas.microsoft.com/office/powerpoint/2010/main" val="405979827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82FFA7-5330-CF78-DB39-F81D93E6FBD5}"/>
            </a:ext>
          </a:extLst>
        </p:cNvPr>
        <p:cNvGrpSpPr/>
        <p:nvPr/>
      </p:nvGrpSpPr>
      <p:grpSpPr>
        <a:xfrm>
          <a:off x="0" y="0"/>
          <a:ext cx="0" cy="0"/>
          <a:chOff x="0" y="0"/>
          <a:chExt cx="0" cy="0"/>
        </a:xfrm>
      </p:grpSpPr>
    </p:spTree>
    <p:extLst>
      <p:ext uri="{BB962C8B-B14F-4D97-AF65-F5344CB8AC3E}">
        <p14:creationId xmlns:p14="http://schemas.microsoft.com/office/powerpoint/2010/main" val="218167143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AB5C9C-474B-B3A8-8557-7F7E684E9E7D}"/>
            </a:ext>
          </a:extLst>
        </p:cNvPr>
        <p:cNvGrpSpPr/>
        <p:nvPr/>
      </p:nvGrpSpPr>
      <p:grpSpPr>
        <a:xfrm>
          <a:off x="0" y="0"/>
          <a:ext cx="0" cy="0"/>
          <a:chOff x="0" y="0"/>
          <a:chExt cx="0" cy="0"/>
        </a:xfrm>
      </p:grpSpPr>
    </p:spTree>
    <p:extLst>
      <p:ext uri="{BB962C8B-B14F-4D97-AF65-F5344CB8AC3E}">
        <p14:creationId xmlns:p14="http://schemas.microsoft.com/office/powerpoint/2010/main" val="79723659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88B7FD-5EA4-C1F9-9C5D-5AE098025682}"/>
            </a:ext>
          </a:extLst>
        </p:cNvPr>
        <p:cNvGrpSpPr/>
        <p:nvPr/>
      </p:nvGrpSpPr>
      <p:grpSpPr>
        <a:xfrm>
          <a:off x="0" y="0"/>
          <a:ext cx="0" cy="0"/>
          <a:chOff x="0" y="0"/>
          <a:chExt cx="0" cy="0"/>
        </a:xfrm>
      </p:grpSpPr>
    </p:spTree>
    <p:extLst>
      <p:ext uri="{BB962C8B-B14F-4D97-AF65-F5344CB8AC3E}">
        <p14:creationId xmlns:p14="http://schemas.microsoft.com/office/powerpoint/2010/main" val="2576679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B396A1-1C7A-8782-8931-DC2268178F5F}"/>
            </a:ext>
          </a:extLst>
        </p:cNvPr>
        <p:cNvGrpSpPr/>
        <p:nvPr/>
      </p:nvGrpSpPr>
      <p:grpSpPr>
        <a:xfrm>
          <a:off x="0" y="0"/>
          <a:ext cx="0" cy="0"/>
          <a:chOff x="0" y="0"/>
          <a:chExt cx="0" cy="0"/>
        </a:xfrm>
      </p:grpSpPr>
    </p:spTree>
    <p:extLst>
      <p:ext uri="{BB962C8B-B14F-4D97-AF65-F5344CB8AC3E}">
        <p14:creationId xmlns:p14="http://schemas.microsoft.com/office/powerpoint/2010/main" val="109885771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1DE254-48A1-C74B-FC95-9CCD856901CF}"/>
            </a:ext>
          </a:extLst>
        </p:cNvPr>
        <p:cNvGrpSpPr/>
        <p:nvPr/>
      </p:nvGrpSpPr>
      <p:grpSpPr>
        <a:xfrm>
          <a:off x="0" y="0"/>
          <a:ext cx="0" cy="0"/>
          <a:chOff x="0" y="0"/>
          <a:chExt cx="0" cy="0"/>
        </a:xfrm>
      </p:grpSpPr>
    </p:spTree>
    <p:extLst>
      <p:ext uri="{BB962C8B-B14F-4D97-AF65-F5344CB8AC3E}">
        <p14:creationId xmlns:p14="http://schemas.microsoft.com/office/powerpoint/2010/main" val="185961260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504982-ECF8-0C7D-EDF0-78A35D5A50A8}"/>
            </a:ext>
          </a:extLst>
        </p:cNvPr>
        <p:cNvGrpSpPr/>
        <p:nvPr/>
      </p:nvGrpSpPr>
      <p:grpSpPr>
        <a:xfrm>
          <a:off x="0" y="0"/>
          <a:ext cx="0" cy="0"/>
          <a:chOff x="0" y="0"/>
          <a:chExt cx="0" cy="0"/>
        </a:xfrm>
      </p:grpSpPr>
    </p:spTree>
    <p:extLst>
      <p:ext uri="{BB962C8B-B14F-4D97-AF65-F5344CB8AC3E}">
        <p14:creationId xmlns:p14="http://schemas.microsoft.com/office/powerpoint/2010/main" val="302606699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E2F08B-5584-6654-A89E-F0BDDC88B4C0}"/>
            </a:ext>
          </a:extLst>
        </p:cNvPr>
        <p:cNvGrpSpPr/>
        <p:nvPr/>
      </p:nvGrpSpPr>
      <p:grpSpPr>
        <a:xfrm>
          <a:off x="0" y="0"/>
          <a:ext cx="0" cy="0"/>
          <a:chOff x="0" y="0"/>
          <a:chExt cx="0" cy="0"/>
        </a:xfrm>
      </p:grpSpPr>
    </p:spTree>
    <p:extLst>
      <p:ext uri="{BB962C8B-B14F-4D97-AF65-F5344CB8AC3E}">
        <p14:creationId xmlns:p14="http://schemas.microsoft.com/office/powerpoint/2010/main" val="427005158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347515-952F-15D5-E795-0408DBB1FF6E}"/>
            </a:ext>
          </a:extLst>
        </p:cNvPr>
        <p:cNvGrpSpPr/>
        <p:nvPr/>
      </p:nvGrpSpPr>
      <p:grpSpPr>
        <a:xfrm>
          <a:off x="0" y="0"/>
          <a:ext cx="0" cy="0"/>
          <a:chOff x="0" y="0"/>
          <a:chExt cx="0" cy="0"/>
        </a:xfrm>
      </p:grpSpPr>
    </p:spTree>
    <p:extLst>
      <p:ext uri="{BB962C8B-B14F-4D97-AF65-F5344CB8AC3E}">
        <p14:creationId xmlns:p14="http://schemas.microsoft.com/office/powerpoint/2010/main" val="117657158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C7E142-6ADB-EDAE-CB2F-E5C91CC68CEA}"/>
            </a:ext>
          </a:extLst>
        </p:cNvPr>
        <p:cNvGrpSpPr/>
        <p:nvPr/>
      </p:nvGrpSpPr>
      <p:grpSpPr>
        <a:xfrm>
          <a:off x="0" y="0"/>
          <a:ext cx="0" cy="0"/>
          <a:chOff x="0" y="0"/>
          <a:chExt cx="0" cy="0"/>
        </a:xfrm>
      </p:grpSpPr>
    </p:spTree>
    <p:extLst>
      <p:ext uri="{BB962C8B-B14F-4D97-AF65-F5344CB8AC3E}">
        <p14:creationId xmlns:p14="http://schemas.microsoft.com/office/powerpoint/2010/main" val="76998783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68CE97-FF0A-7D8C-D635-E050504268AE}"/>
            </a:ext>
          </a:extLst>
        </p:cNvPr>
        <p:cNvGrpSpPr/>
        <p:nvPr/>
      </p:nvGrpSpPr>
      <p:grpSpPr>
        <a:xfrm>
          <a:off x="0" y="0"/>
          <a:ext cx="0" cy="0"/>
          <a:chOff x="0" y="0"/>
          <a:chExt cx="0" cy="0"/>
        </a:xfrm>
      </p:grpSpPr>
    </p:spTree>
    <p:extLst>
      <p:ext uri="{BB962C8B-B14F-4D97-AF65-F5344CB8AC3E}">
        <p14:creationId xmlns:p14="http://schemas.microsoft.com/office/powerpoint/2010/main" val="75297232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E9316E-DEAB-C3C0-EE14-EAADD56C2541}"/>
            </a:ext>
          </a:extLst>
        </p:cNvPr>
        <p:cNvGrpSpPr/>
        <p:nvPr/>
      </p:nvGrpSpPr>
      <p:grpSpPr>
        <a:xfrm>
          <a:off x="0" y="0"/>
          <a:ext cx="0" cy="0"/>
          <a:chOff x="0" y="0"/>
          <a:chExt cx="0" cy="0"/>
        </a:xfrm>
      </p:grpSpPr>
    </p:spTree>
    <p:extLst>
      <p:ext uri="{BB962C8B-B14F-4D97-AF65-F5344CB8AC3E}">
        <p14:creationId xmlns:p14="http://schemas.microsoft.com/office/powerpoint/2010/main" val="417390630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0CEEC9-F5D2-B4A9-1355-FC66B352A235}"/>
            </a:ext>
          </a:extLst>
        </p:cNvPr>
        <p:cNvGrpSpPr/>
        <p:nvPr/>
      </p:nvGrpSpPr>
      <p:grpSpPr>
        <a:xfrm>
          <a:off x="0" y="0"/>
          <a:ext cx="0" cy="0"/>
          <a:chOff x="0" y="0"/>
          <a:chExt cx="0" cy="0"/>
        </a:xfrm>
      </p:grpSpPr>
    </p:spTree>
    <p:extLst>
      <p:ext uri="{BB962C8B-B14F-4D97-AF65-F5344CB8AC3E}">
        <p14:creationId xmlns:p14="http://schemas.microsoft.com/office/powerpoint/2010/main" val="17424161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1B7DEC-7B2A-C40E-95FE-D064F25A92EE}"/>
            </a:ext>
          </a:extLst>
        </p:cNvPr>
        <p:cNvGrpSpPr/>
        <p:nvPr/>
      </p:nvGrpSpPr>
      <p:grpSpPr>
        <a:xfrm>
          <a:off x="0" y="0"/>
          <a:ext cx="0" cy="0"/>
          <a:chOff x="0" y="0"/>
          <a:chExt cx="0" cy="0"/>
        </a:xfrm>
      </p:grpSpPr>
    </p:spTree>
    <p:extLst>
      <p:ext uri="{BB962C8B-B14F-4D97-AF65-F5344CB8AC3E}">
        <p14:creationId xmlns:p14="http://schemas.microsoft.com/office/powerpoint/2010/main" val="289174326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48EF0E-379C-D7B7-62AB-5A40E91AF875}"/>
            </a:ext>
          </a:extLst>
        </p:cNvPr>
        <p:cNvGrpSpPr/>
        <p:nvPr/>
      </p:nvGrpSpPr>
      <p:grpSpPr>
        <a:xfrm>
          <a:off x="0" y="0"/>
          <a:ext cx="0" cy="0"/>
          <a:chOff x="0" y="0"/>
          <a:chExt cx="0" cy="0"/>
        </a:xfrm>
      </p:grpSpPr>
    </p:spTree>
    <p:extLst>
      <p:ext uri="{BB962C8B-B14F-4D97-AF65-F5344CB8AC3E}">
        <p14:creationId xmlns:p14="http://schemas.microsoft.com/office/powerpoint/2010/main" val="4238302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280A87-8C00-608C-0B95-7D84EFC6377C}"/>
            </a:ext>
          </a:extLst>
        </p:cNvPr>
        <p:cNvGrpSpPr/>
        <p:nvPr/>
      </p:nvGrpSpPr>
      <p:grpSpPr>
        <a:xfrm>
          <a:off x="0" y="0"/>
          <a:ext cx="0" cy="0"/>
          <a:chOff x="0" y="0"/>
          <a:chExt cx="0" cy="0"/>
        </a:xfrm>
      </p:grpSpPr>
    </p:spTree>
    <p:extLst>
      <p:ext uri="{BB962C8B-B14F-4D97-AF65-F5344CB8AC3E}">
        <p14:creationId xmlns:p14="http://schemas.microsoft.com/office/powerpoint/2010/main" val="248353098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9BE3F6-CC82-A77D-FFEC-785F8ED58003}"/>
            </a:ext>
          </a:extLst>
        </p:cNvPr>
        <p:cNvGrpSpPr/>
        <p:nvPr/>
      </p:nvGrpSpPr>
      <p:grpSpPr>
        <a:xfrm>
          <a:off x="0" y="0"/>
          <a:ext cx="0" cy="0"/>
          <a:chOff x="0" y="0"/>
          <a:chExt cx="0" cy="0"/>
        </a:xfrm>
      </p:grpSpPr>
    </p:spTree>
    <p:extLst>
      <p:ext uri="{BB962C8B-B14F-4D97-AF65-F5344CB8AC3E}">
        <p14:creationId xmlns:p14="http://schemas.microsoft.com/office/powerpoint/2010/main" val="3530889681"/>
      </p:ext>
    </p:extLst>
  </p:cSld>
  <p:clrMapOvr>
    <a:masterClrMapping/>
  </p:clrMapOvr>
</p:sld>
</file>

<file path=ppt/theme/theme1.xml><?xml version="1.0" encoding="utf-8"?>
<a:theme xmlns:a="http://schemas.openxmlformats.org/drawingml/2006/main" name="VanillaVTI">
  <a:themeElements>
    <a:clrScheme name="Vanill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nillaVTI" id="{54D376C6-1C9B-4C6B-8F3C-483BB307BB05}" vid="{7690D8A9-C071-45EF-BA7A-F7FA9779B11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712</TotalTime>
  <Words>9071</Words>
  <Application>Microsoft Office PowerPoint</Application>
  <PresentationFormat>Widescreen</PresentationFormat>
  <Paragraphs>1079</Paragraphs>
  <Slides>76</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76</vt:i4>
      </vt:variant>
    </vt:vector>
  </HeadingPairs>
  <TitlesOfParts>
    <vt:vector size="85" baseType="lpstr">
      <vt:lpstr>Aptos</vt:lpstr>
      <vt:lpstr>Arial</vt:lpstr>
      <vt:lpstr>Consolas</vt:lpstr>
      <vt:lpstr>Menlo</vt:lpstr>
      <vt:lpstr>Neue Haas Grotesk Text Pro</vt:lpstr>
      <vt:lpstr>quote-cjk-patch</vt:lpstr>
      <vt:lpstr>SFMono-Regular</vt:lpstr>
      <vt:lpstr>system-ui</vt:lpstr>
      <vt:lpstr>VanillaVTI</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umalavanya7@gmail.com</dc:creator>
  <cp:lastModifiedBy>umalavanya7@gmail.com</cp:lastModifiedBy>
  <cp:revision>33</cp:revision>
  <dcterms:created xsi:type="dcterms:W3CDTF">2026-02-06T16:24:09Z</dcterms:created>
  <dcterms:modified xsi:type="dcterms:W3CDTF">2026-02-07T05:49:03Z</dcterms:modified>
</cp:coreProperties>
</file>