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137"/>
  </p:notesMasterIdLst>
  <p:sldIdLst>
    <p:sldId id="256" r:id="rId2"/>
    <p:sldId id="391" r:id="rId3"/>
    <p:sldId id="379" r:id="rId4"/>
    <p:sldId id="257" r:id="rId5"/>
    <p:sldId id="258" r:id="rId6"/>
    <p:sldId id="259" r:id="rId7"/>
    <p:sldId id="360" r:id="rId8"/>
    <p:sldId id="260" r:id="rId9"/>
    <p:sldId id="361" r:id="rId10"/>
    <p:sldId id="261" r:id="rId11"/>
    <p:sldId id="362" r:id="rId12"/>
    <p:sldId id="363" r:id="rId13"/>
    <p:sldId id="364" r:id="rId14"/>
    <p:sldId id="365" r:id="rId15"/>
    <p:sldId id="366" r:id="rId16"/>
    <p:sldId id="378" r:id="rId17"/>
    <p:sldId id="367" r:id="rId18"/>
    <p:sldId id="380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262" r:id="rId30"/>
    <p:sldId id="263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  <p:sldId id="308" r:id="rId85"/>
    <p:sldId id="309" r:id="rId86"/>
    <p:sldId id="310" r:id="rId87"/>
    <p:sldId id="311" r:id="rId88"/>
    <p:sldId id="312" r:id="rId89"/>
    <p:sldId id="313" r:id="rId90"/>
    <p:sldId id="314" r:id="rId91"/>
    <p:sldId id="315" r:id="rId92"/>
    <p:sldId id="316" r:id="rId93"/>
    <p:sldId id="317" r:id="rId94"/>
    <p:sldId id="318" r:id="rId95"/>
    <p:sldId id="319" r:id="rId96"/>
    <p:sldId id="320" r:id="rId97"/>
    <p:sldId id="321" r:id="rId98"/>
    <p:sldId id="322" r:id="rId99"/>
    <p:sldId id="323" r:id="rId100"/>
    <p:sldId id="324" r:id="rId101"/>
    <p:sldId id="325" r:id="rId102"/>
    <p:sldId id="326" r:id="rId103"/>
    <p:sldId id="327" r:id="rId104"/>
    <p:sldId id="328" r:id="rId105"/>
    <p:sldId id="329" r:id="rId106"/>
    <p:sldId id="330" r:id="rId107"/>
    <p:sldId id="331" r:id="rId108"/>
    <p:sldId id="332" r:id="rId109"/>
    <p:sldId id="333" r:id="rId110"/>
    <p:sldId id="334" r:id="rId111"/>
    <p:sldId id="335" r:id="rId112"/>
    <p:sldId id="336" r:id="rId113"/>
    <p:sldId id="337" r:id="rId114"/>
    <p:sldId id="338" r:id="rId115"/>
    <p:sldId id="339" r:id="rId116"/>
    <p:sldId id="340" r:id="rId117"/>
    <p:sldId id="341" r:id="rId118"/>
    <p:sldId id="342" r:id="rId119"/>
    <p:sldId id="343" r:id="rId120"/>
    <p:sldId id="344" r:id="rId121"/>
    <p:sldId id="345" r:id="rId122"/>
    <p:sldId id="346" r:id="rId123"/>
    <p:sldId id="347" r:id="rId124"/>
    <p:sldId id="348" r:id="rId125"/>
    <p:sldId id="349" r:id="rId126"/>
    <p:sldId id="350" r:id="rId127"/>
    <p:sldId id="351" r:id="rId128"/>
    <p:sldId id="352" r:id="rId129"/>
    <p:sldId id="353" r:id="rId130"/>
    <p:sldId id="354" r:id="rId131"/>
    <p:sldId id="355" r:id="rId132"/>
    <p:sldId id="356" r:id="rId133"/>
    <p:sldId id="357" r:id="rId134"/>
    <p:sldId id="358" r:id="rId135"/>
    <p:sldId id="359" r:id="rId13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552"/>
    <a:srgbClr val="1A38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8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64E1F-87C5-4944-821C-E8B5E8EB499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0CFF4-5968-4E4A-A755-C9D0221DB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0CFF4-5968-4E4A-A755-C9D0221DB05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2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5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33E7B5-302F-334C-4938-E983040A76A4}"/>
              </a:ext>
            </a:extLst>
          </p:cNvPr>
          <p:cNvSpPr txBox="1"/>
          <p:nvPr/>
        </p:nvSpPr>
        <p:spPr>
          <a:xfrm>
            <a:off x="716770" y="694605"/>
            <a:ext cx="1508875" cy="52275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$match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$project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$group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$sort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$limit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$unwind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$lookup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$count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addFields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$expr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cond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FFFF00"/>
                </a:solidFill>
              </a:rPr>
              <a:t>$facet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CC54A-47DC-FD1D-12A7-B88EF679C371}"/>
              </a:ext>
            </a:extLst>
          </p:cNvPr>
          <p:cNvSpPr txBox="1"/>
          <p:nvPr/>
        </p:nvSpPr>
        <p:spPr>
          <a:xfrm>
            <a:off x="3405117" y="339763"/>
            <a:ext cx="2804615" cy="559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$bucket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bucketAuto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regexMatch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$text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$year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$month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$map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$filter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$reduce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geoNear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$function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$merge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$redact</a:t>
            </a: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</a:t>
            </a:r>
            <a:r>
              <a:rPr lang="en-US" sz="1600" dirty="0" err="1">
                <a:solidFill>
                  <a:srgbClr val="FFFF00"/>
                </a:solidFill>
              </a:rPr>
              <a:t>mini_report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 startAt="13"/>
            </a:pPr>
            <a:r>
              <a:rPr lang="en-US" sz="1600" dirty="0">
                <a:solidFill>
                  <a:srgbClr val="FFFF00"/>
                </a:solidFill>
              </a:rPr>
              <a:t>$out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BC2D9-3A64-97D9-FD71-0995AAF36C91}"/>
              </a:ext>
            </a:extLst>
          </p:cNvPr>
          <p:cNvSpPr txBox="1"/>
          <p:nvPr/>
        </p:nvSpPr>
        <p:spPr>
          <a:xfrm>
            <a:off x="5065595" y="1102578"/>
            <a:ext cx="484040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7: Special Searches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"Find me performers whose names start with 'C'!"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</a:t>
            </a:r>
            <a:r>
              <a:rPr lang="en-US" sz="800" b="1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regexMatch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🔤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(Like a word search puzzle!)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"Find anyone talking about elephants!"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$text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📝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(Search through all their stories!)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8: Time Travel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 circus traveled through time!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$year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📅 </a:t>
            </a: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(Show me performers from 2023!)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$month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🗓️ </a:t>
            </a: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(Who joined in December?)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9: Transforming Things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 ringmaster wanted to change the clown names: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$map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🗺️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(Make all their names uppercase!)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Filter out the smelly animals: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$filter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🦁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(Only keep the ones who had a bath!)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Make the elephants smaller: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$reduce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🐘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(Combine all their peanuts into one giant pile!)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10: Location and Special Powers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 circus got lost!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</a:t>
            </a:r>
            <a:r>
              <a:rPr lang="en-US" sz="800" b="1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geoNear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🧭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(Find the circus nearest to the big city!)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For magical transformations: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$function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✨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(Write a custom spell to turn clowns into magicians!)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11: The End of the Show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Time to combine with another circus: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$merge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🤝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(Put all our performers together!)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Hide the boring parts: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$redact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🤐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(Show only the exciting acts, hide the cleanup crew!)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Get a quick summary: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</a:t>
            </a:r>
            <a:r>
              <a:rPr lang="en-US" sz="800" b="1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mini_report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📋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(Just give me the highlights!)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And finally, when the show is over: </a:t>
            </a: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$out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🚪</a:t>
            </a: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(Save all the memories into a new collection!)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r>
              <a:rPr lang="en-US" sz="8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 END!</a:t>
            </a:r>
            <a:r>
              <a:rPr lang="en-US" sz="800" b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 🎉</a:t>
            </a:r>
          </a:p>
          <a:p>
            <a:pPr>
              <a:buNone/>
            </a:pP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Remember: every MongoDB command is like a circus act - they each do something special to help organize and transform your data circus!</a:t>
            </a:r>
            <a:endParaRPr lang="en-US" sz="800" b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sz="8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</a:br>
            <a:endParaRPr lang="en-US" sz="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EB822-7F4D-A61A-D72D-469A9C11F4E9}"/>
              </a:ext>
            </a:extLst>
          </p:cNvPr>
          <p:cNvSpPr txBox="1"/>
          <p:nvPr/>
        </p:nvSpPr>
        <p:spPr>
          <a:xfrm>
            <a:off x="245660" y="2890110"/>
            <a:ext cx="55682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Chapter 3: The Confusing Clown Car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A tiny clown car arrived with clowns popping out everywhere!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$unwind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🚗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(Let each clown come out one by one so we can see them!)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The ringmaster wanted to see what other circuses were doing: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$lookup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👀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(Go check the circus next door and bring back their acrobats!)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Chapter 4: Counting and Adding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"How many performers do we have?"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$count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🔢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(Just tell me the number!)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"Wait, I forgot to add something!"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</a:t>
            </a:r>
            <a:r>
              <a:rPr kumimoji="0" 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addFields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➕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(Give every clown a red nose!)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Chapter 5: Tricky Decisions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The ringmaster needed to make smart choices: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$expr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🧠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(Let me use complex expressions to find performers who can balance on one foot while juggling!)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For tough choices: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</a:t>
            </a:r>
            <a:r>
              <a:rPr kumimoji="0" 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cond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🤔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(If they can juggle fire, give them a helmet. If not, give them water!)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Chapter 6: Multiple Shows at Once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The circus had three rings!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$facet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🎪🎪🎪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(In one ring: group the clowns! In another: sort the acrobats! In another: count the animals!)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For organizing by skill level: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$bucket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📦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(Beginners in bucket 1, intermediates in bucket 2, experts in bucket 3!)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Even better: 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$</a:t>
            </a:r>
            <a:r>
              <a:rPr kumimoji="0" 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bucketAuto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! 🤖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</a:b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LnTx/>
                <a:uFillTx/>
                <a:latin typeface="quote-cjk-patch"/>
                <a:ea typeface="+mn-ea"/>
                <a:cs typeface="+mn-cs"/>
              </a:rPr>
              <a:t>(Let the computer decide how to group them fairly!)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uLnTx/>
              <a:uFillTx/>
              <a:latin typeface="quote-cjk-patch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E557C-8D6A-15A8-FA22-C9FE2740F184}"/>
              </a:ext>
            </a:extLst>
          </p:cNvPr>
          <p:cNvSpPr txBox="1"/>
          <p:nvPr/>
        </p:nvSpPr>
        <p:spPr>
          <a:xfrm>
            <a:off x="266132" y="195366"/>
            <a:ext cx="9464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solidFill>
                  <a:srgbClr val="FFFF00"/>
                </a:solidFill>
                <a:effectLst/>
                <a:latin typeface="quote-cjk-patch"/>
              </a:rPr>
              <a:t>The Great MongoDB Circus Adventure!</a:t>
            </a:r>
            <a:endParaRPr lang="en-US" sz="800" b="0" i="0" dirty="0">
              <a:solidFill>
                <a:srgbClr val="FFFF00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rgbClr val="FFFF00"/>
                </a:solidFill>
                <a:effectLst/>
                <a:latin typeface="quote-cjk-patch"/>
              </a:rPr>
              <a:t>Once upon a time, a silly circus troupe needed to organize their chaotic performers. Let's follow their adventure!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ED96A-26F8-38B8-36EC-D63B18BCB30D}"/>
              </a:ext>
            </a:extLst>
          </p:cNvPr>
          <p:cNvSpPr txBox="1"/>
          <p:nvPr/>
        </p:nvSpPr>
        <p:spPr>
          <a:xfrm>
            <a:off x="266132" y="748635"/>
            <a:ext cx="2995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1: Setting Up the Show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 ringmaster stood on stage and said: </a:t>
            </a: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$match</a:t>
            </a: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🎪</a:t>
            </a:r>
            <a:b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(Find me all the performers who can juggle!)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Then he looked at each performer and said: </a:t>
            </a: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$project</a:t>
            </a: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✨</a:t>
            </a:r>
            <a:b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(I only want to see their name and talent, nothing else!)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258B6-9EDF-A145-8DDF-51FDD8D02B20}"/>
              </a:ext>
            </a:extLst>
          </p:cNvPr>
          <p:cNvSpPr txBox="1"/>
          <p:nvPr/>
        </p:nvSpPr>
        <p:spPr>
          <a:xfrm>
            <a:off x="266132" y="1634911"/>
            <a:ext cx="34729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Chapter 2: Organizing the Chaos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All the clowns started running around wildly! The ringmaster shouted: </a:t>
            </a: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$group</a:t>
            </a: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🤡</a:t>
            </a:r>
            <a:b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(Put all the jugglers together, all the acrobats together!)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But there was too much noise! </a:t>
            </a: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$sort</a:t>
            </a: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🎯</a:t>
            </a:r>
            <a:b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(Line them up from shortest to tallest!)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Too many performers! </a:t>
            </a:r>
            <a:r>
              <a:rPr lang="en-US" sz="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$limit</a:t>
            </a:r>
            <a: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! ✋</a:t>
            </a:r>
            <a:br>
              <a:rPr lang="en-US" sz="800" b="0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</a:br>
            <a:r>
              <a:rPr lang="en-US" sz="800" b="0" i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quote-cjk-patch"/>
              </a:rPr>
              <a:t>(I only want to see the first 5!)</a:t>
            </a:r>
            <a:endParaRPr lang="en-US" sz="800" b="0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4649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B42FC-F611-38FE-D5DE-163035B1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168D79-E71D-7826-BD61-8F75EE7FB382}"/>
              </a:ext>
            </a:extLst>
          </p:cNvPr>
          <p:cNvSpPr txBox="1"/>
          <p:nvPr/>
        </p:nvSpPr>
        <p:spPr>
          <a:xfrm>
            <a:off x="4813057" y="633483"/>
            <a:ext cx="4954464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Goal: find products with a price greater than 100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4. Goal: find products from the brand "Apple"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5. Goal: find customers from "New York"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 York"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2DEAE-22F9-EAC1-E916-5940C06FF0A0}"/>
              </a:ext>
            </a:extLst>
          </p:cNvPr>
          <p:cNvSpPr txBox="1"/>
          <p:nvPr/>
        </p:nvSpPr>
        <p:spPr>
          <a:xfrm>
            <a:off x="243987" y="1032550"/>
            <a:ext cx="4954464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1. Goal: find all delivered orders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orders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aggregate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{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$match: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"delivered"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2. Goal: find all products that belong to the "Electronics" category.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products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aggregate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{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$match: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category: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"Electronics"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52C23-2E93-36C4-FEA1-6C513A5C7BAD}"/>
              </a:ext>
            </a:extLst>
          </p:cNvPr>
          <p:cNvSpPr txBox="1"/>
          <p:nvPr/>
        </p:nvSpPr>
        <p:spPr>
          <a:xfrm>
            <a:off x="566644" y="34290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1. $match</a:t>
            </a:r>
          </a:p>
        </p:txBody>
      </p:sp>
    </p:spTree>
    <p:extLst>
      <p:ext uri="{BB962C8B-B14F-4D97-AF65-F5344CB8AC3E}">
        <p14:creationId xmlns:p14="http://schemas.microsoft.com/office/powerpoint/2010/main" val="3799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1620F3-4C58-2AF8-8874-A2DABFF01266}"/>
              </a:ext>
            </a:extLst>
          </p:cNvPr>
          <p:cNvSpPr txBox="1"/>
          <p:nvPr/>
        </p:nvSpPr>
        <p:spPr>
          <a:xfrm>
            <a:off x="195942" y="578337"/>
            <a:ext cx="7158447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Goal: Show only the name, price, and category fields from the products collection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({},{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Goal: Show all fields from the products collection except for description.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Goal: Add a new field </a:t>
            </a:r>
            <a:r>
              <a:rPr 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totalPrice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that is the product of price and stock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({},{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totalPrice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$multiply: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price"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"$stock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]}})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totalPrice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$multiply: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"$price"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"$stock"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8685C-1E87-C8B7-F103-42B4849C98E6}"/>
              </a:ext>
            </a:extLst>
          </p:cNvPr>
          <p:cNvSpPr txBox="1"/>
          <p:nvPr/>
        </p:nvSpPr>
        <p:spPr>
          <a:xfrm>
            <a:off x="195942" y="209005"/>
            <a:ext cx="124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2. $project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9598D-7684-AD23-CC7A-44562E5EB0B3}"/>
              </a:ext>
            </a:extLst>
          </p:cNvPr>
          <p:cNvSpPr txBox="1"/>
          <p:nvPr/>
        </p:nvSpPr>
        <p:spPr>
          <a:xfrm>
            <a:off x="605246" y="689147"/>
            <a:ext cx="9300754" cy="5479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4. Goal: Show the city and coordinates from the location field in the products collection.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location.city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location.coordinates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5. Goal: Rename the name field to </a:t>
            </a:r>
            <a:r>
              <a:rPr lang="en-US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price field to </a:t>
            </a:r>
            <a:r>
              <a:rPr lang="en-US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({},{</a:t>
            </a:r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			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					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"$name"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					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"$price“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				 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"$name"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productPrice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"$price"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F16BA-5633-FE26-EF4E-8A3D4E87C59D}"/>
              </a:ext>
            </a:extLst>
          </p:cNvPr>
          <p:cNvSpPr txBox="1"/>
          <p:nvPr/>
        </p:nvSpPr>
        <p:spPr>
          <a:xfrm>
            <a:off x="195942" y="209005"/>
            <a:ext cx="124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2. $project</a:t>
            </a: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23E1AD-C613-C352-F4D4-C961A47907BC}"/>
              </a:ext>
            </a:extLst>
          </p:cNvPr>
          <p:cNvSpPr txBox="1"/>
          <p:nvPr/>
        </p:nvSpPr>
        <p:spPr>
          <a:xfrm>
            <a:off x="195942" y="209005"/>
            <a:ext cx="111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3. $group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6BE29-72AB-4463-DA88-A0984BDC246C}"/>
              </a:ext>
            </a:extLst>
          </p:cNvPr>
          <p:cNvSpPr txBox="1"/>
          <p:nvPr/>
        </p:nvSpPr>
        <p:spPr>
          <a:xfrm>
            <a:off x="511467" y="461910"/>
            <a:ext cx="9198591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Goal: Count how many orders are in each status (e.g., pending, shipped, delivered, etc.):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"$status"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totalOrders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Explanation: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_id as the grouping key ($status)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$sum: 1 counts documents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Goal: Find the average price of products in each category: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"$category"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avgPrice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$avg: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"$price"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$avg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grouping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$category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5BA50-5CE2-B510-B940-422247C0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CCD3C-2CBD-9D73-1600-DC49AAD707AC}"/>
              </a:ext>
            </a:extLst>
          </p:cNvPr>
          <p:cNvSpPr txBox="1"/>
          <p:nvPr/>
        </p:nvSpPr>
        <p:spPr>
          <a:xfrm>
            <a:off x="195942" y="209005"/>
            <a:ext cx="87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F7474-693B-3B3F-5D33-38943354715B}"/>
              </a:ext>
            </a:extLst>
          </p:cNvPr>
          <p:cNvSpPr txBox="1"/>
          <p:nvPr/>
        </p:nvSpPr>
        <p:spPr>
          <a:xfrm>
            <a:off x="1814828" y="323470"/>
            <a:ext cx="7895230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"$brand"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totalStock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"$stock"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summing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grouping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$brand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"$gender"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summing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27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EBF35-996E-36BD-0B7D-C7CD8996BDE7}"/>
              </a:ext>
            </a:extLst>
          </p:cNvPr>
          <p:cNvSpPr txBox="1"/>
          <p:nvPr/>
        </p:nvSpPr>
        <p:spPr>
          <a:xfrm>
            <a:off x="195942" y="209005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$sort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30A7A-6BD8-AD00-DDF5-1EBE6B03731D}"/>
              </a:ext>
            </a:extLst>
          </p:cNvPr>
          <p:cNvSpPr txBox="1"/>
          <p:nvPr/>
        </p:nvSpPr>
        <p:spPr>
          <a:xfrm>
            <a:off x="682387" y="720254"/>
            <a:ext cx="9054965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lowest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highest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Explanation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indicates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indicates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oldest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youngest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70E5-B6FB-9DD3-C689-E251E8E7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13551-E6A8-B821-BC3D-85CD9A427BAF}"/>
              </a:ext>
            </a:extLst>
          </p:cNvPr>
          <p:cNvSpPr txBox="1"/>
          <p:nvPr/>
        </p:nvSpPr>
        <p:spPr>
          <a:xfrm>
            <a:off x="195942" y="20900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$limit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F5110-6D75-8EA6-30C2-6A540905DB39}"/>
              </a:ext>
            </a:extLst>
          </p:cNvPr>
          <p:cNvSpPr txBox="1"/>
          <p:nvPr/>
        </p:nvSpPr>
        <p:spPr>
          <a:xfrm>
            <a:off x="391885" y="779557"/>
            <a:ext cx="9514115" cy="529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esult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$limit: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specific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ObjectId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"6803bdd49ba84be395582703"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$limit: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registered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recently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registeredAt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$limit: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expensive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$limit: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6421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ECCB7-445E-D6A1-3E71-F17C462B0419}"/>
              </a:ext>
            </a:extLst>
          </p:cNvPr>
          <p:cNvSpPr txBox="1"/>
          <p:nvPr/>
        </p:nvSpPr>
        <p:spPr>
          <a:xfrm>
            <a:off x="195942" y="209005"/>
            <a:ext cx="103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$unwind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28D5F-9B99-E81D-27C8-2BA58907FC44}"/>
              </a:ext>
            </a:extLst>
          </p:cNvPr>
          <p:cNvSpPr txBox="1"/>
          <p:nvPr/>
        </p:nvSpPr>
        <p:spPr>
          <a:xfrm>
            <a:off x="195942" y="859747"/>
            <a:ext cx="9905999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?     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deconstruct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becomes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own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aggregation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own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$unwind: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"$reviews"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Explanation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Deconstructs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becomes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separate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vikram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$unwind: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"$reviews"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"reviews.user"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vikram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exist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$unwind: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"$reviews"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reviews.rating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Explanation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Combine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$unwind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analytics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Perfect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distribution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charts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A246-BAD4-FF1C-5234-D0ED9E5B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9C5B8E-C3C3-0123-7665-EF2FB4F9F662}"/>
              </a:ext>
            </a:extLst>
          </p:cNvPr>
          <p:cNvSpPr txBox="1"/>
          <p:nvPr/>
        </p:nvSpPr>
        <p:spPr>
          <a:xfrm>
            <a:off x="195942" y="209005"/>
            <a:ext cx="98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$lookup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267E8-5516-AD28-364F-5977CD2ADA3C}"/>
              </a:ext>
            </a:extLst>
          </p:cNvPr>
          <p:cNvSpPr txBox="1"/>
          <p:nvPr/>
        </p:nvSpPr>
        <p:spPr>
          <a:xfrm>
            <a:off x="1023581" y="150538"/>
            <a:ext cx="9220355" cy="655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"JOIN"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brings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related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together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different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details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$lookup: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cutomer_details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joining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will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information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their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history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$lookup: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"orders"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orderHistory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$lookup: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"donations"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donationHistory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joins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along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their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941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13C3-DD17-657E-9AC6-3C43085D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D77E6-1F3C-2528-CFB2-54D65FFFFAB6}"/>
              </a:ext>
            </a:extLst>
          </p:cNvPr>
          <p:cNvSpPr txBox="1"/>
          <p:nvPr/>
        </p:nvSpPr>
        <p:spPr>
          <a:xfrm>
            <a:off x="195942" y="209005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C84B6-022D-BDB8-CEBA-BF1C18D3DCF5}"/>
              </a:ext>
            </a:extLst>
          </p:cNvPr>
          <p:cNvSpPr txBox="1"/>
          <p:nvPr/>
        </p:nvSpPr>
        <p:spPr>
          <a:xfrm>
            <a:off x="1082723" y="807830"/>
            <a:ext cx="8143164" cy="297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pending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"pending"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pendingOrdersCount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York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 York"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$count: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NewYorkCustCount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91343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D228-E369-ABE6-14FF-4D22C517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B38631-CE75-582D-301D-E235873A43A9}"/>
              </a:ext>
            </a:extLst>
          </p:cNvPr>
          <p:cNvSpPr txBox="1"/>
          <p:nvPr/>
        </p:nvSpPr>
        <p:spPr>
          <a:xfrm>
            <a:off x="195942" y="209005"/>
            <a:ext cx="1287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addFields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984AD-2EA1-3556-46A4-AF9C6AE42852}"/>
              </a:ext>
            </a:extLst>
          </p:cNvPr>
          <p:cNvSpPr txBox="1"/>
          <p:nvPr/>
        </p:nvSpPr>
        <p:spPr>
          <a:xfrm>
            <a:off x="2477069" y="2301782"/>
            <a:ext cx="4954136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tax: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$multiply: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"$total"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640053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5FA0-1AEC-F2EB-EE77-1D22636C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9B708-F02F-05E7-1D03-82221C47C34A}"/>
              </a:ext>
            </a:extLst>
          </p:cNvPr>
          <p:cNvSpPr txBox="1"/>
          <p:nvPr/>
        </p:nvSpPr>
        <p:spPr>
          <a:xfrm>
            <a:off x="195942" y="209005"/>
            <a:ext cx="7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$expr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2801D-53D1-8910-96A5-8C5596C369B1}"/>
              </a:ext>
            </a:extLst>
          </p:cNvPr>
          <p:cNvSpPr txBox="1"/>
          <p:nvPr/>
        </p:nvSpPr>
        <p:spPr>
          <a:xfrm>
            <a:off x="368488" y="816667"/>
            <a:ext cx="9103057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$500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$expr: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"$total"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above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-to-value comparison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years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$expr: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"$age"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whose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$expr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constant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comparison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3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918A-F94C-E4EC-7A4F-9335D24A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DAEF38-1D13-71E6-256F-CCE23B34F673}"/>
              </a:ext>
            </a:extLst>
          </p:cNvPr>
          <p:cNvSpPr txBox="1"/>
          <p:nvPr/>
        </p:nvSpPr>
        <p:spPr>
          <a:xfrm>
            <a:off x="195942" y="20900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cond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20430-F8BF-909B-D93A-2BC2505A4EC8}"/>
              </a:ext>
            </a:extLst>
          </p:cNvPr>
          <p:cNvSpPr txBox="1"/>
          <p:nvPr/>
        </p:nvSpPr>
        <p:spPr>
          <a:xfrm>
            <a:off x="614148" y="865492"/>
            <a:ext cx="8871045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tagged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"senior"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≥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ageGroup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"$age"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"senior"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classifies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"senior"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groups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05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D7C7-B9FC-85EA-F65B-2B272869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1BADB-7FBE-8623-08DA-369830BA42E7}"/>
              </a:ext>
            </a:extLst>
          </p:cNvPr>
          <p:cNvSpPr txBox="1"/>
          <p:nvPr/>
        </p:nvSpPr>
        <p:spPr>
          <a:xfrm>
            <a:off x="195942" y="20900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cond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D2FA6-A9BC-0DFE-910B-222DE1107CCE}"/>
              </a:ext>
            </a:extLst>
          </p:cNvPr>
          <p:cNvSpPr txBox="1"/>
          <p:nvPr/>
        </p:nvSpPr>
        <p:spPr>
          <a:xfrm>
            <a:off x="195942" y="685955"/>
            <a:ext cx="9439377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Dynamically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≥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“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"$stock"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 Stock"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"Low Stock"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Explaination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Dynamically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conditions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tagging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flagging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 Stock"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"Low Stock"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77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0834-4E99-5ECB-9077-9C0591B0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45419-43F5-20FA-620A-E382DF2EAD0F}"/>
              </a:ext>
            </a:extLst>
          </p:cNvPr>
          <p:cNvSpPr txBox="1"/>
          <p:nvPr/>
        </p:nvSpPr>
        <p:spPr>
          <a:xfrm>
            <a:off x="195942" y="209005"/>
            <a:ext cx="81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$facet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5DB8D-16C7-DA88-3241-5B09CC104A9E}"/>
              </a:ext>
            </a:extLst>
          </p:cNvPr>
          <p:cNvSpPr txBox="1"/>
          <p:nvPr/>
        </p:nvSpPr>
        <p:spPr>
          <a:xfrm>
            <a:off x="1146412" y="57578"/>
            <a:ext cx="8759587" cy="585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allows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aggregation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operations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single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analyses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together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pagination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$facet: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statusCounts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"$status"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$sort: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$skip: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$limit: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761149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B5E4-685C-9E8C-FA62-01D8A1A6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62730-421C-C60E-A67F-785CEEF314EE}"/>
              </a:ext>
            </a:extLst>
          </p:cNvPr>
          <p:cNvSpPr txBox="1"/>
          <p:nvPr/>
        </p:nvSpPr>
        <p:spPr>
          <a:xfrm>
            <a:off x="195942" y="209005"/>
            <a:ext cx="81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$facet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851C5A-4013-90B8-4C63-335265A9320E}"/>
              </a:ext>
            </a:extLst>
          </p:cNvPr>
          <p:cNvSpPr txBox="1"/>
          <p:nvPr/>
        </p:nvSpPr>
        <p:spPr>
          <a:xfrm>
            <a:off x="777924" y="841266"/>
            <a:ext cx="8816452" cy="549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statusCounts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fetches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categories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Scenario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cheap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moderate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expensive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$facet: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cheap: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moderate: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expensive: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926400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E19BD-34CA-D7C4-95DE-DDFE25D7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527A4-CE1A-5B28-A1E6-960DF209FC16}"/>
              </a:ext>
            </a:extLst>
          </p:cNvPr>
          <p:cNvSpPr txBox="1"/>
          <p:nvPr/>
        </p:nvSpPr>
        <p:spPr>
          <a:xfrm>
            <a:off x="195942" y="209005"/>
            <a:ext cx="99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$bucket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CBF0E-B27E-484C-92AF-5873A7F05A21}"/>
              </a:ext>
            </a:extLst>
          </p:cNvPr>
          <p:cNvSpPr txBox="1"/>
          <p:nvPr/>
        </p:nvSpPr>
        <p:spPr>
          <a:xfrm>
            <a:off x="491319" y="955260"/>
            <a:ext cx="8952932" cy="387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$bucket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boundaries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manually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Think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 know the ranges I want — group documents into specific buckets I define."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Manually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brackets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$bucket: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"$age"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 to group by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boundaries: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Must be sorted, defines ranges: 18–29, 30–39, etc.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"Other"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If value doesn't fit in any boundary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totalCustomers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232769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DE78-D402-D72A-1C2A-5F2C1949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A1967A-226A-5D70-D3F9-619CB83724EF}"/>
              </a:ext>
            </a:extLst>
          </p:cNvPr>
          <p:cNvSpPr txBox="1"/>
          <p:nvPr/>
        </p:nvSpPr>
        <p:spPr>
          <a:xfrm>
            <a:off x="195942" y="209005"/>
            <a:ext cx="145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bucketAuto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66B95-B345-67F5-94F6-0700594A06DF}"/>
              </a:ext>
            </a:extLst>
          </p:cNvPr>
          <p:cNvSpPr txBox="1"/>
          <p:nvPr/>
        </p:nvSpPr>
        <p:spPr>
          <a:xfrm>
            <a:off x="195942" y="646941"/>
            <a:ext cx="9291851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bucketAuto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decide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ranges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Think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"Automatically group documents into evenly sized groups based on values."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buckets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bucketAuto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"$age"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Field to group by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Number of buckets you want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totalCustomers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$bucket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bucketAuto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 the Difference</a:t>
            </a:r>
            <a:r>
              <a:rPr lang="en-U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?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|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  |  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chooses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  |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$bucket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| ✅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        ❌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    ❌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guaranteed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bucketAuto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| ❌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         ✅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   ✅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balance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calculates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distribute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460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21F1-0209-D548-F29E-65037D6DA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63BEF8-A266-ACE7-192B-1CB478DE0625}"/>
              </a:ext>
            </a:extLst>
          </p:cNvPr>
          <p:cNvSpPr txBox="1"/>
          <p:nvPr/>
        </p:nvSpPr>
        <p:spPr>
          <a:xfrm>
            <a:off x="195942" y="209005"/>
            <a:ext cx="1462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regexMatch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AEA89-4078-6C66-84B9-FB1A752774D1}"/>
              </a:ext>
            </a:extLst>
          </p:cNvPr>
          <p:cNvSpPr txBox="1"/>
          <p:nvPr/>
        </p:nvSpPr>
        <p:spPr>
          <a:xfrm>
            <a:off x="511791" y="991597"/>
            <a:ext cx="6039134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“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$regex: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"great"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$options: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399615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FC711-1208-1693-B617-8575A093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A7E8F-A08C-B42B-CB6F-60272251C4E0}"/>
              </a:ext>
            </a:extLst>
          </p:cNvPr>
          <p:cNvSpPr txBox="1"/>
          <p:nvPr/>
        </p:nvSpPr>
        <p:spPr>
          <a:xfrm>
            <a:off x="195942" y="209005"/>
            <a:ext cx="67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12A35-08DD-6C99-DB50-DAA244FE8F72}"/>
              </a:ext>
            </a:extLst>
          </p:cNvPr>
          <p:cNvSpPr txBox="1"/>
          <p:nvPr/>
        </p:nvSpPr>
        <p:spPr>
          <a:xfrm>
            <a:off x="195942" y="988204"/>
            <a:ext cx="6994477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“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electronics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”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$text: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$search: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"electronics"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769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374A-0FE5-2856-0307-568B25AC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59D4D7-3E76-2A40-C4FC-CB6FC27DE3D8}"/>
              </a:ext>
            </a:extLst>
          </p:cNvPr>
          <p:cNvSpPr txBox="1"/>
          <p:nvPr/>
        </p:nvSpPr>
        <p:spPr>
          <a:xfrm>
            <a:off x="195942" y="209005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$year    $month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D2A5C-E104-CF9A-CDF4-0E6AD6AA4CD8}"/>
              </a:ext>
            </a:extLst>
          </p:cNvPr>
          <p:cNvSpPr txBox="1"/>
          <p:nvPr/>
        </p:nvSpPr>
        <p:spPr>
          <a:xfrm>
            <a:off x="545911" y="973719"/>
            <a:ext cx="6898942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$year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$month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sales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report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$group: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year: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$year: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$month: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totalSales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"$total"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788727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49EC-2DB3-12BB-D082-03C22DEF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BDF4C-F11A-DC8D-0947-3597473106FC}"/>
              </a:ext>
            </a:extLst>
          </p:cNvPr>
          <p:cNvSpPr txBox="1"/>
          <p:nvPr/>
        </p:nvSpPr>
        <p:spPr>
          <a:xfrm>
            <a:off x="195942" y="209005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5A908-8BF7-B886-B59A-85A148E13EA9}"/>
              </a:ext>
            </a:extLst>
          </p:cNvPr>
          <p:cNvSpPr txBox="1"/>
          <p:nvPr/>
        </p:nvSpPr>
        <p:spPr>
          <a:xfrm>
            <a:off x="1151286" y="143934"/>
            <a:ext cx="10176356" cy="657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1234324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},&lt;--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3423423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&lt;--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-&gt;  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productsAfterOffer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quantityAfterOffer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$map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productBeforeOffer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"$products"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productsAfterOffer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$map: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"$products"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product.productId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quantityAfterOffer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$multiply :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product.quantity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}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63538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3FF0C-E747-CD69-BC49-9589CF3F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68EEB-7B26-A383-922C-CCCE4FF6E5C4}"/>
              </a:ext>
            </a:extLst>
          </p:cNvPr>
          <p:cNvSpPr txBox="1"/>
          <p:nvPr/>
        </p:nvSpPr>
        <p:spPr>
          <a:xfrm>
            <a:off x="195942" y="209005"/>
            <a:ext cx="7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$filter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B0E55-F247-804E-F1C9-1658CC1F2603}"/>
              </a:ext>
            </a:extLst>
          </p:cNvPr>
          <p:cNvSpPr txBox="1"/>
          <p:nvPr/>
        </p:nvSpPr>
        <p:spPr>
          <a:xfrm>
            <a:off x="959741" y="0"/>
            <a:ext cx="9054965" cy="7108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considering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1234324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 --&gt;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hence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removed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3423423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--&gt;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productsAfterFilter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productsAfterFilter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productsBeforeFilter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"$products"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productsAfterFilter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$filter: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"$products"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product.quantity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07603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BF94-22BF-6C3C-454F-6A6CB61B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D68B5-6D41-EF0F-8ABE-4FD58332AC23}"/>
              </a:ext>
            </a:extLst>
          </p:cNvPr>
          <p:cNvSpPr txBox="1"/>
          <p:nvPr/>
        </p:nvSpPr>
        <p:spPr>
          <a:xfrm>
            <a:off x="195942" y="209005"/>
            <a:ext cx="100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$reduce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7449C-F76E-C62C-6575-3A6ABBD85B95}"/>
              </a:ext>
            </a:extLst>
          </p:cNvPr>
          <p:cNvSpPr txBox="1"/>
          <p:nvPr/>
        </p:nvSpPr>
        <p:spPr>
          <a:xfrm>
            <a:off x="282216" y="976545"/>
            <a:ext cx="9341568" cy="567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1234324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3423423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"quantity"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prevReturnVal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prevReturnVal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totalQuantity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Mongo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totalQuantity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$reduce: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"$products"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initialValue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$add: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"$$value"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this.quantity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122639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1B88-3029-6FD2-FDBF-D8F417B1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B1A79-DCF9-9566-D4A3-3C94E7BC193A}"/>
              </a:ext>
            </a:extLst>
          </p:cNvPr>
          <p:cNvSpPr txBox="1"/>
          <p:nvPr/>
        </p:nvSpPr>
        <p:spPr>
          <a:xfrm>
            <a:off x="195942" y="209005"/>
            <a:ext cx="115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geoNear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DCD01-B4DF-BD47-77E7-54D397C4F4EF}"/>
              </a:ext>
            </a:extLst>
          </p:cNvPr>
          <p:cNvSpPr txBox="1"/>
          <p:nvPr/>
        </p:nvSpPr>
        <p:spPr>
          <a:xfrm>
            <a:off x="382137" y="808667"/>
            <a:ext cx="6748817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York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geoNear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"Point"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95.3698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29.7604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distanceField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"distance"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spherical: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maxDistance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 meters (500 km)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711206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BBEB-AB38-B924-370A-C7C77325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584F7-C6CF-5548-E2A8-8C054BF61FCF}"/>
              </a:ext>
            </a:extLst>
          </p:cNvPr>
          <p:cNvSpPr txBox="1"/>
          <p:nvPr/>
        </p:nvSpPr>
        <p:spPr>
          <a:xfrm>
            <a:off x="195942" y="2090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7826E-BC66-DFD4-AB63-F880CA6D28FC}"/>
              </a:ext>
            </a:extLst>
          </p:cNvPr>
          <p:cNvSpPr txBox="1"/>
          <p:nvPr/>
        </p:nvSpPr>
        <p:spPr>
          <a:xfrm>
            <a:off x="764366" y="1098084"/>
            <a:ext cx="6919323" cy="369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logic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lowStock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$function: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"$stock"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8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85199A-1CBC-8F19-D93A-6CBC20A35A69}"/>
              </a:ext>
            </a:extLst>
          </p:cNvPr>
          <p:cNvSpPr txBox="1"/>
          <p:nvPr/>
        </p:nvSpPr>
        <p:spPr>
          <a:xfrm>
            <a:off x="812042" y="1475035"/>
            <a:ext cx="4954136" cy="244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replaceRoot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replaces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subdocument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replaceRoot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newRoot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"$location"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2BA38-261D-939C-50F3-D5E1F4B9DB0B}"/>
              </a:ext>
            </a:extLst>
          </p:cNvPr>
          <p:cNvSpPr txBox="1"/>
          <p:nvPr/>
        </p:nvSpPr>
        <p:spPr>
          <a:xfrm>
            <a:off x="211541" y="204295"/>
            <a:ext cx="495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replaceRoot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D9A8AC-52E7-EE7A-8E4D-6248EB6EE2EA}"/>
              </a:ext>
            </a:extLst>
          </p:cNvPr>
          <p:cNvSpPr txBox="1"/>
          <p:nvPr/>
        </p:nvSpPr>
        <p:spPr>
          <a:xfrm>
            <a:off x="225188" y="204294"/>
            <a:ext cx="934872" cy="382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$merge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C918E-235A-ED98-F87D-CFF467338505}"/>
              </a:ext>
            </a:extLst>
          </p:cNvPr>
          <p:cNvSpPr txBox="1"/>
          <p:nvPr/>
        </p:nvSpPr>
        <p:spPr>
          <a:xfrm>
            <a:off x="692624" y="884531"/>
            <a:ext cx="4954136" cy="190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"delivered"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$merge: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alreadyDeliveredOrders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E7122-FD7F-88C8-DB9A-F495DD14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324D7-665F-798A-15DD-246169FE9BC8}"/>
              </a:ext>
            </a:extLst>
          </p:cNvPr>
          <p:cNvSpPr txBox="1"/>
          <p:nvPr/>
        </p:nvSpPr>
        <p:spPr>
          <a:xfrm>
            <a:off x="225187" y="204294"/>
            <a:ext cx="4510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$redact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F57F1-7714-7CC1-4562-E8FACC2795A5}"/>
              </a:ext>
            </a:extLst>
          </p:cNvPr>
          <p:cNvSpPr txBox="1"/>
          <p:nvPr/>
        </p:nvSpPr>
        <p:spPr>
          <a:xfrm>
            <a:off x="225186" y="955260"/>
            <a:ext cx="9246359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above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$redact: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if: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$avg: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reviews.rating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]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"$$KEEP"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else: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"$$PRUNE"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Explanation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 reviews is 4 or more, we keep the whole product document</a:t>
            </a:r>
            <a:r>
              <a:rPr lang="en-U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Otherwise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prune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entirely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189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6906-632F-58C1-DA41-59779211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86B7CC-447F-4F0B-7F64-1E0072CF1055}"/>
              </a:ext>
            </a:extLst>
          </p:cNvPr>
          <p:cNvSpPr txBox="1"/>
          <p:nvPr/>
        </p:nvSpPr>
        <p:spPr>
          <a:xfrm>
            <a:off x="0" y="0"/>
            <a:ext cx="1999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dirty="0" err="1">
                <a:solidFill>
                  <a:srgbClr val="FFFF00"/>
                </a:solidFill>
              </a:rPr>
              <a:t>mini_report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12E80-9E70-3C73-C071-A790462C2DCF}"/>
              </a:ext>
            </a:extLst>
          </p:cNvPr>
          <p:cNvSpPr txBox="1"/>
          <p:nvPr/>
        </p:nvSpPr>
        <p:spPr>
          <a:xfrm>
            <a:off x="116005" y="375416"/>
            <a:ext cx="4954136" cy="653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Mini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Report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Summary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✅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--&gt;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$project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🛒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--&gt; 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💰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--&gt;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📊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--&gt;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📅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--&gt;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orderDate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🏅 </a:t>
            </a:r>
            <a:r>
              <a:rPr lang="en-US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VIP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--&gt;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--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Gold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≥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$2000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Silver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≥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$1000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Bronze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≥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$500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Regular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$500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$lookup: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"orders"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localField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"_id"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foreignField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"orders"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addFields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totalOrders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$size: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"$orders"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totalSpent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orders.total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avgOrderValue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$size: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"$orders"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$divide: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$sum: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orders.total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$size: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"$orders"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}]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lastOrderDate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$max: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orders.orderDate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D7110-3539-F445-904C-22FF35498164}"/>
              </a:ext>
            </a:extLst>
          </p:cNvPr>
          <p:cNvSpPr txBox="1"/>
          <p:nvPr/>
        </p:nvSpPr>
        <p:spPr>
          <a:xfrm>
            <a:off x="3116242" y="369332"/>
            <a:ext cx="4954136" cy="4382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addFields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vipLevel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$switch: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branches: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totalSpent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"Gold"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totalSpent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"Silver"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case: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gte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n-US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totalSpent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then: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"Bronze"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],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default: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"Regular"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94F3F-224C-0654-54DF-86C057D3F6E7}"/>
              </a:ext>
            </a:extLst>
          </p:cNvPr>
          <p:cNvSpPr txBox="1"/>
          <p:nvPr/>
        </p:nvSpPr>
        <p:spPr>
          <a:xfrm>
            <a:off x="6089183" y="3429000"/>
            <a:ext cx="4981432" cy="294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$project: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_id: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email: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totalOrders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totalSpent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$round: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"$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totalSpent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},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avgOrderValue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$round: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"$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avgOrderValue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},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lastOrderDate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vipLevel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},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{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$sort: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totalSpent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-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577217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8DF82-DD43-1D81-A18B-EEBC2F87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91EB8-4402-605C-3AFF-C5FD26CADB47}"/>
              </a:ext>
            </a:extLst>
          </p:cNvPr>
          <p:cNvSpPr txBox="1"/>
          <p:nvPr/>
        </p:nvSpPr>
        <p:spPr>
          <a:xfrm>
            <a:off x="225188" y="204294"/>
            <a:ext cx="934872" cy="382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$out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CE55B-ACCF-15C8-BB17-C14C279C1925}"/>
              </a:ext>
            </a:extLst>
          </p:cNvPr>
          <p:cNvSpPr txBox="1"/>
          <p:nvPr/>
        </p:nvSpPr>
        <p:spPr>
          <a:xfrm>
            <a:off x="812041" y="927589"/>
            <a:ext cx="7267433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delivered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$match: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"delivered"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$out: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alreadyDeliveredOrders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48928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B3F4-E082-9A41-836C-A242E75F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8D0394-ED1E-CDD0-E94C-BCB58E6D6CE4}"/>
              </a:ext>
            </a:extLst>
          </p:cNvPr>
          <p:cNvSpPr txBox="1"/>
          <p:nvPr/>
        </p:nvSpPr>
        <p:spPr>
          <a:xfrm>
            <a:off x="225188" y="204294"/>
            <a:ext cx="9260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What is find?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What is aggregation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How to connect data?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What is MongoDB?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FFFF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568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DEB9-46AA-1BA6-7E9E-BBAB9412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3D0E83-1A8B-7039-4499-3B5F394390B3}"/>
              </a:ext>
            </a:extLst>
          </p:cNvPr>
          <p:cNvSpPr txBox="1"/>
          <p:nvPr/>
        </p:nvSpPr>
        <p:spPr>
          <a:xfrm>
            <a:off x="225188" y="204294"/>
            <a:ext cx="115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Script.js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0BDFB-4523-A847-B526-D6E1B43060EC}"/>
              </a:ext>
            </a:extLst>
          </p:cNvPr>
          <p:cNvSpPr txBox="1"/>
          <p:nvPr/>
        </p:nvSpPr>
        <p:spPr>
          <a:xfrm>
            <a:off x="225188" y="726523"/>
            <a:ext cx="4954136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DATABASE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getSiblingDB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"ecommerce"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Clean old data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B9E453-B819-EA16-99A3-8A3E07117B5B}"/>
              </a:ext>
            </a:extLst>
          </p:cNvPr>
          <p:cNvSpPr txBox="1"/>
          <p:nvPr/>
        </p:nvSpPr>
        <p:spPr>
          <a:xfrm>
            <a:off x="0" y="3331986"/>
            <a:ext cx="4954136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HELPER FUNCTIONS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*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+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D3339-1A13-7549-9706-CFC539F0EFD6}"/>
              </a:ext>
            </a:extLst>
          </p:cNvPr>
          <p:cNvSpPr txBox="1"/>
          <p:nvPr/>
        </p:nvSpPr>
        <p:spPr>
          <a:xfrm>
            <a:off x="4726676" y="388960"/>
            <a:ext cx="5179324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MASTER DATA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categories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Electronics"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"Books"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"Clothing"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"Toys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brands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Apple"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"Samsung"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"Sony"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"Logitech"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"Nike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genders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male"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York"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74.0060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40.7128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"Los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Angeles"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118.2437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34.0522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"Chicago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87.6298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41.8781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"Houston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95.3698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29.7604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]},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"Phoenix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112.0740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33.4484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]}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reviewUsers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vikram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emma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raj"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"sara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orderStatuses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pending"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"shipped"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"delivered"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"cancelled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6662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8DFD-F42A-AAD9-9ACC-994E5F151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96C2CF-0DEE-B405-6AA1-FEECDA307649}"/>
              </a:ext>
            </a:extLst>
          </p:cNvPr>
          <p:cNvSpPr txBox="1"/>
          <p:nvPr/>
        </p:nvSpPr>
        <p:spPr>
          <a:xfrm>
            <a:off x="225188" y="204294"/>
            <a:ext cx="115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Script.js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D8BD0-2896-3F91-FC2C-417BA2F2024B}"/>
              </a:ext>
            </a:extLst>
          </p:cNvPr>
          <p:cNvSpPr txBox="1"/>
          <p:nvPr/>
        </p:nvSpPr>
        <p:spPr>
          <a:xfrm>
            <a:off x="102358" y="573626"/>
            <a:ext cx="4954136" cy="495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PRODUCTS COLLECTION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cityObj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reviewUsers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rating: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comment: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"This is a great product"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AF64B-DCF9-0969-B711-0BE0FCC7C53B}"/>
              </a:ext>
            </a:extLst>
          </p:cNvPr>
          <p:cNvSpPr txBox="1"/>
          <p:nvPr/>
        </p:nvSpPr>
        <p:spPr>
          <a:xfrm>
            <a:off x="4951864" y="932699"/>
            <a:ext cx="4954136" cy="549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"This is a great electronics product with premium quality"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categories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brands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stock: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cityObj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"Point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cityObj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coordinates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reviews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04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AC98-3E40-A9DC-DB2B-760FC866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B9FC75-5DB3-E98C-5F17-17E87D994BD7}"/>
              </a:ext>
            </a:extLst>
          </p:cNvPr>
          <p:cNvSpPr txBox="1"/>
          <p:nvPr/>
        </p:nvSpPr>
        <p:spPr>
          <a:xfrm>
            <a:off x="225188" y="204294"/>
            <a:ext cx="115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Script.js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3FCE0-F6C7-AE4C-B932-4C00A0A8A379}"/>
              </a:ext>
            </a:extLst>
          </p:cNvPr>
          <p:cNvSpPr txBox="1"/>
          <p:nvPr/>
        </p:nvSpPr>
        <p:spPr>
          <a:xfrm>
            <a:off x="0" y="592775"/>
            <a:ext cx="4954136" cy="567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CUSTOMERS COLLECTION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cityObj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"@mail.com"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gender: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genders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cityObj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registeredAt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9961C-33E4-29C3-4738-0E40D3B73E8D}"/>
              </a:ext>
            </a:extLst>
          </p:cNvPr>
          <p:cNvSpPr txBox="1"/>
          <p:nvPr/>
        </p:nvSpPr>
        <p:spPr>
          <a:xfrm>
            <a:off x="4924568" y="1060790"/>
            <a:ext cx="4981432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DONATIONS COLLECTION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donatedAt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donations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5449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5F97-6087-0485-EE07-3B11B3DE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B2FA07-23A0-E3D3-B717-F6FBE12CFB4A}"/>
              </a:ext>
            </a:extLst>
          </p:cNvPr>
          <p:cNvSpPr txBox="1"/>
          <p:nvPr/>
        </p:nvSpPr>
        <p:spPr>
          <a:xfrm>
            <a:off x="225188" y="204294"/>
            <a:ext cx="115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Script.js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48E44-52AE-D7FF-8C5C-1DD9CB1DBCCA}"/>
              </a:ext>
            </a:extLst>
          </p:cNvPr>
          <p:cNvSpPr txBox="1"/>
          <p:nvPr/>
        </p:nvSpPr>
        <p:spPr>
          <a:xfrm>
            <a:off x="225188" y="573626"/>
            <a:ext cx="4954136" cy="603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ORDERS COLLECTION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productDocs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++){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productDocs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qty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quantity: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7F12E-E3B3-2AB2-8154-0C9584C7AEE9}"/>
              </a:ext>
            </a:extLst>
          </p:cNvPr>
          <p:cNvSpPr txBox="1"/>
          <p:nvPr/>
        </p:nvSpPr>
        <p:spPr>
          <a:xfrm>
            <a:off x="4953000" y="1320678"/>
            <a:ext cx="4954136" cy="315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customerIds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orderStatuses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selectedProducts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insertMany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117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889C-B635-331F-A9B2-1FDB888C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89CA1B-429D-4265-BE7A-A775DEEEAA92}"/>
              </a:ext>
            </a:extLst>
          </p:cNvPr>
          <p:cNvSpPr txBox="1"/>
          <p:nvPr/>
        </p:nvSpPr>
        <p:spPr>
          <a:xfrm>
            <a:off x="225188" y="204294"/>
            <a:ext cx="1153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Script.js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8F2DE-F87C-8549-0676-4366D391A2C9}"/>
              </a:ext>
            </a:extLst>
          </p:cNvPr>
          <p:cNvSpPr txBox="1"/>
          <p:nvPr/>
        </p:nvSpPr>
        <p:spPr>
          <a:xfrm>
            <a:off x="225188" y="1041958"/>
            <a:ext cx="4954136" cy="297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INDEXES (IMPORTANT)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Text Search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createIndex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Geo Index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createIndex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"location.coordinates"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"2dsphere"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33643-7A29-A69A-E2F6-86501BF2C6E1}"/>
              </a:ext>
            </a:extLst>
          </p:cNvPr>
          <p:cNvSpPr txBox="1"/>
          <p:nvPr/>
        </p:nvSpPr>
        <p:spPr>
          <a:xfrm>
            <a:off x="4951864" y="1375851"/>
            <a:ext cx="4954136" cy="190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DONE MESSAGE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"✅ Ecommerce Sample Database Ready!"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"Collections Created:"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 products"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 customers"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 orders"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 donations"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6259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spcBef>
            <a:spcPts val="1200"/>
          </a:spcBef>
          <a:spcAft>
            <a:spcPts val="1200"/>
          </a:spcAft>
          <a:buNone/>
          <a:defRPr b="1" i="0" dirty="0">
            <a:solidFill>
              <a:srgbClr val="FFFF00"/>
            </a:solidFill>
            <a:effectLst/>
            <a:latin typeface="quote-cjk-patch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445</TotalTime>
  <Words>5935</Words>
  <Application>Microsoft Office PowerPoint</Application>
  <PresentationFormat>A4 Paper (210x297 mm)</PresentationFormat>
  <Paragraphs>1022</Paragraphs>
  <Slides>135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135</vt:i4>
      </vt:variant>
    </vt:vector>
  </HeadingPairs>
  <TitlesOfParts>
    <vt:vector size="141" baseType="lpstr">
      <vt:lpstr>Aptos</vt:lpstr>
      <vt:lpstr>Aptos Display</vt:lpstr>
      <vt:lpstr>Arial</vt:lpstr>
      <vt:lpstr>Consolas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72</cp:revision>
  <dcterms:created xsi:type="dcterms:W3CDTF">2026-02-06T21:19:28Z</dcterms:created>
  <dcterms:modified xsi:type="dcterms:W3CDTF">2026-02-19T18:41:44Z</dcterms:modified>
</cp:coreProperties>
</file>