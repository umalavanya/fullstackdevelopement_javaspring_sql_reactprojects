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349" autoAdjust="0"/>
    <p:restoredTop sz="94660"/>
  </p:normalViewPr>
  <p:slideViewPr>
    <p:cSldViewPr snapToGrid="0">
      <p:cViewPr varScale="1">
        <p:scale>
          <a:sx n="39" d="100"/>
          <a:sy n="39" d="100"/>
        </p:scale>
        <p:origin x="5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sql" TargetMode="Externa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C24544-AC26-CFA0-DFEF-B42CACD9D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71396"/>
              </p:ext>
            </p:extLst>
          </p:nvPr>
        </p:nvGraphicFramePr>
        <p:xfrm>
          <a:off x="709360" y="962771"/>
          <a:ext cx="5730432" cy="2933700"/>
        </p:xfrm>
        <a:graphic>
          <a:graphicData uri="http://schemas.openxmlformats.org/drawingml/2006/table">
            <a:tbl>
              <a:tblPr/>
              <a:tblGrid>
                <a:gridCol w="1910144">
                  <a:extLst>
                    <a:ext uri="{9D8B030D-6E8A-4147-A177-3AD203B41FA5}">
                      <a16:colId xmlns:a16="http://schemas.microsoft.com/office/drawing/2014/main" val="1419818345"/>
                    </a:ext>
                  </a:extLst>
                </a:gridCol>
                <a:gridCol w="1910144">
                  <a:extLst>
                    <a:ext uri="{9D8B030D-6E8A-4147-A177-3AD203B41FA5}">
                      <a16:colId xmlns:a16="http://schemas.microsoft.com/office/drawing/2014/main" val="3764964530"/>
                    </a:ext>
                  </a:extLst>
                </a:gridCol>
                <a:gridCol w="1910144">
                  <a:extLst>
                    <a:ext uri="{9D8B030D-6E8A-4147-A177-3AD203B41FA5}">
                      <a16:colId xmlns:a16="http://schemas.microsoft.com/office/drawing/2014/main" val="4076852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Category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Purpose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Commands</a:t>
                      </a:r>
                    </a:p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0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DDL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Define structure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CREATE, ALTER, DROP, TRUNCATE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92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DML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Manipulate data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SELECT, INSERT, UPDATE, DELETE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DCL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Control access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GRANT, REVOKE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22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TCL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Manage transactions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BEGIN, COMMIT, ROLLBACK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4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CF7D4F-7B1F-E22B-2200-543DDA966764}"/>
              </a:ext>
            </a:extLst>
          </p:cNvPr>
          <p:cNvSpPr txBox="1"/>
          <p:nvPr/>
        </p:nvSpPr>
        <p:spPr>
          <a:xfrm>
            <a:off x="716508" y="599576"/>
            <a:ext cx="49541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Server</a:t>
            </a:r>
          </a:p>
          <a:p>
            <a:r>
              <a:rPr lang="en-US" dirty="0"/>
              <a:t> └── Database</a:t>
            </a:r>
          </a:p>
          <a:p>
            <a:r>
              <a:rPr lang="en-US" dirty="0"/>
              <a:t>      ├── Tables (data storage)</a:t>
            </a:r>
          </a:p>
          <a:p>
            <a:r>
              <a:rPr lang="en-US" dirty="0"/>
              <a:t>      ├── Views (virtual tables)</a:t>
            </a:r>
          </a:p>
          <a:p>
            <a:r>
              <a:rPr lang="en-US" dirty="0"/>
              <a:t>      ├── Stored Procedures (saved SQL)</a:t>
            </a:r>
          </a:p>
          <a:p>
            <a:r>
              <a:rPr lang="en-US" dirty="0"/>
              <a:t>      ├── Functions (return values)</a:t>
            </a:r>
          </a:p>
          <a:p>
            <a:r>
              <a:rPr lang="en-US" dirty="0"/>
              <a:t>      ├── Indexes (performance)</a:t>
            </a:r>
          </a:p>
          <a:p>
            <a:r>
              <a:rPr lang="en-US" dirty="0"/>
              <a:t>      └── Triggers (automated actions)</a:t>
            </a: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9FA40-C7ED-011A-7BDA-370595084E27}"/>
              </a:ext>
            </a:extLst>
          </p:cNvPr>
          <p:cNvSpPr txBox="1"/>
          <p:nvPr/>
        </p:nvSpPr>
        <p:spPr>
          <a:xfrm>
            <a:off x="1009934" y="1308754"/>
            <a:ext cx="88960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Table: Employees</a:t>
            </a:r>
          </a:p>
          <a:p>
            <a:r>
              <a:rPr lang="en-US" dirty="0"/>
              <a:t>┌─────────────┬────────────┬───────────┬─────────────┐</a:t>
            </a:r>
          </a:p>
          <a:p>
            <a:r>
              <a:rPr lang="en-US" dirty="0"/>
              <a:t>│ </a:t>
            </a:r>
            <a:r>
              <a:rPr lang="en-US" dirty="0" err="1"/>
              <a:t>EmployeeID</a:t>
            </a:r>
            <a:r>
              <a:rPr lang="en-US" dirty="0"/>
              <a:t>  │ FirstName  │ LastName │ Salary      │ ← Columns (Fields)</a:t>
            </a:r>
          </a:p>
          <a:p>
            <a:r>
              <a:rPr lang="en-US" dirty="0"/>
              <a:t>├─────────────┼────────────┼───────────┼─────────────┤</a:t>
            </a:r>
          </a:p>
          <a:p>
            <a:r>
              <a:rPr lang="en-US" dirty="0"/>
              <a:t>│ 1           │ John       │ Smith    │ 50000       │ ← Row (Record)</a:t>
            </a:r>
          </a:p>
          <a:p>
            <a:r>
              <a:rPr lang="en-US" dirty="0"/>
              <a:t>│ 2           │ Jane       │ Doe      │ 60000       │ ← Row (Record)</a:t>
            </a:r>
          </a:p>
          <a:p>
            <a:r>
              <a:rPr lang="en-US" dirty="0"/>
              <a:t>│ 3           │ Bob        │ Johnson  │ 55000       │ ← Row (Record)</a:t>
            </a:r>
          </a:p>
          <a:p>
            <a:r>
              <a:rPr lang="en-US" dirty="0"/>
              <a:t>└─────────────┴────────────┴───────────┴─────────────┘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66137-13A9-AEC2-07A8-FC0170637947}"/>
              </a:ext>
            </a:extLst>
          </p:cNvPr>
          <p:cNvSpPr txBox="1"/>
          <p:nvPr/>
        </p:nvSpPr>
        <p:spPr>
          <a:xfrm>
            <a:off x="0" y="997382"/>
            <a:ext cx="5957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          -- Whole numbers: -2B to 2B</a:t>
            </a:r>
          </a:p>
          <a:p>
            <a:r>
              <a:rPr lang="en-US" dirty="0"/>
              <a:t>BIGINT        -- Very large numbers</a:t>
            </a:r>
          </a:p>
          <a:p>
            <a:r>
              <a:rPr lang="en-US" dirty="0"/>
              <a:t>SMALLINT      -- -32,768 to 32,767</a:t>
            </a:r>
          </a:p>
          <a:p>
            <a:r>
              <a:rPr lang="en-US" dirty="0"/>
              <a:t>TINYINT       -- 0 to 255</a:t>
            </a:r>
          </a:p>
          <a:p>
            <a:r>
              <a:rPr lang="en-US" dirty="0"/>
              <a:t>DECIMAL(10,2) -- Precise decimals: 12345678.99</a:t>
            </a:r>
          </a:p>
          <a:p>
            <a:r>
              <a:rPr lang="en-US" dirty="0"/>
              <a:t>MONEY         -- Currency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F51B5-3CF5-CBB4-AB42-907CB69B9BDC}"/>
              </a:ext>
            </a:extLst>
          </p:cNvPr>
          <p:cNvSpPr txBox="1"/>
          <p:nvPr/>
        </p:nvSpPr>
        <p:spPr>
          <a:xfrm>
            <a:off x="-1136" y="3367629"/>
            <a:ext cx="4954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CHAR(10)      -- Fixed length, 10 characters</a:t>
            </a:r>
          </a:p>
          <a:p>
            <a:r>
              <a:rPr lang="en-US" dirty="0"/>
              <a:t>VARCHAR(50)   -- Variable length, up to 50</a:t>
            </a:r>
          </a:p>
          <a:p>
            <a:r>
              <a:rPr lang="en-US" dirty="0"/>
              <a:t>NVARCHAR(100) -- Unicode, supports special characters</a:t>
            </a:r>
          </a:p>
          <a:p>
            <a:r>
              <a:rPr lang="en-US" dirty="0"/>
              <a:t>TEXT          -- Large text (deprecated)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2EB2C-FE2C-3034-6BB0-328FB62B91FC}"/>
              </a:ext>
            </a:extLst>
          </p:cNvPr>
          <p:cNvSpPr txBox="1"/>
          <p:nvPr/>
        </p:nvSpPr>
        <p:spPr>
          <a:xfrm>
            <a:off x="3862316" y="242961"/>
            <a:ext cx="64815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DATE          -- 0001-01-01 through 9999-12-31</a:t>
            </a:r>
          </a:p>
          <a:p>
            <a:r>
              <a:rPr lang="en-US" dirty="0"/>
              <a:t>TIME          -- 00:00:00.0000000 through 23:59:59.9999999</a:t>
            </a:r>
          </a:p>
          <a:p>
            <a:r>
              <a:rPr lang="en-US" dirty="0"/>
              <a:t>DATETIME      -- 1753-01-01 through 9999-12-31</a:t>
            </a:r>
          </a:p>
          <a:p>
            <a:r>
              <a:rPr lang="en-US" dirty="0"/>
              <a:t>DATETIME2     -- More precise than DATETIME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53442-B83C-2936-3700-080596B1B76C}"/>
              </a:ext>
            </a:extLst>
          </p:cNvPr>
          <p:cNvSpPr txBox="1"/>
          <p:nvPr/>
        </p:nvSpPr>
        <p:spPr>
          <a:xfrm>
            <a:off x="5063319" y="2905964"/>
            <a:ext cx="3603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BIT           -- 0, 1, or NULL</a:t>
            </a:r>
          </a:p>
          <a:p>
            <a:r>
              <a:rPr lang="en-US" dirty="0"/>
              <a:t>UNIQUEIDENTIFIER -- GUID</a:t>
            </a:r>
          </a:p>
          <a:p>
            <a:r>
              <a:rPr lang="en-US" dirty="0"/>
              <a:t>XML           -- XML data</a:t>
            </a:r>
          </a:p>
          <a:p>
            <a:r>
              <a:rPr lang="en-US" dirty="0"/>
              <a:t>JSON          -- Stored as NVARCHAR</a:t>
            </a:r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97B21B-3F8E-C18D-C8B2-FDF9A9A58181}"/>
              </a:ext>
            </a:extLst>
          </p:cNvPr>
          <p:cNvSpPr txBox="1"/>
          <p:nvPr/>
        </p:nvSpPr>
        <p:spPr>
          <a:xfrm>
            <a:off x="348019" y="313539"/>
            <a:ext cx="3200399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new database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DATABASE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CompanyDB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Switch to database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CompanyDB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2F75B-85BF-262C-34F4-C0DB2BE9B75E}"/>
              </a:ext>
            </a:extLst>
          </p:cNvPr>
          <p:cNvSpPr txBox="1"/>
          <p:nvPr/>
        </p:nvSpPr>
        <p:spPr>
          <a:xfrm>
            <a:off x="348019" y="2303556"/>
            <a:ext cx="4954136" cy="424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Departments 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PRIMARY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Location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Budget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table with relationships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PRIMARY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Email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UNIQUE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DEFAULT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FOREIGN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REFERENCES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A2F81-CA93-1ECF-2AB5-74EA7BCCE61A}"/>
              </a:ext>
            </a:extLst>
          </p:cNvPr>
          <p:cNvSpPr txBox="1"/>
          <p:nvPr/>
        </p:nvSpPr>
        <p:spPr>
          <a:xfrm>
            <a:off x="0" y="1638795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Add new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ADD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Modify column data type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COLUMN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Add constraint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ADD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CONSTRAINT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CK_Salary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CHECK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COLUMN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15BAF-53EC-A2C9-E435-C03252F931CA}"/>
              </a:ext>
            </a:extLst>
          </p:cNvPr>
          <p:cNvSpPr txBox="1"/>
          <p:nvPr/>
        </p:nvSpPr>
        <p:spPr>
          <a:xfrm>
            <a:off x="5799161" y="1480418"/>
            <a:ext cx="3781567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table (permanent!)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database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DATABASE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CompanyDB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with check (SQL Server 2016+)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EXISTS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53B18C-2D9F-ABB4-5E56-91D9917D1411}"/>
              </a:ext>
            </a:extLst>
          </p:cNvPr>
          <p:cNvSpPr txBox="1"/>
          <p:nvPr/>
        </p:nvSpPr>
        <p:spPr>
          <a:xfrm>
            <a:off x="293428" y="394892"/>
            <a:ext cx="7144602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TRUNCATE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Removes all rows, resets identity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Removes rows, keeps identity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A7AC8-3B41-C38E-EACB-22AB65AB0F9E}"/>
              </a:ext>
            </a:extLst>
          </p:cNvPr>
          <p:cNvSpPr txBox="1"/>
          <p:nvPr/>
        </p:nvSpPr>
        <p:spPr>
          <a:xfrm>
            <a:off x="293428" y="1150171"/>
            <a:ext cx="7608626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Insert single row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Location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'IT'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'New York'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1500000.00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Insert multiple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Location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'HR'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'Chicago'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'Finance'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'Boston'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'Marketing'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'Los Angeles'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800000.00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C61B4-C6C4-B12D-F9F4-FF4F5B096211}"/>
              </a:ext>
            </a:extLst>
          </p:cNvPr>
          <p:cNvSpPr txBox="1"/>
          <p:nvPr/>
        </p:nvSpPr>
        <p:spPr>
          <a:xfrm>
            <a:off x="184245" y="3649517"/>
            <a:ext cx="4954136" cy="7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Must provide values for all columns in order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'Sales'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'Miami'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950000.00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770B2-73EC-98D7-B693-CE216F9E35FF}"/>
              </a:ext>
            </a:extLst>
          </p:cNvPr>
          <p:cNvSpPr txBox="1"/>
          <p:nvPr/>
        </p:nvSpPr>
        <p:spPr>
          <a:xfrm>
            <a:off x="293427" y="5113435"/>
            <a:ext cx="7403909" cy="7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'John'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'Smith'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'john.smith@company.com'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</a:t>
            </a:r>
            <a:r>
              <a:rPr lang="en-US" b="0" i="1" dirty="0" err="1">
                <a:solidFill>
                  <a:srgbClr val="A0A1A7"/>
                </a:solidFill>
                <a:effectLst/>
                <a:latin typeface="Menlo"/>
              </a:rPr>
              <a:t>HireDate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 gets current date automatically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1A092D-D43E-E397-C8D7-2F54488877BC}"/>
              </a:ext>
            </a:extLst>
          </p:cNvPr>
          <p:cNvSpPr txBox="1"/>
          <p:nvPr/>
        </p:nvSpPr>
        <p:spPr>
          <a:xfrm>
            <a:off x="122830" y="59062"/>
            <a:ext cx="6666931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Select all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Select specific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Select with alias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'First Name'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'Last Name'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'Annual Salary'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35D02-C3D7-9F93-6279-FB16D3BD600E}"/>
              </a:ext>
            </a:extLst>
          </p:cNvPr>
          <p:cNvSpPr txBox="1"/>
          <p:nvPr/>
        </p:nvSpPr>
        <p:spPr>
          <a:xfrm>
            <a:off x="320722" y="3429000"/>
            <a:ext cx="5206621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Unique departments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Unique combinations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JobTitle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DD2D1-E280-B5D0-C25A-07F83EBE3E44}"/>
              </a:ext>
            </a:extLst>
          </p:cNvPr>
          <p:cNvSpPr txBox="1"/>
          <p:nvPr/>
        </p:nvSpPr>
        <p:spPr>
          <a:xfrm>
            <a:off x="320722" y="5085574"/>
            <a:ext cx="4954136" cy="140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First 10 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Top 10% by 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PERCENT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38090-1921-369F-065A-9B469DDFFCC0}"/>
              </a:ext>
            </a:extLst>
          </p:cNvPr>
          <p:cNvSpPr txBox="1"/>
          <p:nvPr/>
        </p:nvSpPr>
        <p:spPr>
          <a:xfrm>
            <a:off x="4953000" y="1416485"/>
            <a:ext cx="611078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Not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Greater than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Less than or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E77C7-0D70-D1B0-64BB-71990CA7392E}"/>
              </a:ext>
            </a:extLst>
          </p:cNvPr>
          <p:cNvSpPr txBox="1"/>
          <p:nvPr/>
        </p:nvSpPr>
        <p:spPr>
          <a:xfrm>
            <a:off x="197893" y="150478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AND (both conditions true)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OR (either condition true)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NOT (exclude condition)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0035E-DE99-9D89-BFB5-C8F09F94A389}"/>
              </a:ext>
            </a:extLst>
          </p:cNvPr>
          <p:cNvSpPr txBox="1"/>
          <p:nvPr/>
        </p:nvSpPr>
        <p:spPr>
          <a:xfrm>
            <a:off x="293427" y="3235583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 operator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BETWEEN (inclusive)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LIKE pattern matching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'S%'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Starts with 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'%son'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Ends with son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'_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mith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Single wildcard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'%@%.com'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Contains @ and .com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6F60E-A9F1-E380-EEAD-8DA640D4B350}"/>
              </a:ext>
            </a:extLst>
          </p:cNvPr>
          <p:cNvSpPr txBox="1"/>
          <p:nvPr/>
        </p:nvSpPr>
        <p:spPr>
          <a:xfrm>
            <a:off x="129654" y="204356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Find employees without 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Find employees with manager assigned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A95D2-55E3-6FD4-E3A2-43138F60951B}"/>
              </a:ext>
            </a:extLst>
          </p:cNvPr>
          <p:cNvSpPr txBox="1"/>
          <p:nvPr/>
        </p:nvSpPr>
        <p:spPr>
          <a:xfrm>
            <a:off x="129654" y="2630748"/>
            <a:ext cx="495413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ISNULL: Replace NULL with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ISNULL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'No Phone'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Contact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COALESCE: First non-NULL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COALESCE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'No Contact'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Contact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NULLIF: Returns NULL if values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NULLIF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Department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'Unknown'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BFD9E-B50D-5029-96EB-8B1ED015B96C}"/>
              </a:ext>
            </a:extLst>
          </p:cNvPr>
          <p:cNvSpPr txBox="1"/>
          <p:nvPr/>
        </p:nvSpPr>
        <p:spPr>
          <a:xfrm>
            <a:off x="6296169" y="204356"/>
            <a:ext cx="3270912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Ascending (default)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Descending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Multiple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59A9E-2F40-B917-A0F3-8327892D077C}"/>
              </a:ext>
            </a:extLst>
          </p:cNvPr>
          <p:cNvSpPr txBox="1"/>
          <p:nvPr/>
        </p:nvSpPr>
        <p:spPr>
          <a:xfrm>
            <a:off x="5620601" y="3429000"/>
            <a:ext cx="3946480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Count employees per 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EmployeeCount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MinSalary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MaxSalary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TotalSalary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0724A8-9E2B-AF9E-0575-87EE022E114B}"/>
              </a:ext>
            </a:extLst>
          </p:cNvPr>
          <p:cNvSpPr txBox="1"/>
          <p:nvPr/>
        </p:nvSpPr>
        <p:spPr>
          <a:xfrm>
            <a:off x="457200" y="600141"/>
            <a:ext cx="4838131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Departments with more than 5 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EmployeeCount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5B733-6C45-5732-5ACF-E41A225E1CB0}"/>
              </a:ext>
            </a:extLst>
          </p:cNvPr>
          <p:cNvSpPr txBox="1"/>
          <p:nvPr/>
        </p:nvSpPr>
        <p:spPr>
          <a:xfrm>
            <a:off x="4494664" y="1362929"/>
            <a:ext cx="4954136" cy="4894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COUNT: Number of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Excludes NULLs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SUM: Total of numeric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TotalPayroll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AVG: Average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AverageSalary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MIN: Minimum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FirstHire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MAX: Maximum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HighestSalary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85D0E-4168-82AC-31CD-42F7A2820F37}"/>
              </a:ext>
            </a:extLst>
          </p:cNvPr>
          <p:cNvSpPr txBox="1"/>
          <p:nvPr/>
        </p:nvSpPr>
        <p:spPr>
          <a:xfrm>
            <a:off x="498144" y="395603"/>
            <a:ext cx="4954136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TotalEmployees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MinSalary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MaxSalary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MonthlyPayroll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'2020-01-01'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668DE-D91A-D082-AFA7-59F9891B8E9C}"/>
              </a:ext>
            </a:extLst>
          </p:cNvPr>
          <p:cNvSpPr txBox="1"/>
          <p:nvPr/>
        </p:nvSpPr>
        <p:spPr>
          <a:xfrm>
            <a:off x="293428" y="1009931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matching rows from both tables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Location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E1C4E-819C-2277-38FC-D2AA0D8A43DF}"/>
              </a:ext>
            </a:extLst>
          </p:cNvPr>
          <p:cNvSpPr txBox="1"/>
          <p:nvPr/>
        </p:nvSpPr>
        <p:spPr>
          <a:xfrm>
            <a:off x="443552" y="3589357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all rows from left table, matching from right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Includes employees without departments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7BF8F-7CB6-04E5-2FFE-1FDD9BF142F0}"/>
              </a:ext>
            </a:extLst>
          </p:cNvPr>
          <p:cNvSpPr txBox="1"/>
          <p:nvPr/>
        </p:nvSpPr>
        <p:spPr>
          <a:xfrm>
            <a:off x="5540992" y="932163"/>
            <a:ext cx="4169388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all rows from right table, matching from left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RIGHT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Includes departments without 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9291A3-5C7F-04B6-8B08-D1D88B0F6328}"/>
              </a:ext>
            </a:extLst>
          </p:cNvPr>
          <p:cNvSpPr txBox="1"/>
          <p:nvPr/>
        </p:nvSpPr>
        <p:spPr>
          <a:xfrm>
            <a:off x="266132" y="818862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all rows from both tables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FULL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OUTER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Includes unmatched from both sides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5189C-DFE0-27D8-01BD-27A670FCBF13}"/>
              </a:ext>
            </a:extLst>
          </p:cNvPr>
          <p:cNvSpPr txBox="1"/>
          <p:nvPr/>
        </p:nvSpPr>
        <p:spPr>
          <a:xfrm>
            <a:off x="266132" y="3534410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Cartesian product (every row with every row)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CROSS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Projects p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-- 100 employees × 10 projects = 1000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89683-26E2-B644-D75E-851780D63AED}"/>
              </a:ext>
            </a:extLst>
          </p:cNvPr>
          <p:cNvSpPr txBox="1"/>
          <p:nvPr/>
        </p:nvSpPr>
        <p:spPr>
          <a:xfrm>
            <a:off x="4685732" y="368129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Join table to itself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e2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Manager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e1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e2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ManagerID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BF8CD-246E-6EAD-A6DD-C8E97C809298}"/>
              </a:ext>
            </a:extLst>
          </p:cNvPr>
          <p:cNvSpPr txBox="1"/>
          <p:nvPr/>
        </p:nvSpPr>
        <p:spPr>
          <a:xfrm>
            <a:off x="4685732" y="4019799"/>
            <a:ext cx="51065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ProjectAssignments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pa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pa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Projects p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pa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B259C-B1F2-55E1-9BAF-668DA23368C2}"/>
              </a:ext>
            </a:extLst>
          </p:cNvPr>
          <p:cNvSpPr txBox="1"/>
          <p:nvPr/>
        </p:nvSpPr>
        <p:spPr>
          <a:xfrm>
            <a:off x="225187" y="177947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UNION: Removes duplicates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'Employee'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Type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'Contractor'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Contractors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UNION ALL: Keeps duplicates (faster)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City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Customers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City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Suppliers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9AAE5-9ED1-FD67-615B-FC42C3C15F80}"/>
              </a:ext>
            </a:extLst>
          </p:cNvPr>
          <p:cNvSpPr txBox="1"/>
          <p:nvPr/>
        </p:nvSpPr>
        <p:spPr>
          <a:xfrm>
            <a:off x="143299" y="3036082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INTERSECT: Common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ProductID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Products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INTERSECT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ProductID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OrderDetails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EXCEPT: Rows in first but not second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CustomerID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Customers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EXCEPT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CustomerID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Orders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DF600-4B42-3939-5E35-14469FF0393A}"/>
              </a:ext>
            </a:extLst>
          </p:cNvPr>
          <p:cNvSpPr txBox="1"/>
          <p:nvPr/>
        </p:nvSpPr>
        <p:spPr>
          <a:xfrm>
            <a:off x="4358185" y="1644374"/>
            <a:ext cx="5547815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earning above average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in departments with budget &gt; 1M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1000000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00B7A-027D-9B1B-647C-3F7793DA85B0}"/>
              </a:ext>
            </a:extLst>
          </p:cNvPr>
          <p:cNvSpPr txBox="1"/>
          <p:nvPr/>
        </p:nvSpPr>
        <p:spPr>
          <a:xfrm>
            <a:off x="3480178" y="5131558"/>
            <a:ext cx="6625988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DiffFromAvg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694B9-708E-382B-394E-DD5D6743318E}"/>
              </a:ext>
            </a:extLst>
          </p:cNvPr>
          <p:cNvSpPr txBox="1"/>
          <p:nvPr/>
        </p:nvSpPr>
        <p:spPr>
          <a:xfrm>
            <a:off x="225187" y="245655"/>
            <a:ext cx="6803409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earning more than dept average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DeptID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e1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e2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DeptID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DeptID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7A4C09-B929-2729-7DFE-D63DDD7E2E49}"/>
              </a:ext>
            </a:extLst>
          </p:cNvPr>
          <p:cNvSpPr txBox="1"/>
          <p:nvPr/>
        </p:nvSpPr>
        <p:spPr>
          <a:xfrm>
            <a:off x="484496" y="13296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Update single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65000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Update multiple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70000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C52AF-12B3-58A9-06F4-6AA6F5876DB7}"/>
              </a:ext>
            </a:extLst>
          </p:cNvPr>
          <p:cNvSpPr txBox="1"/>
          <p:nvPr/>
        </p:nvSpPr>
        <p:spPr>
          <a:xfrm>
            <a:off x="464024" y="3159081"/>
            <a:ext cx="4954136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Give 10% raise to IT 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1.10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'IT'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6785E-7844-1B61-1E95-B50442CE216B}"/>
              </a:ext>
            </a:extLst>
          </p:cNvPr>
          <p:cNvSpPr txBox="1"/>
          <p:nvPr/>
        </p:nvSpPr>
        <p:spPr>
          <a:xfrm>
            <a:off x="252483" y="4824122"/>
            <a:ext cx="5616053" cy="140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Update using another 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50E543-D93D-E2F6-144D-69096FB707E1}"/>
              </a:ext>
            </a:extLst>
          </p:cNvPr>
          <p:cNvSpPr txBox="1"/>
          <p:nvPr/>
        </p:nvSpPr>
        <p:spPr>
          <a:xfrm>
            <a:off x="470849" y="278137"/>
            <a:ext cx="4954136" cy="315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DELETE: Removes rows, can use WHERE, slower, logs each row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TRUNCATE: Removes all rows, faster, minimal logging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TRUNCATE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TempData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DELETE with JOIN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with invalid departments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92780-83D0-682D-E3BB-0002021FFC51}"/>
              </a:ext>
            </a:extLst>
          </p:cNvPr>
          <p:cNvSpPr txBox="1"/>
          <p:nvPr/>
        </p:nvSpPr>
        <p:spPr>
          <a:xfrm>
            <a:off x="320723" y="3889252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Delete employees from department with no budget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15E80-CFB2-851B-0E05-9C02871798C6}"/>
              </a:ext>
            </a:extLst>
          </p:cNvPr>
          <p:cNvSpPr txBox="1"/>
          <p:nvPr/>
        </p:nvSpPr>
        <p:spPr>
          <a:xfrm>
            <a:off x="6523629" y="810624"/>
            <a:ext cx="2811440" cy="245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Always SELECT first to verify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Then DELETE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427C4-D14E-2E72-DF86-A0B884F0AB3A}"/>
              </a:ext>
            </a:extLst>
          </p:cNvPr>
          <p:cNvSpPr txBox="1"/>
          <p:nvPr/>
        </p:nvSpPr>
        <p:spPr>
          <a:xfrm>
            <a:off x="5711589" y="3268989"/>
            <a:ext cx="4954136" cy="324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Safe DELETE Pattern: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Always SELECT first to verify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Then DELETE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600DE3-1AD4-4A64-CA2D-B1DF0C1BF268}"/>
              </a:ext>
            </a:extLst>
          </p:cNvPr>
          <p:cNvSpPr txBox="1"/>
          <p:nvPr/>
        </p:nvSpPr>
        <p:spPr>
          <a:xfrm>
            <a:off x="170598" y="889843"/>
            <a:ext cx="7608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Manipulating Text</a:t>
            </a:r>
            <a:endParaRPr lang="en-US" dirty="0"/>
          </a:p>
          <a:p>
            <a:pPr algn="just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Common String Functions: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Concatenation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FullName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CONCAT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Case conversion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UPPER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LOWER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Substring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CHARINDEX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'@'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Length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LEN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NameLength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Trimming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 text  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Trimmed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 text  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Trimmed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SQL Server 2017+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Replace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REPLACE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'-'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8F7DEA-5AF8-384A-3A34-3294184CFF77}"/>
              </a:ext>
            </a:extLst>
          </p:cNvPr>
          <p:cNvSpPr txBox="1"/>
          <p:nvPr/>
        </p:nvSpPr>
        <p:spPr>
          <a:xfrm>
            <a:off x="552735" y="422595"/>
            <a:ext cx="4954136" cy="271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LEFT/RIGHT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Initial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CHARINDEX (position of character)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CHARINDEX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'@'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AtPosition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PATINDEX (pattern position)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PATINDEX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'%[0-9]%'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Address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A874C0-CDAB-9DEC-2F65-0DC491DC1465}"/>
              </a:ext>
            </a:extLst>
          </p:cNvPr>
          <p:cNvSpPr txBox="1"/>
          <p:nvPr/>
        </p:nvSpPr>
        <p:spPr>
          <a:xfrm>
            <a:off x="334371" y="293129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20: DATE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Working with Dates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9DFAA-192A-320F-B7C3-1591F021D5D0}"/>
              </a:ext>
            </a:extLst>
          </p:cNvPr>
          <p:cNvSpPr txBox="1"/>
          <p:nvPr/>
        </p:nvSpPr>
        <p:spPr>
          <a:xfrm>
            <a:off x="102358" y="1417552"/>
            <a:ext cx="495413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Current date/time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CurrentDateTime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SYSDATETIME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MorePrecise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GETUTCDATE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UTCDate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Date parts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MONTH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HireMonth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DATEPART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DATEPART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quarter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Quarter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DATEPART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week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WeekNumber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month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MonthName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5DFAC-B325-F53D-C88C-2D4726C475D8}"/>
              </a:ext>
            </a:extLst>
          </p:cNvPr>
          <p:cNvSpPr txBox="1"/>
          <p:nvPr/>
        </p:nvSpPr>
        <p:spPr>
          <a:xfrm>
            <a:off x="4951864" y="327549"/>
            <a:ext cx="4954136" cy="424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Add/subtract dates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DATEADD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ProbationEnd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DATEADD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Anniversary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Date difference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DATEDIFF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DaysEmployed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DATEDIFF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YearsEmployed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Format dates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FORMAT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yyyy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-MM-dd'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FORMAT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'MMMM dd, 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yyyy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83150-4B4D-6AFE-2827-C4EB2D8C5E4B}"/>
              </a:ext>
            </a:extLst>
          </p:cNvPr>
          <p:cNvSpPr txBox="1"/>
          <p:nvPr/>
        </p:nvSpPr>
        <p:spPr>
          <a:xfrm>
            <a:off x="197893" y="-572737"/>
            <a:ext cx="4954136" cy="800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21: NUMERIC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Mathematical Operations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Rounding Functions: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ROUND: Rounds to specified decimals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RoundedToThousands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1.123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WithTax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CEILING: Round up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CEILING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15.2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-- 16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FLOOR: Round down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FLOOR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15.8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-- 15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A0B3-B774-82FC-6B8D-90EA59FF1490}"/>
              </a:ext>
            </a:extLst>
          </p:cNvPr>
          <p:cNvSpPr txBox="1"/>
          <p:nvPr/>
        </p:nvSpPr>
        <p:spPr>
          <a:xfrm>
            <a:off x="4753971" y="1058766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Absolute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ABS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Absolute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Square root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SQRT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144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Root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-- 12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Power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POWER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Cubed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Random number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RAND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Random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Consistent random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Modulus (remainder)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17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Remainder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4F1ABB-852B-8846-5AFE-56735D6EBBE8}"/>
              </a:ext>
            </a:extLst>
          </p:cNvPr>
          <p:cNvSpPr txBox="1"/>
          <p:nvPr/>
        </p:nvSpPr>
        <p:spPr>
          <a:xfrm>
            <a:off x="525439" y="409963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'Information Technology'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'Human Resources'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'Finance'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'Marketing'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'Other'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AF200-BD48-7ADF-00CE-B368A6902636}"/>
              </a:ext>
            </a:extLst>
          </p:cNvPr>
          <p:cNvSpPr txBox="1"/>
          <p:nvPr/>
        </p:nvSpPr>
        <p:spPr>
          <a:xfrm>
            <a:off x="525439" y="3429000"/>
            <a:ext cx="4954136" cy="315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'Entry Level'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'Mid Level'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'Senior'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'Executive'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'Not Classified'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SalaryGrade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AB368-2F9C-2DC8-6DA4-E03CE2AF0DD3}"/>
              </a:ext>
            </a:extLst>
          </p:cNvPr>
          <p:cNvSpPr txBox="1"/>
          <p:nvPr/>
        </p:nvSpPr>
        <p:spPr>
          <a:xfrm>
            <a:off x="4810836" y="2312407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Conditional counting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Gender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MaleCount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Gender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FemaleCount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6B000-CF55-458D-E4B4-9E0727015810}"/>
              </a:ext>
            </a:extLst>
          </p:cNvPr>
          <p:cNvSpPr txBox="1"/>
          <p:nvPr/>
        </p:nvSpPr>
        <p:spPr>
          <a:xfrm>
            <a:off x="320723" y="574803"/>
            <a:ext cx="495413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FullName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Location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Query view like a 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Location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'New York'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304F8-8D35-ED75-47E9-EE3A769FFEA3}"/>
              </a:ext>
            </a:extLst>
          </p:cNvPr>
          <p:cNvSpPr txBox="1"/>
          <p:nvPr/>
        </p:nvSpPr>
        <p:spPr>
          <a:xfrm>
            <a:off x="320723" y="424145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Modify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EXISTS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A5C73-75BE-0766-26DE-5A73CC5963FC}"/>
              </a:ext>
            </a:extLst>
          </p:cNvPr>
          <p:cNvSpPr txBox="1"/>
          <p:nvPr/>
        </p:nvSpPr>
        <p:spPr>
          <a:xfrm>
            <a:off x="457200" y="4809051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vw_ITEmployees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CHECK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OPTION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Prevents updates that would remove rows from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46BB4-75D9-5F8F-836A-6DFC99C4C6D1}"/>
              </a:ext>
            </a:extLst>
          </p:cNvPr>
          <p:cNvSpPr txBox="1"/>
          <p:nvPr/>
        </p:nvSpPr>
        <p:spPr>
          <a:xfrm>
            <a:off x="150127" y="217794"/>
            <a:ext cx="5465924" cy="358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Clustered index (sorts data physically)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Primary key creates clustered index automatically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CLUSTERED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IX_Employees_HireDate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Non-clustered index (separate structure)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IX_Employees_LastName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Unique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UNIQUE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IX_Employees_Email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Composite index (multiple columns)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IX_Employees_Dept_Salary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88649-C073-0138-34BF-0ABD982AE891}"/>
              </a:ext>
            </a:extLst>
          </p:cNvPr>
          <p:cNvSpPr txBox="1"/>
          <p:nvPr/>
        </p:nvSpPr>
        <p:spPr>
          <a:xfrm>
            <a:off x="150127" y="4361163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Check indexes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sys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indexes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object_id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OBJECT_ID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'Employees'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IX_Employees_LastName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Rebuild index (maintenance)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REBUILD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1321F1-2FB8-856F-B4B1-F253BAFBCE25}"/>
              </a:ext>
            </a:extLst>
          </p:cNvPr>
          <p:cNvSpPr txBox="1"/>
          <p:nvPr/>
        </p:nvSpPr>
        <p:spPr>
          <a:xfrm>
            <a:off x="470848" y="356795"/>
            <a:ext cx="6735170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procedure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PROCEDURE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sp_GetEmployeesByDepartment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Email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Execute procedure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sp_GetEmployeesByDepartment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76CCF-6C65-5237-7580-137ED05E0FDC}"/>
              </a:ext>
            </a:extLst>
          </p:cNvPr>
          <p:cNvSpPr txBox="1"/>
          <p:nvPr/>
        </p:nvSpPr>
        <p:spPr>
          <a:xfrm>
            <a:off x="266131" y="356795"/>
            <a:ext cx="7362967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PROCEDURE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sp_GetDepartmentStats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@EmpCount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@EmpCount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Execute with output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sp_GetDepartmentStats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EmployeeCount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AverageSalary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407206-AACB-C533-5AFF-FCFB5257106A}"/>
              </a:ext>
            </a:extLst>
          </p:cNvPr>
          <p:cNvSpPr txBox="1"/>
          <p:nvPr/>
        </p:nvSpPr>
        <p:spPr>
          <a:xfrm>
            <a:off x="2477069" y="2927146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26: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User-Defined Functions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F41111-516E-8F06-1825-C43995CCCDB2}"/>
              </a:ext>
            </a:extLst>
          </p:cNvPr>
          <p:cNvSpPr txBox="1"/>
          <p:nvPr/>
        </p:nvSpPr>
        <p:spPr>
          <a:xfrm>
            <a:off x="102359" y="-3546538"/>
            <a:ext cx="4954136" cy="1499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Scalar Function: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single value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FUNCTION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fn_CalculateBonus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@Rating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@Bonus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@Bonus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@Rating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0.20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0.15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0.10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0.05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@Bonus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 function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dbo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fn_CalculateBonus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Bonus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9259-6550-B89E-9DCF-6A7C1A8415DE}"/>
              </a:ext>
            </a:extLst>
          </p:cNvPr>
          <p:cNvSpPr txBox="1"/>
          <p:nvPr/>
        </p:nvSpPr>
        <p:spPr>
          <a:xfrm>
            <a:off x="4387755" y="-2415975"/>
            <a:ext cx="4954136" cy="11314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Table-Valued Function: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FUNCTION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fn_GetEmployeesByHireYear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@Year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@Year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 like a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fn_GetEmployeesByHireYear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2020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C531FE-AE2C-A2C5-3571-D588E958EB23}"/>
              </a:ext>
            </a:extLst>
          </p:cNvPr>
          <p:cNvSpPr txBox="1"/>
          <p:nvPr/>
        </p:nvSpPr>
        <p:spPr>
          <a:xfrm>
            <a:off x="388961" y="-1508483"/>
            <a:ext cx="4954136" cy="914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27: TRANSACTIONS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ACID Properties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Transaction Control: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Begin transaction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Perform operations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Accounts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Accounts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Check if successful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@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@ERROR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COMMIT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Save changes permanently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ROLLBACK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Undo all changes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18779-5148-2C5C-4742-D32A0B55BA5A}"/>
              </a:ext>
            </a:extLst>
          </p:cNvPr>
          <p:cNvSpPr txBox="1"/>
          <p:nvPr/>
        </p:nvSpPr>
        <p:spPr>
          <a:xfrm>
            <a:off x="4953000" y="-558133"/>
            <a:ext cx="4954136" cy="741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Transaction with Try-Catch: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Orders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OrderDetails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COMMIT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'Transaction successful'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ROLLBACK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'Transaction failed: 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ERROR_MESSAGE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</p:txBody>
      </p:sp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9AF60-FE47-1397-CCBA-41467E92B175}"/>
              </a:ext>
            </a:extLst>
          </p:cNvPr>
          <p:cNvSpPr txBox="1"/>
          <p:nvPr/>
        </p:nvSpPr>
        <p:spPr>
          <a:xfrm>
            <a:off x="2477069" y="2927146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28: CTE (Common Table Expressions)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Temporary Result Sets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9BDB7-BA97-0E8D-B19B-0204034B1F44}"/>
              </a:ext>
            </a:extLst>
          </p:cNvPr>
          <p:cNvSpPr txBox="1"/>
          <p:nvPr/>
        </p:nvSpPr>
        <p:spPr>
          <a:xfrm>
            <a:off x="402610" y="429554"/>
            <a:ext cx="4954136" cy="311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Named temporary result set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HighEarners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Salary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70000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HighEarners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4D3E8-3B2A-79FB-1F34-38ABAA3DCA68}"/>
              </a:ext>
            </a:extLst>
          </p:cNvPr>
          <p:cNvSpPr txBox="1"/>
          <p:nvPr/>
        </p:nvSpPr>
        <p:spPr>
          <a:xfrm>
            <a:off x="2477069" y="-2115901"/>
            <a:ext cx="4954136" cy="11096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Multiple CTEs: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DeptStats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HighDepts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DeptStats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HighDepts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A9F44-3A7D-6ECB-8690-CCE54A3A7313}"/>
              </a:ext>
            </a:extLst>
          </p:cNvPr>
          <p:cNvSpPr txBox="1"/>
          <p:nvPr/>
        </p:nvSpPr>
        <p:spPr>
          <a:xfrm>
            <a:off x="5356746" y="-762440"/>
            <a:ext cx="4954136" cy="8608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Recursive CTE: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 hierarchy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EmpHierarchy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Anchor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Level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Recursive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Level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EmpHierarchy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EmpHierarchy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57F47-610E-CD9D-25B9-4EB7205B9B32}"/>
              </a:ext>
            </a:extLst>
          </p:cNvPr>
          <p:cNvSpPr txBox="1"/>
          <p:nvPr/>
        </p:nvSpPr>
        <p:spPr>
          <a:xfrm>
            <a:off x="2477069" y="2927146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29: WINDOW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Advanced Analytics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8BBF2-A1A0-6E7E-CFAD-3983BF45D1EA}"/>
              </a:ext>
            </a:extLst>
          </p:cNvPr>
          <p:cNvSpPr txBox="1"/>
          <p:nvPr/>
        </p:nvSpPr>
        <p:spPr>
          <a:xfrm>
            <a:off x="348018" y="273485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ROW_NUMBER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RowNum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RANK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Rank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DENSE_RANK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DenseRank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E22B8-9E23-92BB-071B-D844533568D9}"/>
              </a:ext>
            </a:extLst>
          </p:cNvPr>
          <p:cNvSpPr txBox="1"/>
          <p:nvPr/>
        </p:nvSpPr>
        <p:spPr>
          <a:xfrm>
            <a:off x="348018" y="3869669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DeptAverage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DiffFromDeptAvg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RunningTotal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9E047-F3FD-B5BE-80C9-AB188FB43E4E}"/>
              </a:ext>
            </a:extLst>
          </p:cNvPr>
          <p:cNvSpPr txBox="1"/>
          <p:nvPr/>
        </p:nvSpPr>
        <p:spPr>
          <a:xfrm>
            <a:off x="6059606" y="2948263"/>
            <a:ext cx="3191301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PreviousSalary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LEAD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NextSalary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AEFE0-C6A3-A925-A893-0FF576453932}"/>
              </a:ext>
            </a:extLst>
          </p:cNvPr>
          <p:cNvSpPr txBox="1"/>
          <p:nvPr/>
        </p:nvSpPr>
        <p:spPr>
          <a:xfrm>
            <a:off x="307075" y="246723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Convert rows to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SourceTable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PIVOT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PivotTable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718F9-8BE1-D85B-15EE-44D4E2A62F2E}"/>
              </a:ext>
            </a:extLst>
          </p:cNvPr>
          <p:cNvSpPr txBox="1"/>
          <p:nvPr/>
        </p:nvSpPr>
        <p:spPr>
          <a:xfrm>
            <a:off x="259307" y="4114440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Convert columns to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Quarter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Q4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DepartmentSales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SourceTable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UNPIVOT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Quarter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Q1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UnpivotTable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2E057E-3756-CC0C-0A3E-A51C560349FD}"/>
              </a:ext>
            </a:extLst>
          </p:cNvPr>
          <p:cNvSpPr txBox="1"/>
          <p:nvPr/>
        </p:nvSpPr>
        <p:spPr>
          <a:xfrm>
            <a:off x="443553" y="1309825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Execute string as SQL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@TableName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'Employees'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'SELECT * FROM 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@TableName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sp_executesql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54E27-748C-4BB1-56D7-38EB437A6852}"/>
              </a:ext>
            </a:extLst>
          </p:cNvPr>
          <p:cNvSpPr txBox="1"/>
          <p:nvPr/>
        </p:nvSpPr>
        <p:spPr>
          <a:xfrm>
            <a:off x="143302" y="3429000"/>
            <a:ext cx="4954136" cy="315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@MinSalary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SELECT FirstName, LastName, Salary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FROM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WHERE 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= @DeptIDParam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AND Salary &gt;= @MinSalaryParam'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sp_executesql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N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'@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DeptIDParam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INT, @MinSalaryParam INT'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@DeptIDParam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@MinSalaryParam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@MinSalary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E66D1-3290-0465-EE00-AA47500A6B7B}"/>
              </a:ext>
            </a:extLst>
          </p:cNvPr>
          <p:cNvSpPr txBox="1"/>
          <p:nvPr/>
        </p:nvSpPr>
        <p:spPr>
          <a:xfrm>
            <a:off x="2477069" y="-1628589"/>
            <a:ext cx="4954136" cy="10122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Local Temp Tables (#):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temp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FullName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Insert data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 temp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(automatically dropped when session ends)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1FC40-160D-BED1-8C25-FD03AD46B3ED}"/>
              </a:ext>
            </a:extLst>
          </p:cNvPr>
          <p:cNvSpPr txBox="1"/>
          <p:nvPr/>
        </p:nvSpPr>
        <p:spPr>
          <a:xfrm>
            <a:off x="5465929" y="1730014"/>
            <a:ext cx="4954136" cy="378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Global Temp Tables (##):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Accessible by all sessions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##GlobalTemp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ID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Data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FADE1C-E18C-B7CE-8FE8-A8F73DD15086}"/>
              </a:ext>
            </a:extLst>
          </p:cNvPr>
          <p:cNvSpPr txBox="1"/>
          <p:nvPr/>
        </p:nvSpPr>
        <p:spPr>
          <a:xfrm>
            <a:off x="0" y="0"/>
            <a:ext cx="4954136" cy="7198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Variables: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@Employees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FirstName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LastName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'2023-01-01'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03C389-2680-D6AB-4C23-D274134CE91C}"/>
              </a:ext>
            </a:extLst>
          </p:cNvPr>
          <p:cNvSpPr txBox="1"/>
          <p:nvPr/>
        </p:nvSpPr>
        <p:spPr>
          <a:xfrm>
            <a:off x="0" y="-1247706"/>
            <a:ext cx="4954136" cy="897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33: ERROR HANDLING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Managing Exceptions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TRY-CATCH: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Generate divide by zero error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ERROR_NUMBER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ErrorNumber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ERROR_SEVERITY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ErrorSeverity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ERROR_STATE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ErrorState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ERROR_PROCEDURE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ErrorProcedure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ERROR_LINE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ErrorLine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D026E-14BF-4A0C-FD48-C9BB64E311D6}"/>
              </a:ext>
            </a:extLst>
          </p:cNvPr>
          <p:cNvSpPr txBox="1"/>
          <p:nvPr/>
        </p:nvSpPr>
        <p:spPr>
          <a:xfrm>
            <a:off x="2436126" y="13766"/>
            <a:ext cx="4981432" cy="6441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RAISERROR: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RAISERROR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'Salary cannot be negative'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16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ERROR_MESSAGE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EB456-64FE-4C04-9391-9E23D7C2EDF7}"/>
              </a:ext>
            </a:extLst>
          </p:cNvPr>
          <p:cNvSpPr txBox="1"/>
          <p:nvPr/>
        </p:nvSpPr>
        <p:spPr>
          <a:xfrm>
            <a:off x="5206621" y="616906"/>
            <a:ext cx="4981432" cy="5248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THROW (SQL Server 2012+):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@ProductID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@ProductID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THROW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'Product ID cannot be NULL'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THROW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Rethrow error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AEED27-A3DD-DB04-A869-00DE11398A12}"/>
              </a:ext>
            </a:extLst>
          </p:cNvPr>
          <p:cNvSpPr txBox="1"/>
          <p:nvPr/>
        </p:nvSpPr>
        <p:spPr>
          <a:xfrm>
            <a:off x="293426" y="261466"/>
            <a:ext cx="7428931" cy="633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34: BEST PRACTICES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Writing Efficient SQL</a:t>
            </a: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DO: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explicit column lists instead of SELECT *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appropriate data types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Index columns used in WHERE, JOIN, ORDER BY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JOINs instead of subqueries when possible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SET NOCOUNT ON in stored procedures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Parameterize queries to prevent SQL injection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EXISTS instead of IN for existence checks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UNION ALL instead of UNION when duplicates are acceptable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DON'T: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SELECT DISTINCT to hide bad JOINs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cursors when set-based operations work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Perform functions on indexed columns in WHERE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NOLOCK hint without understanding consequences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Store formatted dates as strings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too many triggers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Neglect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07F91-F934-FA44-8A96-7D57E231FA6B}"/>
              </a:ext>
            </a:extLst>
          </p:cNvPr>
          <p:cNvSpPr txBox="1"/>
          <p:nvPr/>
        </p:nvSpPr>
        <p:spPr>
          <a:xfrm>
            <a:off x="293427" y="358704"/>
            <a:ext cx="4954136" cy="502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35: SQL INJECTION PREVENTION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Security Best Practices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Vulnerable Code: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DON'T DO THIS!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'John; DROP TABLE Employees; --'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'SELECT * FROM Users WHERE FirstName = '''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''''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1D474-7888-B624-BCAF-E9C9254E7AB5}"/>
              </a:ext>
            </a:extLst>
          </p:cNvPr>
          <p:cNvSpPr txBox="1"/>
          <p:nvPr/>
        </p:nvSpPr>
        <p:spPr>
          <a:xfrm>
            <a:off x="3527946" y="1139510"/>
            <a:ext cx="4954136" cy="324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Parameterized Queries: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DO THIS!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'John'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'SELECT * FROM Users WHERE FirstName = @FirstName'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sp_executesql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 err="1">
                <a:solidFill>
                  <a:srgbClr val="50A14F"/>
                </a:solidFill>
                <a:effectLst/>
                <a:latin typeface="Menlo"/>
              </a:rPr>
              <a:t>'@FirstName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 NVARCHAR(50)'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@FirstName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6FCDA-430C-4684-F729-490A45AF0B56}"/>
              </a:ext>
            </a:extLst>
          </p:cNvPr>
          <p:cNvSpPr txBox="1"/>
          <p:nvPr/>
        </p:nvSpPr>
        <p:spPr>
          <a:xfrm>
            <a:off x="4951864" y="1895969"/>
            <a:ext cx="4954136" cy="449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Stored Procedures: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BEST PRACTICE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PROCEDURE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sp_GetUser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@FirstName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1ED02-B58B-FABC-6DEB-8102F97364C5}"/>
              </a:ext>
            </a:extLst>
          </p:cNvPr>
          <p:cNvSpPr txBox="1"/>
          <p:nvPr/>
        </p:nvSpPr>
        <p:spPr>
          <a:xfrm>
            <a:off x="170598" y="160779"/>
            <a:ext cx="4954136" cy="4496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36: PERFORMANCE TUNING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Query Optimization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Execution Plan Analysis: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Table Scan: Reading entire table (bad)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Index Seek: Direct index access (good)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Index Scan: Reading entire index (okay)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Key Lookup: Looking up data after index (expensive)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25C50-44EF-CCAA-BFCF-444E5B7E5990}"/>
              </a:ext>
            </a:extLst>
          </p:cNvPr>
          <p:cNvSpPr txBox="1"/>
          <p:nvPr/>
        </p:nvSpPr>
        <p:spPr>
          <a:xfrm>
            <a:off x="4387755" y="454450"/>
            <a:ext cx="4954136" cy="420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BAD: Function on indexed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2020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Prevents index use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GOOD: Range condition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'2020-01-01'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'2021-01-01'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Uses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BAD: Leading wildcard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'%son'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Prevents index use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GOOD: Trailing wildcard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'S%'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May use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2BF9B-4CEA-541E-2116-5B6A5ECFB28F}"/>
              </a:ext>
            </a:extLst>
          </p:cNvPr>
          <p:cNvSpPr txBox="1"/>
          <p:nvPr/>
        </p:nvSpPr>
        <p:spPr>
          <a:xfrm>
            <a:off x="375314" y="72953"/>
            <a:ext cx="4954136" cy="6712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37: COMMON TABLE EXPRESSIONS VS SUBQUERIES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When to Use What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 Advantages: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Self-referencing (recursive)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Multiple references to same result set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Cleaner, more readable code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Can be used in UPDATE/DELETE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 Advantages: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Can be used in SELECT, WHERE, HAVING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Often better for simple EXISTS checks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performance difference typically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5E4C7-3087-87F7-4802-BB8A8E0CE1C2}"/>
              </a:ext>
            </a:extLst>
          </p:cNvPr>
          <p:cNvSpPr txBox="1"/>
          <p:nvPr/>
        </p:nvSpPr>
        <p:spPr>
          <a:xfrm>
            <a:off x="4953000" y="-139177"/>
            <a:ext cx="4954136" cy="741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Example - Same Result: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Subquery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C44FE-545C-52DE-CD37-79AD5EB2D924}"/>
              </a:ext>
            </a:extLst>
          </p:cNvPr>
          <p:cNvSpPr txBox="1"/>
          <p:nvPr/>
        </p:nvSpPr>
        <p:spPr>
          <a:xfrm>
            <a:off x="375314" y="-2475822"/>
            <a:ext cx="4954136" cy="11809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38: PRACTICE EXERCISES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Hands-On Challenges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1: Basic Queries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List all employees hired in 2021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Show top 5 highest paid 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Count employees by department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2: Joins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Show employee names with department names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Find departments with no 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Calculate total salary by location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3: Advanced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Employees earning more than their manager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Month-over-month hiring trends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Running total of sales by 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4: Optimization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Find and fix slow queries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Create appropriate indexes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Rewrite queries to use </a:t>
            </a:r>
            <a:r>
              <a:rPr lang="en-US" b="0" i="1" dirty="0" err="1">
                <a:solidFill>
                  <a:srgbClr val="A0A1A7"/>
                </a:solidFill>
                <a:effectLst/>
                <a:latin typeface="Menlo"/>
              </a:rPr>
              <a:t>sargable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 conditions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89C77-97AF-F72C-F544-21A255F416F0}"/>
              </a:ext>
            </a:extLst>
          </p:cNvPr>
          <p:cNvSpPr txBox="1"/>
          <p:nvPr/>
        </p:nvSpPr>
        <p:spPr>
          <a:xfrm>
            <a:off x="634622" y="-3991621"/>
            <a:ext cx="4954136" cy="1484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39: COMMON MISTAKES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Pitfalls to Avoid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Mistake 1: NULL Comparisons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WRONG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Mistake 2: Implicit Conversion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WRONG (converts every row)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1234567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'1234567'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Mistake 3: Ambiguous Column Names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WRONG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1CCA6A-0AA0-FC5F-B95C-232826392415}"/>
              </a:ext>
            </a:extLst>
          </p:cNvPr>
          <p:cNvSpPr txBox="1"/>
          <p:nvPr/>
        </p:nvSpPr>
        <p:spPr>
          <a:xfrm>
            <a:off x="1044054" y="-1932724"/>
            <a:ext cx="4954136" cy="10723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40: SUMMARY &amp; NEXT STEPS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SQL Mastery Path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What We Covered: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Database &amp; Table Creation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CRUD Operations (SELECT, INSERT, UPDATE, DELETE)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Filtering, Sorting, Grouping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Joins &amp; Relationships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Subqueries &amp; CTEs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Functions &amp; Stored Procedures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Performance Optimization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Error Handling &amp; Security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Next Steps: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Practice daily with real datasets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Learn advanced topics: Query Tuning, Execution Plans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Explore: Full-Text Search, Spatial Data, JSON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Certification: Microsoft DP-900, DP-300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Build a portfolio project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Resources: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Microsoft Learn: 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https://learn.microsoft.com/sql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SQL Server Documentation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Stack Overflow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GitHub sample databases</a:t>
            </a:r>
          </a:p>
        </p:txBody>
      </p:sp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446</TotalTime>
  <Words>5362</Words>
  <Application>Microsoft Office PowerPoint</Application>
  <PresentationFormat>A4 Paper (210x297 mm)</PresentationFormat>
  <Paragraphs>1065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0" baseType="lpstr">
      <vt:lpstr>Aptos</vt:lpstr>
      <vt:lpstr>Aptos Display</vt:lpstr>
      <vt:lpstr>Arial</vt:lpstr>
      <vt:lpstr>Menlo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75</cp:revision>
  <dcterms:created xsi:type="dcterms:W3CDTF">2026-02-06T21:19:28Z</dcterms:created>
  <dcterms:modified xsi:type="dcterms:W3CDTF">2026-02-14T14:49:33Z</dcterms:modified>
</cp:coreProperties>
</file>