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94660"/>
  </p:normalViewPr>
  <p:slideViewPr>
    <p:cSldViewPr snapToGrid="0">
      <p:cViewPr varScale="1">
        <p:scale>
          <a:sx n="56" d="100"/>
          <a:sy n="56" d="100"/>
        </p:scale>
        <p:origin x="58" y="3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2/23/2026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intellipaat.com/blog/difference-between-jdk-jre-and-jv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intellipaat.com/blog/pointers-in-java/" TargetMode="External"/><Relationship Id="rId2" Type="http://schemas.openxmlformats.org/officeDocument/2006/relationships/hyperlink" Target="https://intellipaat.com/blog/tutorial/java-tutorial/data-types-in-java/"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intellipaat.com/blog/tutorial/java-tutorial/java-constructors/"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intellipaat.com/blog/tutorial/java-tutorial/super-keyword-java/" TargetMode="External"/><Relationship Id="rId2" Type="http://schemas.openxmlformats.org/officeDocument/2006/relationships/hyperlink" Target="https://intellipaat.com/blog/tutorial/java-tutorial/final-keyword-java/"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intellipaat.com/blog/tutorial/java-tutorial/encapsulation-in-java/"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intellipaat.com/blog/difference-between-method-overloading-and-method-overriding-in-java/"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hyperlink" Target="https://intellipaat.com/blog/packages-in-java/"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hyperlink" Target="https://intellipaat.com/blog/tutorial/java-tutorial/loops-in-java/"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hyperlink" Target="https://intellipaat.com/blog/wrapper-classes-in-java/"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hyperlink" Target="https://intellipaat.com/blog/stringbuilder-in-java/" TargetMode="Externa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hyperlink" Target="https://intellipaat.com/blog/cpp-vector/"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hyperlink" Target="https://intellipaat.com/blog/what-is-enumeration/" TargetMode="Externa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hyperlink" Target="https://intellipaat.com/blog/inheritance-in-java/" TargetMode="External"/><Relationship Id="rId2" Type="http://schemas.openxmlformats.org/officeDocument/2006/relationships/hyperlink" Target="https://intellipaat.com/blog/java-inner-class/"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hyperlink" Target="https://intellipaat.com/blog/tutorial/java-tutorial/java-constructors/" TargetMode="Externa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https://intellipaat.com/blog/tutorial/data-science-tutorial/command-line-tools/" TargetMode="External"/><Relationship Id="rId2" Type="http://schemas.openxmlformats.org/officeDocument/2006/relationships/hyperlink" Target="https://intellipaat.com/blog/tutorial/java-tutorial/super-keyword-java/" TargetMode="Externa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hyperlink" Target="https://intellipaat.com/blog/tutorial/java-tutorial/abstract-class-interface/" TargetMode="External"/><Relationship Id="rId2" Type="http://schemas.openxmlformats.org/officeDocument/2006/relationships/hyperlink" Target="https://intellipaat.com/blog/tutorial/java-tutorial/multithreading-in-java/" TargetMode="Externa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hyperlink" Target="https://intellipaat.com/blog/tutorial/java-tutorial/composition-and-aggregation-in-java/" TargetMode="Externa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hyperlink" Target="https://intellipaat.com/blog/destructor-in-cpp/" TargetMode="Externa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hyperlink" Target="https://intellipaat.com/blog/volatile-keyword-in-java/" TargetMode="Externa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hyperlink" Target="https://intellipaat.com/blog/checked-vs-unchecked-exceptions-in-java/" TargetMode="Externa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hyperlink" Target="https://intellipaat.com/blog/thread-in-java/" TargetMode="External"/><Relationship Id="rId2" Type="http://schemas.openxmlformats.org/officeDocument/2006/relationships/hyperlink" Target="https://intellipaat.com/blog/stack-vs-heap/" TargetMode="Externa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E535DE-BC82-6647-7749-E1164A41B33B}"/>
              </a:ext>
            </a:extLst>
          </p:cNvPr>
          <p:cNvSpPr txBox="1"/>
          <p:nvPr/>
        </p:nvSpPr>
        <p:spPr>
          <a:xfrm>
            <a:off x="0" y="657728"/>
            <a:ext cx="9906000" cy="554254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 What is Java, and what makes it popular among developers?</a:t>
            </a:r>
          </a:p>
          <a:p>
            <a:pPr algn="just">
              <a:lnSpc>
                <a:spcPts val="2100"/>
              </a:lnSpc>
              <a:spcBef>
                <a:spcPts val="1650"/>
              </a:spcBef>
              <a:buNone/>
            </a:pPr>
            <a:r>
              <a:rPr lang="en-US" b="0" i="0" dirty="0">
                <a:solidFill>
                  <a:srgbClr val="3A3A3A"/>
                </a:solidFill>
                <a:effectLst/>
                <a:latin typeface="Roboto" panose="02000000000000000000" pitchFamily="2" charset="0"/>
              </a:rPr>
              <a:t>Java is a high-level, object-oriented programming language developed by James Gosling,  vice-president at Sun Microsystems. Java stands out due to unique features like platform independence, automatic memory and pointer management, object-oriented design, built-in multithreading. These features have made Java a popular choice among developers and software companies worldwide.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 What makes the Java platform independent?</a:t>
            </a:r>
          </a:p>
          <a:p>
            <a:pPr algn="just">
              <a:lnSpc>
                <a:spcPts val="2100"/>
              </a:lnSpc>
              <a:spcBef>
                <a:spcPts val="1650"/>
              </a:spcBef>
              <a:buNone/>
            </a:pPr>
            <a:r>
              <a:rPr lang="en-US" b="0" i="0" dirty="0">
                <a:solidFill>
                  <a:srgbClr val="3A3A3A"/>
                </a:solidFill>
                <a:effectLst/>
                <a:latin typeface="Roboto" panose="02000000000000000000" pitchFamily="2" charset="0"/>
              </a:rPr>
              <a:t>Java’s ‘Write Once, Run Anywhere’ feature allows it to be platform-independent. Once a Java program is written, it can run on any machine or operating system with Java installed.</a:t>
            </a:r>
          </a:p>
          <a:p>
            <a:pPr algn="just">
              <a:lnSpc>
                <a:spcPts val="2100"/>
              </a:lnSpc>
              <a:spcBef>
                <a:spcPts val="750"/>
              </a:spcBef>
              <a:buNone/>
            </a:pPr>
            <a:r>
              <a:rPr lang="en-US" b="0" i="0" dirty="0">
                <a:solidFill>
                  <a:srgbClr val="3A3A3A"/>
                </a:solidFill>
                <a:effectLst/>
                <a:latin typeface="Roboto" panose="02000000000000000000" pitchFamily="2" charset="0"/>
              </a:rPr>
              <a:t>When the code is compiled, it is compiled into an intermediate language called Bytecode. Bytecode is not dependent on any operating system or hardware. Once the code is compiled into Bytecode, it is then executed by the Java Virtual Machine (JVM).</a:t>
            </a:r>
          </a:p>
          <a:p>
            <a:pPr algn="just">
              <a:lnSpc>
                <a:spcPts val="2100"/>
              </a:lnSpc>
              <a:spcBef>
                <a:spcPts val="750"/>
              </a:spcBef>
              <a:buNone/>
            </a:pPr>
            <a:r>
              <a:rPr lang="en-US" b="0" i="0" dirty="0">
                <a:solidFill>
                  <a:srgbClr val="3A3A3A"/>
                </a:solidFill>
                <a:effectLst/>
                <a:latin typeface="Roboto" panose="02000000000000000000" pitchFamily="2" charset="0"/>
              </a:rPr>
              <a:t>JVM is platform-dependent and needs to be installed on the platform where you want the code to run. Therefore, as long as the target platform has a JVM installed, it can run any code that is written in Java, making it platform-independent.</a:t>
            </a:r>
          </a:p>
        </p:txBody>
      </p:sp>
    </p:spTree>
    <p:extLst>
      <p:ext uri="{BB962C8B-B14F-4D97-AF65-F5344CB8AC3E}">
        <p14:creationId xmlns:p14="http://schemas.microsoft.com/office/powerpoint/2010/main" val="68678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47F0-2EEC-3B96-C431-447C7F2D00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D9244D-12F7-F57C-73DA-97F438DFF7EC}"/>
              </a:ext>
            </a:extLst>
          </p:cNvPr>
          <p:cNvSpPr txBox="1"/>
          <p:nvPr/>
        </p:nvSpPr>
        <p:spPr>
          <a:xfrm>
            <a:off x="225187" y="114433"/>
            <a:ext cx="6134669" cy="36163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 Explain the differences between Java and C++</a:t>
            </a:r>
          </a:p>
        </p:txBody>
      </p:sp>
      <p:graphicFrame>
        <p:nvGraphicFramePr>
          <p:cNvPr id="4" name="Table 3">
            <a:extLst>
              <a:ext uri="{FF2B5EF4-FFF2-40B4-BE49-F238E27FC236}">
                <a16:creationId xmlns:a16="http://schemas.microsoft.com/office/drawing/2014/main" id="{ED214AFE-D74F-FA2E-C6F0-F5A71241E1CA}"/>
              </a:ext>
            </a:extLst>
          </p:cNvPr>
          <p:cNvGraphicFramePr>
            <a:graphicFrameLocks noGrp="1"/>
          </p:cNvGraphicFramePr>
          <p:nvPr>
            <p:extLst>
              <p:ext uri="{D42A27DB-BD31-4B8C-83A1-F6EECF244321}">
                <p14:modId xmlns:p14="http://schemas.microsoft.com/office/powerpoint/2010/main" val="3178341959"/>
              </p:ext>
            </p:extLst>
          </p:nvPr>
        </p:nvGraphicFramePr>
        <p:xfrm>
          <a:off x="636677" y="842778"/>
          <a:ext cx="4620207" cy="4460936"/>
        </p:xfrm>
        <a:graphic>
          <a:graphicData uri="http://schemas.openxmlformats.org/drawingml/2006/table">
            <a:tbl>
              <a:tblPr/>
              <a:tblGrid>
                <a:gridCol w="1540069">
                  <a:extLst>
                    <a:ext uri="{9D8B030D-6E8A-4147-A177-3AD203B41FA5}">
                      <a16:colId xmlns:a16="http://schemas.microsoft.com/office/drawing/2014/main" val="611230221"/>
                    </a:ext>
                  </a:extLst>
                </a:gridCol>
                <a:gridCol w="1540069">
                  <a:extLst>
                    <a:ext uri="{9D8B030D-6E8A-4147-A177-3AD203B41FA5}">
                      <a16:colId xmlns:a16="http://schemas.microsoft.com/office/drawing/2014/main" val="236476390"/>
                    </a:ext>
                  </a:extLst>
                </a:gridCol>
                <a:gridCol w="1540069">
                  <a:extLst>
                    <a:ext uri="{9D8B030D-6E8A-4147-A177-3AD203B41FA5}">
                      <a16:colId xmlns:a16="http://schemas.microsoft.com/office/drawing/2014/main" val="3364931066"/>
                    </a:ext>
                  </a:extLst>
                </a:gridCol>
              </a:tblGrid>
              <a:tr h="197788">
                <a:tc>
                  <a:txBody>
                    <a:bodyPr/>
                    <a:lstStyle/>
                    <a:p>
                      <a:pPr algn="ctr" fontAlgn="t">
                        <a:buNone/>
                      </a:pPr>
                      <a:r>
                        <a:rPr lang="en-US" sz="1000" b="0">
                          <a:solidFill>
                            <a:srgbClr val="FFFFFF"/>
                          </a:solidFill>
                          <a:effectLst/>
                        </a:rPr>
                        <a:t>Feature</a:t>
                      </a:r>
                      <a:endParaRPr lang="en-US" sz="1000">
                        <a:solidFill>
                          <a:srgbClr val="FFFFFF"/>
                        </a:solidFill>
                        <a:effectLst/>
                      </a:endParaRP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000" b="0">
                          <a:solidFill>
                            <a:srgbClr val="FFFFFF"/>
                          </a:solidFill>
                          <a:effectLst/>
                        </a:rPr>
                        <a:t>Java</a:t>
                      </a:r>
                      <a:endParaRPr lang="en-US" sz="1000">
                        <a:solidFill>
                          <a:srgbClr val="FFFFFF"/>
                        </a:solidFill>
                        <a:effectLst/>
                      </a:endParaRP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000" b="0">
                          <a:solidFill>
                            <a:srgbClr val="FFFFFF"/>
                          </a:solidFill>
                          <a:effectLst/>
                        </a:rPr>
                        <a:t>C++</a:t>
                      </a:r>
                      <a:endParaRPr lang="en-US" sz="1000">
                        <a:solidFill>
                          <a:srgbClr val="FFFFFF"/>
                        </a:solidFill>
                        <a:effectLst/>
                      </a:endParaRP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076600295"/>
                  </a:ext>
                </a:extLst>
              </a:tr>
              <a:tr h="939493">
                <a:tc>
                  <a:txBody>
                    <a:bodyPr/>
                    <a:lstStyle/>
                    <a:p>
                      <a:pPr fontAlgn="t">
                        <a:buNone/>
                      </a:pPr>
                      <a:r>
                        <a:rPr lang="en-US" sz="1000">
                          <a:effectLst/>
                        </a:rPr>
                        <a:t>Design Philosophy</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000">
                          <a:effectLst/>
                        </a:rPr>
                        <a:t>More focus on portability and simplicity.</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000">
                          <a:effectLst/>
                        </a:rPr>
                        <a:t>It is a software layer that provides the necessary environment to run Java programs. (Note: This point seems misplaced; see correction below)</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578067529"/>
                  </a:ext>
                </a:extLst>
              </a:tr>
              <a:tr h="1087834">
                <a:tc>
                  <a:txBody>
                    <a:bodyPr/>
                    <a:lstStyle/>
                    <a:p>
                      <a:pPr fontAlgn="t">
                        <a:buNone/>
                      </a:pPr>
                      <a:r>
                        <a:rPr lang="en-US" sz="1000">
                          <a:effectLst/>
                        </a:rPr>
                        <a:t>Platform Independence</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000">
                          <a:effectLst/>
                        </a:rPr>
                        <a:t>Platform independent, just needs the target platform’s JVM installed.</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000">
                          <a:effectLst/>
                        </a:rPr>
                        <a:t>Consists of JVM, Java libraries like .util and .lang, and runtime tools like garbage collector. (Note: This also seems Java-specific; see correction below)</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025693926"/>
                  </a:ext>
                </a:extLst>
              </a:tr>
              <a:tr h="346129">
                <a:tc>
                  <a:txBody>
                    <a:bodyPr/>
                    <a:lstStyle/>
                    <a:p>
                      <a:pPr fontAlgn="t">
                        <a:buNone/>
                      </a:pPr>
                      <a:r>
                        <a:rPr lang="en-US" sz="1000">
                          <a:effectLst/>
                        </a:rPr>
                        <a:t>Memory Management</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000">
                          <a:effectLst/>
                        </a:rPr>
                        <a:t>Automatic Memory Management.</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000">
                          <a:effectLst/>
                        </a:rPr>
                        <a:t>Manual memory management.</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092130132"/>
                  </a:ext>
                </a:extLst>
              </a:tr>
              <a:tr h="791152">
                <a:tc>
                  <a:txBody>
                    <a:bodyPr/>
                    <a:lstStyle/>
                    <a:p>
                      <a:pPr fontAlgn="t">
                        <a:buNone/>
                      </a:pPr>
                      <a:r>
                        <a:rPr lang="en-US" sz="1000">
                          <a:effectLst/>
                        </a:rPr>
                        <a:t>Execution Speed</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000">
                          <a:effectLst/>
                        </a:rPr>
                        <a:t>It is slower since the code is first converted to bytecode and then interpreted/compiled by the JVM.</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000">
                          <a:effectLst/>
                        </a:rPr>
                        <a:t>Faster due to direct compilation to machine code.</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179304644"/>
                  </a:ext>
                </a:extLst>
              </a:tr>
              <a:tr h="346129">
                <a:tc>
                  <a:txBody>
                    <a:bodyPr/>
                    <a:lstStyle/>
                    <a:p>
                      <a:pPr fontAlgn="t">
                        <a:buNone/>
                      </a:pPr>
                      <a:r>
                        <a:rPr lang="en-US" sz="1000">
                          <a:effectLst/>
                        </a:rPr>
                        <a:t>Syntax Complexity</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000">
                          <a:effectLst/>
                        </a:rPr>
                        <a:t>Simpler Syntax.</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000">
                          <a:effectLst/>
                        </a:rPr>
                        <a:t>Complex Syntax compared to Java.</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477786822"/>
                  </a:ext>
                </a:extLst>
              </a:tr>
              <a:tr h="642811">
                <a:tc>
                  <a:txBody>
                    <a:bodyPr/>
                    <a:lstStyle/>
                    <a:p>
                      <a:pPr fontAlgn="t">
                        <a:buNone/>
                      </a:pPr>
                      <a:r>
                        <a:rPr lang="en-US" sz="1000">
                          <a:effectLst/>
                        </a:rPr>
                        <a:t>Application Domains</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000">
                          <a:effectLst/>
                        </a:rPr>
                        <a:t>Used in enterprise applications, web development, Android apps, etc.</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000" dirty="0">
                          <a:effectLst/>
                        </a:rPr>
                        <a:t>Used in system software, game development, embedded systems, etc.</a:t>
                      </a:r>
                    </a:p>
                  </a:txBody>
                  <a:tcPr marL="49447" marR="49447" marT="24724" marB="24724">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894847417"/>
                  </a:ext>
                </a:extLst>
              </a:tr>
            </a:tbl>
          </a:graphicData>
        </a:graphic>
      </p:graphicFrame>
    </p:spTree>
    <p:extLst>
      <p:ext uri="{BB962C8B-B14F-4D97-AF65-F5344CB8AC3E}">
        <p14:creationId xmlns:p14="http://schemas.microsoft.com/office/powerpoint/2010/main" val="115739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D29A-B4F1-7845-01A9-9FC7E064E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69B671-4B28-039A-FA0C-0AC3C22A2DFA}"/>
              </a:ext>
            </a:extLst>
          </p:cNvPr>
          <p:cNvSpPr txBox="1"/>
          <p:nvPr/>
        </p:nvSpPr>
        <p:spPr>
          <a:xfrm>
            <a:off x="252484" y="250911"/>
            <a:ext cx="8222776" cy="36163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 What is the difference between JDK, JRE, and JVM in Java?</a:t>
            </a:r>
          </a:p>
        </p:txBody>
      </p:sp>
      <p:graphicFrame>
        <p:nvGraphicFramePr>
          <p:cNvPr id="4" name="Table 3">
            <a:extLst>
              <a:ext uri="{FF2B5EF4-FFF2-40B4-BE49-F238E27FC236}">
                <a16:creationId xmlns:a16="http://schemas.microsoft.com/office/drawing/2014/main" id="{651CD197-35DA-4C21-4C9B-66BAF6ACADCD}"/>
              </a:ext>
            </a:extLst>
          </p:cNvPr>
          <p:cNvGraphicFramePr>
            <a:graphicFrameLocks noGrp="1"/>
          </p:cNvGraphicFramePr>
          <p:nvPr>
            <p:extLst>
              <p:ext uri="{D42A27DB-BD31-4B8C-83A1-F6EECF244321}">
                <p14:modId xmlns:p14="http://schemas.microsoft.com/office/powerpoint/2010/main" val="1093853136"/>
              </p:ext>
            </p:extLst>
          </p:nvPr>
        </p:nvGraphicFramePr>
        <p:xfrm>
          <a:off x="503617" y="1019259"/>
          <a:ext cx="8543925" cy="2743200"/>
        </p:xfrm>
        <a:graphic>
          <a:graphicData uri="http://schemas.openxmlformats.org/drawingml/2006/table">
            <a:tbl>
              <a:tblPr/>
              <a:tblGrid>
                <a:gridCol w="2847975">
                  <a:extLst>
                    <a:ext uri="{9D8B030D-6E8A-4147-A177-3AD203B41FA5}">
                      <a16:colId xmlns:a16="http://schemas.microsoft.com/office/drawing/2014/main" val="3024203670"/>
                    </a:ext>
                  </a:extLst>
                </a:gridCol>
                <a:gridCol w="2847975">
                  <a:extLst>
                    <a:ext uri="{9D8B030D-6E8A-4147-A177-3AD203B41FA5}">
                      <a16:colId xmlns:a16="http://schemas.microsoft.com/office/drawing/2014/main" val="1394751381"/>
                    </a:ext>
                  </a:extLst>
                </a:gridCol>
                <a:gridCol w="2847975">
                  <a:extLst>
                    <a:ext uri="{9D8B030D-6E8A-4147-A177-3AD203B41FA5}">
                      <a16:colId xmlns:a16="http://schemas.microsoft.com/office/drawing/2014/main" val="2971432932"/>
                    </a:ext>
                  </a:extLst>
                </a:gridCol>
              </a:tblGrid>
              <a:tr h="0">
                <a:tc>
                  <a:txBody>
                    <a:bodyPr/>
                    <a:lstStyle/>
                    <a:p>
                      <a:pPr algn="ctr" fontAlgn="t">
                        <a:buNone/>
                      </a:pPr>
                      <a:r>
                        <a:rPr lang="en-US" b="0">
                          <a:solidFill>
                            <a:srgbClr val="FFFFFF"/>
                          </a:solidFill>
                          <a:effectLst/>
                        </a:rPr>
                        <a:t>JDK</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JRE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JVM</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974209314"/>
                  </a:ext>
                </a:extLst>
              </a:tr>
              <a:tr h="0">
                <a:tc>
                  <a:txBody>
                    <a:bodyPr/>
                    <a:lstStyle/>
                    <a:p>
                      <a:pPr fontAlgn="t">
                        <a:buNone/>
                      </a:pPr>
                      <a:r>
                        <a:rPr lang="en-US">
                          <a:effectLst/>
                        </a:rPr>
                        <a:t>It includes the full suite of tools required for developing Java applications.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It is a software layer that provides the necessary environment to run Java programs.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JVM converts Java Code into Bytecode.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081430161"/>
                  </a:ext>
                </a:extLst>
              </a:tr>
              <a:tr h="0">
                <a:tc>
                  <a:txBody>
                    <a:bodyPr/>
                    <a:lstStyle/>
                    <a:p>
                      <a:pPr fontAlgn="t">
                        <a:buNone/>
                      </a:pPr>
                      <a:r>
                        <a:rPr lang="en-US">
                          <a:effectLst/>
                        </a:rPr>
                        <a:t>Includes JRE, JVM, Java compiler, java debugger, and javadoc.</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It consists of the JVM, java libraries like .util and .lang, and runtime tools like java collector.</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It is platform dependent i.e., it has different versions of Mac, Linux, and Windows.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455766642"/>
                  </a:ext>
                </a:extLst>
              </a:tr>
            </a:tbl>
          </a:graphicData>
        </a:graphic>
      </p:graphicFrame>
      <p:sp>
        <p:nvSpPr>
          <p:cNvPr id="6" name="TextBox 5">
            <a:extLst>
              <a:ext uri="{FF2B5EF4-FFF2-40B4-BE49-F238E27FC236}">
                <a16:creationId xmlns:a16="http://schemas.microsoft.com/office/drawing/2014/main" id="{3D225C71-E947-85E4-6B10-C16B016160EF}"/>
              </a:ext>
            </a:extLst>
          </p:cNvPr>
          <p:cNvSpPr txBox="1"/>
          <p:nvPr/>
        </p:nvSpPr>
        <p:spPr>
          <a:xfrm>
            <a:off x="689212" y="4405785"/>
            <a:ext cx="8543924" cy="646331"/>
          </a:xfrm>
          <a:prstGeom prst="rect">
            <a:avLst/>
          </a:prstGeom>
          <a:noFill/>
        </p:spPr>
        <p:txBody>
          <a:bodyPr wrap="square">
            <a:spAutoFit/>
          </a:bodyPr>
          <a:lstStyle/>
          <a:p>
            <a:r>
              <a:rPr lang="en-US" b="0" i="1" dirty="0">
                <a:solidFill>
                  <a:srgbClr val="3A3A3A"/>
                </a:solidFill>
                <a:effectLst/>
                <a:latin typeface="Roboto" panose="02000000000000000000" pitchFamily="2" charset="0"/>
              </a:rPr>
              <a:t>If you want to learn more differences, explore our detailed guide on </a:t>
            </a:r>
            <a:r>
              <a:rPr lang="en-US" b="0" i="1" u="none" strike="noStrike" dirty="0">
                <a:solidFill>
                  <a:srgbClr val="0F5A9E"/>
                </a:solidFill>
                <a:effectLst/>
                <a:latin typeface="Roboto" panose="02000000000000000000" pitchFamily="2" charset="0"/>
                <a:hlinkClick r:id="rId2"/>
              </a:rPr>
              <a:t>JDK, JRE, and JVM</a:t>
            </a:r>
            <a:r>
              <a:rPr lang="en-US" b="0" i="1" dirty="0">
                <a:solidFill>
                  <a:srgbClr val="3A3A3A"/>
                </a:solidFill>
                <a:effectLst/>
                <a:latin typeface="Roboto" panose="02000000000000000000" pitchFamily="2" charset="0"/>
              </a:rPr>
              <a:t>.</a:t>
            </a:r>
            <a:endParaRPr lang="en-US" dirty="0"/>
          </a:p>
        </p:txBody>
      </p:sp>
    </p:spTree>
    <p:extLst>
      <p:ext uri="{BB962C8B-B14F-4D97-AF65-F5344CB8AC3E}">
        <p14:creationId xmlns:p14="http://schemas.microsoft.com/office/powerpoint/2010/main" val="300373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D1ED-AE24-6A7F-06AD-E8D52398C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F8B06F-0340-8782-1362-32E9F60DC022}"/>
              </a:ext>
            </a:extLst>
          </p:cNvPr>
          <p:cNvSpPr txBox="1"/>
          <p:nvPr/>
        </p:nvSpPr>
        <p:spPr>
          <a:xfrm>
            <a:off x="2477069" y="372600"/>
            <a:ext cx="4954136" cy="611962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 Which features of the Java programming language make it popular?</a:t>
            </a:r>
          </a:p>
          <a:p>
            <a:pPr algn="just">
              <a:lnSpc>
                <a:spcPts val="2100"/>
              </a:lnSpc>
              <a:spcBef>
                <a:spcPts val="1650"/>
              </a:spcBef>
              <a:buNone/>
            </a:pPr>
            <a:r>
              <a:rPr lang="en-US" b="0" i="0" dirty="0">
                <a:solidFill>
                  <a:srgbClr val="3A3A3A"/>
                </a:solidFill>
                <a:effectLst/>
                <a:latin typeface="Roboto" panose="02000000000000000000" pitchFamily="2" charset="0"/>
              </a:rPr>
              <a:t>Java’s popularity lies in the features it offers. Here are the top features provided by Java:</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Platform Independent: Code can run on any platform.</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Object Oriented: Follows the principles of OOPS.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Simple and Easy to Learn: Doesn’t include complex features such as pointers, operator overloading etc.</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Secure: Explicit access to pointers is unavailable, making it less vulnerable.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Multi-threaded: Supports parallel computing.</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Distributed Computing: Built-in support for remote method invocation and protocols like HTTP and FTP.</a:t>
            </a:r>
          </a:p>
        </p:txBody>
      </p:sp>
    </p:spTree>
    <p:extLst>
      <p:ext uri="{BB962C8B-B14F-4D97-AF65-F5344CB8AC3E}">
        <p14:creationId xmlns:p14="http://schemas.microsoft.com/office/powerpoint/2010/main" val="325845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EBBE-70C4-1F8D-8A27-CED0ABFBD1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78EF69-58DB-C787-B193-B5CCE99D3CF5}"/>
              </a:ext>
            </a:extLst>
          </p:cNvPr>
          <p:cNvSpPr txBox="1"/>
          <p:nvPr/>
        </p:nvSpPr>
        <p:spPr>
          <a:xfrm>
            <a:off x="266131" y="237264"/>
            <a:ext cx="8591265" cy="36163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 Explain the following syntax: public static void main(String </a:t>
            </a:r>
            <a:r>
              <a:rPr lang="en-US" b="0" i="0" dirty="0" err="1">
                <a:solidFill>
                  <a:srgbClr val="272C37"/>
                </a:solidFill>
                <a:effectLst/>
                <a:latin typeface="Roboto" panose="02000000000000000000" pitchFamily="2" charset="0"/>
              </a:rPr>
              <a:t>args</a:t>
            </a:r>
            <a:r>
              <a:rPr lang="en-US" b="0" i="0" dirty="0">
                <a:solidFill>
                  <a:srgbClr val="272C37"/>
                </a:solidFill>
                <a:effectLst/>
                <a:latin typeface="Roboto" panose="02000000000000000000" pitchFamily="2" charset="0"/>
              </a:rPr>
              <a:t>[]) in java?</a:t>
            </a:r>
          </a:p>
        </p:txBody>
      </p:sp>
      <p:pic>
        <p:nvPicPr>
          <p:cNvPr id="3076" name="Picture 4" descr="Public static void main">
            <a:extLst>
              <a:ext uri="{FF2B5EF4-FFF2-40B4-BE49-F238E27FC236}">
                <a16:creationId xmlns:a16="http://schemas.microsoft.com/office/drawing/2014/main" id="{34446741-8D1F-FCCD-89E9-556725F276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286" y="850355"/>
            <a:ext cx="3850801" cy="18421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98E3FA5-7312-32C0-4436-D3E6C9D3973D}"/>
              </a:ext>
            </a:extLst>
          </p:cNvPr>
          <p:cNvSpPr txBox="1"/>
          <p:nvPr/>
        </p:nvSpPr>
        <p:spPr>
          <a:xfrm>
            <a:off x="266131" y="2692536"/>
            <a:ext cx="9430603" cy="3734356"/>
          </a:xfrm>
          <a:prstGeom prst="rect">
            <a:avLst/>
          </a:prstGeom>
          <a:noFill/>
        </p:spPr>
        <p:txBody>
          <a:bodyPr wrap="square">
            <a:spAutoFit/>
          </a:bodyPr>
          <a:lstStyle/>
          <a:p>
            <a:pPr algn="just">
              <a:lnSpc>
                <a:spcPts val="2100"/>
              </a:lnSpc>
              <a:spcBef>
                <a:spcPts val="750"/>
              </a:spcBef>
              <a:buNone/>
            </a:pPr>
            <a:r>
              <a:rPr lang="en-US" b="0" i="0" dirty="0">
                <a:solidFill>
                  <a:srgbClr val="3A3A3A"/>
                </a:solidFill>
                <a:effectLst/>
                <a:latin typeface="Roboto" panose="02000000000000000000" pitchFamily="2" charset="0"/>
              </a:rPr>
              <a:t>Every Java program needs a main method. When you compile a Java program, the JVM looks for the main method with the exact same syntax. Let’s break down the syntax to understand it better.</a:t>
            </a:r>
          </a:p>
          <a:p>
            <a:pPr algn="just">
              <a:lnSpc>
                <a:spcPts val="2100"/>
              </a:lnSpc>
              <a:spcBef>
                <a:spcPts val="750"/>
              </a:spcBef>
              <a:buNone/>
            </a:pPr>
            <a:r>
              <a:rPr lang="en-US" b="0" i="0" dirty="0">
                <a:solidFill>
                  <a:srgbClr val="3A3A3A"/>
                </a:solidFill>
                <a:effectLst/>
                <a:latin typeface="Roboto" panose="02000000000000000000" pitchFamily="2" charset="0"/>
              </a:rPr>
              <a:t>Public: The access specifier ‘public’ helps JVM access the method from outside the class.</a:t>
            </a:r>
          </a:p>
          <a:p>
            <a:pPr algn="just">
              <a:lnSpc>
                <a:spcPts val="2100"/>
              </a:lnSpc>
              <a:spcBef>
                <a:spcPts val="750"/>
              </a:spcBef>
              <a:buNone/>
            </a:pPr>
            <a:r>
              <a:rPr lang="en-US" b="0" i="0" dirty="0">
                <a:solidFill>
                  <a:srgbClr val="3A3A3A"/>
                </a:solidFill>
                <a:effectLst/>
                <a:latin typeface="Roboto" panose="02000000000000000000" pitchFamily="2" charset="0"/>
              </a:rPr>
              <a:t>Static: The static keyword helps to make a method or variable belong to a class, and not to an instance of a class, which is its object. This is useful because even if an object is instantiated from the class, the main method will remain global and not instantiate again, hence not confusing the JVM.</a:t>
            </a:r>
          </a:p>
          <a:p>
            <a:pPr algn="just">
              <a:lnSpc>
                <a:spcPts val="2100"/>
              </a:lnSpc>
              <a:spcBef>
                <a:spcPts val="750"/>
              </a:spcBef>
              <a:buNone/>
            </a:pPr>
            <a:r>
              <a:rPr lang="en-US" b="0" i="0" dirty="0">
                <a:solidFill>
                  <a:srgbClr val="3A3A3A"/>
                </a:solidFill>
                <a:effectLst/>
                <a:latin typeface="Roboto" panose="02000000000000000000" pitchFamily="2" charset="0"/>
              </a:rPr>
              <a:t>Void: This is a return type, and means the main method is not returning any value to the caller. In this case, it’s the JVM.</a:t>
            </a:r>
          </a:p>
          <a:p>
            <a:pPr algn="just">
              <a:lnSpc>
                <a:spcPts val="2100"/>
              </a:lnSpc>
              <a:spcBef>
                <a:spcPts val="750"/>
              </a:spcBef>
              <a:buNone/>
            </a:pPr>
            <a:r>
              <a:rPr lang="en-US" b="0" i="0" dirty="0">
                <a:solidFill>
                  <a:srgbClr val="3A3A3A"/>
                </a:solidFill>
                <a:effectLst/>
                <a:latin typeface="Roboto" panose="02000000000000000000" pitchFamily="2" charset="0"/>
              </a:rPr>
              <a:t>main(String </a:t>
            </a:r>
            <a:r>
              <a:rPr lang="en-US" b="0" i="0" dirty="0" err="1">
                <a:solidFill>
                  <a:srgbClr val="3A3A3A"/>
                </a:solidFill>
                <a:effectLst/>
                <a:latin typeface="Roboto" panose="02000000000000000000" pitchFamily="2" charset="0"/>
              </a:rPr>
              <a:t>args</a:t>
            </a:r>
            <a:r>
              <a:rPr lang="en-US" b="0" i="0" dirty="0">
                <a:solidFill>
                  <a:srgbClr val="3A3A3A"/>
                </a:solidFill>
                <a:effectLst/>
                <a:latin typeface="Roboto" panose="02000000000000000000" pitchFamily="2" charset="0"/>
              </a:rPr>
              <a:t>[]): This is the main method, with parameters of </a:t>
            </a:r>
            <a:r>
              <a:rPr lang="en-US" b="0" i="0" dirty="0" err="1">
                <a:solidFill>
                  <a:srgbClr val="3A3A3A"/>
                </a:solidFill>
                <a:effectLst/>
                <a:latin typeface="Roboto" panose="02000000000000000000" pitchFamily="2" charset="0"/>
              </a:rPr>
              <a:t>args</a:t>
            </a:r>
            <a:r>
              <a:rPr lang="en-US" b="0" i="0" dirty="0">
                <a:solidFill>
                  <a:srgbClr val="3A3A3A"/>
                </a:solidFill>
                <a:effectLst/>
                <a:latin typeface="Roboto" panose="02000000000000000000" pitchFamily="2" charset="0"/>
              </a:rPr>
              <a:t>[]. </a:t>
            </a:r>
            <a:r>
              <a:rPr lang="en-US" b="0" i="0" dirty="0" err="1">
                <a:solidFill>
                  <a:srgbClr val="3A3A3A"/>
                </a:solidFill>
                <a:effectLst/>
                <a:latin typeface="Roboto" panose="02000000000000000000" pitchFamily="2" charset="0"/>
              </a:rPr>
              <a:t>args</a:t>
            </a:r>
            <a:r>
              <a:rPr lang="en-US" b="0" i="0" dirty="0">
                <a:solidFill>
                  <a:srgbClr val="3A3A3A"/>
                </a:solidFill>
                <a:effectLst/>
                <a:latin typeface="Roboto" panose="02000000000000000000" pitchFamily="2" charset="0"/>
              </a:rPr>
              <a:t>[] helps to catch any command line arguments passed while launching the program.</a:t>
            </a:r>
          </a:p>
        </p:txBody>
      </p:sp>
    </p:spTree>
    <p:extLst>
      <p:ext uri="{BB962C8B-B14F-4D97-AF65-F5344CB8AC3E}">
        <p14:creationId xmlns:p14="http://schemas.microsoft.com/office/powerpoint/2010/main" val="292836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A10F-2D85-0FDB-FDC3-AC4C4EFA20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07D1DA-1653-4363-1D60-031CFB6FC9BE}"/>
              </a:ext>
            </a:extLst>
          </p:cNvPr>
          <p:cNvSpPr txBox="1"/>
          <p:nvPr/>
        </p:nvSpPr>
        <p:spPr>
          <a:xfrm>
            <a:off x="470848" y="442009"/>
            <a:ext cx="4954136" cy="322395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 If the main method is not declared as static, what will happen?</a:t>
            </a:r>
          </a:p>
          <a:p>
            <a:pPr algn="just">
              <a:lnSpc>
                <a:spcPts val="2100"/>
              </a:lnSpc>
              <a:spcBef>
                <a:spcPts val="1650"/>
              </a:spcBef>
              <a:buNone/>
            </a:pPr>
            <a:r>
              <a:rPr lang="en-US" b="0" i="0" dirty="0">
                <a:solidFill>
                  <a:srgbClr val="3A3A3A"/>
                </a:solidFill>
                <a:effectLst/>
                <a:latin typeface="Roboto" panose="02000000000000000000" pitchFamily="2" charset="0"/>
              </a:rPr>
              <a:t>The program will compile successfully, but it will produce the following runtime error when executed.</a:t>
            </a:r>
          </a:p>
          <a:p>
            <a:pPr algn="just">
              <a:lnSpc>
                <a:spcPts val="2100"/>
              </a:lnSpc>
              <a:spcBef>
                <a:spcPts val="750"/>
              </a:spcBef>
              <a:buNone/>
            </a:pPr>
            <a:r>
              <a:rPr lang="en-US" b="0" i="0" dirty="0">
                <a:solidFill>
                  <a:srgbClr val="3A3A3A"/>
                </a:solidFill>
                <a:effectLst/>
                <a:latin typeface="Roboto" panose="02000000000000000000" pitchFamily="2" charset="0"/>
              </a:rPr>
              <a:t>Error: Main method is not static in class Example, please define the main method as:</a:t>
            </a:r>
          </a:p>
          <a:p>
            <a:pPr algn="l">
              <a:spcBef>
                <a:spcPts val="1125"/>
              </a:spcBef>
              <a:spcAft>
                <a:spcPts val="375"/>
              </a:spcAft>
              <a:buNone/>
            </a:pPr>
            <a:r>
              <a:rPr lang="en-US" b="0" i="0" dirty="0">
                <a:solidFill>
                  <a:srgbClr val="212529"/>
                </a:solidFill>
                <a:effectLst/>
                <a:latin typeface="Courier New" panose="02070309020205020404" pitchFamily="49" charset="0"/>
              </a:rPr>
              <a:t>public static void main(String[] </a:t>
            </a:r>
            <a:r>
              <a:rPr lang="en-US" b="0" i="0" dirty="0" err="1">
                <a:solidFill>
                  <a:srgbClr val="212529"/>
                </a:solidFill>
                <a:effectLst/>
                <a:latin typeface="Courier New" panose="02070309020205020404" pitchFamily="49" charset="0"/>
              </a:rPr>
              <a:t>args</a:t>
            </a: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132704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776-5122-9D9C-1832-6BA7A87257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50299B-7F47-AAD8-A5C7-751214E94B49}"/>
              </a:ext>
            </a:extLst>
          </p:cNvPr>
          <p:cNvSpPr txBox="1"/>
          <p:nvPr/>
        </p:nvSpPr>
        <p:spPr>
          <a:xfrm>
            <a:off x="244522" y="182394"/>
            <a:ext cx="9416955" cy="805605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 What are the different kinds of data types in Java?</a:t>
            </a:r>
          </a:p>
          <a:p>
            <a:pPr algn="just">
              <a:lnSpc>
                <a:spcPts val="2100"/>
              </a:lnSpc>
              <a:spcBef>
                <a:spcPts val="1650"/>
              </a:spcBef>
              <a:buNone/>
            </a:pPr>
            <a:r>
              <a:rPr lang="en-US" b="0" i="0" dirty="0">
                <a:solidFill>
                  <a:srgbClr val="3A3A3A"/>
                </a:solidFill>
                <a:effectLst/>
                <a:latin typeface="Roboto" panose="02000000000000000000" pitchFamily="2" charset="0"/>
              </a:rPr>
              <a:t>Java primarily has two kind of </a:t>
            </a:r>
            <a:r>
              <a:rPr lang="en-US" b="0" i="0" u="none" strike="noStrike" dirty="0">
                <a:solidFill>
                  <a:srgbClr val="0F5A9E"/>
                </a:solidFill>
                <a:effectLst/>
                <a:latin typeface="Roboto" panose="02000000000000000000" pitchFamily="2" charset="0"/>
                <a:hlinkClick r:id="rId2"/>
              </a:rPr>
              <a:t>data types</a:t>
            </a:r>
            <a:r>
              <a:rPr lang="en-US" b="0" i="0" dirty="0">
                <a:solidFill>
                  <a:srgbClr val="3A3A3A"/>
                </a:solidFill>
                <a:effectLst/>
                <a:latin typeface="Roboto" panose="02000000000000000000" pitchFamily="2" charset="0"/>
              </a:rPr>
              <a:t>:</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Primitive Data Types: These are the most basic data types, they have simple values and are not objects. Example: byte, short, int, etc.</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Non-Primitive Data types: These are also called reference types and are used to store references to objects in memory. Example: strings, arrays, classes, etc.</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 Why can’t we use pointers in Java?</a:t>
            </a:r>
          </a:p>
          <a:p>
            <a:pPr algn="just">
              <a:lnSpc>
                <a:spcPts val="2100"/>
              </a:lnSpc>
              <a:spcBef>
                <a:spcPts val="1650"/>
              </a:spcBef>
              <a:buNone/>
            </a:pPr>
            <a:r>
              <a:rPr lang="en-US" b="0" i="0" dirty="0">
                <a:solidFill>
                  <a:srgbClr val="3A3A3A"/>
                </a:solidFill>
                <a:effectLst/>
                <a:latin typeface="Roboto" panose="02000000000000000000" pitchFamily="2" charset="0"/>
              </a:rPr>
              <a:t>Pointers allow direct access to memory, and is a key feature of C/C++, however Java’s design intentionally disallows direct access to memory and therefore it does not make </a:t>
            </a:r>
            <a:r>
              <a:rPr lang="en-US" b="0" i="0" u="none" strike="noStrike" dirty="0">
                <a:solidFill>
                  <a:srgbClr val="0F5A9E"/>
                </a:solidFill>
                <a:effectLst/>
                <a:latin typeface="Roboto" panose="02000000000000000000" pitchFamily="2" charset="0"/>
                <a:hlinkClick r:id="rId3"/>
              </a:rPr>
              <a:t>use of pointers</a:t>
            </a:r>
            <a:r>
              <a:rPr lang="en-US" b="0" i="0" dirty="0">
                <a:solidFill>
                  <a:srgbClr val="3A3A3A"/>
                </a:solidFill>
                <a:effectLst/>
                <a:latin typeface="Roboto" panose="02000000000000000000" pitchFamily="2" charset="0"/>
              </a:rPr>
              <a:t>. This design decision is to align Java to be a safe, simple, platform independent and secure programming language.</a:t>
            </a:r>
          </a:p>
          <a:p>
            <a:pPr algn="just">
              <a:lnSpc>
                <a:spcPts val="2100"/>
              </a:lnSpc>
              <a:spcBef>
                <a:spcPts val="750"/>
              </a:spcBef>
              <a:buNone/>
            </a:pPr>
            <a:r>
              <a:rPr lang="en-US" b="0" i="0" dirty="0">
                <a:solidFill>
                  <a:srgbClr val="3A3A3A"/>
                </a:solidFill>
                <a:effectLst/>
                <a:latin typeface="Roboto" panose="02000000000000000000" pitchFamily="2" charset="0"/>
              </a:rPr>
              <a:t>But why can the use of pointers be problematic? Let’s understand: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Safety: Direct access to memory via pointers can lead to a lot of vulnerabilities such as unauthorized memory access, memory corruption, overflows etc. Java automatically manages the memory, hence no room for human error.</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Simplicity: Since java has automatic memory management, it is more simple to use.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Platform Independent: Different systems have different memory layouts, Java abstracts the memory management, and manages it via JVM. Therefore the same code can run on any platform.</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Secure: Restricted memory access and automatic memory management promotes better security.</a:t>
            </a:r>
          </a:p>
        </p:txBody>
      </p:sp>
    </p:spTree>
    <p:extLst>
      <p:ext uri="{BB962C8B-B14F-4D97-AF65-F5344CB8AC3E}">
        <p14:creationId xmlns:p14="http://schemas.microsoft.com/office/powerpoint/2010/main" val="816851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6DC-4F95-0F27-C495-4C63757B1A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AAF90C8-85B7-E61C-CAD6-33F6E6430CF4}"/>
              </a:ext>
            </a:extLst>
          </p:cNvPr>
          <p:cNvSpPr txBox="1"/>
          <p:nvPr/>
        </p:nvSpPr>
        <p:spPr>
          <a:xfrm>
            <a:off x="245660" y="-563553"/>
            <a:ext cx="9471546" cy="529888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 What are Classes and Objects in Java?</a:t>
            </a:r>
          </a:p>
          <a:p>
            <a:pPr algn="just">
              <a:lnSpc>
                <a:spcPts val="2100"/>
              </a:lnSpc>
              <a:spcBef>
                <a:spcPts val="1650"/>
              </a:spcBef>
              <a:buNone/>
            </a:pPr>
            <a:r>
              <a:rPr lang="en-US" b="0" i="0" dirty="0">
                <a:solidFill>
                  <a:srgbClr val="3A3A3A"/>
                </a:solidFill>
                <a:effectLst/>
                <a:latin typeface="Roboto" panose="02000000000000000000" pitchFamily="2" charset="0"/>
              </a:rPr>
              <a:t>A class is the blueprint or template for creating an object and an object is an instance of a class with all its properties.</a:t>
            </a:r>
          </a:p>
          <a:p>
            <a:pPr algn="just">
              <a:lnSpc>
                <a:spcPts val="2100"/>
              </a:lnSpc>
              <a:spcBef>
                <a:spcPts val="750"/>
              </a:spcBef>
              <a:buNone/>
            </a:pPr>
            <a:r>
              <a:rPr lang="en-US" b="0" i="0" dirty="0">
                <a:solidFill>
                  <a:srgbClr val="3A3A3A"/>
                </a:solidFill>
                <a:effectLst/>
                <a:latin typeface="Roboto" panose="02000000000000000000" pitchFamily="2" charset="0"/>
              </a:rPr>
              <a:t>Let’s take a real world example to understand this:</a:t>
            </a:r>
          </a:p>
          <a:p>
            <a:pPr algn="just">
              <a:lnSpc>
                <a:spcPts val="2100"/>
              </a:lnSpc>
              <a:spcBef>
                <a:spcPts val="750"/>
              </a:spcBef>
              <a:buNone/>
            </a:pPr>
            <a:r>
              <a:rPr lang="en-US" b="0" i="0" dirty="0">
                <a:solidFill>
                  <a:srgbClr val="3A3A3A"/>
                </a:solidFill>
                <a:effectLst/>
                <a:latin typeface="Roboto" panose="02000000000000000000" pitchFamily="2" charset="0"/>
              </a:rPr>
              <a:t>There are so many models of cars, for example Mercedes, BMW, Audi, etc. These models can be considered as objects. They have been derived from a blueprint which is a “car”.</a:t>
            </a:r>
          </a:p>
          <a:p>
            <a:pPr algn="just">
              <a:lnSpc>
                <a:spcPts val="2100"/>
              </a:lnSpc>
              <a:spcBef>
                <a:spcPts val="750"/>
              </a:spcBef>
              <a:buNone/>
            </a:pPr>
            <a:r>
              <a:rPr lang="en-US" b="0" i="0" dirty="0">
                <a:solidFill>
                  <a:srgbClr val="3A3A3A"/>
                </a:solidFill>
                <a:effectLst/>
                <a:latin typeface="Roboto" panose="02000000000000000000" pitchFamily="2" charset="0"/>
              </a:rPr>
              <a:t>Let’s consider cars as a class or blueprint.</a:t>
            </a:r>
          </a:p>
          <a:p>
            <a:pPr algn="just">
              <a:lnSpc>
                <a:spcPts val="2100"/>
              </a:lnSpc>
              <a:spcBef>
                <a:spcPts val="750"/>
              </a:spcBef>
              <a:buNone/>
            </a:pPr>
            <a:r>
              <a:rPr lang="en-US" b="0" i="0" dirty="0">
                <a:solidFill>
                  <a:srgbClr val="3A3A3A"/>
                </a:solidFill>
                <a:effectLst/>
                <a:latin typeface="Roboto" panose="02000000000000000000" pitchFamily="2" charset="0"/>
              </a:rPr>
              <a:t>A car has 4 wheels, it has an engine, it has brakes, wipers, headlights etc. These features of a car are called the properties of a car.</a:t>
            </a:r>
          </a:p>
          <a:p>
            <a:pPr algn="just">
              <a:lnSpc>
                <a:spcPts val="2100"/>
              </a:lnSpc>
              <a:spcBef>
                <a:spcPts val="750"/>
              </a:spcBef>
              <a:buNone/>
            </a:pPr>
            <a:r>
              <a:rPr lang="en-US" b="0" i="0" dirty="0">
                <a:solidFill>
                  <a:srgbClr val="3A3A3A"/>
                </a:solidFill>
                <a:effectLst/>
                <a:latin typeface="Roboto" panose="02000000000000000000" pitchFamily="2" charset="0"/>
              </a:rPr>
              <a:t>An object of this class ‘car’, will have all these properties. Cars like BMW, Mercedes and Audi, all have these properties. Hence, we call them objects of the class car.</a:t>
            </a:r>
          </a:p>
          <a:p>
            <a:pPr algn="just">
              <a:lnSpc>
                <a:spcPts val="2100"/>
              </a:lnSpc>
              <a:spcBef>
                <a:spcPts val="750"/>
              </a:spcBef>
              <a:buNone/>
            </a:pPr>
            <a:r>
              <a:rPr lang="en-US" b="0" i="0" dirty="0">
                <a:solidFill>
                  <a:srgbClr val="3A3A3A"/>
                </a:solidFill>
                <a:effectLst/>
                <a:latin typeface="Roboto" panose="02000000000000000000" pitchFamily="2" charset="0"/>
              </a:rPr>
              <a:t>Similarly in Java, we can define a class with custom functions, variables, </a:t>
            </a:r>
            <a:r>
              <a:rPr lang="en-US" b="0" i="0" u="none" strike="noStrike" dirty="0">
                <a:solidFill>
                  <a:srgbClr val="0F5A9E"/>
                </a:solidFill>
                <a:effectLst/>
                <a:latin typeface="Roboto" panose="02000000000000000000" pitchFamily="2" charset="0"/>
                <a:hlinkClick r:id="rId2"/>
              </a:rPr>
              <a:t>constructors</a:t>
            </a:r>
            <a:r>
              <a:rPr lang="en-US" b="0" i="0" dirty="0">
                <a:solidFill>
                  <a:srgbClr val="3A3A3A"/>
                </a:solidFill>
                <a:effectLst/>
                <a:latin typeface="Roboto" panose="02000000000000000000" pitchFamily="2" charset="0"/>
              </a:rPr>
              <a:t>, etc. And whenever, we define an object which is derived from a class, it inherits all its properties such as variables, methods etc.</a:t>
            </a:r>
          </a:p>
          <a:p>
            <a:pPr algn="just">
              <a:lnSpc>
                <a:spcPts val="2100"/>
              </a:lnSpc>
              <a:spcBef>
                <a:spcPts val="750"/>
              </a:spcBef>
              <a:buNone/>
            </a:pPr>
            <a:r>
              <a:rPr lang="en-US" b="0" i="0" dirty="0">
                <a:solidFill>
                  <a:srgbClr val="3A3A3A"/>
                </a:solidFill>
                <a:effectLst/>
                <a:latin typeface="Roboto" panose="02000000000000000000" pitchFamily="2" charset="0"/>
              </a:rPr>
              <a:t>Here’s an Example code to better understand this.</a:t>
            </a:r>
          </a:p>
        </p:txBody>
      </p:sp>
      <p:sp>
        <p:nvSpPr>
          <p:cNvPr id="7" name="TextBox 6">
            <a:extLst>
              <a:ext uri="{FF2B5EF4-FFF2-40B4-BE49-F238E27FC236}">
                <a16:creationId xmlns:a16="http://schemas.microsoft.com/office/drawing/2014/main" id="{5459A058-FAC6-A91A-52A3-9EBC2D6C13E1}"/>
              </a:ext>
            </a:extLst>
          </p:cNvPr>
          <p:cNvSpPr txBox="1"/>
          <p:nvPr/>
        </p:nvSpPr>
        <p:spPr>
          <a:xfrm>
            <a:off x="305937" y="4910537"/>
            <a:ext cx="9294125" cy="1200329"/>
          </a:xfrm>
          <a:prstGeom prst="rect">
            <a:avLst/>
          </a:prstGeom>
          <a:noFill/>
        </p:spPr>
        <p:txBody>
          <a:bodyPr wrap="square">
            <a:spAutoFit/>
          </a:bodyPr>
          <a:lstStyle/>
          <a:p>
            <a:r>
              <a:rPr lang="en-US" dirty="0"/>
              <a:t>// Main </a:t>
            </a:r>
            <a:r>
              <a:rPr lang="en-US" dirty="0" err="1"/>
              <a:t>classclass</a:t>
            </a:r>
            <a:r>
              <a:rPr lang="en-US" dirty="0"/>
              <a:t> Example {    public static void main(String[] </a:t>
            </a:r>
            <a:r>
              <a:rPr lang="en-US" dirty="0" err="1"/>
              <a:t>args</a:t>
            </a:r>
            <a:r>
              <a:rPr lang="en-US" dirty="0"/>
              <a:t>) {        Sample obj = new Sample(); // Object creation calls constructor    }}// Another class with a </a:t>
            </a:r>
            <a:r>
              <a:rPr lang="en-US" dirty="0" err="1"/>
              <a:t>constructorclass</a:t>
            </a:r>
            <a:r>
              <a:rPr lang="en-US" dirty="0"/>
              <a:t> Sample {    public Sample() {        </a:t>
            </a:r>
            <a:r>
              <a:rPr lang="en-US" dirty="0" err="1"/>
              <a:t>System.out.println</a:t>
            </a:r>
            <a:r>
              <a:rPr lang="en-US" dirty="0"/>
              <a:t>("Hello from Sample Class!!"); // Constructor message    }}</a:t>
            </a:r>
          </a:p>
        </p:txBody>
      </p:sp>
      <p:sp>
        <p:nvSpPr>
          <p:cNvPr id="9" name="TextBox 8">
            <a:extLst>
              <a:ext uri="{FF2B5EF4-FFF2-40B4-BE49-F238E27FC236}">
                <a16:creationId xmlns:a16="http://schemas.microsoft.com/office/drawing/2014/main" id="{831077BA-193E-CD99-0552-AF539491D9D9}"/>
              </a:ext>
            </a:extLst>
          </p:cNvPr>
          <p:cNvSpPr txBox="1"/>
          <p:nvPr/>
        </p:nvSpPr>
        <p:spPr>
          <a:xfrm>
            <a:off x="245660" y="6257835"/>
            <a:ext cx="9471546" cy="646331"/>
          </a:xfrm>
          <a:prstGeom prst="rect">
            <a:avLst/>
          </a:prstGeom>
          <a:noFill/>
        </p:spPr>
        <p:txBody>
          <a:bodyPr wrap="square">
            <a:spAutoFit/>
          </a:bodyPr>
          <a:lstStyle/>
          <a:p>
            <a:r>
              <a:rPr lang="en-US" b="0" i="0" dirty="0">
                <a:solidFill>
                  <a:srgbClr val="3A3A3A"/>
                </a:solidFill>
                <a:effectLst/>
                <a:latin typeface="Roboto" panose="02000000000000000000" pitchFamily="2" charset="0"/>
              </a:rPr>
              <a:t>Here, obj is derived from class Sample. The moment obj is initialized, it will print “Hello from Sample Class!!.” This is because it derives the properties of the sample class.</a:t>
            </a:r>
            <a:endParaRPr lang="en-US" dirty="0"/>
          </a:p>
        </p:txBody>
      </p:sp>
    </p:spTree>
    <p:extLst>
      <p:ext uri="{BB962C8B-B14F-4D97-AF65-F5344CB8AC3E}">
        <p14:creationId xmlns:p14="http://schemas.microsoft.com/office/powerpoint/2010/main" val="2145761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B41F-6114-4AA2-952A-6083A34CF3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B3726C-AE93-4FE3-1700-D55E5E244648}"/>
              </a:ext>
            </a:extLst>
          </p:cNvPr>
          <p:cNvSpPr txBox="1"/>
          <p:nvPr/>
        </p:nvSpPr>
        <p:spPr>
          <a:xfrm>
            <a:off x="184245" y="128344"/>
            <a:ext cx="9614848" cy="327269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 Explain the concept of Inheritance in Java.</a:t>
            </a:r>
          </a:p>
          <a:p>
            <a:pPr algn="just">
              <a:lnSpc>
                <a:spcPts val="2100"/>
              </a:lnSpc>
              <a:spcBef>
                <a:spcPts val="1650"/>
              </a:spcBef>
              <a:buNone/>
            </a:pPr>
            <a:r>
              <a:rPr lang="en-US" b="0" i="0" dirty="0">
                <a:solidFill>
                  <a:srgbClr val="3A3A3A"/>
                </a:solidFill>
                <a:effectLst/>
                <a:latin typeface="Roboto" panose="02000000000000000000" pitchFamily="2" charset="0"/>
              </a:rPr>
              <a:t>Inheritance helps a child class acquire the properties and </a:t>
            </a:r>
            <a:r>
              <a:rPr lang="en-US" b="0" i="0" dirty="0" err="1">
                <a:solidFill>
                  <a:srgbClr val="3A3A3A"/>
                </a:solidFill>
                <a:effectLst/>
                <a:latin typeface="Roboto" panose="02000000000000000000" pitchFamily="2" charset="0"/>
              </a:rPr>
              <a:t>behaviour</a:t>
            </a:r>
            <a:r>
              <a:rPr lang="en-US" b="0" i="0" dirty="0">
                <a:solidFill>
                  <a:srgbClr val="3A3A3A"/>
                </a:solidFill>
                <a:effectLst/>
                <a:latin typeface="Roboto" panose="02000000000000000000" pitchFamily="2" charset="0"/>
              </a:rPr>
              <a:t> of its parent class. It’s similar to how kids inherit many traits from their parents, such as their appearance, behavior, etc.</a:t>
            </a:r>
          </a:p>
          <a:p>
            <a:pPr algn="just">
              <a:lnSpc>
                <a:spcPts val="2100"/>
              </a:lnSpc>
              <a:spcBef>
                <a:spcPts val="750"/>
              </a:spcBef>
              <a:buNone/>
            </a:pPr>
            <a:r>
              <a:rPr lang="en-US" b="0" i="0" dirty="0">
                <a:solidFill>
                  <a:srgbClr val="3A3A3A"/>
                </a:solidFill>
                <a:effectLst/>
                <a:latin typeface="Roboto" panose="02000000000000000000" pitchFamily="2" charset="0"/>
              </a:rPr>
              <a:t>Another real world example would be Vehicles. All vehicles inherently have the same properties such as </a:t>
            </a:r>
            <a:r>
              <a:rPr lang="en-US" b="0" i="0" dirty="0" err="1">
                <a:solidFill>
                  <a:srgbClr val="3A3A3A"/>
                </a:solidFill>
                <a:effectLst/>
                <a:latin typeface="Roboto" panose="02000000000000000000" pitchFamily="2" charset="0"/>
              </a:rPr>
              <a:t>tyres</a:t>
            </a:r>
            <a:r>
              <a:rPr lang="en-US" b="0" i="0" dirty="0">
                <a:solidFill>
                  <a:srgbClr val="3A3A3A"/>
                </a:solidFill>
                <a:effectLst/>
                <a:latin typeface="Roboto" panose="02000000000000000000" pitchFamily="2" charset="0"/>
              </a:rPr>
              <a:t>, engine etc. But each vehicle type has its own unique features.</a:t>
            </a:r>
          </a:p>
          <a:p>
            <a:pPr algn="just">
              <a:lnSpc>
                <a:spcPts val="2100"/>
              </a:lnSpc>
              <a:spcBef>
                <a:spcPts val="750"/>
              </a:spcBef>
              <a:buNone/>
            </a:pPr>
            <a:r>
              <a:rPr lang="en-US" b="0" i="0" dirty="0">
                <a:solidFill>
                  <a:srgbClr val="3A3A3A"/>
                </a:solidFill>
                <a:effectLst/>
                <a:latin typeface="Roboto" panose="02000000000000000000" pitchFamily="2" charset="0"/>
              </a:rPr>
              <a:t>Similarly in java, when you create a class, and want to inherit the properties of it in another class, we make use of inheritance. Inheritance offers code reusability.</a:t>
            </a:r>
          </a:p>
          <a:p>
            <a:pPr algn="just">
              <a:lnSpc>
                <a:spcPts val="2100"/>
              </a:lnSpc>
              <a:spcBef>
                <a:spcPts val="750"/>
              </a:spcBef>
              <a:buNone/>
            </a:pPr>
            <a:r>
              <a:rPr lang="en-US" b="0" i="0" dirty="0">
                <a:solidFill>
                  <a:srgbClr val="3A3A3A"/>
                </a:solidFill>
                <a:effectLst/>
                <a:latin typeface="Roboto" panose="02000000000000000000" pitchFamily="2" charset="0"/>
              </a:rPr>
              <a:t>Take a look at the code below:</a:t>
            </a:r>
          </a:p>
        </p:txBody>
      </p:sp>
      <p:sp>
        <p:nvSpPr>
          <p:cNvPr id="5" name="TextBox 4">
            <a:extLst>
              <a:ext uri="{FF2B5EF4-FFF2-40B4-BE49-F238E27FC236}">
                <a16:creationId xmlns:a16="http://schemas.microsoft.com/office/drawing/2014/main" id="{C66806AC-84DD-AEE5-9DA9-C773C04C7DA2}"/>
              </a:ext>
            </a:extLst>
          </p:cNvPr>
          <p:cNvSpPr txBox="1"/>
          <p:nvPr/>
        </p:nvSpPr>
        <p:spPr>
          <a:xfrm>
            <a:off x="470848" y="3584391"/>
            <a:ext cx="7649570" cy="2031325"/>
          </a:xfrm>
          <a:prstGeom prst="rect">
            <a:avLst/>
          </a:prstGeom>
          <a:noFill/>
        </p:spPr>
        <p:txBody>
          <a:bodyPr wrap="square">
            <a:spAutoFit/>
          </a:bodyPr>
          <a:lstStyle/>
          <a:p>
            <a:r>
              <a:rPr lang="en-US" dirty="0"/>
              <a:t>class Example {    public static void main(String </a:t>
            </a:r>
            <a:r>
              <a:rPr lang="en-US" dirty="0" err="1"/>
              <a:t>args</a:t>
            </a:r>
            <a:r>
              <a:rPr lang="en-US" dirty="0"/>
              <a:t>[]) {        </a:t>
            </a:r>
            <a:r>
              <a:rPr lang="en-US" dirty="0" err="1"/>
              <a:t>NewCar</a:t>
            </a:r>
            <a:r>
              <a:rPr lang="en-US" dirty="0"/>
              <a:t> test = new </a:t>
            </a:r>
            <a:r>
              <a:rPr lang="en-US" dirty="0" err="1"/>
              <a:t>NewCar</a:t>
            </a:r>
            <a:r>
              <a:rPr lang="en-US" dirty="0"/>
              <a:t>();        </a:t>
            </a:r>
            <a:r>
              <a:rPr lang="en-US" dirty="0" err="1"/>
              <a:t>test.fuel</a:t>
            </a:r>
            <a:r>
              <a:rPr lang="en-US" dirty="0"/>
              <a:t>();        </a:t>
            </a:r>
            <a:r>
              <a:rPr lang="en-US" dirty="0" err="1"/>
              <a:t>test.engine</a:t>
            </a:r>
            <a:r>
              <a:rPr lang="en-US" dirty="0"/>
              <a:t>();        </a:t>
            </a:r>
            <a:r>
              <a:rPr lang="en-US" dirty="0" err="1"/>
              <a:t>test.doors</a:t>
            </a:r>
            <a:r>
              <a:rPr lang="en-US" dirty="0"/>
              <a:t>();        </a:t>
            </a:r>
            <a:r>
              <a:rPr lang="en-US" dirty="0" err="1"/>
              <a:t>test.tyres</a:t>
            </a:r>
            <a:r>
              <a:rPr lang="en-US" dirty="0"/>
              <a:t>();    }}class Vehicles {    public void </a:t>
            </a:r>
            <a:r>
              <a:rPr lang="en-US" dirty="0" err="1"/>
              <a:t>tyres</a:t>
            </a:r>
            <a:r>
              <a:rPr lang="en-US" dirty="0"/>
              <a:t>() {        </a:t>
            </a:r>
            <a:r>
              <a:rPr lang="en-US" dirty="0" err="1"/>
              <a:t>System.out.println</a:t>
            </a:r>
            <a:r>
              <a:rPr lang="en-US" dirty="0"/>
              <a:t>("It has 4 </a:t>
            </a:r>
            <a:r>
              <a:rPr lang="en-US" dirty="0" err="1"/>
              <a:t>tyres</a:t>
            </a:r>
            <a:r>
              <a:rPr lang="en-US" dirty="0"/>
              <a:t>");    }    public void engine() {        </a:t>
            </a:r>
            <a:r>
              <a:rPr lang="en-US" dirty="0" err="1"/>
              <a:t>System.out.println</a:t>
            </a:r>
            <a:r>
              <a:rPr lang="en-US" dirty="0"/>
              <a:t>("It has an engine");    }    public void doors() {        </a:t>
            </a:r>
            <a:r>
              <a:rPr lang="en-US" dirty="0" err="1"/>
              <a:t>System.out.println</a:t>
            </a:r>
            <a:r>
              <a:rPr lang="en-US" dirty="0"/>
              <a:t>("It has 4 doors");    }}class </a:t>
            </a:r>
            <a:r>
              <a:rPr lang="en-US" dirty="0" err="1"/>
              <a:t>NewCar</a:t>
            </a:r>
            <a:r>
              <a:rPr lang="en-US" dirty="0"/>
              <a:t> extends Vehicles {    public void fuel() {        </a:t>
            </a:r>
            <a:r>
              <a:rPr lang="en-US" dirty="0" err="1"/>
              <a:t>System.out.println</a:t>
            </a:r>
            <a:r>
              <a:rPr lang="en-US" dirty="0"/>
              <a:t>("It takes diesel fuel");    }}</a:t>
            </a:r>
          </a:p>
        </p:txBody>
      </p:sp>
      <p:sp>
        <p:nvSpPr>
          <p:cNvPr id="7" name="TextBox 6">
            <a:extLst>
              <a:ext uri="{FF2B5EF4-FFF2-40B4-BE49-F238E27FC236}">
                <a16:creationId xmlns:a16="http://schemas.microsoft.com/office/drawing/2014/main" id="{A73C54D4-F084-D9C4-7FDB-5B81DA41AFDB}"/>
              </a:ext>
            </a:extLst>
          </p:cNvPr>
          <p:cNvSpPr txBox="1"/>
          <p:nvPr/>
        </p:nvSpPr>
        <p:spPr>
          <a:xfrm>
            <a:off x="130791" y="5710024"/>
            <a:ext cx="9721755" cy="1477328"/>
          </a:xfrm>
          <a:prstGeom prst="rect">
            <a:avLst/>
          </a:prstGeom>
          <a:noFill/>
        </p:spPr>
        <p:txBody>
          <a:bodyPr wrap="square">
            <a:spAutoFit/>
          </a:bodyPr>
          <a:lstStyle/>
          <a:p>
            <a:r>
              <a:rPr lang="en-US" dirty="0"/>
              <a:t>class Example {    public static void main(String </a:t>
            </a:r>
            <a:r>
              <a:rPr lang="en-US" dirty="0" err="1"/>
              <a:t>args</a:t>
            </a:r>
            <a:r>
              <a:rPr lang="en-US" dirty="0"/>
              <a:t>[]) {        </a:t>
            </a:r>
            <a:r>
              <a:rPr lang="en-US" dirty="0" err="1"/>
              <a:t>NewCar</a:t>
            </a:r>
            <a:r>
              <a:rPr lang="en-US" dirty="0"/>
              <a:t> test = new </a:t>
            </a:r>
            <a:r>
              <a:rPr lang="en-US" dirty="0" err="1"/>
              <a:t>NewCar</a:t>
            </a:r>
            <a:r>
              <a:rPr lang="en-US" dirty="0"/>
              <a:t>();        </a:t>
            </a:r>
            <a:r>
              <a:rPr lang="en-US" dirty="0" err="1"/>
              <a:t>test.fuel</a:t>
            </a:r>
            <a:r>
              <a:rPr lang="en-US" dirty="0"/>
              <a:t>();        </a:t>
            </a:r>
            <a:r>
              <a:rPr lang="en-US" dirty="0" err="1"/>
              <a:t>test.engine</a:t>
            </a:r>
            <a:r>
              <a:rPr lang="en-US" dirty="0"/>
              <a:t>();        </a:t>
            </a:r>
            <a:r>
              <a:rPr lang="en-US" dirty="0" err="1"/>
              <a:t>test.doors</a:t>
            </a:r>
            <a:r>
              <a:rPr lang="en-US" dirty="0"/>
              <a:t>();        </a:t>
            </a:r>
            <a:r>
              <a:rPr lang="en-US" dirty="0" err="1"/>
              <a:t>test.tyres</a:t>
            </a:r>
            <a:r>
              <a:rPr lang="en-US" dirty="0"/>
              <a:t>();    }}class Vehicles {    public void </a:t>
            </a:r>
            <a:r>
              <a:rPr lang="en-US" dirty="0" err="1"/>
              <a:t>tyres</a:t>
            </a:r>
            <a:r>
              <a:rPr lang="en-US" dirty="0"/>
              <a:t>() {        </a:t>
            </a:r>
            <a:r>
              <a:rPr lang="en-US" dirty="0" err="1"/>
              <a:t>System.out.println</a:t>
            </a:r>
            <a:r>
              <a:rPr lang="en-US" dirty="0"/>
              <a:t>("It has 4 </a:t>
            </a:r>
            <a:r>
              <a:rPr lang="en-US" dirty="0" err="1"/>
              <a:t>tyres</a:t>
            </a:r>
            <a:r>
              <a:rPr lang="en-US" dirty="0"/>
              <a:t>");    }    public void engine() {        </a:t>
            </a:r>
            <a:r>
              <a:rPr lang="en-US" dirty="0" err="1"/>
              <a:t>System.out.println</a:t>
            </a:r>
            <a:r>
              <a:rPr lang="en-US" dirty="0"/>
              <a:t>("It has an engine");    }    public void doors() {        </a:t>
            </a:r>
            <a:r>
              <a:rPr lang="en-US" dirty="0" err="1"/>
              <a:t>System.out.println</a:t>
            </a:r>
            <a:r>
              <a:rPr lang="en-US" dirty="0"/>
              <a:t>("It has 4 doors");    }}class </a:t>
            </a:r>
            <a:r>
              <a:rPr lang="en-US" dirty="0" err="1"/>
              <a:t>NewCar</a:t>
            </a:r>
            <a:r>
              <a:rPr lang="en-US" dirty="0"/>
              <a:t> extends Vehicles {    public void fuel() {        </a:t>
            </a:r>
            <a:r>
              <a:rPr lang="en-US" dirty="0" err="1"/>
              <a:t>System.out.println</a:t>
            </a:r>
            <a:r>
              <a:rPr lang="en-US" dirty="0"/>
              <a:t>("It takes diesel fuel");    }}</a:t>
            </a:r>
          </a:p>
        </p:txBody>
      </p:sp>
    </p:spTree>
    <p:extLst>
      <p:ext uri="{BB962C8B-B14F-4D97-AF65-F5344CB8AC3E}">
        <p14:creationId xmlns:p14="http://schemas.microsoft.com/office/powerpoint/2010/main" val="255503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E068-DA3F-7C9A-61FF-2FCD6CDF20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6B93F8-118B-3B55-645D-2C2E73EB4E53}"/>
              </a:ext>
            </a:extLst>
          </p:cNvPr>
          <p:cNvSpPr txBox="1"/>
          <p:nvPr/>
        </p:nvSpPr>
        <p:spPr>
          <a:xfrm>
            <a:off x="245660" y="293343"/>
            <a:ext cx="9485194" cy="236218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 What is the concept of method overloading in Java?</a:t>
            </a:r>
          </a:p>
          <a:p>
            <a:pPr algn="just">
              <a:lnSpc>
                <a:spcPts val="2100"/>
              </a:lnSpc>
              <a:spcBef>
                <a:spcPts val="1650"/>
              </a:spcBef>
              <a:buNone/>
            </a:pPr>
            <a:r>
              <a:rPr lang="en-US" b="0" i="0" dirty="0">
                <a:solidFill>
                  <a:srgbClr val="3A3A3A"/>
                </a:solidFill>
                <a:effectLst/>
                <a:latin typeface="Roboto" panose="02000000000000000000" pitchFamily="2" charset="0"/>
              </a:rPr>
              <a:t>When a Java program contains more than one method with the same name but with different argument types, it is called method overloading.</a:t>
            </a:r>
          </a:p>
          <a:p>
            <a:pPr algn="just">
              <a:lnSpc>
                <a:spcPts val="2100"/>
              </a:lnSpc>
              <a:spcBef>
                <a:spcPts val="750"/>
              </a:spcBef>
              <a:buNone/>
            </a:pPr>
            <a:r>
              <a:rPr lang="en-US" b="0" i="0" dirty="0">
                <a:solidFill>
                  <a:srgbClr val="3A3A3A"/>
                </a:solidFill>
                <a:effectLst/>
                <a:latin typeface="Roboto" panose="02000000000000000000" pitchFamily="2" charset="0"/>
              </a:rPr>
              <a:t>Java resolves this problem by checking the types and number of arguments; based on these, it calls the appropriate method.</a:t>
            </a:r>
          </a:p>
          <a:p>
            <a:pPr algn="just">
              <a:lnSpc>
                <a:spcPts val="2100"/>
              </a:lnSpc>
              <a:spcBef>
                <a:spcPts val="750"/>
              </a:spcBef>
              <a:buNone/>
            </a:pPr>
            <a:r>
              <a:rPr lang="en-US" b="0" i="0" dirty="0">
                <a:solidFill>
                  <a:srgbClr val="3A3A3A"/>
                </a:solidFill>
                <a:effectLst/>
                <a:latin typeface="Roboto" panose="02000000000000000000" pitchFamily="2" charset="0"/>
              </a:rPr>
              <a:t>For Example</a:t>
            </a:r>
          </a:p>
        </p:txBody>
      </p:sp>
      <p:sp>
        <p:nvSpPr>
          <p:cNvPr id="5" name="TextBox 4">
            <a:extLst>
              <a:ext uri="{FF2B5EF4-FFF2-40B4-BE49-F238E27FC236}">
                <a16:creationId xmlns:a16="http://schemas.microsoft.com/office/drawing/2014/main" id="{360E2E51-EF90-528A-2B99-AF0621E8E621}"/>
              </a:ext>
            </a:extLst>
          </p:cNvPr>
          <p:cNvSpPr txBox="1"/>
          <p:nvPr/>
        </p:nvSpPr>
        <p:spPr>
          <a:xfrm>
            <a:off x="429905" y="2771312"/>
            <a:ext cx="4954136" cy="2862322"/>
          </a:xfrm>
          <a:prstGeom prst="rect">
            <a:avLst/>
          </a:prstGeom>
          <a:noFill/>
        </p:spPr>
        <p:txBody>
          <a:bodyPr wrap="square">
            <a:spAutoFit/>
          </a:bodyPr>
          <a:lstStyle/>
          <a:p>
            <a:r>
              <a:rPr lang="en-US" dirty="0"/>
              <a:t>class Display {    // Method to display an integer    void show(int a) {        </a:t>
            </a:r>
            <a:r>
              <a:rPr lang="en-US" dirty="0" err="1"/>
              <a:t>System.out.println</a:t>
            </a:r>
            <a:r>
              <a:rPr lang="en-US" dirty="0"/>
              <a:t>("Integer: " + a);    }    // Method to display a string    void show(String b) {        </a:t>
            </a:r>
            <a:r>
              <a:rPr lang="en-US" dirty="0" err="1"/>
              <a:t>System.out.println</a:t>
            </a:r>
            <a:r>
              <a:rPr lang="en-US" dirty="0"/>
              <a:t>("String: " + b);    }    public static void main(String[] </a:t>
            </a:r>
            <a:r>
              <a:rPr lang="en-US" dirty="0" err="1"/>
              <a:t>args</a:t>
            </a:r>
            <a:r>
              <a:rPr lang="en-US" dirty="0"/>
              <a:t>) {        Display </a:t>
            </a:r>
            <a:r>
              <a:rPr lang="en-US" dirty="0" err="1"/>
              <a:t>display</a:t>
            </a:r>
            <a:r>
              <a:rPr lang="en-US" dirty="0"/>
              <a:t> = new Display();        // Calling overloaded methods        </a:t>
            </a:r>
            <a:r>
              <a:rPr lang="en-US" dirty="0" err="1"/>
              <a:t>display.show</a:t>
            </a:r>
            <a:r>
              <a:rPr lang="en-US" dirty="0"/>
              <a:t>(10);            // Calls show(int a) because integer is passed        </a:t>
            </a:r>
            <a:r>
              <a:rPr lang="en-US" dirty="0" err="1"/>
              <a:t>display.show</a:t>
            </a:r>
            <a:r>
              <a:rPr lang="en-US" dirty="0"/>
              <a:t>("</a:t>
            </a:r>
            <a:r>
              <a:rPr lang="en-US" dirty="0" err="1"/>
              <a:t>Intellipaat</a:t>
            </a:r>
            <a:r>
              <a:rPr lang="en-US" dirty="0"/>
              <a:t>"); // Calls show(String b) because string is passed    }}</a:t>
            </a:r>
          </a:p>
        </p:txBody>
      </p:sp>
      <p:sp>
        <p:nvSpPr>
          <p:cNvPr id="13" name="TextBox 12">
            <a:extLst>
              <a:ext uri="{FF2B5EF4-FFF2-40B4-BE49-F238E27FC236}">
                <a16:creationId xmlns:a16="http://schemas.microsoft.com/office/drawing/2014/main" id="{89441C07-81B1-3DB7-EBD0-30AD983A4424}"/>
              </a:ext>
            </a:extLst>
          </p:cNvPr>
          <p:cNvSpPr txBox="1"/>
          <p:nvPr/>
        </p:nvSpPr>
        <p:spPr>
          <a:xfrm>
            <a:off x="5882184" y="2771312"/>
            <a:ext cx="3350523" cy="2585323"/>
          </a:xfrm>
          <a:prstGeom prst="rect">
            <a:avLst/>
          </a:prstGeom>
          <a:noFill/>
        </p:spPr>
        <p:txBody>
          <a:bodyPr wrap="square">
            <a:spAutoFit/>
          </a:bodyPr>
          <a:lstStyle/>
          <a:p>
            <a:r>
              <a:rPr lang="en-US" b="0" i="0" dirty="0">
                <a:solidFill>
                  <a:srgbClr val="3A3A3A"/>
                </a:solidFill>
                <a:effectLst/>
                <a:latin typeface="Roboto" panose="02000000000000000000" pitchFamily="2" charset="0"/>
              </a:rPr>
              <a:t>When a function is called with a specific argument, the corresponding method is invoked. For example, if you pass the value 10, the method that accepts an integer will be called; if you pass a string, the method that accepts a string will be executed.</a:t>
            </a:r>
            <a:endParaRPr lang="en-US" dirty="0"/>
          </a:p>
        </p:txBody>
      </p:sp>
    </p:spTree>
    <p:extLst>
      <p:ext uri="{BB962C8B-B14F-4D97-AF65-F5344CB8AC3E}">
        <p14:creationId xmlns:p14="http://schemas.microsoft.com/office/powerpoint/2010/main" val="2168845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208D-0985-00C8-9982-1D94173FEC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DB038F-142B-2F2E-13C0-EF8154FB483C}"/>
              </a:ext>
            </a:extLst>
          </p:cNvPr>
          <p:cNvSpPr txBox="1"/>
          <p:nvPr/>
        </p:nvSpPr>
        <p:spPr>
          <a:xfrm>
            <a:off x="197892" y="304923"/>
            <a:ext cx="9396483"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 Explain the working of == operator in Java.</a:t>
            </a:r>
          </a:p>
          <a:p>
            <a:pPr algn="just">
              <a:lnSpc>
                <a:spcPts val="2100"/>
              </a:lnSpc>
              <a:spcBef>
                <a:spcPts val="1650"/>
              </a:spcBef>
              <a:buNone/>
            </a:pPr>
            <a:r>
              <a:rPr lang="en-US" b="0" i="0" dirty="0">
                <a:solidFill>
                  <a:srgbClr val="3A3A3A"/>
                </a:solidFill>
                <a:effectLst/>
                <a:latin typeface="Roboto" panose="02000000000000000000" pitchFamily="2" charset="0"/>
              </a:rPr>
              <a:t>The “==” operator in Java is used to compare primitives, object references and more. Its </a:t>
            </a:r>
            <a:r>
              <a:rPr lang="en-US" b="0" i="0" dirty="0" err="1">
                <a:solidFill>
                  <a:srgbClr val="3A3A3A"/>
                </a:solidFill>
                <a:effectLst/>
                <a:latin typeface="Roboto" panose="02000000000000000000" pitchFamily="2" charset="0"/>
              </a:rPr>
              <a:t>behaviour</a:t>
            </a:r>
            <a:r>
              <a:rPr lang="en-US" b="0" i="0" dirty="0">
                <a:solidFill>
                  <a:srgbClr val="3A3A3A"/>
                </a:solidFill>
                <a:effectLst/>
                <a:latin typeface="Roboto" panose="02000000000000000000" pitchFamily="2" charset="0"/>
              </a:rPr>
              <a:t> varies depending on the context. Let’s explore the differences in the table below:</a:t>
            </a:r>
          </a:p>
        </p:txBody>
      </p:sp>
      <p:graphicFrame>
        <p:nvGraphicFramePr>
          <p:cNvPr id="4" name="Table 3">
            <a:extLst>
              <a:ext uri="{FF2B5EF4-FFF2-40B4-BE49-F238E27FC236}">
                <a16:creationId xmlns:a16="http://schemas.microsoft.com/office/drawing/2014/main" id="{1A971445-1388-B456-9F7D-55B3E7BACB5C}"/>
              </a:ext>
            </a:extLst>
          </p:cNvPr>
          <p:cNvGraphicFramePr>
            <a:graphicFrameLocks noGrp="1"/>
          </p:cNvGraphicFramePr>
          <p:nvPr/>
        </p:nvGraphicFramePr>
        <p:xfrm>
          <a:off x="2226518" y="2812574"/>
          <a:ext cx="5452964" cy="2377440"/>
        </p:xfrm>
        <a:graphic>
          <a:graphicData uri="http://schemas.openxmlformats.org/drawingml/2006/table">
            <a:tbl>
              <a:tblPr/>
              <a:tblGrid>
                <a:gridCol w="2037095">
                  <a:extLst>
                    <a:ext uri="{9D8B030D-6E8A-4147-A177-3AD203B41FA5}">
                      <a16:colId xmlns:a16="http://schemas.microsoft.com/office/drawing/2014/main" val="3372365494"/>
                    </a:ext>
                  </a:extLst>
                </a:gridCol>
                <a:gridCol w="3415869">
                  <a:extLst>
                    <a:ext uri="{9D8B030D-6E8A-4147-A177-3AD203B41FA5}">
                      <a16:colId xmlns:a16="http://schemas.microsoft.com/office/drawing/2014/main" val="324285731"/>
                    </a:ext>
                  </a:extLst>
                </a:gridCol>
              </a:tblGrid>
              <a:tr h="0">
                <a:tc>
                  <a:txBody>
                    <a:bodyPr/>
                    <a:lstStyle/>
                    <a:p>
                      <a:pPr algn="ctr" fontAlgn="t">
                        <a:buNone/>
                      </a:pPr>
                      <a:r>
                        <a:rPr lang="en-US">
                          <a:solidFill>
                            <a:srgbClr val="FFFFFF"/>
                          </a:solidFill>
                          <a:effectLst/>
                        </a:rPr>
                        <a:t>Context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a:solidFill>
                            <a:srgbClr val="FFFFFF"/>
                          </a:solidFill>
                          <a:effectLst/>
                        </a:rPr>
                        <a:t>What == compares?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1152111118"/>
                  </a:ext>
                </a:extLst>
              </a:tr>
              <a:tr h="213360">
                <a:tc>
                  <a:txBody>
                    <a:bodyPr/>
                    <a:lstStyle/>
                    <a:p>
                      <a:pPr fontAlgn="t">
                        <a:buNone/>
                      </a:pPr>
                      <a:r>
                        <a:rPr lang="en-US">
                          <a:effectLst/>
                        </a:rPr>
                        <a:t>Primitives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Values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866022948"/>
                  </a:ext>
                </a:extLst>
              </a:tr>
              <a:tr h="213360">
                <a:tc>
                  <a:txBody>
                    <a:bodyPr/>
                    <a:lstStyle/>
                    <a:p>
                      <a:pPr fontAlgn="t">
                        <a:buNone/>
                      </a:pPr>
                      <a:r>
                        <a:rPr lang="en-US">
                          <a:effectLst/>
                        </a:rPr>
                        <a:t>Object References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Memory Locations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727156113"/>
                  </a:ext>
                </a:extLst>
              </a:tr>
              <a:tr h="213360">
                <a:tc>
                  <a:txBody>
                    <a:bodyPr/>
                    <a:lstStyle/>
                    <a:p>
                      <a:pPr fontAlgn="t">
                        <a:buNone/>
                      </a:pPr>
                      <a:r>
                        <a:rPr lang="en-US">
                          <a:effectLst/>
                        </a:rPr>
                        <a:t>String Literals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Memory Locations in string pools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676985239"/>
                  </a:ext>
                </a:extLst>
              </a:tr>
              <a:tr h="213360">
                <a:tc>
                  <a:txBody>
                    <a:bodyPr/>
                    <a:lstStyle/>
                    <a:p>
                      <a:pPr fontAlgn="t">
                        <a:buNone/>
                      </a:pPr>
                      <a:r>
                        <a:rPr lang="en-US">
                          <a:effectLst/>
                        </a:rPr>
                        <a:t>Wrapper Objects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Memory locations (Cached or not)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13020205"/>
                  </a:ext>
                </a:extLst>
              </a:tr>
            </a:tbl>
          </a:graphicData>
        </a:graphic>
      </p:graphicFrame>
    </p:spTree>
    <p:extLst>
      <p:ext uri="{BB962C8B-B14F-4D97-AF65-F5344CB8AC3E}">
        <p14:creationId xmlns:p14="http://schemas.microsoft.com/office/powerpoint/2010/main" val="2026343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536A-EED8-A427-E116-F5A6BD812F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05183C-49D8-6A8B-4F5D-1D15F93C3BA6}"/>
              </a:ext>
            </a:extLst>
          </p:cNvPr>
          <p:cNvSpPr txBox="1"/>
          <p:nvPr/>
        </p:nvSpPr>
        <p:spPr>
          <a:xfrm>
            <a:off x="116005" y="152971"/>
            <a:ext cx="9451075" cy="107978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14. What are the differences between abstract class and interface?</a:t>
            </a:r>
          </a:p>
          <a:p>
            <a:pPr algn="just">
              <a:lnSpc>
                <a:spcPts val="2100"/>
              </a:lnSpc>
              <a:spcBef>
                <a:spcPts val="1650"/>
              </a:spcBef>
              <a:buNone/>
            </a:pPr>
            <a:r>
              <a:rPr lang="en-US" b="0" i="0" dirty="0">
                <a:solidFill>
                  <a:srgbClr val="3A3A3A"/>
                </a:solidFill>
                <a:effectLst/>
                <a:latin typeface="Roboto" panose="02000000000000000000" pitchFamily="2" charset="0"/>
              </a:rPr>
              <a:t>Below are the major differences between the abstract class and an interface:</a:t>
            </a:r>
          </a:p>
        </p:txBody>
      </p:sp>
      <p:graphicFrame>
        <p:nvGraphicFramePr>
          <p:cNvPr id="4" name="Table 3">
            <a:extLst>
              <a:ext uri="{FF2B5EF4-FFF2-40B4-BE49-F238E27FC236}">
                <a16:creationId xmlns:a16="http://schemas.microsoft.com/office/drawing/2014/main" id="{394EC9E5-2E92-1D93-FC0B-EE04FF6C034E}"/>
              </a:ext>
            </a:extLst>
          </p:cNvPr>
          <p:cNvGraphicFramePr>
            <a:graphicFrameLocks noGrp="1"/>
          </p:cNvGraphicFramePr>
          <p:nvPr/>
        </p:nvGraphicFramePr>
        <p:xfrm>
          <a:off x="681038" y="1898174"/>
          <a:ext cx="8543924" cy="4206240"/>
        </p:xfrm>
        <a:graphic>
          <a:graphicData uri="http://schemas.openxmlformats.org/drawingml/2006/table">
            <a:tbl>
              <a:tblPr/>
              <a:tblGrid>
                <a:gridCol w="4271962">
                  <a:extLst>
                    <a:ext uri="{9D8B030D-6E8A-4147-A177-3AD203B41FA5}">
                      <a16:colId xmlns:a16="http://schemas.microsoft.com/office/drawing/2014/main" val="2048739718"/>
                    </a:ext>
                  </a:extLst>
                </a:gridCol>
                <a:gridCol w="4271962">
                  <a:extLst>
                    <a:ext uri="{9D8B030D-6E8A-4147-A177-3AD203B41FA5}">
                      <a16:colId xmlns:a16="http://schemas.microsoft.com/office/drawing/2014/main" val="2912962628"/>
                    </a:ext>
                  </a:extLst>
                </a:gridCol>
              </a:tblGrid>
              <a:tr h="365760">
                <a:tc>
                  <a:txBody>
                    <a:bodyPr/>
                    <a:lstStyle/>
                    <a:p>
                      <a:pPr algn="ctr" fontAlgn="t">
                        <a:buNone/>
                      </a:pPr>
                      <a:r>
                        <a:rPr lang="en-US" sz="1800" b="0">
                          <a:solidFill>
                            <a:srgbClr val="FFFFFF"/>
                          </a:solidFill>
                          <a:effectLst/>
                        </a:rPr>
                        <a:t>Abstract Class</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800" b="0">
                          <a:solidFill>
                            <a:srgbClr val="FFFFFF"/>
                          </a:solidFill>
                          <a:effectLst/>
                        </a:rPr>
                        <a:t>Interface</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376515168"/>
                  </a:ext>
                </a:extLst>
              </a:tr>
              <a:tr h="640080">
                <a:tc>
                  <a:txBody>
                    <a:bodyPr/>
                    <a:lstStyle/>
                    <a:p>
                      <a:pPr fontAlgn="t">
                        <a:buNone/>
                      </a:pPr>
                      <a:r>
                        <a:rPr lang="en-US" sz="1800">
                          <a:effectLst/>
                        </a:rPr>
                        <a:t>Can provide complete, default, or only the details in method overriding.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Doesn’t provide any code, the user can only have the signature of the interface.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2183718"/>
                  </a:ext>
                </a:extLst>
              </a:tr>
              <a:tr h="365760">
                <a:tc>
                  <a:txBody>
                    <a:bodyPr/>
                    <a:lstStyle/>
                    <a:p>
                      <a:pPr fontAlgn="t">
                        <a:buNone/>
                      </a:pPr>
                      <a:r>
                        <a:rPr lang="en-US" sz="1800">
                          <a:effectLst/>
                        </a:rPr>
                        <a:t>Have instance variables.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No instance variables.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585028575"/>
                  </a:ext>
                </a:extLst>
              </a:tr>
              <a:tr h="640080">
                <a:tc>
                  <a:txBody>
                    <a:bodyPr/>
                    <a:lstStyle/>
                    <a:p>
                      <a:pPr fontAlgn="t">
                        <a:buNone/>
                      </a:pPr>
                      <a:r>
                        <a:rPr lang="en-US" sz="1800">
                          <a:effectLst/>
                        </a:rPr>
                        <a:t>An abstract class can be public, private, or protected.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The interface must be public.</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34035450"/>
                  </a:ext>
                </a:extLst>
              </a:tr>
              <a:tr h="640080">
                <a:tc>
                  <a:txBody>
                    <a:bodyPr/>
                    <a:lstStyle/>
                    <a:p>
                      <a:pPr fontAlgn="t">
                        <a:buNone/>
                      </a:pPr>
                      <a:r>
                        <a:rPr lang="en-US" sz="1800">
                          <a:effectLst/>
                        </a:rPr>
                        <a:t>An abstract class can have constructors.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No constructors are available in the interface.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392713025"/>
                  </a:ext>
                </a:extLst>
              </a:tr>
              <a:tr h="640080">
                <a:tc>
                  <a:txBody>
                    <a:bodyPr/>
                    <a:lstStyle/>
                    <a:p>
                      <a:pPr fontAlgn="t">
                        <a:buNone/>
                      </a:pPr>
                      <a:r>
                        <a:rPr lang="en-US" sz="1800">
                          <a:effectLst/>
                        </a:rPr>
                        <a:t>A class can inherit only a single abstract class.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A class can implement one or more interfaces.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208311693"/>
                  </a:ext>
                </a:extLst>
              </a:tr>
              <a:tr h="914400">
                <a:tc>
                  <a:txBody>
                    <a:bodyPr/>
                    <a:lstStyle/>
                    <a:p>
                      <a:pPr fontAlgn="t">
                        <a:buNone/>
                      </a:pPr>
                      <a:r>
                        <a:rPr lang="en-US" sz="1800">
                          <a:effectLst/>
                        </a:rPr>
                        <a:t>Abstract classes are fast.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dirty="0">
                          <a:effectLst/>
                        </a:rPr>
                        <a:t>Interfaces are slower as they have to locate the corresponding methods in the class.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902217812"/>
                  </a:ext>
                </a:extLst>
              </a:tr>
            </a:tbl>
          </a:graphicData>
        </a:graphic>
      </p:graphicFrame>
    </p:spTree>
    <p:extLst>
      <p:ext uri="{BB962C8B-B14F-4D97-AF65-F5344CB8AC3E}">
        <p14:creationId xmlns:p14="http://schemas.microsoft.com/office/powerpoint/2010/main" val="424937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6295-F736-4541-E380-60D1680D59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5CCACC-3BA3-844C-2290-DF6A89C0B32D}"/>
              </a:ext>
            </a:extLst>
          </p:cNvPr>
          <p:cNvSpPr txBox="1"/>
          <p:nvPr/>
        </p:nvSpPr>
        <p:spPr>
          <a:xfrm>
            <a:off x="2477069" y="-1929312"/>
            <a:ext cx="4954136" cy="1072344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15. Explain the try-catch block in Java.</a:t>
            </a:r>
          </a:p>
          <a:p>
            <a:pPr algn="just">
              <a:lnSpc>
                <a:spcPts val="2100"/>
              </a:lnSpc>
              <a:spcBef>
                <a:spcPts val="1650"/>
              </a:spcBef>
              <a:buNone/>
            </a:pPr>
            <a:r>
              <a:rPr lang="en-US" b="0" i="0" dirty="0">
                <a:solidFill>
                  <a:srgbClr val="3A3A3A"/>
                </a:solidFill>
                <a:effectLst/>
                <a:latin typeface="Roboto" panose="02000000000000000000" pitchFamily="2" charset="0"/>
              </a:rPr>
              <a:t>A try-catch block in Java is used to implement exceptional handling. The code that may throw exceptions has to be written inside the try block, and if any exception occurs, it is caught and handled in the corresponding catch block.</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16. Explain the meaning of the ‘final’ keyword in Java. Give an example.</a:t>
            </a:r>
          </a:p>
          <a:p>
            <a:pPr algn="just">
              <a:lnSpc>
                <a:spcPts val="2100"/>
              </a:lnSpc>
              <a:spcBef>
                <a:spcPts val="1650"/>
              </a:spcBef>
              <a:buNone/>
            </a:pPr>
            <a:r>
              <a:rPr lang="en-US" b="0" i="0" dirty="0">
                <a:solidFill>
                  <a:srgbClr val="3A3A3A"/>
                </a:solidFill>
                <a:effectLst/>
                <a:latin typeface="Roboto" panose="02000000000000000000" pitchFamily="2" charset="0"/>
              </a:rPr>
              <a:t>Java uses the </a:t>
            </a:r>
            <a:r>
              <a:rPr lang="en-US" b="0" i="0" u="none" strike="noStrike" dirty="0">
                <a:solidFill>
                  <a:srgbClr val="0F5A9E"/>
                </a:solidFill>
                <a:effectLst/>
                <a:latin typeface="Roboto" panose="02000000000000000000" pitchFamily="2" charset="0"/>
                <a:hlinkClick r:id="rId2"/>
              </a:rPr>
              <a:t>final keyword</a:t>
            </a:r>
            <a:r>
              <a:rPr lang="en-US" b="0" i="0" dirty="0">
                <a:solidFill>
                  <a:srgbClr val="3A3A3A"/>
                </a:solidFill>
                <a:effectLst/>
                <a:latin typeface="Roboto" panose="02000000000000000000" pitchFamily="2" charset="0"/>
              </a:rPr>
              <a:t> to declare constants, prevent method overriding, and create immutable classes.</a:t>
            </a:r>
          </a:p>
          <a:p>
            <a:pPr algn="just">
              <a:lnSpc>
                <a:spcPts val="2100"/>
              </a:lnSpc>
              <a:spcBef>
                <a:spcPts val="750"/>
              </a:spcBef>
              <a:buNone/>
            </a:pPr>
            <a:r>
              <a:rPr lang="en-US" b="0" i="0" dirty="0">
                <a:solidFill>
                  <a:srgbClr val="3A3A3A"/>
                </a:solidFill>
                <a:effectLst/>
                <a:latin typeface="Roboto" panose="02000000000000000000" pitchFamily="2" charset="0"/>
              </a:rPr>
              <a:t>For example, final int MAX_SIZE = 100; declares a constant MAX_SIZE whose value is 100.</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17. Explain the use of the ‘super’ keyword in Java?</a:t>
            </a:r>
          </a:p>
          <a:p>
            <a:pPr algn="just">
              <a:lnSpc>
                <a:spcPts val="2100"/>
              </a:lnSpc>
              <a:spcBef>
                <a:spcPts val="1650"/>
              </a:spcBef>
              <a:buNone/>
            </a:pPr>
            <a:r>
              <a:rPr lang="en-US" b="0" i="0" u="none" strike="noStrike" dirty="0">
                <a:solidFill>
                  <a:srgbClr val="0F5A9E"/>
                </a:solidFill>
                <a:effectLst/>
                <a:latin typeface="Roboto" panose="02000000000000000000" pitchFamily="2" charset="0"/>
                <a:hlinkClick r:id="rId3"/>
              </a:rPr>
              <a:t>Super</a:t>
            </a:r>
            <a:r>
              <a:rPr lang="en-US" b="0" i="0" dirty="0">
                <a:solidFill>
                  <a:srgbClr val="3A3A3A"/>
                </a:solidFill>
                <a:effectLst/>
                <a:latin typeface="Roboto" panose="02000000000000000000" pitchFamily="2" charset="0"/>
              </a:rPr>
              <a:t> is used in the Java programming language to refer to the superclass of the current object. It can also be used as a bridge between superclass methods/constructors and subclass methods/constructors. For instance, </a:t>
            </a:r>
            <a:r>
              <a:rPr lang="en-US" b="0" i="0" dirty="0" err="1">
                <a:solidFill>
                  <a:srgbClr val="3A3A3A"/>
                </a:solidFill>
                <a:effectLst/>
                <a:latin typeface="Roboto" panose="02000000000000000000" pitchFamily="2" charset="0"/>
              </a:rPr>
              <a:t>super.methodName</a:t>
            </a:r>
            <a:r>
              <a:rPr lang="en-US" b="0" i="0" dirty="0">
                <a:solidFill>
                  <a:srgbClr val="3A3A3A"/>
                </a:solidFill>
                <a:effectLst/>
                <a:latin typeface="Roboto" panose="02000000000000000000" pitchFamily="2" charset="0"/>
              </a:rPr>
              <a:t>() invokes the method defined by the superclass.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18. List differences between Object-oriented and Object-based programming languages?</a:t>
            </a:r>
          </a:p>
          <a:p>
            <a:pPr algn="just">
              <a:lnSpc>
                <a:spcPts val="2100"/>
              </a:lnSpc>
              <a:spcBef>
                <a:spcPts val="1650"/>
              </a:spcBef>
              <a:buNone/>
            </a:pPr>
            <a:r>
              <a:rPr lang="en-US" b="0" i="0" dirty="0">
                <a:solidFill>
                  <a:srgbClr val="3A3A3A"/>
                </a:solidFill>
                <a:effectLst/>
                <a:latin typeface="Roboto" panose="02000000000000000000" pitchFamily="2" charset="0"/>
              </a:rPr>
              <a:t>The following are the key differences between the object-oriented and object-based programming languages:</a:t>
            </a:r>
          </a:p>
        </p:txBody>
      </p:sp>
    </p:spTree>
    <p:extLst>
      <p:ext uri="{BB962C8B-B14F-4D97-AF65-F5344CB8AC3E}">
        <p14:creationId xmlns:p14="http://schemas.microsoft.com/office/powerpoint/2010/main" val="3227933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126-04A2-CF97-FE38-E47FAAC339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4E8F72C-8BD2-361D-2B06-C93CC9BEF62A}"/>
              </a:ext>
            </a:extLst>
          </p:cNvPr>
          <p:cNvSpPr txBox="1"/>
          <p:nvPr/>
        </p:nvSpPr>
        <p:spPr>
          <a:xfrm>
            <a:off x="511792" y="291274"/>
            <a:ext cx="4954136" cy="18876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18. List differences between Object-oriented and Object-based programming languages?</a:t>
            </a:r>
          </a:p>
          <a:p>
            <a:pPr algn="just">
              <a:lnSpc>
                <a:spcPts val="2100"/>
              </a:lnSpc>
              <a:spcBef>
                <a:spcPts val="1650"/>
              </a:spcBef>
              <a:buNone/>
            </a:pPr>
            <a:r>
              <a:rPr lang="en-US" b="0" i="0" dirty="0">
                <a:solidFill>
                  <a:srgbClr val="3A3A3A"/>
                </a:solidFill>
                <a:effectLst/>
                <a:latin typeface="Roboto" panose="02000000000000000000" pitchFamily="2" charset="0"/>
              </a:rPr>
              <a:t>The following are the key differences between the object-oriented and object-based programming languages:</a:t>
            </a:r>
          </a:p>
        </p:txBody>
      </p:sp>
      <p:graphicFrame>
        <p:nvGraphicFramePr>
          <p:cNvPr id="4" name="Table 3">
            <a:extLst>
              <a:ext uri="{FF2B5EF4-FFF2-40B4-BE49-F238E27FC236}">
                <a16:creationId xmlns:a16="http://schemas.microsoft.com/office/drawing/2014/main" id="{042611AF-F051-E8AF-491C-91F000191A90}"/>
              </a:ext>
            </a:extLst>
          </p:cNvPr>
          <p:cNvGraphicFramePr>
            <a:graphicFrameLocks noGrp="1"/>
          </p:cNvGraphicFramePr>
          <p:nvPr/>
        </p:nvGraphicFramePr>
        <p:xfrm>
          <a:off x="681038" y="2721134"/>
          <a:ext cx="8543924" cy="2560320"/>
        </p:xfrm>
        <a:graphic>
          <a:graphicData uri="http://schemas.openxmlformats.org/drawingml/2006/table">
            <a:tbl>
              <a:tblPr/>
              <a:tblGrid>
                <a:gridCol w="4271962">
                  <a:extLst>
                    <a:ext uri="{9D8B030D-6E8A-4147-A177-3AD203B41FA5}">
                      <a16:colId xmlns:a16="http://schemas.microsoft.com/office/drawing/2014/main" val="1661619601"/>
                    </a:ext>
                  </a:extLst>
                </a:gridCol>
                <a:gridCol w="4271962">
                  <a:extLst>
                    <a:ext uri="{9D8B030D-6E8A-4147-A177-3AD203B41FA5}">
                      <a16:colId xmlns:a16="http://schemas.microsoft.com/office/drawing/2014/main" val="213516415"/>
                    </a:ext>
                  </a:extLst>
                </a:gridCol>
              </a:tblGrid>
              <a:tr h="365760">
                <a:tc>
                  <a:txBody>
                    <a:bodyPr/>
                    <a:lstStyle/>
                    <a:p>
                      <a:pPr algn="ctr" fontAlgn="t">
                        <a:buNone/>
                      </a:pPr>
                      <a:r>
                        <a:rPr lang="en-US" sz="1800" b="0">
                          <a:solidFill>
                            <a:srgbClr val="FFFFFF"/>
                          </a:solidFill>
                          <a:effectLst/>
                        </a:rPr>
                        <a:t>Object-oriented programming language</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800" b="0">
                          <a:solidFill>
                            <a:srgbClr val="FFFFFF"/>
                          </a:solidFill>
                          <a:effectLst/>
                        </a:rPr>
                        <a:t>Object-based programming language</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963717072"/>
                  </a:ext>
                </a:extLst>
              </a:tr>
              <a:tr h="914400">
                <a:tc>
                  <a:txBody>
                    <a:bodyPr/>
                    <a:lstStyle/>
                    <a:p>
                      <a:pPr fontAlgn="t">
                        <a:buNone/>
                      </a:pPr>
                      <a:r>
                        <a:rPr lang="en-US" sz="1800">
                          <a:effectLst/>
                        </a:rPr>
                        <a:t>Object-oriented programming languages support all the features of OOPs, including polymorphism and inheritance.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Object-based programming language does not support inheritance or polymorphism.</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089855479"/>
                  </a:ext>
                </a:extLst>
              </a:tr>
              <a:tr h="640080">
                <a:tc>
                  <a:txBody>
                    <a:bodyPr/>
                    <a:lstStyle/>
                    <a:p>
                      <a:pPr fontAlgn="t">
                        <a:buNone/>
                      </a:pPr>
                      <a:r>
                        <a:rPr lang="en-US" sz="1800">
                          <a:effectLst/>
                        </a:rPr>
                        <a:t>Doesn’t support built-in objects.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Support built-in objects like JavaScript has the window object.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95531628"/>
                  </a:ext>
                </a:extLst>
              </a:tr>
              <a:tr h="640080">
                <a:tc>
                  <a:txBody>
                    <a:bodyPr/>
                    <a:lstStyle/>
                    <a:p>
                      <a:pPr fontAlgn="t">
                        <a:buNone/>
                      </a:pPr>
                      <a:r>
                        <a:rPr lang="fr-FR" sz="1800">
                          <a:effectLst/>
                        </a:rPr>
                        <a:t>Example: C#, C++, Java, Python, etc.</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dirty="0">
                          <a:effectLst/>
                        </a:rPr>
                        <a:t>JavaScript and Visual Basic are examples of object-based programming languages.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120559602"/>
                  </a:ext>
                </a:extLst>
              </a:tr>
            </a:tbl>
          </a:graphicData>
        </a:graphic>
      </p:graphicFrame>
    </p:spTree>
    <p:extLst>
      <p:ext uri="{BB962C8B-B14F-4D97-AF65-F5344CB8AC3E}">
        <p14:creationId xmlns:p14="http://schemas.microsoft.com/office/powerpoint/2010/main" val="248224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2B9A-8337-6E47-F8F4-F1FF3D6546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34949A-15DB-3BC5-F9C6-3B5E5613DA01}"/>
              </a:ext>
            </a:extLst>
          </p:cNvPr>
          <p:cNvSpPr txBox="1"/>
          <p:nvPr/>
        </p:nvSpPr>
        <p:spPr>
          <a:xfrm>
            <a:off x="368490" y="366814"/>
            <a:ext cx="9157647" cy="18876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19. What is data encapsulation in java?</a:t>
            </a:r>
          </a:p>
          <a:p>
            <a:pPr algn="just">
              <a:lnSpc>
                <a:spcPts val="2100"/>
              </a:lnSpc>
              <a:spcBef>
                <a:spcPts val="1650"/>
              </a:spcBef>
              <a:buNone/>
            </a:pPr>
            <a:r>
              <a:rPr lang="en-US" b="0" i="0" u="none" strike="noStrike" dirty="0">
                <a:solidFill>
                  <a:srgbClr val="0F5A9E"/>
                </a:solidFill>
                <a:effectLst/>
                <a:latin typeface="Roboto" panose="02000000000000000000" pitchFamily="2" charset="0"/>
                <a:hlinkClick r:id="rId2"/>
              </a:rPr>
              <a:t>Encapsulation in Java</a:t>
            </a:r>
            <a:r>
              <a:rPr lang="en-US" b="0" i="0" dirty="0">
                <a:solidFill>
                  <a:srgbClr val="3A3A3A"/>
                </a:solidFill>
                <a:effectLst/>
                <a:latin typeface="Roboto" panose="02000000000000000000" pitchFamily="2" charset="0"/>
              </a:rPr>
              <a:t> is the process of bundling data and methods within a class while restricting direct access to the class’s internal state. The reason behind this approach is to ensure data integrity and promote abstraction by exposing only essential details of the class’s behavior through public methods.</a:t>
            </a:r>
          </a:p>
        </p:txBody>
      </p:sp>
      <p:sp>
        <p:nvSpPr>
          <p:cNvPr id="5" name="TextBox 4">
            <a:extLst>
              <a:ext uri="{FF2B5EF4-FFF2-40B4-BE49-F238E27FC236}">
                <a16:creationId xmlns:a16="http://schemas.microsoft.com/office/drawing/2014/main" id="{84882A3B-134C-847B-DC9F-1BEC3EEE2236}"/>
              </a:ext>
            </a:extLst>
          </p:cNvPr>
          <p:cNvSpPr txBox="1"/>
          <p:nvPr/>
        </p:nvSpPr>
        <p:spPr>
          <a:xfrm>
            <a:off x="368490" y="2487526"/>
            <a:ext cx="7051342" cy="400366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20. What is a constructor in Java? Explain the different types.</a:t>
            </a:r>
          </a:p>
          <a:p>
            <a:pPr algn="just">
              <a:lnSpc>
                <a:spcPts val="2100"/>
              </a:lnSpc>
              <a:spcBef>
                <a:spcPts val="1650"/>
              </a:spcBef>
              <a:buNone/>
            </a:pPr>
            <a:r>
              <a:rPr lang="en-US" b="0" i="0" dirty="0">
                <a:solidFill>
                  <a:srgbClr val="3A3A3A"/>
                </a:solidFill>
                <a:effectLst/>
                <a:latin typeface="Roboto" panose="02000000000000000000" pitchFamily="2" charset="0"/>
              </a:rPr>
              <a:t>In Java, a constructor is a special type of method used to initialize objects. Constructors are automatically called when an object of a class is created. They must have the same name as the class and do not have any return type, not even void – unlike regular methods.</a:t>
            </a:r>
          </a:p>
          <a:p>
            <a:pPr algn="just">
              <a:lnSpc>
                <a:spcPts val="2100"/>
              </a:lnSpc>
              <a:spcBef>
                <a:spcPts val="750"/>
              </a:spcBef>
              <a:buNone/>
            </a:pPr>
            <a:r>
              <a:rPr lang="en-US" b="0" i="0" dirty="0">
                <a:solidFill>
                  <a:srgbClr val="3A3A3A"/>
                </a:solidFill>
                <a:effectLst/>
                <a:latin typeface="Roboto" panose="02000000000000000000" pitchFamily="2" charset="0"/>
              </a:rPr>
              <a:t>There are two types of constructors in the Java:</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Parameterized Constructor: A constructor that accepts arguments or parameters is known as the parameterized constructor. It initializes the instance variables and the values passed while creating an object.</a:t>
            </a:r>
          </a:p>
          <a:p>
            <a:pPr algn="just">
              <a:lnSpc>
                <a:spcPts val="2100"/>
              </a:lnSpc>
              <a:spcBef>
                <a:spcPts val="1650"/>
              </a:spcBef>
              <a:buNone/>
            </a:pPr>
            <a:r>
              <a:rPr lang="en-US" b="0" i="0" dirty="0">
                <a:solidFill>
                  <a:srgbClr val="3A3A3A"/>
                </a:solidFill>
                <a:effectLst/>
                <a:latin typeface="Roboto" panose="02000000000000000000" pitchFamily="2" charset="0"/>
              </a:rPr>
              <a:t>Below is an example of the parameterized constructor:</a:t>
            </a:r>
          </a:p>
        </p:txBody>
      </p:sp>
    </p:spTree>
    <p:extLst>
      <p:ext uri="{BB962C8B-B14F-4D97-AF65-F5344CB8AC3E}">
        <p14:creationId xmlns:p14="http://schemas.microsoft.com/office/powerpoint/2010/main" val="398243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39D9-771D-1A99-8C9D-AF905F4171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AB4D68-D87A-B31B-259F-6610171A7A36}"/>
              </a:ext>
            </a:extLst>
          </p:cNvPr>
          <p:cNvSpPr txBox="1"/>
          <p:nvPr/>
        </p:nvSpPr>
        <p:spPr>
          <a:xfrm>
            <a:off x="2477069" y="-353239"/>
            <a:ext cx="4954136" cy="7571303"/>
          </a:xfrm>
          <a:prstGeom prst="rect">
            <a:avLst/>
          </a:prstGeom>
          <a:noFill/>
        </p:spPr>
        <p:txBody>
          <a:bodyPr wrap="square">
            <a:spAutoFit/>
          </a:bodyPr>
          <a:lstStyle/>
          <a:p>
            <a:r>
              <a:rPr lang="en-US" dirty="0"/>
              <a:t>public class </a:t>
            </a:r>
            <a:r>
              <a:rPr lang="en-US" dirty="0" err="1"/>
              <a:t>ParameterizedConstructorDemo</a:t>
            </a:r>
            <a:r>
              <a:rPr lang="en-US" dirty="0"/>
              <a:t> {</a:t>
            </a:r>
          </a:p>
          <a:p>
            <a:r>
              <a:rPr lang="en-US" dirty="0"/>
              <a:t>    public static void main(String[] </a:t>
            </a:r>
            <a:r>
              <a:rPr lang="en-US" dirty="0" err="1"/>
              <a:t>args</a:t>
            </a:r>
            <a:r>
              <a:rPr lang="en-US" dirty="0"/>
              <a:t>) {</a:t>
            </a:r>
          </a:p>
          <a:p>
            <a:r>
              <a:rPr lang="en-US" dirty="0"/>
              <a:t>        A obj = new A(10, "Harry Williams"); // Calls parameterized constructor</a:t>
            </a:r>
          </a:p>
          <a:p>
            <a:r>
              <a:rPr lang="en-US" dirty="0"/>
              <a:t>        </a:t>
            </a:r>
            <a:r>
              <a:rPr lang="en-US" dirty="0" err="1"/>
              <a:t>System.out.println</a:t>
            </a:r>
            <a:r>
              <a:rPr lang="en-US" dirty="0"/>
              <a:t>("The value of instance variables:");</a:t>
            </a:r>
          </a:p>
          <a:p>
            <a:r>
              <a:rPr lang="en-US" dirty="0"/>
              <a:t>        </a:t>
            </a:r>
            <a:r>
              <a:rPr lang="en-US" dirty="0" err="1"/>
              <a:t>System.out.println</a:t>
            </a:r>
            <a:r>
              <a:rPr lang="en-US" dirty="0"/>
              <a:t>("Name: " + obj.name);</a:t>
            </a:r>
          </a:p>
          <a:p>
            <a:r>
              <a:rPr lang="en-US" dirty="0"/>
              <a:t>        </a:t>
            </a:r>
            <a:r>
              <a:rPr lang="en-US" dirty="0" err="1"/>
              <a:t>System.out.println</a:t>
            </a:r>
            <a:r>
              <a:rPr lang="en-US" dirty="0"/>
              <a:t>("Roll No: " + </a:t>
            </a:r>
            <a:r>
              <a:rPr lang="en-US" dirty="0" err="1"/>
              <a:t>obj.roll_no</a:t>
            </a:r>
            <a:r>
              <a:rPr lang="en-US" dirty="0"/>
              <a:t>);</a:t>
            </a:r>
          </a:p>
          <a:p>
            <a:r>
              <a:rPr lang="en-US" dirty="0"/>
              <a:t>    }</a:t>
            </a:r>
          </a:p>
          <a:p>
            <a:r>
              <a:rPr lang="en-US" dirty="0"/>
              <a:t>}</a:t>
            </a:r>
          </a:p>
          <a:p>
            <a:endParaRPr lang="en-US" dirty="0"/>
          </a:p>
          <a:p>
            <a:r>
              <a:rPr lang="en-US" dirty="0"/>
              <a:t>class A {</a:t>
            </a:r>
          </a:p>
          <a:p>
            <a:r>
              <a:rPr lang="en-US" dirty="0"/>
              <a:t>    int </a:t>
            </a:r>
            <a:r>
              <a:rPr lang="en-US" dirty="0" err="1"/>
              <a:t>roll_no</a:t>
            </a:r>
            <a:r>
              <a:rPr lang="en-US" dirty="0"/>
              <a:t>;</a:t>
            </a:r>
          </a:p>
          <a:p>
            <a:r>
              <a:rPr lang="en-US" dirty="0"/>
              <a:t>    String name;</a:t>
            </a:r>
          </a:p>
          <a:p>
            <a:endParaRPr lang="en-US" dirty="0"/>
          </a:p>
          <a:p>
            <a:r>
              <a:rPr lang="en-US" dirty="0"/>
              <a:t>    // Parameterized Constructor</a:t>
            </a:r>
          </a:p>
          <a:p>
            <a:r>
              <a:rPr lang="en-US" dirty="0"/>
              <a:t>    A(int x, String y) {</a:t>
            </a:r>
          </a:p>
          <a:p>
            <a:r>
              <a:rPr lang="en-US" dirty="0"/>
              <a:t>        </a:t>
            </a:r>
            <a:r>
              <a:rPr lang="en-US" dirty="0" err="1"/>
              <a:t>this.roll_no</a:t>
            </a:r>
            <a:r>
              <a:rPr lang="en-US" dirty="0"/>
              <a:t> = x;</a:t>
            </a:r>
          </a:p>
          <a:p>
            <a:r>
              <a:rPr lang="en-US" dirty="0"/>
              <a:t>        this.name = y;</a:t>
            </a:r>
          </a:p>
          <a:p>
            <a:r>
              <a:rPr lang="en-US" dirty="0"/>
              <a:t>        </a:t>
            </a:r>
            <a:r>
              <a:rPr lang="en-US" dirty="0" err="1"/>
              <a:t>System.out.println</a:t>
            </a:r>
            <a:r>
              <a:rPr lang="en-US" dirty="0"/>
              <a:t>("Constructor called");</a:t>
            </a:r>
          </a:p>
          <a:p>
            <a:r>
              <a:rPr lang="en-US" dirty="0"/>
              <a:t>    }</a:t>
            </a:r>
          </a:p>
          <a:p>
            <a:endParaRPr lang="en-US" dirty="0"/>
          </a:p>
          <a:p>
            <a:r>
              <a:rPr lang="en-US" dirty="0"/>
              <a:t>    public void fun() {</a:t>
            </a:r>
          </a:p>
          <a:p>
            <a:r>
              <a:rPr lang="en-US" dirty="0"/>
              <a:t>        </a:t>
            </a:r>
            <a:r>
              <a:rPr lang="en-US" dirty="0" err="1"/>
              <a:t>System.out.println</a:t>
            </a:r>
            <a:r>
              <a:rPr lang="en-US" dirty="0"/>
              <a:t>("Class A function called");</a:t>
            </a:r>
          </a:p>
          <a:p>
            <a:r>
              <a:rPr lang="en-US" dirty="0"/>
              <a:t>    }</a:t>
            </a:r>
          </a:p>
          <a:p>
            <a:r>
              <a:rPr lang="en-US" dirty="0"/>
              <a:t>}</a:t>
            </a:r>
          </a:p>
        </p:txBody>
      </p:sp>
    </p:spTree>
    <p:extLst>
      <p:ext uri="{BB962C8B-B14F-4D97-AF65-F5344CB8AC3E}">
        <p14:creationId xmlns:p14="http://schemas.microsoft.com/office/powerpoint/2010/main" val="321149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51D3-0345-00B0-8AB0-A45023E7406D}"/>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37A28E59-16D4-CC65-F001-A7CADC45FD47}"/>
              </a:ext>
            </a:extLst>
          </p:cNvPr>
          <p:cNvSpPr txBox="1"/>
          <p:nvPr/>
        </p:nvSpPr>
        <p:spPr>
          <a:xfrm>
            <a:off x="0" y="184452"/>
            <a:ext cx="3971499" cy="3349635"/>
          </a:xfrm>
          <a:prstGeom prst="rect">
            <a:avLst/>
          </a:prstGeom>
          <a:noFill/>
        </p:spPr>
        <p:txBody>
          <a:bodyPr wrap="square">
            <a:spAutoFit/>
          </a:bodyPr>
          <a:lstStyle/>
          <a:p>
            <a:pPr algn="just">
              <a:lnSpc>
                <a:spcPts val="2100"/>
              </a:lnSpc>
              <a:spcBef>
                <a:spcPts val="1650"/>
              </a:spcBef>
              <a:spcAft>
                <a:spcPts val="600"/>
              </a:spcAft>
              <a:buFont typeface="+mj-lt"/>
              <a:buAutoNum type="arabicPeriod" startAt="2"/>
            </a:pPr>
            <a:r>
              <a:rPr lang="en-US" b="0" i="0">
                <a:solidFill>
                  <a:srgbClr val="3A3A3A"/>
                </a:solidFill>
                <a:effectLst/>
                <a:latin typeface="Roboto" panose="02000000000000000000" pitchFamily="2" charset="0"/>
              </a:rPr>
              <a:t>Non-parameterized/Default constructor: The constructors with no parameters or arguments are known and non-parameterized constructors. In case you don’t define a constructor of any type, the compiler itself creates a default constructor which will be called when the object is created.</a:t>
            </a:r>
          </a:p>
          <a:p>
            <a:pPr algn="just">
              <a:lnSpc>
                <a:spcPts val="2100"/>
              </a:lnSpc>
              <a:spcBef>
                <a:spcPts val="1650"/>
              </a:spcBef>
              <a:buNone/>
            </a:pPr>
            <a:r>
              <a:rPr lang="en-US" b="0" i="0">
                <a:solidFill>
                  <a:srgbClr val="3A3A3A"/>
                </a:solidFill>
                <a:effectLst/>
                <a:latin typeface="Roboto" panose="02000000000000000000" pitchFamily="2" charset="0"/>
              </a:rPr>
              <a:t>Below is an example of a non-parameterized constructor:</a:t>
            </a:r>
            <a:endParaRPr lang="en-US" b="0" i="0" dirty="0">
              <a:solidFill>
                <a:srgbClr val="3A3A3A"/>
              </a:solidFill>
              <a:effectLst/>
              <a:latin typeface="Roboto" panose="02000000000000000000" pitchFamily="2" charset="0"/>
            </a:endParaRPr>
          </a:p>
        </p:txBody>
      </p:sp>
      <p:sp>
        <p:nvSpPr>
          <p:cNvPr id="15" name="TextBox 14">
            <a:extLst>
              <a:ext uri="{FF2B5EF4-FFF2-40B4-BE49-F238E27FC236}">
                <a16:creationId xmlns:a16="http://schemas.microsoft.com/office/drawing/2014/main" id="{C9C0BFC9-F1E0-9A73-83F0-EE547F394284}"/>
              </a:ext>
            </a:extLst>
          </p:cNvPr>
          <p:cNvSpPr txBox="1"/>
          <p:nvPr/>
        </p:nvSpPr>
        <p:spPr>
          <a:xfrm>
            <a:off x="4483290" y="82777"/>
            <a:ext cx="4981432" cy="7571303"/>
          </a:xfrm>
          <a:prstGeom prst="rect">
            <a:avLst/>
          </a:prstGeom>
          <a:noFill/>
        </p:spPr>
        <p:txBody>
          <a:bodyPr wrap="square">
            <a:spAutoFit/>
          </a:bodyPr>
          <a:lstStyle/>
          <a:p>
            <a:r>
              <a:rPr lang="en-US" dirty="0"/>
              <a:t>public class </a:t>
            </a:r>
            <a:r>
              <a:rPr lang="en-US" dirty="0" err="1"/>
              <a:t>DefaultConstructorDemo</a:t>
            </a:r>
            <a:r>
              <a:rPr lang="en-US" dirty="0"/>
              <a:t> {</a:t>
            </a:r>
          </a:p>
          <a:p>
            <a:r>
              <a:rPr lang="en-US" dirty="0"/>
              <a:t>    public static void main(String[] </a:t>
            </a:r>
            <a:r>
              <a:rPr lang="en-US" dirty="0" err="1"/>
              <a:t>args</a:t>
            </a:r>
            <a:r>
              <a:rPr lang="en-US" dirty="0"/>
              <a:t>) {</a:t>
            </a:r>
          </a:p>
          <a:p>
            <a:r>
              <a:rPr lang="en-US" dirty="0"/>
              <a:t>        A obj = new A(); // Calls default constructor</a:t>
            </a:r>
          </a:p>
          <a:p>
            <a:r>
              <a:rPr lang="en-US" dirty="0"/>
              <a:t>        </a:t>
            </a:r>
            <a:r>
              <a:rPr lang="en-US" dirty="0" err="1"/>
              <a:t>obj.fun</a:t>
            </a:r>
            <a:r>
              <a:rPr lang="en-US" dirty="0"/>
              <a:t>();</a:t>
            </a:r>
          </a:p>
          <a:p>
            <a:r>
              <a:rPr lang="en-US" dirty="0"/>
              <a:t>        </a:t>
            </a:r>
            <a:r>
              <a:rPr lang="en-US" dirty="0" err="1"/>
              <a:t>System.out.println</a:t>
            </a:r>
            <a:r>
              <a:rPr lang="en-US" dirty="0"/>
              <a:t>("The value of instance variables are:");</a:t>
            </a:r>
          </a:p>
          <a:p>
            <a:r>
              <a:rPr lang="en-US" dirty="0"/>
              <a:t>        </a:t>
            </a:r>
            <a:r>
              <a:rPr lang="en-US" dirty="0" err="1"/>
              <a:t>System.out.println</a:t>
            </a:r>
            <a:r>
              <a:rPr lang="en-US" dirty="0"/>
              <a:t>("Name: " + obj.name); // null</a:t>
            </a:r>
          </a:p>
          <a:p>
            <a:r>
              <a:rPr lang="en-US" dirty="0"/>
              <a:t>        </a:t>
            </a:r>
            <a:r>
              <a:rPr lang="en-US" dirty="0" err="1"/>
              <a:t>System.out.println</a:t>
            </a:r>
            <a:r>
              <a:rPr lang="en-US" dirty="0"/>
              <a:t>("Roll No: " + </a:t>
            </a:r>
            <a:r>
              <a:rPr lang="en-US" dirty="0" err="1"/>
              <a:t>obj.roll_no</a:t>
            </a:r>
            <a:r>
              <a:rPr lang="en-US" dirty="0"/>
              <a:t>); // 0</a:t>
            </a:r>
          </a:p>
          <a:p>
            <a:r>
              <a:rPr lang="en-US" dirty="0"/>
              <a:t>    }</a:t>
            </a:r>
          </a:p>
          <a:p>
            <a:r>
              <a:rPr lang="en-US" dirty="0"/>
              <a:t>}</a:t>
            </a:r>
          </a:p>
          <a:p>
            <a:endParaRPr lang="en-US" dirty="0"/>
          </a:p>
          <a:p>
            <a:r>
              <a:rPr lang="en-US" dirty="0"/>
              <a:t>class A {</a:t>
            </a:r>
          </a:p>
          <a:p>
            <a:r>
              <a:rPr lang="en-US" dirty="0"/>
              <a:t>    int </a:t>
            </a:r>
            <a:r>
              <a:rPr lang="en-US" dirty="0" err="1"/>
              <a:t>roll_no</a:t>
            </a:r>
            <a:r>
              <a:rPr lang="en-US" dirty="0"/>
              <a:t>;</a:t>
            </a:r>
          </a:p>
          <a:p>
            <a:r>
              <a:rPr lang="en-US" dirty="0"/>
              <a:t>    String name;</a:t>
            </a:r>
          </a:p>
          <a:p>
            <a:endParaRPr lang="en-US" dirty="0"/>
          </a:p>
          <a:p>
            <a:r>
              <a:rPr lang="en-US" dirty="0"/>
              <a:t>    // Default Constructor</a:t>
            </a:r>
          </a:p>
          <a:p>
            <a:r>
              <a:rPr lang="en-US" dirty="0"/>
              <a:t>    A() {</a:t>
            </a:r>
          </a:p>
          <a:p>
            <a:r>
              <a:rPr lang="en-US" dirty="0"/>
              <a:t>        </a:t>
            </a:r>
            <a:r>
              <a:rPr lang="en-US" dirty="0" err="1"/>
              <a:t>System.out.println</a:t>
            </a:r>
            <a:r>
              <a:rPr lang="en-US" dirty="0"/>
              <a:t>("Constructor called");</a:t>
            </a:r>
          </a:p>
          <a:p>
            <a:r>
              <a:rPr lang="en-US" dirty="0"/>
              <a:t>    }</a:t>
            </a:r>
          </a:p>
          <a:p>
            <a:endParaRPr lang="en-US" dirty="0"/>
          </a:p>
          <a:p>
            <a:r>
              <a:rPr lang="en-US" dirty="0"/>
              <a:t>    public void fun() {</a:t>
            </a:r>
          </a:p>
          <a:p>
            <a:r>
              <a:rPr lang="en-US" dirty="0"/>
              <a:t>        </a:t>
            </a:r>
            <a:r>
              <a:rPr lang="en-US" dirty="0" err="1"/>
              <a:t>System.out.println</a:t>
            </a:r>
            <a:r>
              <a:rPr lang="en-US" dirty="0"/>
              <a:t>("Class A function called");</a:t>
            </a:r>
          </a:p>
          <a:p>
            <a:r>
              <a:rPr lang="en-US" dirty="0"/>
              <a:t>    }</a:t>
            </a:r>
          </a:p>
          <a:p>
            <a:r>
              <a:rPr lang="en-US" dirty="0"/>
              <a:t>}</a:t>
            </a:r>
          </a:p>
        </p:txBody>
      </p:sp>
    </p:spTree>
    <p:extLst>
      <p:ext uri="{BB962C8B-B14F-4D97-AF65-F5344CB8AC3E}">
        <p14:creationId xmlns:p14="http://schemas.microsoft.com/office/powerpoint/2010/main" val="3296601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CCC6-E6E7-B7C6-6CCC-9091F85AE1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3E7134-8820-1C91-010B-A0D4E4477BDF}"/>
              </a:ext>
            </a:extLst>
          </p:cNvPr>
          <p:cNvSpPr txBox="1"/>
          <p:nvPr/>
        </p:nvSpPr>
        <p:spPr>
          <a:xfrm>
            <a:off x="2477069" y="157157"/>
            <a:ext cx="4954136" cy="655051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21. What is the significance of (String[] </a:t>
            </a:r>
            <a:r>
              <a:rPr lang="en-US" b="0" i="0" dirty="0" err="1">
                <a:solidFill>
                  <a:srgbClr val="272C37"/>
                </a:solidFill>
                <a:effectLst/>
                <a:latin typeface="Roboto" panose="02000000000000000000" pitchFamily="2" charset="0"/>
              </a:rPr>
              <a:t>args</a:t>
            </a:r>
            <a:r>
              <a:rPr lang="en-US" b="0" i="0" dirty="0">
                <a:solidFill>
                  <a:srgbClr val="272C37"/>
                </a:solidFill>
                <a:effectLst/>
                <a:latin typeface="Roboto" panose="02000000000000000000" pitchFamily="2" charset="0"/>
              </a:rPr>
              <a:t>) in Java?</a:t>
            </a:r>
          </a:p>
          <a:p>
            <a:pPr algn="just">
              <a:lnSpc>
                <a:spcPts val="2100"/>
              </a:lnSpc>
              <a:spcBef>
                <a:spcPts val="1650"/>
              </a:spcBef>
              <a:buNone/>
            </a:pPr>
            <a:r>
              <a:rPr lang="en-US" b="0" i="0" dirty="0">
                <a:solidFill>
                  <a:srgbClr val="3A3A3A"/>
                </a:solidFill>
                <a:effectLst/>
                <a:latin typeface="Roboto" panose="02000000000000000000" pitchFamily="2" charset="0"/>
              </a:rPr>
              <a:t>In Java, the (String[] </a:t>
            </a:r>
            <a:r>
              <a:rPr lang="en-US" b="0" i="0" dirty="0" err="1">
                <a:solidFill>
                  <a:srgbClr val="3A3A3A"/>
                </a:solidFill>
                <a:effectLst/>
                <a:latin typeface="Roboto" panose="02000000000000000000" pitchFamily="2" charset="0"/>
              </a:rPr>
              <a:t>args</a:t>
            </a:r>
            <a:r>
              <a:rPr lang="en-US" b="0" i="0" dirty="0">
                <a:solidFill>
                  <a:srgbClr val="3A3A3A"/>
                </a:solidFill>
                <a:effectLst/>
                <a:latin typeface="Roboto" panose="02000000000000000000" pitchFamily="2" charset="0"/>
              </a:rPr>
              <a:t>) argument exists within the main() method, and this is the entry point of any Java program. The array of strings permits the program to take command-line arguments when the program is executed. Every argument that is passed via the command line is placed within the array as a String object.</a:t>
            </a:r>
          </a:p>
          <a:p>
            <a:pPr algn="just">
              <a:lnSpc>
                <a:spcPts val="2100"/>
              </a:lnSpc>
              <a:spcBef>
                <a:spcPts val="750"/>
              </a:spcBef>
              <a:buNone/>
            </a:pPr>
            <a:r>
              <a:rPr lang="en-US" b="0" i="0" dirty="0">
                <a:solidFill>
                  <a:srgbClr val="3A3A3A"/>
                </a:solidFill>
                <a:effectLst/>
                <a:latin typeface="Roboto" panose="02000000000000000000" pitchFamily="2" charset="0"/>
              </a:rPr>
              <a:t>For instance, when you execute a Java program like this:</a:t>
            </a:r>
          </a:p>
          <a:p>
            <a:pPr algn="l">
              <a:spcBef>
                <a:spcPts val="1125"/>
              </a:spcBef>
              <a:spcAft>
                <a:spcPts val="375"/>
              </a:spcAft>
              <a:buNone/>
            </a:pPr>
            <a:r>
              <a:rPr lang="en-US" b="0" i="0" dirty="0">
                <a:solidFill>
                  <a:srgbClr val="212529"/>
                </a:solidFill>
                <a:effectLst/>
                <a:latin typeface="Courier New" panose="02070309020205020404" pitchFamily="49" charset="0"/>
              </a:rPr>
              <a:t>java </a:t>
            </a:r>
            <a:r>
              <a:rPr lang="en-US" b="0" i="0" dirty="0" err="1">
                <a:solidFill>
                  <a:srgbClr val="212529"/>
                </a:solidFill>
                <a:effectLst/>
                <a:latin typeface="Courier New" panose="02070309020205020404" pitchFamily="49" charset="0"/>
              </a:rPr>
              <a:t>MyApp</a:t>
            </a:r>
            <a:r>
              <a:rPr lang="en-US" b="0" i="0" dirty="0">
                <a:solidFill>
                  <a:srgbClr val="212529"/>
                </a:solidFill>
                <a:effectLst/>
                <a:latin typeface="Courier New" panose="02070309020205020404" pitchFamily="49" charset="0"/>
              </a:rPr>
              <a:t> Hello World</a:t>
            </a:r>
          </a:p>
          <a:p>
            <a:pPr algn="just">
              <a:lnSpc>
                <a:spcPts val="2100"/>
              </a:lnSpc>
              <a:spcBef>
                <a:spcPts val="1650"/>
              </a:spcBef>
              <a:buNone/>
            </a:pPr>
            <a:r>
              <a:rPr lang="en-US" b="0" i="0" dirty="0">
                <a:solidFill>
                  <a:srgbClr val="3A3A3A"/>
                </a:solidFill>
                <a:effectLst/>
                <a:latin typeface="Roboto" panose="02000000000000000000" pitchFamily="2" charset="0"/>
              </a:rPr>
              <a:t>Then </a:t>
            </a:r>
            <a:r>
              <a:rPr lang="en-US" b="0" i="0" dirty="0" err="1">
                <a:solidFill>
                  <a:srgbClr val="3A3A3A"/>
                </a:solidFill>
                <a:effectLst/>
                <a:latin typeface="Roboto" panose="02000000000000000000" pitchFamily="2" charset="0"/>
              </a:rPr>
              <a:t>args</a:t>
            </a:r>
            <a:r>
              <a:rPr lang="en-US" b="0" i="0" dirty="0">
                <a:solidFill>
                  <a:srgbClr val="3A3A3A"/>
                </a:solidFill>
                <a:effectLst/>
                <a:latin typeface="Roboto" panose="02000000000000000000" pitchFamily="2" charset="0"/>
              </a:rPr>
              <a:t>[0] would be “Hello” and </a:t>
            </a:r>
            <a:r>
              <a:rPr lang="en-US" b="0" i="0" dirty="0" err="1">
                <a:solidFill>
                  <a:srgbClr val="3A3A3A"/>
                </a:solidFill>
                <a:effectLst/>
                <a:latin typeface="Roboto" panose="02000000000000000000" pitchFamily="2" charset="0"/>
              </a:rPr>
              <a:t>args</a:t>
            </a:r>
            <a:r>
              <a:rPr lang="en-US" b="0" i="0" dirty="0">
                <a:solidFill>
                  <a:srgbClr val="3A3A3A"/>
                </a:solidFill>
                <a:effectLst/>
                <a:latin typeface="Roboto" panose="02000000000000000000" pitchFamily="2" charset="0"/>
              </a:rPr>
              <a:t>[1] would be “World”.</a:t>
            </a:r>
          </a:p>
          <a:p>
            <a:pPr algn="just">
              <a:lnSpc>
                <a:spcPts val="2100"/>
              </a:lnSpc>
              <a:spcBef>
                <a:spcPts val="750"/>
              </a:spcBef>
              <a:buNone/>
            </a:pPr>
            <a:r>
              <a:rPr lang="en-US" b="0" i="0" dirty="0">
                <a:solidFill>
                  <a:srgbClr val="3A3A3A"/>
                </a:solidFill>
                <a:effectLst/>
                <a:latin typeface="Roboto" panose="02000000000000000000" pitchFamily="2" charset="0"/>
              </a:rPr>
              <a:t>This is very helpful in enterprise applications, batch jobs, or scripting where parameters have to be passed at runtime. So, String[] </a:t>
            </a:r>
            <a:r>
              <a:rPr lang="en-US" b="0" i="0" dirty="0" err="1">
                <a:solidFill>
                  <a:srgbClr val="3A3A3A"/>
                </a:solidFill>
                <a:effectLst/>
                <a:latin typeface="Roboto" panose="02000000000000000000" pitchFamily="2" charset="0"/>
              </a:rPr>
              <a:t>args</a:t>
            </a:r>
            <a:r>
              <a:rPr lang="en-US" b="0" i="0" dirty="0">
                <a:solidFill>
                  <a:srgbClr val="3A3A3A"/>
                </a:solidFill>
                <a:effectLst/>
                <a:latin typeface="Roboto" panose="02000000000000000000" pitchFamily="2" charset="0"/>
              </a:rPr>
              <a:t> makes your program flexible and configurable without the need to hardcode values.</a:t>
            </a:r>
          </a:p>
        </p:txBody>
      </p:sp>
    </p:spTree>
    <p:extLst>
      <p:ext uri="{BB962C8B-B14F-4D97-AF65-F5344CB8AC3E}">
        <p14:creationId xmlns:p14="http://schemas.microsoft.com/office/powerpoint/2010/main" val="189434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8316-616B-E845-43AD-535703B176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E6648EB-5871-643D-458C-C0A73CB52BF6}"/>
              </a:ext>
            </a:extLst>
          </p:cNvPr>
          <p:cNvSpPr txBox="1"/>
          <p:nvPr/>
        </p:nvSpPr>
        <p:spPr>
          <a:xfrm>
            <a:off x="2477069" y="-1152176"/>
            <a:ext cx="4954136" cy="916917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22. What is a Method in Java?</a:t>
            </a:r>
          </a:p>
          <a:p>
            <a:pPr algn="just">
              <a:lnSpc>
                <a:spcPts val="2100"/>
              </a:lnSpc>
              <a:spcBef>
                <a:spcPts val="1650"/>
              </a:spcBef>
              <a:buNone/>
            </a:pPr>
            <a:r>
              <a:rPr lang="en-US" b="0" i="0" dirty="0">
                <a:solidFill>
                  <a:srgbClr val="3A3A3A"/>
                </a:solidFill>
                <a:effectLst/>
                <a:latin typeface="Roboto" panose="02000000000000000000" pitchFamily="2" charset="0"/>
              </a:rPr>
              <a:t>A method in Java is generally a block of code designed to perform a specific task and is executed only when called. These Java Methods help in writing modular, reusable, and maintainable code.</a:t>
            </a:r>
          </a:p>
          <a:p>
            <a:pPr algn="just">
              <a:lnSpc>
                <a:spcPts val="2100"/>
              </a:lnSpc>
              <a:spcBef>
                <a:spcPts val="750"/>
              </a:spcBef>
              <a:buNone/>
            </a:pPr>
            <a:r>
              <a:rPr lang="en-US" b="0" i="0" dirty="0">
                <a:solidFill>
                  <a:srgbClr val="3A3A3A"/>
                </a:solidFill>
                <a:effectLst/>
                <a:latin typeface="Roboto" panose="02000000000000000000" pitchFamily="2" charset="0"/>
              </a:rPr>
              <a:t>Methods in Java can be: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Predefined (like </a:t>
            </a:r>
            <a:r>
              <a:rPr lang="en-US" b="0" i="0" dirty="0" err="1">
                <a:solidFill>
                  <a:srgbClr val="3A3A3A"/>
                </a:solidFill>
                <a:effectLst/>
                <a:latin typeface="Roboto" panose="02000000000000000000" pitchFamily="2" charset="0"/>
              </a:rPr>
              <a:t>System.out.println</a:t>
            </a:r>
            <a:r>
              <a:rPr lang="en-US" b="0" i="0" dirty="0">
                <a:solidFill>
                  <a:srgbClr val="3A3A3A"/>
                </a:solidFill>
                <a:effectLst/>
                <a:latin typeface="Roboto" panose="02000000000000000000" pitchFamily="2" charset="0"/>
              </a:rPr>
              <a: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User-defined (where developers create their own custom logic)</a:t>
            </a:r>
          </a:p>
          <a:p>
            <a:pPr algn="just">
              <a:lnSpc>
                <a:spcPts val="2100"/>
              </a:lnSpc>
              <a:spcBef>
                <a:spcPts val="1650"/>
              </a:spcBef>
              <a:buNone/>
            </a:pPr>
            <a:r>
              <a:rPr lang="en-US" b="0" i="0" dirty="0">
                <a:solidFill>
                  <a:srgbClr val="3A3A3A"/>
                </a:solidFill>
                <a:effectLst/>
                <a:latin typeface="Roboto" panose="02000000000000000000" pitchFamily="2" charset="0"/>
              </a:rPr>
              <a:t>Each method has a:</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Return type (like int, void, String, etc.)</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Method name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Optional parameters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Body that contains the logic</a:t>
            </a:r>
          </a:p>
          <a:p>
            <a:pPr algn="just">
              <a:lnSpc>
                <a:spcPts val="2100"/>
              </a:lnSpc>
              <a:spcBef>
                <a:spcPts val="1650"/>
              </a:spcBef>
              <a:buNone/>
            </a:pPr>
            <a:r>
              <a:rPr lang="en-US" b="0" i="0" dirty="0">
                <a:solidFill>
                  <a:srgbClr val="3A3A3A"/>
                </a:solidFill>
                <a:effectLst/>
                <a:latin typeface="Roboto" panose="02000000000000000000" pitchFamily="2" charset="0"/>
              </a:rPr>
              <a:t>For example:</a:t>
            </a:r>
          </a:p>
          <a:p>
            <a:pPr algn="l">
              <a:spcBef>
                <a:spcPts val="1125"/>
              </a:spcBef>
              <a:spcAft>
                <a:spcPts val="375"/>
              </a:spcAft>
              <a:buNone/>
            </a:pPr>
            <a:r>
              <a:rPr lang="en-US" b="0" i="0" dirty="0">
                <a:solidFill>
                  <a:srgbClr val="212529"/>
                </a:solidFill>
                <a:effectLst/>
                <a:latin typeface="Courier New" panose="02070309020205020404" pitchFamily="49" charset="0"/>
              </a:rPr>
              <a:t>public int add(int a, int b) {</a:t>
            </a:r>
          </a:p>
          <a:p>
            <a:pPr algn="l">
              <a:spcBef>
                <a:spcPts val="1125"/>
              </a:spcBef>
              <a:spcAft>
                <a:spcPts val="375"/>
              </a:spcAft>
              <a:buNone/>
            </a:pPr>
            <a:r>
              <a:rPr lang="en-US" b="0" i="0" dirty="0">
                <a:solidFill>
                  <a:srgbClr val="212529"/>
                </a:solidFill>
                <a:effectLst/>
                <a:latin typeface="Courier New" panose="02070309020205020404" pitchFamily="49" charset="0"/>
              </a:rPr>
              <a:t>    return a + b;</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Using Java methods also promotes code reusability and separation of concerns, which are generally the key principles in object-oriented programming and clean architecture.</a:t>
            </a:r>
          </a:p>
        </p:txBody>
      </p:sp>
    </p:spTree>
    <p:extLst>
      <p:ext uri="{BB962C8B-B14F-4D97-AF65-F5344CB8AC3E}">
        <p14:creationId xmlns:p14="http://schemas.microsoft.com/office/powerpoint/2010/main" val="4164324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C741-BE3B-1381-C1C3-531DD4C166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66897C6-5607-E872-BCC8-D6A08B8F777E}"/>
              </a:ext>
            </a:extLst>
          </p:cNvPr>
          <p:cNvSpPr txBox="1"/>
          <p:nvPr/>
        </p:nvSpPr>
        <p:spPr>
          <a:xfrm>
            <a:off x="143300" y="182092"/>
            <a:ext cx="9560257" cy="107978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23. Explain the differences between method overriding and method overloading.</a:t>
            </a:r>
          </a:p>
          <a:p>
            <a:pPr algn="just">
              <a:lnSpc>
                <a:spcPts val="2100"/>
              </a:lnSpc>
              <a:spcBef>
                <a:spcPts val="1650"/>
              </a:spcBef>
              <a:buNone/>
            </a:pPr>
            <a:r>
              <a:rPr lang="en-US" b="0" i="0" dirty="0">
                <a:solidFill>
                  <a:srgbClr val="3A3A3A"/>
                </a:solidFill>
                <a:effectLst/>
                <a:latin typeface="Roboto" panose="02000000000000000000" pitchFamily="2" charset="0"/>
              </a:rPr>
              <a:t>The following is the difference between </a:t>
            </a:r>
            <a:r>
              <a:rPr lang="en-US" b="0" i="0" u="none" strike="noStrike" dirty="0">
                <a:solidFill>
                  <a:srgbClr val="0F5A9E"/>
                </a:solidFill>
                <a:effectLst/>
                <a:latin typeface="Roboto" panose="02000000000000000000" pitchFamily="2" charset="0"/>
                <a:hlinkClick r:id="rId2"/>
              </a:rPr>
              <a:t>Method Overloading and Method Overriding</a:t>
            </a:r>
            <a:r>
              <a:rPr lang="en-US" b="0" i="0" dirty="0">
                <a:solidFill>
                  <a:srgbClr val="3A3A3A"/>
                </a:solidFill>
                <a:effectLst/>
                <a:latin typeface="Roboto" panose="02000000000000000000" pitchFamily="2" charset="0"/>
              </a:rPr>
              <a:t> in Java:</a:t>
            </a:r>
          </a:p>
        </p:txBody>
      </p:sp>
      <p:graphicFrame>
        <p:nvGraphicFramePr>
          <p:cNvPr id="4" name="Table 3">
            <a:extLst>
              <a:ext uri="{FF2B5EF4-FFF2-40B4-BE49-F238E27FC236}">
                <a16:creationId xmlns:a16="http://schemas.microsoft.com/office/drawing/2014/main" id="{7B02CF26-4D60-14CA-376B-916541DB85DB}"/>
              </a:ext>
            </a:extLst>
          </p:cNvPr>
          <p:cNvGraphicFramePr>
            <a:graphicFrameLocks noGrp="1"/>
          </p:cNvGraphicFramePr>
          <p:nvPr/>
        </p:nvGraphicFramePr>
        <p:xfrm>
          <a:off x="804243" y="1825625"/>
          <a:ext cx="8297514" cy="4351338"/>
        </p:xfrm>
        <a:graphic>
          <a:graphicData uri="http://schemas.openxmlformats.org/drawingml/2006/table">
            <a:tbl>
              <a:tblPr/>
              <a:tblGrid>
                <a:gridCol w="2765838">
                  <a:extLst>
                    <a:ext uri="{9D8B030D-6E8A-4147-A177-3AD203B41FA5}">
                      <a16:colId xmlns:a16="http://schemas.microsoft.com/office/drawing/2014/main" val="3933588883"/>
                    </a:ext>
                  </a:extLst>
                </a:gridCol>
                <a:gridCol w="2765838">
                  <a:extLst>
                    <a:ext uri="{9D8B030D-6E8A-4147-A177-3AD203B41FA5}">
                      <a16:colId xmlns:a16="http://schemas.microsoft.com/office/drawing/2014/main" val="979214764"/>
                    </a:ext>
                  </a:extLst>
                </a:gridCol>
                <a:gridCol w="2765838">
                  <a:extLst>
                    <a:ext uri="{9D8B030D-6E8A-4147-A177-3AD203B41FA5}">
                      <a16:colId xmlns:a16="http://schemas.microsoft.com/office/drawing/2014/main" val="2653846457"/>
                    </a:ext>
                  </a:extLst>
                </a:gridCol>
              </a:tblGrid>
              <a:tr h="355211">
                <a:tc>
                  <a:txBody>
                    <a:bodyPr/>
                    <a:lstStyle/>
                    <a:p>
                      <a:pPr algn="ctr" fontAlgn="t">
                        <a:buNone/>
                      </a:pPr>
                      <a:r>
                        <a:rPr lang="en-US" sz="1700" b="0">
                          <a:solidFill>
                            <a:srgbClr val="FFFFFF"/>
                          </a:solidFill>
                          <a:effectLst/>
                        </a:rPr>
                        <a:t>Feature</a:t>
                      </a:r>
                      <a:endParaRPr lang="en-US" sz="1700">
                        <a:solidFill>
                          <a:srgbClr val="FFFFFF"/>
                        </a:solidFill>
                        <a:effectLst/>
                      </a:endParaRP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700" b="0">
                          <a:solidFill>
                            <a:srgbClr val="FFFFFF"/>
                          </a:solidFill>
                          <a:effectLst/>
                        </a:rPr>
                        <a:t>Method Overriding</a:t>
                      </a:r>
                      <a:endParaRPr lang="en-US" sz="1700">
                        <a:solidFill>
                          <a:srgbClr val="FFFFFF"/>
                        </a:solidFill>
                        <a:effectLst/>
                      </a:endParaRP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700" b="0">
                          <a:solidFill>
                            <a:srgbClr val="FFFFFF"/>
                          </a:solidFill>
                          <a:effectLst/>
                        </a:rPr>
                        <a:t>Method Overloading</a:t>
                      </a:r>
                      <a:endParaRPr lang="en-US" sz="1700">
                        <a:solidFill>
                          <a:srgbClr val="FFFFFF"/>
                        </a:solidFill>
                        <a:effectLst/>
                      </a:endParaRP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040716736"/>
                  </a:ext>
                </a:extLst>
              </a:tr>
              <a:tr h="888028">
                <a:tc>
                  <a:txBody>
                    <a:bodyPr/>
                    <a:lstStyle/>
                    <a:p>
                      <a:pPr fontAlgn="t">
                        <a:buNone/>
                      </a:pPr>
                      <a:r>
                        <a:rPr lang="en-US" sz="1700">
                          <a:effectLst/>
                        </a:rPr>
                        <a:t>Definition</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Redefining a method in a subclass</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Defining multiple methods with same name but different parameters</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460879753"/>
                  </a:ext>
                </a:extLst>
              </a:tr>
              <a:tr h="621620">
                <a:tc>
                  <a:txBody>
                    <a:bodyPr/>
                    <a:lstStyle/>
                    <a:p>
                      <a:pPr fontAlgn="t">
                        <a:buNone/>
                      </a:pPr>
                      <a:r>
                        <a:rPr lang="en-US" sz="1700">
                          <a:effectLst/>
                        </a:rPr>
                        <a:t>Class Relationship</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Requires inheritance (subclass &amp; superclass)</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Happens within the same class</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90444040"/>
                  </a:ext>
                </a:extLst>
              </a:tr>
              <a:tr h="621620">
                <a:tc>
                  <a:txBody>
                    <a:bodyPr/>
                    <a:lstStyle/>
                    <a:p>
                      <a:pPr fontAlgn="t">
                        <a:buNone/>
                      </a:pPr>
                      <a:r>
                        <a:rPr lang="en-US" sz="1700">
                          <a:effectLst/>
                        </a:rPr>
                        <a:t>Method Signature</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Must be the same (name, parameters)</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Must differ (parameters type, number, or order)</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467609802"/>
                  </a:ext>
                </a:extLst>
              </a:tr>
              <a:tr h="621620">
                <a:tc>
                  <a:txBody>
                    <a:bodyPr/>
                    <a:lstStyle/>
                    <a:p>
                      <a:pPr fontAlgn="t">
                        <a:buNone/>
                      </a:pPr>
                      <a:r>
                        <a:rPr lang="en-US" sz="1700">
                          <a:effectLst/>
                        </a:rPr>
                        <a:t>Runtime or Compile Time</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Resolved at runtime (dynamic binding)</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Resolved at compile time (static binding)</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637800055"/>
                  </a:ext>
                </a:extLst>
              </a:tr>
              <a:tr h="355211">
                <a:tc>
                  <a:txBody>
                    <a:bodyPr/>
                    <a:lstStyle/>
                    <a:p>
                      <a:pPr fontAlgn="t">
                        <a:buNone/>
                      </a:pPr>
                      <a:r>
                        <a:rPr lang="en-US" sz="1700">
                          <a:effectLst/>
                        </a:rPr>
                        <a:t>Access Modifiers</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Cannot reduce visibility</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No such restriction</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515632227"/>
                  </a:ext>
                </a:extLst>
              </a:tr>
              <a:tr h="888028">
                <a:tc>
                  <a:txBody>
                    <a:bodyPr/>
                    <a:lstStyle/>
                    <a:p>
                      <a:pPr fontAlgn="t">
                        <a:buNone/>
                      </a:pPr>
                      <a:r>
                        <a:rPr lang="en-US" sz="1700">
                          <a:effectLst/>
                        </a:rPr>
                        <a:t>Use Case</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To provide specific implementation in subclass</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dirty="0">
                          <a:effectLst/>
                        </a:rPr>
                        <a:t>To perform different tasks with same method name</a:t>
                      </a:r>
                    </a:p>
                  </a:txBody>
                  <a:tcPr marL="88803" marR="88803" marT="44401" marB="4440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483486582"/>
                  </a:ext>
                </a:extLst>
              </a:tr>
            </a:tbl>
          </a:graphicData>
        </a:graphic>
      </p:graphicFrame>
    </p:spTree>
    <p:extLst>
      <p:ext uri="{BB962C8B-B14F-4D97-AF65-F5344CB8AC3E}">
        <p14:creationId xmlns:p14="http://schemas.microsoft.com/office/powerpoint/2010/main" val="198090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F3F0-8E3C-9EC2-08A0-4468CCE58E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32EB7B-861C-9EA5-B5CB-2BED36228158}"/>
              </a:ext>
            </a:extLst>
          </p:cNvPr>
          <p:cNvSpPr txBox="1"/>
          <p:nvPr/>
        </p:nvSpPr>
        <p:spPr>
          <a:xfrm>
            <a:off x="2477069" y="-768738"/>
            <a:ext cx="4954136" cy="8402300"/>
          </a:xfrm>
          <a:prstGeom prst="rect">
            <a:avLst/>
          </a:prstGeom>
          <a:noFill/>
        </p:spPr>
        <p:txBody>
          <a:bodyPr wrap="square">
            <a:spAutoFit/>
          </a:bodyPr>
          <a:lstStyle/>
          <a:p>
            <a:r>
              <a:rPr lang="en-US" dirty="0"/>
              <a:t>public class Main {</a:t>
            </a:r>
          </a:p>
          <a:p>
            <a:r>
              <a:rPr lang="en-US" dirty="0"/>
              <a:t>    public static void main(String[] </a:t>
            </a:r>
            <a:r>
              <a:rPr lang="en-US" dirty="0" err="1"/>
              <a:t>args</a:t>
            </a:r>
            <a:r>
              <a:rPr lang="en-US" dirty="0"/>
              <a:t>) {</a:t>
            </a:r>
          </a:p>
          <a:p>
            <a:r>
              <a:rPr lang="en-US" dirty="0"/>
              <a:t>        Animal a = new Dog();</a:t>
            </a:r>
          </a:p>
          <a:p>
            <a:r>
              <a:rPr lang="en-US" dirty="0"/>
              <a:t>        </a:t>
            </a:r>
            <a:r>
              <a:rPr lang="en-US" dirty="0" err="1"/>
              <a:t>a.makeSound</a:t>
            </a:r>
            <a:r>
              <a:rPr lang="en-US" dirty="0"/>
              <a:t>(); // Overriding: Outputs "Dog barks"</a:t>
            </a:r>
          </a:p>
          <a:p>
            <a:endParaRPr lang="en-US" dirty="0"/>
          </a:p>
          <a:p>
            <a:r>
              <a:rPr lang="en-US" dirty="0"/>
              <a:t>        Dog d = new Dog();</a:t>
            </a:r>
          </a:p>
          <a:p>
            <a:r>
              <a:rPr lang="en-US" dirty="0"/>
              <a:t>        </a:t>
            </a:r>
            <a:r>
              <a:rPr lang="en-US" dirty="0" err="1"/>
              <a:t>d.makeSound</a:t>
            </a:r>
            <a:r>
              <a:rPr lang="en-US" dirty="0"/>
              <a:t>("growls"); // Overloading: Outputs "Dog growls"</a:t>
            </a:r>
          </a:p>
          <a:p>
            <a:r>
              <a:rPr lang="en-US" dirty="0"/>
              <a:t>    }</a:t>
            </a:r>
          </a:p>
          <a:p>
            <a:r>
              <a:rPr lang="en-US" dirty="0"/>
              <a:t>}</a:t>
            </a:r>
          </a:p>
          <a:p>
            <a:endParaRPr lang="en-US" dirty="0"/>
          </a:p>
          <a:p>
            <a:r>
              <a:rPr lang="en-US" dirty="0"/>
              <a:t>class Animal {</a:t>
            </a:r>
          </a:p>
          <a:p>
            <a:r>
              <a:rPr lang="en-US" dirty="0"/>
              <a:t>    void </a:t>
            </a:r>
            <a:r>
              <a:rPr lang="en-US" dirty="0" err="1"/>
              <a:t>makeSound</a:t>
            </a:r>
            <a:r>
              <a:rPr lang="en-US" dirty="0"/>
              <a:t>() {</a:t>
            </a:r>
          </a:p>
          <a:p>
            <a:r>
              <a:rPr lang="en-US" dirty="0"/>
              <a:t>        </a:t>
            </a:r>
            <a:r>
              <a:rPr lang="en-US" dirty="0" err="1"/>
              <a:t>System.out.println</a:t>
            </a:r>
            <a:r>
              <a:rPr lang="en-US" dirty="0"/>
              <a:t>("Animal makes a sound");</a:t>
            </a:r>
          </a:p>
          <a:p>
            <a:r>
              <a:rPr lang="en-US" dirty="0"/>
              <a:t>    }</a:t>
            </a:r>
          </a:p>
          <a:p>
            <a:r>
              <a:rPr lang="en-US" dirty="0"/>
              <a:t>}</a:t>
            </a:r>
          </a:p>
          <a:p>
            <a:endParaRPr lang="en-US" dirty="0"/>
          </a:p>
          <a:p>
            <a:r>
              <a:rPr lang="en-US" dirty="0"/>
              <a:t>class Dog extends Animal {</a:t>
            </a:r>
          </a:p>
          <a:p>
            <a:r>
              <a:rPr lang="en-US" dirty="0"/>
              <a:t>    // Method Overriding</a:t>
            </a:r>
          </a:p>
          <a:p>
            <a:r>
              <a:rPr lang="en-US" dirty="0"/>
              <a:t>    @Override</a:t>
            </a:r>
          </a:p>
          <a:p>
            <a:r>
              <a:rPr lang="en-US" dirty="0"/>
              <a:t>    void </a:t>
            </a:r>
            <a:r>
              <a:rPr lang="en-US" dirty="0" err="1"/>
              <a:t>makeSound</a:t>
            </a:r>
            <a:r>
              <a:rPr lang="en-US" dirty="0"/>
              <a:t>() {</a:t>
            </a:r>
          </a:p>
          <a:p>
            <a:r>
              <a:rPr lang="en-US" dirty="0"/>
              <a:t>        </a:t>
            </a:r>
            <a:r>
              <a:rPr lang="en-US" dirty="0" err="1"/>
              <a:t>System.out.println</a:t>
            </a:r>
            <a:r>
              <a:rPr lang="en-US" dirty="0"/>
              <a:t>("Dog barks");</a:t>
            </a:r>
          </a:p>
          <a:p>
            <a:r>
              <a:rPr lang="en-US" dirty="0"/>
              <a:t>    }</a:t>
            </a:r>
          </a:p>
          <a:p>
            <a:endParaRPr lang="en-US" dirty="0"/>
          </a:p>
          <a:p>
            <a:r>
              <a:rPr lang="en-US" dirty="0"/>
              <a:t>    // Method Overloading</a:t>
            </a:r>
          </a:p>
          <a:p>
            <a:r>
              <a:rPr lang="en-US" dirty="0"/>
              <a:t>    void </a:t>
            </a:r>
            <a:r>
              <a:rPr lang="en-US" dirty="0" err="1"/>
              <a:t>makeSound</a:t>
            </a:r>
            <a:r>
              <a:rPr lang="en-US" dirty="0"/>
              <a:t>(String </a:t>
            </a:r>
            <a:r>
              <a:rPr lang="en-US" dirty="0" err="1"/>
              <a:t>soundType</a:t>
            </a:r>
            <a:r>
              <a:rPr lang="en-US" dirty="0"/>
              <a:t>) {</a:t>
            </a:r>
          </a:p>
          <a:p>
            <a:r>
              <a:rPr lang="en-US" dirty="0"/>
              <a:t>        </a:t>
            </a:r>
            <a:r>
              <a:rPr lang="en-US" dirty="0" err="1"/>
              <a:t>System.out.println</a:t>
            </a:r>
            <a:r>
              <a:rPr lang="en-US" dirty="0"/>
              <a:t>("Dog " + </a:t>
            </a:r>
            <a:r>
              <a:rPr lang="en-US" dirty="0" err="1"/>
              <a:t>soundType</a:t>
            </a:r>
            <a:r>
              <a:rPr lang="en-US" dirty="0"/>
              <a:t>);</a:t>
            </a:r>
          </a:p>
          <a:p>
            <a:r>
              <a:rPr lang="en-US" dirty="0"/>
              <a:t>    }</a:t>
            </a:r>
          </a:p>
          <a:p>
            <a:r>
              <a:rPr lang="en-US" dirty="0"/>
              <a:t>}</a:t>
            </a:r>
          </a:p>
        </p:txBody>
      </p:sp>
    </p:spTree>
    <p:extLst>
      <p:ext uri="{BB962C8B-B14F-4D97-AF65-F5344CB8AC3E}">
        <p14:creationId xmlns:p14="http://schemas.microsoft.com/office/powerpoint/2010/main" val="1029820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92F3-1F7B-EAA1-D24C-5CD66DFD52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684853-8E47-93CB-1272-8479DBBFBB6D}"/>
              </a:ext>
            </a:extLst>
          </p:cNvPr>
          <p:cNvSpPr txBox="1"/>
          <p:nvPr/>
        </p:nvSpPr>
        <p:spPr>
          <a:xfrm>
            <a:off x="2477069" y="-905955"/>
            <a:ext cx="4954136" cy="867673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24. What is a package in Java? Explain built-in and user-defined packages.</a:t>
            </a:r>
          </a:p>
          <a:p>
            <a:pPr algn="just">
              <a:lnSpc>
                <a:spcPts val="2100"/>
              </a:lnSpc>
              <a:spcBef>
                <a:spcPts val="1650"/>
              </a:spcBef>
              <a:buNone/>
            </a:pPr>
            <a:r>
              <a:rPr lang="en-US" b="0" i="0" dirty="0">
                <a:solidFill>
                  <a:srgbClr val="3A3A3A"/>
                </a:solidFill>
                <a:effectLst/>
                <a:latin typeface="Roboto" panose="02000000000000000000" pitchFamily="2" charset="0"/>
              </a:rPr>
              <a:t>A </a:t>
            </a:r>
            <a:r>
              <a:rPr lang="en-US" b="0" i="0" u="none" strike="noStrike" dirty="0">
                <a:solidFill>
                  <a:srgbClr val="0F5A9E"/>
                </a:solidFill>
                <a:effectLst/>
                <a:latin typeface="Roboto" panose="02000000000000000000" pitchFamily="2" charset="0"/>
                <a:hlinkClick r:id="rId2"/>
              </a:rPr>
              <a:t>package in Java</a:t>
            </a:r>
            <a:r>
              <a:rPr lang="en-US" b="0" i="0" dirty="0">
                <a:solidFill>
                  <a:srgbClr val="3A3A3A"/>
                </a:solidFill>
                <a:effectLst/>
                <a:latin typeface="Roboto" panose="02000000000000000000" pitchFamily="2" charset="0"/>
              </a:rPr>
              <a:t> is a grouping of related classes and interfaces under a namespace. It is like a folder that prevents naming conflicts and enhances the maintainability of the code.</a:t>
            </a:r>
          </a:p>
          <a:p>
            <a:pPr algn="just">
              <a:lnSpc>
                <a:spcPts val="2100"/>
              </a:lnSpc>
              <a:spcBef>
                <a:spcPts val="750"/>
              </a:spcBef>
              <a:buNone/>
            </a:pPr>
            <a:r>
              <a:rPr lang="en-US" b="0" i="0" dirty="0">
                <a:solidFill>
                  <a:srgbClr val="3A3A3A"/>
                </a:solidFill>
                <a:effectLst/>
                <a:latin typeface="Roboto" panose="02000000000000000000" pitchFamily="2" charset="0"/>
              </a:rPr>
              <a:t>There are two kinds of packages in Java:</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Built-in Packages: These are offered by the Java API. For instance:</a:t>
            </a:r>
          </a:p>
          <a:p>
            <a:pPr marL="742950" lvl="1" indent="-285750" algn="just">
              <a:lnSpc>
                <a:spcPts val="2100"/>
              </a:lnSpc>
              <a:spcBef>
                <a:spcPts val="60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util (for collections such as </a:t>
            </a:r>
            <a:r>
              <a:rPr lang="en-US" b="0" i="0" dirty="0" err="1">
                <a:solidFill>
                  <a:srgbClr val="3A3A3A"/>
                </a:solidFill>
                <a:effectLst/>
                <a:latin typeface="Roboto" panose="02000000000000000000" pitchFamily="2" charset="0"/>
              </a:rPr>
              <a:t>ArrayList</a:t>
            </a:r>
            <a:r>
              <a:rPr lang="en-US" b="0" i="0" dirty="0">
                <a:solidFill>
                  <a:srgbClr val="3A3A3A"/>
                </a:solidFill>
                <a:effectLst/>
                <a:latin typeface="Roboto" panose="02000000000000000000" pitchFamily="2" charset="0"/>
              </a:rPr>
              <a:t>, HashMap)</a:t>
            </a:r>
          </a:p>
          <a:p>
            <a:pPr marL="742950" lvl="1" indent="-285750" algn="just">
              <a:lnSpc>
                <a:spcPts val="2100"/>
              </a:lnSpc>
              <a:spcBef>
                <a:spcPts val="60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io (for input-output operations)</a:t>
            </a:r>
          </a:p>
          <a:p>
            <a:pPr marL="742950" lvl="1" indent="-285750" algn="just">
              <a:lnSpc>
                <a:spcPts val="2100"/>
              </a:lnSpc>
              <a:spcBef>
                <a:spcPts val="60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net (for networking features)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User-defined Packages: These packages are defined by developers to logically organize their own classes. For instance:</a:t>
            </a:r>
          </a:p>
          <a:p>
            <a:pPr algn="l">
              <a:spcBef>
                <a:spcPts val="1125"/>
              </a:spcBef>
              <a:spcAft>
                <a:spcPts val="375"/>
              </a:spcAft>
              <a:buNone/>
            </a:pPr>
            <a:r>
              <a:rPr lang="en-US" b="0" i="0" dirty="0">
                <a:solidFill>
                  <a:srgbClr val="212529"/>
                </a:solidFill>
                <a:effectLst/>
                <a:latin typeface="Courier New" panose="02070309020205020404" pitchFamily="49" charset="0"/>
              </a:rPr>
              <a:t>package </a:t>
            </a:r>
            <a:r>
              <a:rPr lang="en-US" b="0" i="0" dirty="0" err="1">
                <a:solidFill>
                  <a:srgbClr val="212529"/>
                </a:solidFill>
                <a:effectLst/>
                <a:latin typeface="Courier New" panose="02070309020205020404" pitchFamily="49" charset="0"/>
              </a:rPr>
              <a:t>com.myapp.utils</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public class Logger {</a:t>
            </a:r>
          </a:p>
          <a:p>
            <a:pPr algn="l">
              <a:spcBef>
                <a:spcPts val="1125"/>
              </a:spcBef>
              <a:spcAft>
                <a:spcPts val="375"/>
              </a:spcAft>
              <a:buNone/>
            </a:pPr>
            <a:r>
              <a:rPr lang="en-US" b="0" i="0" dirty="0">
                <a:solidFill>
                  <a:srgbClr val="212529"/>
                </a:solidFill>
                <a:effectLst/>
                <a:latin typeface="Courier New" panose="02070309020205020404" pitchFamily="49" charset="0"/>
              </a:rPr>
              <a:t>    // utility methods</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Packages also have a fundamental function in control of access and are relied upon to construct modular Java applications.</a:t>
            </a:r>
          </a:p>
        </p:txBody>
      </p:sp>
    </p:spTree>
    <p:extLst>
      <p:ext uri="{BB962C8B-B14F-4D97-AF65-F5344CB8AC3E}">
        <p14:creationId xmlns:p14="http://schemas.microsoft.com/office/powerpoint/2010/main" val="5374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4734-C1A0-211C-519C-3E66DD6585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C56EB3-8E83-087A-7E01-722B88172E56}"/>
              </a:ext>
            </a:extLst>
          </p:cNvPr>
          <p:cNvSpPr txBox="1"/>
          <p:nvPr/>
        </p:nvSpPr>
        <p:spPr>
          <a:xfrm>
            <a:off x="2477069" y="943269"/>
            <a:ext cx="4954136" cy="497828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25. What are the key components to run a Java program?</a:t>
            </a:r>
          </a:p>
          <a:p>
            <a:pPr algn="just">
              <a:lnSpc>
                <a:spcPts val="2100"/>
              </a:lnSpc>
              <a:spcBef>
                <a:spcPts val="1650"/>
              </a:spcBef>
              <a:buNone/>
            </a:pPr>
            <a:r>
              <a:rPr lang="en-US" b="0" i="0" dirty="0">
                <a:solidFill>
                  <a:srgbClr val="3A3A3A"/>
                </a:solidFill>
                <a:effectLst/>
                <a:latin typeface="Roboto" panose="02000000000000000000" pitchFamily="2" charset="0"/>
              </a:rPr>
              <a:t>To run a Java program, you need: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JDK (Java Development Kit) – compiler and tools included.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JRE (Java Runtime Environment) – includes JVM + libraries.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Java compiler (</a:t>
            </a:r>
            <a:r>
              <a:rPr lang="en-US" b="0" i="0" dirty="0" err="1">
                <a:solidFill>
                  <a:srgbClr val="3A3A3A"/>
                </a:solidFill>
                <a:effectLst/>
                <a:latin typeface="Roboto" panose="02000000000000000000" pitchFamily="2" charset="0"/>
              </a:rPr>
              <a:t>javac</a:t>
            </a:r>
            <a:r>
              <a:rPr lang="en-US" b="0" i="0" dirty="0">
                <a:solidFill>
                  <a:srgbClr val="3A3A3A"/>
                </a:solidFill>
                <a:effectLst/>
                <a:latin typeface="Roboto" panose="02000000000000000000" pitchFamily="2" charset="0"/>
              </a:rPr>
              <a:t>) – compiles source code to bytecode.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JVM (Java Virtual Machine) – executes the bytecode on any operating system.</a:t>
            </a:r>
          </a:p>
          <a:p>
            <a:pPr algn="just">
              <a:lnSpc>
                <a:spcPts val="2100"/>
              </a:lnSpc>
              <a:spcBef>
                <a:spcPts val="1650"/>
              </a:spcBef>
              <a:buNone/>
            </a:pPr>
            <a:r>
              <a:rPr lang="en-US" b="0" i="0" dirty="0">
                <a:solidFill>
                  <a:srgbClr val="3A3A3A"/>
                </a:solidFill>
                <a:effectLst/>
                <a:latin typeface="Roboto" panose="02000000000000000000" pitchFamily="2" charset="0"/>
              </a:rPr>
              <a:t>The components interact together to compile and run Java code.</a:t>
            </a:r>
          </a:p>
        </p:txBody>
      </p:sp>
    </p:spTree>
    <p:extLst>
      <p:ext uri="{BB962C8B-B14F-4D97-AF65-F5344CB8AC3E}">
        <p14:creationId xmlns:p14="http://schemas.microsoft.com/office/powerpoint/2010/main" val="426840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05F5-03AA-D92D-60A8-B08A3E4A0C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420C6B-4982-8FD8-4F68-796394CD7ED9}"/>
              </a:ext>
            </a:extLst>
          </p:cNvPr>
          <p:cNvSpPr txBox="1"/>
          <p:nvPr/>
        </p:nvSpPr>
        <p:spPr>
          <a:xfrm>
            <a:off x="0" y="212150"/>
            <a:ext cx="4954136" cy="507574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26. What is the purpose of the break keyword in Java?</a:t>
            </a:r>
          </a:p>
          <a:p>
            <a:pPr algn="just">
              <a:lnSpc>
                <a:spcPts val="2100"/>
              </a:lnSpc>
              <a:spcBef>
                <a:spcPts val="1650"/>
              </a:spcBef>
              <a:buNone/>
            </a:pPr>
            <a:r>
              <a:rPr lang="en-US" b="0" i="0" dirty="0">
                <a:solidFill>
                  <a:srgbClr val="3A3A3A"/>
                </a:solidFill>
                <a:effectLst/>
                <a:latin typeface="Roboto" panose="02000000000000000000" pitchFamily="2" charset="0"/>
              </a:rPr>
              <a:t>The break statement is mainly utilized to stop a loop or switch prematurely. When there is a break in a loop or a switch, the JVM stops executing the current control structure immediately, irrespective of the leftover iterations or conditions.</a:t>
            </a:r>
          </a:p>
          <a:p>
            <a:pPr algn="l">
              <a:spcBef>
                <a:spcPts val="1650"/>
              </a:spcBef>
              <a:buNone/>
            </a:pPr>
            <a:r>
              <a:rPr lang="en-US" b="0" i="0" dirty="0">
                <a:solidFill>
                  <a:srgbClr val="3A3A3A"/>
                </a:solidFill>
                <a:effectLst/>
                <a:latin typeface="Roboto" panose="02000000000000000000" pitchFamily="2" charset="0"/>
              </a:rPr>
              <a:t>Common Use Cases: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Exiting a for loop, while loop, or do-while loop early, depending on a condition.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Ending a switch case to avoid fall-through.</a:t>
            </a:r>
          </a:p>
          <a:p>
            <a:pPr algn="just">
              <a:lnSpc>
                <a:spcPts val="2100"/>
              </a:lnSpc>
              <a:spcBef>
                <a:spcPts val="1650"/>
              </a:spcBef>
              <a:buNone/>
            </a:pPr>
            <a:r>
              <a:rPr lang="en-US" b="0" i="0" dirty="0">
                <a:solidFill>
                  <a:srgbClr val="3A3A3A"/>
                </a:solidFill>
                <a:effectLst/>
                <a:latin typeface="Roboto" panose="02000000000000000000" pitchFamily="2" charset="0"/>
              </a:rPr>
              <a:t>Example – Using break in a loop:</a:t>
            </a:r>
          </a:p>
        </p:txBody>
      </p:sp>
      <p:sp>
        <p:nvSpPr>
          <p:cNvPr id="5" name="TextBox 4">
            <a:extLst>
              <a:ext uri="{FF2B5EF4-FFF2-40B4-BE49-F238E27FC236}">
                <a16:creationId xmlns:a16="http://schemas.microsoft.com/office/drawing/2014/main" id="{1E4D7CA4-E4E2-B886-9146-6FF44EF1A887}"/>
              </a:ext>
            </a:extLst>
          </p:cNvPr>
          <p:cNvSpPr txBox="1"/>
          <p:nvPr/>
        </p:nvSpPr>
        <p:spPr>
          <a:xfrm>
            <a:off x="184245" y="5287898"/>
            <a:ext cx="4981432" cy="1754326"/>
          </a:xfrm>
          <a:prstGeom prst="rect">
            <a:avLst/>
          </a:prstGeom>
          <a:noFill/>
        </p:spPr>
        <p:txBody>
          <a:bodyPr wrap="square">
            <a:spAutoFit/>
          </a:bodyPr>
          <a:lstStyle/>
          <a:p>
            <a:r>
              <a:rPr lang="en-US" dirty="0"/>
              <a:t>for (int </a:t>
            </a:r>
            <a:r>
              <a:rPr lang="en-US" dirty="0" err="1"/>
              <a:t>i</a:t>
            </a:r>
            <a:r>
              <a:rPr lang="en-US" dirty="0"/>
              <a:t> = 0; </a:t>
            </a:r>
            <a:r>
              <a:rPr lang="en-US" dirty="0" err="1"/>
              <a:t>i</a:t>
            </a:r>
            <a:r>
              <a:rPr lang="en-US" dirty="0"/>
              <a:t> &lt; 10; </a:t>
            </a:r>
            <a:r>
              <a:rPr lang="en-US" dirty="0" err="1"/>
              <a:t>i</a:t>
            </a:r>
            <a:r>
              <a:rPr lang="en-US" dirty="0"/>
              <a:t>++) {</a:t>
            </a:r>
          </a:p>
          <a:p>
            <a:r>
              <a:rPr lang="en-US" dirty="0"/>
              <a:t>    if (</a:t>
            </a:r>
            <a:r>
              <a:rPr lang="en-US" dirty="0" err="1"/>
              <a:t>i</a:t>
            </a:r>
            <a:r>
              <a:rPr lang="en-US" dirty="0"/>
              <a:t> == 5) {</a:t>
            </a:r>
          </a:p>
          <a:p>
            <a:r>
              <a:rPr lang="en-US" dirty="0"/>
              <a:t>        break;</a:t>
            </a:r>
          </a:p>
          <a:p>
            <a:r>
              <a:rPr lang="en-US" dirty="0"/>
              <a:t>    }</a:t>
            </a:r>
          </a:p>
          <a:p>
            <a:r>
              <a:rPr lang="en-US" dirty="0"/>
              <a:t>    </a:t>
            </a:r>
            <a:r>
              <a:rPr lang="en-US" dirty="0" err="1"/>
              <a:t>System.out.print</a:t>
            </a:r>
            <a:r>
              <a:rPr lang="en-US" dirty="0"/>
              <a:t>(</a:t>
            </a:r>
            <a:r>
              <a:rPr lang="en-US" dirty="0" err="1"/>
              <a:t>i</a:t>
            </a:r>
            <a:r>
              <a:rPr lang="en-US" dirty="0"/>
              <a:t> + " ");</a:t>
            </a:r>
          </a:p>
          <a:p>
            <a:r>
              <a:rPr lang="en-US" dirty="0"/>
              <a:t>}</a:t>
            </a:r>
          </a:p>
        </p:txBody>
      </p:sp>
      <p:sp>
        <p:nvSpPr>
          <p:cNvPr id="7" name="TextBox 6">
            <a:extLst>
              <a:ext uri="{FF2B5EF4-FFF2-40B4-BE49-F238E27FC236}">
                <a16:creationId xmlns:a16="http://schemas.microsoft.com/office/drawing/2014/main" id="{91B0C4EA-52DC-5763-72E5-EE34F30CCA08}"/>
              </a:ext>
            </a:extLst>
          </p:cNvPr>
          <p:cNvSpPr txBox="1"/>
          <p:nvPr/>
        </p:nvSpPr>
        <p:spPr>
          <a:xfrm>
            <a:off x="4953000" y="44355"/>
            <a:ext cx="4981432" cy="369332"/>
          </a:xfrm>
          <a:prstGeom prst="rect">
            <a:avLst/>
          </a:prstGeom>
          <a:noFill/>
        </p:spPr>
        <p:txBody>
          <a:bodyPr wrap="square">
            <a:spAutoFit/>
          </a:bodyPr>
          <a:lstStyle/>
          <a:p>
            <a:r>
              <a:rPr lang="en-US" b="0" i="0" dirty="0">
                <a:solidFill>
                  <a:srgbClr val="3A3A3A"/>
                </a:solidFill>
                <a:effectLst/>
                <a:latin typeface="Roboto" panose="02000000000000000000" pitchFamily="2" charset="0"/>
              </a:rPr>
              <a:t>Example – Using break in a switch:</a:t>
            </a:r>
            <a:endParaRPr lang="en-US" dirty="0"/>
          </a:p>
        </p:txBody>
      </p:sp>
      <p:sp>
        <p:nvSpPr>
          <p:cNvPr id="9" name="TextBox 8">
            <a:extLst>
              <a:ext uri="{FF2B5EF4-FFF2-40B4-BE49-F238E27FC236}">
                <a16:creationId xmlns:a16="http://schemas.microsoft.com/office/drawing/2014/main" id="{681EE3CC-9041-B714-7A74-95B8CE81DB97}"/>
              </a:ext>
            </a:extLst>
          </p:cNvPr>
          <p:cNvSpPr txBox="1"/>
          <p:nvPr/>
        </p:nvSpPr>
        <p:spPr>
          <a:xfrm>
            <a:off x="5486400" y="793423"/>
            <a:ext cx="4995080" cy="2862322"/>
          </a:xfrm>
          <a:prstGeom prst="rect">
            <a:avLst/>
          </a:prstGeom>
          <a:noFill/>
        </p:spPr>
        <p:txBody>
          <a:bodyPr wrap="square">
            <a:spAutoFit/>
          </a:bodyPr>
          <a:lstStyle/>
          <a:p>
            <a:r>
              <a:rPr lang="en-US" dirty="0"/>
              <a:t>switch (value) {</a:t>
            </a:r>
          </a:p>
          <a:p>
            <a:r>
              <a:rPr lang="en-US" dirty="0"/>
              <a:t>    case 1:</a:t>
            </a:r>
          </a:p>
          <a:p>
            <a:r>
              <a:rPr lang="en-US" dirty="0"/>
              <a:t>        </a:t>
            </a:r>
            <a:r>
              <a:rPr lang="en-US" dirty="0" err="1"/>
              <a:t>System.out.println</a:t>
            </a:r>
            <a:r>
              <a:rPr lang="en-US" dirty="0"/>
              <a:t>("One");</a:t>
            </a:r>
          </a:p>
          <a:p>
            <a:r>
              <a:rPr lang="en-US" dirty="0"/>
              <a:t>        break;</a:t>
            </a:r>
          </a:p>
          <a:p>
            <a:r>
              <a:rPr lang="en-US" dirty="0"/>
              <a:t>    case 2:</a:t>
            </a:r>
          </a:p>
          <a:p>
            <a:r>
              <a:rPr lang="en-US" dirty="0"/>
              <a:t>        </a:t>
            </a:r>
            <a:r>
              <a:rPr lang="en-US" dirty="0" err="1"/>
              <a:t>System.out.println</a:t>
            </a:r>
            <a:r>
              <a:rPr lang="en-US" dirty="0"/>
              <a:t>("Two");</a:t>
            </a:r>
          </a:p>
          <a:p>
            <a:r>
              <a:rPr lang="en-US" dirty="0"/>
              <a:t>        break;</a:t>
            </a:r>
          </a:p>
          <a:p>
            <a:r>
              <a:rPr lang="en-US" dirty="0"/>
              <a:t>    default:</a:t>
            </a:r>
          </a:p>
          <a:p>
            <a:r>
              <a:rPr lang="en-US" dirty="0"/>
              <a:t>        </a:t>
            </a:r>
            <a:r>
              <a:rPr lang="en-US" dirty="0" err="1"/>
              <a:t>System.out.println</a:t>
            </a:r>
            <a:r>
              <a:rPr lang="en-US" dirty="0"/>
              <a:t>("Invalid");</a:t>
            </a:r>
          </a:p>
          <a:p>
            <a:r>
              <a:rPr lang="en-US" dirty="0"/>
              <a:t>}</a:t>
            </a:r>
          </a:p>
        </p:txBody>
      </p:sp>
    </p:spTree>
    <p:extLst>
      <p:ext uri="{BB962C8B-B14F-4D97-AF65-F5344CB8AC3E}">
        <p14:creationId xmlns:p14="http://schemas.microsoft.com/office/powerpoint/2010/main" val="4077645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E505-40D9-4ED7-D016-8A821BFA10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44DE6F-9A99-08EA-5799-950A5621060A}"/>
              </a:ext>
            </a:extLst>
          </p:cNvPr>
          <p:cNvSpPr txBox="1"/>
          <p:nvPr/>
        </p:nvSpPr>
        <p:spPr>
          <a:xfrm>
            <a:off x="368490" y="-63417"/>
            <a:ext cx="7062715" cy="618374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27. What is the difference between </a:t>
            </a:r>
            <a:r>
              <a:rPr lang="en-US" b="0" i="0" dirty="0" err="1">
                <a:solidFill>
                  <a:srgbClr val="272C37"/>
                </a:solidFill>
                <a:effectLst/>
                <a:latin typeface="Roboto" panose="02000000000000000000" pitchFamily="2" charset="0"/>
              </a:rPr>
              <a:t>System.out.print</a:t>
            </a:r>
            <a:r>
              <a:rPr lang="en-US" b="0" i="0" dirty="0">
                <a:solidFill>
                  <a:srgbClr val="272C37"/>
                </a:solidFill>
                <a:effectLst/>
                <a:latin typeface="Roboto" panose="02000000000000000000" pitchFamily="2" charset="0"/>
              </a:rPr>
              <a:t>() and </a:t>
            </a:r>
            <a:r>
              <a:rPr lang="en-US" b="0" i="0" dirty="0" err="1">
                <a:solidFill>
                  <a:srgbClr val="272C37"/>
                </a:solidFill>
                <a:effectLst/>
                <a:latin typeface="Roboto" panose="02000000000000000000" pitchFamily="2" charset="0"/>
              </a:rPr>
              <a:t>System.out.println</a:t>
            </a:r>
            <a:r>
              <a:rPr lang="en-US" b="0" i="0" dirty="0">
                <a:solidFill>
                  <a:srgbClr val="272C37"/>
                </a:solidFill>
                <a:effectLst/>
                <a:latin typeface="Roboto" panose="02000000000000000000" pitchFamily="2" charset="0"/>
              </a:rPr>
              <a:t>() in Java?</a:t>
            </a:r>
          </a:p>
          <a:p>
            <a:pPr algn="just">
              <a:lnSpc>
                <a:spcPts val="2100"/>
              </a:lnSpc>
              <a:spcBef>
                <a:spcPts val="1650"/>
              </a:spcBef>
              <a:buNone/>
            </a:pPr>
            <a:r>
              <a:rPr lang="en-US" b="0" i="0" dirty="0">
                <a:solidFill>
                  <a:srgbClr val="3A3A3A"/>
                </a:solidFill>
                <a:effectLst/>
                <a:latin typeface="Roboto" panose="02000000000000000000" pitchFamily="2" charset="0"/>
              </a:rPr>
              <a:t>The key difference between </a:t>
            </a:r>
            <a:r>
              <a:rPr lang="en-US" b="0" i="0" dirty="0" err="1">
                <a:solidFill>
                  <a:srgbClr val="3A3A3A"/>
                </a:solidFill>
                <a:effectLst/>
                <a:latin typeface="Roboto" panose="02000000000000000000" pitchFamily="2" charset="0"/>
              </a:rPr>
              <a:t>System.out.print</a:t>
            </a:r>
            <a:r>
              <a:rPr lang="en-US" b="0" i="0" dirty="0">
                <a:solidFill>
                  <a:srgbClr val="3A3A3A"/>
                </a:solidFill>
                <a:effectLst/>
                <a:latin typeface="Roboto" panose="02000000000000000000" pitchFamily="2" charset="0"/>
              </a:rPr>
              <a:t>() and </a:t>
            </a:r>
            <a:r>
              <a:rPr lang="en-US" b="0" i="0" dirty="0" err="1">
                <a:solidFill>
                  <a:srgbClr val="3A3A3A"/>
                </a:solidFill>
                <a:effectLst/>
                <a:latin typeface="Roboto" panose="02000000000000000000" pitchFamily="2" charset="0"/>
              </a:rPr>
              <a:t>System.out.println</a:t>
            </a:r>
            <a:r>
              <a:rPr lang="en-US" b="0" i="0" dirty="0">
                <a:solidFill>
                  <a:srgbClr val="3A3A3A"/>
                </a:solidFill>
                <a:effectLst/>
                <a:latin typeface="Roboto" panose="02000000000000000000" pitchFamily="2" charset="0"/>
              </a:rPr>
              <a:t>() lies in line termination:</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out.print</a:t>
            </a:r>
            <a:r>
              <a:rPr lang="en-US" b="0" i="0" dirty="0">
                <a:solidFill>
                  <a:srgbClr val="3A3A3A"/>
                </a:solidFill>
                <a:effectLst/>
                <a:latin typeface="Roboto" panose="02000000000000000000" pitchFamily="2" charset="0"/>
              </a:rPr>
              <a:t>() prints text without appending a newline at its conclusion.</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out.println</a:t>
            </a:r>
            <a:r>
              <a:rPr lang="en-US" b="0" i="0" dirty="0">
                <a:solidFill>
                  <a:srgbClr val="3A3A3A"/>
                </a:solidFill>
                <a:effectLst/>
                <a:latin typeface="Roboto" panose="02000000000000000000" pitchFamily="2" charset="0"/>
              </a:rPr>
              <a:t>() prints text and then advances the cursor to a new line.</a:t>
            </a:r>
          </a:p>
          <a:p>
            <a:pPr algn="l">
              <a:spcBef>
                <a:spcPts val="1650"/>
              </a:spcBef>
              <a:buNone/>
            </a:pPr>
            <a:r>
              <a:rPr lang="en-US" b="0" i="0" dirty="0">
                <a:solidFill>
                  <a:srgbClr val="3A3A3A"/>
                </a:solidFill>
                <a:effectLst/>
                <a:latin typeface="Roboto" panose="02000000000000000000" pitchFamily="2" charset="0"/>
              </a:rPr>
              <a:t>Comparison Example:</a:t>
            </a:r>
          </a:p>
          <a:p>
            <a:pPr algn="l">
              <a:spcBef>
                <a:spcPts val="1125"/>
              </a:spcBef>
              <a:spcAft>
                <a:spcPts val="375"/>
              </a:spcAft>
              <a:buNone/>
            </a:pPr>
            <a:r>
              <a:rPr lang="en-US" b="0" i="0" dirty="0" err="1">
                <a:solidFill>
                  <a:srgbClr val="212529"/>
                </a:solidFill>
                <a:effectLst/>
                <a:latin typeface="Courier New" panose="02070309020205020404" pitchFamily="49" charset="0"/>
              </a:rPr>
              <a:t>System.out.print</a:t>
            </a:r>
            <a:r>
              <a:rPr lang="en-US" b="0" i="0" dirty="0">
                <a:solidFill>
                  <a:srgbClr val="212529"/>
                </a:solidFill>
                <a:effectLst/>
                <a:latin typeface="Courier New" panose="02070309020205020404" pitchFamily="49" charset="0"/>
              </a:rPr>
              <a:t>("Hello ");</a:t>
            </a:r>
          </a:p>
          <a:p>
            <a:pPr algn="l">
              <a:spcBef>
                <a:spcPts val="1125"/>
              </a:spcBef>
              <a:spcAft>
                <a:spcPts val="375"/>
              </a:spcAft>
              <a:buNone/>
            </a:pPr>
            <a:r>
              <a:rPr lang="en-US" b="0" i="0" dirty="0" err="1">
                <a:solidFill>
                  <a:srgbClr val="212529"/>
                </a:solidFill>
                <a:effectLst/>
                <a:latin typeface="Courier New" panose="02070309020205020404" pitchFamily="49" charset="0"/>
              </a:rPr>
              <a:t>System.out.print</a:t>
            </a:r>
            <a:r>
              <a:rPr lang="en-US" b="0" i="0" dirty="0">
                <a:solidFill>
                  <a:srgbClr val="212529"/>
                </a:solidFill>
                <a:effectLst/>
                <a:latin typeface="Courier New" panose="02070309020205020404" pitchFamily="49" charset="0"/>
              </a:rPr>
              <a:t>("World");</a:t>
            </a:r>
          </a:p>
          <a:p>
            <a:pPr algn="l">
              <a:spcBef>
                <a:spcPts val="1125"/>
              </a:spcBef>
              <a:spcAft>
                <a:spcPts val="375"/>
              </a:spcAft>
              <a:buNone/>
            </a:pPr>
            <a:r>
              <a:rPr lang="en-US" b="0" i="0" dirty="0" err="1">
                <a:solidFill>
                  <a:srgbClr val="212529"/>
                </a:solidFill>
                <a:effectLst/>
                <a:latin typeface="Courier New" panose="02070309020205020404" pitchFamily="49" charset="0"/>
              </a:rPr>
              <a:t>System.out.println</a:t>
            </a:r>
            <a:r>
              <a:rPr lang="en-US" b="0" i="0" dirty="0">
                <a:solidFill>
                  <a:srgbClr val="212529"/>
                </a:solidFill>
                <a:effectLst/>
                <a:latin typeface="Courier New" panose="02070309020205020404" pitchFamily="49" charset="0"/>
              </a:rPr>
              <a:t>("Hello");</a:t>
            </a:r>
          </a:p>
          <a:p>
            <a:pPr algn="l">
              <a:spcBef>
                <a:spcPts val="1125"/>
              </a:spcBef>
              <a:spcAft>
                <a:spcPts val="375"/>
              </a:spcAft>
              <a:buNone/>
            </a:pPr>
            <a:r>
              <a:rPr lang="en-US" b="0" i="0" dirty="0" err="1">
                <a:solidFill>
                  <a:srgbClr val="212529"/>
                </a:solidFill>
                <a:effectLst/>
                <a:latin typeface="Courier New" panose="02070309020205020404" pitchFamily="49" charset="0"/>
              </a:rPr>
              <a:t>System.out.println</a:t>
            </a:r>
            <a:r>
              <a:rPr lang="en-US" b="0" i="0" dirty="0">
                <a:solidFill>
                  <a:srgbClr val="212529"/>
                </a:solidFill>
                <a:effectLst/>
                <a:latin typeface="Courier New" panose="02070309020205020404" pitchFamily="49" charset="0"/>
              </a:rPr>
              <a:t>("World");</a:t>
            </a:r>
          </a:p>
          <a:p>
            <a:pPr algn="just">
              <a:lnSpc>
                <a:spcPts val="2100"/>
              </a:lnSpc>
              <a:spcBef>
                <a:spcPts val="1650"/>
              </a:spcBef>
              <a:buNone/>
            </a:pPr>
            <a:r>
              <a:rPr lang="en-US" b="0" i="0" dirty="0">
                <a:solidFill>
                  <a:srgbClr val="3A3A3A"/>
                </a:solidFill>
                <a:effectLst/>
                <a:latin typeface="Roboto" panose="02000000000000000000" pitchFamily="2" charset="0"/>
              </a:rPr>
              <a:t>Use </a:t>
            </a:r>
            <a:r>
              <a:rPr lang="en-US" b="0" i="0" dirty="0" err="1">
                <a:solidFill>
                  <a:srgbClr val="3A3A3A"/>
                </a:solidFill>
                <a:effectLst/>
                <a:latin typeface="Roboto" panose="02000000000000000000" pitchFamily="2" charset="0"/>
              </a:rPr>
              <a:t>println</a:t>
            </a:r>
            <a:r>
              <a:rPr lang="en-US" b="0" i="0" dirty="0">
                <a:solidFill>
                  <a:srgbClr val="3A3A3A"/>
                </a:solidFill>
                <a:effectLst/>
                <a:latin typeface="Roboto" panose="02000000000000000000" pitchFamily="2" charset="0"/>
              </a:rPr>
              <a:t>() when you need outputs on different lines, and use print() when you want to keep going on the same line.</a:t>
            </a:r>
          </a:p>
        </p:txBody>
      </p:sp>
    </p:spTree>
    <p:extLst>
      <p:ext uri="{BB962C8B-B14F-4D97-AF65-F5344CB8AC3E}">
        <p14:creationId xmlns:p14="http://schemas.microsoft.com/office/powerpoint/2010/main" val="3528220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C2D-F040-78E6-DD9B-00AC84CAA3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7E7A5B0-20FC-FF12-CDDE-E977A6DB4D1B}"/>
              </a:ext>
            </a:extLst>
          </p:cNvPr>
          <p:cNvSpPr txBox="1"/>
          <p:nvPr/>
        </p:nvSpPr>
        <p:spPr>
          <a:xfrm>
            <a:off x="2477069" y="212300"/>
            <a:ext cx="4954136" cy="644022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28. How do you declare a constant variable in Java?</a:t>
            </a:r>
          </a:p>
          <a:p>
            <a:pPr algn="just">
              <a:lnSpc>
                <a:spcPts val="2100"/>
              </a:lnSpc>
              <a:spcBef>
                <a:spcPts val="1650"/>
              </a:spcBef>
              <a:buNone/>
            </a:pPr>
            <a:r>
              <a:rPr lang="en-US" b="0" i="0" dirty="0">
                <a:solidFill>
                  <a:srgbClr val="3A3A3A"/>
                </a:solidFill>
                <a:effectLst/>
                <a:latin typeface="Roboto" panose="02000000000000000000" pitchFamily="2" charset="0"/>
              </a:rPr>
              <a:t>In Java, constants are declared using the final keyword. This ensures the variable’s value cannot be modified after initialization.</a:t>
            </a:r>
          </a:p>
          <a:p>
            <a:pPr algn="l">
              <a:spcBef>
                <a:spcPts val="1650"/>
              </a:spcBef>
              <a:buNone/>
            </a:pPr>
            <a:r>
              <a:rPr lang="en-US" b="0" i="0" dirty="0">
                <a:solidFill>
                  <a:srgbClr val="3A3A3A"/>
                </a:solidFill>
                <a:effectLst/>
                <a:latin typeface="Roboto" panose="02000000000000000000" pitchFamily="2" charset="0"/>
              </a:rPr>
              <a:t>Syntax:</a:t>
            </a:r>
          </a:p>
          <a:p>
            <a:pPr algn="l">
              <a:spcBef>
                <a:spcPts val="1125"/>
              </a:spcBef>
              <a:spcAft>
                <a:spcPts val="375"/>
              </a:spcAft>
              <a:buNone/>
            </a:pPr>
            <a:r>
              <a:rPr lang="en-US" b="0" i="0" dirty="0">
                <a:solidFill>
                  <a:srgbClr val="212529"/>
                </a:solidFill>
                <a:effectLst/>
                <a:latin typeface="Courier New" panose="02070309020205020404" pitchFamily="49" charset="0"/>
              </a:rPr>
              <a:t>final int MAX_USERS = 100;</a:t>
            </a:r>
          </a:p>
          <a:p>
            <a:pPr algn="just">
              <a:lnSpc>
                <a:spcPts val="2100"/>
              </a:lnSpc>
              <a:spcBef>
                <a:spcPts val="1650"/>
              </a:spcBef>
              <a:buNone/>
            </a:pPr>
            <a:r>
              <a:rPr lang="en-US" b="0" i="0" dirty="0">
                <a:solidFill>
                  <a:srgbClr val="3A3A3A"/>
                </a:solidFill>
                <a:effectLst/>
                <a:latin typeface="Roboto" panose="02000000000000000000" pitchFamily="2" charset="0"/>
              </a:rPr>
              <a:t>To make a constant accessible without instantiating a class, use both static and final:</a:t>
            </a:r>
          </a:p>
          <a:p>
            <a:pPr algn="l">
              <a:spcBef>
                <a:spcPts val="1125"/>
              </a:spcBef>
              <a:spcAft>
                <a:spcPts val="375"/>
              </a:spcAft>
              <a:buNone/>
            </a:pPr>
            <a:r>
              <a:rPr lang="en-US" b="0" i="0" dirty="0">
                <a:solidFill>
                  <a:srgbClr val="212529"/>
                </a:solidFill>
                <a:effectLst/>
                <a:latin typeface="Courier New" panose="02070309020205020404" pitchFamily="49" charset="0"/>
              </a:rPr>
              <a:t>public static final double PI = 3.14159;</a:t>
            </a:r>
          </a:p>
          <a:p>
            <a:pPr algn="l">
              <a:spcBef>
                <a:spcPts val="1650"/>
              </a:spcBef>
              <a:buNone/>
            </a:pPr>
            <a:r>
              <a:rPr lang="en-US" b="0" i="0" dirty="0">
                <a:solidFill>
                  <a:srgbClr val="3A3A3A"/>
                </a:solidFill>
                <a:effectLst/>
                <a:latin typeface="Roboto" panose="02000000000000000000" pitchFamily="2" charset="0"/>
              </a:rPr>
              <a:t>Best Practices: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 UPPERCASE with underscores for naming constants.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Define constants within a separate Constants class or interface for reuse.</a:t>
            </a:r>
          </a:p>
        </p:txBody>
      </p:sp>
    </p:spTree>
    <p:extLst>
      <p:ext uri="{BB962C8B-B14F-4D97-AF65-F5344CB8AC3E}">
        <p14:creationId xmlns:p14="http://schemas.microsoft.com/office/powerpoint/2010/main" val="125007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63D5-F352-EAA7-74F0-A6DE67CBD07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854405-65EC-5334-F94A-998DEC2F071D}"/>
              </a:ext>
            </a:extLst>
          </p:cNvPr>
          <p:cNvSpPr txBox="1"/>
          <p:nvPr/>
        </p:nvSpPr>
        <p:spPr>
          <a:xfrm>
            <a:off x="-1136" y="99318"/>
            <a:ext cx="4954136" cy="453713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29. What is the purpose of the default case in a switch statement in Java?</a:t>
            </a:r>
          </a:p>
          <a:p>
            <a:pPr algn="just">
              <a:lnSpc>
                <a:spcPts val="2100"/>
              </a:lnSpc>
              <a:spcBef>
                <a:spcPts val="1650"/>
              </a:spcBef>
              <a:buNone/>
            </a:pPr>
            <a:r>
              <a:rPr lang="en-US" b="0" i="0" dirty="0">
                <a:solidFill>
                  <a:srgbClr val="3A3A3A"/>
                </a:solidFill>
                <a:effectLst/>
                <a:latin typeface="Roboto" panose="02000000000000000000" pitchFamily="2" charset="0"/>
              </a:rPr>
              <a:t>The default case in a switch statement is used as a catch-all when none of the case values match an input expression. It is semantically equivalent to an else block in an if-else ladder.</a:t>
            </a:r>
          </a:p>
          <a:p>
            <a:pPr algn="l">
              <a:spcBef>
                <a:spcPts val="1650"/>
              </a:spcBef>
              <a:buNone/>
            </a:pPr>
            <a:r>
              <a:rPr lang="en-US" b="0" i="0" dirty="0">
                <a:solidFill>
                  <a:srgbClr val="3A3A3A"/>
                </a:solidFill>
                <a:effectLst/>
                <a:latin typeface="Roboto" panose="02000000000000000000" pitchFamily="2" charset="0"/>
              </a:rPr>
              <a:t>Why it matters: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Handles invalid or unexpected inputs.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Prevents the switch block from doing nothing if no match is found.</a:t>
            </a:r>
          </a:p>
          <a:p>
            <a:pPr algn="just">
              <a:lnSpc>
                <a:spcPts val="2100"/>
              </a:lnSpc>
              <a:spcBef>
                <a:spcPts val="1650"/>
              </a:spcBef>
              <a:buNone/>
            </a:pPr>
            <a:r>
              <a:rPr lang="en-US" b="0" i="0" dirty="0">
                <a:solidFill>
                  <a:srgbClr val="3A3A3A"/>
                </a:solidFill>
                <a:effectLst/>
                <a:latin typeface="Roboto" panose="02000000000000000000" pitchFamily="2" charset="0"/>
              </a:rPr>
              <a:t>Example:</a:t>
            </a:r>
          </a:p>
        </p:txBody>
      </p:sp>
      <p:sp>
        <p:nvSpPr>
          <p:cNvPr id="7" name="TextBox 6">
            <a:extLst>
              <a:ext uri="{FF2B5EF4-FFF2-40B4-BE49-F238E27FC236}">
                <a16:creationId xmlns:a16="http://schemas.microsoft.com/office/drawing/2014/main" id="{7B97B568-720F-6539-09A2-8F9D7B0DF4CC}"/>
              </a:ext>
            </a:extLst>
          </p:cNvPr>
          <p:cNvSpPr txBox="1"/>
          <p:nvPr/>
        </p:nvSpPr>
        <p:spPr>
          <a:xfrm>
            <a:off x="5124735" y="671353"/>
            <a:ext cx="4981432" cy="3693319"/>
          </a:xfrm>
          <a:prstGeom prst="rect">
            <a:avLst/>
          </a:prstGeom>
          <a:noFill/>
        </p:spPr>
        <p:txBody>
          <a:bodyPr wrap="square">
            <a:spAutoFit/>
          </a:bodyPr>
          <a:lstStyle/>
          <a:p>
            <a:r>
              <a:rPr lang="en-US" dirty="0"/>
              <a:t>int day = 8;</a:t>
            </a:r>
          </a:p>
          <a:p>
            <a:r>
              <a:rPr lang="en-US" dirty="0"/>
              <a:t>switch (day) {</a:t>
            </a:r>
          </a:p>
          <a:p>
            <a:r>
              <a:rPr lang="en-US" dirty="0"/>
              <a:t>    case 1:</a:t>
            </a:r>
          </a:p>
          <a:p>
            <a:r>
              <a:rPr lang="en-US" dirty="0"/>
              <a:t>        </a:t>
            </a:r>
            <a:r>
              <a:rPr lang="en-US" dirty="0" err="1"/>
              <a:t>System.out.println</a:t>
            </a:r>
            <a:r>
              <a:rPr lang="en-US" dirty="0"/>
              <a:t>("Monday");</a:t>
            </a:r>
          </a:p>
          <a:p>
            <a:r>
              <a:rPr lang="en-US" dirty="0"/>
              <a:t>        break;</a:t>
            </a:r>
          </a:p>
          <a:p>
            <a:r>
              <a:rPr lang="en-US" dirty="0"/>
              <a:t>    case 2:</a:t>
            </a:r>
          </a:p>
          <a:p>
            <a:r>
              <a:rPr lang="en-US" dirty="0"/>
              <a:t>        </a:t>
            </a:r>
            <a:r>
              <a:rPr lang="en-US" dirty="0" err="1"/>
              <a:t>System.out.println</a:t>
            </a:r>
            <a:r>
              <a:rPr lang="en-US" dirty="0"/>
              <a:t>("Tuesday");</a:t>
            </a:r>
          </a:p>
          <a:p>
            <a:r>
              <a:rPr lang="en-US" dirty="0"/>
              <a:t>        break;</a:t>
            </a:r>
          </a:p>
          <a:p>
            <a:r>
              <a:rPr lang="en-US" dirty="0"/>
              <a:t>    default:</a:t>
            </a:r>
          </a:p>
          <a:p>
            <a:r>
              <a:rPr lang="en-US" dirty="0"/>
              <a:t>        </a:t>
            </a:r>
            <a:r>
              <a:rPr lang="en-US" dirty="0" err="1"/>
              <a:t>System.out.println</a:t>
            </a:r>
            <a:r>
              <a:rPr lang="en-US" dirty="0"/>
              <a:t>("Invalid day"); // Executed here</a:t>
            </a:r>
          </a:p>
          <a:p>
            <a:r>
              <a:rPr lang="en-US" dirty="0"/>
              <a:t>}</a:t>
            </a:r>
          </a:p>
          <a:p>
            <a:endParaRPr lang="en-US" dirty="0"/>
          </a:p>
        </p:txBody>
      </p:sp>
      <p:sp>
        <p:nvSpPr>
          <p:cNvPr id="11" name="TextBox 10">
            <a:extLst>
              <a:ext uri="{FF2B5EF4-FFF2-40B4-BE49-F238E27FC236}">
                <a16:creationId xmlns:a16="http://schemas.microsoft.com/office/drawing/2014/main" id="{541B2B94-4E50-5EC1-1EB4-AAFC2086643E}"/>
              </a:ext>
            </a:extLst>
          </p:cNvPr>
          <p:cNvSpPr txBox="1"/>
          <p:nvPr/>
        </p:nvSpPr>
        <p:spPr>
          <a:xfrm>
            <a:off x="4551528" y="4364672"/>
            <a:ext cx="5117910" cy="923330"/>
          </a:xfrm>
          <a:prstGeom prst="rect">
            <a:avLst/>
          </a:prstGeom>
          <a:noFill/>
        </p:spPr>
        <p:txBody>
          <a:bodyPr wrap="square">
            <a:spAutoFit/>
          </a:bodyPr>
          <a:lstStyle/>
          <a:p>
            <a:r>
              <a:rPr lang="en-US" b="0" i="0" dirty="0">
                <a:solidFill>
                  <a:srgbClr val="3A3A3A"/>
                </a:solidFill>
                <a:effectLst/>
                <a:latin typeface="Roboto" panose="02000000000000000000" pitchFamily="2" charset="0"/>
              </a:rPr>
              <a:t>Although it is optional, having a default case is a best practice to maintain solid and defensive programming.</a:t>
            </a:r>
            <a:endParaRPr lang="en-US" dirty="0"/>
          </a:p>
        </p:txBody>
      </p:sp>
    </p:spTree>
    <p:extLst>
      <p:ext uri="{BB962C8B-B14F-4D97-AF65-F5344CB8AC3E}">
        <p14:creationId xmlns:p14="http://schemas.microsoft.com/office/powerpoint/2010/main" val="763064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1E5E-CDE1-A6B0-BC87-662752729A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AB6739-CE0A-6844-9785-38FAA33BFE5A}"/>
              </a:ext>
            </a:extLst>
          </p:cNvPr>
          <p:cNvSpPr txBox="1"/>
          <p:nvPr/>
        </p:nvSpPr>
        <p:spPr>
          <a:xfrm>
            <a:off x="491318" y="208453"/>
            <a:ext cx="9007523" cy="483209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30. What is a loop? Name the types of loops in Java.</a:t>
            </a:r>
          </a:p>
          <a:p>
            <a:pPr algn="just">
              <a:lnSpc>
                <a:spcPts val="2100"/>
              </a:lnSpc>
              <a:spcBef>
                <a:spcPts val="1650"/>
              </a:spcBef>
              <a:buNone/>
            </a:pPr>
            <a:r>
              <a:rPr lang="en-US" b="0" i="0" dirty="0">
                <a:solidFill>
                  <a:srgbClr val="3A3A3A"/>
                </a:solidFill>
                <a:effectLst/>
                <a:latin typeface="Roboto" panose="02000000000000000000" pitchFamily="2" charset="0"/>
              </a:rPr>
              <a:t>A </a:t>
            </a:r>
            <a:r>
              <a:rPr lang="en-US" b="0" i="0" u="none" strike="noStrike" dirty="0">
                <a:solidFill>
                  <a:srgbClr val="0F5A9E"/>
                </a:solidFill>
                <a:effectLst/>
                <a:latin typeface="Roboto" panose="02000000000000000000" pitchFamily="2" charset="0"/>
                <a:hlinkClick r:id="rId2"/>
              </a:rPr>
              <a:t>loop in Java</a:t>
            </a:r>
            <a:r>
              <a:rPr lang="en-US" b="0" i="0" dirty="0">
                <a:solidFill>
                  <a:srgbClr val="3A3A3A"/>
                </a:solidFill>
                <a:effectLst/>
                <a:latin typeface="Roboto" panose="02000000000000000000" pitchFamily="2" charset="0"/>
              </a:rPr>
              <a:t> is a control structure through which Java code is repeated over and over again on the basis of a given condition. A loop minimizes code redundancy and is used in cases such as traversing arrays or collections.</a:t>
            </a:r>
          </a:p>
          <a:p>
            <a:pPr algn="l">
              <a:spcBef>
                <a:spcPts val="1650"/>
              </a:spcBef>
              <a:buNone/>
            </a:pPr>
            <a:r>
              <a:rPr lang="en-US" b="0" i="0" dirty="0">
                <a:solidFill>
                  <a:srgbClr val="3A3A3A"/>
                </a:solidFill>
                <a:effectLst/>
                <a:latin typeface="Roboto" panose="02000000000000000000" pitchFamily="2" charset="0"/>
              </a:rPr>
              <a:t>Types of Loops in Java:</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For loop: Used when there is a predetermined count of iterations.</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While loop: Repeats as long as the condition is true; utilized when the number of iterations is unknown.</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Do-while loop: This loop repeats its body at least once before it checks for its condition.</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Enhanced for loop (for-each): Suitable for looping through arrays and collections.</a:t>
            </a:r>
          </a:p>
        </p:txBody>
      </p:sp>
    </p:spTree>
    <p:extLst>
      <p:ext uri="{BB962C8B-B14F-4D97-AF65-F5344CB8AC3E}">
        <p14:creationId xmlns:p14="http://schemas.microsoft.com/office/powerpoint/2010/main" val="21651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157C-7E71-00DD-B11C-77BDBC4BF8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6DC9D7-4F2A-DD4A-1E54-CB477FF1DF5A}"/>
              </a:ext>
            </a:extLst>
          </p:cNvPr>
          <p:cNvSpPr txBox="1"/>
          <p:nvPr/>
        </p:nvSpPr>
        <p:spPr>
          <a:xfrm>
            <a:off x="572069" y="594891"/>
            <a:ext cx="8761862" cy="566821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31. How do you concatenate two strings in Java?</a:t>
            </a:r>
          </a:p>
          <a:p>
            <a:pPr algn="just">
              <a:lnSpc>
                <a:spcPts val="2100"/>
              </a:lnSpc>
              <a:spcBef>
                <a:spcPts val="1650"/>
              </a:spcBef>
              <a:buNone/>
            </a:pPr>
            <a:r>
              <a:rPr lang="en-US" b="0" i="0" dirty="0">
                <a:solidFill>
                  <a:srgbClr val="3A3A3A"/>
                </a:solidFill>
                <a:effectLst/>
                <a:latin typeface="Roboto" panose="02000000000000000000" pitchFamily="2" charset="0"/>
              </a:rPr>
              <a:t>You can concatenate two or more strings in Java by:</a:t>
            </a:r>
          </a:p>
          <a:p>
            <a:pPr algn="l">
              <a:spcBef>
                <a:spcPts val="1650"/>
              </a:spcBef>
              <a:buNone/>
            </a:pPr>
            <a:r>
              <a:rPr lang="en-US" b="0" i="0" dirty="0">
                <a:solidFill>
                  <a:srgbClr val="3A3A3A"/>
                </a:solidFill>
                <a:effectLst/>
                <a:latin typeface="Roboto" panose="02000000000000000000" pitchFamily="2" charset="0"/>
              </a:rPr>
              <a:t>1. The + Operator:</a:t>
            </a:r>
          </a:p>
          <a:p>
            <a:pPr algn="l">
              <a:spcBef>
                <a:spcPts val="1125"/>
              </a:spcBef>
              <a:spcAft>
                <a:spcPts val="375"/>
              </a:spcAft>
              <a:buNone/>
            </a:pPr>
            <a:r>
              <a:rPr lang="en-US" b="0" i="0" dirty="0">
                <a:solidFill>
                  <a:srgbClr val="212529"/>
                </a:solidFill>
                <a:effectLst/>
                <a:latin typeface="Courier New" panose="02070309020205020404" pitchFamily="49" charset="0"/>
              </a:rPr>
              <a:t>String </a:t>
            </a:r>
            <a:r>
              <a:rPr lang="en-US" b="0" i="0" dirty="0" err="1">
                <a:solidFill>
                  <a:srgbClr val="212529"/>
                </a:solidFill>
                <a:effectLst/>
                <a:latin typeface="Courier New" panose="02070309020205020404" pitchFamily="49" charset="0"/>
              </a:rPr>
              <a:t>fullName</a:t>
            </a:r>
            <a:r>
              <a:rPr lang="en-US" b="0" i="0" dirty="0">
                <a:solidFill>
                  <a:srgbClr val="212529"/>
                </a:solidFill>
                <a:effectLst/>
                <a:latin typeface="Courier New" panose="02070309020205020404" pitchFamily="49" charset="0"/>
              </a:rPr>
              <a:t> = "Ayaan" + " " + "Alam";</a:t>
            </a:r>
          </a:p>
          <a:p>
            <a:pPr algn="l">
              <a:spcBef>
                <a:spcPts val="1650"/>
              </a:spcBef>
              <a:buNone/>
            </a:pPr>
            <a:r>
              <a:rPr lang="en-US" b="0" i="0" dirty="0">
                <a:solidFill>
                  <a:srgbClr val="3A3A3A"/>
                </a:solidFill>
                <a:effectLst/>
                <a:latin typeface="Roboto" panose="02000000000000000000" pitchFamily="2" charset="0"/>
              </a:rPr>
              <a:t>2. The </a:t>
            </a:r>
            <a:r>
              <a:rPr lang="en-US" b="0" i="0" dirty="0" err="1">
                <a:solidFill>
                  <a:srgbClr val="3A3A3A"/>
                </a:solidFill>
                <a:effectLst/>
                <a:latin typeface="Roboto" panose="02000000000000000000" pitchFamily="2" charset="0"/>
              </a:rPr>
              <a:t>concat</a:t>
            </a:r>
            <a:r>
              <a:rPr lang="en-US" b="0" i="0" dirty="0">
                <a:solidFill>
                  <a:srgbClr val="3A3A3A"/>
                </a:solidFill>
                <a:effectLst/>
                <a:latin typeface="Roboto" panose="02000000000000000000" pitchFamily="2" charset="0"/>
              </a:rPr>
              <a:t>() Method:</a:t>
            </a:r>
          </a:p>
          <a:p>
            <a:pPr algn="l">
              <a:spcBef>
                <a:spcPts val="1125"/>
              </a:spcBef>
              <a:spcAft>
                <a:spcPts val="375"/>
              </a:spcAft>
              <a:buNone/>
            </a:pPr>
            <a:r>
              <a:rPr lang="en-US" b="0" i="0" dirty="0">
                <a:solidFill>
                  <a:srgbClr val="212529"/>
                </a:solidFill>
                <a:effectLst/>
                <a:latin typeface="Courier New" panose="02070309020205020404" pitchFamily="49" charset="0"/>
              </a:rPr>
              <a:t>String </a:t>
            </a:r>
            <a:r>
              <a:rPr lang="en-US" b="0" i="0" dirty="0" err="1">
                <a:solidFill>
                  <a:srgbClr val="212529"/>
                </a:solidFill>
                <a:effectLst/>
                <a:latin typeface="Courier New" panose="02070309020205020404" pitchFamily="49" charset="0"/>
              </a:rPr>
              <a:t>fullName</a:t>
            </a:r>
            <a:r>
              <a:rPr lang="en-US" b="0" i="0" dirty="0">
                <a:solidFill>
                  <a:srgbClr val="212529"/>
                </a:solidFill>
                <a:effectLst/>
                <a:latin typeface="Courier New" panose="02070309020205020404" pitchFamily="49" charset="0"/>
              </a:rPr>
              <a:t> = "Ayaan".</a:t>
            </a:r>
            <a:r>
              <a:rPr lang="en-US" b="0" i="0" dirty="0" err="1">
                <a:solidFill>
                  <a:srgbClr val="212529"/>
                </a:solidFill>
                <a:effectLst/>
                <a:latin typeface="Courier New" panose="02070309020205020404" pitchFamily="49" charset="0"/>
              </a:rPr>
              <a:t>concat</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concat</a:t>
            </a:r>
            <a:r>
              <a:rPr lang="en-US" b="0" i="0" dirty="0">
                <a:solidFill>
                  <a:srgbClr val="212529"/>
                </a:solidFill>
                <a:effectLst/>
                <a:latin typeface="Courier New" panose="02070309020205020404" pitchFamily="49" charset="0"/>
              </a:rPr>
              <a:t>("Alam");</a:t>
            </a:r>
          </a:p>
          <a:p>
            <a:pPr algn="l">
              <a:spcBef>
                <a:spcPts val="1650"/>
              </a:spcBef>
              <a:buNone/>
            </a:pPr>
            <a:r>
              <a:rPr lang="en-US" b="0" i="0" dirty="0">
                <a:solidFill>
                  <a:srgbClr val="3A3A3A"/>
                </a:solidFill>
                <a:effectLst/>
                <a:latin typeface="Roboto" panose="02000000000000000000" pitchFamily="2" charset="0"/>
              </a:rPr>
              <a:t>3. StringBuilder or </a:t>
            </a:r>
            <a:r>
              <a:rPr lang="en-US" b="0" i="0" dirty="0" err="1">
                <a:solidFill>
                  <a:srgbClr val="3A3A3A"/>
                </a:solidFill>
                <a:effectLst/>
                <a:latin typeface="Roboto" panose="02000000000000000000" pitchFamily="2" charset="0"/>
              </a:rPr>
              <a:t>StringBuffer</a:t>
            </a:r>
            <a:r>
              <a:rPr lang="en-US" b="0" i="0" dirty="0">
                <a:solidFill>
                  <a:srgbClr val="3A3A3A"/>
                </a:solidFill>
                <a:effectLst/>
                <a:latin typeface="Roboto" panose="02000000000000000000" pitchFamily="2" charset="0"/>
              </a:rPr>
              <a:t> (for better performance in loops):</a:t>
            </a:r>
          </a:p>
          <a:p>
            <a:pPr algn="l">
              <a:spcBef>
                <a:spcPts val="1125"/>
              </a:spcBef>
              <a:spcAft>
                <a:spcPts val="375"/>
              </a:spcAft>
              <a:buNone/>
            </a:pPr>
            <a:r>
              <a:rPr lang="en-US" b="0" i="0" dirty="0">
                <a:solidFill>
                  <a:srgbClr val="212529"/>
                </a:solidFill>
                <a:effectLst/>
                <a:latin typeface="Courier New" panose="02070309020205020404" pitchFamily="49" charset="0"/>
              </a:rPr>
              <a:t>StringBuilder sb = new StringBuilder();</a:t>
            </a:r>
          </a:p>
          <a:p>
            <a:pPr algn="l">
              <a:spcBef>
                <a:spcPts val="1125"/>
              </a:spcBef>
              <a:spcAft>
                <a:spcPts val="375"/>
              </a:spcAft>
              <a:buNone/>
            </a:pPr>
            <a:r>
              <a:rPr lang="en-US" b="0" i="0" dirty="0" err="1">
                <a:solidFill>
                  <a:srgbClr val="212529"/>
                </a:solidFill>
                <a:effectLst/>
                <a:latin typeface="Courier New" panose="02070309020205020404" pitchFamily="49" charset="0"/>
              </a:rPr>
              <a:t>sb.append</a:t>
            </a:r>
            <a:r>
              <a:rPr lang="en-US" b="0" i="0" dirty="0">
                <a:solidFill>
                  <a:srgbClr val="212529"/>
                </a:solidFill>
                <a:effectLst/>
                <a:latin typeface="Courier New" panose="02070309020205020404" pitchFamily="49" charset="0"/>
              </a:rPr>
              <a:t>("Ayaan").append(" ").append("Alam");</a:t>
            </a:r>
          </a:p>
          <a:p>
            <a:pPr algn="l">
              <a:spcBef>
                <a:spcPts val="1125"/>
              </a:spcBef>
              <a:spcAft>
                <a:spcPts val="375"/>
              </a:spcAft>
              <a:buNone/>
            </a:pPr>
            <a:r>
              <a:rPr lang="en-US" b="0" i="0" dirty="0">
                <a:solidFill>
                  <a:srgbClr val="212529"/>
                </a:solidFill>
                <a:effectLst/>
                <a:latin typeface="Courier New" panose="02070309020205020404" pitchFamily="49" charset="0"/>
              </a:rPr>
              <a:t>String </a:t>
            </a:r>
            <a:r>
              <a:rPr lang="en-US" b="0" i="0" dirty="0" err="1">
                <a:solidFill>
                  <a:srgbClr val="212529"/>
                </a:solidFill>
                <a:effectLst/>
                <a:latin typeface="Courier New" panose="02070309020205020404" pitchFamily="49" charset="0"/>
              </a:rPr>
              <a:t>fullName</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sb.toString</a:t>
            </a: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Best Practice: StringBuilder in high-performance situations such as extensive concatenations or within loop iterations</a:t>
            </a:r>
          </a:p>
        </p:txBody>
      </p:sp>
    </p:spTree>
    <p:extLst>
      <p:ext uri="{BB962C8B-B14F-4D97-AF65-F5344CB8AC3E}">
        <p14:creationId xmlns:p14="http://schemas.microsoft.com/office/powerpoint/2010/main" val="2623613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3A60-7F4A-4075-E419-85EE761A0B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1F7B0D-1A38-2190-17BB-5006201AEB1F}"/>
              </a:ext>
            </a:extLst>
          </p:cNvPr>
          <p:cNvSpPr txBox="1"/>
          <p:nvPr/>
        </p:nvSpPr>
        <p:spPr>
          <a:xfrm>
            <a:off x="170597" y="0"/>
            <a:ext cx="9260005" cy="221599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32. What is the difference between int and Integer in Java?</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int is a primitive data type that stores a 32-bit signed integer.</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Integer is a </a:t>
            </a:r>
            <a:r>
              <a:rPr lang="en-US" b="0" i="0" u="none" strike="noStrike" dirty="0">
                <a:solidFill>
                  <a:srgbClr val="0F5A9E"/>
                </a:solidFill>
                <a:effectLst/>
                <a:latin typeface="Roboto" panose="02000000000000000000" pitchFamily="2" charset="0"/>
                <a:hlinkClick r:id="rId2"/>
              </a:rPr>
              <a:t>wrapper class</a:t>
            </a:r>
            <a:r>
              <a:rPr lang="en-US" b="0" i="0" dirty="0">
                <a:solidFill>
                  <a:srgbClr val="3A3A3A"/>
                </a:solidFill>
                <a:effectLst/>
                <a:latin typeface="Roboto" panose="02000000000000000000" pitchFamily="2" charset="0"/>
              </a:rPr>
              <a:t> for an int type and is a part of Java Collections Framework.</a:t>
            </a:r>
          </a:p>
          <a:p>
            <a:pPr algn="l">
              <a:spcBef>
                <a:spcPts val="1650"/>
              </a:spcBef>
              <a:buNone/>
            </a:pPr>
            <a:r>
              <a:rPr lang="en-US" b="0" i="0" dirty="0">
                <a:solidFill>
                  <a:srgbClr val="3A3A3A"/>
                </a:solidFill>
                <a:effectLst/>
                <a:latin typeface="Roboto" panose="02000000000000000000" pitchFamily="2" charset="0"/>
              </a:rPr>
              <a:t>Key Differences:</a:t>
            </a:r>
          </a:p>
        </p:txBody>
      </p:sp>
      <p:graphicFrame>
        <p:nvGraphicFramePr>
          <p:cNvPr id="4" name="Table 3">
            <a:extLst>
              <a:ext uri="{FF2B5EF4-FFF2-40B4-BE49-F238E27FC236}">
                <a16:creationId xmlns:a16="http://schemas.microsoft.com/office/drawing/2014/main" id="{E4EBD0E9-5648-D584-CF72-70804DC8FF53}"/>
              </a:ext>
            </a:extLst>
          </p:cNvPr>
          <p:cNvGraphicFramePr>
            <a:graphicFrameLocks noGrp="1"/>
          </p:cNvGraphicFramePr>
          <p:nvPr>
            <p:extLst>
              <p:ext uri="{D42A27DB-BD31-4B8C-83A1-F6EECF244321}">
                <p14:modId xmlns:p14="http://schemas.microsoft.com/office/powerpoint/2010/main" val="355367491"/>
              </p:ext>
            </p:extLst>
          </p:nvPr>
        </p:nvGraphicFramePr>
        <p:xfrm>
          <a:off x="681037" y="2264570"/>
          <a:ext cx="8543925" cy="2377440"/>
        </p:xfrm>
        <a:graphic>
          <a:graphicData uri="http://schemas.openxmlformats.org/drawingml/2006/table">
            <a:tbl>
              <a:tblPr/>
              <a:tblGrid>
                <a:gridCol w="2847975">
                  <a:extLst>
                    <a:ext uri="{9D8B030D-6E8A-4147-A177-3AD203B41FA5}">
                      <a16:colId xmlns:a16="http://schemas.microsoft.com/office/drawing/2014/main" val="1938403040"/>
                    </a:ext>
                  </a:extLst>
                </a:gridCol>
                <a:gridCol w="2847975">
                  <a:extLst>
                    <a:ext uri="{9D8B030D-6E8A-4147-A177-3AD203B41FA5}">
                      <a16:colId xmlns:a16="http://schemas.microsoft.com/office/drawing/2014/main" val="3247138510"/>
                    </a:ext>
                  </a:extLst>
                </a:gridCol>
                <a:gridCol w="2847975">
                  <a:extLst>
                    <a:ext uri="{9D8B030D-6E8A-4147-A177-3AD203B41FA5}">
                      <a16:colId xmlns:a16="http://schemas.microsoft.com/office/drawing/2014/main" val="4159321401"/>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int</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Integer</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4140590521"/>
                  </a:ext>
                </a:extLst>
              </a:tr>
              <a:tr h="0">
                <a:tc>
                  <a:txBody>
                    <a:bodyPr/>
                    <a:lstStyle/>
                    <a:p>
                      <a:pPr fontAlgn="t">
                        <a:buNone/>
                      </a:pPr>
                      <a:r>
                        <a:rPr lang="en-US">
                          <a:effectLst/>
                        </a:rPr>
                        <a:t>Type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Primitive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Object (Wrapper class)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234762472"/>
                  </a:ext>
                </a:extLst>
              </a:tr>
              <a:tr h="0">
                <a:tc>
                  <a:txBody>
                    <a:bodyPr/>
                    <a:lstStyle/>
                    <a:p>
                      <a:pPr fontAlgn="t">
                        <a:buNone/>
                      </a:pPr>
                      <a:r>
                        <a:rPr lang="en-US">
                          <a:effectLst/>
                        </a:rPr>
                        <a:t>Nullability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Cannot be null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Can be null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483254715"/>
                  </a:ext>
                </a:extLst>
              </a:tr>
              <a:tr h="0">
                <a:tc>
                  <a:txBody>
                    <a:bodyPr/>
                    <a:lstStyle/>
                    <a:p>
                      <a:pPr fontAlgn="t">
                        <a:buNone/>
                      </a:pPr>
                      <a:r>
                        <a:rPr lang="en-US">
                          <a:effectLst/>
                        </a:rPr>
                        <a:t>Use in Collections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Not allowed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Allowed (e.g., in ArrayList&lt;Integer&gt;)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349220981"/>
                  </a:ext>
                </a:extLst>
              </a:tr>
              <a:tr h="0">
                <a:tc>
                  <a:txBody>
                    <a:bodyPr/>
                    <a:lstStyle/>
                    <a:p>
                      <a:pPr fontAlgn="t">
                        <a:buNone/>
                      </a:pPr>
                      <a:r>
                        <a:rPr lang="en-US">
                          <a:effectLst/>
                        </a:rPr>
                        <a:t>Methods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 methods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Provides utility methods (e.g., </a:t>
                      </a:r>
                      <a:r>
                        <a:rPr lang="en-US" dirty="0" err="1">
                          <a:effectLst/>
                        </a:rPr>
                        <a:t>parseInt</a:t>
                      </a:r>
                      <a:r>
                        <a:rPr lang="en-US" dirty="0">
                          <a:effectLst/>
                        </a:rPr>
                        <a: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71842346"/>
                  </a:ext>
                </a:extLst>
              </a:tr>
            </a:tbl>
          </a:graphicData>
        </a:graphic>
      </p:graphicFrame>
      <p:sp>
        <p:nvSpPr>
          <p:cNvPr id="6" name="TextBox 5">
            <a:extLst>
              <a:ext uri="{FF2B5EF4-FFF2-40B4-BE49-F238E27FC236}">
                <a16:creationId xmlns:a16="http://schemas.microsoft.com/office/drawing/2014/main" id="{3544EB1B-1CCA-BD3C-2FAD-4C7FDFCADBD3}"/>
              </a:ext>
            </a:extLst>
          </p:cNvPr>
          <p:cNvSpPr txBox="1"/>
          <p:nvPr/>
        </p:nvSpPr>
        <p:spPr>
          <a:xfrm>
            <a:off x="443553" y="4982678"/>
            <a:ext cx="4954136" cy="1526059"/>
          </a:xfrm>
          <a:prstGeom prst="rect">
            <a:avLst/>
          </a:prstGeom>
          <a:noFill/>
        </p:spPr>
        <p:txBody>
          <a:bodyPr wrap="square">
            <a:spAutoFit/>
          </a:bodyPr>
          <a:lstStyle/>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int a = 10;</a:t>
            </a:r>
          </a:p>
          <a:p>
            <a:pPr algn="l">
              <a:spcBef>
                <a:spcPts val="1125"/>
              </a:spcBef>
              <a:spcAft>
                <a:spcPts val="375"/>
              </a:spcAft>
              <a:buNone/>
            </a:pPr>
            <a:r>
              <a:rPr lang="en-US" b="0" i="0" dirty="0">
                <a:solidFill>
                  <a:srgbClr val="212529"/>
                </a:solidFill>
                <a:effectLst/>
                <a:latin typeface="Courier New" panose="02070309020205020404" pitchFamily="49" charset="0"/>
              </a:rPr>
              <a:t>Integer b = </a:t>
            </a:r>
            <a:r>
              <a:rPr lang="en-US" b="0" i="0" dirty="0" err="1">
                <a:solidFill>
                  <a:srgbClr val="212529"/>
                </a:solidFill>
                <a:effectLst/>
                <a:latin typeface="Courier New" panose="02070309020205020404" pitchFamily="49" charset="0"/>
              </a:rPr>
              <a:t>Integer.valueOf</a:t>
            </a:r>
            <a:r>
              <a:rPr lang="en-US" b="0" i="0" dirty="0">
                <a:solidFill>
                  <a:srgbClr val="212529"/>
                </a:solidFill>
                <a:effectLst/>
                <a:latin typeface="Courier New" panose="02070309020205020404" pitchFamily="49" charset="0"/>
              </a:rPr>
              <a:t>(a);  // Autoboxing</a:t>
            </a:r>
          </a:p>
        </p:txBody>
      </p:sp>
    </p:spTree>
    <p:extLst>
      <p:ext uri="{BB962C8B-B14F-4D97-AF65-F5344CB8AC3E}">
        <p14:creationId xmlns:p14="http://schemas.microsoft.com/office/powerpoint/2010/main" val="1008188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CAA-5208-4115-0033-78F3F505C6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07F35C-9833-A050-1F9F-677D3C985B1A}"/>
              </a:ext>
            </a:extLst>
          </p:cNvPr>
          <p:cNvSpPr txBox="1"/>
          <p:nvPr/>
        </p:nvSpPr>
        <p:spPr>
          <a:xfrm>
            <a:off x="2477069" y="909927"/>
            <a:ext cx="4954136" cy="504497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33. How do you create a single-line comment in Java?</a:t>
            </a:r>
          </a:p>
          <a:p>
            <a:pPr algn="just">
              <a:lnSpc>
                <a:spcPts val="2100"/>
              </a:lnSpc>
              <a:spcBef>
                <a:spcPts val="1650"/>
              </a:spcBef>
              <a:buNone/>
            </a:pPr>
            <a:r>
              <a:rPr lang="en-US" b="0" i="0" dirty="0">
                <a:solidFill>
                  <a:srgbClr val="3A3A3A"/>
                </a:solidFill>
                <a:effectLst/>
                <a:latin typeface="Roboto" panose="02000000000000000000" pitchFamily="2" charset="0"/>
              </a:rPr>
              <a:t>A single line comment in Java is created using two forward slashes //. Any text following // on the same line is considered as a comment and ignored by the compiler.</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just">
              <a:lnSpc>
                <a:spcPts val="2100"/>
              </a:lnSpc>
              <a:spcBef>
                <a:spcPts val="750"/>
              </a:spcBef>
              <a:buNone/>
            </a:pPr>
            <a:r>
              <a:rPr lang="en-US" b="0" i="0" dirty="0">
                <a:solidFill>
                  <a:srgbClr val="3A3A3A"/>
                </a:solidFill>
                <a:effectLst/>
                <a:latin typeface="Roboto" panose="02000000000000000000" pitchFamily="2" charset="0"/>
              </a:rPr>
              <a:t>// This is a single-line comment</a:t>
            </a:r>
          </a:p>
          <a:p>
            <a:pPr algn="l">
              <a:spcBef>
                <a:spcPts val="1125"/>
              </a:spcBef>
              <a:spcAft>
                <a:spcPts val="375"/>
              </a:spcAft>
              <a:buNone/>
            </a:pPr>
            <a:r>
              <a:rPr lang="en-US" b="0" i="0" dirty="0">
                <a:solidFill>
                  <a:srgbClr val="212529"/>
                </a:solidFill>
                <a:effectLst/>
                <a:latin typeface="Courier New" panose="02070309020205020404" pitchFamily="49" charset="0"/>
              </a:rPr>
              <a:t> int x = 10; // This sets the value of x to 10</a:t>
            </a:r>
          </a:p>
          <a:p>
            <a:pPr algn="just">
              <a:lnSpc>
                <a:spcPts val="2100"/>
              </a:lnSpc>
              <a:spcBef>
                <a:spcPts val="1650"/>
              </a:spcBef>
              <a:buNone/>
            </a:pPr>
            <a:r>
              <a:rPr lang="en-US" b="0" i="0" dirty="0">
                <a:solidFill>
                  <a:srgbClr val="3A3A3A"/>
                </a:solidFill>
                <a:effectLst/>
                <a:latin typeface="Roboto" panose="02000000000000000000" pitchFamily="2" charset="0"/>
              </a:rPr>
              <a:t>Use Case:</a:t>
            </a:r>
          </a:p>
          <a:p>
            <a:pPr algn="just">
              <a:lnSpc>
                <a:spcPts val="2100"/>
              </a:lnSpc>
              <a:spcBef>
                <a:spcPts val="750"/>
              </a:spcBef>
              <a:buNone/>
            </a:pPr>
            <a:r>
              <a:rPr lang="en-US" b="0" i="0" dirty="0">
                <a:solidFill>
                  <a:srgbClr val="3A3A3A"/>
                </a:solidFill>
                <a:effectLst/>
                <a:latin typeface="Roboto" panose="02000000000000000000" pitchFamily="2" charset="0"/>
              </a:rPr>
              <a:t>Single line comments exist to comment on brief lines of code or to comment out a line temporarily when debugging.</a:t>
            </a:r>
          </a:p>
        </p:txBody>
      </p:sp>
    </p:spTree>
    <p:extLst>
      <p:ext uri="{BB962C8B-B14F-4D97-AF65-F5344CB8AC3E}">
        <p14:creationId xmlns:p14="http://schemas.microsoft.com/office/powerpoint/2010/main" val="2335781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0856-9563-310D-DEF0-85E9C971EA8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999B62F-34A5-CABC-4B4E-BA0809079267}"/>
              </a:ext>
            </a:extLst>
          </p:cNvPr>
          <p:cNvSpPr txBox="1"/>
          <p:nvPr/>
        </p:nvSpPr>
        <p:spPr>
          <a:xfrm>
            <a:off x="225189" y="31663"/>
            <a:ext cx="9680811" cy="225959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34. What is the ‘continue’ keyword used for in Java?</a:t>
            </a:r>
          </a:p>
          <a:p>
            <a:pPr algn="just">
              <a:lnSpc>
                <a:spcPts val="2100"/>
              </a:lnSpc>
              <a:spcBef>
                <a:spcPts val="1650"/>
              </a:spcBef>
              <a:buNone/>
            </a:pPr>
            <a:r>
              <a:rPr lang="en-US" b="0" i="0" dirty="0">
                <a:solidFill>
                  <a:srgbClr val="3A3A3A"/>
                </a:solidFill>
                <a:effectLst/>
                <a:latin typeface="Roboto" panose="02000000000000000000" pitchFamily="2" charset="0"/>
              </a:rPr>
              <a:t>The continue keyword in Java is used inside loops to skip the current iteration and proceed directly to the next one. It is commonly used when a specific condition is met, and you want to skip the remaining statements in the current loop cycle without terminating the loop entirely.</a:t>
            </a:r>
          </a:p>
          <a:p>
            <a:pPr algn="just">
              <a:lnSpc>
                <a:spcPts val="2100"/>
              </a:lnSpc>
              <a:spcBef>
                <a:spcPts val="750"/>
              </a:spcBef>
              <a:buNone/>
            </a:pPr>
            <a:r>
              <a:rPr lang="en-US" b="0" i="0" dirty="0">
                <a:solidFill>
                  <a:srgbClr val="3A3A3A"/>
                </a:solidFill>
                <a:effectLst/>
                <a:latin typeface="Roboto" panose="02000000000000000000" pitchFamily="2" charset="0"/>
              </a:rPr>
              <a:t>Example:</a:t>
            </a:r>
          </a:p>
        </p:txBody>
      </p:sp>
      <p:sp>
        <p:nvSpPr>
          <p:cNvPr id="7" name="TextBox 6">
            <a:extLst>
              <a:ext uri="{FF2B5EF4-FFF2-40B4-BE49-F238E27FC236}">
                <a16:creationId xmlns:a16="http://schemas.microsoft.com/office/drawing/2014/main" id="{BD7B6EB2-74E1-57AD-7D3D-C3954B8D165B}"/>
              </a:ext>
            </a:extLst>
          </p:cNvPr>
          <p:cNvSpPr txBox="1"/>
          <p:nvPr/>
        </p:nvSpPr>
        <p:spPr>
          <a:xfrm>
            <a:off x="2354239" y="1870840"/>
            <a:ext cx="4981432" cy="2031325"/>
          </a:xfrm>
          <a:prstGeom prst="rect">
            <a:avLst/>
          </a:prstGeom>
          <a:noFill/>
        </p:spPr>
        <p:txBody>
          <a:bodyPr wrap="square">
            <a:spAutoFit/>
          </a:bodyPr>
          <a:lstStyle/>
          <a:p>
            <a:r>
              <a:rPr lang="en-US"/>
              <a:t>for (int i = 1; i &lt;= 5; i++) {</a:t>
            </a:r>
          </a:p>
          <a:p>
            <a:r>
              <a:rPr lang="en-US"/>
              <a:t>    if (i == 3) {</a:t>
            </a:r>
          </a:p>
          <a:p>
            <a:r>
              <a:rPr lang="en-US"/>
              <a:t>        continue; // Skip the rest of the loop when i is 3</a:t>
            </a:r>
          </a:p>
          <a:p>
            <a:r>
              <a:rPr lang="en-US"/>
              <a:t>    }</a:t>
            </a:r>
          </a:p>
          <a:p>
            <a:r>
              <a:rPr lang="en-US"/>
              <a:t>    System.out.println(i);</a:t>
            </a:r>
          </a:p>
          <a:p>
            <a:r>
              <a:rPr lang="en-US"/>
              <a:t>}</a:t>
            </a:r>
            <a:endParaRPr lang="en-US" dirty="0"/>
          </a:p>
        </p:txBody>
      </p:sp>
      <p:sp>
        <p:nvSpPr>
          <p:cNvPr id="9" name="TextBox 8">
            <a:extLst>
              <a:ext uri="{FF2B5EF4-FFF2-40B4-BE49-F238E27FC236}">
                <a16:creationId xmlns:a16="http://schemas.microsoft.com/office/drawing/2014/main" id="{CB0BCFCD-0697-E818-224F-9FBA77E04E7C}"/>
              </a:ext>
            </a:extLst>
          </p:cNvPr>
          <p:cNvSpPr txBox="1"/>
          <p:nvPr/>
        </p:nvSpPr>
        <p:spPr>
          <a:xfrm>
            <a:off x="580030" y="4469199"/>
            <a:ext cx="9027993" cy="1002839"/>
          </a:xfrm>
          <a:prstGeom prst="rect">
            <a:avLst/>
          </a:prstGeom>
          <a:noFill/>
        </p:spPr>
        <p:txBody>
          <a:bodyPr wrap="square">
            <a:spAutoFit/>
          </a:bodyPr>
          <a:lstStyle/>
          <a:p>
            <a:pPr algn="just">
              <a:lnSpc>
                <a:spcPts val="2100"/>
              </a:lnSpc>
              <a:spcBef>
                <a:spcPts val="750"/>
              </a:spcBef>
              <a:buNone/>
            </a:pPr>
            <a:r>
              <a:rPr lang="en-US" b="0" i="0" dirty="0">
                <a:solidFill>
                  <a:srgbClr val="3A3A3A"/>
                </a:solidFill>
                <a:effectLst/>
                <a:latin typeface="Roboto" panose="02000000000000000000" pitchFamily="2" charset="0"/>
              </a:rPr>
              <a:t>Use Case:</a:t>
            </a:r>
          </a:p>
          <a:p>
            <a:pPr algn="just">
              <a:lnSpc>
                <a:spcPts val="2100"/>
              </a:lnSpc>
              <a:spcBef>
                <a:spcPts val="750"/>
              </a:spcBef>
              <a:buNone/>
            </a:pPr>
            <a:r>
              <a:rPr lang="en-US" b="0" i="0" dirty="0">
                <a:solidFill>
                  <a:srgbClr val="3A3A3A"/>
                </a:solidFill>
                <a:effectLst/>
                <a:latin typeface="Roboto" panose="02000000000000000000" pitchFamily="2" charset="0"/>
              </a:rPr>
              <a:t>Improves code clarity by avoiding unnecessarily deeply-nested if statements when there is a need to skip logic within a loop.</a:t>
            </a:r>
          </a:p>
        </p:txBody>
      </p:sp>
    </p:spTree>
    <p:extLst>
      <p:ext uri="{BB962C8B-B14F-4D97-AF65-F5344CB8AC3E}">
        <p14:creationId xmlns:p14="http://schemas.microsoft.com/office/powerpoint/2010/main" val="2726483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E893-EB80-1190-5E28-1A084D7EEC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3DF03D-882A-BA00-8437-46F0D9AC1828}"/>
              </a:ext>
            </a:extLst>
          </p:cNvPr>
          <p:cNvSpPr txBox="1"/>
          <p:nvPr/>
        </p:nvSpPr>
        <p:spPr>
          <a:xfrm>
            <a:off x="2477069" y="212300"/>
            <a:ext cx="4954136" cy="644022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35. What is the superclass of every class in Java?</a:t>
            </a: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dirty="0" err="1">
                <a:solidFill>
                  <a:srgbClr val="3A3A3A"/>
                </a:solidFill>
                <a:effectLst/>
                <a:latin typeface="Roboto" panose="02000000000000000000" pitchFamily="2" charset="0"/>
              </a:rPr>
              <a:t>java.lang.Object</a:t>
            </a:r>
            <a:r>
              <a:rPr lang="en-US" b="0" i="0" dirty="0">
                <a:solidFill>
                  <a:srgbClr val="3A3A3A"/>
                </a:solidFill>
                <a:effectLst/>
                <a:latin typeface="Roboto" panose="02000000000000000000" pitchFamily="2" charset="0"/>
              </a:rPr>
              <a:t> class is the superclass of all classes in Java.</a:t>
            </a:r>
          </a:p>
          <a:p>
            <a:pPr algn="just">
              <a:lnSpc>
                <a:spcPts val="2100"/>
              </a:lnSpc>
              <a:spcBef>
                <a:spcPts val="750"/>
              </a:spcBef>
              <a:buNone/>
            </a:pPr>
            <a:r>
              <a:rPr lang="en-US" b="0" i="0" dirty="0">
                <a:solidFill>
                  <a:srgbClr val="3A3A3A"/>
                </a:solidFill>
                <a:effectLst/>
                <a:latin typeface="Roboto" panose="02000000000000000000" pitchFamily="2" charset="0"/>
              </a:rPr>
              <a:t>Even when a class does not explicitly extend another class , the Java compiler automatically makes it extend the Object class.</a:t>
            </a:r>
          </a:p>
          <a:p>
            <a:pPr algn="just">
              <a:lnSpc>
                <a:spcPts val="2100"/>
              </a:lnSpc>
              <a:spcBef>
                <a:spcPts val="750"/>
              </a:spcBef>
              <a:buNone/>
            </a:pPr>
            <a:r>
              <a:rPr lang="en-US" b="0" i="0" dirty="0">
                <a:solidFill>
                  <a:srgbClr val="3A3A3A"/>
                </a:solidFill>
                <a:effectLst/>
                <a:latin typeface="Roboto" panose="02000000000000000000" pitchFamily="2" charset="0"/>
              </a:rPr>
              <a:t>In this way, each class has methods such as:</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toString</a:t>
            </a:r>
            <a:r>
              <a:rPr lang="en-US" b="0" i="0" dirty="0">
                <a:solidFill>
                  <a:srgbClr val="3A3A3A"/>
                </a:solidFill>
                <a:effectLst/>
                <a:latin typeface="Roboto" panose="02000000000000000000" pitchFamily="2" charset="0"/>
              </a:rPr>
              <a: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equals(Object obj)</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hashCode</a:t>
            </a:r>
            <a:r>
              <a:rPr lang="en-US" b="0" i="0" dirty="0">
                <a:solidFill>
                  <a:srgbClr val="3A3A3A"/>
                </a:solidFill>
                <a:effectLst/>
                <a:latin typeface="Roboto" panose="02000000000000000000" pitchFamily="2" charset="0"/>
              </a:rPr>
              <a:t>()</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getClass</a:t>
            </a:r>
            <a:r>
              <a:rPr lang="en-US" b="0" i="0" dirty="0">
                <a:solidFill>
                  <a:srgbClr val="3A3A3A"/>
                </a:solidFill>
                <a:effectLst/>
                <a:latin typeface="Roboto" panose="02000000000000000000" pitchFamily="2" charset="0"/>
              </a:rPr>
              <a: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notify(), wait(), clone() (if applicable)</a:t>
            </a:r>
          </a:p>
          <a:p>
            <a:pPr algn="just">
              <a:lnSpc>
                <a:spcPts val="2100"/>
              </a:lnSpc>
              <a:spcBef>
                <a:spcPts val="1650"/>
              </a:spcBef>
              <a:buNone/>
            </a:pPr>
            <a:r>
              <a:rPr lang="en-US" b="0" i="0" dirty="0">
                <a:solidFill>
                  <a:srgbClr val="3A3A3A"/>
                </a:solidFill>
                <a:effectLst/>
                <a:latin typeface="Roboto" panose="02000000000000000000" pitchFamily="2" charset="0"/>
              </a:rPr>
              <a:t>The inheritance here guarantees uniformity and allows Java objects to be compatible with collections, reflection, and other language aspects.</a:t>
            </a:r>
          </a:p>
        </p:txBody>
      </p:sp>
    </p:spTree>
    <p:extLst>
      <p:ext uri="{BB962C8B-B14F-4D97-AF65-F5344CB8AC3E}">
        <p14:creationId xmlns:p14="http://schemas.microsoft.com/office/powerpoint/2010/main" val="2551614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80D-341B-56C8-4F0C-D26AC95F9B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7AA13F9-83FC-2B37-4486-F2EBA4D7BEB2}"/>
              </a:ext>
            </a:extLst>
          </p:cNvPr>
          <p:cNvSpPr txBox="1"/>
          <p:nvPr/>
        </p:nvSpPr>
        <p:spPr>
          <a:xfrm>
            <a:off x="-1" y="0"/>
            <a:ext cx="9771797"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36. How do you define an interface in Java?</a:t>
            </a:r>
          </a:p>
          <a:p>
            <a:pPr algn="just">
              <a:lnSpc>
                <a:spcPts val="2100"/>
              </a:lnSpc>
              <a:spcBef>
                <a:spcPts val="1650"/>
              </a:spcBef>
              <a:buNone/>
            </a:pPr>
            <a:r>
              <a:rPr lang="en-US" b="0" i="0" dirty="0">
                <a:solidFill>
                  <a:srgbClr val="3A3A3A"/>
                </a:solidFill>
                <a:effectLst/>
                <a:latin typeface="Roboto" panose="02000000000000000000" pitchFamily="2" charset="0"/>
              </a:rPr>
              <a:t>In Java, the interface keyword is used to define an interface which serves as a blueprint containing abstract methods and constants.</a:t>
            </a:r>
          </a:p>
        </p:txBody>
      </p:sp>
      <p:sp>
        <p:nvSpPr>
          <p:cNvPr id="5" name="TextBox 4">
            <a:extLst>
              <a:ext uri="{FF2B5EF4-FFF2-40B4-BE49-F238E27FC236}">
                <a16:creationId xmlns:a16="http://schemas.microsoft.com/office/drawing/2014/main" id="{5CD3B202-1257-C571-3A72-1009016460B1}"/>
              </a:ext>
            </a:extLst>
          </p:cNvPr>
          <p:cNvSpPr txBox="1"/>
          <p:nvPr/>
        </p:nvSpPr>
        <p:spPr>
          <a:xfrm>
            <a:off x="1385248" y="1542534"/>
            <a:ext cx="4981432" cy="1200329"/>
          </a:xfrm>
          <a:prstGeom prst="rect">
            <a:avLst/>
          </a:prstGeom>
          <a:noFill/>
        </p:spPr>
        <p:txBody>
          <a:bodyPr wrap="square">
            <a:spAutoFit/>
          </a:bodyPr>
          <a:lstStyle/>
          <a:p>
            <a:r>
              <a:rPr lang="en-US" dirty="0"/>
              <a:t>public interface Vehicle {</a:t>
            </a:r>
          </a:p>
          <a:p>
            <a:r>
              <a:rPr lang="en-US" dirty="0"/>
              <a:t>    void start();</a:t>
            </a:r>
          </a:p>
          <a:p>
            <a:r>
              <a:rPr lang="en-US" dirty="0"/>
              <a:t>    void stop();</a:t>
            </a:r>
          </a:p>
          <a:p>
            <a:r>
              <a:rPr lang="en-US" dirty="0"/>
              <a:t>}</a:t>
            </a:r>
          </a:p>
        </p:txBody>
      </p:sp>
      <p:sp>
        <p:nvSpPr>
          <p:cNvPr id="7" name="TextBox 6">
            <a:extLst>
              <a:ext uri="{FF2B5EF4-FFF2-40B4-BE49-F238E27FC236}">
                <a16:creationId xmlns:a16="http://schemas.microsoft.com/office/drawing/2014/main" id="{3F11E0F9-B400-1473-5D7C-184A6AC01F88}"/>
              </a:ext>
            </a:extLst>
          </p:cNvPr>
          <p:cNvSpPr txBox="1"/>
          <p:nvPr/>
        </p:nvSpPr>
        <p:spPr>
          <a:xfrm>
            <a:off x="211540" y="3043011"/>
            <a:ext cx="9396483" cy="2464777"/>
          </a:xfrm>
          <a:prstGeom prst="rect">
            <a:avLst/>
          </a:prstGeom>
          <a:noFill/>
        </p:spPr>
        <p:txBody>
          <a:bodyPr wrap="square">
            <a:spAutoFit/>
          </a:bodyPr>
          <a:lstStyle/>
          <a:p>
            <a:pPr algn="just">
              <a:lnSpc>
                <a:spcPts val="2100"/>
              </a:lnSpc>
              <a:spcBef>
                <a:spcPts val="750"/>
              </a:spcBef>
              <a:buNone/>
            </a:pPr>
            <a:r>
              <a:rPr lang="en-US" b="0" i="0" dirty="0">
                <a:solidFill>
                  <a:srgbClr val="3A3A3A"/>
                </a:solidFill>
                <a:effectLst/>
                <a:latin typeface="Roboto" panose="02000000000000000000" pitchFamily="2" charset="0"/>
              </a:rPr>
              <a:t>Interfaces can also include: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Default methods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Static methods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Private methods (since Java 9)</a:t>
            </a:r>
          </a:p>
          <a:p>
            <a:pPr algn="just">
              <a:lnSpc>
                <a:spcPts val="2100"/>
              </a:lnSpc>
              <a:spcBef>
                <a:spcPts val="1650"/>
              </a:spcBef>
              <a:buNone/>
            </a:pPr>
            <a:r>
              <a:rPr lang="en-US" b="0" i="0" dirty="0">
                <a:solidFill>
                  <a:srgbClr val="3A3A3A"/>
                </a:solidFill>
                <a:effectLst/>
                <a:latin typeface="Roboto" panose="02000000000000000000" pitchFamily="2" charset="0"/>
              </a:rPr>
              <a:t>Interfaces are employed to facilitate abstraction, decouple components, and provide multi-inheritance by means of contract programming.</a:t>
            </a:r>
          </a:p>
        </p:txBody>
      </p:sp>
    </p:spTree>
    <p:extLst>
      <p:ext uri="{BB962C8B-B14F-4D97-AF65-F5344CB8AC3E}">
        <p14:creationId xmlns:p14="http://schemas.microsoft.com/office/powerpoint/2010/main" val="1750804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34C0-6502-085A-59CD-B3BA280ADD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619127-767E-1F6E-70A6-552FA73E1AAC}"/>
              </a:ext>
            </a:extLst>
          </p:cNvPr>
          <p:cNvSpPr txBox="1"/>
          <p:nvPr/>
        </p:nvSpPr>
        <p:spPr>
          <a:xfrm>
            <a:off x="95536" y="0"/>
            <a:ext cx="9430602" cy="6940361"/>
          </a:xfrm>
          <a:prstGeom prst="rect">
            <a:avLst/>
          </a:prstGeom>
          <a:noFill/>
        </p:spPr>
        <p:txBody>
          <a:bodyPr wrap="square">
            <a:spAutoFit/>
          </a:bodyPr>
          <a:lstStyle/>
          <a:p>
            <a:pPr algn="l">
              <a:lnSpc>
                <a:spcPts val="2550"/>
              </a:lnSpc>
              <a:spcBef>
                <a:spcPts val="3000"/>
              </a:spcBef>
              <a:buNone/>
            </a:pPr>
            <a:r>
              <a:rPr lang="en-US" b="0" i="0" dirty="0">
                <a:solidFill>
                  <a:srgbClr val="272C37"/>
                </a:solidFill>
                <a:effectLst/>
                <a:latin typeface="Roboto" panose="02000000000000000000" pitchFamily="2" charset="0"/>
              </a:rPr>
              <a:t>Intermediate Java Interview Questions</a:t>
            </a:r>
          </a:p>
          <a:p>
            <a:pPr algn="just">
              <a:lnSpc>
                <a:spcPts val="2100"/>
              </a:lnSpc>
              <a:spcBef>
                <a:spcPts val="1650"/>
              </a:spcBef>
              <a:buNone/>
            </a:pPr>
            <a:r>
              <a:rPr lang="en-US" b="0" i="0" dirty="0">
                <a:solidFill>
                  <a:srgbClr val="3A3A3A"/>
                </a:solidFill>
                <a:effectLst/>
                <a:latin typeface="Roboto" panose="02000000000000000000" pitchFamily="2" charset="0"/>
              </a:rPr>
              <a:t>Now , with this section we will discuss Intermediate Java Interview Questions that will help Java developers with few years of experience who wants to go higher on their Java Development domain.</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37. How does the JVM work?</a:t>
            </a:r>
          </a:p>
          <a:p>
            <a:pPr algn="just">
              <a:lnSpc>
                <a:spcPts val="2100"/>
              </a:lnSpc>
              <a:spcBef>
                <a:spcPts val="1650"/>
              </a:spcBef>
              <a:buNone/>
            </a:pPr>
            <a:r>
              <a:rPr lang="en-US" b="0" i="0" dirty="0">
                <a:solidFill>
                  <a:srgbClr val="3A3A3A"/>
                </a:solidFill>
                <a:effectLst/>
                <a:latin typeface="Roboto" panose="02000000000000000000" pitchFamily="2" charset="0"/>
              </a:rPr>
              <a:t>Java Virtual Machine is a Java Runtime Environment (JRE) component. It loads, verifies, and executes the bytecode. Although JVM is platform-dependent, it enables Java code to be platform-independent.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38. Explain the working of JIT.</a:t>
            </a:r>
          </a:p>
          <a:p>
            <a:pPr algn="just">
              <a:lnSpc>
                <a:spcPts val="2100"/>
              </a:lnSpc>
              <a:spcBef>
                <a:spcPts val="1650"/>
              </a:spcBef>
              <a:buNone/>
            </a:pPr>
            <a:r>
              <a:rPr lang="en-US" b="0" i="0" dirty="0">
                <a:solidFill>
                  <a:srgbClr val="3A3A3A"/>
                </a:solidFill>
                <a:effectLst/>
                <a:latin typeface="Roboto" panose="02000000000000000000" pitchFamily="2" charset="0"/>
              </a:rPr>
              <a:t>JIT (Just-in-Time) is a runtime component of the Java Virtual Machine (JVM) that converts bytecode into machine code. Its main purpose is to speed up code execution, thereby improving the performance and efficiency of Java applications.</a:t>
            </a:r>
          </a:p>
          <a:p>
            <a:pPr algn="just">
              <a:lnSpc>
                <a:spcPts val="2100"/>
              </a:lnSpc>
              <a:spcBef>
                <a:spcPts val="750"/>
              </a:spcBef>
              <a:buNone/>
            </a:pPr>
            <a:r>
              <a:rPr lang="en-US" b="0" i="0" dirty="0">
                <a:solidFill>
                  <a:srgbClr val="3A3A3A"/>
                </a:solidFill>
                <a:effectLst/>
                <a:latin typeface="Roboto" panose="02000000000000000000" pitchFamily="2" charset="0"/>
              </a:rPr>
              <a:t>It does so by recognizing code blocks that are executed frequently and converting them into machine code. This compiled machine code is then saved in memory and whenever the same code block needs to run again, JVM can use the already compiled version instead of recompiling it..</a:t>
            </a:r>
          </a:p>
          <a:p>
            <a:pPr algn="just">
              <a:lnSpc>
                <a:spcPts val="2100"/>
              </a:lnSpc>
              <a:spcBef>
                <a:spcPts val="750"/>
              </a:spcBef>
              <a:buNone/>
            </a:pPr>
            <a:r>
              <a:rPr lang="en-US" b="0" i="0" dirty="0">
                <a:solidFill>
                  <a:srgbClr val="3A3A3A"/>
                </a:solidFill>
                <a:effectLst/>
                <a:latin typeface="Roboto" panose="02000000000000000000" pitchFamily="2" charset="0"/>
              </a:rPr>
              <a:t>By avoiding repeated compilation of the same code, the JIT compiler improves execution speed and reduces the workload on the JVM.</a:t>
            </a:r>
          </a:p>
        </p:txBody>
      </p:sp>
    </p:spTree>
    <p:extLst>
      <p:ext uri="{BB962C8B-B14F-4D97-AF65-F5344CB8AC3E}">
        <p14:creationId xmlns:p14="http://schemas.microsoft.com/office/powerpoint/2010/main" val="4130117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51C90-DE80-B1CD-912A-A7A37C5C75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596123-DF73-D5F9-DB40-B63DB1AB12CB}"/>
              </a:ext>
            </a:extLst>
          </p:cNvPr>
          <p:cNvSpPr txBox="1"/>
          <p:nvPr/>
        </p:nvSpPr>
        <p:spPr>
          <a:xfrm>
            <a:off x="0" y="306852"/>
            <a:ext cx="9662615" cy="594008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39. Which memory areas are allocated by JVM?</a:t>
            </a:r>
          </a:p>
          <a:p>
            <a:pPr algn="just">
              <a:lnSpc>
                <a:spcPts val="2100"/>
              </a:lnSpc>
              <a:spcBef>
                <a:spcPts val="1650"/>
              </a:spcBef>
              <a:buNone/>
            </a:pPr>
            <a:r>
              <a:rPr lang="en-US" b="0" i="0" dirty="0">
                <a:solidFill>
                  <a:srgbClr val="3A3A3A"/>
                </a:solidFill>
                <a:effectLst/>
                <a:latin typeface="Roboto" panose="02000000000000000000" pitchFamily="2" charset="0"/>
              </a:rPr>
              <a:t>JVM is the core component of the Java Platform, responsible for running Java programs. To execute the programs, JVM needs to store instructions, variables, and other data in memory.. JVM’s memory is divided into specific areas, each designed for a specific purpose. Let’s understand them:</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Method Area (</a:t>
            </a:r>
            <a:r>
              <a:rPr lang="en-US" b="0" i="0" dirty="0" err="1">
                <a:solidFill>
                  <a:srgbClr val="3A3A3A"/>
                </a:solidFill>
                <a:effectLst/>
                <a:latin typeface="Roboto" panose="02000000000000000000" pitchFamily="2" charset="0"/>
              </a:rPr>
              <a:t>Metaspace</a:t>
            </a:r>
            <a:r>
              <a:rPr lang="en-US" b="0" i="0" dirty="0">
                <a:solidFill>
                  <a:srgbClr val="3A3A3A"/>
                </a:solidFill>
                <a:effectLst/>
                <a:latin typeface="Roboto" panose="02000000000000000000" pitchFamily="2" charset="0"/>
              </a:rPr>
              <a:t>): This area of the memory saves the class metadata, method metadata, field metadata and static variable.</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Heap: This is the largest memory area, and it stores objects and their associated instance variables.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Java Stacks(Thread stacks): It is a runtime memory area which is created for each thread. It stores local variables, method arguments, etc. It is designed to handle method execution and local variables.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PC Registers: The program counter register helps point to the current thread being executed. After executing an instruction the PC points to the next instruction.</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Native Method Stacks: It is a memory area in JVM which is reserved for native methods written in languages other than Java. Like C/C++. It helps java interact with system level APIs which are not written in Java.</a:t>
            </a:r>
          </a:p>
        </p:txBody>
      </p:sp>
    </p:spTree>
    <p:extLst>
      <p:ext uri="{BB962C8B-B14F-4D97-AF65-F5344CB8AC3E}">
        <p14:creationId xmlns:p14="http://schemas.microsoft.com/office/powerpoint/2010/main" val="1523195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7C93-02CB-83DE-E1F8-98A3723CEC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7B161AA-8012-1DFE-F2E5-29C5E590BBA0}"/>
              </a:ext>
            </a:extLst>
          </p:cNvPr>
          <p:cNvSpPr txBox="1"/>
          <p:nvPr/>
        </p:nvSpPr>
        <p:spPr>
          <a:xfrm>
            <a:off x="368491" y="417484"/>
            <a:ext cx="9239534" cy="414472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40. Why are wrapper classes needed in Java?</a:t>
            </a:r>
          </a:p>
          <a:p>
            <a:pPr algn="just">
              <a:lnSpc>
                <a:spcPts val="2100"/>
              </a:lnSpc>
              <a:spcBef>
                <a:spcPts val="1650"/>
              </a:spcBef>
              <a:buNone/>
            </a:pPr>
            <a:r>
              <a:rPr lang="en-US" b="0" i="0" dirty="0">
                <a:solidFill>
                  <a:srgbClr val="3A3A3A"/>
                </a:solidFill>
                <a:effectLst/>
                <a:latin typeface="Roboto" panose="02000000000000000000" pitchFamily="2" charset="0"/>
              </a:rPr>
              <a:t>We need wrapper classes to convert primitive data types to objects. They are required for special use cases such as follows: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Working with Collections: Collections in java work with objects and not primitive data types, so wrapper classes help convert primitive data types to collections.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Converting Data Types: Wrapper classes can help convert Strings to primitive data types.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Utility Methods: Wrapper classes have useful utility methods, which if we want to use, then we have to convert primitive data type to object.</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Autoboxing and Unboxing: Java can automatically convert between primitive data types and their corresponding wrapper objects whenever needed.</a:t>
            </a:r>
          </a:p>
        </p:txBody>
      </p:sp>
    </p:spTree>
    <p:extLst>
      <p:ext uri="{BB962C8B-B14F-4D97-AF65-F5344CB8AC3E}">
        <p14:creationId xmlns:p14="http://schemas.microsoft.com/office/powerpoint/2010/main" val="3958588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B1A1-0DEC-6A82-7852-7AC16BEECE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20E3E3-0D0A-20E2-1410-1229AF31BBF9}"/>
              </a:ext>
            </a:extLst>
          </p:cNvPr>
          <p:cNvSpPr txBox="1"/>
          <p:nvPr/>
        </p:nvSpPr>
        <p:spPr>
          <a:xfrm>
            <a:off x="0" y="104100"/>
            <a:ext cx="9594376" cy="290079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41. Explain the following variables in Java:</a:t>
            </a:r>
          </a:p>
          <a:p>
            <a:pPr algn="just">
              <a:lnSpc>
                <a:spcPts val="2100"/>
              </a:lnSpc>
              <a:spcBef>
                <a:spcPts val="1650"/>
              </a:spcBef>
              <a:buNone/>
            </a:pPr>
            <a:r>
              <a:rPr lang="en-US" b="0" i="0" dirty="0">
                <a:solidFill>
                  <a:srgbClr val="3A3A3A"/>
                </a:solidFill>
                <a:effectLst/>
                <a:latin typeface="Roboto" panose="02000000000000000000" pitchFamily="2" charset="0"/>
              </a:rPr>
              <a:t>a. Instance Variables</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b. Local Variables</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c. Class Variables</a:t>
            </a:r>
          </a:p>
          <a:p>
            <a:pPr algn="just">
              <a:lnSpc>
                <a:spcPts val="2100"/>
              </a:lnSpc>
              <a:spcBef>
                <a:spcPts val="750"/>
              </a:spcBef>
              <a:buNone/>
            </a:pPr>
            <a:r>
              <a:rPr lang="en-US" b="0" i="0" dirty="0">
                <a:solidFill>
                  <a:srgbClr val="3A3A3A"/>
                </a:solidFill>
                <a:effectLst/>
                <a:latin typeface="Roboto" panose="02000000000000000000" pitchFamily="2" charset="0"/>
              </a:rPr>
              <a:t>Instance variables are declared inside the class but outside the methods. So basically these are accessible by all the methods of that class. The default value for numeric types is 0, for </a:t>
            </a:r>
            <a:r>
              <a:rPr lang="en-US" b="0" i="0" dirty="0" err="1">
                <a:solidFill>
                  <a:srgbClr val="3A3A3A"/>
                </a:solidFill>
                <a:effectLst/>
                <a:latin typeface="Roboto" panose="02000000000000000000" pitchFamily="2" charset="0"/>
              </a:rPr>
              <a:t>boolean</a:t>
            </a:r>
            <a:r>
              <a:rPr lang="en-US" b="0" i="0" dirty="0">
                <a:solidFill>
                  <a:srgbClr val="3A3A3A"/>
                </a:solidFill>
                <a:effectLst/>
                <a:latin typeface="Roboto" panose="02000000000000000000" pitchFamily="2" charset="0"/>
              </a:rPr>
              <a:t> false and null for object references.</a:t>
            </a:r>
          </a:p>
          <a:p>
            <a:pPr algn="just">
              <a:lnSpc>
                <a:spcPts val="2100"/>
              </a:lnSpc>
              <a:spcBef>
                <a:spcPts val="750"/>
              </a:spcBef>
              <a:buNone/>
            </a:pPr>
            <a:r>
              <a:rPr lang="en-US" b="0" i="0" dirty="0">
                <a:solidFill>
                  <a:srgbClr val="3A3A3A"/>
                </a:solidFill>
                <a:effectLst/>
                <a:latin typeface="Roboto" panose="02000000000000000000" pitchFamily="2" charset="0"/>
              </a:rPr>
              <a:t>Example:</a:t>
            </a:r>
          </a:p>
        </p:txBody>
      </p:sp>
      <p:sp>
        <p:nvSpPr>
          <p:cNvPr id="5" name="TextBox 4">
            <a:extLst>
              <a:ext uri="{FF2B5EF4-FFF2-40B4-BE49-F238E27FC236}">
                <a16:creationId xmlns:a16="http://schemas.microsoft.com/office/drawing/2014/main" id="{31A00230-8D14-EF4D-5E03-9F2E2A25C96B}"/>
              </a:ext>
            </a:extLst>
          </p:cNvPr>
          <p:cNvSpPr txBox="1"/>
          <p:nvPr/>
        </p:nvSpPr>
        <p:spPr>
          <a:xfrm>
            <a:off x="1344305" y="2804954"/>
            <a:ext cx="4981432" cy="8679299"/>
          </a:xfrm>
          <a:prstGeom prst="rect">
            <a:avLst/>
          </a:prstGeom>
          <a:noFill/>
        </p:spPr>
        <p:txBody>
          <a:bodyPr wrap="square">
            <a:spAutoFit/>
          </a:bodyPr>
          <a:lstStyle/>
          <a:p>
            <a:r>
              <a:rPr lang="en-US" dirty="0"/>
              <a:t>class Sample {</a:t>
            </a:r>
          </a:p>
          <a:p>
            <a:r>
              <a:rPr lang="en-US" dirty="0"/>
              <a:t>    // Instance Variables</a:t>
            </a:r>
          </a:p>
          <a:p>
            <a:r>
              <a:rPr lang="en-US" dirty="0"/>
              <a:t>    public String s1;</a:t>
            </a:r>
          </a:p>
          <a:p>
            <a:r>
              <a:rPr lang="en-US" dirty="0"/>
              <a:t>    public int m1;</a:t>
            </a:r>
          </a:p>
          <a:p>
            <a:endParaRPr lang="en-US" dirty="0"/>
          </a:p>
          <a:p>
            <a:r>
              <a:rPr lang="en-US" dirty="0"/>
              <a:t>    // main method</a:t>
            </a:r>
          </a:p>
          <a:p>
            <a:r>
              <a:rPr lang="en-US" dirty="0"/>
              <a:t>    public static void main(String[] </a:t>
            </a:r>
            <a:r>
              <a:rPr lang="en-US" dirty="0" err="1"/>
              <a:t>args</a:t>
            </a:r>
            <a:r>
              <a:rPr lang="en-US" dirty="0"/>
              <a:t>) {</a:t>
            </a:r>
          </a:p>
          <a:p>
            <a:r>
              <a:rPr lang="en-US" dirty="0"/>
              <a:t>        // Creating an instance of the Sample class</a:t>
            </a:r>
          </a:p>
          <a:p>
            <a:r>
              <a:rPr lang="en-US" dirty="0"/>
              <a:t>        Sample obj = new Sample();</a:t>
            </a:r>
          </a:p>
          <a:p>
            <a:endParaRPr lang="en-US" dirty="0"/>
          </a:p>
          <a:p>
            <a:r>
              <a:rPr lang="en-US" dirty="0"/>
              <a:t>        // Initializing instance variables</a:t>
            </a:r>
          </a:p>
          <a:p>
            <a:r>
              <a:rPr lang="en-US" dirty="0"/>
              <a:t>        obj.s1 = "</a:t>
            </a:r>
            <a:r>
              <a:rPr lang="en-US" dirty="0" err="1"/>
              <a:t>Intellipaat</a:t>
            </a:r>
            <a:r>
              <a:rPr lang="en-US" dirty="0"/>
              <a:t>";</a:t>
            </a:r>
          </a:p>
          <a:p>
            <a:r>
              <a:rPr lang="en-US" dirty="0"/>
              <a:t>        obj.m1 = 100;</a:t>
            </a:r>
          </a:p>
          <a:p>
            <a:endParaRPr lang="en-US" dirty="0"/>
          </a:p>
          <a:p>
            <a:r>
              <a:rPr lang="en-US" dirty="0"/>
              <a:t>        // Displaying the values of instance variables</a:t>
            </a:r>
          </a:p>
          <a:p>
            <a:r>
              <a:rPr lang="en-US" dirty="0"/>
              <a:t>        </a:t>
            </a:r>
            <a:r>
              <a:rPr lang="en-US" dirty="0" err="1"/>
              <a:t>System.out.println</a:t>
            </a:r>
            <a:r>
              <a:rPr lang="en-US" dirty="0"/>
              <a:t>("The value of s1 is: " + obj.s1);</a:t>
            </a:r>
          </a:p>
          <a:p>
            <a:r>
              <a:rPr lang="en-US" dirty="0"/>
              <a:t>        </a:t>
            </a:r>
            <a:r>
              <a:rPr lang="en-US" dirty="0" err="1"/>
              <a:t>System.out.println</a:t>
            </a:r>
            <a:r>
              <a:rPr lang="en-US" dirty="0"/>
              <a:t>("The value of m1 is: " + obj.m1);</a:t>
            </a:r>
          </a:p>
          <a:p>
            <a:endParaRPr lang="en-US" dirty="0"/>
          </a:p>
          <a:p>
            <a:r>
              <a:rPr lang="en-US" dirty="0"/>
              <a:t>        // Modifying instance variables</a:t>
            </a:r>
          </a:p>
          <a:p>
            <a:r>
              <a:rPr lang="en-US" dirty="0"/>
              <a:t>        obj.s1 = "Updated </a:t>
            </a:r>
            <a:r>
              <a:rPr lang="en-US" dirty="0" err="1"/>
              <a:t>Intellipaat</a:t>
            </a:r>
            <a:r>
              <a:rPr lang="en-US" dirty="0"/>
              <a:t>";</a:t>
            </a:r>
          </a:p>
          <a:p>
            <a:r>
              <a:rPr lang="en-US" dirty="0"/>
              <a:t>        obj.m1 = 200;</a:t>
            </a:r>
          </a:p>
          <a:p>
            <a:endParaRPr lang="en-US" dirty="0"/>
          </a:p>
          <a:p>
            <a:r>
              <a:rPr lang="en-US" dirty="0"/>
              <a:t>        // Displaying updated values</a:t>
            </a:r>
          </a:p>
          <a:p>
            <a:r>
              <a:rPr lang="en-US" dirty="0"/>
              <a:t>        </a:t>
            </a:r>
            <a:r>
              <a:rPr lang="en-US" dirty="0" err="1"/>
              <a:t>System.out.println</a:t>
            </a:r>
            <a:r>
              <a:rPr lang="en-US" dirty="0"/>
              <a:t>("The updated value of s1 is: " + obj.s1);</a:t>
            </a:r>
          </a:p>
          <a:p>
            <a:r>
              <a:rPr lang="en-US" dirty="0"/>
              <a:t>        </a:t>
            </a:r>
            <a:r>
              <a:rPr lang="en-US" dirty="0" err="1"/>
              <a:t>System.out.println</a:t>
            </a:r>
            <a:r>
              <a:rPr lang="en-US" dirty="0"/>
              <a:t>("The updated value of m1 is: " + obj.m1);</a:t>
            </a:r>
          </a:p>
          <a:p>
            <a:r>
              <a:rPr lang="en-US" dirty="0"/>
              <a:t>    }</a:t>
            </a:r>
          </a:p>
          <a:p>
            <a:r>
              <a:rPr lang="en-US" dirty="0"/>
              <a:t>}</a:t>
            </a:r>
          </a:p>
        </p:txBody>
      </p:sp>
    </p:spTree>
    <p:extLst>
      <p:ext uri="{BB962C8B-B14F-4D97-AF65-F5344CB8AC3E}">
        <p14:creationId xmlns:p14="http://schemas.microsoft.com/office/powerpoint/2010/main" val="3133931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61950-3DA7-C568-07AB-C3FB6F741B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D18AC1-6F3D-9C92-E720-FF4CF627E8ED}"/>
              </a:ext>
            </a:extLst>
          </p:cNvPr>
          <p:cNvSpPr txBox="1"/>
          <p:nvPr/>
        </p:nvSpPr>
        <p:spPr>
          <a:xfrm>
            <a:off x="0" y="109557"/>
            <a:ext cx="4954136" cy="1541448"/>
          </a:xfrm>
          <a:prstGeom prst="rect">
            <a:avLst/>
          </a:prstGeom>
          <a:noFill/>
        </p:spPr>
        <p:txBody>
          <a:bodyPr wrap="square">
            <a:spAutoFit/>
          </a:bodyPr>
          <a:lstStyle/>
          <a:p>
            <a:pPr algn="just">
              <a:lnSpc>
                <a:spcPts val="2100"/>
              </a:lnSpc>
              <a:spcBef>
                <a:spcPts val="750"/>
              </a:spcBef>
              <a:buNone/>
            </a:pPr>
            <a:r>
              <a:rPr lang="en-US" b="0" i="0" dirty="0">
                <a:solidFill>
                  <a:srgbClr val="3A3A3A"/>
                </a:solidFill>
                <a:effectLst/>
                <a:latin typeface="Roboto" panose="02000000000000000000" pitchFamily="2" charset="0"/>
              </a:rPr>
              <a:t>Local variables’ scope is limited to the function, constructor, or block of code, so no other function can access these variables. These variables don’t have any default value.</a:t>
            </a:r>
          </a:p>
          <a:p>
            <a:pPr algn="just">
              <a:lnSpc>
                <a:spcPts val="2100"/>
              </a:lnSpc>
              <a:spcBef>
                <a:spcPts val="750"/>
              </a:spcBef>
              <a:buNone/>
            </a:pPr>
            <a:r>
              <a:rPr lang="en-US" b="0" i="0" dirty="0">
                <a:solidFill>
                  <a:srgbClr val="3A3A3A"/>
                </a:solidFill>
                <a:effectLst/>
                <a:latin typeface="Roboto" panose="02000000000000000000" pitchFamily="2" charset="0"/>
              </a:rPr>
              <a:t>Example:</a:t>
            </a:r>
          </a:p>
        </p:txBody>
      </p:sp>
      <p:sp>
        <p:nvSpPr>
          <p:cNvPr id="5" name="TextBox 4">
            <a:extLst>
              <a:ext uri="{FF2B5EF4-FFF2-40B4-BE49-F238E27FC236}">
                <a16:creationId xmlns:a16="http://schemas.microsoft.com/office/drawing/2014/main" id="{177C3CB0-DCAE-FCE6-4F1F-4152F7FB84D8}"/>
              </a:ext>
            </a:extLst>
          </p:cNvPr>
          <p:cNvSpPr txBox="1"/>
          <p:nvPr/>
        </p:nvSpPr>
        <p:spPr>
          <a:xfrm>
            <a:off x="129654" y="1801590"/>
            <a:ext cx="4981432" cy="5909310"/>
          </a:xfrm>
          <a:prstGeom prst="rect">
            <a:avLst/>
          </a:prstGeom>
          <a:noFill/>
        </p:spPr>
        <p:txBody>
          <a:bodyPr wrap="square">
            <a:spAutoFit/>
          </a:bodyPr>
          <a:lstStyle/>
          <a:p>
            <a:r>
              <a:rPr lang="en-US" dirty="0"/>
              <a:t>class Sample {</a:t>
            </a:r>
          </a:p>
          <a:p>
            <a:r>
              <a:rPr lang="en-US" dirty="0"/>
              <a:t>    // main method</a:t>
            </a:r>
          </a:p>
          <a:p>
            <a:r>
              <a:rPr lang="en-US" dirty="0"/>
              <a:t>    public static void main(String[] </a:t>
            </a:r>
            <a:r>
              <a:rPr lang="en-US" dirty="0" err="1"/>
              <a:t>args</a:t>
            </a:r>
            <a:r>
              <a:rPr lang="en-US" dirty="0"/>
              <a:t>) {</a:t>
            </a:r>
          </a:p>
          <a:p>
            <a:r>
              <a:rPr lang="en-US" dirty="0"/>
              <a:t>        // local variable</a:t>
            </a:r>
          </a:p>
          <a:p>
            <a:r>
              <a:rPr lang="en-US" dirty="0"/>
              <a:t>        int m1 = 50;</a:t>
            </a:r>
          </a:p>
          <a:p>
            <a:endParaRPr lang="en-US" dirty="0"/>
          </a:p>
          <a:p>
            <a:r>
              <a:rPr lang="en-US" dirty="0"/>
              <a:t>        // Displaying the value of the local variable</a:t>
            </a:r>
          </a:p>
          <a:p>
            <a:r>
              <a:rPr lang="en-US" dirty="0"/>
              <a:t>        </a:t>
            </a:r>
            <a:r>
              <a:rPr lang="en-US" dirty="0" err="1"/>
              <a:t>System.out.println</a:t>
            </a:r>
            <a:r>
              <a:rPr lang="en-US" dirty="0"/>
              <a:t>("The value of m1 is: " + m1);</a:t>
            </a:r>
          </a:p>
          <a:p>
            <a:endParaRPr lang="en-US" dirty="0"/>
          </a:p>
          <a:p>
            <a:r>
              <a:rPr lang="en-US" dirty="0"/>
              <a:t>        // Perform some operations on m1</a:t>
            </a:r>
          </a:p>
          <a:p>
            <a:r>
              <a:rPr lang="en-US" dirty="0"/>
              <a:t>        m1 = m1 + 25; // Add 25 to m1</a:t>
            </a:r>
          </a:p>
          <a:p>
            <a:r>
              <a:rPr lang="en-US" dirty="0"/>
              <a:t>        </a:t>
            </a:r>
            <a:r>
              <a:rPr lang="en-US" dirty="0" err="1"/>
              <a:t>System.out.println</a:t>
            </a:r>
            <a:r>
              <a:rPr lang="en-US" dirty="0"/>
              <a:t>("The updated value of m1 is: " + m1);</a:t>
            </a:r>
          </a:p>
          <a:p>
            <a:endParaRPr lang="en-US" dirty="0"/>
          </a:p>
          <a:p>
            <a:r>
              <a:rPr lang="en-US" dirty="0"/>
              <a:t>        // Further operation</a:t>
            </a:r>
          </a:p>
          <a:p>
            <a:r>
              <a:rPr lang="en-US" dirty="0"/>
              <a:t>        m1 = m1 * 2; // Multiply m1 by 2</a:t>
            </a:r>
          </a:p>
          <a:p>
            <a:r>
              <a:rPr lang="en-US" dirty="0"/>
              <a:t>        </a:t>
            </a:r>
            <a:r>
              <a:rPr lang="en-US" dirty="0" err="1"/>
              <a:t>System.out.println</a:t>
            </a:r>
            <a:r>
              <a:rPr lang="en-US" dirty="0"/>
              <a:t>("The value of m1 after multiplying by 2 is: " + m1);</a:t>
            </a:r>
          </a:p>
          <a:p>
            <a:r>
              <a:rPr lang="en-US" dirty="0"/>
              <a:t>    }</a:t>
            </a:r>
          </a:p>
          <a:p>
            <a:r>
              <a:rPr lang="en-US" dirty="0"/>
              <a:t>}</a:t>
            </a:r>
          </a:p>
        </p:txBody>
      </p:sp>
      <p:sp>
        <p:nvSpPr>
          <p:cNvPr id="7" name="TextBox 6">
            <a:extLst>
              <a:ext uri="{FF2B5EF4-FFF2-40B4-BE49-F238E27FC236}">
                <a16:creationId xmlns:a16="http://schemas.microsoft.com/office/drawing/2014/main" id="{B4AC32B0-386D-63E3-9227-796628BF8126}"/>
              </a:ext>
            </a:extLst>
          </p:cNvPr>
          <p:cNvSpPr txBox="1"/>
          <p:nvPr/>
        </p:nvSpPr>
        <p:spPr>
          <a:xfrm>
            <a:off x="4953000" y="0"/>
            <a:ext cx="4981432" cy="2080057"/>
          </a:xfrm>
          <a:prstGeom prst="rect">
            <a:avLst/>
          </a:prstGeom>
          <a:noFill/>
        </p:spPr>
        <p:txBody>
          <a:bodyPr wrap="square">
            <a:spAutoFit/>
          </a:bodyPr>
          <a:lstStyle/>
          <a:p>
            <a:pPr algn="just">
              <a:lnSpc>
                <a:spcPts val="2100"/>
              </a:lnSpc>
              <a:spcBef>
                <a:spcPts val="1650"/>
              </a:spcBef>
              <a:buNone/>
            </a:pPr>
            <a:r>
              <a:rPr lang="en-US" b="0" i="0" dirty="0">
                <a:solidFill>
                  <a:srgbClr val="3A3A3A"/>
                </a:solidFill>
                <a:effectLst/>
                <a:latin typeface="Roboto" panose="02000000000000000000" pitchFamily="2" charset="0"/>
              </a:rPr>
              <a:t>Class variables are also known as static variables in Java, defined in a class using static keywords. These variables are stored in static memory and can be called in a program using the class name. The default values are the same as the instance variables.</a:t>
            </a:r>
          </a:p>
          <a:p>
            <a:pPr algn="just">
              <a:lnSpc>
                <a:spcPts val="2100"/>
              </a:lnSpc>
              <a:spcBef>
                <a:spcPts val="750"/>
              </a:spcBef>
              <a:buNone/>
            </a:pPr>
            <a:r>
              <a:rPr lang="en-US" b="0" i="0" dirty="0">
                <a:solidFill>
                  <a:srgbClr val="3A3A3A"/>
                </a:solidFill>
                <a:effectLst/>
                <a:latin typeface="Roboto" panose="02000000000000000000" pitchFamily="2" charset="0"/>
              </a:rPr>
              <a:t>Example:</a:t>
            </a:r>
          </a:p>
        </p:txBody>
      </p:sp>
      <p:sp>
        <p:nvSpPr>
          <p:cNvPr id="9" name="TextBox 8">
            <a:extLst>
              <a:ext uri="{FF2B5EF4-FFF2-40B4-BE49-F238E27FC236}">
                <a16:creationId xmlns:a16="http://schemas.microsoft.com/office/drawing/2014/main" id="{D903AF72-039D-2404-3060-80EF434F1FC1}"/>
              </a:ext>
            </a:extLst>
          </p:cNvPr>
          <p:cNvSpPr txBox="1"/>
          <p:nvPr/>
        </p:nvSpPr>
        <p:spPr>
          <a:xfrm>
            <a:off x="4932528" y="2230642"/>
            <a:ext cx="5022376" cy="3970318"/>
          </a:xfrm>
          <a:prstGeom prst="rect">
            <a:avLst/>
          </a:prstGeom>
          <a:noFill/>
        </p:spPr>
        <p:txBody>
          <a:bodyPr wrap="square">
            <a:spAutoFit/>
          </a:bodyPr>
          <a:lstStyle/>
          <a:p>
            <a:r>
              <a:rPr lang="en-US" dirty="0"/>
              <a:t>class Sample {</a:t>
            </a:r>
          </a:p>
          <a:p>
            <a:r>
              <a:rPr lang="en-US" dirty="0"/>
              <a:t>    // Static or class variable</a:t>
            </a:r>
          </a:p>
          <a:p>
            <a:r>
              <a:rPr lang="en-US" dirty="0"/>
              <a:t>    public static String s1 = "</a:t>
            </a:r>
            <a:r>
              <a:rPr lang="en-US" dirty="0" err="1"/>
              <a:t>Intellipaat</a:t>
            </a:r>
            <a:r>
              <a:rPr lang="en-US" dirty="0"/>
              <a:t>";</a:t>
            </a:r>
          </a:p>
          <a:p>
            <a:endParaRPr lang="en-US" dirty="0"/>
          </a:p>
          <a:p>
            <a:r>
              <a:rPr lang="en-US" dirty="0"/>
              <a:t>    public static void main(String[] </a:t>
            </a:r>
            <a:r>
              <a:rPr lang="en-US" dirty="0" err="1"/>
              <a:t>args</a:t>
            </a:r>
            <a:r>
              <a:rPr lang="en-US" dirty="0"/>
              <a:t>) {</a:t>
            </a:r>
          </a:p>
          <a:p>
            <a:r>
              <a:rPr lang="en-US" dirty="0"/>
              <a:t>        // Accessing and printing the static variable</a:t>
            </a:r>
          </a:p>
          <a:p>
            <a:r>
              <a:rPr lang="en-US" dirty="0"/>
              <a:t>        </a:t>
            </a:r>
            <a:r>
              <a:rPr lang="en-US" dirty="0" err="1"/>
              <a:t>System.out.println</a:t>
            </a:r>
            <a:r>
              <a:rPr lang="en-US" dirty="0"/>
              <a:t>("The value of s1 is: " + s1);</a:t>
            </a:r>
          </a:p>
          <a:p>
            <a:endParaRPr lang="en-US" dirty="0"/>
          </a:p>
          <a:p>
            <a:r>
              <a:rPr lang="en-US" dirty="0"/>
              <a:t>        // Modifying the static variable</a:t>
            </a:r>
          </a:p>
          <a:p>
            <a:r>
              <a:rPr lang="en-US" dirty="0"/>
              <a:t>        s1 = "Updated </a:t>
            </a:r>
            <a:r>
              <a:rPr lang="en-US" dirty="0" err="1"/>
              <a:t>Intellipaat</a:t>
            </a:r>
            <a:r>
              <a:rPr lang="en-US" dirty="0"/>
              <a:t>";</a:t>
            </a:r>
          </a:p>
          <a:p>
            <a:r>
              <a:rPr lang="en-US" dirty="0"/>
              <a:t>        </a:t>
            </a:r>
            <a:r>
              <a:rPr lang="en-US" dirty="0" err="1"/>
              <a:t>System.out.println</a:t>
            </a:r>
            <a:r>
              <a:rPr lang="en-US" dirty="0"/>
              <a:t>("The updated value of s1 is: " + s1);</a:t>
            </a:r>
          </a:p>
          <a:p>
            <a:r>
              <a:rPr lang="en-US" dirty="0"/>
              <a:t>    }</a:t>
            </a:r>
          </a:p>
          <a:p>
            <a:r>
              <a:rPr lang="en-US" dirty="0"/>
              <a:t>}</a:t>
            </a:r>
          </a:p>
        </p:txBody>
      </p:sp>
      <p:sp>
        <p:nvSpPr>
          <p:cNvPr id="11" name="TextBox 10">
            <a:extLst>
              <a:ext uri="{FF2B5EF4-FFF2-40B4-BE49-F238E27FC236}">
                <a16:creationId xmlns:a16="http://schemas.microsoft.com/office/drawing/2014/main" id="{1976B6D0-D263-EE9F-D2A8-217EA0CC6096}"/>
              </a:ext>
            </a:extLst>
          </p:cNvPr>
          <p:cNvSpPr txBox="1"/>
          <p:nvPr/>
        </p:nvSpPr>
        <p:spPr>
          <a:xfrm>
            <a:off x="5390865" y="5752849"/>
            <a:ext cx="5022376" cy="1754326"/>
          </a:xfrm>
          <a:prstGeom prst="rect">
            <a:avLst/>
          </a:prstGeom>
          <a:noFill/>
        </p:spPr>
        <p:txBody>
          <a:bodyPr wrap="square">
            <a:spAutoFit/>
          </a:bodyPr>
          <a:lstStyle/>
          <a:p>
            <a:r>
              <a:rPr lang="en-US" b="0" i="0" dirty="0">
                <a:solidFill>
                  <a:srgbClr val="3A3A3A"/>
                </a:solidFill>
                <a:effectLst/>
                <a:latin typeface="Roboto" panose="02000000000000000000" pitchFamily="2" charset="0"/>
              </a:rPr>
              <a:t>The main difference between Instance variables and Class Variables is that the instance variables belong to only a specified class in which they are declared. While the class variables belong to classes and subclasses.</a:t>
            </a:r>
            <a:endParaRPr lang="en-US" dirty="0"/>
          </a:p>
        </p:txBody>
      </p:sp>
    </p:spTree>
    <p:extLst>
      <p:ext uri="{BB962C8B-B14F-4D97-AF65-F5344CB8AC3E}">
        <p14:creationId xmlns:p14="http://schemas.microsoft.com/office/powerpoint/2010/main" val="2848079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8FA2-6EE9-149C-BAA5-4FFE22C58C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99248C-181A-3B7B-5AE3-D143200A24D2}"/>
              </a:ext>
            </a:extLst>
          </p:cNvPr>
          <p:cNvSpPr txBox="1"/>
          <p:nvPr/>
        </p:nvSpPr>
        <p:spPr>
          <a:xfrm>
            <a:off x="266131" y="237638"/>
            <a:ext cx="9478369" cy="215700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42. Is Java a pure object-oriented programming language?</a:t>
            </a:r>
          </a:p>
          <a:p>
            <a:pPr algn="just">
              <a:lnSpc>
                <a:spcPts val="2100"/>
              </a:lnSpc>
              <a:spcBef>
                <a:spcPts val="1650"/>
              </a:spcBef>
              <a:buNone/>
            </a:pPr>
            <a:r>
              <a:rPr lang="en-US" b="0" i="0" dirty="0">
                <a:solidFill>
                  <a:srgbClr val="3A3A3A"/>
                </a:solidFill>
                <a:effectLst/>
                <a:latin typeface="Roboto" panose="02000000000000000000" pitchFamily="2" charset="0"/>
              </a:rPr>
              <a:t>No, Java is not a pure object-oriented programming language because it uses primitive data types like char, </a:t>
            </a:r>
            <a:r>
              <a:rPr lang="en-US" b="0" i="0" dirty="0" err="1">
                <a:solidFill>
                  <a:srgbClr val="3A3A3A"/>
                </a:solidFill>
                <a:effectLst/>
                <a:latin typeface="Roboto" panose="02000000000000000000" pitchFamily="2" charset="0"/>
              </a:rPr>
              <a:t>boolean</a:t>
            </a:r>
            <a:r>
              <a:rPr lang="en-US" b="0" i="0" dirty="0">
                <a:solidFill>
                  <a:srgbClr val="3A3A3A"/>
                </a:solidFill>
                <a:effectLst/>
                <a:latin typeface="Roboto" panose="02000000000000000000" pitchFamily="2" charset="0"/>
              </a:rPr>
              <a:t>, int, short, long, double etc. and also supports the concepts of static methods and variables, which can be directly accessed with class names. A pure object oriented programming language treats everything as an object, however java uses both Object oriented programming and procedural programming language features.</a:t>
            </a:r>
          </a:p>
        </p:txBody>
      </p:sp>
      <p:sp>
        <p:nvSpPr>
          <p:cNvPr id="5" name="TextBox 4">
            <a:extLst>
              <a:ext uri="{FF2B5EF4-FFF2-40B4-BE49-F238E27FC236}">
                <a16:creationId xmlns:a16="http://schemas.microsoft.com/office/drawing/2014/main" id="{E9344394-C69D-756D-76DB-26BD960A4993}"/>
              </a:ext>
            </a:extLst>
          </p:cNvPr>
          <p:cNvSpPr txBox="1"/>
          <p:nvPr/>
        </p:nvSpPr>
        <p:spPr>
          <a:xfrm>
            <a:off x="266131" y="2627447"/>
            <a:ext cx="9369188" cy="63094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43. What are the differences between </a:t>
            </a:r>
            <a:r>
              <a:rPr lang="en-US" b="0" i="0" dirty="0" err="1">
                <a:solidFill>
                  <a:srgbClr val="272C37"/>
                </a:solidFill>
                <a:effectLst/>
                <a:latin typeface="Roboto" panose="02000000000000000000" pitchFamily="2" charset="0"/>
              </a:rPr>
              <a:t>StringBuffer</a:t>
            </a:r>
            <a:r>
              <a:rPr lang="en-US" b="0" i="0" dirty="0">
                <a:solidFill>
                  <a:srgbClr val="272C37"/>
                </a:solidFill>
                <a:effectLst/>
                <a:latin typeface="Roboto" panose="02000000000000000000" pitchFamily="2" charset="0"/>
              </a:rPr>
              <a:t> and StringBuilder in Java programming?</a:t>
            </a:r>
          </a:p>
        </p:txBody>
      </p:sp>
      <p:graphicFrame>
        <p:nvGraphicFramePr>
          <p:cNvPr id="6" name="Table 5">
            <a:extLst>
              <a:ext uri="{FF2B5EF4-FFF2-40B4-BE49-F238E27FC236}">
                <a16:creationId xmlns:a16="http://schemas.microsoft.com/office/drawing/2014/main" id="{FDEDB100-0475-D22C-FA67-CAD36E13C519}"/>
              </a:ext>
            </a:extLst>
          </p:cNvPr>
          <p:cNvGraphicFramePr>
            <a:graphicFrameLocks noGrp="1"/>
          </p:cNvGraphicFramePr>
          <p:nvPr/>
        </p:nvGraphicFramePr>
        <p:xfrm>
          <a:off x="681038" y="3269774"/>
          <a:ext cx="8543924" cy="1463040"/>
        </p:xfrm>
        <a:graphic>
          <a:graphicData uri="http://schemas.openxmlformats.org/drawingml/2006/table">
            <a:tbl>
              <a:tblPr/>
              <a:tblGrid>
                <a:gridCol w="4271962">
                  <a:extLst>
                    <a:ext uri="{9D8B030D-6E8A-4147-A177-3AD203B41FA5}">
                      <a16:colId xmlns:a16="http://schemas.microsoft.com/office/drawing/2014/main" val="258259869"/>
                    </a:ext>
                  </a:extLst>
                </a:gridCol>
                <a:gridCol w="4271962">
                  <a:extLst>
                    <a:ext uri="{9D8B030D-6E8A-4147-A177-3AD203B41FA5}">
                      <a16:colId xmlns:a16="http://schemas.microsoft.com/office/drawing/2014/main" val="2503829115"/>
                    </a:ext>
                  </a:extLst>
                </a:gridCol>
              </a:tblGrid>
              <a:tr h="365760">
                <a:tc>
                  <a:txBody>
                    <a:bodyPr/>
                    <a:lstStyle/>
                    <a:p>
                      <a:pPr algn="ctr" fontAlgn="t">
                        <a:buNone/>
                      </a:pPr>
                      <a:r>
                        <a:rPr lang="en-US" sz="1800" b="0">
                          <a:solidFill>
                            <a:srgbClr val="FFFFFF"/>
                          </a:solidFill>
                          <a:effectLst/>
                        </a:rPr>
                        <a:t>StringBuffer</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800" b="0">
                          <a:solidFill>
                            <a:srgbClr val="FFFFFF"/>
                          </a:solidFill>
                          <a:effectLst/>
                        </a:rPr>
                        <a:t>StringBuilder</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1940471703"/>
                  </a:ext>
                </a:extLst>
              </a:tr>
              <a:tr h="365760">
                <a:tc>
                  <a:txBody>
                    <a:bodyPr/>
                    <a:lstStyle/>
                    <a:p>
                      <a:pPr fontAlgn="t">
                        <a:buNone/>
                      </a:pPr>
                      <a:r>
                        <a:rPr lang="en-US" sz="1800">
                          <a:effectLst/>
                        </a:rPr>
                        <a:t>StringBuffer methods are synchronized.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b="0" u="none" strike="noStrike">
                          <a:solidFill>
                            <a:srgbClr val="0F5A9E"/>
                          </a:solidFill>
                          <a:effectLst/>
                          <a:hlinkClick r:id="rId2"/>
                        </a:rPr>
                        <a:t>StringBuilder</a:t>
                      </a:r>
                      <a:r>
                        <a:rPr lang="en-US" sz="1800">
                          <a:effectLst/>
                        </a:rPr>
                        <a:t> is non-synchronized.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110215446"/>
                  </a:ext>
                </a:extLst>
              </a:tr>
              <a:tr h="365760">
                <a:tc>
                  <a:txBody>
                    <a:bodyPr/>
                    <a:lstStyle/>
                    <a:p>
                      <a:pPr fontAlgn="t">
                        <a:buNone/>
                      </a:pPr>
                      <a:r>
                        <a:rPr lang="en-US" sz="1800">
                          <a:effectLst/>
                        </a:rPr>
                        <a:t>StringBuffer is thread-safe.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StringBuilder is not thread-safe.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840687581"/>
                  </a:ext>
                </a:extLst>
              </a:tr>
              <a:tr h="365760">
                <a:tc>
                  <a:txBody>
                    <a:bodyPr/>
                    <a:lstStyle/>
                    <a:p>
                      <a:pPr fontAlgn="t">
                        <a:buNone/>
                      </a:pPr>
                      <a:r>
                        <a:rPr lang="en-US" sz="1800">
                          <a:effectLst/>
                        </a:rPr>
                        <a:t>The performance is very slow.</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dirty="0">
                          <a:effectLst/>
                        </a:rPr>
                        <a:t>The performance is very fast.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171534119"/>
                  </a:ext>
                </a:extLst>
              </a:tr>
            </a:tbl>
          </a:graphicData>
        </a:graphic>
      </p:graphicFrame>
    </p:spTree>
    <p:extLst>
      <p:ext uri="{BB962C8B-B14F-4D97-AF65-F5344CB8AC3E}">
        <p14:creationId xmlns:p14="http://schemas.microsoft.com/office/powerpoint/2010/main" val="2366702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7DF-8BB5-DE2D-7CE6-B2DAADF3E5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88A793-A036-9C29-FD2A-0E1B86DF75D5}"/>
              </a:ext>
            </a:extLst>
          </p:cNvPr>
          <p:cNvSpPr txBox="1"/>
          <p:nvPr/>
        </p:nvSpPr>
        <p:spPr>
          <a:xfrm>
            <a:off x="204716" y="155376"/>
            <a:ext cx="6571396" cy="36163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44. List the differences between an </a:t>
            </a:r>
            <a:r>
              <a:rPr lang="en-US" b="0" i="0" dirty="0" err="1">
                <a:solidFill>
                  <a:srgbClr val="272C37"/>
                </a:solidFill>
                <a:effectLst/>
                <a:latin typeface="Roboto" panose="02000000000000000000" pitchFamily="2" charset="0"/>
              </a:rPr>
              <a:t>ArrayList</a:t>
            </a:r>
            <a:r>
              <a:rPr lang="en-US" b="0" i="0" dirty="0">
                <a:solidFill>
                  <a:srgbClr val="272C37"/>
                </a:solidFill>
                <a:effectLst/>
                <a:latin typeface="Roboto" panose="02000000000000000000" pitchFamily="2" charset="0"/>
              </a:rPr>
              <a:t> and a Vector.</a:t>
            </a:r>
          </a:p>
        </p:txBody>
      </p:sp>
      <p:graphicFrame>
        <p:nvGraphicFramePr>
          <p:cNvPr id="4" name="Table 3">
            <a:extLst>
              <a:ext uri="{FF2B5EF4-FFF2-40B4-BE49-F238E27FC236}">
                <a16:creationId xmlns:a16="http://schemas.microsoft.com/office/drawing/2014/main" id="{0FCE2DDE-8121-F3FF-EFC3-829BD8B09E12}"/>
              </a:ext>
            </a:extLst>
          </p:cNvPr>
          <p:cNvGraphicFramePr>
            <a:graphicFrameLocks noGrp="1"/>
          </p:cNvGraphicFramePr>
          <p:nvPr>
            <p:extLst>
              <p:ext uri="{D42A27DB-BD31-4B8C-83A1-F6EECF244321}">
                <p14:modId xmlns:p14="http://schemas.microsoft.com/office/powerpoint/2010/main" val="2431776105"/>
              </p:ext>
            </p:extLst>
          </p:nvPr>
        </p:nvGraphicFramePr>
        <p:xfrm>
          <a:off x="857759" y="860538"/>
          <a:ext cx="7972119" cy="4398120"/>
        </p:xfrm>
        <a:graphic>
          <a:graphicData uri="http://schemas.openxmlformats.org/drawingml/2006/table">
            <a:tbl>
              <a:tblPr/>
              <a:tblGrid>
                <a:gridCol w="2657373">
                  <a:extLst>
                    <a:ext uri="{9D8B030D-6E8A-4147-A177-3AD203B41FA5}">
                      <a16:colId xmlns:a16="http://schemas.microsoft.com/office/drawing/2014/main" val="641263869"/>
                    </a:ext>
                  </a:extLst>
                </a:gridCol>
                <a:gridCol w="2657373">
                  <a:extLst>
                    <a:ext uri="{9D8B030D-6E8A-4147-A177-3AD203B41FA5}">
                      <a16:colId xmlns:a16="http://schemas.microsoft.com/office/drawing/2014/main" val="2269139765"/>
                    </a:ext>
                  </a:extLst>
                </a:gridCol>
                <a:gridCol w="2657373">
                  <a:extLst>
                    <a:ext uri="{9D8B030D-6E8A-4147-A177-3AD203B41FA5}">
                      <a16:colId xmlns:a16="http://schemas.microsoft.com/office/drawing/2014/main" val="2277441443"/>
                    </a:ext>
                  </a:extLst>
                </a:gridCol>
              </a:tblGrid>
              <a:tr h="341281">
                <a:tc>
                  <a:txBody>
                    <a:bodyPr/>
                    <a:lstStyle/>
                    <a:p>
                      <a:pPr algn="ctr" fontAlgn="t">
                        <a:buNone/>
                      </a:pPr>
                      <a:r>
                        <a:rPr lang="en-US" sz="1700" b="0">
                          <a:solidFill>
                            <a:srgbClr val="FFFFFF"/>
                          </a:solidFill>
                          <a:effectLst/>
                        </a:rPr>
                        <a:t>Feature</a:t>
                      </a:r>
                      <a:endParaRPr lang="en-US" sz="1700">
                        <a:solidFill>
                          <a:srgbClr val="FFFFFF"/>
                        </a:solidFill>
                        <a:effectLst/>
                      </a:endParaRP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700" b="0">
                          <a:solidFill>
                            <a:srgbClr val="FFFFFF"/>
                          </a:solidFill>
                          <a:effectLst/>
                        </a:rPr>
                        <a:t>ArrayList</a:t>
                      </a:r>
                      <a:endParaRPr lang="en-US" sz="1700">
                        <a:solidFill>
                          <a:srgbClr val="FFFFFF"/>
                        </a:solidFill>
                        <a:effectLst/>
                      </a:endParaRP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700" b="0">
                          <a:solidFill>
                            <a:srgbClr val="FFFFFF"/>
                          </a:solidFill>
                          <a:effectLst/>
                        </a:rPr>
                        <a:t>Vector</a:t>
                      </a:r>
                      <a:endParaRPr lang="en-US" sz="1700">
                        <a:solidFill>
                          <a:srgbClr val="FFFFFF"/>
                        </a:solidFill>
                        <a:effectLst/>
                      </a:endParaRP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289959491"/>
                  </a:ext>
                </a:extLst>
              </a:tr>
              <a:tr h="597242">
                <a:tc>
                  <a:txBody>
                    <a:bodyPr/>
                    <a:lstStyle/>
                    <a:p>
                      <a:pPr fontAlgn="t">
                        <a:buNone/>
                      </a:pPr>
                      <a:r>
                        <a:rPr lang="en-US" sz="1700">
                          <a:effectLst/>
                        </a:rPr>
                        <a:t>Synchronization</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An ArrayList is not synchronized.</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A </a:t>
                      </a:r>
                      <a:r>
                        <a:rPr lang="en-US" sz="1700" b="0" u="none" strike="noStrike">
                          <a:solidFill>
                            <a:srgbClr val="0F5A9E"/>
                          </a:solidFill>
                          <a:effectLst/>
                          <a:hlinkClick r:id="rId2"/>
                        </a:rPr>
                        <a:t>vector</a:t>
                      </a:r>
                      <a:r>
                        <a:rPr lang="en-US" sz="1700">
                          <a:effectLst/>
                        </a:rPr>
                        <a:t> is synchronized.</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684810590"/>
                  </a:ext>
                </a:extLst>
              </a:tr>
              <a:tr h="597242">
                <a:tc>
                  <a:txBody>
                    <a:bodyPr/>
                    <a:lstStyle/>
                    <a:p>
                      <a:pPr fontAlgn="t">
                        <a:buNone/>
                      </a:pPr>
                      <a:r>
                        <a:rPr lang="en-US" sz="1700">
                          <a:effectLst/>
                        </a:rPr>
                        <a:t>Performance</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An ArrayList is fast.</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A vector is slow as it is thread-safe.</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581582448"/>
                  </a:ext>
                </a:extLst>
              </a:tr>
              <a:tr h="1109165">
                <a:tc>
                  <a:txBody>
                    <a:bodyPr/>
                    <a:lstStyle/>
                    <a:p>
                      <a:pPr fontAlgn="t">
                        <a:buNone/>
                      </a:pPr>
                      <a:r>
                        <a:rPr lang="en-US" sz="1700">
                          <a:effectLst/>
                        </a:rPr>
                        <a:t>Growth Policy</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If an element is inserted into an ArrayList, it increases its array size by 50 percent.</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A vector defaults to doubling the size of its array.</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014659214"/>
                  </a:ext>
                </a:extLst>
              </a:tr>
              <a:tr h="597242">
                <a:tc>
                  <a:txBody>
                    <a:bodyPr/>
                    <a:lstStyle/>
                    <a:p>
                      <a:pPr fontAlgn="t">
                        <a:buNone/>
                      </a:pPr>
                      <a:r>
                        <a:rPr lang="en-US" sz="1700">
                          <a:effectLst/>
                        </a:rPr>
                        <a:t>Capacity Increment</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An ArrayList does not define the increment size.</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A vector defines the increment size.</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905515223"/>
                  </a:ext>
                </a:extLst>
              </a:tr>
              <a:tr h="1109165">
                <a:tc>
                  <a:txBody>
                    <a:bodyPr/>
                    <a:lstStyle/>
                    <a:p>
                      <a:pPr fontAlgn="t">
                        <a:buNone/>
                      </a:pPr>
                      <a:r>
                        <a:rPr lang="en-US" sz="1700">
                          <a:effectLst/>
                        </a:rPr>
                        <a:t>Traversal Mechanism</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An ArrayList uses an Iterator for traversing.</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dirty="0">
                          <a:effectLst/>
                        </a:rPr>
                        <a:t>Except for the </a:t>
                      </a:r>
                      <a:r>
                        <a:rPr lang="en-US" sz="1700" dirty="0" err="1">
                          <a:effectLst/>
                        </a:rPr>
                        <a:t>hashtable</a:t>
                      </a:r>
                      <a:r>
                        <a:rPr lang="en-US" sz="1700" dirty="0">
                          <a:effectLst/>
                        </a:rPr>
                        <a:t>, a vector is the only other class using Enumeration and Iterator.</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605569980"/>
                  </a:ext>
                </a:extLst>
              </a:tr>
            </a:tbl>
          </a:graphicData>
        </a:graphic>
      </p:graphicFrame>
    </p:spTree>
    <p:extLst>
      <p:ext uri="{BB962C8B-B14F-4D97-AF65-F5344CB8AC3E}">
        <p14:creationId xmlns:p14="http://schemas.microsoft.com/office/powerpoint/2010/main" val="2440559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4DFC-0410-FAEF-2FD3-2EFE4E34CF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01AC21-EC81-0C03-3A6F-1E44695FCF1F}"/>
              </a:ext>
            </a:extLst>
          </p:cNvPr>
          <p:cNvSpPr txBox="1"/>
          <p:nvPr/>
        </p:nvSpPr>
        <p:spPr>
          <a:xfrm>
            <a:off x="116006" y="0"/>
            <a:ext cx="4954136" cy="36163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45. Explain Iterator vs Enumeration.</a:t>
            </a:r>
          </a:p>
        </p:txBody>
      </p:sp>
      <p:graphicFrame>
        <p:nvGraphicFramePr>
          <p:cNvPr id="4" name="Table 3">
            <a:extLst>
              <a:ext uri="{FF2B5EF4-FFF2-40B4-BE49-F238E27FC236}">
                <a16:creationId xmlns:a16="http://schemas.microsoft.com/office/drawing/2014/main" id="{EC47BFFA-5B4D-4BCA-1F40-DDD1C492C6BF}"/>
              </a:ext>
            </a:extLst>
          </p:cNvPr>
          <p:cNvGraphicFramePr>
            <a:graphicFrameLocks noGrp="1"/>
          </p:cNvGraphicFramePr>
          <p:nvPr/>
        </p:nvGraphicFramePr>
        <p:xfrm>
          <a:off x="681038" y="2169001"/>
          <a:ext cx="8543924" cy="3664585"/>
        </p:xfrm>
        <a:graphic>
          <a:graphicData uri="http://schemas.openxmlformats.org/drawingml/2006/table">
            <a:tbl>
              <a:tblPr/>
              <a:tblGrid>
                <a:gridCol w="4271962">
                  <a:extLst>
                    <a:ext uri="{9D8B030D-6E8A-4147-A177-3AD203B41FA5}">
                      <a16:colId xmlns:a16="http://schemas.microsoft.com/office/drawing/2014/main" val="996416561"/>
                    </a:ext>
                  </a:extLst>
                </a:gridCol>
                <a:gridCol w="4271962">
                  <a:extLst>
                    <a:ext uri="{9D8B030D-6E8A-4147-A177-3AD203B41FA5}">
                      <a16:colId xmlns:a16="http://schemas.microsoft.com/office/drawing/2014/main" val="397300579"/>
                    </a:ext>
                  </a:extLst>
                </a:gridCol>
              </a:tblGrid>
              <a:tr h="365760">
                <a:tc>
                  <a:txBody>
                    <a:bodyPr/>
                    <a:lstStyle/>
                    <a:p>
                      <a:pPr algn="ctr" fontAlgn="t">
                        <a:buNone/>
                      </a:pPr>
                      <a:r>
                        <a:rPr lang="en-US" sz="1800" b="0">
                          <a:solidFill>
                            <a:srgbClr val="FFFFFF"/>
                          </a:solidFill>
                          <a:effectLst/>
                        </a:rPr>
                        <a:t>Iterator</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800" b="0">
                          <a:solidFill>
                            <a:srgbClr val="FFFFFF"/>
                          </a:solidFill>
                          <a:effectLst/>
                        </a:rPr>
                        <a:t>Enumeration</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1963340820"/>
                  </a:ext>
                </a:extLst>
              </a:tr>
              <a:tr h="914400">
                <a:tc>
                  <a:txBody>
                    <a:bodyPr/>
                    <a:lstStyle/>
                    <a:p>
                      <a:pPr fontAlgn="t">
                        <a:buNone/>
                      </a:pPr>
                      <a:r>
                        <a:rPr lang="en-US" sz="1800">
                          <a:effectLst/>
                        </a:rPr>
                        <a:t>Iterator is an interface found in the java.util package.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b="0" u="none" strike="noStrike">
                          <a:solidFill>
                            <a:srgbClr val="0F5A9E"/>
                          </a:solidFill>
                          <a:effectLst/>
                          <a:hlinkClick r:id="rId2"/>
                        </a:rPr>
                        <a:t>Enumeration</a:t>
                      </a:r>
                      <a:r>
                        <a:rPr lang="en-US" sz="1800">
                          <a:effectLst/>
                        </a:rPr>
                        <a:t> is a special data type that allows you to define a fixed set of constants.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124058087"/>
                  </a:ext>
                </a:extLst>
              </a:tr>
              <a:tr h="1744345">
                <a:tc>
                  <a:txBody>
                    <a:bodyPr/>
                    <a:lstStyle/>
                    <a:p>
                      <a:pPr algn="just" fontAlgn="t">
                        <a:lnSpc>
                          <a:spcPts val="2100"/>
                        </a:lnSpc>
                        <a:spcBef>
                          <a:spcPts val="1650"/>
                        </a:spcBef>
                        <a:spcAft>
                          <a:spcPts val="600"/>
                        </a:spcAft>
                        <a:buFont typeface="+mj-lt"/>
                        <a:buAutoNum type="arabicPeriod"/>
                      </a:pPr>
                      <a:r>
                        <a:rPr lang="en-US" sz="1800">
                          <a:effectLst/>
                        </a:rPr>
                        <a:t>Uses three methods to interface:</a:t>
                      </a:r>
                      <a:r>
                        <a:rPr lang="en-US" sz="1800">
                          <a:solidFill>
                            <a:srgbClr val="3A3A3A"/>
                          </a:solidFill>
                          <a:effectLst/>
                        </a:rPr>
                        <a:t>hasNext()</a:t>
                      </a:r>
                    </a:p>
                    <a:p>
                      <a:pPr algn="just" fontAlgn="t">
                        <a:lnSpc>
                          <a:spcPts val="2100"/>
                        </a:lnSpc>
                        <a:spcBef>
                          <a:spcPts val="1650"/>
                        </a:spcBef>
                        <a:spcAft>
                          <a:spcPts val="600"/>
                        </a:spcAft>
                        <a:buFont typeface="+mj-lt"/>
                        <a:buAutoNum type="arabicPeriod"/>
                      </a:pPr>
                      <a:r>
                        <a:rPr lang="en-US" sz="1800">
                          <a:solidFill>
                            <a:srgbClr val="3A3A3A"/>
                          </a:solidFill>
                          <a:effectLst/>
                        </a:rPr>
                        <a:t>next()</a:t>
                      </a:r>
                    </a:p>
                    <a:p>
                      <a:pPr algn="just" fontAlgn="t">
                        <a:lnSpc>
                          <a:spcPts val="2100"/>
                        </a:lnSpc>
                        <a:spcBef>
                          <a:spcPts val="1650"/>
                        </a:spcBef>
                        <a:spcAft>
                          <a:spcPts val="600"/>
                        </a:spcAft>
                        <a:buFont typeface="+mj-lt"/>
                        <a:buAutoNum type="arabicPeriod"/>
                      </a:pPr>
                      <a:r>
                        <a:rPr lang="en-US" sz="1800">
                          <a:solidFill>
                            <a:srgbClr val="3A3A3A"/>
                          </a:solidFill>
                          <a:effectLst/>
                        </a:rPr>
                        <a:t>remove()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algn="just" fontAlgn="t">
                        <a:lnSpc>
                          <a:spcPts val="2100"/>
                        </a:lnSpc>
                        <a:spcBef>
                          <a:spcPts val="1650"/>
                        </a:spcBef>
                        <a:spcAft>
                          <a:spcPts val="600"/>
                        </a:spcAft>
                        <a:buFont typeface="+mj-lt"/>
                        <a:buAutoNum type="arabicPeriod"/>
                      </a:pPr>
                      <a:r>
                        <a:rPr lang="en-US" sz="1800">
                          <a:effectLst/>
                        </a:rPr>
                        <a:t>Uses two methods:</a:t>
                      </a:r>
                      <a:r>
                        <a:rPr lang="en-US" sz="1800">
                          <a:solidFill>
                            <a:srgbClr val="3A3A3A"/>
                          </a:solidFill>
                          <a:effectLst/>
                        </a:rPr>
                        <a:t>hasMoreElements()</a:t>
                      </a:r>
                    </a:p>
                    <a:p>
                      <a:pPr algn="just" fontAlgn="t">
                        <a:lnSpc>
                          <a:spcPts val="2100"/>
                        </a:lnSpc>
                        <a:spcBef>
                          <a:spcPts val="1650"/>
                        </a:spcBef>
                        <a:spcAft>
                          <a:spcPts val="600"/>
                        </a:spcAft>
                        <a:buFont typeface="+mj-lt"/>
                        <a:buAutoNum type="arabicPeriod"/>
                      </a:pPr>
                      <a:r>
                        <a:rPr lang="en-US" sz="1800">
                          <a:solidFill>
                            <a:srgbClr val="3A3A3A"/>
                          </a:solidFill>
                          <a:effectLst/>
                        </a:rPr>
                        <a:t>nextElement()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509941248"/>
                  </a:ext>
                </a:extLst>
              </a:tr>
              <a:tr h="640080">
                <a:tc>
                  <a:txBody>
                    <a:bodyPr/>
                    <a:lstStyle/>
                    <a:p>
                      <a:pPr fontAlgn="t">
                        <a:buNone/>
                      </a:pPr>
                      <a:r>
                        <a:rPr lang="en-US" sz="1800">
                          <a:effectLst/>
                        </a:rPr>
                        <a:t>Iterator method names have been improved.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dirty="0">
                          <a:effectLst/>
                        </a:rPr>
                        <a:t>The traversing of elements can only be done once per creation.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635778830"/>
                  </a:ext>
                </a:extLst>
              </a:tr>
            </a:tbl>
          </a:graphicData>
        </a:graphic>
      </p:graphicFrame>
    </p:spTree>
    <p:extLst>
      <p:ext uri="{BB962C8B-B14F-4D97-AF65-F5344CB8AC3E}">
        <p14:creationId xmlns:p14="http://schemas.microsoft.com/office/powerpoint/2010/main" val="470143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D83-FC48-35DC-EE12-F4F024213B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82604B-D5F1-518D-C261-FD93F20C1BCA}"/>
              </a:ext>
            </a:extLst>
          </p:cNvPr>
          <p:cNvSpPr txBox="1"/>
          <p:nvPr/>
        </p:nvSpPr>
        <p:spPr>
          <a:xfrm>
            <a:off x="348018" y="291854"/>
            <a:ext cx="8767762" cy="36163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46. What are the differences between the inner class and the subclass?</a:t>
            </a:r>
          </a:p>
        </p:txBody>
      </p:sp>
      <p:graphicFrame>
        <p:nvGraphicFramePr>
          <p:cNvPr id="4" name="Table 3">
            <a:extLst>
              <a:ext uri="{FF2B5EF4-FFF2-40B4-BE49-F238E27FC236}">
                <a16:creationId xmlns:a16="http://schemas.microsoft.com/office/drawing/2014/main" id="{BFE8D3E3-C93A-8BAC-ADCE-F5F6C2454044}"/>
              </a:ext>
            </a:extLst>
          </p:cNvPr>
          <p:cNvGraphicFramePr>
            <a:graphicFrameLocks noGrp="1"/>
          </p:cNvGraphicFramePr>
          <p:nvPr>
            <p:extLst>
              <p:ext uri="{D42A27DB-BD31-4B8C-83A1-F6EECF244321}">
                <p14:modId xmlns:p14="http://schemas.microsoft.com/office/powerpoint/2010/main" val="3806859571"/>
              </p:ext>
            </p:extLst>
          </p:nvPr>
        </p:nvGraphicFramePr>
        <p:xfrm>
          <a:off x="571856" y="1565851"/>
          <a:ext cx="8543924" cy="2468880"/>
        </p:xfrm>
        <a:graphic>
          <a:graphicData uri="http://schemas.openxmlformats.org/drawingml/2006/table">
            <a:tbl>
              <a:tblPr/>
              <a:tblGrid>
                <a:gridCol w="4271962">
                  <a:extLst>
                    <a:ext uri="{9D8B030D-6E8A-4147-A177-3AD203B41FA5}">
                      <a16:colId xmlns:a16="http://schemas.microsoft.com/office/drawing/2014/main" val="141892242"/>
                    </a:ext>
                  </a:extLst>
                </a:gridCol>
                <a:gridCol w="4271962">
                  <a:extLst>
                    <a:ext uri="{9D8B030D-6E8A-4147-A177-3AD203B41FA5}">
                      <a16:colId xmlns:a16="http://schemas.microsoft.com/office/drawing/2014/main" val="2796274134"/>
                    </a:ext>
                  </a:extLst>
                </a:gridCol>
              </a:tblGrid>
              <a:tr h="365760">
                <a:tc>
                  <a:txBody>
                    <a:bodyPr/>
                    <a:lstStyle/>
                    <a:p>
                      <a:pPr algn="ctr" fontAlgn="t">
                        <a:buNone/>
                      </a:pPr>
                      <a:r>
                        <a:rPr lang="en-US" sz="1800" b="0">
                          <a:solidFill>
                            <a:srgbClr val="FFFFFF"/>
                          </a:solidFill>
                          <a:effectLst/>
                        </a:rPr>
                        <a:t>Inner Class</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800" b="0">
                          <a:solidFill>
                            <a:srgbClr val="FFFFFF"/>
                          </a:solidFill>
                          <a:effectLst/>
                        </a:rPr>
                        <a:t>Subclass</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355369288"/>
                  </a:ext>
                </a:extLst>
              </a:tr>
              <a:tr h="914400">
                <a:tc>
                  <a:txBody>
                    <a:bodyPr/>
                    <a:lstStyle/>
                    <a:p>
                      <a:pPr fontAlgn="t">
                        <a:buNone/>
                      </a:pPr>
                      <a:r>
                        <a:rPr lang="en-US" sz="1800">
                          <a:effectLst/>
                        </a:rPr>
                        <a:t>An </a:t>
                      </a:r>
                      <a:r>
                        <a:rPr lang="en-US" sz="1800" u="none" strike="noStrike">
                          <a:solidFill>
                            <a:srgbClr val="0F5A9E"/>
                          </a:solidFill>
                          <a:effectLst/>
                          <a:hlinkClick r:id="rId2"/>
                        </a:rPr>
                        <a:t>inner class</a:t>
                      </a:r>
                      <a:r>
                        <a:rPr lang="en-US" sz="1800">
                          <a:effectLst/>
                        </a:rPr>
                        <a:t> is a class that is defined within another class.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A subclass is a class that </a:t>
                      </a:r>
                      <a:r>
                        <a:rPr lang="en-US" sz="1800" b="0" u="none" strike="noStrike">
                          <a:solidFill>
                            <a:srgbClr val="0F5A9E"/>
                          </a:solidFill>
                          <a:effectLst/>
                          <a:hlinkClick r:id="rId3"/>
                        </a:rPr>
                        <a:t>inherits</a:t>
                      </a:r>
                      <a:r>
                        <a:rPr lang="en-US" sz="1800">
                          <a:effectLst/>
                        </a:rPr>
                        <a:t> properties from another class called the superclass.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95661208"/>
                  </a:ext>
                </a:extLst>
              </a:tr>
              <a:tr h="1188720">
                <a:tc>
                  <a:txBody>
                    <a:bodyPr/>
                    <a:lstStyle/>
                    <a:p>
                      <a:pPr fontAlgn="t">
                        <a:buNone/>
                      </a:pPr>
                      <a:r>
                        <a:rPr lang="en-US" sz="1800">
                          <a:effectLst/>
                        </a:rPr>
                        <a:t>It provides access rights for the class, which is nesting it, which can access all variables and methods defined in the outer class.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dirty="0">
                          <a:effectLst/>
                        </a:rPr>
                        <a:t>It provides access to all public and protected methods and fields of its superclass.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98691986"/>
                  </a:ext>
                </a:extLst>
              </a:tr>
            </a:tbl>
          </a:graphicData>
        </a:graphic>
      </p:graphicFrame>
    </p:spTree>
    <p:extLst>
      <p:ext uri="{BB962C8B-B14F-4D97-AF65-F5344CB8AC3E}">
        <p14:creationId xmlns:p14="http://schemas.microsoft.com/office/powerpoint/2010/main" val="4103662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D96C-C62F-EB3B-7E8E-E40D8A48B1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DBAA48-CB44-8D77-AA8F-7CA90F712B76}"/>
              </a:ext>
            </a:extLst>
          </p:cNvPr>
          <p:cNvSpPr txBox="1"/>
          <p:nvPr/>
        </p:nvSpPr>
        <p:spPr>
          <a:xfrm>
            <a:off x="375313" y="113162"/>
            <a:ext cx="9260006" cy="318292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47. How can we restrict a class from being inherited?</a:t>
            </a:r>
          </a:p>
          <a:p>
            <a:pPr algn="just">
              <a:lnSpc>
                <a:spcPts val="2100"/>
              </a:lnSpc>
              <a:spcBef>
                <a:spcPts val="1650"/>
              </a:spcBef>
              <a:buNone/>
            </a:pPr>
            <a:r>
              <a:rPr lang="en-US" b="0" i="0" dirty="0">
                <a:solidFill>
                  <a:srgbClr val="3A3A3A"/>
                </a:solidFill>
                <a:effectLst/>
                <a:latin typeface="Roboto" panose="02000000000000000000" pitchFamily="2" charset="0"/>
              </a:rPr>
              <a:t>There are various ways to restrict inheritance for a class in Java. They are listed below:</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By using the final keyword</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By using private </a:t>
            </a:r>
            <a:r>
              <a:rPr lang="en-US" b="0" i="0" u="none" strike="noStrike" dirty="0">
                <a:solidFill>
                  <a:srgbClr val="0F5A9E"/>
                </a:solidFill>
                <a:effectLst/>
                <a:latin typeface="Roboto" panose="02000000000000000000" pitchFamily="2" charset="0"/>
                <a:hlinkClick r:id="rId2"/>
              </a:rPr>
              <a:t>constructors</a:t>
            </a:r>
            <a:endParaRPr lang="en-US" b="0" i="0" dirty="0">
              <a:solidFill>
                <a:srgbClr val="3A3A3A"/>
              </a:solidFill>
              <a:effectLst/>
              <a:latin typeface="Roboto" panose="02000000000000000000" pitchFamily="2" charset="0"/>
            </a:endParaRP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By using sealed class</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By using final keyword: if you mark a class as final, it cannot be extended, below is the code for the same.</a:t>
            </a:r>
          </a:p>
        </p:txBody>
      </p:sp>
      <p:sp>
        <p:nvSpPr>
          <p:cNvPr id="5" name="TextBox 4">
            <a:extLst>
              <a:ext uri="{FF2B5EF4-FFF2-40B4-BE49-F238E27FC236}">
                <a16:creationId xmlns:a16="http://schemas.microsoft.com/office/drawing/2014/main" id="{D66EAE64-4895-E3D9-4598-116A88E5BDB4}"/>
              </a:ext>
            </a:extLst>
          </p:cNvPr>
          <p:cNvSpPr txBox="1"/>
          <p:nvPr/>
        </p:nvSpPr>
        <p:spPr>
          <a:xfrm>
            <a:off x="1344305" y="3788098"/>
            <a:ext cx="4954136" cy="6740307"/>
          </a:xfrm>
          <a:prstGeom prst="rect">
            <a:avLst/>
          </a:prstGeom>
          <a:noFill/>
        </p:spPr>
        <p:txBody>
          <a:bodyPr wrap="square">
            <a:spAutoFit/>
          </a:bodyPr>
          <a:lstStyle/>
          <a:p>
            <a:r>
              <a:rPr lang="en-US" dirty="0"/>
              <a:t>public class </a:t>
            </a:r>
            <a:r>
              <a:rPr lang="en-US" dirty="0" err="1"/>
              <a:t>ExampleFinal</a:t>
            </a:r>
            <a:r>
              <a:rPr lang="en-US" dirty="0"/>
              <a:t> {</a:t>
            </a:r>
          </a:p>
          <a:p>
            <a:r>
              <a:rPr lang="en-US" dirty="0"/>
              <a:t>    public static void main(String[] </a:t>
            </a:r>
            <a:r>
              <a:rPr lang="en-US" dirty="0" err="1"/>
              <a:t>args</a:t>
            </a:r>
            <a:r>
              <a:rPr lang="en-US" dirty="0"/>
              <a:t>) {</a:t>
            </a:r>
          </a:p>
          <a:p>
            <a:r>
              <a:rPr lang="en-US" dirty="0"/>
              <a:t>        Derived d = new Derived(); // This line won't compile</a:t>
            </a:r>
          </a:p>
          <a:p>
            <a:r>
              <a:rPr lang="en-US" dirty="0"/>
              <a:t>        </a:t>
            </a:r>
            <a:r>
              <a:rPr lang="en-US" dirty="0" err="1"/>
              <a:t>d.display</a:t>
            </a:r>
            <a:r>
              <a:rPr lang="en-US" dirty="0"/>
              <a:t>();</a:t>
            </a:r>
          </a:p>
          <a:p>
            <a:r>
              <a:rPr lang="en-US" dirty="0"/>
              <a:t>        </a:t>
            </a:r>
            <a:r>
              <a:rPr lang="en-US" dirty="0" err="1"/>
              <a:t>d.show</a:t>
            </a:r>
            <a:r>
              <a:rPr lang="en-US" dirty="0"/>
              <a:t>();</a:t>
            </a:r>
          </a:p>
          <a:p>
            <a:r>
              <a:rPr lang="en-US" dirty="0"/>
              <a:t>    }</a:t>
            </a:r>
          </a:p>
          <a:p>
            <a:r>
              <a:rPr lang="en-US" dirty="0"/>
              <a:t>}</a:t>
            </a:r>
          </a:p>
          <a:p>
            <a:endParaRPr lang="en-US" dirty="0"/>
          </a:p>
          <a:p>
            <a:r>
              <a:rPr lang="en-US" dirty="0"/>
              <a:t>// This will cause a compile-time error because Base is final and cannot be extended</a:t>
            </a:r>
          </a:p>
          <a:p>
            <a:r>
              <a:rPr lang="en-US" dirty="0"/>
              <a:t>final class Base {</a:t>
            </a:r>
          </a:p>
          <a:p>
            <a:r>
              <a:rPr lang="en-US" dirty="0"/>
              <a:t>    void display() {</a:t>
            </a:r>
          </a:p>
          <a:p>
            <a:r>
              <a:rPr lang="en-US" dirty="0"/>
              <a:t>        </a:t>
            </a:r>
            <a:r>
              <a:rPr lang="en-US" dirty="0" err="1"/>
              <a:t>System.out.println</a:t>
            </a:r>
            <a:r>
              <a:rPr lang="en-US" dirty="0"/>
              <a:t>("Base class method");</a:t>
            </a:r>
          </a:p>
          <a:p>
            <a:r>
              <a:rPr lang="en-US" dirty="0"/>
              <a:t>    }</a:t>
            </a:r>
          </a:p>
          <a:p>
            <a:r>
              <a:rPr lang="en-US" dirty="0"/>
              <a:t>}</a:t>
            </a:r>
          </a:p>
          <a:p>
            <a:endParaRPr lang="en-US" dirty="0"/>
          </a:p>
          <a:p>
            <a:r>
              <a:rPr lang="en-US" dirty="0"/>
              <a:t>// Compile-time error: Cannot inherit from final 'Base'</a:t>
            </a:r>
          </a:p>
          <a:p>
            <a:r>
              <a:rPr lang="en-US" dirty="0"/>
              <a:t>class Derived extends Base {</a:t>
            </a:r>
          </a:p>
          <a:p>
            <a:r>
              <a:rPr lang="en-US" dirty="0"/>
              <a:t>    void show() {</a:t>
            </a:r>
          </a:p>
          <a:p>
            <a:r>
              <a:rPr lang="en-US" dirty="0"/>
              <a:t>        </a:t>
            </a:r>
            <a:r>
              <a:rPr lang="en-US" dirty="0" err="1"/>
              <a:t>System.out.println</a:t>
            </a:r>
            <a:r>
              <a:rPr lang="en-US" dirty="0"/>
              <a:t>("Derived class method");</a:t>
            </a:r>
          </a:p>
          <a:p>
            <a:r>
              <a:rPr lang="en-US" dirty="0"/>
              <a:t>    }</a:t>
            </a:r>
          </a:p>
          <a:p>
            <a:r>
              <a:rPr lang="en-US" dirty="0"/>
              <a:t>}</a:t>
            </a:r>
          </a:p>
        </p:txBody>
      </p:sp>
      <p:sp>
        <p:nvSpPr>
          <p:cNvPr id="7" name="TextBox 6">
            <a:extLst>
              <a:ext uri="{FF2B5EF4-FFF2-40B4-BE49-F238E27FC236}">
                <a16:creationId xmlns:a16="http://schemas.microsoft.com/office/drawing/2014/main" id="{63723134-CB6F-731C-7E7D-3BE64C5645BC}"/>
              </a:ext>
            </a:extLst>
          </p:cNvPr>
          <p:cNvSpPr txBox="1"/>
          <p:nvPr/>
        </p:nvSpPr>
        <p:spPr>
          <a:xfrm>
            <a:off x="6298441" y="3187933"/>
            <a:ext cx="4954136" cy="1200329"/>
          </a:xfrm>
          <a:prstGeom prst="rect">
            <a:avLst/>
          </a:prstGeom>
          <a:noFill/>
        </p:spPr>
        <p:txBody>
          <a:bodyPr wrap="square">
            <a:spAutoFit/>
          </a:bodyPr>
          <a:lstStyle/>
          <a:p>
            <a:r>
              <a:rPr lang="en-US" b="0" i="0" dirty="0">
                <a:solidFill>
                  <a:srgbClr val="3A3A3A"/>
                </a:solidFill>
                <a:effectLst/>
                <a:latin typeface="Roboto" panose="02000000000000000000" pitchFamily="2" charset="0"/>
              </a:rPr>
              <a:t>Here, you will get an error. Since the ‘Base’ class is ‘final’, and hence it cannot be inherited. Here, if you remove the ‘final’ keyword from the ‘Base’ class, the code will work as intended.</a:t>
            </a:r>
            <a:endParaRPr lang="en-US" dirty="0"/>
          </a:p>
        </p:txBody>
      </p:sp>
    </p:spTree>
    <p:extLst>
      <p:ext uri="{BB962C8B-B14F-4D97-AF65-F5344CB8AC3E}">
        <p14:creationId xmlns:p14="http://schemas.microsoft.com/office/powerpoint/2010/main" val="2393153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A5B-5860-8236-5200-570E159930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065E32C-FBAC-2B7B-286E-922A55E0694D}"/>
              </a:ext>
            </a:extLst>
          </p:cNvPr>
          <p:cNvSpPr txBox="1"/>
          <p:nvPr/>
        </p:nvSpPr>
        <p:spPr>
          <a:xfrm>
            <a:off x="102358" y="136206"/>
            <a:ext cx="4954136" cy="1733808"/>
          </a:xfrm>
          <a:prstGeom prst="rect">
            <a:avLst/>
          </a:prstGeom>
          <a:noFill/>
        </p:spPr>
        <p:txBody>
          <a:bodyPr wrap="square">
            <a:spAutoFit/>
          </a:bodyPr>
          <a:lstStyle/>
          <a:p>
            <a:pPr algn="just">
              <a:lnSpc>
                <a:spcPts val="2100"/>
              </a:lnSpc>
              <a:spcBef>
                <a:spcPts val="750"/>
              </a:spcBef>
              <a:spcAft>
                <a:spcPts val="600"/>
              </a:spcAft>
              <a:buFont typeface="+mj-lt"/>
              <a:buAutoNum type="arabicPeriod" startAt="2"/>
            </a:pPr>
            <a:r>
              <a:rPr lang="en-US" b="0" i="0" dirty="0">
                <a:solidFill>
                  <a:srgbClr val="3A3A3A"/>
                </a:solidFill>
                <a:effectLst/>
                <a:latin typeface="Roboto" panose="02000000000000000000" pitchFamily="2" charset="0"/>
              </a:rPr>
              <a:t>By using private constructors: if we make the constructor private of the class, then it cannot be inherited by another class. This way it cannot be instantiated outside the class.</a:t>
            </a:r>
          </a:p>
          <a:p>
            <a:pPr algn="just">
              <a:lnSpc>
                <a:spcPts val="2100"/>
              </a:lnSpc>
              <a:spcBef>
                <a:spcPts val="1650"/>
              </a:spcBef>
              <a:buNone/>
            </a:pPr>
            <a:r>
              <a:rPr lang="en-US" b="0" i="0" dirty="0">
                <a:solidFill>
                  <a:srgbClr val="3A3A3A"/>
                </a:solidFill>
                <a:effectLst/>
                <a:latin typeface="Roboto" panose="02000000000000000000" pitchFamily="2" charset="0"/>
              </a:rPr>
              <a:t>Example</a:t>
            </a:r>
          </a:p>
        </p:txBody>
      </p:sp>
      <p:sp>
        <p:nvSpPr>
          <p:cNvPr id="5" name="TextBox 4">
            <a:extLst>
              <a:ext uri="{FF2B5EF4-FFF2-40B4-BE49-F238E27FC236}">
                <a16:creationId xmlns:a16="http://schemas.microsoft.com/office/drawing/2014/main" id="{9EFDDB02-C696-8A1D-A089-2FDC869110C3}"/>
              </a:ext>
            </a:extLst>
          </p:cNvPr>
          <p:cNvSpPr txBox="1"/>
          <p:nvPr/>
        </p:nvSpPr>
        <p:spPr>
          <a:xfrm>
            <a:off x="1398896" y="1366482"/>
            <a:ext cx="4954136" cy="5355312"/>
          </a:xfrm>
          <a:prstGeom prst="rect">
            <a:avLst/>
          </a:prstGeom>
          <a:noFill/>
        </p:spPr>
        <p:txBody>
          <a:bodyPr wrap="square">
            <a:spAutoFit/>
          </a:bodyPr>
          <a:lstStyle/>
          <a:p>
            <a:r>
              <a:rPr lang="en-US" dirty="0"/>
              <a:t>class Base {</a:t>
            </a:r>
          </a:p>
          <a:p>
            <a:r>
              <a:rPr lang="en-US" dirty="0"/>
              <a:t>    private Base() {</a:t>
            </a:r>
          </a:p>
          <a:p>
            <a:r>
              <a:rPr lang="en-US" dirty="0"/>
              <a:t>        </a:t>
            </a:r>
            <a:r>
              <a:rPr lang="en-US" dirty="0" err="1"/>
              <a:t>System.out.println</a:t>
            </a:r>
            <a:r>
              <a:rPr lang="en-US" dirty="0"/>
              <a:t>("Base constructor");</a:t>
            </a:r>
          </a:p>
          <a:p>
            <a:r>
              <a:rPr lang="en-US" dirty="0"/>
              <a:t>    }</a:t>
            </a:r>
          </a:p>
          <a:p>
            <a:r>
              <a:rPr lang="en-US" dirty="0"/>
              <a:t>}</a:t>
            </a:r>
          </a:p>
          <a:p>
            <a:endParaRPr lang="en-US" dirty="0"/>
          </a:p>
          <a:p>
            <a:r>
              <a:rPr lang="en-US" dirty="0"/>
              <a:t>// Compile-time error: Base() has private access</a:t>
            </a:r>
          </a:p>
          <a:p>
            <a:r>
              <a:rPr lang="en-US" dirty="0"/>
              <a:t>class Derived extends Base {</a:t>
            </a:r>
          </a:p>
          <a:p>
            <a:r>
              <a:rPr lang="en-US" dirty="0"/>
              <a:t>    Derived() {</a:t>
            </a:r>
          </a:p>
          <a:p>
            <a:r>
              <a:rPr lang="en-US" dirty="0"/>
              <a:t>        </a:t>
            </a:r>
            <a:r>
              <a:rPr lang="en-US" dirty="0" err="1"/>
              <a:t>System.out.println</a:t>
            </a:r>
            <a:r>
              <a:rPr lang="en-US" dirty="0"/>
              <a:t>("Derived constructor");</a:t>
            </a:r>
          </a:p>
          <a:p>
            <a:r>
              <a:rPr lang="en-US" dirty="0"/>
              <a:t>    }</a:t>
            </a:r>
          </a:p>
          <a:p>
            <a:r>
              <a:rPr lang="en-US" dirty="0"/>
              <a:t>}</a:t>
            </a:r>
          </a:p>
          <a:p>
            <a:endParaRPr lang="en-US" dirty="0"/>
          </a:p>
          <a:p>
            <a:r>
              <a:rPr lang="en-US" dirty="0"/>
              <a:t>public class </a:t>
            </a:r>
            <a:r>
              <a:rPr lang="en-US" dirty="0" err="1"/>
              <a:t>ExamplePrivateConstructor</a:t>
            </a:r>
            <a:r>
              <a:rPr lang="en-US" dirty="0"/>
              <a:t> {</a:t>
            </a:r>
          </a:p>
          <a:p>
            <a:r>
              <a:rPr lang="en-US" dirty="0"/>
              <a:t>    public static void main(String[] </a:t>
            </a:r>
            <a:r>
              <a:rPr lang="en-US" dirty="0" err="1"/>
              <a:t>args</a:t>
            </a:r>
            <a:r>
              <a:rPr lang="en-US" dirty="0"/>
              <a:t>) {</a:t>
            </a:r>
          </a:p>
          <a:p>
            <a:r>
              <a:rPr lang="en-US" dirty="0"/>
              <a:t>        Derived d = new Derived(); // This line won't compile</a:t>
            </a:r>
          </a:p>
          <a:p>
            <a:r>
              <a:rPr lang="en-US" dirty="0"/>
              <a:t>    }</a:t>
            </a:r>
          </a:p>
          <a:p>
            <a:r>
              <a:rPr lang="en-US" dirty="0"/>
              <a:t>}</a:t>
            </a:r>
          </a:p>
        </p:txBody>
      </p:sp>
      <p:sp>
        <p:nvSpPr>
          <p:cNvPr id="7" name="TextBox 6">
            <a:extLst>
              <a:ext uri="{FF2B5EF4-FFF2-40B4-BE49-F238E27FC236}">
                <a16:creationId xmlns:a16="http://schemas.microsoft.com/office/drawing/2014/main" id="{FA947D18-1082-9067-706F-2CF5B1E84EDD}"/>
              </a:ext>
            </a:extLst>
          </p:cNvPr>
          <p:cNvSpPr txBox="1"/>
          <p:nvPr/>
        </p:nvSpPr>
        <p:spPr>
          <a:xfrm>
            <a:off x="6353032" y="212320"/>
            <a:ext cx="3295933" cy="2308324"/>
          </a:xfrm>
          <a:prstGeom prst="rect">
            <a:avLst/>
          </a:prstGeom>
          <a:noFill/>
        </p:spPr>
        <p:txBody>
          <a:bodyPr wrap="square">
            <a:spAutoFit/>
          </a:bodyPr>
          <a:lstStyle/>
          <a:p>
            <a:r>
              <a:rPr lang="en-US" b="0" i="0" dirty="0">
                <a:solidFill>
                  <a:srgbClr val="3A3A3A"/>
                </a:solidFill>
                <a:effectLst/>
                <a:latin typeface="Roboto" panose="02000000000000000000" pitchFamily="2" charset="0"/>
              </a:rPr>
              <a:t>Here, you will get an error since the display method in the Base class is private, hence it cannot be instantiated. If we remove the keyword ‘private’ from the method, the code will work as expected.</a:t>
            </a:r>
            <a:endParaRPr lang="en-US" dirty="0"/>
          </a:p>
        </p:txBody>
      </p:sp>
    </p:spTree>
    <p:extLst>
      <p:ext uri="{BB962C8B-B14F-4D97-AF65-F5344CB8AC3E}">
        <p14:creationId xmlns:p14="http://schemas.microsoft.com/office/powerpoint/2010/main" val="2079682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91-80CB-26EA-34F3-73F841B64F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786E6A-D1E7-CFE3-0AFD-025730549732}"/>
              </a:ext>
            </a:extLst>
          </p:cNvPr>
          <p:cNvSpPr txBox="1"/>
          <p:nvPr/>
        </p:nvSpPr>
        <p:spPr>
          <a:xfrm>
            <a:off x="184244" y="172676"/>
            <a:ext cx="9721755" cy="630942"/>
          </a:xfrm>
          <a:prstGeom prst="rect">
            <a:avLst/>
          </a:prstGeom>
          <a:noFill/>
        </p:spPr>
        <p:txBody>
          <a:bodyPr wrap="square">
            <a:spAutoFit/>
          </a:bodyPr>
          <a:lstStyle/>
          <a:p>
            <a:pPr algn="just">
              <a:lnSpc>
                <a:spcPts val="2100"/>
              </a:lnSpc>
              <a:spcBef>
                <a:spcPts val="750"/>
              </a:spcBef>
              <a:spcAft>
                <a:spcPts val="600"/>
              </a:spcAft>
              <a:buFont typeface="+mj-lt"/>
              <a:buAutoNum type="arabicPeriod" startAt="3"/>
            </a:pPr>
            <a:r>
              <a:rPr lang="en-US" b="0" i="0" dirty="0">
                <a:solidFill>
                  <a:srgbClr val="3A3A3A"/>
                </a:solidFill>
                <a:effectLst/>
                <a:latin typeface="Roboto" panose="02000000000000000000" pitchFamily="2" charset="0"/>
              </a:rPr>
              <a:t>By sealing the class: By using the seal keyword, we can restrict which classes can inherit the base class. Let’s understand it using an example:</a:t>
            </a:r>
          </a:p>
        </p:txBody>
      </p:sp>
      <p:sp>
        <p:nvSpPr>
          <p:cNvPr id="5" name="TextBox 4">
            <a:extLst>
              <a:ext uri="{FF2B5EF4-FFF2-40B4-BE49-F238E27FC236}">
                <a16:creationId xmlns:a16="http://schemas.microsoft.com/office/drawing/2014/main" id="{E16DCBCC-FF31-D307-2A7E-2BDE463F253E}"/>
              </a:ext>
            </a:extLst>
          </p:cNvPr>
          <p:cNvSpPr txBox="1"/>
          <p:nvPr/>
        </p:nvSpPr>
        <p:spPr>
          <a:xfrm>
            <a:off x="184244" y="803618"/>
            <a:ext cx="4981432" cy="6740307"/>
          </a:xfrm>
          <a:prstGeom prst="rect">
            <a:avLst/>
          </a:prstGeom>
          <a:noFill/>
        </p:spPr>
        <p:txBody>
          <a:bodyPr wrap="square">
            <a:spAutoFit/>
          </a:bodyPr>
          <a:lstStyle/>
          <a:p>
            <a:r>
              <a:rPr lang="en-US" dirty="0"/>
              <a:t>public class </a:t>
            </a:r>
            <a:r>
              <a:rPr lang="en-US" dirty="0" err="1"/>
              <a:t>ExampleSealed</a:t>
            </a:r>
            <a:r>
              <a:rPr lang="en-US" dirty="0"/>
              <a:t> {</a:t>
            </a:r>
          </a:p>
          <a:p>
            <a:r>
              <a:rPr lang="en-US" dirty="0"/>
              <a:t>    public static void main(String[] </a:t>
            </a:r>
            <a:r>
              <a:rPr lang="en-US" dirty="0" err="1"/>
              <a:t>args</a:t>
            </a:r>
            <a:r>
              <a:rPr lang="en-US" dirty="0"/>
              <a:t>) {</a:t>
            </a:r>
          </a:p>
          <a:p>
            <a:r>
              <a:rPr lang="en-US" dirty="0"/>
              <a:t>        Derived d = new Derived();</a:t>
            </a:r>
          </a:p>
          <a:p>
            <a:r>
              <a:rPr lang="en-US" dirty="0"/>
              <a:t>        </a:t>
            </a:r>
            <a:r>
              <a:rPr lang="en-US" dirty="0" err="1"/>
              <a:t>d.display</a:t>
            </a:r>
            <a:r>
              <a:rPr lang="en-US" dirty="0"/>
              <a:t>(); // Calling the final method from Base</a:t>
            </a:r>
          </a:p>
          <a:p>
            <a:r>
              <a:rPr lang="en-US" dirty="0"/>
              <a:t>        </a:t>
            </a:r>
            <a:r>
              <a:rPr lang="en-US" dirty="0" err="1"/>
              <a:t>d.show</a:t>
            </a:r>
            <a:r>
              <a:rPr lang="en-US" dirty="0"/>
              <a:t>(); // Calling the Derived class method</a:t>
            </a:r>
          </a:p>
          <a:p>
            <a:r>
              <a:rPr lang="en-US" dirty="0"/>
              <a:t>    }</a:t>
            </a:r>
          </a:p>
          <a:p>
            <a:r>
              <a:rPr lang="en-US" dirty="0"/>
              <a:t>}</a:t>
            </a:r>
          </a:p>
          <a:p>
            <a:endParaRPr lang="en-US" dirty="0"/>
          </a:p>
          <a:p>
            <a:r>
              <a:rPr lang="en-US" dirty="0"/>
              <a:t>// Sealed class allows only specified subclasses</a:t>
            </a:r>
          </a:p>
          <a:p>
            <a:r>
              <a:rPr lang="en-US" dirty="0"/>
              <a:t>sealed class Base permits Derived {</a:t>
            </a:r>
          </a:p>
          <a:p>
            <a:r>
              <a:rPr lang="en-US" dirty="0"/>
              <a:t>    final void display() {</a:t>
            </a:r>
          </a:p>
          <a:p>
            <a:r>
              <a:rPr lang="en-US" dirty="0"/>
              <a:t>        </a:t>
            </a:r>
            <a:r>
              <a:rPr lang="en-US" dirty="0" err="1"/>
              <a:t>System.out.println</a:t>
            </a:r>
            <a:r>
              <a:rPr lang="en-US" dirty="0"/>
              <a:t>("Base class method");</a:t>
            </a:r>
          </a:p>
          <a:p>
            <a:r>
              <a:rPr lang="en-US" dirty="0"/>
              <a:t>    }</a:t>
            </a:r>
          </a:p>
          <a:p>
            <a:r>
              <a:rPr lang="en-US" dirty="0"/>
              <a:t>}</a:t>
            </a:r>
          </a:p>
          <a:p>
            <a:endParaRPr lang="en-US" dirty="0"/>
          </a:p>
          <a:p>
            <a:r>
              <a:rPr lang="en-US" dirty="0"/>
              <a:t>// 'non-sealed' means this class can be further extended</a:t>
            </a:r>
          </a:p>
          <a:p>
            <a:r>
              <a:rPr lang="en-US" dirty="0"/>
              <a:t>non-sealed class Derived extends Base {</a:t>
            </a:r>
          </a:p>
          <a:p>
            <a:r>
              <a:rPr lang="en-US" dirty="0"/>
              <a:t>    void show() {</a:t>
            </a:r>
          </a:p>
          <a:p>
            <a:r>
              <a:rPr lang="en-US" dirty="0"/>
              <a:t>        </a:t>
            </a:r>
            <a:r>
              <a:rPr lang="en-US" dirty="0" err="1"/>
              <a:t>System.out.println</a:t>
            </a:r>
            <a:r>
              <a:rPr lang="en-US" dirty="0"/>
              <a:t>("Derived class method");</a:t>
            </a:r>
          </a:p>
          <a:p>
            <a:r>
              <a:rPr lang="en-US" dirty="0"/>
              <a:t>    }</a:t>
            </a:r>
          </a:p>
          <a:p>
            <a:r>
              <a:rPr lang="en-US" dirty="0"/>
              <a:t>}</a:t>
            </a:r>
          </a:p>
          <a:p>
            <a:endParaRPr lang="en-US" dirty="0"/>
          </a:p>
        </p:txBody>
      </p:sp>
      <p:sp>
        <p:nvSpPr>
          <p:cNvPr id="7" name="TextBox 6">
            <a:extLst>
              <a:ext uri="{FF2B5EF4-FFF2-40B4-BE49-F238E27FC236}">
                <a16:creationId xmlns:a16="http://schemas.microsoft.com/office/drawing/2014/main" id="{B742DA82-6B82-2997-16F1-FE57FD735A7F}"/>
              </a:ext>
            </a:extLst>
          </p:cNvPr>
          <p:cNvSpPr txBox="1"/>
          <p:nvPr/>
        </p:nvSpPr>
        <p:spPr>
          <a:xfrm>
            <a:off x="6078940" y="1549358"/>
            <a:ext cx="2913795" cy="2031325"/>
          </a:xfrm>
          <a:prstGeom prst="rect">
            <a:avLst/>
          </a:prstGeom>
          <a:noFill/>
        </p:spPr>
        <p:txBody>
          <a:bodyPr wrap="square">
            <a:spAutoFit/>
          </a:bodyPr>
          <a:lstStyle/>
          <a:p>
            <a:r>
              <a:rPr lang="en-US" b="0" i="0" dirty="0">
                <a:solidFill>
                  <a:srgbClr val="3A3A3A"/>
                </a:solidFill>
                <a:effectLst/>
                <a:latin typeface="Roboto" panose="02000000000000000000" pitchFamily="2" charset="0"/>
              </a:rPr>
              <a:t>A class that wants to inherit properties from a sealed class must be declared with one of the following access specifiers: final, non-sealed, or sealed.</a:t>
            </a:r>
            <a:endParaRPr lang="en-US" dirty="0"/>
          </a:p>
        </p:txBody>
      </p:sp>
    </p:spTree>
    <p:extLst>
      <p:ext uri="{BB962C8B-B14F-4D97-AF65-F5344CB8AC3E}">
        <p14:creationId xmlns:p14="http://schemas.microsoft.com/office/powerpoint/2010/main" val="129193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9448-9945-8A2D-3E98-C1980A160B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9E7F3B9-8058-45EC-0042-4F9E81CE908D}"/>
              </a:ext>
            </a:extLst>
          </p:cNvPr>
          <p:cNvSpPr txBox="1"/>
          <p:nvPr/>
        </p:nvSpPr>
        <p:spPr>
          <a:xfrm>
            <a:off x="0" y="0"/>
            <a:ext cx="9587551" cy="246477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48. Why doesn’t Java support multiple inheritance?</a:t>
            </a:r>
          </a:p>
          <a:p>
            <a:pPr algn="just">
              <a:lnSpc>
                <a:spcPts val="2100"/>
              </a:lnSpc>
              <a:spcBef>
                <a:spcPts val="1650"/>
              </a:spcBef>
              <a:buNone/>
            </a:pPr>
            <a:r>
              <a:rPr lang="en-US" b="0" i="0" dirty="0">
                <a:solidFill>
                  <a:srgbClr val="3A3A3A"/>
                </a:solidFill>
                <a:effectLst/>
                <a:latin typeface="Roboto" panose="02000000000000000000" pitchFamily="2" charset="0"/>
              </a:rPr>
              <a:t>Java doesn’t support multiple inheritance because of two reasons: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Ambiguity</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Simplicity</a:t>
            </a:r>
          </a:p>
          <a:p>
            <a:pPr algn="just">
              <a:lnSpc>
                <a:spcPts val="2100"/>
              </a:lnSpc>
              <a:spcBef>
                <a:spcPts val="1650"/>
              </a:spcBef>
              <a:buNone/>
            </a:pPr>
            <a:r>
              <a:rPr lang="en-US" b="0" i="0" dirty="0">
                <a:solidFill>
                  <a:srgbClr val="3A3A3A"/>
                </a:solidFill>
                <a:effectLst/>
                <a:latin typeface="Roboto" panose="02000000000000000000" pitchFamily="2" charset="0"/>
              </a:rPr>
              <a:t>Example:</a:t>
            </a:r>
          </a:p>
        </p:txBody>
      </p:sp>
      <p:sp>
        <p:nvSpPr>
          <p:cNvPr id="5" name="TextBox 4">
            <a:extLst>
              <a:ext uri="{FF2B5EF4-FFF2-40B4-BE49-F238E27FC236}">
                <a16:creationId xmlns:a16="http://schemas.microsoft.com/office/drawing/2014/main" id="{63E2929F-33DA-A9B6-569B-750BC8F2D8D3}"/>
              </a:ext>
            </a:extLst>
          </p:cNvPr>
          <p:cNvSpPr txBox="1"/>
          <p:nvPr/>
        </p:nvSpPr>
        <p:spPr>
          <a:xfrm>
            <a:off x="170597" y="2464777"/>
            <a:ext cx="4954136" cy="9787295"/>
          </a:xfrm>
          <a:prstGeom prst="rect">
            <a:avLst/>
          </a:prstGeom>
          <a:noFill/>
        </p:spPr>
        <p:txBody>
          <a:bodyPr wrap="square">
            <a:spAutoFit/>
          </a:bodyPr>
          <a:lstStyle/>
          <a:p>
            <a:r>
              <a:rPr lang="en-US" dirty="0"/>
              <a:t>class Main {</a:t>
            </a:r>
          </a:p>
          <a:p>
            <a:r>
              <a:rPr lang="en-US" dirty="0"/>
              <a:t>    public static void main(String[] </a:t>
            </a:r>
            <a:r>
              <a:rPr lang="en-US" dirty="0" err="1"/>
              <a:t>args</a:t>
            </a:r>
            <a:r>
              <a:rPr lang="en-US" dirty="0"/>
              <a:t>) {</a:t>
            </a:r>
          </a:p>
          <a:p>
            <a:r>
              <a:rPr lang="en-US" dirty="0"/>
              <a:t>        C obj = new C(); // Creating object of class C</a:t>
            </a:r>
          </a:p>
          <a:p>
            <a:r>
              <a:rPr lang="en-US" dirty="0"/>
              <a:t>        </a:t>
            </a:r>
            <a:r>
              <a:rPr lang="en-US" dirty="0" err="1"/>
              <a:t>obj.test</a:t>
            </a:r>
            <a:r>
              <a:rPr lang="en-US" dirty="0"/>
              <a:t>(); // Calling overridden test() method</a:t>
            </a:r>
          </a:p>
          <a:p>
            <a:r>
              <a:rPr lang="en-US" dirty="0"/>
              <a:t>    }</a:t>
            </a:r>
          </a:p>
          <a:p>
            <a:r>
              <a:rPr lang="en-US" dirty="0"/>
              <a:t>}</a:t>
            </a:r>
          </a:p>
          <a:p>
            <a:endParaRPr lang="en-US" dirty="0"/>
          </a:p>
          <a:p>
            <a:r>
              <a:rPr lang="en-US" dirty="0"/>
              <a:t>// First interface with default test() method</a:t>
            </a:r>
          </a:p>
          <a:p>
            <a:r>
              <a:rPr lang="en-US" dirty="0"/>
              <a:t>interface Intellipaat1 {</a:t>
            </a:r>
          </a:p>
          <a:p>
            <a:r>
              <a:rPr lang="en-US" dirty="0"/>
              <a:t>    default void test() {</a:t>
            </a:r>
          </a:p>
          <a:p>
            <a:r>
              <a:rPr lang="en-US" dirty="0"/>
              <a:t>        </a:t>
            </a:r>
            <a:r>
              <a:rPr lang="en-US" dirty="0" err="1"/>
              <a:t>System.out.println</a:t>
            </a:r>
            <a:r>
              <a:rPr lang="en-US" dirty="0"/>
              <a:t>("test() method from Intellipaat1");</a:t>
            </a:r>
          </a:p>
          <a:p>
            <a:r>
              <a:rPr lang="en-US" dirty="0"/>
              <a:t>    }</a:t>
            </a:r>
          </a:p>
          <a:p>
            <a:r>
              <a:rPr lang="en-US" dirty="0"/>
              <a:t>}</a:t>
            </a:r>
          </a:p>
          <a:p>
            <a:endParaRPr lang="en-US" dirty="0"/>
          </a:p>
          <a:p>
            <a:r>
              <a:rPr lang="en-US" dirty="0"/>
              <a:t>// Second interface with default test() method</a:t>
            </a:r>
          </a:p>
          <a:p>
            <a:r>
              <a:rPr lang="en-US" dirty="0"/>
              <a:t>interface Intellipaat2 {</a:t>
            </a:r>
          </a:p>
          <a:p>
            <a:r>
              <a:rPr lang="en-US" dirty="0"/>
              <a:t>    default void test() {</a:t>
            </a:r>
          </a:p>
          <a:p>
            <a:r>
              <a:rPr lang="en-US" dirty="0"/>
              <a:t>        </a:t>
            </a:r>
            <a:r>
              <a:rPr lang="en-US" dirty="0" err="1"/>
              <a:t>System.out.println</a:t>
            </a:r>
            <a:r>
              <a:rPr lang="en-US" dirty="0"/>
              <a:t>("test() method from Intellipaat2");</a:t>
            </a:r>
          </a:p>
          <a:p>
            <a:r>
              <a:rPr lang="en-US" dirty="0"/>
              <a:t>    }</a:t>
            </a:r>
          </a:p>
          <a:p>
            <a:r>
              <a:rPr lang="en-US" dirty="0"/>
              <a:t>}</a:t>
            </a:r>
          </a:p>
          <a:p>
            <a:endParaRPr lang="en-US" dirty="0"/>
          </a:p>
          <a:p>
            <a:r>
              <a:rPr lang="en-US" dirty="0"/>
              <a:t>// Implementing multiple interfaces</a:t>
            </a:r>
          </a:p>
          <a:p>
            <a:r>
              <a:rPr lang="en-US" dirty="0"/>
              <a:t>class C implements Intellipaat1, Intellipaat2 {</a:t>
            </a:r>
          </a:p>
          <a:p>
            <a:r>
              <a:rPr lang="en-US" dirty="0"/>
              <a:t>    @Override</a:t>
            </a:r>
          </a:p>
          <a:p>
            <a:r>
              <a:rPr lang="en-US" dirty="0"/>
              <a:t>    public void test() {</a:t>
            </a:r>
          </a:p>
          <a:p>
            <a:r>
              <a:rPr lang="en-US" dirty="0"/>
              <a:t>        Intellipaat1.super.test(); // Call test() from Intellipaat1</a:t>
            </a:r>
          </a:p>
          <a:p>
            <a:r>
              <a:rPr lang="en-US" dirty="0"/>
              <a:t>        Intellipaat2.super.test(); // Call test() from Intellipaat2</a:t>
            </a:r>
          </a:p>
          <a:p>
            <a:r>
              <a:rPr lang="en-US" dirty="0"/>
              <a:t>        </a:t>
            </a:r>
            <a:r>
              <a:rPr lang="en-US" dirty="0" err="1"/>
              <a:t>System.out.println</a:t>
            </a:r>
            <a:r>
              <a:rPr lang="en-US" dirty="0"/>
              <a:t>("test() method from class C");</a:t>
            </a:r>
          </a:p>
          <a:p>
            <a:r>
              <a:rPr lang="en-US" dirty="0"/>
              <a:t>    }</a:t>
            </a:r>
          </a:p>
          <a:p>
            <a:r>
              <a:rPr lang="en-US" dirty="0"/>
              <a:t>}</a:t>
            </a:r>
          </a:p>
        </p:txBody>
      </p:sp>
      <p:sp>
        <p:nvSpPr>
          <p:cNvPr id="7" name="TextBox 6">
            <a:extLst>
              <a:ext uri="{FF2B5EF4-FFF2-40B4-BE49-F238E27FC236}">
                <a16:creationId xmlns:a16="http://schemas.microsoft.com/office/drawing/2014/main" id="{29DD7C23-88FE-AC08-4D2B-78A6F160D825}"/>
              </a:ext>
            </a:extLst>
          </p:cNvPr>
          <p:cNvSpPr txBox="1"/>
          <p:nvPr/>
        </p:nvSpPr>
        <p:spPr>
          <a:xfrm>
            <a:off x="5716140" y="1957481"/>
            <a:ext cx="4019263" cy="3157275"/>
          </a:xfrm>
          <a:prstGeom prst="rect">
            <a:avLst/>
          </a:prstGeom>
          <a:noFill/>
        </p:spPr>
        <p:txBody>
          <a:bodyPr wrap="square">
            <a:spAutoFit/>
          </a:bodyPr>
          <a:lstStyle/>
          <a:p>
            <a:pPr algn="just">
              <a:lnSpc>
                <a:spcPts val="2100"/>
              </a:lnSpc>
              <a:spcBef>
                <a:spcPts val="750"/>
              </a:spcBef>
              <a:buNone/>
            </a:pPr>
            <a:r>
              <a:rPr lang="en-US" b="0" i="0" dirty="0">
                <a:solidFill>
                  <a:srgbClr val="3A3A3A"/>
                </a:solidFill>
                <a:effectLst/>
                <a:latin typeface="Roboto" panose="02000000000000000000" pitchFamily="2" charset="0"/>
              </a:rPr>
              <a:t>Both Intellipaat1 and Intellipaat2 classes have their own test() methods, and class C is inheriting from both. In this case, there is ambiguity because the compiler cannot determine which test() method to inherit.</a:t>
            </a:r>
          </a:p>
          <a:p>
            <a:pPr algn="just">
              <a:lnSpc>
                <a:spcPts val="2100"/>
              </a:lnSpc>
              <a:spcBef>
                <a:spcPts val="750"/>
              </a:spcBef>
              <a:buNone/>
            </a:pPr>
            <a:r>
              <a:rPr lang="en-US" b="0" i="0" dirty="0">
                <a:solidFill>
                  <a:srgbClr val="3A3A3A"/>
                </a:solidFill>
                <a:effectLst/>
                <a:latin typeface="Roboto" panose="02000000000000000000" pitchFamily="2" charset="0"/>
              </a:rPr>
              <a:t>To resolve this, class C must override the test() method and provide its own implementation. This way, the ambiguity is explicitly handled.</a:t>
            </a:r>
          </a:p>
        </p:txBody>
      </p:sp>
    </p:spTree>
    <p:extLst>
      <p:ext uri="{BB962C8B-B14F-4D97-AF65-F5344CB8AC3E}">
        <p14:creationId xmlns:p14="http://schemas.microsoft.com/office/powerpoint/2010/main" val="870780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25CC-42D1-6EEB-DB87-1B280C3ED4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AFF934-5692-35E2-BBC6-4A0BFEF91909}"/>
              </a:ext>
            </a:extLst>
          </p:cNvPr>
          <p:cNvSpPr txBox="1"/>
          <p:nvPr/>
        </p:nvSpPr>
        <p:spPr>
          <a:xfrm>
            <a:off x="0" y="0"/>
            <a:ext cx="9906000" cy="215700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49. Can a constructor be inherited? Is it possible for a subclass to call the parent’s class constructor?</a:t>
            </a:r>
          </a:p>
          <a:p>
            <a:pPr algn="just">
              <a:lnSpc>
                <a:spcPts val="2100"/>
              </a:lnSpc>
              <a:spcBef>
                <a:spcPts val="1650"/>
              </a:spcBef>
              <a:buNone/>
            </a:pPr>
            <a:r>
              <a:rPr lang="en-US" b="0" i="0" dirty="0">
                <a:solidFill>
                  <a:srgbClr val="3A3A3A"/>
                </a:solidFill>
                <a:effectLst/>
                <a:latin typeface="Roboto" panose="02000000000000000000" pitchFamily="2" charset="0"/>
              </a:rPr>
              <a:t>We cannot inherit a constructor in Java, However, a subclass can call the parent’s constructor using the </a:t>
            </a:r>
            <a:r>
              <a:rPr lang="en-US" b="0" i="0" u="none" strike="noStrike" dirty="0">
                <a:solidFill>
                  <a:srgbClr val="0F5A9E"/>
                </a:solidFill>
                <a:effectLst/>
                <a:latin typeface="Roboto" panose="02000000000000000000" pitchFamily="2" charset="0"/>
                <a:hlinkClick r:id="rId2"/>
              </a:rPr>
              <a:t>super keyword</a:t>
            </a:r>
            <a:r>
              <a:rPr lang="en-US" b="0" i="0" dirty="0">
                <a:solidFill>
                  <a:srgbClr val="3A3A3A"/>
                </a:solidFill>
                <a:effectLst/>
                <a:latin typeface="Roboto" panose="02000000000000000000" pitchFamily="2" charset="0"/>
              </a:rPr>
              <a:t>. We do this to initialize inherited fields in the parents class by creating an instance of a subclass. By calling the parent constructor, we ensure that the parent class is initialized correctly.</a:t>
            </a:r>
          </a:p>
        </p:txBody>
      </p:sp>
      <p:sp>
        <p:nvSpPr>
          <p:cNvPr id="5" name="TextBox 4">
            <a:extLst>
              <a:ext uri="{FF2B5EF4-FFF2-40B4-BE49-F238E27FC236}">
                <a16:creationId xmlns:a16="http://schemas.microsoft.com/office/drawing/2014/main" id="{CDE5DB31-EE27-12E6-F09A-8390B32446B7}"/>
              </a:ext>
            </a:extLst>
          </p:cNvPr>
          <p:cNvSpPr txBox="1"/>
          <p:nvPr/>
        </p:nvSpPr>
        <p:spPr>
          <a:xfrm>
            <a:off x="0" y="2379898"/>
            <a:ext cx="9906000" cy="514499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50. Explain a </a:t>
            </a:r>
            <a:r>
              <a:rPr lang="en-US" b="0" i="0" dirty="0" err="1">
                <a:solidFill>
                  <a:srgbClr val="272C37"/>
                </a:solidFill>
                <a:effectLst/>
                <a:latin typeface="Roboto" panose="02000000000000000000" pitchFamily="2" charset="0"/>
              </a:rPr>
              <a:t>ClassLoader</a:t>
            </a:r>
            <a:r>
              <a:rPr lang="en-US" b="0" i="0" dirty="0">
                <a:solidFill>
                  <a:srgbClr val="272C37"/>
                </a:solidFill>
                <a:effectLst/>
                <a:latin typeface="Roboto" panose="02000000000000000000" pitchFamily="2" charset="0"/>
              </a:rPr>
              <a:t> in Java.</a:t>
            </a:r>
          </a:p>
          <a:p>
            <a:pPr algn="just">
              <a:lnSpc>
                <a:spcPts val="2100"/>
              </a:lnSpc>
              <a:spcBef>
                <a:spcPts val="1650"/>
              </a:spcBef>
              <a:buNone/>
            </a:pPr>
            <a:r>
              <a:rPr lang="en-US" b="0" i="0" dirty="0">
                <a:solidFill>
                  <a:srgbClr val="3A3A3A"/>
                </a:solidFill>
                <a:effectLst/>
                <a:latin typeface="Roboto" panose="02000000000000000000" pitchFamily="2" charset="0"/>
              </a:rPr>
              <a:t>It is a part of the Java Runtime Environment which is used to dynamically load the class files into the Java Virtual Machine (JVM). The </a:t>
            </a:r>
            <a:r>
              <a:rPr lang="en-US" b="0" i="0" dirty="0" err="1">
                <a:solidFill>
                  <a:srgbClr val="3A3A3A"/>
                </a:solidFill>
                <a:effectLst/>
                <a:latin typeface="Roboto" panose="02000000000000000000" pitchFamily="2" charset="0"/>
              </a:rPr>
              <a:t>classloader</a:t>
            </a:r>
            <a:r>
              <a:rPr lang="en-US" b="0" i="0" dirty="0">
                <a:solidFill>
                  <a:srgbClr val="3A3A3A"/>
                </a:solidFill>
                <a:effectLst/>
                <a:latin typeface="Roboto" panose="02000000000000000000" pitchFamily="2" charset="0"/>
              </a:rPr>
              <a:t> triggers whenever a Java file is executed.</a:t>
            </a:r>
          </a:p>
          <a:p>
            <a:pPr algn="just">
              <a:lnSpc>
                <a:spcPts val="2100"/>
              </a:lnSpc>
              <a:spcBef>
                <a:spcPts val="750"/>
              </a:spcBef>
              <a:buNone/>
            </a:pPr>
            <a:r>
              <a:rPr lang="en-US" b="0" i="0" dirty="0">
                <a:solidFill>
                  <a:srgbClr val="3A3A3A"/>
                </a:solidFill>
                <a:effectLst/>
                <a:latin typeface="Roboto" panose="02000000000000000000" pitchFamily="2" charset="0"/>
              </a:rPr>
              <a:t>There are three types of </a:t>
            </a:r>
            <a:r>
              <a:rPr lang="en-US" b="0" i="0" dirty="0" err="1">
                <a:solidFill>
                  <a:srgbClr val="3A3A3A"/>
                </a:solidFill>
                <a:effectLst/>
                <a:latin typeface="Roboto" panose="02000000000000000000" pitchFamily="2" charset="0"/>
              </a:rPr>
              <a:t>classloaders</a:t>
            </a:r>
            <a:r>
              <a:rPr lang="en-US" b="0" i="0" dirty="0">
                <a:solidFill>
                  <a:srgbClr val="3A3A3A"/>
                </a:solidFill>
                <a:effectLst/>
                <a:latin typeface="Roboto" panose="02000000000000000000" pitchFamily="2" charset="0"/>
              </a:rPr>
              <a:t> in Java:</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Bootstrap </a:t>
            </a:r>
            <a:r>
              <a:rPr lang="en-US" b="0" i="0" dirty="0" err="1">
                <a:solidFill>
                  <a:srgbClr val="3A3A3A"/>
                </a:solidFill>
                <a:effectLst/>
                <a:latin typeface="Roboto" panose="02000000000000000000" pitchFamily="2" charset="0"/>
              </a:rPr>
              <a:t>Classloader</a:t>
            </a:r>
            <a:r>
              <a:rPr lang="en-US" b="0" i="0" dirty="0">
                <a:solidFill>
                  <a:srgbClr val="3A3A3A"/>
                </a:solidFill>
                <a:effectLst/>
                <a:latin typeface="Roboto" panose="02000000000000000000" pitchFamily="2" charset="0"/>
              </a:rPr>
              <a:t>: The bootstrap loader is the superclass of extension </a:t>
            </a:r>
            <a:r>
              <a:rPr lang="en-US" b="0" i="0" dirty="0" err="1">
                <a:solidFill>
                  <a:srgbClr val="3A3A3A"/>
                </a:solidFill>
                <a:effectLst/>
                <a:latin typeface="Roboto" panose="02000000000000000000" pitchFamily="2" charset="0"/>
              </a:rPr>
              <a:t>classloader</a:t>
            </a:r>
            <a:r>
              <a:rPr lang="en-US" b="0" i="0" dirty="0">
                <a:solidFill>
                  <a:srgbClr val="3A3A3A"/>
                </a:solidFill>
                <a:effectLst/>
                <a:latin typeface="Roboto" panose="02000000000000000000" pitchFamily="2" charset="0"/>
              </a:rPr>
              <a:t>, which loads the standard JDK files from rt.jar and other core classes. The rt.jar file contains all the package classes of java.net, </a:t>
            </a:r>
            <a:r>
              <a:rPr lang="en-US" b="0" i="0" dirty="0" err="1">
                <a:solidFill>
                  <a:srgbClr val="3A3A3A"/>
                </a:solidFill>
                <a:effectLst/>
                <a:latin typeface="Roboto" panose="02000000000000000000" pitchFamily="2" charset="0"/>
              </a:rPr>
              <a:t>java.lang</a:t>
            </a:r>
            <a:r>
              <a:rPr lang="en-US" b="0" i="0" dirty="0">
                <a:solidFill>
                  <a:srgbClr val="3A3A3A"/>
                </a:solidFill>
                <a:effectLst/>
                <a:latin typeface="Roboto" panose="02000000000000000000" pitchFamily="2" charset="0"/>
              </a:rPr>
              <a:t>, </a:t>
            </a:r>
            <a:r>
              <a:rPr lang="en-US" b="0" i="0" dirty="0" err="1">
                <a:solidFill>
                  <a:srgbClr val="3A3A3A"/>
                </a:solidFill>
                <a:effectLst/>
                <a:latin typeface="Roboto" panose="02000000000000000000" pitchFamily="2" charset="0"/>
              </a:rPr>
              <a:t>java.util</a:t>
            </a:r>
            <a:r>
              <a:rPr lang="en-US" b="0" i="0" dirty="0">
                <a:solidFill>
                  <a:srgbClr val="3A3A3A"/>
                </a:solidFill>
                <a:effectLst/>
                <a:latin typeface="Roboto" panose="02000000000000000000" pitchFamily="2" charset="0"/>
              </a:rPr>
              <a:t>, java.io, </a:t>
            </a:r>
            <a:r>
              <a:rPr lang="en-US" b="0" i="0" dirty="0" err="1">
                <a:solidFill>
                  <a:srgbClr val="3A3A3A"/>
                </a:solidFill>
                <a:effectLst/>
                <a:latin typeface="Roboto" panose="02000000000000000000" pitchFamily="2" charset="0"/>
              </a:rPr>
              <a:t>java.sql</a:t>
            </a:r>
            <a:r>
              <a:rPr lang="en-US" b="0" i="0" dirty="0">
                <a:solidFill>
                  <a:srgbClr val="3A3A3A"/>
                </a:solidFill>
                <a:effectLst/>
                <a:latin typeface="Roboto" panose="02000000000000000000" pitchFamily="2" charset="0"/>
              </a:rPr>
              <a:t>, etc.</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Extension </a:t>
            </a:r>
            <a:r>
              <a:rPr lang="en-US" b="0" i="0" dirty="0" err="1">
                <a:solidFill>
                  <a:srgbClr val="3A3A3A"/>
                </a:solidFill>
                <a:effectLst/>
                <a:latin typeface="Roboto" panose="02000000000000000000" pitchFamily="2" charset="0"/>
              </a:rPr>
              <a:t>Classloader</a:t>
            </a:r>
            <a:r>
              <a:rPr lang="en-US" b="0" i="0" dirty="0">
                <a:solidFill>
                  <a:srgbClr val="3A3A3A"/>
                </a:solidFill>
                <a:effectLst/>
                <a:latin typeface="Roboto" panose="02000000000000000000" pitchFamily="2" charset="0"/>
              </a:rPr>
              <a:t>: The extension </a:t>
            </a:r>
            <a:r>
              <a:rPr lang="en-US" b="0" i="0" dirty="0" err="1">
                <a:solidFill>
                  <a:srgbClr val="3A3A3A"/>
                </a:solidFill>
                <a:effectLst/>
                <a:latin typeface="Roboto" panose="02000000000000000000" pitchFamily="2" charset="0"/>
              </a:rPr>
              <a:t>classloader</a:t>
            </a:r>
            <a:r>
              <a:rPr lang="en-US" b="0" i="0" dirty="0">
                <a:solidFill>
                  <a:srgbClr val="3A3A3A"/>
                </a:solidFill>
                <a:effectLst/>
                <a:latin typeface="Roboto" panose="02000000000000000000" pitchFamily="2" charset="0"/>
              </a:rPr>
              <a:t> is known as the parent of the System </a:t>
            </a:r>
            <a:r>
              <a:rPr lang="en-US" b="0" i="0" dirty="0" err="1">
                <a:solidFill>
                  <a:srgbClr val="3A3A3A"/>
                </a:solidFill>
                <a:effectLst/>
                <a:latin typeface="Roboto" panose="02000000000000000000" pitchFamily="2" charset="0"/>
              </a:rPr>
              <a:t>classloaders</a:t>
            </a:r>
            <a:r>
              <a:rPr lang="en-US" b="0" i="0" dirty="0">
                <a:solidFill>
                  <a:srgbClr val="3A3A3A"/>
                </a:solidFill>
                <a:effectLst/>
                <a:latin typeface="Roboto" panose="02000000000000000000" pitchFamily="2" charset="0"/>
              </a:rPr>
              <a:t> and the child of the Bootstrap </a:t>
            </a:r>
            <a:r>
              <a:rPr lang="en-US" b="0" i="0" dirty="0" err="1">
                <a:solidFill>
                  <a:srgbClr val="3A3A3A"/>
                </a:solidFill>
                <a:effectLst/>
                <a:latin typeface="Roboto" panose="02000000000000000000" pitchFamily="2" charset="0"/>
              </a:rPr>
              <a:t>classloader</a:t>
            </a:r>
            <a:r>
              <a:rPr lang="en-US" b="0" i="0" dirty="0">
                <a:solidFill>
                  <a:srgbClr val="3A3A3A"/>
                </a:solidFill>
                <a:effectLst/>
                <a:latin typeface="Roboto" panose="02000000000000000000" pitchFamily="2" charset="0"/>
              </a:rPr>
              <a:t>. It only loads the files available in the extension </a:t>
            </a:r>
            <a:r>
              <a:rPr lang="en-US" b="0" i="0" dirty="0" err="1">
                <a:solidFill>
                  <a:srgbClr val="3A3A3A"/>
                </a:solidFill>
                <a:effectLst/>
                <a:latin typeface="Roboto" panose="02000000000000000000" pitchFamily="2" charset="0"/>
              </a:rPr>
              <a:t>classpath</a:t>
            </a:r>
            <a:r>
              <a:rPr lang="en-US" b="0" i="0" dirty="0">
                <a:solidFill>
                  <a:srgbClr val="3A3A3A"/>
                </a:solidFill>
                <a:effectLst/>
                <a:latin typeface="Roboto" panose="02000000000000000000" pitchFamily="2" charset="0"/>
              </a:rPr>
              <a:t>, which includes ‘</a:t>
            </a:r>
            <a:r>
              <a:rPr lang="en-US" b="0" i="0" dirty="0" err="1">
                <a:solidFill>
                  <a:srgbClr val="3A3A3A"/>
                </a:solidFill>
                <a:effectLst/>
                <a:latin typeface="Roboto" panose="02000000000000000000" pitchFamily="2" charset="0"/>
              </a:rPr>
              <a:t>dirs</a:t>
            </a:r>
            <a:r>
              <a:rPr lang="en-US" b="0" i="0" dirty="0">
                <a:solidFill>
                  <a:srgbClr val="3A3A3A"/>
                </a:solidFill>
                <a:effectLst/>
                <a:latin typeface="Roboto" panose="02000000000000000000" pitchFamily="2" charset="0"/>
              </a:rPr>
              <a:t>/JRE/lib/</a:t>
            </a:r>
            <a:r>
              <a:rPr lang="en-US" b="0" i="0" dirty="0" err="1">
                <a:solidFill>
                  <a:srgbClr val="3A3A3A"/>
                </a:solidFill>
                <a:effectLst/>
                <a:latin typeface="Roboto" panose="02000000000000000000" pitchFamily="2" charset="0"/>
              </a:rPr>
              <a:t>ext</a:t>
            </a:r>
            <a:r>
              <a:rPr lang="en-US" b="0" i="0" dirty="0">
                <a:solidFill>
                  <a:srgbClr val="3A3A3A"/>
                </a:solidFill>
                <a:effectLst/>
                <a:latin typeface="Roboto" panose="02000000000000000000" pitchFamily="2" charset="0"/>
              </a:rPr>
              <a:t> If the file is unavailable in the mentioned directory, the extension </a:t>
            </a:r>
            <a:r>
              <a:rPr lang="en-US" b="0" i="0" dirty="0" err="1">
                <a:solidFill>
                  <a:srgbClr val="3A3A3A"/>
                </a:solidFill>
                <a:effectLst/>
                <a:latin typeface="Roboto" panose="02000000000000000000" pitchFamily="2" charset="0"/>
              </a:rPr>
              <a:t>classloader</a:t>
            </a:r>
            <a:r>
              <a:rPr lang="en-US" b="0" i="0" dirty="0">
                <a:solidFill>
                  <a:srgbClr val="3A3A3A"/>
                </a:solidFill>
                <a:effectLst/>
                <a:latin typeface="Roboto" panose="02000000000000000000" pitchFamily="2" charset="0"/>
              </a:rPr>
              <a:t> will delegate it to the System </a:t>
            </a:r>
            <a:r>
              <a:rPr lang="en-US" b="0" i="0" dirty="0" err="1">
                <a:solidFill>
                  <a:srgbClr val="3A3A3A"/>
                </a:solidFill>
                <a:effectLst/>
                <a:latin typeface="Roboto" panose="02000000000000000000" pitchFamily="2" charset="0"/>
              </a:rPr>
              <a:t>classloader</a:t>
            </a:r>
            <a:r>
              <a:rPr lang="en-US" b="0" i="0" dirty="0">
                <a:solidFill>
                  <a:srgbClr val="3A3A3A"/>
                </a:solidFill>
                <a:effectLst/>
                <a:latin typeface="Roboto" panose="02000000000000000000" pitchFamily="2" charset="0"/>
              </a:rPr>
              <a: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System/Application </a:t>
            </a:r>
            <a:r>
              <a:rPr lang="en-US" b="0" i="0" dirty="0" err="1">
                <a:solidFill>
                  <a:srgbClr val="3A3A3A"/>
                </a:solidFill>
                <a:effectLst/>
                <a:latin typeface="Roboto" panose="02000000000000000000" pitchFamily="2" charset="0"/>
              </a:rPr>
              <a:t>Classloader</a:t>
            </a:r>
            <a:r>
              <a:rPr lang="en-US" b="0" i="0" dirty="0">
                <a:solidFill>
                  <a:srgbClr val="3A3A3A"/>
                </a:solidFill>
                <a:effectLst/>
                <a:latin typeface="Roboto" panose="02000000000000000000" pitchFamily="2" charset="0"/>
              </a:rPr>
              <a:t>: It loads the classes of application type available in the environment variable such as -</a:t>
            </a:r>
            <a:r>
              <a:rPr lang="en-US" b="0" i="0" dirty="0" err="1">
                <a:solidFill>
                  <a:srgbClr val="3A3A3A"/>
                </a:solidFill>
                <a:effectLst/>
                <a:latin typeface="Roboto" panose="02000000000000000000" pitchFamily="2" charset="0"/>
              </a:rPr>
              <a:t>classpath</a:t>
            </a:r>
            <a:r>
              <a:rPr lang="en-US" b="0" i="0" dirty="0">
                <a:solidFill>
                  <a:srgbClr val="3A3A3A"/>
                </a:solidFill>
                <a:effectLst/>
                <a:latin typeface="Roboto" panose="02000000000000000000" pitchFamily="2" charset="0"/>
              </a:rPr>
              <a:t>, or -cp </a:t>
            </a:r>
            <a:r>
              <a:rPr lang="en-US" b="0" i="0" u="none" strike="noStrike" dirty="0">
                <a:solidFill>
                  <a:srgbClr val="0F5A9E"/>
                </a:solidFill>
                <a:effectLst/>
                <a:latin typeface="Roboto" panose="02000000000000000000" pitchFamily="2" charset="0"/>
                <a:hlinkClick r:id="rId3"/>
              </a:rPr>
              <a:t>command-line</a:t>
            </a:r>
            <a:r>
              <a:rPr lang="en-US" b="0" i="0" dirty="0">
                <a:solidFill>
                  <a:srgbClr val="3A3A3A"/>
                </a:solidFill>
                <a:effectLst/>
                <a:latin typeface="Roboto" panose="02000000000000000000" pitchFamily="2" charset="0"/>
              </a:rPr>
              <a:t> option. The application </a:t>
            </a:r>
            <a:r>
              <a:rPr lang="en-US" b="0" i="0" dirty="0" err="1">
                <a:solidFill>
                  <a:srgbClr val="3A3A3A"/>
                </a:solidFill>
                <a:effectLst/>
                <a:latin typeface="Roboto" panose="02000000000000000000" pitchFamily="2" charset="0"/>
              </a:rPr>
              <a:t>classloader</a:t>
            </a:r>
            <a:r>
              <a:rPr lang="en-US" b="0" i="0" dirty="0">
                <a:solidFill>
                  <a:srgbClr val="3A3A3A"/>
                </a:solidFill>
                <a:effectLst/>
                <a:latin typeface="Roboto" panose="02000000000000000000" pitchFamily="2" charset="0"/>
              </a:rPr>
              <a:t> generates a </a:t>
            </a:r>
            <a:r>
              <a:rPr lang="en-US" b="0" i="0" dirty="0" err="1">
                <a:solidFill>
                  <a:srgbClr val="3A3A3A"/>
                </a:solidFill>
                <a:effectLst/>
                <a:latin typeface="Roboto" panose="02000000000000000000" pitchFamily="2" charset="0"/>
              </a:rPr>
              <a:t>ClassNotFoundException</a:t>
            </a:r>
            <a:r>
              <a:rPr lang="en-US" b="0" i="0" dirty="0">
                <a:solidFill>
                  <a:srgbClr val="3A3A3A"/>
                </a:solidFill>
                <a:effectLst/>
                <a:latin typeface="Roboto" panose="02000000000000000000" pitchFamily="2" charset="0"/>
              </a:rPr>
              <a:t> if the class is unavailable in the application </a:t>
            </a:r>
            <a:r>
              <a:rPr lang="en-US" b="0" i="0" dirty="0" err="1">
                <a:solidFill>
                  <a:srgbClr val="3A3A3A"/>
                </a:solidFill>
                <a:effectLst/>
                <a:latin typeface="Roboto" panose="02000000000000000000" pitchFamily="2" charset="0"/>
              </a:rPr>
              <a:t>classpath</a:t>
            </a:r>
            <a:r>
              <a:rPr lang="en-US" b="0" i="0" dirty="0">
                <a:solidFill>
                  <a:srgbClr val="3A3A3A"/>
                </a:solidFill>
                <a:effectLst/>
                <a:latin typeface="Roboto" panose="02000000000000000000" pitchFamily="2" charset="0"/>
              </a:rPr>
              <a:t>.</a:t>
            </a:r>
          </a:p>
        </p:txBody>
      </p:sp>
    </p:spTree>
    <p:extLst>
      <p:ext uri="{BB962C8B-B14F-4D97-AF65-F5344CB8AC3E}">
        <p14:creationId xmlns:p14="http://schemas.microsoft.com/office/powerpoint/2010/main" val="3954880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842-FD4D-9C8C-D56A-B4C3542A74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08D6E3-904A-D414-D79E-593CB7DC4427}"/>
              </a:ext>
            </a:extLst>
          </p:cNvPr>
          <p:cNvSpPr txBox="1"/>
          <p:nvPr/>
        </p:nvSpPr>
        <p:spPr>
          <a:xfrm>
            <a:off x="0" y="0"/>
            <a:ext cx="9906000" cy="646587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51. Differentiate between checked and unchecked exceptions in Java.</a:t>
            </a:r>
          </a:p>
          <a:p>
            <a:pPr algn="just">
              <a:lnSpc>
                <a:spcPts val="2100"/>
              </a:lnSpc>
              <a:spcBef>
                <a:spcPts val="1650"/>
              </a:spcBef>
              <a:buNone/>
            </a:pPr>
            <a:r>
              <a:rPr lang="en-US" b="0" i="0" dirty="0">
                <a:solidFill>
                  <a:srgbClr val="3A3A3A"/>
                </a:solidFill>
                <a:effectLst/>
                <a:latin typeface="Roboto" panose="02000000000000000000" pitchFamily="2" charset="0"/>
              </a:rPr>
              <a:t>The compiler checks checked exceptions at compile time, meaning that programmers have to handle such exceptions with try-catch blocks or declare them using the method signature. Unlike checked exceptions, unchecked exceptions are not checked at compile-time, hence they do not require explicit handling by a programmer.</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52. Can you do multithreading in Java?</a:t>
            </a:r>
          </a:p>
          <a:p>
            <a:pPr algn="just">
              <a:lnSpc>
                <a:spcPts val="2100"/>
              </a:lnSpc>
              <a:spcBef>
                <a:spcPts val="1650"/>
              </a:spcBef>
              <a:buNone/>
            </a:pPr>
            <a:r>
              <a:rPr lang="en-US" b="0" i="0" dirty="0">
                <a:solidFill>
                  <a:srgbClr val="3A3A3A"/>
                </a:solidFill>
                <a:effectLst/>
                <a:latin typeface="Roboto" panose="02000000000000000000" pitchFamily="2" charset="0"/>
              </a:rPr>
              <a:t>Yes, </a:t>
            </a:r>
            <a:r>
              <a:rPr lang="en-US" b="0" i="0" u="none" strike="noStrike" dirty="0">
                <a:solidFill>
                  <a:srgbClr val="0F5A9E"/>
                </a:solidFill>
                <a:effectLst/>
                <a:latin typeface="Roboto" panose="02000000000000000000" pitchFamily="2" charset="0"/>
                <a:hlinkClick r:id="rId2"/>
              </a:rPr>
              <a:t>multithreading</a:t>
            </a:r>
            <a:r>
              <a:rPr lang="en-US" b="0" i="0" dirty="0">
                <a:solidFill>
                  <a:srgbClr val="3A3A3A"/>
                </a:solidFill>
                <a:effectLst/>
                <a:latin typeface="Roboto" panose="02000000000000000000" pitchFamily="2" charset="0"/>
              </a:rPr>
              <a:t> is part of Java. It provides built-in support for creating and managing threads, thereby enabling multiple tasks to be executed concurrently within one program.</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53. What are abstract classes in Java? Give an example.</a:t>
            </a:r>
          </a:p>
          <a:p>
            <a:pPr algn="just">
              <a:lnSpc>
                <a:spcPts val="2100"/>
              </a:lnSpc>
              <a:spcBef>
                <a:spcPts val="1650"/>
              </a:spcBef>
              <a:buNone/>
            </a:pPr>
            <a:r>
              <a:rPr lang="en-US" b="0" i="0" dirty="0">
                <a:solidFill>
                  <a:srgbClr val="3A3A3A"/>
                </a:solidFill>
                <a:effectLst/>
                <a:latin typeface="Roboto" panose="02000000000000000000" pitchFamily="2" charset="0"/>
              </a:rPr>
              <a:t>Java </a:t>
            </a:r>
            <a:r>
              <a:rPr lang="en-US" b="0" i="0" u="none" strike="noStrike" dirty="0">
                <a:solidFill>
                  <a:srgbClr val="0F5A9E"/>
                </a:solidFill>
                <a:effectLst/>
                <a:latin typeface="Roboto" panose="02000000000000000000" pitchFamily="2" charset="0"/>
                <a:hlinkClick r:id="rId3"/>
              </a:rPr>
              <a:t>Abstraction</a:t>
            </a:r>
            <a:r>
              <a:rPr lang="en-US" b="0" i="0" dirty="0">
                <a:solidFill>
                  <a:srgbClr val="3A3A3A"/>
                </a:solidFill>
                <a:effectLst/>
                <a:latin typeface="Roboto" panose="02000000000000000000" pitchFamily="2" charset="0"/>
              </a:rPr>
              <a:t> refers to showing only the function ability and behavior of methods while hiding their implementation details to the user. It focuses on what an object does rather than how it does it.</a:t>
            </a:r>
          </a:p>
          <a:p>
            <a:pPr algn="just">
              <a:lnSpc>
                <a:spcPts val="2100"/>
              </a:lnSpc>
              <a:spcBef>
                <a:spcPts val="750"/>
              </a:spcBef>
              <a:buNone/>
            </a:pPr>
            <a:r>
              <a:rPr lang="en-US" b="0" i="0" dirty="0">
                <a:solidFill>
                  <a:srgbClr val="3A3A3A"/>
                </a:solidFill>
                <a:effectLst/>
                <a:latin typeface="Roboto" panose="02000000000000000000" pitchFamily="2" charset="0"/>
              </a:rPr>
              <a:t>For instance, the List interface in Java represents abstraction because it describes common operations for lists without defining how those operations are carried out. Classes like LinkedList and </a:t>
            </a:r>
            <a:r>
              <a:rPr lang="en-US" b="0" i="0" dirty="0" err="1">
                <a:solidFill>
                  <a:srgbClr val="3A3A3A"/>
                </a:solidFill>
                <a:effectLst/>
                <a:latin typeface="Roboto" panose="02000000000000000000" pitchFamily="2" charset="0"/>
              </a:rPr>
              <a:t>ArrayList</a:t>
            </a:r>
            <a:r>
              <a:rPr lang="en-US" b="0" i="0" dirty="0">
                <a:solidFill>
                  <a:srgbClr val="3A3A3A"/>
                </a:solidFill>
                <a:effectLst/>
                <a:latin typeface="Roboto" panose="02000000000000000000" pitchFamily="2" charset="0"/>
              </a:rPr>
              <a:t> implement these operations differently but still follow the same interface.</a:t>
            </a:r>
          </a:p>
        </p:txBody>
      </p:sp>
    </p:spTree>
    <p:extLst>
      <p:ext uri="{BB962C8B-B14F-4D97-AF65-F5344CB8AC3E}">
        <p14:creationId xmlns:p14="http://schemas.microsoft.com/office/powerpoint/2010/main" val="1435237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AC70-F469-28D6-0E0E-BA1071CB9FDC}"/>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CA6E6562-CE06-A3F1-B581-312911052DAD}"/>
              </a:ext>
            </a:extLst>
          </p:cNvPr>
          <p:cNvSpPr txBox="1"/>
          <p:nvPr/>
        </p:nvSpPr>
        <p:spPr>
          <a:xfrm>
            <a:off x="143301" y="121155"/>
            <a:ext cx="4954136" cy="296491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54. Is it possible to declare static variables and methods in an abstract class?</a:t>
            </a:r>
          </a:p>
          <a:p>
            <a:pPr algn="just">
              <a:lnSpc>
                <a:spcPts val="2100"/>
              </a:lnSpc>
              <a:spcBef>
                <a:spcPts val="1650"/>
              </a:spcBef>
              <a:buNone/>
            </a:pPr>
            <a:r>
              <a:rPr lang="en-US" b="0" i="0" dirty="0">
                <a:solidFill>
                  <a:srgbClr val="3A3A3A"/>
                </a:solidFill>
                <a:effectLst/>
                <a:latin typeface="Roboto" panose="02000000000000000000" pitchFamily="2" charset="0"/>
              </a:rPr>
              <a:t>Yes, we can declare static variables and methods in an abstract class by inheriting the abstract class. In java, the static variables and methods can be accessed without creating an object. You can simply extend the abstract class and use the static context as mentioned below:</a:t>
            </a:r>
          </a:p>
        </p:txBody>
      </p:sp>
      <p:sp>
        <p:nvSpPr>
          <p:cNvPr id="35" name="TextBox 34">
            <a:extLst>
              <a:ext uri="{FF2B5EF4-FFF2-40B4-BE49-F238E27FC236}">
                <a16:creationId xmlns:a16="http://schemas.microsoft.com/office/drawing/2014/main" id="{05BC790C-6147-E84F-7667-0DDCAAD35A1E}"/>
              </a:ext>
            </a:extLst>
          </p:cNvPr>
          <p:cNvSpPr txBox="1"/>
          <p:nvPr/>
        </p:nvSpPr>
        <p:spPr>
          <a:xfrm>
            <a:off x="143301" y="3190629"/>
            <a:ext cx="4954136" cy="2585323"/>
          </a:xfrm>
          <a:prstGeom prst="rect">
            <a:avLst/>
          </a:prstGeom>
          <a:noFill/>
        </p:spPr>
        <p:txBody>
          <a:bodyPr wrap="square">
            <a:spAutoFit/>
          </a:bodyPr>
          <a:lstStyle/>
          <a:p>
            <a:r>
              <a:rPr lang="en-US" dirty="0"/>
              <a:t>// Child class prog1 inheriting from </a:t>
            </a:r>
            <a:r>
              <a:rPr lang="en-US" dirty="0" err="1"/>
              <a:t>Aclass</a:t>
            </a:r>
            <a:r>
              <a:rPr lang="en-US" dirty="0"/>
              <a:t> prog1 extends A {    public static void main(String[] </a:t>
            </a:r>
            <a:r>
              <a:rPr lang="en-US" dirty="0" err="1"/>
              <a:t>args</a:t>
            </a:r>
            <a:r>
              <a:rPr lang="en-US" dirty="0"/>
              <a:t>) {        // Accessing the static method and variable of class A        A.method1();        </a:t>
            </a:r>
            <a:r>
              <a:rPr lang="en-US" dirty="0" err="1"/>
              <a:t>System.out.println</a:t>
            </a:r>
            <a:r>
              <a:rPr lang="en-US" dirty="0"/>
              <a:t>("Value of x = " + </a:t>
            </a:r>
            <a:r>
              <a:rPr lang="en-US" dirty="0" err="1"/>
              <a:t>A.x</a:t>
            </a:r>
            <a:r>
              <a:rPr lang="en-US" dirty="0"/>
              <a:t>);    }}// Parent class </a:t>
            </a:r>
            <a:r>
              <a:rPr lang="en-US" dirty="0" err="1"/>
              <a:t>Aclass</a:t>
            </a:r>
            <a:r>
              <a:rPr lang="en-US" dirty="0"/>
              <a:t> A {    static int x = 110; // Static variable    // Static method    static void method1() {        </a:t>
            </a:r>
            <a:r>
              <a:rPr lang="en-US" dirty="0" err="1"/>
              <a:t>System.out.println</a:t>
            </a:r>
            <a:r>
              <a:rPr lang="en-US" dirty="0"/>
              <a:t>("Class A static function called");    }}</a:t>
            </a:r>
          </a:p>
        </p:txBody>
      </p:sp>
    </p:spTree>
    <p:extLst>
      <p:ext uri="{BB962C8B-B14F-4D97-AF65-F5344CB8AC3E}">
        <p14:creationId xmlns:p14="http://schemas.microsoft.com/office/powerpoint/2010/main" val="24352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6E0F-50CD-3B11-1DFD-FC72990330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1C0CDCA-5CF1-213F-4157-67CF4C566EF7}"/>
              </a:ext>
            </a:extLst>
          </p:cNvPr>
          <p:cNvSpPr txBox="1"/>
          <p:nvPr/>
        </p:nvSpPr>
        <p:spPr>
          <a:xfrm>
            <a:off x="54591" y="98110"/>
            <a:ext cx="9796818" cy="306750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55. Explain Aggregation in Java.</a:t>
            </a:r>
          </a:p>
          <a:p>
            <a:pPr algn="just">
              <a:lnSpc>
                <a:spcPts val="2100"/>
              </a:lnSpc>
              <a:spcBef>
                <a:spcPts val="1650"/>
              </a:spcBef>
              <a:buNone/>
            </a:pPr>
            <a:r>
              <a:rPr lang="en-US" b="0" i="0" u="none" strike="noStrike" dirty="0">
                <a:solidFill>
                  <a:srgbClr val="0F5A9E"/>
                </a:solidFill>
                <a:effectLst/>
                <a:latin typeface="Roboto" panose="02000000000000000000" pitchFamily="2" charset="0"/>
                <a:hlinkClick r:id="rId2"/>
              </a:rPr>
              <a:t>Aggregation</a:t>
            </a:r>
            <a:r>
              <a:rPr lang="en-US" b="0" i="0" dirty="0">
                <a:solidFill>
                  <a:srgbClr val="3A3A3A"/>
                </a:solidFill>
                <a:effectLst/>
                <a:latin typeface="Roboto" panose="02000000000000000000" pitchFamily="2" charset="0"/>
              </a:rPr>
              <a:t> in Java represents a relationship where one class contains the reference of another class. In other words, it refers to a one-way relationship between two objects where the aggregate class has the instance of another class it owns. The aim is to have classes which are loosely coupled with each other.</a:t>
            </a:r>
          </a:p>
          <a:p>
            <a:pPr algn="just">
              <a:lnSpc>
                <a:spcPts val="2100"/>
              </a:lnSpc>
              <a:spcBef>
                <a:spcPts val="750"/>
              </a:spcBef>
              <a:buNone/>
            </a:pPr>
            <a:r>
              <a:rPr lang="en-US" b="0" i="0" dirty="0">
                <a:solidFill>
                  <a:srgbClr val="3A3A3A"/>
                </a:solidFill>
                <a:effectLst/>
                <a:latin typeface="Roboto" panose="02000000000000000000" pitchFamily="2" charset="0"/>
              </a:rPr>
              <a:t>For example, in the program below, the aggregate class Student has a one-way relationship with the class Address. Here each student having an address makes sense, but it doesn’t make sense for an address to have a student. Therefore, instead of using inheritance, aggregation is used based on how the classes are related through usage.</a:t>
            </a:r>
          </a:p>
        </p:txBody>
      </p:sp>
      <p:sp>
        <p:nvSpPr>
          <p:cNvPr id="5" name="TextBox 4">
            <a:extLst>
              <a:ext uri="{FF2B5EF4-FFF2-40B4-BE49-F238E27FC236}">
                <a16:creationId xmlns:a16="http://schemas.microsoft.com/office/drawing/2014/main" id="{BDD3403E-6379-3E61-C460-69E7693A3A78}"/>
              </a:ext>
            </a:extLst>
          </p:cNvPr>
          <p:cNvSpPr txBox="1"/>
          <p:nvPr/>
        </p:nvSpPr>
        <p:spPr>
          <a:xfrm>
            <a:off x="2804616" y="3165616"/>
            <a:ext cx="4954136" cy="7848302"/>
          </a:xfrm>
          <a:prstGeom prst="rect">
            <a:avLst/>
          </a:prstGeom>
          <a:noFill/>
        </p:spPr>
        <p:txBody>
          <a:bodyPr wrap="square">
            <a:spAutoFit/>
          </a:bodyPr>
          <a:lstStyle/>
          <a:p>
            <a:r>
              <a:rPr lang="en-US" dirty="0"/>
              <a:t>// Class prog1 has a reference to A</a:t>
            </a:r>
          </a:p>
          <a:p>
            <a:r>
              <a:rPr lang="en-US" dirty="0"/>
              <a:t>class prog1 {</a:t>
            </a:r>
          </a:p>
          <a:p>
            <a:r>
              <a:rPr lang="en-US" dirty="0"/>
              <a:t>    A </a:t>
            </a:r>
            <a:r>
              <a:rPr lang="en-US" dirty="0" err="1"/>
              <a:t>aObj</a:t>
            </a:r>
            <a:r>
              <a:rPr lang="en-US" dirty="0"/>
              <a:t>; // aggregation (HAS-A)</a:t>
            </a:r>
          </a:p>
          <a:p>
            <a:endParaRPr lang="en-US" dirty="0"/>
          </a:p>
          <a:p>
            <a:r>
              <a:rPr lang="en-US" dirty="0"/>
              <a:t>    prog1(A </a:t>
            </a:r>
            <a:r>
              <a:rPr lang="en-US" dirty="0" err="1"/>
              <a:t>aObj</a:t>
            </a:r>
            <a:r>
              <a:rPr lang="en-US" dirty="0"/>
              <a:t>) {</a:t>
            </a:r>
          </a:p>
          <a:p>
            <a:r>
              <a:rPr lang="en-US" dirty="0"/>
              <a:t>        </a:t>
            </a:r>
            <a:r>
              <a:rPr lang="en-US" dirty="0" err="1"/>
              <a:t>this.aObj</a:t>
            </a:r>
            <a:r>
              <a:rPr lang="en-US" dirty="0"/>
              <a:t> = </a:t>
            </a:r>
            <a:r>
              <a:rPr lang="en-US" dirty="0" err="1"/>
              <a:t>aObj</a:t>
            </a:r>
            <a:r>
              <a:rPr lang="en-US" dirty="0"/>
              <a:t>;</a:t>
            </a:r>
          </a:p>
          <a:p>
            <a:r>
              <a:rPr lang="en-US" dirty="0"/>
              <a:t>    }</a:t>
            </a:r>
          </a:p>
          <a:p>
            <a:endParaRPr lang="en-US" dirty="0"/>
          </a:p>
          <a:p>
            <a:r>
              <a:rPr lang="en-US" dirty="0"/>
              <a:t>    void display() {</a:t>
            </a:r>
          </a:p>
          <a:p>
            <a:r>
              <a:rPr lang="en-US" dirty="0"/>
              <a:t>        aObj.method1();</a:t>
            </a:r>
          </a:p>
          <a:p>
            <a:r>
              <a:rPr lang="en-US" dirty="0"/>
              <a:t>        </a:t>
            </a:r>
            <a:r>
              <a:rPr lang="en-US" dirty="0" err="1"/>
              <a:t>System.out.println</a:t>
            </a:r>
            <a:r>
              <a:rPr lang="en-US" dirty="0"/>
              <a:t>("Value of x = " + </a:t>
            </a:r>
            <a:r>
              <a:rPr lang="en-US" dirty="0" err="1"/>
              <a:t>aObj.x</a:t>
            </a:r>
            <a:r>
              <a:rPr lang="en-US" dirty="0"/>
              <a:t>);</a:t>
            </a:r>
          </a:p>
          <a:p>
            <a:r>
              <a:rPr lang="en-US" dirty="0"/>
              <a:t>    }</a:t>
            </a:r>
          </a:p>
          <a:p>
            <a:endParaRPr lang="en-US" dirty="0"/>
          </a:p>
          <a:p>
            <a:r>
              <a:rPr lang="en-US" dirty="0"/>
              <a:t>    public static void main(String[] </a:t>
            </a:r>
            <a:r>
              <a:rPr lang="en-US" dirty="0" err="1"/>
              <a:t>args</a:t>
            </a:r>
            <a:r>
              <a:rPr lang="en-US" dirty="0"/>
              <a:t>) {</a:t>
            </a:r>
          </a:p>
          <a:p>
            <a:r>
              <a:rPr lang="en-US" dirty="0"/>
              <a:t>        A </a:t>
            </a:r>
            <a:r>
              <a:rPr lang="en-US" dirty="0" err="1"/>
              <a:t>objA</a:t>
            </a:r>
            <a:r>
              <a:rPr lang="en-US" dirty="0"/>
              <a:t> = new A();</a:t>
            </a:r>
          </a:p>
          <a:p>
            <a:r>
              <a:rPr lang="en-US" dirty="0"/>
              <a:t>        prog1 objProg1 = new prog1(</a:t>
            </a:r>
            <a:r>
              <a:rPr lang="en-US" dirty="0" err="1"/>
              <a:t>objA</a:t>
            </a:r>
            <a:r>
              <a:rPr lang="en-US" dirty="0"/>
              <a:t>);</a:t>
            </a:r>
          </a:p>
          <a:p>
            <a:r>
              <a:rPr lang="en-US" dirty="0"/>
              <a:t>        objProg1.display();</a:t>
            </a:r>
          </a:p>
          <a:p>
            <a:r>
              <a:rPr lang="en-US" dirty="0"/>
              <a:t>    }</a:t>
            </a:r>
          </a:p>
          <a:p>
            <a:r>
              <a:rPr lang="en-US" dirty="0"/>
              <a:t>}</a:t>
            </a:r>
          </a:p>
          <a:p>
            <a:r>
              <a:rPr lang="en-US" dirty="0"/>
              <a:t>// Class A</a:t>
            </a:r>
          </a:p>
          <a:p>
            <a:r>
              <a:rPr lang="en-US" dirty="0"/>
              <a:t>class A {</a:t>
            </a:r>
          </a:p>
          <a:p>
            <a:r>
              <a:rPr lang="en-US" dirty="0"/>
              <a:t>    int x = 110;</a:t>
            </a:r>
          </a:p>
          <a:p>
            <a:endParaRPr lang="en-US" dirty="0"/>
          </a:p>
          <a:p>
            <a:r>
              <a:rPr lang="en-US" dirty="0"/>
              <a:t>    void method1() {</a:t>
            </a:r>
          </a:p>
          <a:p>
            <a:r>
              <a:rPr lang="en-US" dirty="0"/>
              <a:t>        </a:t>
            </a:r>
            <a:r>
              <a:rPr lang="en-US" dirty="0" err="1"/>
              <a:t>System.out.println</a:t>
            </a:r>
            <a:r>
              <a:rPr lang="en-US" dirty="0"/>
              <a:t>("Class A method called");</a:t>
            </a:r>
          </a:p>
          <a:p>
            <a:r>
              <a:rPr lang="en-US" dirty="0"/>
              <a:t>    }</a:t>
            </a:r>
          </a:p>
          <a:p>
            <a:r>
              <a:rPr lang="en-US" dirty="0"/>
              <a:t>}</a:t>
            </a:r>
          </a:p>
        </p:txBody>
      </p:sp>
    </p:spTree>
    <p:extLst>
      <p:ext uri="{BB962C8B-B14F-4D97-AF65-F5344CB8AC3E}">
        <p14:creationId xmlns:p14="http://schemas.microsoft.com/office/powerpoint/2010/main" val="2623084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B39-F064-775A-9411-E73929C1D2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3C690D-8225-289B-5717-178094D6FA8D}"/>
              </a:ext>
            </a:extLst>
          </p:cNvPr>
          <p:cNvSpPr txBox="1"/>
          <p:nvPr/>
        </p:nvSpPr>
        <p:spPr>
          <a:xfrm>
            <a:off x="2477069" y="904797"/>
            <a:ext cx="4954136" cy="505523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56. What is composition in Java?</a:t>
            </a:r>
          </a:p>
          <a:p>
            <a:pPr algn="just">
              <a:lnSpc>
                <a:spcPts val="2100"/>
              </a:lnSpc>
              <a:spcBef>
                <a:spcPts val="1650"/>
              </a:spcBef>
              <a:buNone/>
            </a:pPr>
            <a:r>
              <a:rPr lang="en-US" b="0" i="0" dirty="0">
                <a:solidFill>
                  <a:srgbClr val="3A3A3A"/>
                </a:solidFill>
                <a:effectLst/>
                <a:latin typeface="Roboto" panose="02000000000000000000" pitchFamily="2" charset="0"/>
              </a:rPr>
              <a:t>Composition refers to a relationship between two classes or objects where they are tightly coupled. In this relationship, the lifetime of the contained object depends on the lifetime of the container object. This concept is known as composition.</a:t>
            </a:r>
          </a:p>
          <a:p>
            <a:pPr algn="just">
              <a:lnSpc>
                <a:spcPts val="2100"/>
              </a:lnSpc>
              <a:spcBef>
                <a:spcPts val="750"/>
              </a:spcBef>
              <a:buNone/>
            </a:pPr>
            <a:r>
              <a:rPr lang="en-US" b="0" i="0" dirty="0">
                <a:solidFill>
                  <a:srgbClr val="3A3A3A"/>
                </a:solidFill>
                <a:effectLst/>
                <a:latin typeface="Roboto" panose="02000000000000000000" pitchFamily="2" charset="0"/>
              </a:rPr>
              <a:t>In simple words, the composition is a kind of aggregation that represents a strong relationship between two classes using the reference variable.</a:t>
            </a:r>
          </a:p>
          <a:p>
            <a:pPr algn="just">
              <a:lnSpc>
                <a:spcPts val="2100"/>
              </a:lnSpc>
              <a:spcBef>
                <a:spcPts val="750"/>
              </a:spcBef>
              <a:buNone/>
            </a:pPr>
            <a:r>
              <a:rPr lang="en-US" b="0" i="0" dirty="0">
                <a:solidFill>
                  <a:srgbClr val="3A3A3A"/>
                </a:solidFill>
                <a:effectLst/>
                <a:latin typeface="Roboto" panose="02000000000000000000" pitchFamily="2" charset="0"/>
              </a:rPr>
              <a:t>For example, if a Student  class contains an Address class and the Address class cannot exist independently without the Student class, then there is a composition relationship between them.</a:t>
            </a:r>
          </a:p>
        </p:txBody>
      </p:sp>
    </p:spTree>
    <p:extLst>
      <p:ext uri="{BB962C8B-B14F-4D97-AF65-F5344CB8AC3E}">
        <p14:creationId xmlns:p14="http://schemas.microsoft.com/office/powerpoint/2010/main" val="28136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5BB2-BFB1-CCC2-B55F-CF392C3DE1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DD7722-12FC-2CA7-613A-7824DDE4F473}"/>
              </a:ext>
            </a:extLst>
          </p:cNvPr>
          <p:cNvSpPr txBox="1"/>
          <p:nvPr/>
        </p:nvSpPr>
        <p:spPr>
          <a:xfrm>
            <a:off x="-1136" y="0"/>
            <a:ext cx="9718342" cy="145167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57. Is it possible to overload the main method in Java?</a:t>
            </a:r>
          </a:p>
          <a:p>
            <a:pPr algn="just">
              <a:lnSpc>
                <a:spcPts val="2100"/>
              </a:lnSpc>
              <a:spcBef>
                <a:spcPts val="1650"/>
              </a:spcBef>
              <a:buNone/>
            </a:pPr>
            <a:r>
              <a:rPr lang="en-US" b="0" i="0" dirty="0">
                <a:solidFill>
                  <a:srgbClr val="3A3A3A"/>
                </a:solidFill>
                <a:effectLst/>
                <a:latin typeface="Roboto" panose="02000000000000000000" pitchFamily="2" charset="0"/>
              </a:rPr>
              <a:t>Yes, you can overload the main() method in Java using the concept of method overloading.</a:t>
            </a:r>
          </a:p>
          <a:p>
            <a:pPr algn="just">
              <a:lnSpc>
                <a:spcPts val="2100"/>
              </a:lnSpc>
              <a:spcBef>
                <a:spcPts val="750"/>
              </a:spcBef>
              <a:buNone/>
            </a:pPr>
            <a:r>
              <a:rPr lang="en-US" b="0" i="0" dirty="0">
                <a:solidFill>
                  <a:srgbClr val="3A3A3A"/>
                </a:solidFill>
                <a:effectLst/>
                <a:latin typeface="Roboto" panose="02000000000000000000" pitchFamily="2" charset="0"/>
              </a:rPr>
              <a:t>Below is an example of main() method overloading:</a:t>
            </a:r>
          </a:p>
        </p:txBody>
      </p:sp>
      <p:sp>
        <p:nvSpPr>
          <p:cNvPr id="5" name="TextBox 4">
            <a:extLst>
              <a:ext uri="{FF2B5EF4-FFF2-40B4-BE49-F238E27FC236}">
                <a16:creationId xmlns:a16="http://schemas.microsoft.com/office/drawing/2014/main" id="{1D28EBD0-28D3-612E-4908-8284016EEABD}"/>
              </a:ext>
            </a:extLst>
          </p:cNvPr>
          <p:cNvSpPr txBox="1"/>
          <p:nvPr/>
        </p:nvSpPr>
        <p:spPr>
          <a:xfrm>
            <a:off x="188794" y="1451679"/>
            <a:ext cx="4981432" cy="2862322"/>
          </a:xfrm>
          <a:prstGeom prst="rect">
            <a:avLst/>
          </a:prstGeom>
          <a:noFill/>
        </p:spPr>
        <p:txBody>
          <a:bodyPr wrap="square">
            <a:spAutoFit/>
          </a:bodyPr>
          <a:lstStyle/>
          <a:p>
            <a:r>
              <a:rPr lang="en-US" dirty="0"/>
              <a:t>import </a:t>
            </a:r>
            <a:r>
              <a:rPr lang="en-US" dirty="0" err="1"/>
              <a:t>java.util</a:t>
            </a:r>
            <a:r>
              <a:rPr lang="en-US" dirty="0"/>
              <a:t>.*;class </a:t>
            </a:r>
            <a:r>
              <a:rPr lang="en-US" dirty="0" err="1"/>
              <a:t>main_overloading</a:t>
            </a:r>
            <a:r>
              <a:rPr lang="en-US" dirty="0"/>
              <a:t> {    // Overloaded main method with a single String argument    public static void main(String </a:t>
            </a:r>
            <a:r>
              <a:rPr lang="en-US" dirty="0" err="1"/>
              <a:t>args</a:t>
            </a:r>
            <a:r>
              <a:rPr lang="en-US" dirty="0"/>
              <a:t>) {        </a:t>
            </a:r>
            <a:r>
              <a:rPr lang="en-US" dirty="0" err="1"/>
              <a:t>System.out.println</a:t>
            </a:r>
            <a:r>
              <a:rPr lang="en-US" dirty="0"/>
              <a:t>("Main with String");    }    // Standard main method - entry point of the Java program    public static void main(String </a:t>
            </a:r>
            <a:r>
              <a:rPr lang="en-US" dirty="0" err="1"/>
              <a:t>args</a:t>
            </a:r>
            <a:r>
              <a:rPr lang="en-US" dirty="0"/>
              <a:t>[]) {        </a:t>
            </a:r>
            <a:r>
              <a:rPr lang="en-US" dirty="0" err="1"/>
              <a:t>System.out.println</a:t>
            </a:r>
            <a:r>
              <a:rPr lang="en-US" dirty="0"/>
              <a:t>("Main with the String </a:t>
            </a:r>
            <a:r>
              <a:rPr lang="en-US" dirty="0" err="1"/>
              <a:t>args</a:t>
            </a:r>
            <a:r>
              <a:rPr lang="en-US" dirty="0"/>
              <a:t>[]");    }    // Overloaded main method with no arguments    public static void main() {        </a:t>
            </a:r>
            <a:r>
              <a:rPr lang="en-US" dirty="0" err="1"/>
              <a:t>System.out.println</a:t>
            </a:r>
            <a:r>
              <a:rPr lang="en-US" dirty="0"/>
              <a:t>("main without String");    }}</a:t>
            </a:r>
          </a:p>
        </p:txBody>
      </p:sp>
      <p:sp>
        <p:nvSpPr>
          <p:cNvPr id="7" name="TextBox 6">
            <a:extLst>
              <a:ext uri="{FF2B5EF4-FFF2-40B4-BE49-F238E27FC236}">
                <a16:creationId xmlns:a16="http://schemas.microsoft.com/office/drawing/2014/main" id="{3E30089C-9A94-4ABD-E600-5566F3614065}"/>
              </a:ext>
            </a:extLst>
          </p:cNvPr>
          <p:cNvSpPr txBox="1"/>
          <p:nvPr/>
        </p:nvSpPr>
        <p:spPr>
          <a:xfrm>
            <a:off x="188794" y="4500945"/>
            <a:ext cx="4981432" cy="1810752"/>
          </a:xfrm>
          <a:prstGeom prst="rect">
            <a:avLst/>
          </a:prstGeom>
          <a:noFill/>
        </p:spPr>
        <p:txBody>
          <a:bodyPr wrap="square">
            <a:spAutoFit/>
          </a:bodyPr>
          <a:lstStyle/>
          <a:p>
            <a:pPr algn="just">
              <a:lnSpc>
                <a:spcPts val="2100"/>
              </a:lnSpc>
              <a:spcBef>
                <a:spcPts val="750"/>
              </a:spcBef>
              <a:buNone/>
            </a:pPr>
            <a:r>
              <a:rPr lang="en-US" b="0" i="0" dirty="0">
                <a:solidFill>
                  <a:srgbClr val="3A3A3A"/>
                </a:solidFill>
                <a:effectLst/>
                <a:latin typeface="Roboto" panose="02000000000000000000" pitchFamily="2" charset="0"/>
              </a:rPr>
              <a:t>This happens because the JVM only recognizes the main method with (String </a:t>
            </a:r>
            <a:r>
              <a:rPr lang="en-US" b="0" i="0" dirty="0" err="1">
                <a:solidFill>
                  <a:srgbClr val="3A3A3A"/>
                </a:solidFill>
                <a:effectLst/>
                <a:latin typeface="Roboto" panose="02000000000000000000" pitchFamily="2" charset="0"/>
              </a:rPr>
              <a:t>args</a:t>
            </a:r>
            <a:r>
              <a:rPr lang="en-US" b="0" i="0" dirty="0">
                <a:solidFill>
                  <a:srgbClr val="3A3A3A"/>
                </a:solidFill>
                <a:effectLst/>
                <a:latin typeface="Roboto" panose="02000000000000000000" pitchFamily="2" charset="0"/>
              </a:rPr>
              <a:t>[]). If you have other overloaded main methods, you have to call them explicitly within your code.</a:t>
            </a:r>
          </a:p>
          <a:p>
            <a:pPr algn="just">
              <a:lnSpc>
                <a:spcPts val="2100"/>
              </a:lnSpc>
              <a:spcBef>
                <a:spcPts val="750"/>
              </a:spcBef>
              <a:buNone/>
            </a:pPr>
            <a:r>
              <a:rPr lang="en-US" b="0" i="0" dirty="0">
                <a:solidFill>
                  <a:srgbClr val="3A3A3A"/>
                </a:solidFill>
                <a:effectLst/>
                <a:latin typeface="Roboto" panose="02000000000000000000" pitchFamily="2" charset="0"/>
              </a:rPr>
              <a:t>Here is the code if you want to do so,</a:t>
            </a:r>
          </a:p>
        </p:txBody>
      </p:sp>
      <p:sp>
        <p:nvSpPr>
          <p:cNvPr id="9" name="TextBox 8">
            <a:extLst>
              <a:ext uri="{FF2B5EF4-FFF2-40B4-BE49-F238E27FC236}">
                <a16:creationId xmlns:a16="http://schemas.microsoft.com/office/drawing/2014/main" id="{6C286DAF-2F42-7491-60B2-C0D34DC1A038}"/>
              </a:ext>
            </a:extLst>
          </p:cNvPr>
          <p:cNvSpPr txBox="1"/>
          <p:nvPr/>
        </p:nvSpPr>
        <p:spPr>
          <a:xfrm>
            <a:off x="5170226" y="1424383"/>
            <a:ext cx="4981432" cy="6740307"/>
          </a:xfrm>
          <a:prstGeom prst="rect">
            <a:avLst/>
          </a:prstGeom>
          <a:noFill/>
        </p:spPr>
        <p:txBody>
          <a:bodyPr wrap="square">
            <a:spAutoFit/>
          </a:bodyPr>
          <a:lstStyle/>
          <a:p>
            <a:r>
              <a:rPr lang="en-US" dirty="0"/>
              <a:t>import </a:t>
            </a:r>
            <a:r>
              <a:rPr lang="en-US" dirty="0" err="1"/>
              <a:t>java.util</a:t>
            </a:r>
            <a:r>
              <a:rPr lang="en-US" dirty="0"/>
              <a:t>.*;</a:t>
            </a:r>
          </a:p>
          <a:p>
            <a:endParaRPr lang="en-US" dirty="0"/>
          </a:p>
          <a:p>
            <a:r>
              <a:rPr lang="en-US" dirty="0"/>
              <a:t>class </a:t>
            </a:r>
            <a:r>
              <a:rPr lang="en-US" dirty="0" err="1"/>
              <a:t>MainOverloading</a:t>
            </a:r>
            <a:r>
              <a:rPr lang="en-US" dirty="0"/>
              <a:t> {</a:t>
            </a:r>
          </a:p>
          <a:p>
            <a:r>
              <a:rPr lang="en-US" dirty="0"/>
              <a:t>    // Entry point of the Java program</a:t>
            </a:r>
          </a:p>
          <a:p>
            <a:r>
              <a:rPr lang="en-US" dirty="0"/>
              <a:t>    public static void main(String[] </a:t>
            </a:r>
            <a:r>
              <a:rPr lang="en-US" dirty="0" err="1"/>
              <a:t>args</a:t>
            </a:r>
            <a:r>
              <a:rPr lang="en-US" dirty="0"/>
              <a:t>) {</a:t>
            </a:r>
          </a:p>
          <a:p>
            <a:r>
              <a:rPr lang="en-US" dirty="0"/>
              <a:t>        </a:t>
            </a:r>
            <a:r>
              <a:rPr lang="en-US" dirty="0" err="1"/>
              <a:t>System.out.println</a:t>
            </a:r>
            <a:r>
              <a:rPr lang="en-US" dirty="0"/>
              <a:t>("Main with the String </a:t>
            </a:r>
            <a:r>
              <a:rPr lang="en-US" dirty="0" err="1"/>
              <a:t>args</a:t>
            </a:r>
            <a:r>
              <a:rPr lang="en-US" dirty="0"/>
              <a:t>[]");</a:t>
            </a:r>
          </a:p>
          <a:p>
            <a:r>
              <a:rPr lang="en-US" dirty="0"/>
              <a:t>        // Explicitly calling other overloaded main methods</a:t>
            </a:r>
          </a:p>
          <a:p>
            <a:r>
              <a:rPr lang="en-US" dirty="0"/>
              <a:t>        main("Single String");</a:t>
            </a:r>
          </a:p>
          <a:p>
            <a:r>
              <a:rPr lang="en-US" dirty="0"/>
              <a:t>        main();</a:t>
            </a:r>
          </a:p>
          <a:p>
            <a:r>
              <a:rPr lang="en-US" dirty="0"/>
              <a:t>    }</a:t>
            </a:r>
          </a:p>
          <a:p>
            <a:endParaRPr lang="en-US" dirty="0"/>
          </a:p>
          <a:p>
            <a:r>
              <a:rPr lang="en-US" dirty="0"/>
              <a:t>    // Overloaded main method with a single String argument</a:t>
            </a:r>
          </a:p>
          <a:p>
            <a:r>
              <a:rPr lang="en-US" dirty="0"/>
              <a:t>    public static void main(String </a:t>
            </a:r>
            <a:r>
              <a:rPr lang="en-US" dirty="0" err="1"/>
              <a:t>args</a:t>
            </a:r>
            <a:r>
              <a:rPr lang="en-US" dirty="0"/>
              <a:t>) {</a:t>
            </a:r>
          </a:p>
          <a:p>
            <a:r>
              <a:rPr lang="en-US" dirty="0"/>
              <a:t>        </a:t>
            </a:r>
            <a:r>
              <a:rPr lang="en-US" dirty="0" err="1"/>
              <a:t>System.out.println</a:t>
            </a:r>
            <a:r>
              <a:rPr lang="en-US" dirty="0"/>
              <a:t>("Main with String");</a:t>
            </a:r>
          </a:p>
          <a:p>
            <a:r>
              <a:rPr lang="en-US" dirty="0"/>
              <a:t>    }</a:t>
            </a:r>
          </a:p>
          <a:p>
            <a:endParaRPr lang="en-US" dirty="0"/>
          </a:p>
          <a:p>
            <a:r>
              <a:rPr lang="en-US" dirty="0"/>
              <a:t>    // Overloaded main method with no arguments</a:t>
            </a:r>
          </a:p>
          <a:p>
            <a:r>
              <a:rPr lang="en-US" dirty="0"/>
              <a:t>    public static void main() {</a:t>
            </a:r>
          </a:p>
          <a:p>
            <a:r>
              <a:rPr lang="en-US" dirty="0"/>
              <a:t>        </a:t>
            </a:r>
            <a:r>
              <a:rPr lang="en-US" dirty="0" err="1"/>
              <a:t>System.out.println</a:t>
            </a:r>
            <a:r>
              <a:rPr lang="en-US" dirty="0"/>
              <a:t>("Main without String");</a:t>
            </a:r>
          </a:p>
          <a:p>
            <a:r>
              <a:rPr lang="en-US" dirty="0"/>
              <a:t>    }</a:t>
            </a:r>
          </a:p>
          <a:p>
            <a:r>
              <a:rPr lang="en-US" dirty="0"/>
              <a:t>}</a:t>
            </a:r>
          </a:p>
        </p:txBody>
      </p:sp>
    </p:spTree>
    <p:extLst>
      <p:ext uri="{BB962C8B-B14F-4D97-AF65-F5344CB8AC3E}">
        <p14:creationId xmlns:p14="http://schemas.microsoft.com/office/powerpoint/2010/main" val="325485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86E9-3127-3EDA-6557-CEF76A86D7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2D6F48-3254-186D-DADE-F4A21F2E8DEC}"/>
              </a:ext>
            </a:extLst>
          </p:cNvPr>
          <p:cNvSpPr txBox="1"/>
          <p:nvPr/>
        </p:nvSpPr>
        <p:spPr>
          <a:xfrm>
            <a:off x="0" y="0"/>
            <a:ext cx="9906000" cy="107978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58. List the differences between constructor and a destructor.</a:t>
            </a:r>
          </a:p>
          <a:p>
            <a:pPr algn="just">
              <a:lnSpc>
                <a:spcPts val="2100"/>
              </a:lnSpc>
              <a:spcBef>
                <a:spcPts val="1650"/>
              </a:spcBef>
              <a:buNone/>
            </a:pPr>
            <a:r>
              <a:rPr lang="en-US" b="0" i="0" dirty="0">
                <a:solidFill>
                  <a:srgbClr val="3A3A3A"/>
                </a:solidFill>
                <a:effectLst/>
                <a:latin typeface="Roboto" panose="02000000000000000000" pitchFamily="2" charset="0"/>
              </a:rPr>
              <a:t>Below are the differences between a constructor and a destructor based on various parameters:</a:t>
            </a:r>
          </a:p>
        </p:txBody>
      </p:sp>
      <p:graphicFrame>
        <p:nvGraphicFramePr>
          <p:cNvPr id="4" name="Table 3">
            <a:extLst>
              <a:ext uri="{FF2B5EF4-FFF2-40B4-BE49-F238E27FC236}">
                <a16:creationId xmlns:a16="http://schemas.microsoft.com/office/drawing/2014/main" id="{E72987D4-4944-4180-33D5-24B8ECA55368}"/>
              </a:ext>
            </a:extLst>
          </p:cNvPr>
          <p:cNvGraphicFramePr>
            <a:graphicFrameLocks noGrp="1"/>
          </p:cNvGraphicFramePr>
          <p:nvPr>
            <p:extLst>
              <p:ext uri="{D42A27DB-BD31-4B8C-83A1-F6EECF244321}">
                <p14:modId xmlns:p14="http://schemas.microsoft.com/office/powerpoint/2010/main" val="888865906"/>
              </p:ext>
            </p:extLst>
          </p:nvPr>
        </p:nvGraphicFramePr>
        <p:xfrm>
          <a:off x="886497" y="1207403"/>
          <a:ext cx="7095777" cy="4443194"/>
        </p:xfrm>
        <a:graphic>
          <a:graphicData uri="http://schemas.openxmlformats.org/drawingml/2006/table">
            <a:tbl>
              <a:tblPr/>
              <a:tblGrid>
                <a:gridCol w="2365259">
                  <a:extLst>
                    <a:ext uri="{9D8B030D-6E8A-4147-A177-3AD203B41FA5}">
                      <a16:colId xmlns:a16="http://schemas.microsoft.com/office/drawing/2014/main" val="1528353935"/>
                    </a:ext>
                  </a:extLst>
                </a:gridCol>
                <a:gridCol w="2365259">
                  <a:extLst>
                    <a:ext uri="{9D8B030D-6E8A-4147-A177-3AD203B41FA5}">
                      <a16:colId xmlns:a16="http://schemas.microsoft.com/office/drawing/2014/main" val="343046885"/>
                    </a:ext>
                  </a:extLst>
                </a:gridCol>
                <a:gridCol w="2365259">
                  <a:extLst>
                    <a:ext uri="{9D8B030D-6E8A-4147-A177-3AD203B41FA5}">
                      <a16:colId xmlns:a16="http://schemas.microsoft.com/office/drawing/2014/main" val="3408300092"/>
                    </a:ext>
                  </a:extLst>
                </a:gridCol>
              </a:tblGrid>
              <a:tr h="303766">
                <a:tc>
                  <a:txBody>
                    <a:bodyPr/>
                    <a:lstStyle/>
                    <a:p>
                      <a:pPr algn="ctr" fontAlgn="t">
                        <a:buNone/>
                      </a:pPr>
                      <a:r>
                        <a:rPr lang="en-US" sz="1500" b="0">
                          <a:solidFill>
                            <a:srgbClr val="FFFFFF"/>
                          </a:solidFill>
                          <a:effectLst/>
                        </a:rPr>
                        <a:t>Feature</a:t>
                      </a:r>
                      <a:endParaRPr lang="en-US" sz="1500">
                        <a:solidFill>
                          <a:srgbClr val="FFFFFF"/>
                        </a:solidFill>
                        <a:effectLst/>
                      </a:endParaRP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500" b="0">
                          <a:solidFill>
                            <a:srgbClr val="FFFFFF"/>
                          </a:solidFill>
                          <a:effectLst/>
                        </a:rPr>
                        <a:t>Constructor</a:t>
                      </a:r>
                      <a:endParaRPr lang="en-US" sz="1500">
                        <a:solidFill>
                          <a:srgbClr val="FFFFFF"/>
                        </a:solidFill>
                        <a:effectLst/>
                      </a:endParaRP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500" b="0">
                          <a:solidFill>
                            <a:srgbClr val="FFFFFF"/>
                          </a:solidFill>
                          <a:effectLst/>
                        </a:rPr>
                        <a:t>Destructor</a:t>
                      </a:r>
                      <a:endParaRPr lang="en-US" sz="1500">
                        <a:solidFill>
                          <a:srgbClr val="FFFFFF"/>
                        </a:solidFill>
                        <a:effectLst/>
                      </a:endParaRP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1107008459"/>
                  </a:ext>
                </a:extLst>
              </a:tr>
              <a:tr h="759414">
                <a:tc>
                  <a:txBody>
                    <a:bodyPr/>
                    <a:lstStyle/>
                    <a:p>
                      <a:pPr fontAlgn="t">
                        <a:buNone/>
                      </a:pPr>
                      <a:r>
                        <a:rPr lang="en-US" sz="1500">
                          <a:effectLst/>
                        </a:rPr>
                        <a:t>Purpose</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500">
                          <a:effectLst/>
                        </a:rPr>
                        <a:t>A constructor is used to allocate the memory.</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500">
                          <a:effectLst/>
                        </a:rPr>
                        <a:t>A </a:t>
                      </a:r>
                      <a:r>
                        <a:rPr lang="en-US" sz="1500" b="0" u="none" strike="noStrike">
                          <a:solidFill>
                            <a:srgbClr val="0F5A9E"/>
                          </a:solidFill>
                          <a:effectLst/>
                          <a:hlinkClick r:id="rId2"/>
                        </a:rPr>
                        <a:t>destructor</a:t>
                      </a:r>
                      <a:r>
                        <a:rPr lang="en-US" sz="1500">
                          <a:effectLst/>
                        </a:rPr>
                        <a:t> is used to deallocate or free up the memory.</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573488968"/>
                  </a:ext>
                </a:extLst>
              </a:tr>
              <a:tr h="531590">
                <a:tc>
                  <a:txBody>
                    <a:bodyPr/>
                    <a:lstStyle/>
                    <a:p>
                      <a:pPr fontAlgn="t">
                        <a:buNone/>
                      </a:pPr>
                      <a:r>
                        <a:rPr lang="en-US" sz="1500">
                          <a:effectLst/>
                        </a:rPr>
                        <a:t>Arguments</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500">
                          <a:effectLst/>
                        </a:rPr>
                        <a:t>May or may not accept arguments.</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500">
                          <a:effectLst/>
                        </a:rPr>
                        <a:t>Destructors don’t accept any arguments.</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44397542"/>
                  </a:ext>
                </a:extLst>
              </a:tr>
              <a:tr h="706150">
                <a:tc>
                  <a:txBody>
                    <a:bodyPr/>
                    <a:lstStyle/>
                    <a:p>
                      <a:pPr fontAlgn="t">
                        <a:buNone/>
                      </a:pPr>
                      <a:r>
                        <a:rPr lang="en-US" sz="1500">
                          <a:effectLst/>
                        </a:rPr>
                        <a:t>Syntax</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500">
                          <a:effectLst/>
                        </a:rPr>
                        <a:t>class_name(arguments){</a:t>
                      </a:r>
                    </a:p>
                    <a:p>
                      <a:pPr algn="just" fontAlgn="t">
                        <a:lnSpc>
                          <a:spcPts val="2100"/>
                        </a:lnSpc>
                        <a:spcBef>
                          <a:spcPts val="1650"/>
                        </a:spcBef>
                        <a:buNone/>
                      </a:pPr>
                      <a:r>
                        <a:rPr lang="en-US" sz="1500" b="0">
                          <a:solidFill>
                            <a:srgbClr val="3A3A3A"/>
                          </a:solidFill>
                          <a:effectLst/>
                        </a:rPr>
                        <a:t>}</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500">
                          <a:effectLst/>
                        </a:rPr>
                        <a:t>~class_name(){</a:t>
                      </a:r>
                    </a:p>
                    <a:p>
                      <a:pPr algn="just" fontAlgn="t">
                        <a:lnSpc>
                          <a:spcPts val="2100"/>
                        </a:lnSpc>
                        <a:spcBef>
                          <a:spcPts val="1650"/>
                        </a:spcBef>
                        <a:buNone/>
                      </a:pPr>
                      <a:r>
                        <a:rPr lang="en-US" sz="1500" b="0">
                          <a:solidFill>
                            <a:srgbClr val="3A3A3A"/>
                          </a:solidFill>
                          <a:effectLst/>
                        </a:rPr>
                        <a:t>};</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791038296"/>
                  </a:ext>
                </a:extLst>
              </a:tr>
              <a:tr h="759414">
                <a:tc>
                  <a:txBody>
                    <a:bodyPr/>
                    <a:lstStyle/>
                    <a:p>
                      <a:pPr fontAlgn="t">
                        <a:buNone/>
                      </a:pPr>
                      <a:r>
                        <a:rPr lang="en-US" sz="1500">
                          <a:effectLst/>
                        </a:rPr>
                        <a:t>Invocation Timing</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500">
                          <a:effectLst/>
                        </a:rPr>
                        <a:t>The constructor is called as soon as the object is created.</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500">
                          <a:effectLst/>
                        </a:rPr>
                        <a:t>Called at the time of program termination or when the block is exited.</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546901266"/>
                  </a:ext>
                </a:extLst>
              </a:tr>
              <a:tr h="987238">
                <a:tc>
                  <a:txBody>
                    <a:bodyPr/>
                    <a:lstStyle/>
                    <a:p>
                      <a:pPr fontAlgn="t">
                        <a:buNone/>
                      </a:pPr>
                      <a:r>
                        <a:rPr lang="en-US" sz="1500">
                          <a:effectLst/>
                        </a:rPr>
                        <a:t>Execution Order in Inheritance</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500">
                          <a:effectLst/>
                        </a:rPr>
                        <a:t>Constructors are executed in successive order, meaning from parent to child class.</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500">
                          <a:effectLst/>
                        </a:rPr>
                        <a:t>Destructors are called in the reverse order, meaning from child to parent class.</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040451505"/>
                  </a:ext>
                </a:extLst>
              </a:tr>
              <a:tr h="303766">
                <a:tc>
                  <a:txBody>
                    <a:bodyPr/>
                    <a:lstStyle/>
                    <a:p>
                      <a:pPr fontAlgn="t">
                        <a:buNone/>
                      </a:pPr>
                      <a:r>
                        <a:rPr lang="en-US" sz="1500">
                          <a:effectLst/>
                        </a:rPr>
                        <a:t>Overloading</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500">
                          <a:effectLst/>
                        </a:rPr>
                        <a:t>Can be overloaded.</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500" dirty="0">
                          <a:effectLst/>
                        </a:rPr>
                        <a:t>Cannot be overloaded.</a:t>
                      </a:r>
                    </a:p>
                  </a:txBody>
                  <a:tcPr marL="75941" marR="75941" marT="37971" marB="3797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946164198"/>
                  </a:ext>
                </a:extLst>
              </a:tr>
            </a:tbl>
          </a:graphicData>
        </a:graphic>
      </p:graphicFrame>
    </p:spTree>
    <p:extLst>
      <p:ext uri="{BB962C8B-B14F-4D97-AF65-F5344CB8AC3E}">
        <p14:creationId xmlns:p14="http://schemas.microsoft.com/office/powerpoint/2010/main" val="741512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79DE-BA72-F671-6D57-9F372D22248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FFB2CA-7C22-938A-1403-C8F48DBBDEE1}"/>
              </a:ext>
            </a:extLst>
          </p:cNvPr>
          <p:cNvSpPr txBox="1"/>
          <p:nvPr/>
        </p:nvSpPr>
        <p:spPr>
          <a:xfrm>
            <a:off x="0" y="0"/>
            <a:ext cx="9906000" cy="868186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59. What is a JAR file in java?</a:t>
            </a:r>
          </a:p>
          <a:p>
            <a:pPr algn="just">
              <a:lnSpc>
                <a:spcPts val="2100"/>
              </a:lnSpc>
              <a:spcBef>
                <a:spcPts val="1650"/>
              </a:spcBef>
              <a:buNone/>
            </a:pPr>
            <a:r>
              <a:rPr lang="en-US" b="0" i="0" dirty="0">
                <a:solidFill>
                  <a:srgbClr val="3A3A3A"/>
                </a:solidFill>
                <a:effectLst/>
                <a:latin typeface="Roboto" panose="02000000000000000000" pitchFamily="2" charset="0"/>
              </a:rPr>
              <a:t>JAR (Java Archive) is a file format that aggregates many files into a single file in a format similar to a ZIP file. In other words, the JAR is a zipped file composed of java class files, metadata, and resources like text, images, audio files, directories, .class files, and more.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60. Explain the volatile keyword and its use cases.</a:t>
            </a: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u="none" strike="noStrike" dirty="0">
                <a:solidFill>
                  <a:srgbClr val="0F5A9E"/>
                </a:solidFill>
                <a:effectLst/>
                <a:latin typeface="Roboto" panose="02000000000000000000" pitchFamily="2" charset="0"/>
                <a:hlinkClick r:id="rId2"/>
              </a:rPr>
              <a:t>volatile keyword in Java</a:t>
            </a:r>
            <a:r>
              <a:rPr lang="en-US" b="0" i="0" dirty="0">
                <a:solidFill>
                  <a:srgbClr val="3A3A3A"/>
                </a:solidFill>
                <a:effectLst/>
                <a:latin typeface="Roboto" panose="02000000000000000000" pitchFamily="2" charset="0"/>
              </a:rPr>
              <a:t> ensures that updates to a variable are visible to all threads. By declaring a variable as volatile, every read loads the most recent value directly from the main memory, and every write immediately updates the main memory.</a:t>
            </a:r>
          </a:p>
          <a:p>
            <a:pPr algn="l">
              <a:spcBef>
                <a:spcPts val="1650"/>
              </a:spcBef>
              <a:buNone/>
            </a:pPr>
            <a:r>
              <a:rPr lang="en-US" b="0" i="0" dirty="0">
                <a:solidFill>
                  <a:srgbClr val="3A3A3A"/>
                </a:solidFill>
                <a:effectLst/>
                <a:latin typeface="Roboto" panose="02000000000000000000" pitchFamily="2" charset="0"/>
              </a:rPr>
              <a:t>Why it is Important in Multithreading:</a:t>
            </a:r>
          </a:p>
          <a:p>
            <a:pPr algn="just">
              <a:lnSpc>
                <a:spcPts val="2100"/>
              </a:lnSpc>
              <a:spcBef>
                <a:spcPts val="1650"/>
              </a:spcBef>
              <a:buNone/>
            </a:pPr>
            <a:r>
              <a:rPr lang="en-US" b="0" i="0" dirty="0">
                <a:solidFill>
                  <a:srgbClr val="3A3A3A"/>
                </a:solidFill>
                <a:effectLst/>
                <a:latin typeface="Roboto" panose="02000000000000000000" pitchFamily="2" charset="0"/>
              </a:rPr>
              <a:t>In a multithreaded environment, threads can cache variables locally. Without the volatile keyword, updates made by one thread may not be immediately visible to other threads, leading to inconsistent data access.</a:t>
            </a:r>
          </a:p>
          <a:p>
            <a:pPr algn="l">
              <a:spcBef>
                <a:spcPts val="1650"/>
              </a:spcBef>
              <a:buNone/>
            </a:pPr>
            <a:r>
              <a:rPr lang="en-US" b="0" i="0" dirty="0">
                <a:solidFill>
                  <a:srgbClr val="3A3A3A"/>
                </a:solidFill>
                <a:effectLst/>
                <a:latin typeface="Roboto" panose="02000000000000000000" pitchFamily="2" charset="0"/>
              </a:rPr>
              <a:t>Key Use Cases: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Flags to manage thread execution:</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private volatile </a:t>
            </a:r>
            <a:r>
              <a:rPr lang="en-US" b="0" i="0" dirty="0" err="1">
                <a:solidFill>
                  <a:srgbClr val="3A3A3A"/>
                </a:solidFill>
                <a:effectLst/>
                <a:latin typeface="Roboto" panose="02000000000000000000" pitchFamily="2" charset="0"/>
              </a:rPr>
              <a:t>boolean</a:t>
            </a:r>
            <a:r>
              <a:rPr lang="en-US" b="0" i="0" dirty="0">
                <a:solidFill>
                  <a:srgbClr val="3A3A3A"/>
                </a:solidFill>
                <a:effectLst/>
                <a:latin typeface="Roboto" panose="02000000000000000000" pitchFamily="2" charset="0"/>
              </a:rPr>
              <a:t> running = true;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Double-checked locking (using volatile to avoid instruction reordering).</a:t>
            </a:r>
          </a:p>
          <a:p>
            <a:pPr algn="l">
              <a:spcBef>
                <a:spcPts val="1650"/>
              </a:spcBef>
              <a:buNone/>
            </a:pPr>
            <a:r>
              <a:rPr lang="en-US" b="0" i="0" dirty="0">
                <a:solidFill>
                  <a:srgbClr val="3A3A3A"/>
                </a:solidFill>
                <a:effectLst/>
                <a:latin typeface="Roboto" panose="02000000000000000000" pitchFamily="2" charset="0"/>
              </a:rPr>
              <a:t>Limitations: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It does not ensure atomicity.</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The volatile keyword is not a replacement for synchronized when there are compound actions like reading-modifying-writing involved.</a:t>
            </a:r>
          </a:p>
        </p:txBody>
      </p:sp>
    </p:spTree>
    <p:extLst>
      <p:ext uri="{BB962C8B-B14F-4D97-AF65-F5344CB8AC3E}">
        <p14:creationId xmlns:p14="http://schemas.microsoft.com/office/powerpoint/2010/main" val="2619061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9F7E-9983-7851-B4B5-4B43F29EA4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022F50-CF44-0214-7364-CCE527A532CC}"/>
              </a:ext>
            </a:extLst>
          </p:cNvPr>
          <p:cNvSpPr txBox="1"/>
          <p:nvPr/>
        </p:nvSpPr>
        <p:spPr>
          <a:xfrm>
            <a:off x="184245" y="152971"/>
            <a:ext cx="4954136" cy="161839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61. What is the difference between throw and throws keyword?</a:t>
            </a:r>
          </a:p>
          <a:p>
            <a:pPr algn="just">
              <a:lnSpc>
                <a:spcPts val="2100"/>
              </a:lnSpc>
              <a:spcBef>
                <a:spcPts val="1650"/>
              </a:spcBef>
              <a:buNone/>
            </a:pPr>
            <a:r>
              <a:rPr lang="en-US" b="0" i="0" dirty="0">
                <a:solidFill>
                  <a:srgbClr val="3A3A3A"/>
                </a:solidFill>
                <a:effectLst/>
                <a:latin typeface="Roboto" panose="02000000000000000000" pitchFamily="2" charset="0"/>
              </a:rPr>
              <a:t>The following are the key differences between the throw and throws keyword:</a:t>
            </a:r>
          </a:p>
        </p:txBody>
      </p:sp>
      <p:graphicFrame>
        <p:nvGraphicFramePr>
          <p:cNvPr id="4" name="Table 3">
            <a:extLst>
              <a:ext uri="{FF2B5EF4-FFF2-40B4-BE49-F238E27FC236}">
                <a16:creationId xmlns:a16="http://schemas.microsoft.com/office/drawing/2014/main" id="{F62D2AF9-9D72-72C8-76C6-C90D13160DE3}"/>
              </a:ext>
            </a:extLst>
          </p:cNvPr>
          <p:cNvGraphicFramePr>
            <a:graphicFrameLocks noGrp="1"/>
          </p:cNvGraphicFramePr>
          <p:nvPr/>
        </p:nvGraphicFramePr>
        <p:xfrm>
          <a:off x="681038" y="2263934"/>
          <a:ext cx="8543924" cy="3474720"/>
        </p:xfrm>
        <a:graphic>
          <a:graphicData uri="http://schemas.openxmlformats.org/drawingml/2006/table">
            <a:tbl>
              <a:tblPr/>
              <a:tblGrid>
                <a:gridCol w="4271962">
                  <a:extLst>
                    <a:ext uri="{9D8B030D-6E8A-4147-A177-3AD203B41FA5}">
                      <a16:colId xmlns:a16="http://schemas.microsoft.com/office/drawing/2014/main" val="3114483573"/>
                    </a:ext>
                  </a:extLst>
                </a:gridCol>
                <a:gridCol w="4271962">
                  <a:extLst>
                    <a:ext uri="{9D8B030D-6E8A-4147-A177-3AD203B41FA5}">
                      <a16:colId xmlns:a16="http://schemas.microsoft.com/office/drawing/2014/main" val="1888659454"/>
                    </a:ext>
                  </a:extLst>
                </a:gridCol>
              </a:tblGrid>
              <a:tr h="365760">
                <a:tc>
                  <a:txBody>
                    <a:bodyPr/>
                    <a:lstStyle/>
                    <a:p>
                      <a:pPr algn="ctr" fontAlgn="t">
                        <a:buNone/>
                      </a:pPr>
                      <a:r>
                        <a:rPr lang="en-US" sz="1800" b="0">
                          <a:solidFill>
                            <a:srgbClr val="FFFFFF"/>
                          </a:solidFill>
                          <a:effectLst/>
                        </a:rPr>
                        <a:t>throw</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800" b="0">
                          <a:solidFill>
                            <a:srgbClr val="FFFFFF"/>
                          </a:solidFill>
                          <a:effectLst/>
                        </a:rPr>
                        <a:t>throws</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017940584"/>
                  </a:ext>
                </a:extLst>
              </a:tr>
              <a:tr h="1188720">
                <a:tc>
                  <a:txBody>
                    <a:bodyPr/>
                    <a:lstStyle/>
                    <a:p>
                      <a:pPr fontAlgn="t">
                        <a:buNone/>
                      </a:pPr>
                      <a:r>
                        <a:rPr lang="en-US" sz="1800">
                          <a:effectLst/>
                        </a:rPr>
                        <a:t>The throw keyword is used to explicitly throw an exception inside a program or a block of code.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Throws keyword is used to declare an exception in the method signature that might occur during the compilation or execution of a program.</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757851113"/>
                  </a:ext>
                </a:extLst>
              </a:tr>
              <a:tr h="640080">
                <a:tc>
                  <a:txBody>
                    <a:bodyPr/>
                    <a:lstStyle/>
                    <a:p>
                      <a:pPr fontAlgn="t">
                        <a:buNone/>
                      </a:pPr>
                      <a:r>
                        <a:rPr lang="en-US" sz="1800">
                          <a:effectLst/>
                        </a:rPr>
                        <a:t>Can throw only unchecked exceptions.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Can be used for both </a:t>
                      </a:r>
                      <a:r>
                        <a:rPr lang="en-US" sz="1800" u="none" strike="noStrike">
                          <a:solidFill>
                            <a:srgbClr val="0F5A9E"/>
                          </a:solidFill>
                          <a:effectLst/>
                          <a:hlinkClick r:id="rId2"/>
                        </a:rPr>
                        <a:t>checked and unchecked exceptions</a:t>
                      </a:r>
                      <a:r>
                        <a:rPr lang="en-US" sz="1800">
                          <a:effectLst/>
                        </a:rPr>
                        <a: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83755058"/>
                  </a:ext>
                </a:extLst>
              </a:tr>
              <a:tr h="640080">
                <a:tc>
                  <a:txBody>
                    <a:bodyPr/>
                    <a:lstStyle/>
                    <a:p>
                      <a:pPr fontAlgn="t">
                        <a:buNone/>
                      </a:pPr>
                      <a:r>
                        <a:rPr lang="en-US" sz="1800">
                          <a:effectLst/>
                        </a:rPr>
                        <a:t>throw keyword followed by an instance variable.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throws keyword followed by the exception class names.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608551405"/>
                  </a:ext>
                </a:extLst>
              </a:tr>
              <a:tr h="640080">
                <a:tc>
                  <a:txBody>
                    <a:bodyPr/>
                    <a:lstStyle/>
                    <a:p>
                      <a:pPr fontAlgn="t">
                        <a:buNone/>
                      </a:pPr>
                      <a:r>
                        <a:rPr lang="en-US" sz="1800">
                          <a:effectLst/>
                        </a:rPr>
                        <a:t>throw keyword is used to throw only a single exception.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dirty="0">
                          <a:effectLst/>
                        </a:rPr>
                        <a:t>throws can be used to throw multiple exceptions.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576477451"/>
                  </a:ext>
                </a:extLst>
              </a:tr>
            </a:tbl>
          </a:graphicData>
        </a:graphic>
      </p:graphicFrame>
    </p:spTree>
    <p:extLst>
      <p:ext uri="{BB962C8B-B14F-4D97-AF65-F5344CB8AC3E}">
        <p14:creationId xmlns:p14="http://schemas.microsoft.com/office/powerpoint/2010/main" val="2257858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DBD1-6A27-5F93-91B3-91C2B7F6AC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6DBA67-E8F9-A793-C734-33781C7BF521}"/>
              </a:ext>
            </a:extLst>
          </p:cNvPr>
          <p:cNvSpPr txBox="1"/>
          <p:nvPr/>
        </p:nvSpPr>
        <p:spPr>
          <a:xfrm>
            <a:off x="230874" y="192073"/>
            <a:ext cx="9444251" cy="666592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62. What is the </a:t>
            </a:r>
            <a:r>
              <a:rPr lang="en-US" b="0" i="0" dirty="0" err="1">
                <a:solidFill>
                  <a:srgbClr val="272C37"/>
                </a:solidFill>
                <a:effectLst/>
                <a:latin typeface="Roboto" panose="02000000000000000000" pitchFamily="2" charset="0"/>
              </a:rPr>
              <a:t>instanceof</a:t>
            </a:r>
            <a:r>
              <a:rPr lang="en-US" b="0" i="0" dirty="0">
                <a:solidFill>
                  <a:srgbClr val="272C37"/>
                </a:solidFill>
                <a:effectLst/>
                <a:latin typeface="Roboto" panose="02000000000000000000" pitchFamily="2" charset="0"/>
              </a:rPr>
              <a:t> operator used for?</a:t>
            </a: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dirty="0" err="1">
                <a:solidFill>
                  <a:srgbClr val="3A3A3A"/>
                </a:solidFill>
                <a:effectLst/>
                <a:latin typeface="Roboto" panose="02000000000000000000" pitchFamily="2" charset="0"/>
              </a:rPr>
              <a:t>instanceof</a:t>
            </a:r>
            <a:r>
              <a:rPr lang="en-US" b="0" i="0" dirty="0">
                <a:solidFill>
                  <a:srgbClr val="3A3A3A"/>
                </a:solidFill>
                <a:effectLst/>
                <a:latin typeface="Roboto" panose="02000000000000000000" pitchFamily="2" charset="0"/>
              </a:rPr>
              <a:t> operator is used to check whether an object is an instance of a particular class or implements a specific interface. It is commonly used to verify an object’s type before </a:t>
            </a:r>
            <a:r>
              <a:rPr lang="en-US" b="0" i="0" dirty="0" err="1">
                <a:solidFill>
                  <a:srgbClr val="3A3A3A"/>
                </a:solidFill>
                <a:effectLst/>
                <a:latin typeface="Roboto" panose="02000000000000000000" pitchFamily="2" charset="0"/>
              </a:rPr>
              <a:t>downcasting</a:t>
            </a:r>
            <a:r>
              <a:rPr lang="en-US" b="0" i="0" dirty="0">
                <a:solidFill>
                  <a:srgbClr val="3A3A3A"/>
                </a:solidFill>
                <a:effectLst/>
                <a:latin typeface="Roboto" panose="02000000000000000000" pitchFamily="2" charset="0"/>
              </a:rPr>
              <a:t>.</a:t>
            </a:r>
          </a:p>
          <a:p>
            <a:pPr algn="l">
              <a:spcBef>
                <a:spcPts val="1650"/>
              </a:spcBef>
              <a:buNone/>
            </a:pPr>
            <a:r>
              <a:rPr lang="en-US" b="0" i="0" dirty="0">
                <a:solidFill>
                  <a:srgbClr val="3A3A3A"/>
                </a:solidFill>
                <a:effectLst/>
                <a:latin typeface="Roboto" panose="02000000000000000000" pitchFamily="2" charset="0"/>
              </a:rPr>
              <a:t>Syntax:</a:t>
            </a:r>
          </a:p>
          <a:p>
            <a:pPr algn="l">
              <a:spcBef>
                <a:spcPts val="1125"/>
              </a:spcBef>
              <a:spcAft>
                <a:spcPts val="375"/>
              </a:spcAft>
              <a:buNone/>
            </a:pPr>
            <a:r>
              <a:rPr lang="en-US" b="0" i="0" dirty="0">
                <a:solidFill>
                  <a:srgbClr val="212529"/>
                </a:solidFill>
                <a:effectLst/>
                <a:latin typeface="Courier New" panose="02070309020205020404" pitchFamily="49" charset="0"/>
              </a:rPr>
              <a:t>if (obj </a:t>
            </a:r>
            <a:r>
              <a:rPr lang="en-US" b="0" i="0" dirty="0" err="1">
                <a:solidFill>
                  <a:srgbClr val="212529"/>
                </a:solidFill>
                <a:effectLst/>
                <a:latin typeface="Courier New" panose="02070309020205020404" pitchFamily="49" charset="0"/>
              </a:rPr>
              <a:t>instanceof</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MyClass</a:t>
            </a:r>
            <a:r>
              <a:rPr lang="en-US" b="0" i="0" dirty="0">
                <a:solidFill>
                  <a:srgbClr val="212529"/>
                </a:solidFill>
                <a:effectLst/>
                <a:latin typeface="Courier New" panose="02070309020205020404" pitchFamily="49" charset="0"/>
              </a:rPr>
              <a:t>) {</a:t>
            </a: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MyClass</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myObj</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MyClass</a:t>
            </a:r>
            <a:r>
              <a:rPr lang="en-US" b="0" i="0" dirty="0">
                <a:solidFill>
                  <a:srgbClr val="212529"/>
                </a:solidFill>
                <a:effectLst/>
                <a:latin typeface="Courier New" panose="02070309020205020404" pitchFamily="49" charset="0"/>
              </a:rPr>
              <a:t>) obj;</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650"/>
              </a:spcBef>
              <a:buNone/>
            </a:pPr>
            <a:r>
              <a:rPr lang="en-US" b="0" i="0" dirty="0">
                <a:solidFill>
                  <a:srgbClr val="3A3A3A"/>
                </a:solidFill>
                <a:effectLst/>
                <a:latin typeface="Roboto" panose="02000000000000000000" pitchFamily="2" charset="0"/>
              </a:rPr>
              <a:t>Use Case: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Polymorphic functionality when various types are accessed through a superclass or interface.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Casting objects safely while programming with Object references.</a:t>
            </a:r>
          </a:p>
          <a:p>
            <a:pPr algn="l">
              <a:spcBef>
                <a:spcPts val="1650"/>
              </a:spcBef>
              <a:buNone/>
            </a:pPr>
            <a:r>
              <a:rPr lang="en-US" b="0" i="0" dirty="0">
                <a:solidFill>
                  <a:srgbClr val="3A3A3A"/>
                </a:solidFill>
                <a:effectLst/>
                <a:latin typeface="Roboto" panose="02000000000000000000" pitchFamily="2" charset="0"/>
              </a:rPr>
              <a:t>Best Practice:</a:t>
            </a:r>
          </a:p>
          <a:p>
            <a:pPr algn="just">
              <a:lnSpc>
                <a:spcPts val="2100"/>
              </a:lnSpc>
              <a:spcBef>
                <a:spcPts val="1650"/>
              </a:spcBef>
              <a:buNone/>
            </a:pPr>
            <a:r>
              <a:rPr lang="en-US" b="0" i="0" dirty="0">
                <a:solidFill>
                  <a:srgbClr val="3A3A3A"/>
                </a:solidFill>
                <a:effectLst/>
                <a:latin typeface="Roboto" panose="02000000000000000000" pitchFamily="2" charset="0"/>
              </a:rPr>
              <a:t>Use polymorphism and method overriding instead of overusing </a:t>
            </a:r>
            <a:r>
              <a:rPr lang="en-US" b="0" i="0" dirty="0" err="1">
                <a:solidFill>
                  <a:srgbClr val="3A3A3A"/>
                </a:solidFill>
                <a:effectLst/>
                <a:latin typeface="Roboto" panose="02000000000000000000" pitchFamily="2" charset="0"/>
              </a:rPr>
              <a:t>instanceof</a:t>
            </a:r>
            <a:r>
              <a:rPr lang="en-US" b="0" i="0" dirty="0">
                <a:solidFill>
                  <a:srgbClr val="3A3A3A"/>
                </a:solidFill>
                <a:effectLst/>
                <a:latin typeface="Roboto" panose="02000000000000000000" pitchFamily="2" charset="0"/>
              </a:rPr>
              <a:t>, as the latter may become a code smell for certain OOP designs.</a:t>
            </a:r>
          </a:p>
        </p:txBody>
      </p:sp>
    </p:spTree>
    <p:extLst>
      <p:ext uri="{BB962C8B-B14F-4D97-AF65-F5344CB8AC3E}">
        <p14:creationId xmlns:p14="http://schemas.microsoft.com/office/powerpoint/2010/main" val="1551049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AA9C-661F-B1F3-C775-9B8565CE5B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DFAD70-5854-49EC-8B1A-09E574D093B8}"/>
              </a:ext>
            </a:extLst>
          </p:cNvPr>
          <p:cNvSpPr txBox="1"/>
          <p:nvPr/>
        </p:nvSpPr>
        <p:spPr>
          <a:xfrm>
            <a:off x="0" y="169024"/>
            <a:ext cx="8243248" cy="36163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63. How does the Comparator interface differ from Comparable?</a:t>
            </a:r>
          </a:p>
        </p:txBody>
      </p:sp>
      <p:graphicFrame>
        <p:nvGraphicFramePr>
          <p:cNvPr id="4" name="Table 3">
            <a:extLst>
              <a:ext uri="{FF2B5EF4-FFF2-40B4-BE49-F238E27FC236}">
                <a16:creationId xmlns:a16="http://schemas.microsoft.com/office/drawing/2014/main" id="{8C3AAD18-9F33-75B0-473D-AB3D02B1CDDA}"/>
              </a:ext>
            </a:extLst>
          </p:cNvPr>
          <p:cNvGraphicFramePr>
            <a:graphicFrameLocks noGrp="1"/>
          </p:cNvGraphicFramePr>
          <p:nvPr>
            <p:extLst>
              <p:ext uri="{D42A27DB-BD31-4B8C-83A1-F6EECF244321}">
                <p14:modId xmlns:p14="http://schemas.microsoft.com/office/powerpoint/2010/main" val="3212320579"/>
              </p:ext>
            </p:extLst>
          </p:nvPr>
        </p:nvGraphicFramePr>
        <p:xfrm>
          <a:off x="462674" y="530661"/>
          <a:ext cx="8543925" cy="3017520"/>
        </p:xfrm>
        <a:graphic>
          <a:graphicData uri="http://schemas.openxmlformats.org/drawingml/2006/table">
            <a:tbl>
              <a:tblPr/>
              <a:tblGrid>
                <a:gridCol w="2847975">
                  <a:extLst>
                    <a:ext uri="{9D8B030D-6E8A-4147-A177-3AD203B41FA5}">
                      <a16:colId xmlns:a16="http://schemas.microsoft.com/office/drawing/2014/main" val="3859481457"/>
                    </a:ext>
                  </a:extLst>
                </a:gridCol>
                <a:gridCol w="2847975">
                  <a:extLst>
                    <a:ext uri="{9D8B030D-6E8A-4147-A177-3AD203B41FA5}">
                      <a16:colId xmlns:a16="http://schemas.microsoft.com/office/drawing/2014/main" val="2560200675"/>
                    </a:ext>
                  </a:extLst>
                </a:gridCol>
                <a:gridCol w="2847975">
                  <a:extLst>
                    <a:ext uri="{9D8B030D-6E8A-4147-A177-3AD203B41FA5}">
                      <a16:colId xmlns:a16="http://schemas.microsoft.com/office/drawing/2014/main" val="673110869"/>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Comparable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Comparator</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487557803"/>
                  </a:ext>
                </a:extLst>
              </a:tr>
              <a:tr h="0">
                <a:tc>
                  <a:txBody>
                    <a:bodyPr/>
                    <a:lstStyle/>
                    <a:p>
                      <a:pPr fontAlgn="t">
                        <a:buNone/>
                      </a:pPr>
                      <a:r>
                        <a:rPr lang="en-US">
                          <a:effectLst/>
                        </a:rPr>
                        <a:t>Package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java.lang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java.util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955131554"/>
                  </a:ext>
                </a:extLst>
              </a:tr>
              <a:tr h="0">
                <a:tc>
                  <a:txBody>
                    <a:bodyPr/>
                    <a:lstStyle/>
                    <a:p>
                      <a:pPr fontAlgn="t">
                        <a:buNone/>
                      </a:pPr>
                      <a:r>
                        <a:rPr lang="en-US">
                          <a:effectLst/>
                        </a:rPr>
                        <a:t>Method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compareTo(T 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compare(T o1, T o2)</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276155385"/>
                  </a:ext>
                </a:extLst>
              </a:tr>
              <a:tr h="0">
                <a:tc>
                  <a:txBody>
                    <a:bodyPr/>
                    <a:lstStyle/>
                    <a:p>
                      <a:pPr fontAlgn="t">
                        <a:buNone/>
                      </a:pPr>
                      <a:r>
                        <a:rPr lang="en-US">
                          <a:effectLst/>
                        </a:rPr>
                        <a:t>Defined In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Same class being compared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Separate or anonymous class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594525264"/>
                  </a:ext>
                </a:extLst>
              </a:tr>
              <a:tr h="0">
                <a:tc>
                  <a:txBody>
                    <a:bodyPr/>
                    <a:lstStyle/>
                    <a:p>
                      <a:pPr fontAlgn="t">
                        <a:buNone/>
                      </a:pPr>
                      <a:r>
                        <a:rPr lang="en-US">
                          <a:effectLst/>
                        </a:rPr>
                        <a:t>Sorting Logic</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Natural/default order</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Custom or multiple orderings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074750990"/>
                  </a:ext>
                </a:extLst>
              </a:tr>
              <a:tr h="0">
                <a:tc>
                  <a:txBody>
                    <a:bodyPr/>
                    <a:lstStyle/>
                    <a:p>
                      <a:pPr fontAlgn="t">
                        <a:buNone/>
                      </a:pPr>
                      <a:r>
                        <a:rPr lang="en-US">
                          <a:effectLst/>
                        </a:rPr>
                        <a:t>Flexibility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One comparison strategy only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Multiple strategies possible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66807901"/>
                  </a:ext>
                </a:extLst>
              </a:tr>
            </a:tbl>
          </a:graphicData>
        </a:graphic>
      </p:graphicFrame>
      <p:sp>
        <p:nvSpPr>
          <p:cNvPr id="6" name="TextBox 5">
            <a:extLst>
              <a:ext uri="{FF2B5EF4-FFF2-40B4-BE49-F238E27FC236}">
                <a16:creationId xmlns:a16="http://schemas.microsoft.com/office/drawing/2014/main" id="{5B5AF0ED-929A-2D18-39EC-518C70939C67}"/>
              </a:ext>
            </a:extLst>
          </p:cNvPr>
          <p:cNvSpPr txBox="1"/>
          <p:nvPr/>
        </p:nvSpPr>
        <p:spPr>
          <a:xfrm>
            <a:off x="434241" y="3614818"/>
            <a:ext cx="9105544" cy="4793620"/>
          </a:xfrm>
          <a:prstGeom prst="rect">
            <a:avLst/>
          </a:prstGeom>
          <a:noFill/>
        </p:spPr>
        <p:txBody>
          <a:bodyPr wrap="square">
            <a:spAutoFit/>
          </a:bodyPr>
          <a:lstStyle/>
          <a:p>
            <a:pPr algn="just">
              <a:lnSpc>
                <a:spcPts val="2100"/>
              </a:lnSpc>
              <a:spcBef>
                <a:spcPts val="1650"/>
              </a:spcBef>
              <a:buNone/>
            </a:pPr>
            <a:r>
              <a:rPr lang="en-US" b="0" i="0" dirty="0">
                <a:solidFill>
                  <a:srgbClr val="3A3A3A"/>
                </a:solidFill>
                <a:effectLst/>
                <a:latin typeface="Roboto" panose="02000000000000000000" pitchFamily="2" charset="0"/>
              </a:rPr>
              <a:t>Comparable Example:</a:t>
            </a:r>
          </a:p>
          <a:p>
            <a:pPr algn="l">
              <a:spcBef>
                <a:spcPts val="1125"/>
              </a:spcBef>
              <a:spcAft>
                <a:spcPts val="375"/>
              </a:spcAft>
              <a:buNone/>
            </a:pPr>
            <a:r>
              <a:rPr lang="en-US" b="0" i="0" dirty="0">
                <a:solidFill>
                  <a:srgbClr val="212529"/>
                </a:solidFill>
                <a:effectLst/>
                <a:latin typeface="Courier New" panose="02070309020205020404" pitchFamily="49" charset="0"/>
              </a:rPr>
              <a:t>public class Student implements Comparable {</a:t>
            </a:r>
          </a:p>
          <a:p>
            <a:pPr algn="l">
              <a:spcBef>
                <a:spcPts val="1125"/>
              </a:spcBef>
              <a:spcAft>
                <a:spcPts val="375"/>
              </a:spcAft>
              <a:buNone/>
            </a:pPr>
            <a:r>
              <a:rPr lang="en-US" b="0" i="0" dirty="0">
                <a:solidFill>
                  <a:srgbClr val="212529"/>
                </a:solidFill>
                <a:effectLst/>
                <a:latin typeface="Courier New" panose="02070309020205020404" pitchFamily="49" charset="0"/>
              </a:rPr>
              <a:t>    public int </a:t>
            </a:r>
            <a:r>
              <a:rPr lang="en-US" b="0" i="0" dirty="0" err="1">
                <a:solidFill>
                  <a:srgbClr val="212529"/>
                </a:solidFill>
                <a:effectLst/>
                <a:latin typeface="Courier New" panose="02070309020205020404" pitchFamily="49" charset="0"/>
              </a:rPr>
              <a:t>compareTo</a:t>
            </a:r>
            <a:r>
              <a:rPr lang="en-US" b="0" i="0" dirty="0">
                <a:solidFill>
                  <a:srgbClr val="212529"/>
                </a:solidFill>
                <a:effectLst/>
                <a:latin typeface="Courier New" panose="02070309020205020404" pitchFamily="49" charset="0"/>
              </a:rPr>
              <a:t>(Student s) {</a:t>
            </a:r>
          </a:p>
          <a:p>
            <a:pPr algn="l">
              <a:spcBef>
                <a:spcPts val="1125"/>
              </a:spcBef>
              <a:spcAft>
                <a:spcPts val="375"/>
              </a:spcAft>
              <a:buNone/>
            </a:pPr>
            <a:r>
              <a:rPr lang="en-US" b="0" i="0" dirty="0">
                <a:solidFill>
                  <a:srgbClr val="212529"/>
                </a:solidFill>
                <a:effectLst/>
                <a:latin typeface="Courier New" panose="02070309020205020404" pitchFamily="49" charset="0"/>
              </a:rPr>
              <a:t>        return this.id - s.id;</a:t>
            </a:r>
          </a:p>
          <a:p>
            <a:pPr algn="l">
              <a:spcBef>
                <a:spcPts val="1125"/>
              </a:spcBef>
              <a:spcAft>
                <a:spcPts val="375"/>
              </a:spcAft>
              <a:buNone/>
            </a:pPr>
            <a:r>
              <a:rPr lang="en-US" b="0" i="0" dirty="0">
                <a:solidFill>
                  <a:srgbClr val="212529"/>
                </a:solidFill>
                <a:effectLst/>
                <a:latin typeface="Courier New" panose="02070309020205020404" pitchFamily="49" charset="0"/>
              </a:rPr>
              <a:t>    }</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Comparator Example:</a:t>
            </a:r>
          </a:p>
          <a:p>
            <a:pPr algn="l">
              <a:spcBef>
                <a:spcPts val="1125"/>
              </a:spcBef>
              <a:spcAft>
                <a:spcPts val="375"/>
              </a:spcAft>
              <a:buNone/>
            </a:pPr>
            <a:r>
              <a:rPr lang="en-US" b="0" i="0" dirty="0">
                <a:solidFill>
                  <a:srgbClr val="212529"/>
                </a:solidFill>
                <a:effectLst/>
                <a:latin typeface="Courier New" panose="02070309020205020404" pitchFamily="49" charset="0"/>
              </a:rPr>
              <a:t>Comparator </a:t>
            </a:r>
            <a:r>
              <a:rPr lang="en-US" b="0" i="0" dirty="0" err="1">
                <a:solidFill>
                  <a:srgbClr val="212529"/>
                </a:solidFill>
                <a:effectLst/>
                <a:latin typeface="Courier New" panose="02070309020205020404" pitchFamily="49" charset="0"/>
              </a:rPr>
              <a:t>byName</a:t>
            </a:r>
            <a:r>
              <a:rPr lang="en-US" b="0" i="0" dirty="0">
                <a:solidFill>
                  <a:srgbClr val="212529"/>
                </a:solidFill>
                <a:effectLst/>
                <a:latin typeface="Courier New" panose="02070309020205020404" pitchFamily="49" charset="0"/>
              </a:rPr>
              <a:t> = (s1, s2) -&gt; s1.name.compareTo(s2.name);</a:t>
            </a:r>
          </a:p>
          <a:p>
            <a:pPr algn="just">
              <a:lnSpc>
                <a:spcPts val="2100"/>
              </a:lnSpc>
              <a:spcBef>
                <a:spcPts val="1650"/>
              </a:spcBef>
              <a:buNone/>
            </a:pPr>
            <a:r>
              <a:rPr lang="en-US" b="0" i="0" dirty="0">
                <a:solidFill>
                  <a:srgbClr val="3A3A3A"/>
                </a:solidFill>
                <a:effectLst/>
                <a:latin typeface="Roboto" panose="02000000000000000000" pitchFamily="2" charset="0"/>
              </a:rPr>
              <a:t>Use Case:</a:t>
            </a:r>
          </a:p>
          <a:p>
            <a:pPr algn="just">
              <a:lnSpc>
                <a:spcPts val="2100"/>
              </a:lnSpc>
              <a:spcBef>
                <a:spcPts val="750"/>
              </a:spcBef>
              <a:buNone/>
            </a:pPr>
            <a:r>
              <a:rPr lang="en-US" b="0" i="0" dirty="0">
                <a:solidFill>
                  <a:srgbClr val="3A3A3A"/>
                </a:solidFill>
                <a:effectLst/>
                <a:latin typeface="Roboto" panose="02000000000000000000" pitchFamily="2" charset="0"/>
              </a:rPr>
              <a:t>Use Comparable for natural ordering. Use Comparator for flexible, dynamic ordering (particularly with varying fields).</a:t>
            </a:r>
          </a:p>
        </p:txBody>
      </p:sp>
    </p:spTree>
    <p:extLst>
      <p:ext uri="{BB962C8B-B14F-4D97-AF65-F5344CB8AC3E}">
        <p14:creationId xmlns:p14="http://schemas.microsoft.com/office/powerpoint/2010/main" val="3071327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A5E3-BD05-87C9-6C1C-F7FAAF33BE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8584C1-4723-CA66-BED7-7848A4D06A79}"/>
              </a:ext>
            </a:extLst>
          </p:cNvPr>
          <p:cNvSpPr txBox="1"/>
          <p:nvPr/>
        </p:nvSpPr>
        <p:spPr>
          <a:xfrm>
            <a:off x="219274" y="129115"/>
            <a:ext cx="7421046" cy="995144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64. What is a </a:t>
            </a:r>
            <a:r>
              <a:rPr lang="en-US" b="0" i="0" dirty="0" err="1">
                <a:solidFill>
                  <a:srgbClr val="272C37"/>
                </a:solidFill>
                <a:effectLst/>
                <a:latin typeface="Roboto" panose="02000000000000000000" pitchFamily="2" charset="0"/>
              </a:rPr>
              <a:t>ConcurrentModificationException</a:t>
            </a:r>
            <a:r>
              <a:rPr lang="en-US" b="0" i="0" dirty="0">
                <a:solidFill>
                  <a:srgbClr val="272C37"/>
                </a:solidFill>
                <a:effectLst/>
                <a:latin typeface="Roboto" panose="02000000000000000000" pitchFamily="2" charset="0"/>
              </a:rPr>
              <a:t>, and how can it be avoided?</a:t>
            </a:r>
          </a:p>
          <a:p>
            <a:pPr algn="just">
              <a:lnSpc>
                <a:spcPts val="2100"/>
              </a:lnSpc>
              <a:spcBef>
                <a:spcPts val="1650"/>
              </a:spcBef>
              <a:buNone/>
            </a:pPr>
            <a:r>
              <a:rPr lang="en-US" b="0" i="0" dirty="0" err="1">
                <a:solidFill>
                  <a:srgbClr val="3A3A3A"/>
                </a:solidFill>
                <a:effectLst/>
                <a:latin typeface="Roboto" panose="02000000000000000000" pitchFamily="2" charset="0"/>
              </a:rPr>
              <a:t>ConcurrentModificationException</a:t>
            </a:r>
            <a:r>
              <a:rPr lang="en-US" b="0" i="0" dirty="0">
                <a:solidFill>
                  <a:srgbClr val="3A3A3A"/>
                </a:solidFill>
                <a:effectLst/>
                <a:latin typeface="Roboto" panose="02000000000000000000" pitchFamily="2" charset="0"/>
              </a:rPr>
              <a:t> is raised when a thread is modifying a collection while iterating over its elements with fail-fast iterators like </a:t>
            </a:r>
            <a:r>
              <a:rPr lang="en-US" b="0" i="0" dirty="0" err="1">
                <a:solidFill>
                  <a:srgbClr val="3A3A3A"/>
                </a:solidFill>
                <a:effectLst/>
                <a:latin typeface="Roboto" panose="02000000000000000000" pitchFamily="2" charset="0"/>
              </a:rPr>
              <a:t>ArrayList</a:t>
            </a:r>
            <a:r>
              <a:rPr lang="en-US" b="0" i="0" dirty="0">
                <a:solidFill>
                  <a:srgbClr val="3A3A3A"/>
                </a:solidFill>
                <a:effectLst/>
                <a:latin typeface="Roboto" panose="02000000000000000000" pitchFamily="2" charset="0"/>
              </a:rPr>
              <a:t>, HashMap, etc.</a:t>
            </a:r>
          </a:p>
          <a:p>
            <a:pPr algn="l">
              <a:spcBef>
                <a:spcPts val="1650"/>
              </a:spcBef>
              <a:buNone/>
            </a:pPr>
            <a:r>
              <a:rPr lang="en-US" b="0" i="0" dirty="0">
                <a:solidFill>
                  <a:srgbClr val="3A3A3A"/>
                </a:solidFill>
                <a:effectLst/>
                <a:latin typeface="Roboto" panose="02000000000000000000" pitchFamily="2" charset="0"/>
              </a:rPr>
              <a:t>Common Cause:</a:t>
            </a:r>
          </a:p>
          <a:p>
            <a:pPr algn="l">
              <a:spcBef>
                <a:spcPts val="1125"/>
              </a:spcBef>
              <a:spcAft>
                <a:spcPts val="375"/>
              </a:spcAft>
              <a:buNone/>
            </a:pPr>
            <a:r>
              <a:rPr lang="en-US" b="0" i="0" dirty="0">
                <a:solidFill>
                  <a:srgbClr val="212529"/>
                </a:solidFill>
                <a:effectLst/>
                <a:latin typeface="Courier New" panose="02070309020205020404" pitchFamily="49" charset="0"/>
              </a:rPr>
              <a:t>for (String s : list) {</a:t>
            </a: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list.remove</a:t>
            </a:r>
            <a:r>
              <a:rPr lang="en-US" b="0" i="0" dirty="0">
                <a:solidFill>
                  <a:srgbClr val="212529"/>
                </a:solidFill>
                <a:effectLst/>
                <a:latin typeface="Courier New" panose="02070309020205020404" pitchFamily="49" charset="0"/>
              </a:rPr>
              <a:t>(s); // Unsafe!</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How to Avoid It:</a:t>
            </a:r>
          </a:p>
          <a:p>
            <a:pPr algn="just">
              <a:lnSpc>
                <a:spcPts val="2100"/>
              </a:lnSpc>
              <a:spcBef>
                <a:spcPts val="750"/>
              </a:spcBef>
              <a:buNone/>
            </a:pPr>
            <a:r>
              <a:rPr lang="en-US" b="0" i="0" dirty="0">
                <a:solidFill>
                  <a:srgbClr val="3A3A3A"/>
                </a:solidFill>
                <a:effectLst/>
                <a:latin typeface="Roboto" panose="02000000000000000000" pitchFamily="2" charset="0"/>
              </a:rPr>
              <a:t>Use Iterator’s remove() method:</a:t>
            </a:r>
          </a:p>
          <a:p>
            <a:pPr algn="l">
              <a:spcBef>
                <a:spcPts val="1125"/>
              </a:spcBef>
              <a:spcAft>
                <a:spcPts val="375"/>
              </a:spcAft>
              <a:buNone/>
            </a:pPr>
            <a:r>
              <a:rPr lang="en-US" b="0" i="0" dirty="0">
                <a:solidFill>
                  <a:srgbClr val="212529"/>
                </a:solidFill>
                <a:effectLst/>
                <a:latin typeface="Courier New" panose="02070309020205020404" pitchFamily="49" charset="0"/>
              </a:rPr>
              <a:t>Iterator it = </a:t>
            </a:r>
            <a:r>
              <a:rPr lang="en-US" b="0" i="0" dirty="0" err="1">
                <a:solidFill>
                  <a:srgbClr val="212529"/>
                </a:solidFill>
                <a:effectLst/>
                <a:latin typeface="Courier New" panose="02070309020205020404" pitchFamily="49" charset="0"/>
              </a:rPr>
              <a:t>list.iterator</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while (</a:t>
            </a:r>
            <a:r>
              <a:rPr lang="en-US" b="0" i="0" dirty="0" err="1">
                <a:solidFill>
                  <a:srgbClr val="212529"/>
                </a:solidFill>
                <a:effectLst/>
                <a:latin typeface="Courier New" panose="02070309020205020404" pitchFamily="49" charset="0"/>
              </a:rPr>
              <a:t>it.hasNext</a:t>
            </a:r>
            <a:r>
              <a:rPr lang="en-US" b="0" i="0" dirty="0">
                <a:solidFill>
                  <a:srgbClr val="212529"/>
                </a:solidFill>
                <a:effectLst/>
                <a:latin typeface="Courier New" panose="02070309020205020404" pitchFamily="49" charset="0"/>
              </a:rPr>
              <a:t>()) {</a:t>
            </a:r>
          </a:p>
          <a:p>
            <a:pPr algn="l">
              <a:spcBef>
                <a:spcPts val="1125"/>
              </a:spcBef>
              <a:spcAft>
                <a:spcPts val="375"/>
              </a:spcAft>
              <a:buNone/>
            </a:pPr>
            <a:r>
              <a:rPr lang="en-US" b="0" i="0" dirty="0">
                <a:solidFill>
                  <a:srgbClr val="212529"/>
                </a:solidFill>
                <a:effectLst/>
                <a:latin typeface="Courier New" panose="02070309020205020404" pitchFamily="49" charset="0"/>
              </a:rPr>
              <a:t>    if (condition) </a:t>
            </a:r>
            <a:r>
              <a:rPr lang="en-US" b="0" i="0" dirty="0" err="1">
                <a:solidFill>
                  <a:srgbClr val="212529"/>
                </a:solidFill>
                <a:effectLst/>
                <a:latin typeface="Courier New" panose="02070309020205020404" pitchFamily="49" charset="0"/>
              </a:rPr>
              <a:t>it.remove</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Use concurrent collections like </a:t>
            </a:r>
            <a:r>
              <a:rPr lang="en-US" b="0" i="0" dirty="0" err="1">
                <a:solidFill>
                  <a:srgbClr val="3A3A3A"/>
                </a:solidFill>
                <a:effectLst/>
                <a:latin typeface="Roboto" panose="02000000000000000000" pitchFamily="2" charset="0"/>
              </a:rPr>
              <a:t>CopyOnWriteArrayList</a:t>
            </a:r>
            <a:r>
              <a:rPr lang="en-US" b="0" i="0" dirty="0">
                <a:solidFill>
                  <a:srgbClr val="3A3A3A"/>
                </a:solidFill>
                <a:effectLst/>
                <a:latin typeface="Roboto" panose="02000000000000000000" pitchFamily="2" charset="0"/>
              </a:rPr>
              <a:t>, </a:t>
            </a:r>
            <a:r>
              <a:rPr lang="en-US" b="0" i="0" dirty="0" err="1">
                <a:solidFill>
                  <a:srgbClr val="3A3A3A"/>
                </a:solidFill>
                <a:effectLst/>
                <a:latin typeface="Roboto" panose="02000000000000000000" pitchFamily="2" charset="0"/>
              </a:rPr>
              <a:t>ConcurrentHashMap</a:t>
            </a:r>
            <a:r>
              <a:rPr lang="en-US" b="0" i="0" dirty="0">
                <a:solidFill>
                  <a:srgbClr val="3A3A3A"/>
                </a:solidFill>
                <a:effectLst/>
                <a:latin typeface="Roboto" panose="02000000000000000000" pitchFamily="2" charset="0"/>
              </a:rPr>
              <a:t> when working in multithreaded environments.</a:t>
            </a:r>
          </a:p>
          <a:p>
            <a:pPr algn="just">
              <a:lnSpc>
                <a:spcPts val="2100"/>
              </a:lnSpc>
              <a:spcBef>
                <a:spcPts val="750"/>
              </a:spcBef>
              <a:buNone/>
            </a:pPr>
            <a:r>
              <a:rPr lang="en-US" b="0" i="0" dirty="0">
                <a:solidFill>
                  <a:srgbClr val="3A3A3A"/>
                </a:solidFill>
                <a:effectLst/>
                <a:latin typeface="Roboto" panose="02000000000000000000" pitchFamily="2" charset="0"/>
              </a:rPr>
              <a:t>Collect and remove later:</a:t>
            </a:r>
          </a:p>
          <a:p>
            <a:pPr algn="l">
              <a:spcBef>
                <a:spcPts val="1125"/>
              </a:spcBef>
              <a:spcAft>
                <a:spcPts val="375"/>
              </a:spcAft>
              <a:buNone/>
            </a:pPr>
            <a:r>
              <a:rPr lang="en-US" b="0" i="0" dirty="0">
                <a:solidFill>
                  <a:srgbClr val="212529"/>
                </a:solidFill>
                <a:effectLst/>
                <a:latin typeface="Courier New" panose="02070309020205020404" pitchFamily="49" charset="0"/>
              </a:rPr>
              <a:t>List </a:t>
            </a:r>
            <a:r>
              <a:rPr lang="en-US" b="0" i="0" dirty="0" err="1">
                <a:solidFill>
                  <a:srgbClr val="212529"/>
                </a:solidFill>
                <a:effectLst/>
                <a:latin typeface="Courier New" panose="02070309020205020404" pitchFamily="49" charset="0"/>
              </a:rPr>
              <a:t>toRemove</a:t>
            </a:r>
            <a:r>
              <a:rPr lang="en-US" b="0" i="0" dirty="0">
                <a:solidFill>
                  <a:srgbClr val="212529"/>
                </a:solidFill>
                <a:effectLst/>
                <a:latin typeface="Courier New" panose="02070309020205020404" pitchFamily="49" charset="0"/>
              </a:rPr>
              <a:t> = new </a:t>
            </a:r>
            <a:r>
              <a:rPr lang="en-US" b="0" i="0" dirty="0" err="1">
                <a:solidFill>
                  <a:srgbClr val="212529"/>
                </a:solidFill>
                <a:effectLst/>
                <a:latin typeface="Courier New" panose="02070309020205020404" pitchFamily="49" charset="0"/>
              </a:rPr>
              <a:t>ArrayList</a:t>
            </a:r>
            <a:r>
              <a:rPr lang="en-US" b="0" i="0" dirty="0">
                <a:solidFill>
                  <a:srgbClr val="212529"/>
                </a:solidFill>
                <a:effectLst/>
                <a:latin typeface="Courier New" panose="02070309020205020404" pitchFamily="49" charset="0"/>
              </a:rPr>
              <a:t>&lt;&gt;();</a:t>
            </a:r>
          </a:p>
          <a:p>
            <a:pPr algn="l">
              <a:spcBef>
                <a:spcPts val="1125"/>
              </a:spcBef>
              <a:spcAft>
                <a:spcPts val="375"/>
              </a:spcAft>
              <a:buNone/>
            </a:pPr>
            <a:r>
              <a:rPr lang="en-US" b="0" i="0" dirty="0">
                <a:solidFill>
                  <a:srgbClr val="212529"/>
                </a:solidFill>
                <a:effectLst/>
                <a:latin typeface="Courier New" panose="02070309020205020404" pitchFamily="49" charset="0"/>
              </a:rPr>
              <a:t>for (String s : list) {</a:t>
            </a:r>
          </a:p>
          <a:p>
            <a:pPr algn="l">
              <a:spcBef>
                <a:spcPts val="1125"/>
              </a:spcBef>
              <a:spcAft>
                <a:spcPts val="375"/>
              </a:spcAft>
              <a:buNone/>
            </a:pPr>
            <a:r>
              <a:rPr lang="en-US" b="0" i="0" dirty="0">
                <a:solidFill>
                  <a:srgbClr val="212529"/>
                </a:solidFill>
                <a:effectLst/>
                <a:latin typeface="Courier New" panose="02070309020205020404" pitchFamily="49" charset="0"/>
              </a:rPr>
              <a:t>    if (condition) </a:t>
            </a:r>
            <a:r>
              <a:rPr lang="en-US" b="0" i="0" dirty="0" err="1">
                <a:solidFill>
                  <a:srgbClr val="212529"/>
                </a:solidFill>
                <a:effectLst/>
                <a:latin typeface="Courier New" panose="02070309020205020404" pitchFamily="49" charset="0"/>
              </a:rPr>
              <a:t>toRemove.add</a:t>
            </a:r>
            <a:r>
              <a:rPr lang="en-US" b="0" i="0" dirty="0">
                <a:solidFill>
                  <a:srgbClr val="212529"/>
                </a:solidFill>
                <a:effectLst/>
                <a:latin typeface="Courier New" panose="02070309020205020404" pitchFamily="49" charset="0"/>
              </a:rPr>
              <a:t>(s);</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err="1">
                <a:solidFill>
                  <a:srgbClr val="212529"/>
                </a:solidFill>
                <a:effectLst/>
                <a:latin typeface="Courier New" panose="02070309020205020404" pitchFamily="49" charset="0"/>
              </a:rPr>
              <a:t>list.removeAll</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toRemove</a:t>
            </a: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157045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677-3E7F-9607-7299-044FAC57B40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817753B-8521-C333-B53F-BE386B303279}"/>
              </a:ext>
            </a:extLst>
          </p:cNvPr>
          <p:cNvSpPr txBox="1"/>
          <p:nvPr/>
        </p:nvSpPr>
        <p:spPr>
          <a:xfrm>
            <a:off x="-2720" y="-390753"/>
            <a:ext cx="9908720" cy="199028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65. What is the difference between Jakarta EE and legacy Java EE?\</a:t>
            </a:r>
          </a:p>
          <a:p>
            <a:pPr algn="just">
              <a:lnSpc>
                <a:spcPts val="2100"/>
              </a:lnSpc>
              <a:spcBef>
                <a:spcPts val="1650"/>
              </a:spcBef>
              <a:buNone/>
            </a:pPr>
            <a:r>
              <a:rPr lang="en-US" b="0" i="0" dirty="0">
                <a:solidFill>
                  <a:srgbClr val="3A3A3A"/>
                </a:solidFill>
                <a:effectLst/>
                <a:latin typeface="Roboto" panose="02000000000000000000" pitchFamily="2" charset="0"/>
              </a:rPr>
              <a:t>Jakarta EE is a new Java EE that is more current. Java EE was initially developed by Oracle, but Jakarta EE has been transferred to the Eclipse Foundation, which is more open, innovative at a faster pace, and is better suited to cloud-native architectures.</a:t>
            </a:r>
          </a:p>
          <a:p>
            <a:pPr algn="just">
              <a:lnSpc>
                <a:spcPts val="2100"/>
              </a:lnSpc>
              <a:spcBef>
                <a:spcPts val="750"/>
              </a:spcBef>
              <a:buNone/>
            </a:pPr>
            <a:r>
              <a:rPr lang="en-US" b="0" i="0" dirty="0">
                <a:solidFill>
                  <a:srgbClr val="3A3A3A"/>
                </a:solidFill>
                <a:effectLst/>
                <a:latin typeface="Roboto" panose="02000000000000000000" pitchFamily="2" charset="0"/>
              </a:rPr>
              <a:t>Key Differences:</a:t>
            </a:r>
          </a:p>
        </p:txBody>
      </p:sp>
      <p:graphicFrame>
        <p:nvGraphicFramePr>
          <p:cNvPr id="4" name="Table 3">
            <a:extLst>
              <a:ext uri="{FF2B5EF4-FFF2-40B4-BE49-F238E27FC236}">
                <a16:creationId xmlns:a16="http://schemas.microsoft.com/office/drawing/2014/main" id="{6CAF7A62-9844-DDBC-E749-5B931E5A7DD7}"/>
              </a:ext>
            </a:extLst>
          </p:cNvPr>
          <p:cNvGraphicFramePr>
            <a:graphicFrameLocks noGrp="1"/>
          </p:cNvGraphicFramePr>
          <p:nvPr/>
        </p:nvGraphicFramePr>
        <p:xfrm>
          <a:off x="681038" y="2309654"/>
          <a:ext cx="8543925" cy="3383280"/>
        </p:xfrm>
        <a:graphic>
          <a:graphicData uri="http://schemas.openxmlformats.org/drawingml/2006/table">
            <a:tbl>
              <a:tblPr/>
              <a:tblGrid>
                <a:gridCol w="2847975">
                  <a:extLst>
                    <a:ext uri="{9D8B030D-6E8A-4147-A177-3AD203B41FA5}">
                      <a16:colId xmlns:a16="http://schemas.microsoft.com/office/drawing/2014/main" val="3331770609"/>
                    </a:ext>
                  </a:extLst>
                </a:gridCol>
                <a:gridCol w="2847975">
                  <a:extLst>
                    <a:ext uri="{9D8B030D-6E8A-4147-A177-3AD203B41FA5}">
                      <a16:colId xmlns:a16="http://schemas.microsoft.com/office/drawing/2014/main" val="172324067"/>
                    </a:ext>
                  </a:extLst>
                </a:gridCol>
                <a:gridCol w="2847975">
                  <a:extLst>
                    <a:ext uri="{9D8B030D-6E8A-4147-A177-3AD203B41FA5}">
                      <a16:colId xmlns:a16="http://schemas.microsoft.com/office/drawing/2014/main" val="951523980"/>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Java EE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Jakarta EE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046452504"/>
                  </a:ext>
                </a:extLst>
              </a:tr>
              <a:tr h="0">
                <a:tc>
                  <a:txBody>
                    <a:bodyPr/>
                    <a:lstStyle/>
                    <a:p>
                      <a:pPr fontAlgn="t">
                        <a:buNone/>
                      </a:pPr>
                      <a:r>
                        <a:rPr lang="en-US">
                          <a:effectLst/>
                        </a:rPr>
                        <a:t>Governance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Oracle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Eclipse Foundation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114111238"/>
                  </a:ext>
                </a:extLst>
              </a:tr>
              <a:tr h="0">
                <a:tc>
                  <a:txBody>
                    <a:bodyPr/>
                    <a:lstStyle/>
                    <a:p>
                      <a:pPr fontAlgn="t">
                        <a:buNone/>
                      </a:pPr>
                      <a:r>
                        <a:rPr lang="en-US">
                          <a:effectLst/>
                        </a:rPr>
                        <a:t>Package Names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javax.*</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fi-FI">
                          <a:effectLst/>
                        </a:rPr>
                        <a:t>jakarta.* (from Jakarta EE 9 onwards)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818524392"/>
                  </a:ext>
                </a:extLst>
              </a:tr>
              <a:tr h="0">
                <a:tc>
                  <a:txBody>
                    <a:bodyPr/>
                    <a:lstStyle/>
                    <a:p>
                      <a:pPr fontAlgn="t">
                        <a:buNone/>
                      </a:pPr>
                      <a:r>
                        <a:rPr lang="en-US">
                          <a:effectLst/>
                        </a:rPr>
                        <a:t>Community Involvement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Limited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Open, community-driven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236410087"/>
                  </a:ext>
                </a:extLst>
              </a:tr>
              <a:tr h="0">
                <a:tc>
                  <a:txBody>
                    <a:bodyPr/>
                    <a:lstStyle/>
                    <a:p>
                      <a:pPr fontAlgn="t">
                        <a:buNone/>
                      </a:pPr>
                      <a:r>
                        <a:rPr lang="en-US">
                          <a:effectLst/>
                        </a:rPr>
                        <a:t>Cloud &amp; Microservices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Less emphasis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Strong microservices and cloud focus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404511431"/>
                  </a:ext>
                </a:extLst>
              </a:tr>
              <a:tr h="0">
                <a:tc>
                  <a:txBody>
                    <a:bodyPr/>
                    <a:lstStyle/>
                    <a:p>
                      <a:pPr fontAlgn="t">
                        <a:buNone/>
                      </a:pPr>
                      <a:r>
                        <a:rPr lang="en-US">
                          <a:effectLst/>
                        </a:rPr>
                        <a:t>Innovation Pace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Slower</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More agile and modular</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115570871"/>
                  </a:ext>
                </a:extLst>
              </a:tr>
              <a:tr h="0">
                <a:tc>
                  <a:txBody>
                    <a:bodyPr/>
                    <a:lstStyle/>
                    <a:p>
                      <a:pPr fontAlgn="t">
                        <a:buNone/>
                      </a:pPr>
                      <a:r>
                        <a:rPr lang="en-US">
                          <a:effectLst/>
                        </a:rPr>
                        <a:t>Compatibility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Stable, but less future-proof</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Backward-compatible and forward-looking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338746634"/>
                  </a:ext>
                </a:extLst>
              </a:tr>
            </a:tbl>
          </a:graphicData>
        </a:graphic>
      </p:graphicFrame>
    </p:spTree>
    <p:extLst>
      <p:ext uri="{BB962C8B-B14F-4D97-AF65-F5344CB8AC3E}">
        <p14:creationId xmlns:p14="http://schemas.microsoft.com/office/powerpoint/2010/main" val="1088424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79C-90CB-21CE-4937-EB56E77B59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AEDAF3-90F3-1252-BFF6-744D37FA67DA}"/>
              </a:ext>
            </a:extLst>
          </p:cNvPr>
          <p:cNvSpPr txBox="1"/>
          <p:nvPr/>
        </p:nvSpPr>
        <p:spPr>
          <a:xfrm>
            <a:off x="0" y="0"/>
            <a:ext cx="4955720" cy="649921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66. How do you create an immutable class in Java?</a:t>
            </a:r>
          </a:p>
          <a:p>
            <a:pPr algn="just">
              <a:lnSpc>
                <a:spcPts val="2100"/>
              </a:lnSpc>
              <a:spcBef>
                <a:spcPts val="1650"/>
              </a:spcBef>
              <a:buNone/>
            </a:pPr>
            <a:r>
              <a:rPr lang="en-US" b="0" i="0" dirty="0">
                <a:solidFill>
                  <a:srgbClr val="3A3A3A"/>
                </a:solidFill>
                <a:effectLst/>
                <a:latin typeface="Roboto" panose="02000000000000000000" pitchFamily="2" charset="0"/>
              </a:rPr>
              <a:t>An immutable class is that class whose state (values of fields) cannot be modified once an object is created. Java’s String class is a prime example of an immutable class.</a:t>
            </a:r>
          </a:p>
          <a:p>
            <a:pPr algn="l">
              <a:spcBef>
                <a:spcPts val="1650"/>
              </a:spcBef>
              <a:buNone/>
            </a:pPr>
            <a:r>
              <a:rPr lang="en-US" b="0" i="0" dirty="0">
                <a:solidFill>
                  <a:srgbClr val="3A3A3A"/>
                </a:solidFill>
                <a:effectLst/>
                <a:latin typeface="Roboto" panose="02000000000000000000" pitchFamily="2" charset="0"/>
              </a:rPr>
              <a:t>Steps to create an immutable class:</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Declare the class as final so it can’t be subclassed.</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All fields should become final and private.</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Don’t give them setters.</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Initialize fields only in the constructor.</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For mutable fields, create copies in the getter and the constructor.</a:t>
            </a:r>
          </a:p>
          <a:p>
            <a:pPr algn="just">
              <a:lnSpc>
                <a:spcPts val="2100"/>
              </a:lnSpc>
              <a:spcBef>
                <a:spcPts val="1650"/>
              </a:spcBef>
              <a:buNone/>
            </a:pPr>
            <a:r>
              <a:rPr lang="en-US" b="0" i="0" dirty="0">
                <a:solidFill>
                  <a:srgbClr val="3A3A3A"/>
                </a:solidFill>
                <a:effectLst/>
                <a:latin typeface="Roboto" panose="02000000000000000000" pitchFamily="2" charset="0"/>
              </a:rPr>
              <a:t>Example:</a:t>
            </a:r>
          </a:p>
        </p:txBody>
      </p:sp>
      <p:sp>
        <p:nvSpPr>
          <p:cNvPr id="5" name="TextBox 4">
            <a:extLst>
              <a:ext uri="{FF2B5EF4-FFF2-40B4-BE49-F238E27FC236}">
                <a16:creationId xmlns:a16="http://schemas.microsoft.com/office/drawing/2014/main" id="{233CE69A-8F85-EF4C-D798-D1D58D1C27B7}"/>
              </a:ext>
            </a:extLst>
          </p:cNvPr>
          <p:cNvSpPr txBox="1"/>
          <p:nvPr/>
        </p:nvSpPr>
        <p:spPr>
          <a:xfrm>
            <a:off x="5086349" y="0"/>
            <a:ext cx="4980214" cy="2031325"/>
          </a:xfrm>
          <a:prstGeom prst="rect">
            <a:avLst/>
          </a:prstGeom>
          <a:noFill/>
        </p:spPr>
        <p:txBody>
          <a:bodyPr wrap="square">
            <a:spAutoFit/>
          </a:bodyPr>
          <a:lstStyle/>
          <a:p>
            <a:r>
              <a:rPr lang="en-US" dirty="0"/>
              <a:t>public final class Employee {    // Declaring fields as private and final to make them immutable    private final String name;    private final int id;    public Employee(String name, int id) {        this.name = name;        this.id = id;    }    public String </a:t>
            </a:r>
            <a:r>
              <a:rPr lang="en-US" dirty="0" err="1"/>
              <a:t>getName</a:t>
            </a:r>
            <a:r>
              <a:rPr lang="en-US" dirty="0"/>
              <a:t>() {        return name;    }    public int </a:t>
            </a:r>
            <a:r>
              <a:rPr lang="en-US" dirty="0" err="1"/>
              <a:t>getId</a:t>
            </a:r>
            <a:r>
              <a:rPr lang="en-US" dirty="0"/>
              <a:t>() {        return id;    }}</a:t>
            </a:r>
          </a:p>
        </p:txBody>
      </p:sp>
      <p:sp>
        <p:nvSpPr>
          <p:cNvPr id="7" name="TextBox 6">
            <a:extLst>
              <a:ext uri="{FF2B5EF4-FFF2-40B4-BE49-F238E27FC236}">
                <a16:creationId xmlns:a16="http://schemas.microsoft.com/office/drawing/2014/main" id="{67D83399-AD01-A805-B6FE-1D60068DEAA1}"/>
              </a:ext>
            </a:extLst>
          </p:cNvPr>
          <p:cNvSpPr txBox="1"/>
          <p:nvPr/>
        </p:nvSpPr>
        <p:spPr>
          <a:xfrm>
            <a:off x="5319032" y="2657092"/>
            <a:ext cx="5086350" cy="923330"/>
          </a:xfrm>
          <a:prstGeom prst="rect">
            <a:avLst/>
          </a:prstGeom>
          <a:noFill/>
        </p:spPr>
        <p:txBody>
          <a:bodyPr wrap="square">
            <a:spAutoFit/>
          </a:bodyPr>
          <a:lstStyle/>
          <a:p>
            <a:r>
              <a:rPr lang="en-US" b="0" i="0" dirty="0">
                <a:solidFill>
                  <a:srgbClr val="3A3A3A"/>
                </a:solidFill>
                <a:effectLst/>
                <a:latin typeface="Roboto" panose="02000000000000000000" pitchFamily="2" charset="0"/>
              </a:rPr>
              <a:t>Immutable objects are naturally thread-safe and prevent unwanted side effects, making them ideal for concurrent programming.</a:t>
            </a:r>
            <a:endParaRPr lang="en-US" dirty="0"/>
          </a:p>
        </p:txBody>
      </p:sp>
    </p:spTree>
    <p:extLst>
      <p:ext uri="{BB962C8B-B14F-4D97-AF65-F5344CB8AC3E}">
        <p14:creationId xmlns:p14="http://schemas.microsoft.com/office/powerpoint/2010/main" val="3977575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3B4-10A3-F97C-DE8D-A21ED2B1B4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80CF3E-141C-63DD-22D3-30844F72836F}"/>
              </a:ext>
            </a:extLst>
          </p:cNvPr>
          <p:cNvSpPr txBox="1"/>
          <p:nvPr/>
        </p:nvSpPr>
        <p:spPr>
          <a:xfrm>
            <a:off x="0" y="147950"/>
            <a:ext cx="4955720" cy="564770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67. What is a static nested class?</a:t>
            </a:r>
          </a:p>
          <a:p>
            <a:pPr algn="just">
              <a:lnSpc>
                <a:spcPts val="2100"/>
              </a:lnSpc>
              <a:spcBef>
                <a:spcPts val="1650"/>
              </a:spcBef>
              <a:buNone/>
            </a:pPr>
            <a:r>
              <a:rPr lang="en-US" b="0" i="0" dirty="0">
                <a:solidFill>
                  <a:srgbClr val="3A3A3A"/>
                </a:solidFill>
                <a:effectLst/>
                <a:latin typeface="Roboto" panose="02000000000000000000" pitchFamily="2" charset="0"/>
              </a:rPr>
              <a:t>The static nested class is a nested class that is declared with a static modifier inside another class. It does not have direct access to instance members of an outer class unlike non-static inner classes.</a:t>
            </a:r>
          </a:p>
          <a:p>
            <a:pPr algn="l">
              <a:spcBef>
                <a:spcPts val="1650"/>
              </a:spcBef>
              <a:buNone/>
            </a:pPr>
            <a:r>
              <a:rPr lang="en-US" b="0" i="0" dirty="0">
                <a:solidFill>
                  <a:srgbClr val="3A3A3A"/>
                </a:solidFill>
                <a:effectLst/>
                <a:latin typeface="Roboto" panose="02000000000000000000" pitchFamily="2" charset="0"/>
              </a:rPr>
              <a:t>Key Points: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It acts like a top-level class but is scoped inside the outer class.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Most handy when grouping classes that are utilized solely by the containing class.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Can reference static members of its enclosing class.</a:t>
            </a:r>
          </a:p>
          <a:p>
            <a:pPr algn="l">
              <a:spcBef>
                <a:spcPts val="1650"/>
              </a:spcBef>
              <a:buNone/>
            </a:pPr>
            <a:r>
              <a:rPr lang="en-US" b="0" i="0" dirty="0">
                <a:solidFill>
                  <a:srgbClr val="3A3A3A"/>
                </a:solidFill>
                <a:effectLst/>
                <a:latin typeface="Roboto" panose="02000000000000000000" pitchFamily="2" charset="0"/>
              </a:rPr>
              <a:t>Example:</a:t>
            </a:r>
          </a:p>
        </p:txBody>
      </p:sp>
      <p:sp>
        <p:nvSpPr>
          <p:cNvPr id="5" name="TextBox 4">
            <a:extLst>
              <a:ext uri="{FF2B5EF4-FFF2-40B4-BE49-F238E27FC236}">
                <a16:creationId xmlns:a16="http://schemas.microsoft.com/office/drawing/2014/main" id="{D6D0F1DD-5A75-0E6F-F1A2-90E217484543}"/>
              </a:ext>
            </a:extLst>
          </p:cNvPr>
          <p:cNvSpPr txBox="1"/>
          <p:nvPr/>
        </p:nvSpPr>
        <p:spPr>
          <a:xfrm>
            <a:off x="5167993" y="147950"/>
            <a:ext cx="4980214" cy="2862322"/>
          </a:xfrm>
          <a:prstGeom prst="rect">
            <a:avLst/>
          </a:prstGeom>
          <a:noFill/>
        </p:spPr>
        <p:txBody>
          <a:bodyPr wrap="square">
            <a:spAutoFit/>
          </a:bodyPr>
          <a:lstStyle/>
          <a:p>
            <a:r>
              <a:rPr lang="en-US" dirty="0"/>
              <a:t>public class Outer {</a:t>
            </a:r>
          </a:p>
          <a:p>
            <a:r>
              <a:rPr lang="en-US" dirty="0"/>
              <a:t>    static int </a:t>
            </a:r>
            <a:r>
              <a:rPr lang="en-US" dirty="0" err="1"/>
              <a:t>outerValue</a:t>
            </a:r>
            <a:r>
              <a:rPr lang="en-US" dirty="0"/>
              <a:t> = 10; // Static member</a:t>
            </a:r>
          </a:p>
          <a:p>
            <a:endParaRPr lang="en-US" dirty="0"/>
          </a:p>
          <a:p>
            <a:r>
              <a:rPr lang="en-US" dirty="0"/>
              <a:t>    static class </a:t>
            </a:r>
            <a:r>
              <a:rPr lang="en-US" dirty="0" err="1"/>
              <a:t>StaticNested</a:t>
            </a:r>
            <a:r>
              <a:rPr lang="en-US" dirty="0"/>
              <a:t> { // Static nested class</a:t>
            </a:r>
          </a:p>
          <a:p>
            <a:r>
              <a:rPr lang="en-US" dirty="0"/>
              <a:t>        void display() {</a:t>
            </a:r>
          </a:p>
          <a:p>
            <a:r>
              <a:rPr lang="en-US" dirty="0"/>
              <a:t>            </a:t>
            </a:r>
            <a:r>
              <a:rPr lang="en-US" dirty="0" err="1"/>
              <a:t>System.out.println</a:t>
            </a:r>
            <a:r>
              <a:rPr lang="en-US" dirty="0"/>
              <a:t>("Value: " + </a:t>
            </a:r>
            <a:r>
              <a:rPr lang="en-US" dirty="0" err="1"/>
              <a:t>outerValue</a:t>
            </a:r>
            <a:r>
              <a:rPr lang="en-US" dirty="0"/>
              <a:t>);</a:t>
            </a:r>
          </a:p>
          <a:p>
            <a:r>
              <a:rPr lang="en-US" dirty="0"/>
              <a:t>        }</a:t>
            </a:r>
          </a:p>
          <a:p>
            <a:r>
              <a:rPr lang="en-US" dirty="0"/>
              <a:t>    }</a:t>
            </a:r>
          </a:p>
          <a:p>
            <a:r>
              <a:rPr lang="en-US" dirty="0"/>
              <a:t>}</a:t>
            </a:r>
          </a:p>
        </p:txBody>
      </p:sp>
      <p:sp>
        <p:nvSpPr>
          <p:cNvPr id="7" name="TextBox 6">
            <a:extLst>
              <a:ext uri="{FF2B5EF4-FFF2-40B4-BE49-F238E27FC236}">
                <a16:creationId xmlns:a16="http://schemas.microsoft.com/office/drawing/2014/main" id="{4FB27CA2-5C7D-7785-F896-B05D93269800}"/>
              </a:ext>
            </a:extLst>
          </p:cNvPr>
          <p:cNvSpPr txBox="1"/>
          <p:nvPr/>
        </p:nvSpPr>
        <p:spPr>
          <a:xfrm>
            <a:off x="5167993" y="3625510"/>
            <a:ext cx="5094514" cy="1533753"/>
          </a:xfrm>
          <a:prstGeom prst="rect">
            <a:avLst/>
          </a:prstGeom>
          <a:noFill/>
        </p:spPr>
        <p:txBody>
          <a:bodyPr wrap="square">
            <a:spAutoFit/>
          </a:bodyPr>
          <a:lstStyle/>
          <a:p>
            <a:pPr algn="l">
              <a:spcBef>
                <a:spcPts val="1650"/>
              </a:spcBef>
              <a:buNone/>
            </a:pPr>
            <a:r>
              <a:rPr lang="en-US" b="0" i="0" dirty="0">
                <a:solidFill>
                  <a:srgbClr val="3A3A3A"/>
                </a:solidFill>
                <a:effectLst/>
                <a:latin typeface="Roboto" panose="02000000000000000000" pitchFamily="2" charset="0"/>
              </a:rPr>
              <a:t>Usage:</a:t>
            </a:r>
          </a:p>
          <a:p>
            <a:pPr algn="l">
              <a:spcBef>
                <a:spcPts val="1125"/>
              </a:spcBef>
              <a:spcAft>
                <a:spcPts val="375"/>
              </a:spcAft>
              <a:buNone/>
            </a:pPr>
            <a:r>
              <a:rPr lang="en-US" b="0" i="0" dirty="0" err="1">
                <a:solidFill>
                  <a:srgbClr val="212529"/>
                </a:solidFill>
                <a:effectLst/>
                <a:latin typeface="Courier New" panose="02070309020205020404" pitchFamily="49" charset="0"/>
              </a:rPr>
              <a:t>Outer.StaticNested</a:t>
            </a:r>
            <a:r>
              <a:rPr lang="en-US" b="0" i="0" dirty="0">
                <a:solidFill>
                  <a:srgbClr val="212529"/>
                </a:solidFill>
                <a:effectLst/>
                <a:latin typeface="Courier New" panose="02070309020205020404" pitchFamily="49" charset="0"/>
              </a:rPr>
              <a:t> obj = new </a:t>
            </a:r>
            <a:r>
              <a:rPr lang="en-US" b="0" i="0" dirty="0" err="1">
                <a:solidFill>
                  <a:srgbClr val="212529"/>
                </a:solidFill>
                <a:effectLst/>
                <a:latin typeface="Courier New" panose="02070309020205020404" pitchFamily="49" charset="0"/>
              </a:rPr>
              <a:t>Outer.StaticNested</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err="1">
                <a:solidFill>
                  <a:srgbClr val="212529"/>
                </a:solidFill>
                <a:effectLst/>
                <a:latin typeface="Courier New" panose="02070309020205020404" pitchFamily="49" charset="0"/>
              </a:rPr>
              <a:t>obj.display</a:t>
            </a: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18625177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A51-AA7F-ECAF-41AE-666585F46A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C0EF19-E7EB-6F02-F2EE-68ADB97FA682}"/>
              </a:ext>
            </a:extLst>
          </p:cNvPr>
          <p:cNvSpPr txBox="1"/>
          <p:nvPr/>
        </p:nvSpPr>
        <p:spPr>
          <a:xfrm>
            <a:off x="277586" y="0"/>
            <a:ext cx="9791700" cy="945387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68. How does the synchronized keyword work in methods?</a:t>
            </a:r>
          </a:p>
          <a:p>
            <a:pPr algn="just">
              <a:lnSpc>
                <a:spcPts val="2100"/>
              </a:lnSpc>
              <a:spcBef>
                <a:spcPts val="1650"/>
              </a:spcBef>
              <a:buNone/>
            </a:pPr>
            <a:r>
              <a:rPr lang="en-US" b="0" i="0" dirty="0">
                <a:solidFill>
                  <a:srgbClr val="3A3A3A"/>
                </a:solidFill>
                <a:effectLst/>
                <a:latin typeface="Roboto" panose="02000000000000000000" pitchFamily="2" charset="0"/>
              </a:rPr>
              <a:t>The synchronized keyword in Java is utilized to manage the multiple threads’ access to a method or section of code to provide mutual exclusion and visibility.</a:t>
            </a:r>
          </a:p>
          <a:p>
            <a:pPr algn="l">
              <a:spcBef>
                <a:spcPts val="1650"/>
              </a:spcBef>
              <a:buNone/>
            </a:pPr>
            <a:r>
              <a:rPr lang="en-US" b="0" i="0" dirty="0">
                <a:solidFill>
                  <a:srgbClr val="3A3A3A"/>
                </a:solidFill>
                <a:effectLst/>
                <a:latin typeface="Roboto" panose="02000000000000000000" pitchFamily="2" charset="0"/>
              </a:rPr>
              <a:t>Synchronized Instance Method:</a:t>
            </a:r>
          </a:p>
          <a:p>
            <a:pPr algn="l">
              <a:spcBef>
                <a:spcPts val="1125"/>
              </a:spcBef>
              <a:spcAft>
                <a:spcPts val="375"/>
              </a:spcAft>
              <a:buNone/>
            </a:pPr>
            <a:r>
              <a:rPr lang="en-US" b="0" i="0" dirty="0">
                <a:solidFill>
                  <a:srgbClr val="212529"/>
                </a:solidFill>
                <a:effectLst/>
                <a:latin typeface="Courier New" panose="02070309020205020404" pitchFamily="49" charset="0"/>
              </a:rPr>
              <a:t>public synchronized void method() {</a:t>
            </a:r>
          </a:p>
          <a:p>
            <a:pPr algn="l">
              <a:spcBef>
                <a:spcPts val="1125"/>
              </a:spcBef>
              <a:spcAft>
                <a:spcPts val="375"/>
              </a:spcAft>
              <a:buNone/>
            </a:pPr>
            <a:r>
              <a:rPr lang="en-US" b="0" i="0" dirty="0">
                <a:solidFill>
                  <a:srgbClr val="212529"/>
                </a:solidFill>
                <a:effectLst/>
                <a:latin typeface="Courier New" panose="02070309020205020404" pitchFamily="49" charset="0"/>
              </a:rPr>
              <a:t>    // thread-safe logic</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Acquires a lock on this current object.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At most, a single thread can invoke any synchronized method on an object.</a:t>
            </a:r>
          </a:p>
          <a:p>
            <a:pPr algn="l">
              <a:spcBef>
                <a:spcPts val="1650"/>
              </a:spcBef>
              <a:buNone/>
            </a:pPr>
            <a:r>
              <a:rPr lang="en-US" b="0" i="0" dirty="0">
                <a:solidFill>
                  <a:srgbClr val="3A3A3A"/>
                </a:solidFill>
                <a:effectLst/>
                <a:latin typeface="Roboto" panose="02000000000000000000" pitchFamily="2" charset="0"/>
              </a:rPr>
              <a:t>Synchronized Static Method:</a:t>
            </a:r>
          </a:p>
          <a:p>
            <a:pPr algn="l">
              <a:spcBef>
                <a:spcPts val="1125"/>
              </a:spcBef>
              <a:spcAft>
                <a:spcPts val="375"/>
              </a:spcAft>
              <a:buNone/>
            </a:pPr>
            <a:r>
              <a:rPr lang="en-US" b="0" i="0" dirty="0">
                <a:solidFill>
                  <a:srgbClr val="212529"/>
                </a:solidFill>
                <a:effectLst/>
                <a:latin typeface="Courier New" panose="02070309020205020404" pitchFamily="49" charset="0"/>
              </a:rPr>
              <a:t>public static synchronized void method() {</a:t>
            </a:r>
          </a:p>
          <a:p>
            <a:pPr algn="l">
              <a:spcBef>
                <a:spcPts val="1125"/>
              </a:spcBef>
              <a:spcAft>
                <a:spcPts val="375"/>
              </a:spcAft>
              <a:buNone/>
            </a:pPr>
            <a:r>
              <a:rPr lang="en-US" b="0" i="0" dirty="0">
                <a:solidFill>
                  <a:srgbClr val="212529"/>
                </a:solidFill>
                <a:effectLst/>
                <a:latin typeface="Courier New" panose="02070309020205020404" pitchFamily="49" charset="0"/>
              </a:rPr>
              <a:t>    // logic</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Obtains a lock on the class object (</a:t>
            </a:r>
            <a:r>
              <a:rPr lang="en-US" b="0" i="0" dirty="0" err="1">
                <a:solidFill>
                  <a:srgbClr val="3A3A3A"/>
                </a:solidFill>
                <a:effectLst/>
                <a:latin typeface="Roboto" panose="02000000000000000000" pitchFamily="2" charset="0"/>
              </a:rPr>
              <a:t>ClassName.class</a:t>
            </a:r>
            <a:r>
              <a:rPr lang="en-US" b="0" i="0" dirty="0">
                <a:solidFill>
                  <a:srgbClr val="3A3A3A"/>
                </a:solidFill>
                <a:effectLst/>
                <a:latin typeface="Roboto" panose="02000000000000000000" pitchFamily="2" charset="0"/>
              </a:rPr>
              <a:t>) rather than on an instance.</a:t>
            </a:r>
          </a:p>
          <a:p>
            <a:pPr algn="l">
              <a:spcBef>
                <a:spcPts val="1650"/>
              </a:spcBef>
              <a:buNone/>
            </a:pPr>
            <a:r>
              <a:rPr lang="en-US" b="0" i="0" dirty="0">
                <a:solidFill>
                  <a:srgbClr val="3A3A3A"/>
                </a:solidFill>
                <a:effectLst/>
                <a:latin typeface="Roboto" panose="02000000000000000000" pitchFamily="2" charset="0"/>
              </a:rPr>
              <a:t>Use Cases: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Avoid race conditions.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Maintain data consistency in concurrent situations.</a:t>
            </a:r>
          </a:p>
          <a:p>
            <a:pPr algn="l">
              <a:spcBef>
                <a:spcPts val="1650"/>
              </a:spcBef>
              <a:buNone/>
            </a:pPr>
            <a:r>
              <a:rPr lang="en-US" b="0" i="0" dirty="0">
                <a:solidFill>
                  <a:srgbClr val="3A3A3A"/>
                </a:solidFill>
                <a:effectLst/>
                <a:latin typeface="Roboto" panose="02000000000000000000" pitchFamily="2" charset="0"/>
              </a:rPr>
              <a:t>Limitation: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If used incorrectly, it can lead to performance bottlenecks and deadlocks.</a:t>
            </a:r>
          </a:p>
        </p:txBody>
      </p:sp>
    </p:spTree>
    <p:extLst>
      <p:ext uri="{BB962C8B-B14F-4D97-AF65-F5344CB8AC3E}">
        <p14:creationId xmlns:p14="http://schemas.microsoft.com/office/powerpoint/2010/main" val="20199127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8AB-3FEA-D9E8-2260-D0EB5D4029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137713-4BA5-D995-E81C-DD81D6E53DEA}"/>
              </a:ext>
            </a:extLst>
          </p:cNvPr>
          <p:cNvSpPr txBox="1"/>
          <p:nvPr/>
        </p:nvSpPr>
        <p:spPr>
          <a:xfrm>
            <a:off x="-216353" y="377070"/>
            <a:ext cx="4955720" cy="535274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69. What is the @Override annotation, and why is it used?</a:t>
            </a:r>
          </a:p>
          <a:p>
            <a:pPr algn="just">
              <a:lnSpc>
                <a:spcPts val="2100"/>
              </a:lnSpc>
              <a:spcBef>
                <a:spcPts val="1650"/>
              </a:spcBef>
              <a:buNone/>
            </a:pPr>
            <a:r>
              <a:rPr lang="en-US" b="0" i="0" dirty="0">
                <a:solidFill>
                  <a:srgbClr val="3A3A3A"/>
                </a:solidFill>
                <a:effectLst/>
                <a:latin typeface="Roboto" panose="02000000000000000000" pitchFamily="2" charset="0"/>
              </a:rPr>
              <a:t>The @Override annotation signifies that a method is overriding a method in its superclass or implementing an interface method.</a:t>
            </a:r>
          </a:p>
          <a:p>
            <a:pPr algn="l">
              <a:spcBef>
                <a:spcPts val="1650"/>
              </a:spcBef>
              <a:buNone/>
            </a:pPr>
            <a:r>
              <a:rPr lang="en-US" b="0" i="0" dirty="0">
                <a:solidFill>
                  <a:srgbClr val="3A3A3A"/>
                </a:solidFill>
                <a:effectLst/>
                <a:latin typeface="Roboto" panose="02000000000000000000" pitchFamily="2" charset="0"/>
              </a:rPr>
              <a:t>Benefits: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Compile-time checking: The compiler will issue an error on encountering a method that does not properly override a method from its parent.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Enhances readability: Makes it clear that the method is within the inheritance hierarchy.</a:t>
            </a:r>
          </a:p>
          <a:p>
            <a:pPr algn="l">
              <a:spcBef>
                <a:spcPts val="1650"/>
              </a:spcBef>
              <a:buNone/>
            </a:pPr>
            <a:r>
              <a:rPr lang="en-US" b="0" i="0" dirty="0">
                <a:solidFill>
                  <a:srgbClr val="3A3A3A"/>
                </a:solidFill>
                <a:effectLst/>
                <a:latin typeface="Roboto" panose="02000000000000000000" pitchFamily="2" charset="0"/>
              </a:rPr>
              <a:t>Example:</a:t>
            </a:r>
          </a:p>
        </p:txBody>
      </p:sp>
      <p:sp>
        <p:nvSpPr>
          <p:cNvPr id="5" name="TextBox 4">
            <a:extLst>
              <a:ext uri="{FF2B5EF4-FFF2-40B4-BE49-F238E27FC236}">
                <a16:creationId xmlns:a16="http://schemas.microsoft.com/office/drawing/2014/main" id="{055254F3-37EC-E2EA-6D75-F42EA3F6C7B6}"/>
              </a:ext>
            </a:extLst>
          </p:cNvPr>
          <p:cNvSpPr txBox="1"/>
          <p:nvPr/>
        </p:nvSpPr>
        <p:spPr>
          <a:xfrm>
            <a:off x="4953000" y="-1499202"/>
            <a:ext cx="5094514" cy="5909310"/>
          </a:xfrm>
          <a:prstGeom prst="rect">
            <a:avLst/>
          </a:prstGeom>
          <a:noFill/>
        </p:spPr>
        <p:txBody>
          <a:bodyPr wrap="square">
            <a:spAutoFit/>
          </a:bodyPr>
          <a:lstStyle/>
          <a:p>
            <a:r>
              <a:rPr lang="en-US" dirty="0"/>
              <a:t>public class </a:t>
            </a:r>
            <a:r>
              <a:rPr lang="en-US" dirty="0" err="1"/>
              <a:t>OverrideExample</a:t>
            </a:r>
            <a:r>
              <a:rPr lang="en-US" dirty="0"/>
              <a:t> {</a:t>
            </a:r>
          </a:p>
          <a:p>
            <a:r>
              <a:rPr lang="en-US" dirty="0"/>
              <a:t>    public static void main(String[] </a:t>
            </a:r>
            <a:r>
              <a:rPr lang="en-US" dirty="0" err="1"/>
              <a:t>args</a:t>
            </a:r>
            <a:r>
              <a:rPr lang="en-US" dirty="0"/>
              <a:t>) {</a:t>
            </a:r>
          </a:p>
          <a:p>
            <a:r>
              <a:rPr lang="en-US" dirty="0"/>
              <a:t>        Animal a = new Animal();</a:t>
            </a:r>
          </a:p>
          <a:p>
            <a:r>
              <a:rPr lang="en-US" dirty="0"/>
              <a:t>        Dog d = new Dog();</a:t>
            </a:r>
          </a:p>
          <a:p>
            <a:r>
              <a:rPr lang="en-US" dirty="0"/>
              <a:t>        </a:t>
            </a:r>
            <a:r>
              <a:rPr lang="en-US" dirty="0" err="1"/>
              <a:t>a.speak</a:t>
            </a:r>
            <a:r>
              <a:rPr lang="en-US" dirty="0"/>
              <a:t>(); // Outputs: Generic sound</a:t>
            </a:r>
          </a:p>
          <a:p>
            <a:r>
              <a:rPr lang="en-US" dirty="0"/>
              <a:t>        </a:t>
            </a:r>
            <a:r>
              <a:rPr lang="en-US" dirty="0" err="1"/>
              <a:t>d.speak</a:t>
            </a:r>
            <a:r>
              <a:rPr lang="en-US" dirty="0"/>
              <a:t>(); // Outputs: Bark</a:t>
            </a:r>
          </a:p>
          <a:p>
            <a:r>
              <a:rPr lang="en-US" dirty="0"/>
              <a:t>    }</a:t>
            </a:r>
          </a:p>
          <a:p>
            <a:r>
              <a:rPr lang="en-US" dirty="0"/>
              <a:t>}</a:t>
            </a:r>
          </a:p>
          <a:p>
            <a:endParaRPr lang="en-US" dirty="0"/>
          </a:p>
          <a:p>
            <a:r>
              <a:rPr lang="en-US" dirty="0"/>
              <a:t>class Animal {</a:t>
            </a:r>
          </a:p>
          <a:p>
            <a:r>
              <a:rPr lang="en-US" dirty="0"/>
              <a:t>    void speak() {</a:t>
            </a:r>
          </a:p>
          <a:p>
            <a:r>
              <a:rPr lang="en-US" dirty="0"/>
              <a:t>        </a:t>
            </a:r>
            <a:r>
              <a:rPr lang="en-US" dirty="0" err="1"/>
              <a:t>System.out.println</a:t>
            </a:r>
            <a:r>
              <a:rPr lang="en-US" dirty="0"/>
              <a:t>("Generic sound");</a:t>
            </a:r>
          </a:p>
          <a:p>
            <a:r>
              <a:rPr lang="en-US" dirty="0"/>
              <a:t>    }</a:t>
            </a:r>
          </a:p>
          <a:p>
            <a:r>
              <a:rPr lang="en-US" dirty="0"/>
              <a:t>}</a:t>
            </a:r>
          </a:p>
          <a:p>
            <a:endParaRPr lang="en-US" dirty="0"/>
          </a:p>
          <a:p>
            <a:r>
              <a:rPr lang="en-US" dirty="0"/>
              <a:t>class Dog extends Animal {</a:t>
            </a:r>
          </a:p>
          <a:p>
            <a:r>
              <a:rPr lang="en-US" dirty="0"/>
              <a:t>    @Override</a:t>
            </a:r>
          </a:p>
          <a:p>
            <a:r>
              <a:rPr lang="en-US" dirty="0"/>
              <a:t>    void speak() {</a:t>
            </a:r>
          </a:p>
          <a:p>
            <a:r>
              <a:rPr lang="en-US" dirty="0"/>
              <a:t>        </a:t>
            </a:r>
            <a:r>
              <a:rPr lang="en-US" dirty="0" err="1"/>
              <a:t>System.out.println</a:t>
            </a:r>
            <a:r>
              <a:rPr lang="en-US" dirty="0"/>
              <a:t>("Bark");</a:t>
            </a:r>
          </a:p>
          <a:p>
            <a:r>
              <a:rPr lang="en-US" dirty="0"/>
              <a:t>    }</a:t>
            </a:r>
          </a:p>
          <a:p>
            <a:r>
              <a:rPr lang="en-US" dirty="0"/>
              <a:t>}</a:t>
            </a:r>
          </a:p>
        </p:txBody>
      </p:sp>
      <p:sp>
        <p:nvSpPr>
          <p:cNvPr id="7" name="TextBox 6">
            <a:extLst>
              <a:ext uri="{FF2B5EF4-FFF2-40B4-BE49-F238E27FC236}">
                <a16:creationId xmlns:a16="http://schemas.microsoft.com/office/drawing/2014/main" id="{E3C5D8EE-58B4-B4AC-D977-82665386DEDF}"/>
              </a:ext>
            </a:extLst>
          </p:cNvPr>
          <p:cNvSpPr txBox="1"/>
          <p:nvPr/>
        </p:nvSpPr>
        <p:spPr>
          <a:xfrm>
            <a:off x="4739367" y="4685567"/>
            <a:ext cx="5159828" cy="1795363"/>
          </a:xfrm>
          <a:prstGeom prst="rect">
            <a:avLst/>
          </a:prstGeom>
          <a:noFill/>
        </p:spPr>
        <p:txBody>
          <a:bodyPr wrap="square">
            <a:spAutoFit/>
          </a:bodyPr>
          <a:lstStyle/>
          <a:p>
            <a:pPr algn="just">
              <a:lnSpc>
                <a:spcPts val="2100"/>
              </a:lnSpc>
              <a:spcBef>
                <a:spcPts val="1650"/>
              </a:spcBef>
              <a:buNone/>
            </a:pPr>
            <a:r>
              <a:rPr lang="en-US" b="0" i="0" dirty="0">
                <a:solidFill>
                  <a:srgbClr val="3A3A3A"/>
                </a:solidFill>
                <a:effectLst/>
                <a:latin typeface="Roboto" panose="02000000000000000000" pitchFamily="2" charset="0"/>
              </a:rPr>
              <a:t>Without @Override, typos can silently result in unexpected behavior:</a:t>
            </a:r>
          </a:p>
          <a:p>
            <a:pPr algn="l">
              <a:spcBef>
                <a:spcPts val="1125"/>
              </a:spcBef>
              <a:spcAft>
                <a:spcPts val="375"/>
              </a:spcAft>
              <a:buNone/>
            </a:pPr>
            <a:r>
              <a:rPr lang="en-US" b="0" i="0" dirty="0">
                <a:solidFill>
                  <a:srgbClr val="212529"/>
                </a:solidFill>
                <a:effectLst/>
                <a:latin typeface="Courier New" panose="02070309020205020404" pitchFamily="49" charset="0"/>
              </a:rPr>
              <a:t>// Misspelled method name — no compile error without @Override</a:t>
            </a:r>
          </a:p>
          <a:p>
            <a:pPr algn="l">
              <a:spcBef>
                <a:spcPts val="1125"/>
              </a:spcBef>
              <a:spcAft>
                <a:spcPts val="375"/>
              </a:spcAft>
              <a:buNone/>
            </a:pPr>
            <a:r>
              <a:rPr lang="en-US" b="0" i="0" dirty="0">
                <a:solidFill>
                  <a:srgbClr val="212529"/>
                </a:solidFill>
                <a:effectLst/>
                <a:latin typeface="Courier New" panose="02070309020205020404" pitchFamily="49" charset="0"/>
              </a:rPr>
              <a:t>void </a:t>
            </a:r>
            <a:r>
              <a:rPr lang="en-US" b="0" i="0" dirty="0" err="1">
                <a:solidFill>
                  <a:srgbClr val="212529"/>
                </a:solidFill>
                <a:effectLst/>
                <a:latin typeface="Courier New" panose="02070309020205020404" pitchFamily="49" charset="0"/>
              </a:rPr>
              <a:t>speek</a:t>
            </a:r>
            <a:r>
              <a:rPr lang="en-US" b="0" i="0" dirty="0">
                <a:solidFill>
                  <a:srgbClr val="212529"/>
                </a:solidFill>
                <a:effectLst/>
                <a:latin typeface="Courier New" panose="02070309020205020404" pitchFamily="49" charset="0"/>
              </a:rPr>
              <a:t>() { ... }</a:t>
            </a:r>
          </a:p>
        </p:txBody>
      </p:sp>
    </p:spTree>
    <p:extLst>
      <p:ext uri="{BB962C8B-B14F-4D97-AF65-F5344CB8AC3E}">
        <p14:creationId xmlns:p14="http://schemas.microsoft.com/office/powerpoint/2010/main" val="16776248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1B9-028C-5DD4-A32D-5F68742A92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4876A1-71C6-F831-1E47-69A1AE7CEE7C}"/>
              </a:ext>
            </a:extLst>
          </p:cNvPr>
          <p:cNvSpPr txBox="1"/>
          <p:nvPr/>
        </p:nvSpPr>
        <p:spPr>
          <a:xfrm>
            <a:off x="0" y="0"/>
            <a:ext cx="9278711" cy="107978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70. What is the difference between Stack and Heap Memory in Java?</a:t>
            </a:r>
          </a:p>
          <a:p>
            <a:pPr algn="just">
              <a:lnSpc>
                <a:spcPts val="2100"/>
              </a:lnSpc>
              <a:spcBef>
                <a:spcPts val="1650"/>
              </a:spcBef>
              <a:buNone/>
            </a:pPr>
            <a:r>
              <a:rPr lang="en-US" b="0" i="0" dirty="0">
                <a:solidFill>
                  <a:srgbClr val="3A3A3A"/>
                </a:solidFill>
                <a:effectLst/>
                <a:latin typeface="Roboto" panose="02000000000000000000" pitchFamily="2" charset="0"/>
              </a:rPr>
              <a:t>The key differences between </a:t>
            </a:r>
            <a:r>
              <a:rPr lang="en-US" b="0" i="0" u="none" strike="noStrike" dirty="0">
                <a:solidFill>
                  <a:srgbClr val="0F5A9E"/>
                </a:solidFill>
                <a:effectLst/>
                <a:latin typeface="Roboto" panose="02000000000000000000" pitchFamily="2" charset="0"/>
                <a:hlinkClick r:id="rId2"/>
              </a:rPr>
              <a:t>Heap and Stack</a:t>
            </a:r>
            <a:r>
              <a:rPr lang="en-US" b="0" i="0" dirty="0">
                <a:solidFill>
                  <a:srgbClr val="3A3A3A"/>
                </a:solidFill>
                <a:effectLst/>
                <a:latin typeface="Roboto" panose="02000000000000000000" pitchFamily="2" charset="0"/>
              </a:rPr>
              <a:t> </a:t>
            </a:r>
            <a:r>
              <a:rPr lang="en-US" b="0" i="0" u="none" strike="noStrike" dirty="0">
                <a:solidFill>
                  <a:srgbClr val="0F5A9E"/>
                </a:solidFill>
                <a:effectLst/>
                <a:latin typeface="Roboto" panose="02000000000000000000" pitchFamily="2" charset="0"/>
                <a:hlinkClick r:id="rId2"/>
              </a:rPr>
              <a:t>memory</a:t>
            </a:r>
            <a:r>
              <a:rPr lang="en-US" b="0" i="0" dirty="0">
                <a:solidFill>
                  <a:srgbClr val="3A3A3A"/>
                </a:solidFill>
                <a:effectLst/>
                <a:latin typeface="Roboto" panose="02000000000000000000" pitchFamily="2" charset="0"/>
              </a:rPr>
              <a:t> in Java are:</a:t>
            </a:r>
          </a:p>
        </p:txBody>
      </p:sp>
      <p:graphicFrame>
        <p:nvGraphicFramePr>
          <p:cNvPr id="4" name="Table 3">
            <a:extLst>
              <a:ext uri="{FF2B5EF4-FFF2-40B4-BE49-F238E27FC236}">
                <a16:creationId xmlns:a16="http://schemas.microsoft.com/office/drawing/2014/main" id="{1BE10448-BCB8-A309-82CD-156F99CD9FD9}"/>
              </a:ext>
            </a:extLst>
          </p:cNvPr>
          <p:cNvGraphicFramePr>
            <a:graphicFrameLocks noGrp="1"/>
          </p:cNvGraphicFramePr>
          <p:nvPr/>
        </p:nvGraphicFramePr>
        <p:xfrm>
          <a:off x="966939" y="1803794"/>
          <a:ext cx="7972122" cy="4395000"/>
        </p:xfrm>
        <a:graphic>
          <a:graphicData uri="http://schemas.openxmlformats.org/drawingml/2006/table">
            <a:tbl>
              <a:tblPr/>
              <a:tblGrid>
                <a:gridCol w="3986061">
                  <a:extLst>
                    <a:ext uri="{9D8B030D-6E8A-4147-A177-3AD203B41FA5}">
                      <a16:colId xmlns:a16="http://schemas.microsoft.com/office/drawing/2014/main" val="212034967"/>
                    </a:ext>
                  </a:extLst>
                </a:gridCol>
                <a:gridCol w="3986061">
                  <a:extLst>
                    <a:ext uri="{9D8B030D-6E8A-4147-A177-3AD203B41FA5}">
                      <a16:colId xmlns:a16="http://schemas.microsoft.com/office/drawing/2014/main" val="3026779535"/>
                    </a:ext>
                  </a:extLst>
                </a:gridCol>
              </a:tblGrid>
              <a:tr h="341281">
                <a:tc>
                  <a:txBody>
                    <a:bodyPr/>
                    <a:lstStyle/>
                    <a:p>
                      <a:pPr algn="ctr" fontAlgn="t">
                        <a:buNone/>
                      </a:pPr>
                      <a:r>
                        <a:rPr lang="en-US" sz="1700" b="0">
                          <a:solidFill>
                            <a:srgbClr val="FFFFFF"/>
                          </a:solidFill>
                          <a:effectLst/>
                        </a:rPr>
                        <a:t>Stack Memory</a:t>
                      </a:r>
                      <a:endParaRPr lang="en-US" sz="1700">
                        <a:solidFill>
                          <a:srgbClr val="FFFFFF"/>
                        </a:solidFill>
                        <a:effectLst/>
                      </a:endParaRP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700" b="0" dirty="0">
                          <a:solidFill>
                            <a:srgbClr val="FFFFFF"/>
                          </a:solidFill>
                          <a:effectLst/>
                        </a:rPr>
                        <a:t>Heap Memory</a:t>
                      </a:r>
                      <a:endParaRPr lang="en-US" sz="1700" dirty="0">
                        <a:solidFill>
                          <a:srgbClr val="FFFFFF"/>
                        </a:solidFill>
                        <a:effectLst/>
                      </a:endParaRP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012416361"/>
                  </a:ext>
                </a:extLst>
              </a:tr>
              <a:tr h="341281">
                <a:tc>
                  <a:txBody>
                    <a:bodyPr/>
                    <a:lstStyle/>
                    <a:p>
                      <a:pPr fontAlgn="t">
                        <a:buNone/>
                      </a:pPr>
                      <a:r>
                        <a:rPr lang="en-US" sz="1700">
                          <a:effectLst/>
                        </a:rPr>
                        <a:t>Smaller in size.</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Larger in size.</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706478175"/>
                  </a:ext>
                </a:extLst>
              </a:tr>
              <a:tr h="597242">
                <a:tc>
                  <a:txBody>
                    <a:bodyPr/>
                    <a:lstStyle/>
                    <a:p>
                      <a:pPr fontAlgn="t">
                        <a:buNone/>
                      </a:pPr>
                      <a:r>
                        <a:rPr lang="en-US" sz="1700">
                          <a:effectLst/>
                        </a:rPr>
                        <a:t>Exists until the end of the thread.</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Lives from the start till the end of application execution.</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757590808"/>
                  </a:ext>
                </a:extLst>
              </a:tr>
              <a:tr h="597242">
                <a:tc>
                  <a:txBody>
                    <a:bodyPr/>
                    <a:lstStyle/>
                    <a:p>
                      <a:pPr fontAlgn="t">
                        <a:buNone/>
                      </a:pPr>
                      <a:r>
                        <a:rPr lang="en-US" sz="1700">
                          <a:effectLst/>
                        </a:rPr>
                        <a:t>Objects stored in Stack can’t be accessed by other </a:t>
                      </a:r>
                      <a:r>
                        <a:rPr lang="en-US" sz="1700" u="none" strike="noStrike">
                          <a:solidFill>
                            <a:srgbClr val="0F5A9E"/>
                          </a:solidFill>
                          <a:effectLst/>
                          <a:hlinkClick r:id="rId3"/>
                        </a:rPr>
                        <a:t>threads</a:t>
                      </a:r>
                      <a:r>
                        <a:rPr lang="en-US" sz="1700">
                          <a:effectLst/>
                        </a:rPr>
                        <a:t>.</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Globally accessible.</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047020872"/>
                  </a:ext>
                </a:extLst>
              </a:tr>
              <a:tr h="341281">
                <a:tc>
                  <a:txBody>
                    <a:bodyPr/>
                    <a:lstStyle/>
                    <a:p>
                      <a:pPr fontAlgn="t">
                        <a:buNone/>
                      </a:pPr>
                      <a:r>
                        <a:rPr lang="en-US" sz="1700">
                          <a:effectLst/>
                        </a:rPr>
                        <a:t>Follows LIFO (Last In First Out) order.</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Dynamic memory allocation.</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399436399"/>
                  </a:ext>
                </a:extLst>
              </a:tr>
              <a:tr h="597242">
                <a:tc>
                  <a:txBody>
                    <a:bodyPr/>
                    <a:lstStyle/>
                    <a:p>
                      <a:pPr fontAlgn="t">
                        <a:buNone/>
                      </a:pPr>
                      <a:r>
                        <a:rPr lang="en-US" sz="1700">
                          <a:effectLst/>
                        </a:rPr>
                        <a:t>The variables in Stack memory are only visible to the owner thread.</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Heap memory is visible to all the threads.</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726928415"/>
                  </a:ext>
                </a:extLst>
              </a:tr>
              <a:tr h="341281">
                <a:tc>
                  <a:txBody>
                    <a:bodyPr/>
                    <a:lstStyle/>
                    <a:p>
                      <a:pPr fontAlgn="t">
                        <a:buNone/>
                      </a:pPr>
                      <a:r>
                        <a:rPr lang="en-US" sz="1700">
                          <a:effectLst/>
                        </a:rPr>
                        <a:t>Continuous memory allocation.</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Random order memory allocation.</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319388045"/>
                  </a:ext>
                </a:extLst>
              </a:tr>
              <a:tr h="597242">
                <a:tc>
                  <a:txBody>
                    <a:bodyPr/>
                    <a:lstStyle/>
                    <a:p>
                      <a:pPr fontAlgn="t">
                        <a:buNone/>
                      </a:pPr>
                      <a:r>
                        <a:rPr lang="en-US" sz="1700">
                          <a:effectLst/>
                        </a:rPr>
                        <a:t>Less flexible, one cannot alter the allocation memory.</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a:effectLst/>
                        </a:rPr>
                        <a:t>Users can alter the allocated memory.</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33277765"/>
                  </a:ext>
                </a:extLst>
              </a:tr>
              <a:tr h="597242">
                <a:tc>
                  <a:txBody>
                    <a:bodyPr/>
                    <a:lstStyle/>
                    <a:p>
                      <a:pPr fontAlgn="t">
                        <a:buNone/>
                      </a:pPr>
                      <a:r>
                        <a:rPr lang="en-US" sz="1700" dirty="0">
                          <a:effectLst/>
                        </a:rPr>
                        <a:t>Fast access, allocation, and deallocation.</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700" dirty="0">
                          <a:effectLst/>
                        </a:rPr>
                        <a:t>Slow access, allocation, and deallocation.</a:t>
                      </a:r>
                    </a:p>
                  </a:txBody>
                  <a:tcPr marL="85320" marR="85320" marT="42660" marB="42660">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430457790"/>
                  </a:ext>
                </a:extLst>
              </a:tr>
            </a:tbl>
          </a:graphicData>
        </a:graphic>
      </p:graphicFrame>
    </p:spTree>
    <p:extLst>
      <p:ext uri="{BB962C8B-B14F-4D97-AF65-F5344CB8AC3E}">
        <p14:creationId xmlns:p14="http://schemas.microsoft.com/office/powerpoint/2010/main" val="2996681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33DC-6598-AE34-6561-657045E651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0AAB60-407C-9C99-7200-797B39098D95}"/>
              </a:ext>
            </a:extLst>
          </p:cNvPr>
          <p:cNvSpPr txBox="1"/>
          <p:nvPr/>
        </p:nvSpPr>
        <p:spPr>
          <a:xfrm>
            <a:off x="0" y="0"/>
            <a:ext cx="9906000" cy="367023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71. What is a Predicate in Java?</a:t>
            </a:r>
          </a:p>
          <a:p>
            <a:pPr algn="just">
              <a:lnSpc>
                <a:spcPts val="2100"/>
              </a:lnSpc>
              <a:spcBef>
                <a:spcPts val="1650"/>
              </a:spcBef>
              <a:buNone/>
            </a:pPr>
            <a:r>
              <a:rPr lang="en-US" b="0" i="0" dirty="0">
                <a:solidFill>
                  <a:srgbClr val="3A3A3A"/>
                </a:solidFill>
                <a:effectLst/>
                <a:latin typeface="Roboto" panose="02000000000000000000" pitchFamily="2" charset="0"/>
              </a:rPr>
              <a:t>Predicate is a functional interface added in Java as part of the package </a:t>
            </a:r>
            <a:r>
              <a:rPr lang="en-US" b="0" i="0" dirty="0" err="1">
                <a:solidFill>
                  <a:srgbClr val="3A3A3A"/>
                </a:solidFill>
                <a:effectLst/>
                <a:latin typeface="Roboto" panose="02000000000000000000" pitchFamily="2" charset="0"/>
              </a:rPr>
              <a:t>java.util.function</a:t>
            </a:r>
            <a:r>
              <a:rPr lang="en-US" b="0" i="0" dirty="0">
                <a:solidFill>
                  <a:srgbClr val="3A3A3A"/>
                </a:solidFill>
                <a:effectLst/>
                <a:latin typeface="Roboto" panose="02000000000000000000" pitchFamily="2" charset="0"/>
              </a:rPr>
              <a:t>. It is a representation of a one-argument </a:t>
            </a:r>
            <a:r>
              <a:rPr lang="en-US" b="0" i="0" dirty="0" err="1">
                <a:solidFill>
                  <a:srgbClr val="3A3A3A"/>
                </a:solidFill>
                <a:effectLst/>
                <a:latin typeface="Roboto" panose="02000000000000000000" pitchFamily="2" charset="0"/>
              </a:rPr>
              <a:t>boolean</a:t>
            </a:r>
            <a:r>
              <a:rPr lang="en-US" b="0" i="0" dirty="0">
                <a:solidFill>
                  <a:srgbClr val="3A3A3A"/>
                </a:solidFill>
                <a:effectLst/>
                <a:latin typeface="Roboto" panose="02000000000000000000" pitchFamily="2" charset="0"/>
              </a:rPr>
              <a:t>-valued function.</a:t>
            </a:r>
          </a:p>
          <a:p>
            <a:pPr algn="l">
              <a:spcBef>
                <a:spcPts val="1650"/>
              </a:spcBef>
              <a:buNone/>
            </a:pPr>
            <a:r>
              <a:rPr lang="en-US" b="0" i="0" dirty="0">
                <a:solidFill>
                  <a:srgbClr val="3A3A3A"/>
                </a:solidFill>
                <a:effectLst/>
                <a:latin typeface="Roboto" panose="02000000000000000000" pitchFamily="2" charset="0"/>
              </a:rPr>
              <a:t>Method Signature:</a:t>
            </a:r>
          </a:p>
          <a:p>
            <a:pPr algn="l">
              <a:spcBef>
                <a:spcPts val="1125"/>
              </a:spcBef>
              <a:spcAft>
                <a:spcPts val="375"/>
              </a:spcAft>
              <a:buNone/>
            </a:pPr>
            <a:r>
              <a:rPr lang="en-US" b="0" i="0" dirty="0">
                <a:solidFill>
                  <a:srgbClr val="212529"/>
                </a:solidFill>
                <a:effectLst/>
                <a:latin typeface="Courier New" panose="02070309020205020404" pitchFamily="49" charset="0"/>
              </a:rPr>
              <a:t>@FunctionalInterface</a:t>
            </a:r>
          </a:p>
          <a:p>
            <a:pPr algn="l">
              <a:spcBef>
                <a:spcPts val="1125"/>
              </a:spcBef>
              <a:spcAft>
                <a:spcPts val="375"/>
              </a:spcAft>
              <a:buNone/>
            </a:pPr>
            <a:r>
              <a:rPr lang="en-US" b="0" i="0" dirty="0">
                <a:solidFill>
                  <a:srgbClr val="212529"/>
                </a:solidFill>
                <a:effectLst/>
                <a:latin typeface="Courier New" panose="02070309020205020404" pitchFamily="49" charset="0"/>
              </a:rPr>
              <a:t>public interface Predicate {</a:t>
            </a: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boolean</a:t>
            </a:r>
            <a:r>
              <a:rPr lang="en-US" b="0" i="0" dirty="0">
                <a:solidFill>
                  <a:srgbClr val="212529"/>
                </a:solidFill>
                <a:effectLst/>
                <a:latin typeface="Courier New" panose="02070309020205020404" pitchFamily="49" charset="0"/>
              </a:rPr>
              <a:t> test(T t);</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
        <p:nvSpPr>
          <p:cNvPr id="5" name="TextBox 4">
            <a:extLst>
              <a:ext uri="{FF2B5EF4-FFF2-40B4-BE49-F238E27FC236}">
                <a16:creationId xmlns:a16="http://schemas.microsoft.com/office/drawing/2014/main" id="{366266F8-DD8B-3B34-594D-335510460247}"/>
              </a:ext>
            </a:extLst>
          </p:cNvPr>
          <p:cNvSpPr txBox="1"/>
          <p:nvPr/>
        </p:nvSpPr>
        <p:spPr>
          <a:xfrm>
            <a:off x="54428" y="3702893"/>
            <a:ext cx="9710057" cy="5142433"/>
          </a:xfrm>
          <a:prstGeom prst="rect">
            <a:avLst/>
          </a:prstGeom>
          <a:noFill/>
        </p:spPr>
        <p:txBody>
          <a:bodyPr wrap="square">
            <a:spAutoFit/>
          </a:bodyPr>
          <a:lstStyle/>
          <a:p>
            <a:pPr algn="just">
              <a:lnSpc>
                <a:spcPts val="2100"/>
              </a:lnSpc>
              <a:spcBef>
                <a:spcPts val="1650"/>
              </a:spcBef>
              <a:buNone/>
            </a:pPr>
            <a:r>
              <a:rPr lang="en-US" b="0" i="0" dirty="0">
                <a:solidFill>
                  <a:srgbClr val="3A3A3A"/>
                </a:solidFill>
                <a:effectLst/>
                <a:latin typeface="Roboto" panose="02000000000000000000" pitchFamily="2" charset="0"/>
              </a:rPr>
              <a:t>Example Usage:</a:t>
            </a:r>
          </a:p>
          <a:p>
            <a:pPr algn="l">
              <a:spcBef>
                <a:spcPts val="1125"/>
              </a:spcBef>
              <a:spcAft>
                <a:spcPts val="375"/>
              </a:spcAft>
              <a:buNone/>
            </a:pPr>
            <a:r>
              <a:rPr lang="en-US" b="0" i="0" dirty="0">
                <a:solidFill>
                  <a:srgbClr val="212529"/>
                </a:solidFill>
                <a:effectLst/>
                <a:latin typeface="Courier New" panose="02070309020205020404" pitchFamily="49" charset="0"/>
              </a:rPr>
              <a:t>Predicate </a:t>
            </a:r>
            <a:r>
              <a:rPr lang="en-US" b="0" i="0" dirty="0" err="1">
                <a:solidFill>
                  <a:srgbClr val="212529"/>
                </a:solidFill>
                <a:effectLst/>
                <a:latin typeface="Courier New" panose="02070309020205020404" pitchFamily="49" charset="0"/>
              </a:rPr>
              <a:t>startsWithA</a:t>
            </a:r>
            <a:r>
              <a:rPr lang="en-US" b="0" i="0" dirty="0">
                <a:solidFill>
                  <a:srgbClr val="212529"/>
                </a:solidFill>
                <a:effectLst/>
                <a:latin typeface="Courier New" panose="02070309020205020404" pitchFamily="49" charset="0"/>
              </a:rPr>
              <a:t> = str -&gt; </a:t>
            </a:r>
            <a:r>
              <a:rPr lang="en-US" b="0" i="0" dirty="0" err="1">
                <a:solidFill>
                  <a:srgbClr val="212529"/>
                </a:solidFill>
                <a:effectLst/>
                <a:latin typeface="Courier New" panose="02070309020205020404" pitchFamily="49" charset="0"/>
              </a:rPr>
              <a:t>str.startsWith</a:t>
            </a:r>
            <a:r>
              <a:rPr lang="en-US" b="0" i="0" dirty="0">
                <a:solidFill>
                  <a:srgbClr val="212529"/>
                </a:solidFill>
                <a:effectLst/>
                <a:latin typeface="Courier New" panose="02070309020205020404" pitchFamily="49" charset="0"/>
              </a:rPr>
              <a:t>("A");</a:t>
            </a:r>
          </a:p>
          <a:p>
            <a:pPr algn="l">
              <a:spcBef>
                <a:spcPts val="1125"/>
              </a:spcBef>
              <a:spcAft>
                <a:spcPts val="375"/>
              </a:spcAft>
              <a:buNone/>
            </a:pPr>
            <a:r>
              <a:rPr lang="en-US" b="0" i="0" dirty="0" err="1">
                <a:solidFill>
                  <a:srgbClr val="212529"/>
                </a:solidFill>
                <a:effectLst/>
                <a:latin typeface="Courier New" panose="02070309020205020404" pitchFamily="49" charset="0"/>
              </a:rPr>
              <a:t>System.out.println</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startsWithA.test</a:t>
            </a:r>
            <a:r>
              <a:rPr lang="en-US" b="0" i="0" dirty="0">
                <a:solidFill>
                  <a:srgbClr val="212529"/>
                </a:solidFill>
                <a:effectLst/>
                <a:latin typeface="Courier New" panose="02070309020205020404" pitchFamily="49" charset="0"/>
              </a:rPr>
              <a:t>("Apple")); // true</a:t>
            </a:r>
          </a:p>
          <a:p>
            <a:pPr algn="l">
              <a:spcBef>
                <a:spcPts val="1125"/>
              </a:spcBef>
              <a:spcAft>
                <a:spcPts val="375"/>
              </a:spcAft>
              <a:buNone/>
            </a:pPr>
            <a:r>
              <a:rPr lang="en-US" b="0" i="0" dirty="0" err="1">
                <a:solidFill>
                  <a:srgbClr val="212529"/>
                </a:solidFill>
                <a:effectLst/>
                <a:latin typeface="Courier New" panose="02070309020205020404" pitchFamily="49" charset="0"/>
              </a:rPr>
              <a:t>System.out.println</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startsWithA.test</a:t>
            </a:r>
            <a:r>
              <a:rPr lang="en-US" b="0" i="0" dirty="0">
                <a:solidFill>
                  <a:srgbClr val="212529"/>
                </a:solidFill>
                <a:effectLst/>
                <a:latin typeface="Courier New" panose="02070309020205020404" pitchFamily="49" charset="0"/>
              </a:rPr>
              <a:t>("Banana")); // false</a:t>
            </a:r>
          </a:p>
          <a:p>
            <a:pPr algn="l">
              <a:spcBef>
                <a:spcPts val="1650"/>
              </a:spcBef>
              <a:buNone/>
            </a:pPr>
            <a:r>
              <a:rPr lang="en-US" b="0" i="0" dirty="0">
                <a:solidFill>
                  <a:srgbClr val="3A3A3A"/>
                </a:solidFill>
                <a:effectLst/>
                <a:latin typeface="Roboto" panose="02000000000000000000" pitchFamily="2" charset="0"/>
              </a:rPr>
              <a:t>Use Cases: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Applied with streams, filtering, and conditional logic.</a:t>
            </a:r>
          </a:p>
          <a:p>
            <a:pPr algn="just">
              <a:lnSpc>
                <a:spcPts val="2100"/>
              </a:lnSpc>
              <a:spcBef>
                <a:spcPts val="1650"/>
              </a:spcBef>
              <a:buNone/>
            </a:pPr>
            <a:r>
              <a:rPr lang="en-US" b="0" i="0" dirty="0">
                <a:solidFill>
                  <a:srgbClr val="3A3A3A"/>
                </a:solidFill>
                <a:effectLst/>
                <a:latin typeface="Roboto" panose="02000000000000000000" pitchFamily="2" charset="0"/>
              </a:rPr>
              <a:t>Example with streams:</a:t>
            </a:r>
          </a:p>
          <a:p>
            <a:pPr algn="l">
              <a:spcBef>
                <a:spcPts val="1125"/>
              </a:spcBef>
              <a:spcAft>
                <a:spcPts val="375"/>
              </a:spcAft>
              <a:buNone/>
            </a:pPr>
            <a:r>
              <a:rPr lang="en-US" b="0" i="0" dirty="0">
                <a:solidFill>
                  <a:srgbClr val="212529"/>
                </a:solidFill>
                <a:effectLst/>
                <a:latin typeface="Courier New" panose="02070309020205020404" pitchFamily="49" charset="0"/>
              </a:rPr>
              <a:t>List names = </a:t>
            </a:r>
            <a:r>
              <a:rPr lang="en-US" b="0" i="0" dirty="0" err="1">
                <a:solidFill>
                  <a:srgbClr val="212529"/>
                </a:solidFill>
                <a:effectLst/>
                <a:latin typeface="Courier New" panose="02070309020205020404" pitchFamily="49" charset="0"/>
              </a:rPr>
              <a:t>List.of</a:t>
            </a:r>
            <a:r>
              <a:rPr lang="en-US" b="0" i="0" dirty="0">
                <a:solidFill>
                  <a:srgbClr val="212529"/>
                </a:solidFill>
                <a:effectLst/>
                <a:latin typeface="Courier New" panose="02070309020205020404" pitchFamily="49" charset="0"/>
              </a:rPr>
              <a:t>("Alice", "Bob", "Ankit");</a:t>
            </a:r>
          </a:p>
          <a:p>
            <a:pPr algn="l">
              <a:spcBef>
                <a:spcPts val="1125"/>
              </a:spcBef>
              <a:spcAft>
                <a:spcPts val="375"/>
              </a:spcAft>
              <a:buNone/>
            </a:pPr>
            <a:r>
              <a:rPr lang="en-US" b="0" i="0" dirty="0" err="1">
                <a:solidFill>
                  <a:srgbClr val="212529"/>
                </a:solidFill>
                <a:effectLst/>
                <a:latin typeface="Courier New" panose="02070309020205020404" pitchFamily="49" charset="0"/>
              </a:rPr>
              <a:t>names.stream</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     .filter(name -&gt; </a:t>
            </a:r>
            <a:r>
              <a:rPr lang="en-US" b="0" i="0" dirty="0" err="1">
                <a:solidFill>
                  <a:srgbClr val="212529"/>
                </a:solidFill>
                <a:effectLst/>
                <a:latin typeface="Courier New" panose="02070309020205020404" pitchFamily="49" charset="0"/>
              </a:rPr>
              <a:t>name.startsWith</a:t>
            </a:r>
            <a:r>
              <a:rPr lang="en-US" b="0" i="0" dirty="0">
                <a:solidFill>
                  <a:srgbClr val="212529"/>
                </a:solidFill>
                <a:effectLst/>
                <a:latin typeface="Courier New" panose="02070309020205020404" pitchFamily="49" charset="0"/>
              </a:rPr>
              <a:t>("A"))</a:t>
            </a: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forEach</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System.out</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println</a:t>
            </a: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29060760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814-5741-BF68-57BD-61191B08B0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853568-CDB2-0319-D96E-4D3DF214D436}"/>
              </a:ext>
            </a:extLst>
          </p:cNvPr>
          <p:cNvSpPr txBox="1"/>
          <p:nvPr/>
        </p:nvSpPr>
        <p:spPr>
          <a:xfrm>
            <a:off x="174171" y="265313"/>
            <a:ext cx="9731829" cy="632737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72. How does HashSet internally store elements?</a:t>
            </a:r>
          </a:p>
          <a:p>
            <a:pPr algn="just">
              <a:lnSpc>
                <a:spcPts val="2100"/>
              </a:lnSpc>
              <a:spcBef>
                <a:spcPts val="1650"/>
              </a:spcBef>
              <a:buNone/>
            </a:pPr>
            <a:r>
              <a:rPr lang="en-US" b="0" i="0" dirty="0">
                <a:solidFill>
                  <a:srgbClr val="3A3A3A"/>
                </a:solidFill>
                <a:effectLst/>
                <a:latin typeface="Roboto" panose="02000000000000000000" pitchFamily="2" charset="0"/>
              </a:rPr>
              <a:t>Internally, HashSet uses a HashMap to store its elements. When an element is added to a HashSet, it is added as a key in the underlying HashMap with a constant dummy value (PRESENT) associated with it.</a:t>
            </a:r>
          </a:p>
          <a:p>
            <a:pPr algn="l">
              <a:spcBef>
                <a:spcPts val="1650"/>
              </a:spcBef>
              <a:buNone/>
            </a:pPr>
            <a:r>
              <a:rPr lang="en-US" b="0" i="0" dirty="0">
                <a:solidFill>
                  <a:srgbClr val="3A3A3A"/>
                </a:solidFill>
                <a:effectLst/>
                <a:latin typeface="Roboto" panose="02000000000000000000" pitchFamily="2" charset="0"/>
              </a:rPr>
              <a:t>Internal Representation:</a:t>
            </a:r>
          </a:p>
          <a:p>
            <a:pPr algn="l">
              <a:spcBef>
                <a:spcPts val="1125"/>
              </a:spcBef>
              <a:spcAft>
                <a:spcPts val="375"/>
              </a:spcAft>
              <a:buNone/>
            </a:pPr>
            <a:r>
              <a:rPr lang="en-US" b="0" i="0" dirty="0">
                <a:solidFill>
                  <a:srgbClr val="212529"/>
                </a:solidFill>
                <a:effectLst/>
                <a:latin typeface="Courier New" panose="02070309020205020404" pitchFamily="49" charset="0"/>
              </a:rPr>
              <a:t>private transient HashMap&lt;E, Object&gt; map;</a:t>
            </a:r>
          </a:p>
          <a:p>
            <a:pPr algn="l">
              <a:spcBef>
                <a:spcPts val="1125"/>
              </a:spcBef>
              <a:spcAft>
                <a:spcPts val="375"/>
              </a:spcAft>
              <a:buNone/>
            </a:pPr>
            <a:r>
              <a:rPr lang="en-US" b="0" i="0" dirty="0">
                <a:solidFill>
                  <a:srgbClr val="212529"/>
                </a:solidFill>
                <a:effectLst/>
                <a:latin typeface="Courier New" panose="02070309020205020404" pitchFamily="49" charset="0"/>
              </a:rPr>
              <a:t>private static final Object PRESENT = new Object();</a:t>
            </a:r>
          </a:p>
          <a:p>
            <a:pPr algn="l">
              <a:spcBef>
                <a:spcPts val="1650"/>
              </a:spcBef>
              <a:buNone/>
            </a:pPr>
            <a:r>
              <a:rPr lang="en-US" b="0" i="0" dirty="0">
                <a:solidFill>
                  <a:srgbClr val="3A3A3A"/>
                </a:solidFill>
                <a:effectLst/>
                <a:latin typeface="Roboto" panose="02000000000000000000" pitchFamily="2" charset="0"/>
              </a:rPr>
              <a:t>Working:</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It relies on </a:t>
            </a:r>
            <a:r>
              <a:rPr lang="en-US" b="0" i="0" dirty="0" err="1">
                <a:solidFill>
                  <a:srgbClr val="3A3A3A"/>
                </a:solidFill>
                <a:effectLst/>
                <a:latin typeface="Roboto" panose="02000000000000000000" pitchFamily="2" charset="0"/>
              </a:rPr>
              <a:t>hashCode</a:t>
            </a:r>
            <a:r>
              <a:rPr lang="en-US" b="0" i="0" dirty="0">
                <a:solidFill>
                  <a:srgbClr val="3A3A3A"/>
                </a:solidFill>
                <a:effectLst/>
                <a:latin typeface="Roboto" panose="02000000000000000000" pitchFamily="2" charset="0"/>
              </a:rPr>
              <a:t>() and equals() methods to provide uniqueness.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Even when two objects share identical hash codes but are not equal through equals(), both can still be cached.</a:t>
            </a:r>
          </a:p>
          <a:p>
            <a:pPr algn="l">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HashSet set = new HashSet&lt;&gt;();</a:t>
            </a:r>
          </a:p>
          <a:p>
            <a:pPr algn="l">
              <a:spcBef>
                <a:spcPts val="1125"/>
              </a:spcBef>
              <a:spcAft>
                <a:spcPts val="375"/>
              </a:spcAft>
              <a:buNone/>
            </a:pPr>
            <a:r>
              <a:rPr lang="en-US" b="0" i="0" dirty="0" err="1">
                <a:solidFill>
                  <a:srgbClr val="212529"/>
                </a:solidFill>
                <a:effectLst/>
                <a:latin typeface="Courier New" panose="02070309020205020404" pitchFamily="49" charset="0"/>
              </a:rPr>
              <a:t>set.add</a:t>
            </a:r>
            <a:r>
              <a:rPr lang="en-US" b="0" i="0" dirty="0">
                <a:solidFill>
                  <a:srgbClr val="212529"/>
                </a:solidFill>
                <a:effectLst/>
                <a:latin typeface="Courier New" panose="02070309020205020404" pitchFamily="49" charset="0"/>
              </a:rPr>
              <a:t>("Java"); // Stored as </a:t>
            </a:r>
            <a:r>
              <a:rPr lang="en-US" b="0" i="0" dirty="0" err="1">
                <a:solidFill>
                  <a:srgbClr val="212529"/>
                </a:solidFill>
                <a:effectLst/>
                <a:latin typeface="Courier New" panose="02070309020205020404" pitchFamily="49" charset="0"/>
              </a:rPr>
              <a:t>map.put</a:t>
            </a:r>
            <a:r>
              <a:rPr lang="en-US" b="0" i="0" dirty="0">
                <a:solidFill>
                  <a:srgbClr val="212529"/>
                </a:solidFill>
                <a:effectLst/>
                <a:latin typeface="Courier New" panose="02070309020205020404" pitchFamily="49" charset="0"/>
              </a:rPr>
              <a:t>("Java", PRESENT)</a:t>
            </a:r>
          </a:p>
        </p:txBody>
      </p:sp>
    </p:spTree>
    <p:extLst>
      <p:ext uri="{BB962C8B-B14F-4D97-AF65-F5344CB8AC3E}">
        <p14:creationId xmlns:p14="http://schemas.microsoft.com/office/powerpoint/2010/main" val="4026452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12D9-7743-8E75-BF87-F74CE41579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82BCBC-1BD8-BBEA-8E44-EB5E556E3F87}"/>
              </a:ext>
            </a:extLst>
          </p:cNvPr>
          <p:cNvSpPr txBox="1"/>
          <p:nvPr/>
        </p:nvSpPr>
        <p:spPr>
          <a:xfrm>
            <a:off x="179614" y="330716"/>
            <a:ext cx="9421586" cy="538865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73. What is the diamond operator (&lt;&gt;) in generics?</a:t>
            </a:r>
          </a:p>
          <a:p>
            <a:pPr algn="just">
              <a:lnSpc>
                <a:spcPts val="2100"/>
              </a:lnSpc>
              <a:spcBef>
                <a:spcPts val="1650"/>
              </a:spcBef>
              <a:buNone/>
            </a:pPr>
            <a:r>
              <a:rPr lang="en-US" b="0" i="0" dirty="0">
                <a:solidFill>
                  <a:srgbClr val="3A3A3A"/>
                </a:solidFill>
                <a:effectLst/>
                <a:latin typeface="Roboto" panose="02000000000000000000" pitchFamily="2" charset="0"/>
              </a:rPr>
              <a:t>The diamond operator (&lt;&gt;), added in Java 7, has made instantiation of generic types easier by enabling the compiler to deduce the type arguments.</a:t>
            </a:r>
          </a:p>
          <a:p>
            <a:pPr algn="l">
              <a:spcBef>
                <a:spcPts val="1650"/>
              </a:spcBef>
              <a:buNone/>
            </a:pPr>
            <a:r>
              <a:rPr lang="en-US" b="0" i="0" dirty="0">
                <a:solidFill>
                  <a:srgbClr val="3A3A3A"/>
                </a:solidFill>
                <a:effectLst/>
                <a:latin typeface="Roboto" panose="02000000000000000000" pitchFamily="2" charset="0"/>
              </a:rPr>
              <a:t>Before Java 7:</a:t>
            </a:r>
          </a:p>
          <a:p>
            <a:pPr algn="l">
              <a:spcBef>
                <a:spcPts val="1125"/>
              </a:spcBef>
              <a:spcAft>
                <a:spcPts val="375"/>
              </a:spcAft>
              <a:buNone/>
            </a:pPr>
            <a:r>
              <a:rPr lang="en-US" b="0" i="0" dirty="0">
                <a:solidFill>
                  <a:srgbClr val="212529"/>
                </a:solidFill>
                <a:effectLst/>
                <a:latin typeface="Courier New" panose="02070309020205020404" pitchFamily="49" charset="0"/>
              </a:rPr>
              <a:t>List </a:t>
            </a:r>
            <a:r>
              <a:rPr lang="en-US" b="0" i="0" dirty="0" err="1">
                <a:solidFill>
                  <a:srgbClr val="212529"/>
                </a:solidFill>
                <a:effectLst/>
                <a:latin typeface="Courier New" panose="02070309020205020404" pitchFamily="49" charset="0"/>
              </a:rPr>
              <a:t>list</a:t>
            </a:r>
            <a:r>
              <a:rPr lang="en-US" b="0" i="0" dirty="0">
                <a:solidFill>
                  <a:srgbClr val="212529"/>
                </a:solidFill>
                <a:effectLst/>
                <a:latin typeface="Courier New" panose="02070309020205020404" pitchFamily="49" charset="0"/>
              </a:rPr>
              <a:t> = new </a:t>
            </a:r>
            <a:r>
              <a:rPr lang="en-US" b="0" i="0" dirty="0" err="1">
                <a:solidFill>
                  <a:srgbClr val="212529"/>
                </a:solidFill>
                <a:effectLst/>
                <a:latin typeface="Courier New" panose="02070309020205020404" pitchFamily="49" charset="0"/>
              </a:rPr>
              <a:t>ArrayList</a:t>
            </a:r>
            <a:r>
              <a:rPr lang="en-US" b="0" i="0" dirty="0">
                <a:solidFill>
                  <a:srgbClr val="212529"/>
                </a:solidFill>
                <a:effectLst/>
                <a:latin typeface="Courier New" panose="02070309020205020404" pitchFamily="49" charset="0"/>
              </a:rPr>
              <a:t>();</a:t>
            </a:r>
          </a:p>
          <a:p>
            <a:pPr algn="l">
              <a:spcBef>
                <a:spcPts val="1650"/>
              </a:spcBef>
              <a:buNone/>
            </a:pPr>
            <a:r>
              <a:rPr lang="en-US" b="0" i="0" dirty="0">
                <a:solidFill>
                  <a:srgbClr val="3A3A3A"/>
                </a:solidFill>
                <a:effectLst/>
                <a:latin typeface="Roboto" panose="02000000000000000000" pitchFamily="2" charset="0"/>
              </a:rPr>
              <a:t>With Diamond Operator (Java 7+):</a:t>
            </a:r>
          </a:p>
          <a:p>
            <a:pPr algn="l">
              <a:spcBef>
                <a:spcPts val="1125"/>
              </a:spcBef>
              <a:spcAft>
                <a:spcPts val="375"/>
              </a:spcAft>
              <a:buNone/>
            </a:pPr>
            <a:r>
              <a:rPr lang="en-US" b="0" i="0" dirty="0">
                <a:solidFill>
                  <a:srgbClr val="212529"/>
                </a:solidFill>
                <a:effectLst/>
                <a:latin typeface="Courier New" panose="02070309020205020404" pitchFamily="49" charset="0"/>
              </a:rPr>
              <a:t>List </a:t>
            </a:r>
            <a:r>
              <a:rPr lang="en-US" b="0" i="0" dirty="0" err="1">
                <a:solidFill>
                  <a:srgbClr val="212529"/>
                </a:solidFill>
                <a:effectLst/>
                <a:latin typeface="Courier New" panose="02070309020205020404" pitchFamily="49" charset="0"/>
              </a:rPr>
              <a:t>list</a:t>
            </a:r>
            <a:r>
              <a:rPr lang="en-US" b="0" i="0" dirty="0">
                <a:solidFill>
                  <a:srgbClr val="212529"/>
                </a:solidFill>
                <a:effectLst/>
                <a:latin typeface="Courier New" panose="02070309020205020404" pitchFamily="49" charset="0"/>
              </a:rPr>
              <a:t> = new </a:t>
            </a:r>
            <a:r>
              <a:rPr lang="en-US" b="0" i="0" dirty="0" err="1">
                <a:solidFill>
                  <a:srgbClr val="212529"/>
                </a:solidFill>
                <a:effectLst/>
                <a:latin typeface="Courier New" panose="02070309020205020404" pitchFamily="49" charset="0"/>
              </a:rPr>
              <a:t>ArrayList</a:t>
            </a:r>
            <a:r>
              <a:rPr lang="en-US" b="0" i="0" dirty="0">
                <a:solidFill>
                  <a:srgbClr val="212529"/>
                </a:solidFill>
                <a:effectLst/>
                <a:latin typeface="Courier New" panose="02070309020205020404" pitchFamily="49" charset="0"/>
              </a:rPr>
              <a:t>&lt;&gt;();</a:t>
            </a:r>
          </a:p>
          <a:p>
            <a:pPr algn="l">
              <a:spcBef>
                <a:spcPts val="1650"/>
              </a:spcBef>
              <a:buNone/>
            </a:pPr>
            <a:r>
              <a:rPr lang="en-US" b="0" i="0" dirty="0">
                <a:solidFill>
                  <a:srgbClr val="3A3A3A"/>
                </a:solidFill>
                <a:effectLst/>
                <a:latin typeface="Roboto" panose="02000000000000000000" pitchFamily="2" charset="0"/>
              </a:rPr>
              <a:t>Benefits: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Minimizes boilerplate.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Enhances readability.</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Prevents duplicate declarations of types.</a:t>
            </a:r>
          </a:p>
        </p:txBody>
      </p:sp>
    </p:spTree>
    <p:extLst>
      <p:ext uri="{BB962C8B-B14F-4D97-AF65-F5344CB8AC3E}">
        <p14:creationId xmlns:p14="http://schemas.microsoft.com/office/powerpoint/2010/main" val="2317473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3C42-195E-1AA6-666E-9DDDDC7291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83C000-06D2-EFB7-F8B4-32D8CB1878B9}"/>
              </a:ext>
            </a:extLst>
          </p:cNvPr>
          <p:cNvSpPr txBox="1"/>
          <p:nvPr/>
        </p:nvSpPr>
        <p:spPr>
          <a:xfrm>
            <a:off x="0" y="0"/>
            <a:ext cx="9906000" cy="157479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74. How do you create a custom exception in Java?</a:t>
            </a:r>
          </a:p>
          <a:p>
            <a:pPr algn="just">
              <a:lnSpc>
                <a:spcPts val="2100"/>
              </a:lnSpc>
              <a:spcBef>
                <a:spcPts val="1650"/>
              </a:spcBef>
              <a:buNone/>
            </a:pPr>
            <a:r>
              <a:rPr lang="en-US" b="0" i="0" dirty="0">
                <a:solidFill>
                  <a:srgbClr val="3A3A3A"/>
                </a:solidFill>
                <a:effectLst/>
                <a:latin typeface="Roboto" panose="02000000000000000000" pitchFamily="2" charset="0"/>
              </a:rPr>
              <a:t>You can create a custom exception by subclassing the Exception or Runtime Exception class.</a:t>
            </a:r>
          </a:p>
          <a:p>
            <a:pPr algn="l">
              <a:spcBef>
                <a:spcPts val="1650"/>
              </a:spcBef>
              <a:buNone/>
            </a:pPr>
            <a:r>
              <a:rPr lang="en-US" b="0" i="0" dirty="0">
                <a:solidFill>
                  <a:srgbClr val="3A3A3A"/>
                </a:solidFill>
                <a:effectLst/>
                <a:latin typeface="Roboto" panose="02000000000000000000" pitchFamily="2" charset="0"/>
              </a:rPr>
              <a:t>Checked Exception:</a:t>
            </a:r>
          </a:p>
        </p:txBody>
      </p:sp>
      <p:sp>
        <p:nvSpPr>
          <p:cNvPr id="5" name="TextBox 4">
            <a:extLst>
              <a:ext uri="{FF2B5EF4-FFF2-40B4-BE49-F238E27FC236}">
                <a16:creationId xmlns:a16="http://schemas.microsoft.com/office/drawing/2014/main" id="{ABB2E76A-8D3D-4DF6-C53B-2A497E0B4722}"/>
              </a:ext>
            </a:extLst>
          </p:cNvPr>
          <p:cNvSpPr txBox="1"/>
          <p:nvPr/>
        </p:nvSpPr>
        <p:spPr>
          <a:xfrm>
            <a:off x="0" y="1574790"/>
            <a:ext cx="4980214" cy="1754326"/>
          </a:xfrm>
          <a:prstGeom prst="rect">
            <a:avLst/>
          </a:prstGeom>
          <a:noFill/>
        </p:spPr>
        <p:txBody>
          <a:bodyPr wrap="square">
            <a:spAutoFit/>
          </a:bodyPr>
          <a:lstStyle/>
          <a:p>
            <a:r>
              <a:rPr lang="en-US" dirty="0"/>
              <a:t>public class </a:t>
            </a:r>
            <a:r>
              <a:rPr lang="en-US" dirty="0" err="1"/>
              <a:t>MyCheckedException</a:t>
            </a:r>
            <a:r>
              <a:rPr lang="en-US" dirty="0"/>
              <a:t> extends Exception {</a:t>
            </a:r>
          </a:p>
          <a:p>
            <a:r>
              <a:rPr lang="en-US" dirty="0"/>
              <a:t>    public </a:t>
            </a:r>
            <a:r>
              <a:rPr lang="en-US" dirty="0" err="1"/>
              <a:t>MyCheckedException</a:t>
            </a:r>
            <a:r>
              <a:rPr lang="en-US" dirty="0"/>
              <a:t>(String message) {</a:t>
            </a:r>
          </a:p>
          <a:p>
            <a:r>
              <a:rPr lang="en-US" dirty="0"/>
              <a:t>        super(message);</a:t>
            </a:r>
          </a:p>
          <a:p>
            <a:r>
              <a:rPr lang="en-US" dirty="0"/>
              <a:t>    }</a:t>
            </a:r>
          </a:p>
          <a:p>
            <a:r>
              <a:rPr lang="en-US" dirty="0"/>
              <a:t>}</a:t>
            </a:r>
          </a:p>
        </p:txBody>
      </p:sp>
      <p:sp>
        <p:nvSpPr>
          <p:cNvPr id="7" name="TextBox 6">
            <a:extLst>
              <a:ext uri="{FF2B5EF4-FFF2-40B4-BE49-F238E27FC236}">
                <a16:creationId xmlns:a16="http://schemas.microsoft.com/office/drawing/2014/main" id="{A1252EA8-3E8C-CB8C-6A47-09708EC0C821}"/>
              </a:ext>
            </a:extLst>
          </p:cNvPr>
          <p:cNvSpPr txBox="1"/>
          <p:nvPr/>
        </p:nvSpPr>
        <p:spPr>
          <a:xfrm>
            <a:off x="0" y="3329116"/>
            <a:ext cx="4980214" cy="369332"/>
          </a:xfrm>
          <a:prstGeom prst="rect">
            <a:avLst/>
          </a:prstGeom>
          <a:noFill/>
        </p:spPr>
        <p:txBody>
          <a:bodyPr wrap="square">
            <a:spAutoFit/>
          </a:bodyPr>
          <a:lstStyle/>
          <a:p>
            <a:pPr algn="l">
              <a:spcBef>
                <a:spcPts val="1650"/>
              </a:spcBef>
              <a:buNone/>
            </a:pPr>
            <a:r>
              <a:rPr lang="en-US" b="0" i="0" dirty="0">
                <a:solidFill>
                  <a:srgbClr val="3A3A3A"/>
                </a:solidFill>
                <a:effectLst/>
                <a:latin typeface="Roboto" panose="02000000000000000000" pitchFamily="2" charset="0"/>
              </a:rPr>
              <a:t>Unchecked Exception:</a:t>
            </a:r>
          </a:p>
        </p:txBody>
      </p:sp>
      <p:sp>
        <p:nvSpPr>
          <p:cNvPr id="9" name="TextBox 8">
            <a:extLst>
              <a:ext uri="{FF2B5EF4-FFF2-40B4-BE49-F238E27FC236}">
                <a16:creationId xmlns:a16="http://schemas.microsoft.com/office/drawing/2014/main" id="{D4F4EA7B-F957-D779-2E02-F719EFC16396}"/>
              </a:ext>
            </a:extLst>
          </p:cNvPr>
          <p:cNvSpPr txBox="1"/>
          <p:nvPr/>
        </p:nvSpPr>
        <p:spPr>
          <a:xfrm>
            <a:off x="-27214" y="3750101"/>
            <a:ext cx="4980214" cy="2031325"/>
          </a:xfrm>
          <a:prstGeom prst="rect">
            <a:avLst/>
          </a:prstGeom>
          <a:noFill/>
        </p:spPr>
        <p:txBody>
          <a:bodyPr wrap="square">
            <a:spAutoFit/>
          </a:bodyPr>
          <a:lstStyle/>
          <a:p>
            <a:r>
              <a:rPr lang="en-US" dirty="0"/>
              <a:t>public class </a:t>
            </a:r>
            <a:r>
              <a:rPr lang="en-US" dirty="0" err="1"/>
              <a:t>MyUncheckedException</a:t>
            </a:r>
            <a:r>
              <a:rPr lang="en-US" dirty="0"/>
              <a:t> extends </a:t>
            </a:r>
            <a:r>
              <a:rPr lang="en-US" dirty="0" err="1"/>
              <a:t>RuntimeException</a:t>
            </a:r>
            <a:r>
              <a:rPr lang="en-US" dirty="0"/>
              <a:t> {</a:t>
            </a:r>
          </a:p>
          <a:p>
            <a:r>
              <a:rPr lang="en-US" dirty="0"/>
              <a:t>    public </a:t>
            </a:r>
            <a:r>
              <a:rPr lang="en-US" dirty="0" err="1"/>
              <a:t>MyUncheckedException</a:t>
            </a:r>
            <a:r>
              <a:rPr lang="en-US" dirty="0"/>
              <a:t>(String message) {</a:t>
            </a:r>
          </a:p>
          <a:p>
            <a:r>
              <a:rPr lang="en-US" dirty="0"/>
              <a:t>        super(message);</a:t>
            </a:r>
          </a:p>
          <a:p>
            <a:r>
              <a:rPr lang="en-US" dirty="0"/>
              <a:t>    }</a:t>
            </a:r>
          </a:p>
          <a:p>
            <a:r>
              <a:rPr lang="en-US" dirty="0"/>
              <a:t>}</a:t>
            </a:r>
          </a:p>
        </p:txBody>
      </p:sp>
      <p:sp>
        <p:nvSpPr>
          <p:cNvPr id="11" name="TextBox 10">
            <a:extLst>
              <a:ext uri="{FF2B5EF4-FFF2-40B4-BE49-F238E27FC236}">
                <a16:creationId xmlns:a16="http://schemas.microsoft.com/office/drawing/2014/main" id="{24669F45-54B3-C431-755D-93A1B2D8E72A}"/>
              </a:ext>
            </a:extLst>
          </p:cNvPr>
          <p:cNvSpPr txBox="1"/>
          <p:nvPr/>
        </p:nvSpPr>
        <p:spPr>
          <a:xfrm>
            <a:off x="5241472" y="1390123"/>
            <a:ext cx="1959428" cy="369332"/>
          </a:xfrm>
          <a:prstGeom prst="rect">
            <a:avLst/>
          </a:prstGeom>
          <a:noFill/>
        </p:spPr>
        <p:txBody>
          <a:bodyPr wrap="square">
            <a:spAutoFit/>
          </a:bodyPr>
          <a:lstStyle/>
          <a:p>
            <a:pPr algn="l">
              <a:spcBef>
                <a:spcPts val="1650"/>
              </a:spcBef>
              <a:buNone/>
            </a:pPr>
            <a:r>
              <a:rPr lang="en-US" b="0" i="0" dirty="0">
                <a:solidFill>
                  <a:srgbClr val="3A3A3A"/>
                </a:solidFill>
                <a:effectLst/>
                <a:latin typeface="Roboto" panose="02000000000000000000" pitchFamily="2" charset="0"/>
              </a:rPr>
              <a:t>Usage:</a:t>
            </a:r>
          </a:p>
        </p:txBody>
      </p:sp>
      <p:sp>
        <p:nvSpPr>
          <p:cNvPr id="13" name="TextBox 12">
            <a:extLst>
              <a:ext uri="{FF2B5EF4-FFF2-40B4-BE49-F238E27FC236}">
                <a16:creationId xmlns:a16="http://schemas.microsoft.com/office/drawing/2014/main" id="{29A2F9AD-B04A-5FD1-D7D4-84899F7A1181}"/>
              </a:ext>
            </a:extLst>
          </p:cNvPr>
          <p:cNvSpPr txBox="1"/>
          <p:nvPr/>
        </p:nvSpPr>
        <p:spPr>
          <a:xfrm>
            <a:off x="5094515" y="2595939"/>
            <a:ext cx="4996542" cy="2308324"/>
          </a:xfrm>
          <a:prstGeom prst="rect">
            <a:avLst/>
          </a:prstGeom>
          <a:noFill/>
        </p:spPr>
        <p:txBody>
          <a:bodyPr wrap="square">
            <a:spAutoFit/>
          </a:bodyPr>
          <a:lstStyle/>
          <a:p>
            <a:r>
              <a:rPr lang="en-US" dirty="0"/>
              <a:t>public void </a:t>
            </a:r>
            <a:r>
              <a:rPr lang="en-US" dirty="0" err="1"/>
              <a:t>validateAge</a:t>
            </a:r>
            <a:r>
              <a:rPr lang="en-US" dirty="0"/>
              <a:t>(int age) throws </a:t>
            </a:r>
            <a:r>
              <a:rPr lang="en-US" dirty="0" err="1"/>
              <a:t>MyCheckedException</a:t>
            </a:r>
            <a:r>
              <a:rPr lang="en-US" dirty="0"/>
              <a:t> {</a:t>
            </a:r>
          </a:p>
          <a:p>
            <a:r>
              <a:rPr lang="en-US" dirty="0"/>
              <a:t>    if (age &lt; 18) {</a:t>
            </a:r>
          </a:p>
          <a:p>
            <a:r>
              <a:rPr lang="en-US" dirty="0"/>
              <a:t>        throw new </a:t>
            </a:r>
            <a:r>
              <a:rPr lang="en-US" dirty="0" err="1"/>
              <a:t>MyCheckedException</a:t>
            </a:r>
            <a:r>
              <a:rPr lang="en-US" dirty="0"/>
              <a:t>("Age must be 18 or older.");</a:t>
            </a:r>
          </a:p>
          <a:p>
            <a:r>
              <a:rPr lang="en-US" dirty="0"/>
              <a:t>    }</a:t>
            </a:r>
          </a:p>
          <a:p>
            <a:r>
              <a:rPr lang="en-US" dirty="0"/>
              <a:t>}</a:t>
            </a:r>
          </a:p>
          <a:p>
            <a:endParaRPr lang="en-US" dirty="0"/>
          </a:p>
        </p:txBody>
      </p:sp>
      <p:sp>
        <p:nvSpPr>
          <p:cNvPr id="15" name="TextBox 14">
            <a:extLst>
              <a:ext uri="{FF2B5EF4-FFF2-40B4-BE49-F238E27FC236}">
                <a16:creationId xmlns:a16="http://schemas.microsoft.com/office/drawing/2014/main" id="{31572903-C233-28BB-C43B-EB5AEB74352F}"/>
              </a:ext>
            </a:extLst>
          </p:cNvPr>
          <p:cNvSpPr txBox="1"/>
          <p:nvPr/>
        </p:nvSpPr>
        <p:spPr>
          <a:xfrm>
            <a:off x="5004707" y="4991109"/>
            <a:ext cx="5086350" cy="923330"/>
          </a:xfrm>
          <a:prstGeom prst="rect">
            <a:avLst/>
          </a:prstGeom>
          <a:noFill/>
        </p:spPr>
        <p:txBody>
          <a:bodyPr wrap="square">
            <a:spAutoFit/>
          </a:bodyPr>
          <a:lstStyle/>
          <a:p>
            <a:r>
              <a:rPr lang="en-US" b="0" i="0" dirty="0">
                <a:solidFill>
                  <a:srgbClr val="3A3A3A"/>
                </a:solidFill>
                <a:effectLst/>
                <a:latin typeface="Roboto" panose="02000000000000000000" pitchFamily="2" charset="0"/>
              </a:rPr>
              <a:t>Custom exceptions assist in offering descriptive context to error handling, particularly for domain-specific projects.</a:t>
            </a:r>
            <a:endParaRPr lang="en-US" dirty="0"/>
          </a:p>
        </p:txBody>
      </p:sp>
    </p:spTree>
    <p:extLst>
      <p:ext uri="{BB962C8B-B14F-4D97-AF65-F5344CB8AC3E}">
        <p14:creationId xmlns:p14="http://schemas.microsoft.com/office/powerpoint/2010/main" val="5201467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CFC9-20DE-11FF-066F-212F321A7C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26A4C7-B83E-D140-45E7-3AD9C02D2900}"/>
              </a:ext>
            </a:extLst>
          </p:cNvPr>
          <p:cNvSpPr txBox="1"/>
          <p:nvPr/>
        </p:nvSpPr>
        <p:spPr>
          <a:xfrm>
            <a:off x="136479" y="39176"/>
            <a:ext cx="4558352" cy="705577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75. How does structured concurrency simplify error handling?</a:t>
            </a:r>
          </a:p>
          <a:p>
            <a:pPr algn="just">
              <a:lnSpc>
                <a:spcPts val="2100"/>
              </a:lnSpc>
              <a:spcBef>
                <a:spcPts val="1650"/>
              </a:spcBef>
              <a:buNone/>
            </a:pPr>
            <a:r>
              <a:rPr lang="en-US" b="0" i="0" dirty="0">
                <a:solidFill>
                  <a:srgbClr val="3A3A3A"/>
                </a:solidFill>
                <a:effectLst/>
                <a:latin typeface="Roboto" panose="02000000000000000000" pitchFamily="2" charset="0"/>
              </a:rPr>
              <a:t>Structured concurrency is a structured approach that enables threads and tasks to be managed efficiently by specifying the manner in which they are started, supervised, and finished within a clearly defined scope. This model makes it easy to deal with errors and manage tasks in concurrent programs.</a:t>
            </a:r>
          </a:p>
          <a:p>
            <a:pPr algn="just">
              <a:lnSpc>
                <a:spcPts val="2100"/>
              </a:lnSpc>
              <a:spcBef>
                <a:spcPts val="750"/>
              </a:spcBef>
              <a:buNone/>
            </a:pPr>
            <a:r>
              <a:rPr lang="en-US" b="0" i="0" dirty="0">
                <a:solidFill>
                  <a:srgbClr val="3A3A3A"/>
                </a:solidFill>
                <a:effectLst/>
                <a:latin typeface="Roboto" panose="02000000000000000000" pitchFamily="2" charset="0"/>
              </a:rPr>
              <a:t>In what way it makes error handling easy: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In case one task goes wrong, the system will be able to cancel all other tasks which are running at the same time without the user being involved.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The exceptions might be handled at a central point by the parent task or scope.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It is not going to allow thread leaks and tasks without owners to exist.</a:t>
            </a:r>
          </a:p>
          <a:p>
            <a:pPr algn="just">
              <a:lnSpc>
                <a:spcPts val="2100"/>
              </a:lnSpc>
              <a:spcBef>
                <a:spcPts val="1650"/>
              </a:spcBef>
              <a:buNone/>
            </a:pPr>
            <a:r>
              <a:rPr lang="en-US" b="0" i="0" dirty="0">
                <a:solidFill>
                  <a:srgbClr val="3A3A3A"/>
                </a:solidFill>
                <a:effectLst/>
                <a:latin typeface="Roboto" panose="02000000000000000000" pitchFamily="2" charset="0"/>
              </a:rPr>
              <a:t>Example using </a:t>
            </a:r>
            <a:r>
              <a:rPr lang="en-US" b="0" i="0" dirty="0" err="1">
                <a:solidFill>
                  <a:srgbClr val="3A3A3A"/>
                </a:solidFill>
                <a:effectLst/>
                <a:latin typeface="Roboto" panose="02000000000000000000" pitchFamily="2" charset="0"/>
              </a:rPr>
              <a:t>StructuredTaskScope</a:t>
            </a:r>
            <a:r>
              <a:rPr lang="en-US" b="0" i="0" dirty="0">
                <a:solidFill>
                  <a:srgbClr val="3A3A3A"/>
                </a:solidFill>
                <a:effectLst/>
                <a:latin typeface="Roboto" panose="02000000000000000000" pitchFamily="2" charset="0"/>
              </a:rPr>
              <a:t> (Java 21+):</a:t>
            </a:r>
          </a:p>
        </p:txBody>
      </p:sp>
      <p:sp>
        <p:nvSpPr>
          <p:cNvPr id="5" name="TextBox 4">
            <a:extLst>
              <a:ext uri="{FF2B5EF4-FFF2-40B4-BE49-F238E27FC236}">
                <a16:creationId xmlns:a16="http://schemas.microsoft.com/office/drawing/2014/main" id="{65210A3A-AE59-EE70-6E10-41D0DDE50F9B}"/>
              </a:ext>
            </a:extLst>
          </p:cNvPr>
          <p:cNvSpPr txBox="1"/>
          <p:nvPr/>
        </p:nvSpPr>
        <p:spPr>
          <a:xfrm>
            <a:off x="4558353" y="-1165787"/>
            <a:ext cx="4954136" cy="9510296"/>
          </a:xfrm>
          <a:prstGeom prst="rect">
            <a:avLst/>
          </a:prstGeom>
          <a:noFill/>
        </p:spPr>
        <p:txBody>
          <a:bodyPr wrap="square">
            <a:spAutoFit/>
          </a:bodyPr>
          <a:lstStyle/>
          <a:p>
            <a:r>
              <a:rPr lang="en-US" dirty="0"/>
              <a:t>import </a:t>
            </a:r>
            <a:r>
              <a:rPr lang="en-US" dirty="0" err="1"/>
              <a:t>java.util.concurrent</a:t>
            </a:r>
            <a:r>
              <a:rPr lang="en-US" dirty="0"/>
              <a:t>.*;</a:t>
            </a:r>
          </a:p>
          <a:p>
            <a:endParaRPr lang="en-US" dirty="0"/>
          </a:p>
          <a:p>
            <a:r>
              <a:rPr lang="en-US" dirty="0"/>
              <a:t>public class </a:t>
            </a:r>
            <a:r>
              <a:rPr lang="en-US" dirty="0" err="1"/>
              <a:t>StructuredConcurrencyDemo</a:t>
            </a:r>
            <a:r>
              <a:rPr lang="en-US" dirty="0"/>
              <a:t> {</a:t>
            </a:r>
          </a:p>
          <a:p>
            <a:r>
              <a:rPr lang="en-US" dirty="0"/>
              <a:t>    public static void main(String[] </a:t>
            </a:r>
            <a:r>
              <a:rPr lang="en-US" dirty="0" err="1"/>
              <a:t>args</a:t>
            </a:r>
            <a:r>
              <a:rPr lang="en-US" dirty="0"/>
              <a:t>) throws Exception {</a:t>
            </a:r>
          </a:p>
          <a:p>
            <a:r>
              <a:rPr lang="en-US" dirty="0"/>
              <a:t>        try (var scope = new </a:t>
            </a:r>
            <a:r>
              <a:rPr lang="en-US" dirty="0" err="1"/>
              <a:t>StructuredTaskScope.ShutdownOnFailure</a:t>
            </a:r>
            <a:r>
              <a:rPr lang="en-US" dirty="0"/>
              <a:t>()) {</a:t>
            </a:r>
          </a:p>
          <a:p>
            <a:r>
              <a:rPr lang="en-US" dirty="0"/>
              <a:t>            Future user = </a:t>
            </a:r>
            <a:r>
              <a:rPr lang="en-US" dirty="0" err="1"/>
              <a:t>scope.fork</a:t>
            </a:r>
            <a:r>
              <a:rPr lang="en-US" dirty="0"/>
              <a:t>(() -&gt; </a:t>
            </a:r>
            <a:r>
              <a:rPr lang="en-US" dirty="0" err="1"/>
              <a:t>fetchUser</a:t>
            </a:r>
            <a:r>
              <a:rPr lang="en-US" dirty="0"/>
              <a:t>());</a:t>
            </a:r>
          </a:p>
          <a:p>
            <a:r>
              <a:rPr lang="en-US" dirty="0"/>
              <a:t>            Future order = </a:t>
            </a:r>
            <a:r>
              <a:rPr lang="en-US" dirty="0" err="1"/>
              <a:t>scope.fork</a:t>
            </a:r>
            <a:r>
              <a:rPr lang="en-US" dirty="0"/>
              <a:t>(() -&gt; </a:t>
            </a:r>
            <a:r>
              <a:rPr lang="en-US" dirty="0" err="1"/>
              <a:t>fetchOrder</a:t>
            </a:r>
            <a:r>
              <a:rPr lang="en-US" dirty="0"/>
              <a:t>());</a:t>
            </a:r>
          </a:p>
          <a:p>
            <a:endParaRPr lang="en-US" dirty="0"/>
          </a:p>
          <a:p>
            <a:r>
              <a:rPr lang="en-US" dirty="0"/>
              <a:t>            </a:t>
            </a:r>
            <a:r>
              <a:rPr lang="en-US" dirty="0" err="1"/>
              <a:t>scope.join</a:t>
            </a:r>
            <a:r>
              <a:rPr lang="en-US" dirty="0"/>
              <a:t>(); // Wait for all tasks</a:t>
            </a:r>
          </a:p>
          <a:p>
            <a:r>
              <a:rPr lang="en-US" dirty="0"/>
              <a:t>            </a:t>
            </a:r>
            <a:r>
              <a:rPr lang="en-US" dirty="0" err="1"/>
              <a:t>scope.throwIfFailed</a:t>
            </a:r>
            <a:r>
              <a:rPr lang="en-US" dirty="0"/>
              <a:t>(); // Propagate error, if any</a:t>
            </a:r>
          </a:p>
          <a:p>
            <a:endParaRPr lang="en-US" dirty="0"/>
          </a:p>
          <a:p>
            <a:r>
              <a:rPr lang="en-US" dirty="0"/>
              <a:t>            </a:t>
            </a:r>
            <a:r>
              <a:rPr lang="en-US" dirty="0" err="1"/>
              <a:t>System.out.println</a:t>
            </a:r>
            <a:r>
              <a:rPr lang="en-US" dirty="0"/>
              <a:t>("User: " + </a:t>
            </a:r>
            <a:r>
              <a:rPr lang="en-US" dirty="0" err="1"/>
              <a:t>user.resultNow</a:t>
            </a:r>
            <a:r>
              <a:rPr lang="en-US" dirty="0"/>
              <a:t>());</a:t>
            </a:r>
          </a:p>
          <a:p>
            <a:r>
              <a:rPr lang="en-US" dirty="0"/>
              <a:t>            </a:t>
            </a:r>
            <a:r>
              <a:rPr lang="en-US" dirty="0" err="1"/>
              <a:t>System.out.println</a:t>
            </a:r>
            <a:r>
              <a:rPr lang="en-US" dirty="0"/>
              <a:t>("Order: " + </a:t>
            </a:r>
            <a:r>
              <a:rPr lang="en-US" dirty="0" err="1"/>
              <a:t>order.resultNow</a:t>
            </a:r>
            <a:r>
              <a:rPr lang="en-US" dirty="0"/>
              <a:t>());</a:t>
            </a:r>
          </a:p>
          <a:p>
            <a:r>
              <a:rPr lang="en-US" dirty="0"/>
              <a:t>        }</a:t>
            </a:r>
          </a:p>
          <a:p>
            <a:r>
              <a:rPr lang="en-US" dirty="0"/>
              <a:t>    }</a:t>
            </a:r>
          </a:p>
          <a:p>
            <a:endParaRPr lang="en-US" dirty="0"/>
          </a:p>
          <a:p>
            <a:r>
              <a:rPr lang="en-US" dirty="0"/>
              <a:t>    static String </a:t>
            </a:r>
            <a:r>
              <a:rPr lang="en-US" dirty="0" err="1"/>
              <a:t>fetchUser</a:t>
            </a:r>
            <a:r>
              <a:rPr lang="en-US" dirty="0"/>
              <a:t>() throws </a:t>
            </a:r>
            <a:r>
              <a:rPr lang="en-US" dirty="0" err="1"/>
              <a:t>InterruptedException</a:t>
            </a:r>
            <a:r>
              <a:rPr lang="en-US" dirty="0"/>
              <a:t> {</a:t>
            </a:r>
          </a:p>
          <a:p>
            <a:r>
              <a:rPr lang="en-US" dirty="0"/>
              <a:t>        </a:t>
            </a:r>
            <a:r>
              <a:rPr lang="en-US" dirty="0" err="1"/>
              <a:t>Thread.sleep</a:t>
            </a:r>
            <a:r>
              <a:rPr lang="en-US" dirty="0"/>
              <a:t>(100);</a:t>
            </a:r>
          </a:p>
          <a:p>
            <a:r>
              <a:rPr lang="en-US" dirty="0"/>
              <a:t>        return "John";</a:t>
            </a:r>
          </a:p>
          <a:p>
            <a:r>
              <a:rPr lang="en-US" dirty="0"/>
              <a:t>    }</a:t>
            </a:r>
          </a:p>
          <a:p>
            <a:endParaRPr lang="en-US" dirty="0"/>
          </a:p>
          <a:p>
            <a:r>
              <a:rPr lang="en-US" dirty="0"/>
              <a:t>    static String </a:t>
            </a:r>
            <a:r>
              <a:rPr lang="en-US" dirty="0" err="1"/>
              <a:t>fetchOrder</a:t>
            </a:r>
            <a:r>
              <a:rPr lang="en-US" dirty="0"/>
              <a:t>() throws </a:t>
            </a:r>
            <a:r>
              <a:rPr lang="en-US" dirty="0" err="1"/>
              <a:t>InterruptedException</a:t>
            </a:r>
            <a:r>
              <a:rPr lang="en-US" dirty="0"/>
              <a:t> {</a:t>
            </a:r>
          </a:p>
          <a:p>
            <a:r>
              <a:rPr lang="en-US" dirty="0"/>
              <a:t>        </a:t>
            </a:r>
            <a:r>
              <a:rPr lang="en-US" dirty="0" err="1"/>
              <a:t>Thread.sleep</a:t>
            </a:r>
            <a:r>
              <a:rPr lang="en-US" dirty="0"/>
              <a:t>(100);</a:t>
            </a:r>
          </a:p>
          <a:p>
            <a:r>
              <a:rPr lang="en-US" dirty="0"/>
              <a:t>        return "Order#1234";</a:t>
            </a:r>
          </a:p>
          <a:p>
            <a:r>
              <a:rPr lang="en-US" dirty="0"/>
              <a:t>    }</a:t>
            </a:r>
          </a:p>
          <a:p>
            <a:r>
              <a:rPr lang="en-US" dirty="0"/>
              <a:t>}</a:t>
            </a:r>
          </a:p>
        </p:txBody>
      </p:sp>
      <p:sp>
        <p:nvSpPr>
          <p:cNvPr id="7" name="TextBox 6">
            <a:extLst>
              <a:ext uri="{FF2B5EF4-FFF2-40B4-BE49-F238E27FC236}">
                <a16:creationId xmlns:a16="http://schemas.microsoft.com/office/drawing/2014/main" id="{D6F2C7F8-AF8D-EBA7-D0F5-EF12C062DF4E}"/>
              </a:ext>
            </a:extLst>
          </p:cNvPr>
          <p:cNvSpPr txBox="1"/>
          <p:nvPr/>
        </p:nvSpPr>
        <p:spPr>
          <a:xfrm>
            <a:off x="7410734" y="5272417"/>
            <a:ext cx="2954739" cy="1200329"/>
          </a:xfrm>
          <a:prstGeom prst="rect">
            <a:avLst/>
          </a:prstGeom>
          <a:noFill/>
        </p:spPr>
        <p:txBody>
          <a:bodyPr wrap="square">
            <a:spAutoFit/>
          </a:bodyPr>
          <a:lstStyle/>
          <a:p>
            <a:r>
              <a:rPr lang="en-US" b="0" i="0" dirty="0">
                <a:solidFill>
                  <a:srgbClr val="3A3A3A"/>
                </a:solidFill>
                <a:effectLst/>
                <a:latin typeface="Roboto" panose="02000000000000000000" pitchFamily="2" charset="0"/>
              </a:rPr>
              <a:t>Note: This requires Java 21+ with –enable-preview for Structured Concurrency.</a:t>
            </a:r>
            <a:endParaRPr lang="en-US" dirty="0"/>
          </a:p>
        </p:txBody>
      </p:sp>
    </p:spTree>
    <p:extLst>
      <p:ext uri="{BB962C8B-B14F-4D97-AF65-F5344CB8AC3E}">
        <p14:creationId xmlns:p14="http://schemas.microsoft.com/office/powerpoint/2010/main" val="753765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B9AB-DD08-57A9-3937-3178F40B8AB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9BEF824-3FA5-0E7B-933C-613B708EFB45}"/>
              </a:ext>
            </a:extLst>
          </p:cNvPr>
          <p:cNvSpPr txBox="1"/>
          <p:nvPr/>
        </p:nvSpPr>
        <p:spPr>
          <a:xfrm>
            <a:off x="177421" y="-557141"/>
            <a:ext cx="9621672" cy="635558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76. What is a </a:t>
            </a:r>
            <a:r>
              <a:rPr lang="en-US" b="0" i="0" dirty="0" err="1">
                <a:solidFill>
                  <a:srgbClr val="272C37"/>
                </a:solidFill>
                <a:effectLst/>
                <a:latin typeface="Roboto" panose="02000000000000000000" pitchFamily="2" charset="0"/>
              </a:rPr>
              <a:t>NullPointerException</a:t>
            </a:r>
            <a:r>
              <a:rPr lang="en-US" b="0" i="0" dirty="0">
                <a:solidFill>
                  <a:srgbClr val="272C37"/>
                </a:solidFill>
                <a:effectLst/>
                <a:latin typeface="Roboto" panose="02000000000000000000" pitchFamily="2" charset="0"/>
              </a:rPr>
              <a:t> in Java?</a:t>
            </a:r>
          </a:p>
          <a:p>
            <a:pPr algn="just">
              <a:lnSpc>
                <a:spcPts val="2100"/>
              </a:lnSpc>
              <a:spcBef>
                <a:spcPts val="1650"/>
              </a:spcBef>
              <a:buNone/>
            </a:pPr>
            <a:r>
              <a:rPr lang="en-US" b="0" i="0" dirty="0">
                <a:solidFill>
                  <a:srgbClr val="3A3A3A"/>
                </a:solidFill>
                <a:effectLst/>
                <a:latin typeface="Roboto" panose="02000000000000000000" pitchFamily="2" charset="0"/>
              </a:rPr>
              <a:t>A </a:t>
            </a:r>
            <a:r>
              <a:rPr lang="en-US" b="0" i="0" dirty="0" err="1">
                <a:solidFill>
                  <a:srgbClr val="3A3A3A"/>
                </a:solidFill>
                <a:effectLst/>
                <a:latin typeface="Roboto" panose="02000000000000000000" pitchFamily="2" charset="0"/>
              </a:rPr>
              <a:t>NullPointerException</a:t>
            </a:r>
            <a:r>
              <a:rPr lang="en-US" b="0" i="0" dirty="0">
                <a:solidFill>
                  <a:srgbClr val="3A3A3A"/>
                </a:solidFill>
                <a:effectLst/>
                <a:latin typeface="Roboto" panose="02000000000000000000" pitchFamily="2" charset="0"/>
              </a:rPr>
              <a:t> (NPE) is a run-time exception thrown when the program attempts to:</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Accessing a field or method on a null reference.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 NULL where an object is expected.</a:t>
            </a:r>
          </a:p>
          <a:p>
            <a:pPr algn="l">
              <a:spcBef>
                <a:spcPts val="1650"/>
              </a:spcBef>
              <a:buNone/>
            </a:pPr>
            <a:r>
              <a:rPr lang="en-US" b="0" i="0" dirty="0">
                <a:solidFill>
                  <a:srgbClr val="3A3A3A"/>
                </a:solidFill>
                <a:effectLst/>
                <a:latin typeface="Roboto" panose="02000000000000000000" pitchFamily="2" charset="0"/>
              </a:rPr>
              <a:t>Common Scenarios:</a:t>
            </a:r>
          </a:p>
          <a:p>
            <a:pPr algn="l">
              <a:spcBef>
                <a:spcPts val="1125"/>
              </a:spcBef>
              <a:spcAft>
                <a:spcPts val="375"/>
              </a:spcAft>
              <a:buNone/>
            </a:pPr>
            <a:r>
              <a:rPr lang="en-US" b="0" i="0" dirty="0">
                <a:solidFill>
                  <a:srgbClr val="212529"/>
                </a:solidFill>
                <a:effectLst/>
                <a:latin typeface="Courier New" panose="02070309020205020404" pitchFamily="49" charset="0"/>
              </a:rPr>
              <a:t>String name = null;</a:t>
            </a:r>
          </a:p>
          <a:p>
            <a:pPr algn="l">
              <a:spcBef>
                <a:spcPts val="1125"/>
              </a:spcBef>
              <a:spcAft>
                <a:spcPts val="375"/>
              </a:spcAft>
              <a:buNone/>
            </a:pPr>
            <a:r>
              <a:rPr lang="en-US" b="0" i="0" dirty="0" err="1">
                <a:solidFill>
                  <a:srgbClr val="212529"/>
                </a:solidFill>
                <a:effectLst/>
                <a:latin typeface="Courier New" panose="02070309020205020404" pitchFamily="49" charset="0"/>
              </a:rPr>
              <a:t>System.out.println</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name.length</a:t>
            </a:r>
            <a:r>
              <a:rPr lang="en-US" b="0" i="0" dirty="0">
                <a:solidFill>
                  <a:srgbClr val="212529"/>
                </a:solidFill>
                <a:effectLst/>
                <a:latin typeface="Courier New" panose="02070309020205020404" pitchFamily="49" charset="0"/>
              </a:rPr>
              <a:t>()); // Throws </a:t>
            </a:r>
            <a:r>
              <a:rPr lang="en-US" b="0" i="0" dirty="0" err="1">
                <a:solidFill>
                  <a:srgbClr val="212529"/>
                </a:solidFill>
                <a:effectLst/>
                <a:latin typeface="Courier New" panose="02070309020205020404" pitchFamily="49" charset="0"/>
              </a:rPr>
              <a:t>NullPointerException</a:t>
            </a:r>
            <a:endParaRPr lang="en-US" b="0" i="0" dirty="0">
              <a:solidFill>
                <a:srgbClr val="212529"/>
              </a:solidFill>
              <a:effectLst/>
              <a:latin typeface="Courier New" panose="02070309020205020404" pitchFamily="49" charset="0"/>
            </a:endParaRPr>
          </a:p>
          <a:p>
            <a:pPr algn="l">
              <a:spcBef>
                <a:spcPts val="1650"/>
              </a:spcBef>
              <a:buNone/>
            </a:pPr>
            <a:r>
              <a:rPr lang="en-US" b="0" i="0" dirty="0">
                <a:solidFill>
                  <a:srgbClr val="3A3A3A"/>
                </a:solidFill>
                <a:effectLst/>
                <a:latin typeface="Roboto" panose="02000000000000000000" pitchFamily="2" charset="0"/>
              </a:rPr>
              <a:t>How to Avoid:</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Always check for null when invoking methods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 Optional for safe-null design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Declare variables correctly</a:t>
            </a:r>
          </a:p>
          <a:p>
            <a:pPr algn="just">
              <a:lnSpc>
                <a:spcPts val="2100"/>
              </a:lnSpc>
              <a:spcBef>
                <a:spcPts val="1650"/>
              </a:spcBef>
              <a:buNone/>
            </a:pPr>
            <a:r>
              <a:rPr lang="en-US" b="0" i="0" dirty="0">
                <a:solidFill>
                  <a:srgbClr val="3A3A3A"/>
                </a:solidFill>
                <a:effectLst/>
                <a:latin typeface="Roboto" panose="02000000000000000000" pitchFamily="2" charset="0"/>
              </a:rPr>
              <a:t>NPEs are among Java’s most frequent bugs. Defensive programming and features such as Optional can lower such occurrences significantly.</a:t>
            </a:r>
          </a:p>
        </p:txBody>
      </p:sp>
    </p:spTree>
    <p:extLst>
      <p:ext uri="{BB962C8B-B14F-4D97-AF65-F5344CB8AC3E}">
        <p14:creationId xmlns:p14="http://schemas.microsoft.com/office/powerpoint/2010/main" val="40820340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B59-6FFA-DE4E-A87E-7C2F448F35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EC1696-E504-07C2-F5F5-7A92D102F7FD}"/>
              </a:ext>
            </a:extLst>
          </p:cNvPr>
          <p:cNvSpPr txBox="1"/>
          <p:nvPr/>
        </p:nvSpPr>
        <p:spPr>
          <a:xfrm>
            <a:off x="-1" y="0"/>
            <a:ext cx="9799093"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77. Explain the difference between </a:t>
            </a:r>
            <a:r>
              <a:rPr lang="en-US" b="0" i="0" dirty="0" err="1">
                <a:solidFill>
                  <a:srgbClr val="272C37"/>
                </a:solidFill>
                <a:effectLst/>
                <a:latin typeface="Roboto" panose="02000000000000000000" pitchFamily="2" charset="0"/>
              </a:rPr>
              <a:t>FileInputStream</a:t>
            </a:r>
            <a:r>
              <a:rPr lang="en-US" b="0" i="0" dirty="0">
                <a:solidFill>
                  <a:srgbClr val="272C37"/>
                </a:solidFill>
                <a:effectLst/>
                <a:latin typeface="Roboto" panose="02000000000000000000" pitchFamily="2" charset="0"/>
              </a:rPr>
              <a:t> and </a:t>
            </a:r>
            <a:r>
              <a:rPr lang="en-US" b="0" i="0" dirty="0" err="1">
                <a:solidFill>
                  <a:srgbClr val="272C37"/>
                </a:solidFill>
                <a:effectLst/>
                <a:latin typeface="Roboto" panose="02000000000000000000" pitchFamily="2" charset="0"/>
              </a:rPr>
              <a:t>FileReader</a:t>
            </a:r>
            <a:r>
              <a:rPr lang="en-US" b="0" i="0" dirty="0">
                <a:solidFill>
                  <a:srgbClr val="272C37"/>
                </a:solidFill>
                <a:effectLst/>
                <a:latin typeface="Roboto" panose="02000000000000000000" pitchFamily="2" charset="0"/>
              </a:rPr>
              <a:t>.</a:t>
            </a:r>
          </a:p>
          <a:p>
            <a:pPr algn="just">
              <a:lnSpc>
                <a:spcPts val="2100"/>
              </a:lnSpc>
              <a:spcBef>
                <a:spcPts val="1650"/>
              </a:spcBef>
              <a:buNone/>
            </a:pPr>
            <a:r>
              <a:rPr lang="en-US" b="0" i="0" dirty="0" err="1">
                <a:solidFill>
                  <a:srgbClr val="3A3A3A"/>
                </a:solidFill>
                <a:effectLst/>
                <a:latin typeface="Roboto" panose="02000000000000000000" pitchFamily="2" charset="0"/>
              </a:rPr>
              <a:t>FileInputStream</a:t>
            </a:r>
            <a:r>
              <a:rPr lang="en-US" b="0" i="0" dirty="0">
                <a:solidFill>
                  <a:srgbClr val="3A3A3A"/>
                </a:solidFill>
                <a:effectLst/>
                <a:latin typeface="Roboto" panose="02000000000000000000" pitchFamily="2" charset="0"/>
              </a:rPr>
              <a:t> and </a:t>
            </a:r>
            <a:r>
              <a:rPr lang="en-US" b="0" i="0" dirty="0" err="1">
                <a:solidFill>
                  <a:srgbClr val="3A3A3A"/>
                </a:solidFill>
                <a:effectLst/>
                <a:latin typeface="Roboto" panose="02000000000000000000" pitchFamily="2" charset="0"/>
              </a:rPr>
              <a:t>FileReader</a:t>
            </a:r>
            <a:r>
              <a:rPr lang="en-US" b="0" i="0" dirty="0">
                <a:solidFill>
                  <a:srgbClr val="3A3A3A"/>
                </a:solidFill>
                <a:effectLst/>
                <a:latin typeface="Roboto" panose="02000000000000000000" pitchFamily="2" charset="0"/>
              </a:rPr>
              <a:t> are both utilized for reading data from a file, but they differ in type of data they handle:</a:t>
            </a:r>
          </a:p>
        </p:txBody>
      </p:sp>
      <p:graphicFrame>
        <p:nvGraphicFramePr>
          <p:cNvPr id="4" name="Table 3">
            <a:extLst>
              <a:ext uri="{FF2B5EF4-FFF2-40B4-BE49-F238E27FC236}">
                <a16:creationId xmlns:a16="http://schemas.microsoft.com/office/drawing/2014/main" id="{590FC284-8943-54A3-5382-442DB33472F4}"/>
              </a:ext>
            </a:extLst>
          </p:cNvPr>
          <p:cNvGraphicFramePr>
            <a:graphicFrameLocks noGrp="1"/>
          </p:cNvGraphicFramePr>
          <p:nvPr>
            <p:extLst>
              <p:ext uri="{D42A27DB-BD31-4B8C-83A1-F6EECF244321}">
                <p14:modId xmlns:p14="http://schemas.microsoft.com/office/powerpoint/2010/main" val="2917634669"/>
              </p:ext>
            </p:extLst>
          </p:nvPr>
        </p:nvGraphicFramePr>
        <p:xfrm>
          <a:off x="627582" y="1556980"/>
          <a:ext cx="8543925" cy="2377440"/>
        </p:xfrm>
        <a:graphic>
          <a:graphicData uri="http://schemas.openxmlformats.org/drawingml/2006/table">
            <a:tbl>
              <a:tblPr/>
              <a:tblGrid>
                <a:gridCol w="2847975">
                  <a:extLst>
                    <a:ext uri="{9D8B030D-6E8A-4147-A177-3AD203B41FA5}">
                      <a16:colId xmlns:a16="http://schemas.microsoft.com/office/drawing/2014/main" val="1408282372"/>
                    </a:ext>
                  </a:extLst>
                </a:gridCol>
                <a:gridCol w="2847975">
                  <a:extLst>
                    <a:ext uri="{9D8B030D-6E8A-4147-A177-3AD203B41FA5}">
                      <a16:colId xmlns:a16="http://schemas.microsoft.com/office/drawing/2014/main" val="2201265683"/>
                    </a:ext>
                  </a:extLst>
                </a:gridCol>
                <a:gridCol w="2847975">
                  <a:extLst>
                    <a:ext uri="{9D8B030D-6E8A-4147-A177-3AD203B41FA5}">
                      <a16:colId xmlns:a16="http://schemas.microsoft.com/office/drawing/2014/main" val="120987759"/>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FileInputStream</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FileReader</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1383852317"/>
                  </a:ext>
                </a:extLst>
              </a:tr>
              <a:tr h="0">
                <a:tc>
                  <a:txBody>
                    <a:bodyPr/>
                    <a:lstStyle/>
                    <a:p>
                      <a:pPr fontAlgn="t">
                        <a:buNone/>
                      </a:pPr>
                      <a:r>
                        <a:rPr lang="en-US">
                          <a:effectLst/>
                        </a:rPr>
                        <a:t>Data Type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Reads </a:t>
                      </a:r>
                      <a:r>
                        <a:rPr lang="en-US" b="0">
                          <a:effectLst/>
                        </a:rPr>
                        <a:t>raw bytes</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Reads </a:t>
                      </a:r>
                      <a:r>
                        <a:rPr lang="en-US" b="0">
                          <a:effectLst/>
                        </a:rPr>
                        <a:t>character data</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341930017"/>
                  </a:ext>
                </a:extLst>
              </a:tr>
              <a:tr h="0">
                <a:tc>
                  <a:txBody>
                    <a:bodyPr/>
                    <a:lstStyle/>
                    <a:p>
                      <a:pPr fontAlgn="t">
                        <a:buNone/>
                      </a:pPr>
                      <a:r>
                        <a:rPr lang="en-US">
                          <a:effectLst/>
                        </a:rPr>
                        <a:t>Suitable For</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Binary files (images, videos, PDFs)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fr-FR">
                          <a:effectLst/>
                        </a:rPr>
                        <a:t>Text files (UTF-16, ASCII, etc.)</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435658373"/>
                  </a:ext>
                </a:extLst>
              </a:tr>
              <a:tr h="0">
                <a:tc>
                  <a:txBody>
                    <a:bodyPr/>
                    <a:lstStyle/>
                    <a:p>
                      <a:pPr fontAlgn="t">
                        <a:buNone/>
                      </a:pPr>
                      <a:r>
                        <a:rPr lang="en-US">
                          <a:effectLst/>
                        </a:rPr>
                        <a:t>Inherits From</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InputStream</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Reader</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61951279"/>
                  </a:ext>
                </a:extLst>
              </a:tr>
              <a:tr h="0">
                <a:tc>
                  <a:txBody>
                    <a:bodyPr/>
                    <a:lstStyle/>
                    <a:p>
                      <a:pPr fontAlgn="t">
                        <a:buNone/>
                      </a:pPr>
                      <a:r>
                        <a:rPr lang="en-US" dirty="0">
                          <a:effectLst/>
                        </a:rPr>
                        <a:t>Encoding Handling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Doesn’t handle character encoding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Handles character encoding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272056856"/>
                  </a:ext>
                </a:extLst>
              </a:tr>
            </a:tbl>
          </a:graphicData>
        </a:graphic>
      </p:graphicFrame>
      <p:sp>
        <p:nvSpPr>
          <p:cNvPr id="6" name="TextBox 5">
            <a:extLst>
              <a:ext uri="{FF2B5EF4-FFF2-40B4-BE49-F238E27FC236}">
                <a16:creationId xmlns:a16="http://schemas.microsoft.com/office/drawing/2014/main" id="{D636B702-27FC-3D87-AEBF-EC765C41534E}"/>
              </a:ext>
            </a:extLst>
          </p:cNvPr>
          <p:cNvSpPr txBox="1"/>
          <p:nvPr/>
        </p:nvSpPr>
        <p:spPr>
          <a:xfrm>
            <a:off x="627582" y="3930132"/>
            <a:ext cx="4981432" cy="2741776"/>
          </a:xfrm>
          <a:prstGeom prst="rect">
            <a:avLst/>
          </a:prstGeom>
          <a:noFill/>
        </p:spPr>
        <p:txBody>
          <a:bodyPr wrap="square">
            <a:spAutoFit/>
          </a:bodyPr>
          <a:lstStyle/>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FileInputStream</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err="1">
                <a:solidFill>
                  <a:srgbClr val="212529"/>
                </a:solidFill>
                <a:effectLst/>
                <a:latin typeface="Courier New" panose="02070309020205020404" pitchFamily="49" charset="0"/>
              </a:rPr>
              <a:t>FileInputStream</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fis</a:t>
            </a:r>
            <a:r>
              <a:rPr lang="en-US" b="0" i="0" dirty="0">
                <a:solidFill>
                  <a:srgbClr val="212529"/>
                </a:solidFill>
                <a:effectLst/>
                <a:latin typeface="Courier New" panose="02070309020205020404" pitchFamily="49" charset="0"/>
              </a:rPr>
              <a:t> = new </a:t>
            </a:r>
            <a:r>
              <a:rPr lang="en-US" b="0" i="0" dirty="0" err="1">
                <a:solidFill>
                  <a:srgbClr val="212529"/>
                </a:solidFill>
                <a:effectLst/>
                <a:latin typeface="Courier New" panose="02070309020205020404" pitchFamily="49" charset="0"/>
              </a:rPr>
              <a:t>FileInputStream</a:t>
            </a:r>
            <a:r>
              <a:rPr lang="en-US" b="0" i="0" dirty="0">
                <a:solidFill>
                  <a:srgbClr val="212529"/>
                </a:solidFill>
                <a:effectLst/>
                <a:latin typeface="Courier New" panose="02070309020205020404" pitchFamily="49" charset="0"/>
              </a:rPr>
              <a:t>("image.jpg");</a:t>
            </a: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FileReader</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err="1">
                <a:solidFill>
                  <a:srgbClr val="212529"/>
                </a:solidFill>
                <a:effectLst/>
                <a:latin typeface="Courier New" panose="02070309020205020404" pitchFamily="49" charset="0"/>
              </a:rPr>
              <a:t>FileReader</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fr</a:t>
            </a:r>
            <a:r>
              <a:rPr lang="en-US" b="0" i="0" dirty="0">
                <a:solidFill>
                  <a:srgbClr val="212529"/>
                </a:solidFill>
                <a:effectLst/>
                <a:latin typeface="Courier New" panose="02070309020205020404" pitchFamily="49" charset="0"/>
              </a:rPr>
              <a:t> = new </a:t>
            </a:r>
            <a:r>
              <a:rPr lang="en-US" b="0" i="0" dirty="0" err="1">
                <a:solidFill>
                  <a:srgbClr val="212529"/>
                </a:solidFill>
                <a:effectLst/>
                <a:latin typeface="Courier New" panose="02070309020205020404" pitchFamily="49" charset="0"/>
              </a:rPr>
              <a:t>FileReader</a:t>
            </a:r>
            <a:r>
              <a:rPr lang="en-US" b="0" i="0" dirty="0">
                <a:solidFill>
                  <a:srgbClr val="212529"/>
                </a:solidFill>
                <a:effectLst/>
                <a:latin typeface="Courier New" panose="02070309020205020404" pitchFamily="49" charset="0"/>
              </a:rPr>
              <a:t>("notes.txt");</a:t>
            </a:r>
          </a:p>
        </p:txBody>
      </p:sp>
    </p:spTree>
    <p:extLst>
      <p:ext uri="{BB962C8B-B14F-4D97-AF65-F5344CB8AC3E}">
        <p14:creationId xmlns:p14="http://schemas.microsoft.com/office/powerpoint/2010/main" val="15893815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4660-17B1-E4B5-CE8C-A6BA4F0334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F693CF-868D-61FA-19D8-620195F18434}"/>
              </a:ext>
            </a:extLst>
          </p:cNvPr>
          <p:cNvSpPr txBox="1"/>
          <p:nvPr/>
        </p:nvSpPr>
        <p:spPr>
          <a:xfrm>
            <a:off x="252483" y="197707"/>
            <a:ext cx="9519313" cy="282641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78. What is the purpose of the </a:t>
            </a:r>
            <a:r>
              <a:rPr lang="en-US" b="0" i="0" dirty="0" err="1">
                <a:solidFill>
                  <a:srgbClr val="272C37"/>
                </a:solidFill>
                <a:effectLst/>
                <a:latin typeface="Roboto" panose="02000000000000000000" pitchFamily="2" charset="0"/>
              </a:rPr>
              <a:t>java.util.Optional</a:t>
            </a:r>
            <a:r>
              <a:rPr lang="en-US" b="0" i="0" dirty="0">
                <a:solidFill>
                  <a:srgbClr val="272C37"/>
                </a:solidFill>
                <a:effectLst/>
                <a:latin typeface="Roboto" panose="02000000000000000000" pitchFamily="2" charset="0"/>
              </a:rPr>
              <a:t> class?</a:t>
            </a:r>
          </a:p>
          <a:p>
            <a:pPr algn="just">
              <a:lnSpc>
                <a:spcPts val="2100"/>
              </a:lnSpc>
              <a:spcBef>
                <a:spcPts val="1650"/>
              </a:spcBef>
              <a:buNone/>
            </a:pPr>
            <a:r>
              <a:rPr lang="en-US" b="0" i="0" dirty="0">
                <a:solidFill>
                  <a:srgbClr val="3A3A3A"/>
                </a:solidFill>
                <a:effectLst/>
                <a:latin typeface="Roboto" panose="02000000000000000000" pitchFamily="2" charset="0"/>
              </a:rPr>
              <a:t>Optional&lt;T&gt; is a container class that can or cannot have a non-null value. It prevents null pointer exceptions and promotes better practices for handling null values.</a:t>
            </a:r>
          </a:p>
          <a:p>
            <a:pPr algn="l">
              <a:spcBef>
                <a:spcPts val="1650"/>
              </a:spcBef>
              <a:buNone/>
            </a:pPr>
            <a:r>
              <a:rPr lang="en-US" b="0" i="0" dirty="0">
                <a:solidFill>
                  <a:srgbClr val="3A3A3A"/>
                </a:solidFill>
                <a:effectLst/>
                <a:latin typeface="Roboto" panose="02000000000000000000" pitchFamily="2" charset="0"/>
              </a:rPr>
              <a:t>Use Case:</a:t>
            </a:r>
          </a:p>
          <a:p>
            <a:pPr algn="just">
              <a:lnSpc>
                <a:spcPts val="2100"/>
              </a:lnSpc>
              <a:spcBef>
                <a:spcPts val="1650"/>
              </a:spcBef>
              <a:buNone/>
            </a:pPr>
            <a:r>
              <a:rPr lang="en-US" b="0" i="0" dirty="0">
                <a:solidFill>
                  <a:srgbClr val="3A3A3A"/>
                </a:solidFill>
                <a:effectLst/>
                <a:latin typeface="Roboto" panose="02000000000000000000" pitchFamily="2" charset="0"/>
              </a:rPr>
              <a:t>Rather than returning null, return an Optional&lt;T&gt;.</a:t>
            </a:r>
          </a:p>
          <a:p>
            <a:pPr algn="l">
              <a:spcBef>
                <a:spcPts val="1650"/>
              </a:spcBef>
              <a:buNone/>
            </a:pPr>
            <a:r>
              <a:rPr lang="en-US" b="0" i="0" dirty="0">
                <a:solidFill>
                  <a:srgbClr val="3A3A3A"/>
                </a:solidFill>
                <a:effectLst/>
                <a:latin typeface="Roboto" panose="02000000000000000000" pitchFamily="2" charset="0"/>
              </a:rPr>
              <a:t>Example:</a:t>
            </a:r>
          </a:p>
        </p:txBody>
      </p:sp>
      <p:sp>
        <p:nvSpPr>
          <p:cNvPr id="5" name="TextBox 4">
            <a:extLst>
              <a:ext uri="{FF2B5EF4-FFF2-40B4-BE49-F238E27FC236}">
                <a16:creationId xmlns:a16="http://schemas.microsoft.com/office/drawing/2014/main" id="{609FEA0E-9EF8-A0DB-22C8-8C8829441F43}"/>
              </a:ext>
            </a:extLst>
          </p:cNvPr>
          <p:cNvSpPr txBox="1"/>
          <p:nvPr/>
        </p:nvSpPr>
        <p:spPr>
          <a:xfrm>
            <a:off x="252483" y="3024122"/>
            <a:ext cx="6694226" cy="5632311"/>
          </a:xfrm>
          <a:prstGeom prst="rect">
            <a:avLst/>
          </a:prstGeom>
          <a:noFill/>
        </p:spPr>
        <p:txBody>
          <a:bodyPr wrap="square">
            <a:spAutoFit/>
          </a:bodyPr>
          <a:lstStyle/>
          <a:p>
            <a:r>
              <a:rPr lang="en-US" dirty="0"/>
              <a:t>import </a:t>
            </a:r>
            <a:r>
              <a:rPr lang="en-US" dirty="0" err="1"/>
              <a:t>java.util.Optional</a:t>
            </a:r>
            <a:r>
              <a:rPr lang="en-US" dirty="0"/>
              <a:t>;</a:t>
            </a:r>
          </a:p>
          <a:p>
            <a:endParaRPr lang="en-US" dirty="0"/>
          </a:p>
          <a:p>
            <a:r>
              <a:rPr lang="en-US" dirty="0"/>
              <a:t>public class </a:t>
            </a:r>
            <a:r>
              <a:rPr lang="en-US" dirty="0" err="1"/>
              <a:t>OptionalExample</a:t>
            </a:r>
            <a:r>
              <a:rPr lang="en-US" dirty="0"/>
              <a:t> {</a:t>
            </a:r>
          </a:p>
          <a:p>
            <a:r>
              <a:rPr lang="en-US" dirty="0"/>
              <a:t>    public static void main(String[] </a:t>
            </a:r>
            <a:r>
              <a:rPr lang="en-US" dirty="0" err="1"/>
              <a:t>args</a:t>
            </a:r>
            <a:r>
              <a:rPr lang="en-US" dirty="0"/>
              <a:t>) {</a:t>
            </a:r>
          </a:p>
          <a:p>
            <a:r>
              <a:rPr lang="en-US" dirty="0"/>
              <a:t>        Optional&lt;String&gt; name = </a:t>
            </a:r>
            <a:r>
              <a:rPr lang="en-US" dirty="0" err="1"/>
              <a:t>Optional.ofNullable</a:t>
            </a:r>
            <a:r>
              <a:rPr lang="en-US" dirty="0"/>
              <a:t>(</a:t>
            </a:r>
            <a:r>
              <a:rPr lang="en-US" dirty="0" err="1"/>
              <a:t>getName</a:t>
            </a:r>
            <a:r>
              <a:rPr lang="en-US" dirty="0"/>
              <a:t>());</a:t>
            </a:r>
          </a:p>
          <a:p>
            <a:endParaRPr lang="en-US" dirty="0"/>
          </a:p>
          <a:p>
            <a:r>
              <a:rPr lang="en-US" dirty="0"/>
              <a:t>        // Print only if the value is present (non-null)</a:t>
            </a:r>
          </a:p>
          <a:p>
            <a:r>
              <a:rPr lang="en-US" dirty="0"/>
              <a:t>        </a:t>
            </a:r>
            <a:r>
              <a:rPr lang="en-US" dirty="0" err="1"/>
              <a:t>name.ifPresent</a:t>
            </a:r>
            <a:r>
              <a:rPr lang="en-US" dirty="0"/>
              <a:t>(</a:t>
            </a:r>
            <a:r>
              <a:rPr lang="en-US" dirty="0" err="1"/>
              <a:t>System.out</a:t>
            </a:r>
            <a:r>
              <a:rPr lang="en-US" dirty="0"/>
              <a:t>::</a:t>
            </a:r>
            <a:r>
              <a:rPr lang="en-US" dirty="0" err="1"/>
              <a:t>println</a:t>
            </a:r>
            <a:r>
              <a:rPr lang="en-US" dirty="0"/>
              <a:t>);</a:t>
            </a:r>
          </a:p>
          <a:p>
            <a:endParaRPr lang="en-US" dirty="0"/>
          </a:p>
          <a:p>
            <a:r>
              <a:rPr lang="en-US" dirty="0"/>
              <a:t>        // Provide a default value if name is null</a:t>
            </a:r>
          </a:p>
          <a:p>
            <a:r>
              <a:rPr lang="en-US" dirty="0"/>
              <a:t>        String </a:t>
            </a:r>
            <a:r>
              <a:rPr lang="en-US" dirty="0" err="1"/>
              <a:t>finalName</a:t>
            </a:r>
            <a:r>
              <a:rPr lang="en-US" dirty="0"/>
              <a:t> = </a:t>
            </a:r>
            <a:r>
              <a:rPr lang="en-US" dirty="0" err="1"/>
              <a:t>name.orElse</a:t>
            </a:r>
            <a:r>
              <a:rPr lang="en-US" dirty="0"/>
              <a:t>("Default");</a:t>
            </a:r>
          </a:p>
          <a:p>
            <a:r>
              <a:rPr lang="en-US" dirty="0"/>
              <a:t>        </a:t>
            </a:r>
            <a:r>
              <a:rPr lang="en-US" dirty="0" err="1"/>
              <a:t>System.out.println</a:t>
            </a:r>
            <a:r>
              <a:rPr lang="en-US" dirty="0"/>
              <a:t>("Final Name: " + </a:t>
            </a:r>
            <a:r>
              <a:rPr lang="en-US" dirty="0" err="1"/>
              <a:t>finalName</a:t>
            </a:r>
            <a:r>
              <a:rPr lang="en-US" dirty="0"/>
              <a:t>);</a:t>
            </a:r>
          </a:p>
          <a:p>
            <a:r>
              <a:rPr lang="en-US" dirty="0"/>
              <a:t>    }</a:t>
            </a:r>
          </a:p>
          <a:p>
            <a:endParaRPr lang="en-US" dirty="0"/>
          </a:p>
          <a:p>
            <a:r>
              <a:rPr lang="en-US" dirty="0"/>
              <a:t>    // This method can return null or a string value</a:t>
            </a:r>
          </a:p>
          <a:p>
            <a:r>
              <a:rPr lang="en-US" dirty="0"/>
              <a:t>    public static String </a:t>
            </a:r>
            <a:r>
              <a:rPr lang="en-US" dirty="0" err="1"/>
              <a:t>getName</a:t>
            </a:r>
            <a:r>
              <a:rPr lang="en-US" dirty="0"/>
              <a:t>() {</a:t>
            </a:r>
          </a:p>
          <a:p>
            <a:r>
              <a:rPr lang="en-US" dirty="0"/>
              <a:t>        // return "Ayaan"; // Try with non-null</a:t>
            </a:r>
          </a:p>
          <a:p>
            <a:r>
              <a:rPr lang="en-US" dirty="0"/>
              <a:t>        return null;       // Try with null</a:t>
            </a:r>
          </a:p>
          <a:p>
            <a:r>
              <a:rPr lang="en-US" dirty="0"/>
              <a:t>    }</a:t>
            </a:r>
          </a:p>
          <a:p>
            <a:r>
              <a:rPr lang="en-US" dirty="0"/>
              <a:t>}</a:t>
            </a:r>
          </a:p>
        </p:txBody>
      </p:sp>
      <p:sp>
        <p:nvSpPr>
          <p:cNvPr id="7" name="TextBox 6">
            <a:extLst>
              <a:ext uri="{FF2B5EF4-FFF2-40B4-BE49-F238E27FC236}">
                <a16:creationId xmlns:a16="http://schemas.microsoft.com/office/drawing/2014/main" id="{34ADD1CE-3730-C07C-6DA9-CB42AF47EE61}"/>
              </a:ext>
            </a:extLst>
          </p:cNvPr>
          <p:cNvSpPr txBox="1"/>
          <p:nvPr/>
        </p:nvSpPr>
        <p:spPr>
          <a:xfrm>
            <a:off x="6810231" y="4238687"/>
            <a:ext cx="2706808" cy="2228815"/>
          </a:xfrm>
          <a:prstGeom prst="rect">
            <a:avLst/>
          </a:prstGeom>
          <a:noFill/>
        </p:spPr>
        <p:txBody>
          <a:bodyPr wrap="square">
            <a:spAutoFit/>
          </a:bodyPr>
          <a:lstStyle/>
          <a:p>
            <a:pPr algn="l">
              <a:spcBef>
                <a:spcPts val="1650"/>
              </a:spcBef>
              <a:buNone/>
            </a:pPr>
            <a:r>
              <a:rPr lang="en-US" b="0" i="0" dirty="0">
                <a:solidFill>
                  <a:srgbClr val="3A3A3A"/>
                </a:solidFill>
                <a:effectLst/>
                <a:latin typeface="Roboto" panose="02000000000000000000" pitchFamily="2" charset="0"/>
              </a:rPr>
              <a:t>Benefits: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Decreases likelihood of </a:t>
            </a:r>
            <a:r>
              <a:rPr lang="en-US" b="0" i="0" dirty="0" err="1">
                <a:solidFill>
                  <a:srgbClr val="3A3A3A"/>
                </a:solidFill>
                <a:effectLst/>
                <a:latin typeface="Roboto" panose="02000000000000000000" pitchFamily="2" charset="0"/>
              </a:rPr>
              <a:t>NullPointerException</a:t>
            </a:r>
            <a:r>
              <a:rPr lang="en-US" b="0" i="0" dirty="0">
                <a:solidFill>
                  <a:srgbClr val="3A3A3A"/>
                </a:solidFill>
                <a:effectLst/>
                <a:latin typeface="Roboto" panose="02000000000000000000" pitchFamily="2" charset="0"/>
              </a:rPr>
              <a: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Encourages clear null checks with </a:t>
            </a:r>
            <a:r>
              <a:rPr lang="en-US" b="0" i="0" dirty="0" err="1">
                <a:solidFill>
                  <a:srgbClr val="3A3A3A"/>
                </a:solidFill>
                <a:effectLst/>
                <a:latin typeface="Roboto" panose="02000000000000000000" pitchFamily="2" charset="0"/>
              </a:rPr>
              <a:t>ifPresent</a:t>
            </a:r>
            <a:r>
              <a:rPr lang="en-US" b="0" i="0" dirty="0">
                <a:solidFill>
                  <a:srgbClr val="3A3A3A"/>
                </a:solidFill>
                <a:effectLst/>
                <a:latin typeface="Roboto" panose="02000000000000000000" pitchFamily="2" charset="0"/>
              </a:rPr>
              <a:t>(), </a:t>
            </a:r>
            <a:r>
              <a:rPr lang="en-US" b="0" i="0" dirty="0" err="1">
                <a:solidFill>
                  <a:srgbClr val="3A3A3A"/>
                </a:solidFill>
                <a:effectLst/>
                <a:latin typeface="Roboto" panose="02000000000000000000" pitchFamily="2" charset="0"/>
              </a:rPr>
              <a:t>orElse</a:t>
            </a:r>
            <a:r>
              <a:rPr lang="en-US" b="0" i="0" dirty="0">
                <a:solidFill>
                  <a:srgbClr val="3A3A3A"/>
                </a:solidFill>
                <a:effectLst/>
                <a:latin typeface="Roboto" panose="02000000000000000000" pitchFamily="2" charset="0"/>
              </a:rPr>
              <a:t>(), map(), etc.</a:t>
            </a:r>
          </a:p>
        </p:txBody>
      </p:sp>
    </p:spTree>
    <p:extLst>
      <p:ext uri="{BB962C8B-B14F-4D97-AF65-F5344CB8AC3E}">
        <p14:creationId xmlns:p14="http://schemas.microsoft.com/office/powerpoint/2010/main" val="20308453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92DC-5F54-1150-3E2B-D0217D6B46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36B560-784A-15CF-F73C-2F5FFF333EC7}"/>
              </a:ext>
            </a:extLst>
          </p:cNvPr>
          <p:cNvSpPr txBox="1"/>
          <p:nvPr/>
        </p:nvSpPr>
        <p:spPr>
          <a:xfrm>
            <a:off x="156950" y="154779"/>
            <a:ext cx="4954136" cy="265200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79. How do you use </a:t>
            </a:r>
            <a:r>
              <a:rPr lang="en-US" b="0" i="0" dirty="0" err="1">
                <a:solidFill>
                  <a:srgbClr val="272C37"/>
                </a:solidFill>
                <a:effectLst/>
                <a:latin typeface="Roboto" panose="02000000000000000000" pitchFamily="2" charset="0"/>
              </a:rPr>
              <a:t>varargs</a:t>
            </a:r>
            <a:r>
              <a:rPr lang="en-US" b="0" i="0" dirty="0">
                <a:solidFill>
                  <a:srgbClr val="272C37"/>
                </a:solidFill>
                <a:effectLst/>
                <a:latin typeface="Roboto" panose="02000000000000000000" pitchFamily="2" charset="0"/>
              </a:rPr>
              <a:t> (variable arguments) in Java?</a:t>
            </a:r>
          </a:p>
          <a:p>
            <a:pPr algn="just">
              <a:lnSpc>
                <a:spcPts val="2100"/>
              </a:lnSpc>
              <a:spcBef>
                <a:spcPts val="1650"/>
              </a:spcBef>
              <a:buNone/>
            </a:pPr>
            <a:r>
              <a:rPr lang="en-US" b="0" i="0" dirty="0" err="1">
                <a:solidFill>
                  <a:srgbClr val="3A3A3A"/>
                </a:solidFill>
                <a:effectLst/>
                <a:latin typeface="Roboto" panose="02000000000000000000" pitchFamily="2" charset="0"/>
              </a:rPr>
              <a:t>Varargs</a:t>
            </a:r>
            <a:r>
              <a:rPr lang="en-US" b="0" i="0" dirty="0">
                <a:solidFill>
                  <a:srgbClr val="3A3A3A"/>
                </a:solidFill>
                <a:effectLst/>
                <a:latin typeface="Roboto" panose="02000000000000000000" pitchFamily="2" charset="0"/>
              </a:rPr>
              <a:t> (…) enable a method to take zero or more parameters of a particular type. They are useful when the number of method parameters is variable and not known in advance.</a:t>
            </a:r>
          </a:p>
          <a:p>
            <a:pPr algn="l">
              <a:spcBef>
                <a:spcPts val="1650"/>
              </a:spcBef>
              <a:buNone/>
            </a:pPr>
            <a:r>
              <a:rPr lang="en-US" b="0" i="0" dirty="0">
                <a:solidFill>
                  <a:srgbClr val="3A3A3A"/>
                </a:solidFill>
                <a:effectLst/>
                <a:latin typeface="Roboto" panose="02000000000000000000" pitchFamily="2" charset="0"/>
              </a:rPr>
              <a:t>Syntax:</a:t>
            </a:r>
          </a:p>
        </p:txBody>
      </p:sp>
      <p:sp>
        <p:nvSpPr>
          <p:cNvPr id="5" name="TextBox 4">
            <a:extLst>
              <a:ext uri="{FF2B5EF4-FFF2-40B4-BE49-F238E27FC236}">
                <a16:creationId xmlns:a16="http://schemas.microsoft.com/office/drawing/2014/main" id="{ABFE8ADE-B9FD-6316-7D36-6AD90F9B8895}"/>
              </a:ext>
            </a:extLst>
          </p:cNvPr>
          <p:cNvSpPr txBox="1"/>
          <p:nvPr/>
        </p:nvSpPr>
        <p:spPr>
          <a:xfrm>
            <a:off x="156950" y="2806787"/>
            <a:ext cx="4954136" cy="5909310"/>
          </a:xfrm>
          <a:prstGeom prst="rect">
            <a:avLst/>
          </a:prstGeom>
          <a:noFill/>
        </p:spPr>
        <p:txBody>
          <a:bodyPr wrap="square">
            <a:spAutoFit/>
          </a:bodyPr>
          <a:lstStyle/>
          <a:p>
            <a:r>
              <a:rPr lang="en-US" dirty="0"/>
              <a:t>public class </a:t>
            </a:r>
            <a:r>
              <a:rPr lang="en-US" dirty="0" err="1"/>
              <a:t>VarargsExample</a:t>
            </a:r>
            <a:r>
              <a:rPr lang="en-US" dirty="0"/>
              <a:t> {</a:t>
            </a:r>
          </a:p>
          <a:p>
            <a:r>
              <a:rPr lang="en-US" dirty="0"/>
              <a:t>    public static void main(String[] </a:t>
            </a:r>
            <a:r>
              <a:rPr lang="en-US" dirty="0" err="1"/>
              <a:t>args</a:t>
            </a:r>
            <a:r>
              <a:rPr lang="en-US" dirty="0"/>
              <a:t>) {</a:t>
            </a:r>
          </a:p>
          <a:p>
            <a:r>
              <a:rPr lang="en-US" dirty="0"/>
              <a:t>        </a:t>
            </a:r>
            <a:r>
              <a:rPr lang="en-US" dirty="0" err="1"/>
              <a:t>printNumbers</a:t>
            </a:r>
            <a:r>
              <a:rPr lang="en-US" dirty="0"/>
              <a:t>();               // Valid: no arguments</a:t>
            </a:r>
          </a:p>
          <a:p>
            <a:r>
              <a:rPr lang="en-US" dirty="0"/>
              <a:t>        </a:t>
            </a:r>
            <a:r>
              <a:rPr lang="en-US" dirty="0" err="1"/>
              <a:t>printNumbers</a:t>
            </a:r>
            <a:r>
              <a:rPr lang="en-US" dirty="0"/>
              <a:t>(1);              // Valid: single argument</a:t>
            </a:r>
          </a:p>
          <a:p>
            <a:r>
              <a:rPr lang="en-US" dirty="0"/>
              <a:t>        </a:t>
            </a:r>
            <a:r>
              <a:rPr lang="en-US" dirty="0" err="1"/>
              <a:t>printNumbers</a:t>
            </a:r>
            <a:r>
              <a:rPr lang="en-US" dirty="0"/>
              <a:t>(1, 2, 3, 4, 5);  // Valid: multiple arguments</a:t>
            </a:r>
          </a:p>
          <a:p>
            <a:r>
              <a:rPr lang="en-US" dirty="0"/>
              <a:t>    }</a:t>
            </a:r>
          </a:p>
          <a:p>
            <a:endParaRPr lang="en-US" dirty="0"/>
          </a:p>
          <a:p>
            <a:r>
              <a:rPr lang="en-US" dirty="0"/>
              <a:t>    // </a:t>
            </a:r>
            <a:r>
              <a:rPr lang="en-US" dirty="0" err="1"/>
              <a:t>Varargs</a:t>
            </a:r>
            <a:r>
              <a:rPr lang="en-US" dirty="0"/>
              <a:t> method: accepts zero or more int values</a:t>
            </a:r>
          </a:p>
          <a:p>
            <a:r>
              <a:rPr lang="en-US" dirty="0"/>
              <a:t>    public static void </a:t>
            </a:r>
            <a:r>
              <a:rPr lang="en-US" dirty="0" err="1"/>
              <a:t>printNumbers</a:t>
            </a:r>
            <a:r>
              <a:rPr lang="en-US" dirty="0"/>
              <a:t>(int... numbers) {</a:t>
            </a:r>
          </a:p>
          <a:p>
            <a:r>
              <a:rPr lang="en-US" dirty="0"/>
              <a:t>        </a:t>
            </a:r>
            <a:r>
              <a:rPr lang="en-US" dirty="0" err="1"/>
              <a:t>System.out.println</a:t>
            </a:r>
            <a:r>
              <a:rPr lang="en-US" dirty="0"/>
              <a:t>("Printing numbers:");</a:t>
            </a:r>
          </a:p>
          <a:p>
            <a:r>
              <a:rPr lang="en-US" dirty="0"/>
              <a:t>        for (int num : numbers) {</a:t>
            </a:r>
          </a:p>
          <a:p>
            <a:r>
              <a:rPr lang="en-US" dirty="0"/>
              <a:t>            </a:t>
            </a:r>
            <a:r>
              <a:rPr lang="en-US" dirty="0" err="1"/>
              <a:t>System.out.println</a:t>
            </a:r>
            <a:r>
              <a:rPr lang="en-US" dirty="0"/>
              <a:t>(num);</a:t>
            </a:r>
          </a:p>
          <a:p>
            <a:r>
              <a:rPr lang="en-US" dirty="0"/>
              <a:t>        }</a:t>
            </a:r>
          </a:p>
          <a:p>
            <a:r>
              <a:rPr lang="en-US" dirty="0"/>
              <a:t>    }</a:t>
            </a:r>
          </a:p>
          <a:p>
            <a:r>
              <a:rPr lang="en-US" dirty="0"/>
              <a:t>}</a:t>
            </a:r>
          </a:p>
          <a:p>
            <a:endParaRPr lang="en-US" dirty="0"/>
          </a:p>
        </p:txBody>
      </p:sp>
      <p:sp>
        <p:nvSpPr>
          <p:cNvPr id="7" name="TextBox 6">
            <a:extLst>
              <a:ext uri="{FF2B5EF4-FFF2-40B4-BE49-F238E27FC236}">
                <a16:creationId xmlns:a16="http://schemas.microsoft.com/office/drawing/2014/main" id="{7FDC3C03-197B-E6EE-B599-229B40809CF4}"/>
              </a:ext>
            </a:extLst>
          </p:cNvPr>
          <p:cNvSpPr txBox="1"/>
          <p:nvPr/>
        </p:nvSpPr>
        <p:spPr>
          <a:xfrm>
            <a:off x="4953000" y="2361008"/>
            <a:ext cx="4954136" cy="1690206"/>
          </a:xfrm>
          <a:prstGeom prst="rect">
            <a:avLst/>
          </a:prstGeom>
          <a:noFill/>
        </p:spPr>
        <p:txBody>
          <a:bodyPr wrap="square">
            <a:spAutoFit/>
          </a:bodyPr>
          <a:lstStyle/>
          <a:p>
            <a:pPr algn="l">
              <a:spcBef>
                <a:spcPts val="1650"/>
              </a:spcBef>
              <a:buNone/>
            </a:pPr>
            <a:r>
              <a:rPr lang="en-US" b="0" i="0" dirty="0">
                <a:solidFill>
                  <a:srgbClr val="3A3A3A"/>
                </a:solidFill>
                <a:effectLst/>
                <a:latin typeface="Roboto" panose="02000000000000000000" pitchFamily="2" charset="0"/>
              </a:rPr>
              <a:t>Rules: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Only one </a:t>
            </a:r>
            <a:r>
              <a:rPr lang="en-US" b="0" i="0" dirty="0" err="1">
                <a:solidFill>
                  <a:srgbClr val="3A3A3A"/>
                </a:solidFill>
                <a:effectLst/>
                <a:latin typeface="Roboto" panose="02000000000000000000" pitchFamily="2" charset="0"/>
              </a:rPr>
              <a:t>varargs</a:t>
            </a:r>
            <a:r>
              <a:rPr lang="en-US" b="0" i="0" dirty="0">
                <a:solidFill>
                  <a:srgbClr val="3A3A3A"/>
                </a:solidFill>
                <a:effectLst/>
                <a:latin typeface="Roboto" panose="02000000000000000000" pitchFamily="2" charset="0"/>
              </a:rPr>
              <a:t> parameter is allowed.</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It has to be the final parameter in the method signature.</a:t>
            </a:r>
          </a:p>
        </p:txBody>
      </p:sp>
    </p:spTree>
    <p:extLst>
      <p:ext uri="{BB962C8B-B14F-4D97-AF65-F5344CB8AC3E}">
        <p14:creationId xmlns:p14="http://schemas.microsoft.com/office/powerpoint/2010/main" val="9394175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9C64-8DDE-13EF-04ED-E030FEAF91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CC68D7-C6ED-6EEE-72A6-24B57254CBD7}"/>
              </a:ext>
            </a:extLst>
          </p:cNvPr>
          <p:cNvSpPr txBox="1"/>
          <p:nvPr/>
        </p:nvSpPr>
        <p:spPr>
          <a:xfrm>
            <a:off x="0" y="141729"/>
            <a:ext cx="7642746" cy="36163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80. What is the difference between poll() and remove() in a Queue?</a:t>
            </a:r>
          </a:p>
        </p:txBody>
      </p:sp>
      <p:graphicFrame>
        <p:nvGraphicFramePr>
          <p:cNvPr id="4" name="Table 3">
            <a:extLst>
              <a:ext uri="{FF2B5EF4-FFF2-40B4-BE49-F238E27FC236}">
                <a16:creationId xmlns:a16="http://schemas.microsoft.com/office/drawing/2014/main" id="{5F747F40-FE03-372F-9E34-0216E3A15FDE}"/>
              </a:ext>
            </a:extLst>
          </p:cNvPr>
          <p:cNvGraphicFramePr>
            <a:graphicFrameLocks noGrp="1"/>
          </p:cNvGraphicFramePr>
          <p:nvPr>
            <p:extLst>
              <p:ext uri="{D42A27DB-BD31-4B8C-83A1-F6EECF244321}">
                <p14:modId xmlns:p14="http://schemas.microsoft.com/office/powerpoint/2010/main" val="1682301578"/>
              </p:ext>
            </p:extLst>
          </p:nvPr>
        </p:nvGraphicFramePr>
        <p:xfrm>
          <a:off x="380787" y="910076"/>
          <a:ext cx="8543925" cy="2743200"/>
        </p:xfrm>
        <a:graphic>
          <a:graphicData uri="http://schemas.openxmlformats.org/drawingml/2006/table">
            <a:tbl>
              <a:tblPr/>
              <a:tblGrid>
                <a:gridCol w="2847975">
                  <a:extLst>
                    <a:ext uri="{9D8B030D-6E8A-4147-A177-3AD203B41FA5}">
                      <a16:colId xmlns:a16="http://schemas.microsoft.com/office/drawing/2014/main" val="158697984"/>
                    </a:ext>
                  </a:extLst>
                </a:gridCol>
                <a:gridCol w="2847975">
                  <a:extLst>
                    <a:ext uri="{9D8B030D-6E8A-4147-A177-3AD203B41FA5}">
                      <a16:colId xmlns:a16="http://schemas.microsoft.com/office/drawing/2014/main" val="1564949360"/>
                    </a:ext>
                  </a:extLst>
                </a:gridCol>
                <a:gridCol w="2847975">
                  <a:extLst>
                    <a:ext uri="{9D8B030D-6E8A-4147-A177-3AD203B41FA5}">
                      <a16:colId xmlns:a16="http://schemas.microsoft.com/office/drawing/2014/main" val="3558810874"/>
                    </a:ext>
                  </a:extLst>
                </a:gridCol>
              </a:tblGrid>
              <a:tr h="0">
                <a:tc>
                  <a:txBody>
                    <a:bodyPr/>
                    <a:lstStyle/>
                    <a:p>
                      <a:pPr algn="ctr" fontAlgn="t">
                        <a:buNone/>
                      </a:pPr>
                      <a:r>
                        <a:rPr lang="en-US" b="0">
                          <a:solidFill>
                            <a:srgbClr val="FFFFFF"/>
                          </a:solidFill>
                          <a:effectLst/>
                        </a:rPr>
                        <a:t>Method</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Description</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Throws Exception if Queue is Empty</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73102590"/>
                  </a:ext>
                </a:extLst>
              </a:tr>
              <a:tr h="0">
                <a:tc>
                  <a:txBody>
                    <a:bodyPr/>
                    <a:lstStyle/>
                    <a:p>
                      <a:pPr fontAlgn="t">
                        <a:buNone/>
                      </a:pPr>
                      <a:r>
                        <a:rPr lang="en-US">
                          <a:effectLst/>
                        </a:rPr>
                        <a:t>poll()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Retrieves and removes the head, or returns null if empty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 No (Returns null)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530092256"/>
                  </a:ext>
                </a:extLst>
              </a:tr>
              <a:tr h="0">
                <a:tc>
                  <a:txBody>
                    <a:bodyPr/>
                    <a:lstStyle/>
                    <a:p>
                      <a:pPr fontAlgn="t">
                        <a:buNone/>
                      </a:pPr>
                      <a:r>
                        <a:rPr lang="en-US">
                          <a:effectLst/>
                        </a:rPr>
                        <a:t>remove()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Retrieves and removes the head, or throws NoSuchElementException if empty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762303964"/>
                  </a:ext>
                </a:extLst>
              </a:tr>
            </a:tbl>
          </a:graphicData>
        </a:graphic>
      </p:graphicFrame>
      <p:sp>
        <p:nvSpPr>
          <p:cNvPr id="6" name="TextBox 5">
            <a:extLst>
              <a:ext uri="{FF2B5EF4-FFF2-40B4-BE49-F238E27FC236}">
                <a16:creationId xmlns:a16="http://schemas.microsoft.com/office/drawing/2014/main" id="{4966F959-EB23-5F5E-3D69-212047E39F04}"/>
              </a:ext>
            </a:extLst>
          </p:cNvPr>
          <p:cNvSpPr txBox="1"/>
          <p:nvPr/>
        </p:nvSpPr>
        <p:spPr>
          <a:xfrm>
            <a:off x="380787" y="3904862"/>
            <a:ext cx="4981432" cy="7571303"/>
          </a:xfrm>
          <a:prstGeom prst="rect">
            <a:avLst/>
          </a:prstGeom>
          <a:noFill/>
        </p:spPr>
        <p:txBody>
          <a:bodyPr wrap="square">
            <a:spAutoFit/>
          </a:bodyPr>
          <a:lstStyle/>
          <a:p>
            <a:r>
              <a:rPr lang="en-US" dirty="0"/>
              <a:t>import </a:t>
            </a:r>
            <a:r>
              <a:rPr lang="en-US" dirty="0" err="1"/>
              <a:t>java.util.Queue</a:t>
            </a:r>
            <a:r>
              <a:rPr lang="en-US" dirty="0"/>
              <a:t>;</a:t>
            </a:r>
          </a:p>
          <a:p>
            <a:r>
              <a:rPr lang="en-US" dirty="0"/>
              <a:t>import </a:t>
            </a:r>
            <a:r>
              <a:rPr lang="en-US" dirty="0" err="1"/>
              <a:t>java.util.LinkedList</a:t>
            </a:r>
            <a:r>
              <a:rPr lang="en-US" dirty="0"/>
              <a:t>;</a:t>
            </a:r>
          </a:p>
          <a:p>
            <a:r>
              <a:rPr lang="en-US" dirty="0"/>
              <a:t>import </a:t>
            </a:r>
            <a:r>
              <a:rPr lang="en-US" dirty="0" err="1"/>
              <a:t>java.util.NoSuchElementException</a:t>
            </a:r>
            <a:r>
              <a:rPr lang="en-US" dirty="0"/>
              <a:t>;</a:t>
            </a:r>
          </a:p>
          <a:p>
            <a:endParaRPr lang="en-US" dirty="0"/>
          </a:p>
          <a:p>
            <a:r>
              <a:rPr lang="en-US" dirty="0"/>
              <a:t>public class </a:t>
            </a:r>
            <a:r>
              <a:rPr lang="en-US" dirty="0" err="1"/>
              <a:t>QueueExample</a:t>
            </a:r>
            <a:r>
              <a:rPr lang="en-US" dirty="0"/>
              <a:t> {</a:t>
            </a:r>
          </a:p>
          <a:p>
            <a:r>
              <a:rPr lang="en-US" dirty="0"/>
              <a:t>    public static void main(String[] </a:t>
            </a:r>
            <a:r>
              <a:rPr lang="en-US" dirty="0" err="1"/>
              <a:t>args</a:t>
            </a:r>
            <a:r>
              <a:rPr lang="en-US" dirty="0"/>
              <a:t>) {</a:t>
            </a:r>
          </a:p>
          <a:p>
            <a:r>
              <a:rPr lang="en-US" dirty="0"/>
              <a:t>        Queue </a:t>
            </a:r>
            <a:r>
              <a:rPr lang="en-US" dirty="0" err="1"/>
              <a:t>queue</a:t>
            </a:r>
            <a:r>
              <a:rPr lang="en-US" dirty="0"/>
              <a:t> = new LinkedList&lt;&gt;();</a:t>
            </a:r>
          </a:p>
          <a:p>
            <a:endParaRPr lang="en-US" dirty="0"/>
          </a:p>
          <a:p>
            <a:r>
              <a:rPr lang="en-US" dirty="0"/>
              <a:t>        // Using poll() - returns null if the queue is empty</a:t>
            </a:r>
          </a:p>
          <a:p>
            <a:r>
              <a:rPr lang="en-US" dirty="0"/>
              <a:t>        String polled = </a:t>
            </a:r>
            <a:r>
              <a:rPr lang="en-US" dirty="0" err="1"/>
              <a:t>queue.poll</a:t>
            </a:r>
            <a:r>
              <a:rPr lang="en-US" dirty="0"/>
              <a:t>();</a:t>
            </a:r>
          </a:p>
          <a:p>
            <a:r>
              <a:rPr lang="en-US" dirty="0"/>
              <a:t>        </a:t>
            </a:r>
            <a:r>
              <a:rPr lang="en-US" dirty="0" err="1"/>
              <a:t>System.out.println</a:t>
            </a:r>
            <a:r>
              <a:rPr lang="en-US" dirty="0"/>
              <a:t>("Result of poll(): " + polled); // Output: null</a:t>
            </a:r>
          </a:p>
          <a:p>
            <a:endParaRPr lang="en-US" dirty="0"/>
          </a:p>
          <a:p>
            <a:r>
              <a:rPr lang="en-US" dirty="0"/>
              <a:t>        // Using remove() - throws </a:t>
            </a:r>
            <a:r>
              <a:rPr lang="en-US" dirty="0" err="1"/>
              <a:t>NoSuchElementException</a:t>
            </a:r>
            <a:r>
              <a:rPr lang="en-US" dirty="0"/>
              <a:t> if the queue is empty</a:t>
            </a:r>
          </a:p>
          <a:p>
            <a:r>
              <a:rPr lang="en-US" dirty="0"/>
              <a:t>        try {</a:t>
            </a:r>
          </a:p>
          <a:p>
            <a:r>
              <a:rPr lang="en-US" dirty="0"/>
              <a:t>            String removed = </a:t>
            </a:r>
            <a:r>
              <a:rPr lang="en-US" dirty="0" err="1"/>
              <a:t>queue.remove</a:t>
            </a:r>
            <a:r>
              <a:rPr lang="en-US" dirty="0"/>
              <a:t>(); // This will throw exception</a:t>
            </a:r>
          </a:p>
          <a:p>
            <a:r>
              <a:rPr lang="en-US" dirty="0"/>
              <a:t>            </a:t>
            </a:r>
            <a:r>
              <a:rPr lang="en-US" dirty="0" err="1"/>
              <a:t>System.out.println</a:t>
            </a:r>
            <a:r>
              <a:rPr lang="en-US" dirty="0"/>
              <a:t>("Result of remove(): " + removed);</a:t>
            </a:r>
          </a:p>
          <a:p>
            <a:r>
              <a:rPr lang="en-US" dirty="0"/>
              <a:t>        } catch (</a:t>
            </a:r>
            <a:r>
              <a:rPr lang="en-US" dirty="0" err="1"/>
              <a:t>NoSuchElementException</a:t>
            </a:r>
            <a:r>
              <a:rPr lang="en-US" dirty="0"/>
              <a:t> e) {</a:t>
            </a:r>
          </a:p>
          <a:p>
            <a:r>
              <a:rPr lang="en-US" dirty="0"/>
              <a:t>            </a:t>
            </a:r>
            <a:r>
              <a:rPr lang="en-US" dirty="0" err="1"/>
              <a:t>System.out.println</a:t>
            </a:r>
            <a:r>
              <a:rPr lang="en-US" dirty="0"/>
              <a:t>("Exception from remove(): " + e);</a:t>
            </a:r>
          </a:p>
          <a:p>
            <a:r>
              <a:rPr lang="en-US" dirty="0"/>
              <a:t>        }</a:t>
            </a:r>
          </a:p>
          <a:p>
            <a:r>
              <a:rPr lang="en-US" dirty="0"/>
              <a:t>    }</a:t>
            </a:r>
          </a:p>
          <a:p>
            <a:r>
              <a:rPr lang="en-US" dirty="0"/>
              <a:t>}</a:t>
            </a:r>
          </a:p>
        </p:txBody>
      </p:sp>
      <p:sp>
        <p:nvSpPr>
          <p:cNvPr id="8" name="TextBox 7">
            <a:extLst>
              <a:ext uri="{FF2B5EF4-FFF2-40B4-BE49-F238E27FC236}">
                <a16:creationId xmlns:a16="http://schemas.microsoft.com/office/drawing/2014/main" id="{F860E85E-9BA4-FB71-F96D-2FFC88E84623}"/>
              </a:ext>
            </a:extLst>
          </p:cNvPr>
          <p:cNvSpPr txBox="1"/>
          <p:nvPr/>
        </p:nvSpPr>
        <p:spPr>
          <a:xfrm>
            <a:off x="5199796" y="3988413"/>
            <a:ext cx="4325417" cy="1959511"/>
          </a:xfrm>
          <a:prstGeom prst="rect">
            <a:avLst/>
          </a:prstGeom>
          <a:noFill/>
        </p:spPr>
        <p:txBody>
          <a:bodyPr wrap="square">
            <a:spAutoFit/>
          </a:bodyPr>
          <a:lstStyle/>
          <a:p>
            <a:pPr algn="l">
              <a:spcBef>
                <a:spcPts val="1650"/>
              </a:spcBef>
              <a:buNone/>
            </a:pPr>
            <a:r>
              <a:rPr lang="en-US" b="0" i="0" dirty="0">
                <a:solidFill>
                  <a:srgbClr val="3A3A3A"/>
                </a:solidFill>
                <a:effectLst/>
                <a:latin typeface="Roboto" panose="02000000000000000000" pitchFamily="2" charset="0"/>
              </a:rPr>
              <a:t>When to Use: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 poll() when you wish to safely search for an element.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 remove() when you are certain that the queue is not empty.</a:t>
            </a:r>
          </a:p>
        </p:txBody>
      </p:sp>
    </p:spTree>
    <p:extLst>
      <p:ext uri="{BB962C8B-B14F-4D97-AF65-F5344CB8AC3E}">
        <p14:creationId xmlns:p14="http://schemas.microsoft.com/office/powerpoint/2010/main" val="5196493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D3A-A235-1877-D051-FCC3A9ADAD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AE4D60-93F0-8125-CC9A-A0E2376E7B66}"/>
              </a:ext>
            </a:extLst>
          </p:cNvPr>
          <p:cNvSpPr txBox="1"/>
          <p:nvPr/>
        </p:nvSpPr>
        <p:spPr>
          <a:xfrm>
            <a:off x="0" y="0"/>
            <a:ext cx="4954136" cy="18876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81. What is a </a:t>
            </a:r>
            <a:r>
              <a:rPr lang="en-US" b="0" i="0" dirty="0" err="1">
                <a:solidFill>
                  <a:srgbClr val="272C37"/>
                </a:solidFill>
                <a:effectLst/>
                <a:latin typeface="Roboto" panose="02000000000000000000" pitchFamily="2" charset="0"/>
              </a:rPr>
              <a:t>BiFunction</a:t>
            </a:r>
            <a:r>
              <a:rPr lang="en-US" b="0" i="0" dirty="0">
                <a:solidFill>
                  <a:srgbClr val="272C37"/>
                </a:solidFill>
                <a:effectLst/>
                <a:latin typeface="Roboto" panose="02000000000000000000" pitchFamily="2" charset="0"/>
              </a:rPr>
              <a:t> in Java?</a:t>
            </a:r>
          </a:p>
          <a:p>
            <a:pPr algn="just">
              <a:lnSpc>
                <a:spcPts val="2100"/>
              </a:lnSpc>
              <a:spcBef>
                <a:spcPts val="1650"/>
              </a:spcBef>
              <a:buNone/>
            </a:pPr>
            <a:r>
              <a:rPr lang="en-US" b="0" i="0" dirty="0" err="1">
                <a:solidFill>
                  <a:srgbClr val="3A3A3A"/>
                </a:solidFill>
                <a:effectLst/>
                <a:latin typeface="Roboto" panose="02000000000000000000" pitchFamily="2" charset="0"/>
              </a:rPr>
              <a:t>BiFunction</a:t>
            </a:r>
            <a:r>
              <a:rPr lang="en-US" b="0" i="0" dirty="0">
                <a:solidFill>
                  <a:srgbClr val="3A3A3A"/>
                </a:solidFill>
                <a:effectLst/>
                <a:latin typeface="Roboto" panose="02000000000000000000" pitchFamily="2" charset="0"/>
              </a:rPr>
              <a:t>&lt;T, U, R&gt; is a functional interface in package </a:t>
            </a:r>
            <a:r>
              <a:rPr lang="en-US" b="0" i="0" dirty="0" err="1">
                <a:solidFill>
                  <a:srgbClr val="3A3A3A"/>
                </a:solidFill>
                <a:effectLst/>
                <a:latin typeface="Roboto" panose="02000000000000000000" pitchFamily="2" charset="0"/>
              </a:rPr>
              <a:t>java.util.function</a:t>
            </a:r>
            <a:r>
              <a:rPr lang="en-US" b="0" i="0" dirty="0">
                <a:solidFill>
                  <a:srgbClr val="3A3A3A"/>
                </a:solidFill>
                <a:effectLst/>
                <a:latin typeface="Roboto" panose="02000000000000000000" pitchFamily="2" charset="0"/>
              </a:rPr>
              <a:t> that defines a function that accepts two parameters of types T and U and has an output of type R.</a:t>
            </a:r>
          </a:p>
        </p:txBody>
      </p:sp>
      <p:sp>
        <p:nvSpPr>
          <p:cNvPr id="5" name="TextBox 4">
            <a:extLst>
              <a:ext uri="{FF2B5EF4-FFF2-40B4-BE49-F238E27FC236}">
                <a16:creationId xmlns:a16="http://schemas.microsoft.com/office/drawing/2014/main" id="{A7C21966-A417-0962-A15C-18FC5A8CCB15}"/>
              </a:ext>
            </a:extLst>
          </p:cNvPr>
          <p:cNvSpPr txBox="1"/>
          <p:nvPr/>
        </p:nvSpPr>
        <p:spPr>
          <a:xfrm>
            <a:off x="143302" y="2047502"/>
            <a:ext cx="4183038" cy="1200329"/>
          </a:xfrm>
          <a:prstGeom prst="rect">
            <a:avLst/>
          </a:prstGeom>
          <a:noFill/>
        </p:spPr>
        <p:txBody>
          <a:bodyPr wrap="square">
            <a:spAutoFit/>
          </a:bodyPr>
          <a:lstStyle/>
          <a:p>
            <a:r>
              <a:rPr lang="en-US" dirty="0"/>
              <a:t>@FunctionalInterface</a:t>
            </a:r>
          </a:p>
          <a:p>
            <a:r>
              <a:rPr lang="en-US" dirty="0"/>
              <a:t>public interface </a:t>
            </a:r>
            <a:r>
              <a:rPr lang="en-US" dirty="0" err="1"/>
              <a:t>BiFunction</a:t>
            </a:r>
            <a:r>
              <a:rPr lang="en-US" dirty="0"/>
              <a:t>&lt;T, U, R&gt; {</a:t>
            </a:r>
          </a:p>
          <a:p>
            <a:r>
              <a:rPr lang="en-US" dirty="0"/>
              <a:t>    R apply(T </a:t>
            </a:r>
            <a:r>
              <a:rPr lang="en-US" dirty="0" err="1"/>
              <a:t>t</a:t>
            </a:r>
            <a:r>
              <a:rPr lang="en-US" dirty="0"/>
              <a:t>, U u);</a:t>
            </a:r>
          </a:p>
          <a:p>
            <a:r>
              <a:rPr lang="en-US" dirty="0"/>
              <a:t>}</a:t>
            </a:r>
          </a:p>
        </p:txBody>
      </p:sp>
      <p:sp>
        <p:nvSpPr>
          <p:cNvPr id="7" name="TextBox 6">
            <a:extLst>
              <a:ext uri="{FF2B5EF4-FFF2-40B4-BE49-F238E27FC236}">
                <a16:creationId xmlns:a16="http://schemas.microsoft.com/office/drawing/2014/main" id="{7BCD5499-55D5-CA07-500E-BBDFE8C19461}"/>
              </a:ext>
            </a:extLst>
          </p:cNvPr>
          <p:cNvSpPr txBox="1"/>
          <p:nvPr/>
        </p:nvSpPr>
        <p:spPr>
          <a:xfrm>
            <a:off x="116006" y="3247831"/>
            <a:ext cx="4981432" cy="4247317"/>
          </a:xfrm>
          <a:prstGeom prst="rect">
            <a:avLst/>
          </a:prstGeom>
          <a:noFill/>
        </p:spPr>
        <p:txBody>
          <a:bodyPr wrap="square">
            <a:spAutoFit/>
          </a:bodyPr>
          <a:lstStyle/>
          <a:p>
            <a:r>
              <a:rPr lang="en-US" dirty="0"/>
              <a:t>import </a:t>
            </a:r>
            <a:r>
              <a:rPr lang="en-US" dirty="0" err="1"/>
              <a:t>java.util.function.BiFunction</a:t>
            </a:r>
            <a:r>
              <a:rPr lang="en-US" dirty="0"/>
              <a:t>;</a:t>
            </a:r>
          </a:p>
          <a:p>
            <a:endParaRPr lang="en-US" dirty="0"/>
          </a:p>
          <a:p>
            <a:r>
              <a:rPr lang="en-US" dirty="0"/>
              <a:t>public class </a:t>
            </a:r>
            <a:r>
              <a:rPr lang="en-US" dirty="0" err="1"/>
              <a:t>BiFunctionExample</a:t>
            </a:r>
            <a:r>
              <a:rPr lang="en-US" dirty="0"/>
              <a:t> {</a:t>
            </a:r>
          </a:p>
          <a:p>
            <a:r>
              <a:rPr lang="en-US" dirty="0"/>
              <a:t>    public static void main(String[] </a:t>
            </a:r>
            <a:r>
              <a:rPr lang="en-US" dirty="0" err="1"/>
              <a:t>args</a:t>
            </a:r>
            <a:r>
              <a:rPr lang="en-US" dirty="0"/>
              <a:t>) {</a:t>
            </a:r>
          </a:p>
          <a:p>
            <a:r>
              <a:rPr lang="en-US" dirty="0"/>
              <a:t>        // Create a </a:t>
            </a:r>
            <a:r>
              <a:rPr lang="en-US" dirty="0" err="1"/>
              <a:t>BiFunction</a:t>
            </a:r>
            <a:r>
              <a:rPr lang="en-US" dirty="0"/>
              <a:t> that multiplies two integers</a:t>
            </a:r>
          </a:p>
          <a:p>
            <a:r>
              <a:rPr lang="en-US" dirty="0"/>
              <a:t>        </a:t>
            </a:r>
            <a:r>
              <a:rPr lang="en-US" dirty="0" err="1"/>
              <a:t>BiFunction</a:t>
            </a:r>
            <a:r>
              <a:rPr lang="en-US" dirty="0"/>
              <a:t>&lt;Integer, Integer, Integer&gt; multiply = (a, b) -&gt; a * b;</a:t>
            </a:r>
          </a:p>
          <a:p>
            <a:endParaRPr lang="en-US" dirty="0"/>
          </a:p>
          <a:p>
            <a:r>
              <a:rPr lang="en-US" dirty="0"/>
              <a:t>        // Use the </a:t>
            </a:r>
            <a:r>
              <a:rPr lang="en-US" dirty="0" err="1"/>
              <a:t>BiFunction</a:t>
            </a:r>
            <a:endParaRPr lang="en-US" dirty="0"/>
          </a:p>
          <a:p>
            <a:r>
              <a:rPr lang="en-US" dirty="0"/>
              <a:t>        int result = </a:t>
            </a:r>
            <a:r>
              <a:rPr lang="en-US" dirty="0" err="1"/>
              <a:t>multiply.apply</a:t>
            </a:r>
            <a:r>
              <a:rPr lang="en-US" dirty="0"/>
              <a:t>(3, 4);</a:t>
            </a:r>
          </a:p>
          <a:p>
            <a:r>
              <a:rPr lang="en-US" dirty="0"/>
              <a:t>        </a:t>
            </a:r>
            <a:r>
              <a:rPr lang="en-US" dirty="0" err="1"/>
              <a:t>System.out.println</a:t>
            </a:r>
            <a:r>
              <a:rPr lang="en-US" dirty="0"/>
              <a:t>("Result of </a:t>
            </a:r>
            <a:r>
              <a:rPr lang="en-US" dirty="0" err="1"/>
              <a:t>multiply.apply</a:t>
            </a:r>
            <a:r>
              <a:rPr lang="en-US" dirty="0"/>
              <a:t>(3, 4): " + result); // Output: 12</a:t>
            </a:r>
          </a:p>
          <a:p>
            <a:r>
              <a:rPr lang="en-US" dirty="0"/>
              <a:t>    }</a:t>
            </a:r>
          </a:p>
          <a:p>
            <a:r>
              <a:rPr lang="en-US" dirty="0"/>
              <a:t>}</a:t>
            </a:r>
          </a:p>
        </p:txBody>
      </p:sp>
      <p:sp>
        <p:nvSpPr>
          <p:cNvPr id="9" name="TextBox 8">
            <a:extLst>
              <a:ext uri="{FF2B5EF4-FFF2-40B4-BE49-F238E27FC236}">
                <a16:creationId xmlns:a16="http://schemas.microsoft.com/office/drawing/2014/main" id="{987BC1DE-F3C1-DA8E-B63D-36B5B8FFA061}"/>
              </a:ext>
            </a:extLst>
          </p:cNvPr>
          <p:cNvSpPr txBox="1"/>
          <p:nvPr/>
        </p:nvSpPr>
        <p:spPr>
          <a:xfrm>
            <a:off x="5579662" y="294485"/>
            <a:ext cx="2464558" cy="2498120"/>
          </a:xfrm>
          <a:prstGeom prst="rect">
            <a:avLst/>
          </a:prstGeom>
          <a:noFill/>
        </p:spPr>
        <p:txBody>
          <a:bodyPr wrap="square">
            <a:spAutoFit/>
          </a:bodyPr>
          <a:lstStyle/>
          <a:p>
            <a:pPr algn="l">
              <a:spcBef>
                <a:spcPts val="1650"/>
              </a:spcBef>
              <a:buNone/>
            </a:pPr>
            <a:r>
              <a:rPr lang="en-US" b="0" i="0" dirty="0">
                <a:solidFill>
                  <a:srgbClr val="3A3A3A"/>
                </a:solidFill>
                <a:effectLst/>
                <a:latin typeface="Roboto" panose="02000000000000000000" pitchFamily="2" charset="0"/>
              </a:rPr>
              <a:t>Use Cases: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Merging two values (for instance, keys and values in maps).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Functional-style computation with two inputs.</a:t>
            </a:r>
          </a:p>
        </p:txBody>
      </p:sp>
    </p:spTree>
    <p:extLst>
      <p:ext uri="{BB962C8B-B14F-4D97-AF65-F5344CB8AC3E}">
        <p14:creationId xmlns:p14="http://schemas.microsoft.com/office/powerpoint/2010/main" val="18976342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6905-7CCD-FCB2-1A7E-E8BB36BCA0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01D2D7-70E8-93CB-F860-D1B743B96C7D}"/>
              </a:ext>
            </a:extLst>
          </p:cNvPr>
          <p:cNvSpPr txBox="1"/>
          <p:nvPr/>
        </p:nvSpPr>
        <p:spPr>
          <a:xfrm>
            <a:off x="2477069" y="1445971"/>
            <a:ext cx="4954136" cy="397288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82. How does the </a:t>
            </a:r>
            <a:r>
              <a:rPr lang="en-US" b="0" i="0" dirty="0" err="1">
                <a:solidFill>
                  <a:srgbClr val="272C37"/>
                </a:solidFill>
                <a:effectLst/>
                <a:latin typeface="Roboto" panose="02000000000000000000" pitchFamily="2" charset="0"/>
              </a:rPr>
              <a:t>flatMap</a:t>
            </a:r>
            <a:r>
              <a:rPr lang="en-US" b="0" i="0" dirty="0">
                <a:solidFill>
                  <a:srgbClr val="272C37"/>
                </a:solidFill>
                <a:effectLst/>
                <a:latin typeface="Roboto" panose="02000000000000000000" pitchFamily="2" charset="0"/>
              </a:rPr>
              <a:t>() method work in streams?</a:t>
            </a:r>
          </a:p>
          <a:p>
            <a:pPr algn="just">
              <a:lnSpc>
                <a:spcPts val="2100"/>
              </a:lnSpc>
              <a:spcBef>
                <a:spcPts val="1650"/>
              </a:spcBef>
              <a:buNone/>
            </a:pPr>
            <a:r>
              <a:rPr lang="en-US" b="0" i="0" dirty="0">
                <a:solidFill>
                  <a:srgbClr val="3A3A3A"/>
                </a:solidFill>
                <a:effectLst/>
                <a:latin typeface="Roboto" panose="02000000000000000000" pitchFamily="2" charset="0"/>
              </a:rPr>
              <a:t>The Java Streams </a:t>
            </a:r>
            <a:r>
              <a:rPr lang="en-US" b="0" i="0" dirty="0" err="1">
                <a:solidFill>
                  <a:srgbClr val="3A3A3A"/>
                </a:solidFill>
                <a:effectLst/>
                <a:latin typeface="Roboto" panose="02000000000000000000" pitchFamily="2" charset="0"/>
              </a:rPr>
              <a:t>flatMap</a:t>
            </a:r>
            <a:r>
              <a:rPr lang="en-US" b="0" i="0" dirty="0">
                <a:solidFill>
                  <a:srgbClr val="3A3A3A"/>
                </a:solidFill>
                <a:effectLst/>
                <a:latin typeface="Roboto" panose="02000000000000000000" pitchFamily="2" charset="0"/>
              </a:rPr>
              <a:t>() method is utilized to flatten hierarchical structures, often by transforming a stream of collections (e.g., lists) into a single stream of their individual elements.</a:t>
            </a:r>
          </a:p>
          <a:p>
            <a:pPr algn="l">
              <a:spcBef>
                <a:spcPts val="1650"/>
              </a:spcBef>
              <a:buNone/>
            </a:pPr>
            <a:r>
              <a:rPr lang="en-US" b="0" i="0" dirty="0">
                <a:solidFill>
                  <a:srgbClr val="3A3A3A"/>
                </a:solidFill>
                <a:effectLst/>
                <a:latin typeface="Roboto" panose="02000000000000000000" pitchFamily="2" charset="0"/>
              </a:rPr>
              <a:t>Behavior:</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Maps every element to a Stream.</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Flattens the outcome into one Stream.</a:t>
            </a:r>
          </a:p>
        </p:txBody>
      </p:sp>
    </p:spTree>
    <p:extLst>
      <p:ext uri="{BB962C8B-B14F-4D97-AF65-F5344CB8AC3E}">
        <p14:creationId xmlns:p14="http://schemas.microsoft.com/office/powerpoint/2010/main" val="1654257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6F266-AAFE-19DB-00DC-19E75491FCA9}"/>
            </a:ext>
          </a:extLst>
        </p:cNvPr>
        <p:cNvGrpSpPr/>
        <p:nvPr/>
      </p:nvGrpSpPr>
      <p:grpSpPr>
        <a:xfrm>
          <a:off x="0" y="0"/>
          <a:ext cx="0" cy="0"/>
          <a:chOff x="0" y="0"/>
          <a:chExt cx="0" cy="0"/>
        </a:xfrm>
      </p:grpSpPr>
    </p:spTree>
    <p:extLst>
      <p:ext uri="{BB962C8B-B14F-4D97-AF65-F5344CB8AC3E}">
        <p14:creationId xmlns:p14="http://schemas.microsoft.com/office/powerpoint/2010/main" val="7932197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D1BF-A172-3FF0-903F-2AD081E8C22D}"/>
            </a:ext>
          </a:extLst>
        </p:cNvPr>
        <p:cNvGrpSpPr/>
        <p:nvPr/>
      </p:nvGrpSpPr>
      <p:grpSpPr>
        <a:xfrm>
          <a:off x="0" y="0"/>
          <a:ext cx="0" cy="0"/>
          <a:chOff x="0" y="0"/>
          <a:chExt cx="0" cy="0"/>
        </a:xfrm>
      </p:grpSpPr>
    </p:spTree>
    <p:extLst>
      <p:ext uri="{BB962C8B-B14F-4D97-AF65-F5344CB8AC3E}">
        <p14:creationId xmlns:p14="http://schemas.microsoft.com/office/powerpoint/2010/main" val="3454037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0E42-E71B-A766-657B-A4466062A4CE}"/>
            </a:ext>
          </a:extLst>
        </p:cNvPr>
        <p:cNvGrpSpPr/>
        <p:nvPr/>
      </p:nvGrpSpPr>
      <p:grpSpPr>
        <a:xfrm>
          <a:off x="0" y="0"/>
          <a:ext cx="0" cy="0"/>
          <a:chOff x="0" y="0"/>
          <a:chExt cx="0" cy="0"/>
        </a:xfrm>
      </p:grpSpPr>
    </p:spTree>
    <p:extLst>
      <p:ext uri="{BB962C8B-B14F-4D97-AF65-F5344CB8AC3E}">
        <p14:creationId xmlns:p14="http://schemas.microsoft.com/office/powerpoint/2010/main" val="10158201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62-935A-C6CA-3B98-1DCA176402AB}"/>
            </a:ext>
          </a:extLst>
        </p:cNvPr>
        <p:cNvGrpSpPr/>
        <p:nvPr/>
      </p:nvGrpSpPr>
      <p:grpSpPr>
        <a:xfrm>
          <a:off x="0" y="0"/>
          <a:ext cx="0" cy="0"/>
          <a:chOff x="0" y="0"/>
          <a:chExt cx="0" cy="0"/>
        </a:xfrm>
      </p:grpSpPr>
    </p:spTree>
    <p:extLst>
      <p:ext uri="{BB962C8B-B14F-4D97-AF65-F5344CB8AC3E}">
        <p14:creationId xmlns:p14="http://schemas.microsoft.com/office/powerpoint/2010/main" val="18148183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3D3E-7A80-5937-D445-0BC611F6D275}"/>
            </a:ext>
          </a:extLst>
        </p:cNvPr>
        <p:cNvGrpSpPr/>
        <p:nvPr/>
      </p:nvGrpSpPr>
      <p:grpSpPr>
        <a:xfrm>
          <a:off x="0" y="0"/>
          <a:ext cx="0" cy="0"/>
          <a:chOff x="0" y="0"/>
          <a:chExt cx="0" cy="0"/>
        </a:xfrm>
      </p:grpSpPr>
    </p:spTree>
    <p:extLst>
      <p:ext uri="{BB962C8B-B14F-4D97-AF65-F5344CB8AC3E}">
        <p14:creationId xmlns:p14="http://schemas.microsoft.com/office/powerpoint/2010/main" val="23590527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9288-3934-3EE8-8DA0-8B55FB44D752}"/>
            </a:ext>
          </a:extLst>
        </p:cNvPr>
        <p:cNvGrpSpPr/>
        <p:nvPr/>
      </p:nvGrpSpPr>
      <p:grpSpPr>
        <a:xfrm>
          <a:off x="0" y="0"/>
          <a:ext cx="0" cy="0"/>
          <a:chOff x="0" y="0"/>
          <a:chExt cx="0" cy="0"/>
        </a:xfrm>
      </p:grpSpPr>
    </p:spTree>
    <p:extLst>
      <p:ext uri="{BB962C8B-B14F-4D97-AF65-F5344CB8AC3E}">
        <p14:creationId xmlns:p14="http://schemas.microsoft.com/office/powerpoint/2010/main" val="29035611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4358-7458-9EBA-410C-00B1A20E7B47}"/>
            </a:ext>
          </a:extLst>
        </p:cNvPr>
        <p:cNvGrpSpPr/>
        <p:nvPr/>
      </p:nvGrpSpPr>
      <p:grpSpPr>
        <a:xfrm>
          <a:off x="0" y="0"/>
          <a:ext cx="0" cy="0"/>
          <a:chOff x="0" y="0"/>
          <a:chExt cx="0" cy="0"/>
        </a:xfrm>
      </p:grpSpPr>
    </p:spTree>
    <p:extLst>
      <p:ext uri="{BB962C8B-B14F-4D97-AF65-F5344CB8AC3E}">
        <p14:creationId xmlns:p14="http://schemas.microsoft.com/office/powerpoint/2010/main" val="18827607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74C8-E1F0-54A0-7DB7-A4F186252A1E}"/>
            </a:ext>
          </a:extLst>
        </p:cNvPr>
        <p:cNvGrpSpPr/>
        <p:nvPr/>
      </p:nvGrpSpPr>
      <p:grpSpPr>
        <a:xfrm>
          <a:off x="0" y="0"/>
          <a:ext cx="0" cy="0"/>
          <a:chOff x="0" y="0"/>
          <a:chExt cx="0" cy="0"/>
        </a:xfrm>
      </p:grpSpPr>
    </p:spTree>
    <p:extLst>
      <p:ext uri="{BB962C8B-B14F-4D97-AF65-F5344CB8AC3E}">
        <p14:creationId xmlns:p14="http://schemas.microsoft.com/office/powerpoint/2010/main" val="2227413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BA5F-0737-1C9E-B34A-C8D0C6CC18C7}"/>
            </a:ext>
          </a:extLst>
        </p:cNvPr>
        <p:cNvGrpSpPr/>
        <p:nvPr/>
      </p:nvGrpSpPr>
      <p:grpSpPr>
        <a:xfrm>
          <a:off x="0" y="0"/>
          <a:ext cx="0" cy="0"/>
          <a:chOff x="0" y="0"/>
          <a:chExt cx="0" cy="0"/>
        </a:xfrm>
      </p:grpSpPr>
    </p:spTree>
    <p:extLst>
      <p:ext uri="{BB962C8B-B14F-4D97-AF65-F5344CB8AC3E}">
        <p14:creationId xmlns:p14="http://schemas.microsoft.com/office/powerpoint/2010/main" val="7536260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7587-E788-2173-9FCE-ABF5926BAC41}"/>
            </a:ext>
          </a:extLst>
        </p:cNvPr>
        <p:cNvGrpSpPr/>
        <p:nvPr/>
      </p:nvGrpSpPr>
      <p:grpSpPr>
        <a:xfrm>
          <a:off x="0" y="0"/>
          <a:ext cx="0" cy="0"/>
          <a:chOff x="0" y="0"/>
          <a:chExt cx="0" cy="0"/>
        </a:xfrm>
      </p:grpSpPr>
    </p:spTree>
    <p:extLst>
      <p:ext uri="{BB962C8B-B14F-4D97-AF65-F5344CB8AC3E}">
        <p14:creationId xmlns:p14="http://schemas.microsoft.com/office/powerpoint/2010/main" val="17286601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10DC-3F44-09D6-0EF4-E117C7AFB14D}"/>
            </a:ext>
          </a:extLst>
        </p:cNvPr>
        <p:cNvGrpSpPr/>
        <p:nvPr/>
      </p:nvGrpSpPr>
      <p:grpSpPr>
        <a:xfrm>
          <a:off x="0" y="0"/>
          <a:ext cx="0" cy="0"/>
          <a:chOff x="0" y="0"/>
          <a:chExt cx="0" cy="0"/>
        </a:xfrm>
      </p:grpSpPr>
    </p:spTree>
    <p:extLst>
      <p:ext uri="{BB962C8B-B14F-4D97-AF65-F5344CB8AC3E}">
        <p14:creationId xmlns:p14="http://schemas.microsoft.com/office/powerpoint/2010/main" val="20082233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B0F-A5F4-4582-FC01-5E689CFFF87F}"/>
            </a:ext>
          </a:extLst>
        </p:cNvPr>
        <p:cNvGrpSpPr/>
        <p:nvPr/>
      </p:nvGrpSpPr>
      <p:grpSpPr>
        <a:xfrm>
          <a:off x="0" y="0"/>
          <a:ext cx="0" cy="0"/>
          <a:chOff x="0" y="0"/>
          <a:chExt cx="0" cy="0"/>
        </a:xfrm>
      </p:grpSpPr>
    </p:spTree>
    <p:extLst>
      <p:ext uri="{BB962C8B-B14F-4D97-AF65-F5344CB8AC3E}">
        <p14:creationId xmlns:p14="http://schemas.microsoft.com/office/powerpoint/2010/main" val="25299871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4FF4-E87B-CEE7-4340-4A8CF2BFB654}"/>
            </a:ext>
          </a:extLst>
        </p:cNvPr>
        <p:cNvGrpSpPr/>
        <p:nvPr/>
      </p:nvGrpSpPr>
      <p:grpSpPr>
        <a:xfrm>
          <a:off x="0" y="0"/>
          <a:ext cx="0" cy="0"/>
          <a:chOff x="0" y="0"/>
          <a:chExt cx="0" cy="0"/>
        </a:xfrm>
      </p:grpSpPr>
    </p:spTree>
    <p:extLst>
      <p:ext uri="{BB962C8B-B14F-4D97-AF65-F5344CB8AC3E}">
        <p14:creationId xmlns:p14="http://schemas.microsoft.com/office/powerpoint/2010/main" val="119127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E2-575B-DE05-1E7C-0285A3ECC8D1}"/>
            </a:ext>
          </a:extLst>
        </p:cNvPr>
        <p:cNvGrpSpPr/>
        <p:nvPr/>
      </p:nvGrpSpPr>
      <p:grpSpPr>
        <a:xfrm>
          <a:off x="0" y="0"/>
          <a:ext cx="0" cy="0"/>
          <a:chOff x="0" y="0"/>
          <a:chExt cx="0" cy="0"/>
        </a:xfrm>
      </p:grpSpPr>
    </p:spTree>
    <p:extLst>
      <p:ext uri="{BB962C8B-B14F-4D97-AF65-F5344CB8AC3E}">
        <p14:creationId xmlns:p14="http://schemas.microsoft.com/office/powerpoint/2010/main" val="2020373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7C7E-2D31-F5DA-2FCC-908AF031C200}"/>
            </a:ext>
          </a:extLst>
        </p:cNvPr>
        <p:cNvGrpSpPr/>
        <p:nvPr/>
      </p:nvGrpSpPr>
      <p:grpSpPr>
        <a:xfrm>
          <a:off x="0" y="0"/>
          <a:ext cx="0" cy="0"/>
          <a:chOff x="0" y="0"/>
          <a:chExt cx="0" cy="0"/>
        </a:xfrm>
      </p:grpSpPr>
    </p:spTree>
    <p:extLst>
      <p:ext uri="{BB962C8B-B14F-4D97-AF65-F5344CB8AC3E}">
        <p14:creationId xmlns:p14="http://schemas.microsoft.com/office/powerpoint/2010/main" val="40490989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CDD-1A76-AF1A-CCB5-9A78AF6F8424}"/>
            </a:ext>
          </a:extLst>
        </p:cNvPr>
        <p:cNvGrpSpPr/>
        <p:nvPr/>
      </p:nvGrpSpPr>
      <p:grpSpPr>
        <a:xfrm>
          <a:off x="0" y="0"/>
          <a:ext cx="0" cy="0"/>
          <a:chOff x="0" y="0"/>
          <a:chExt cx="0" cy="0"/>
        </a:xfrm>
      </p:grpSpPr>
    </p:spTree>
    <p:extLst>
      <p:ext uri="{BB962C8B-B14F-4D97-AF65-F5344CB8AC3E}">
        <p14:creationId xmlns:p14="http://schemas.microsoft.com/office/powerpoint/2010/main" val="39098925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685A-5937-3C52-2F3B-74955B1FF06D}"/>
            </a:ext>
          </a:extLst>
        </p:cNvPr>
        <p:cNvGrpSpPr/>
        <p:nvPr/>
      </p:nvGrpSpPr>
      <p:grpSpPr>
        <a:xfrm>
          <a:off x="0" y="0"/>
          <a:ext cx="0" cy="0"/>
          <a:chOff x="0" y="0"/>
          <a:chExt cx="0" cy="0"/>
        </a:xfrm>
      </p:grpSpPr>
    </p:spTree>
    <p:extLst>
      <p:ext uri="{BB962C8B-B14F-4D97-AF65-F5344CB8AC3E}">
        <p14:creationId xmlns:p14="http://schemas.microsoft.com/office/powerpoint/2010/main" val="2945056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74E-5113-4DFD-160C-4238D2609F56}"/>
            </a:ext>
          </a:extLst>
        </p:cNvPr>
        <p:cNvGrpSpPr/>
        <p:nvPr/>
      </p:nvGrpSpPr>
      <p:grpSpPr>
        <a:xfrm>
          <a:off x="0" y="0"/>
          <a:ext cx="0" cy="0"/>
          <a:chOff x="0" y="0"/>
          <a:chExt cx="0" cy="0"/>
        </a:xfrm>
      </p:grpSpPr>
    </p:spTree>
    <p:extLst>
      <p:ext uri="{BB962C8B-B14F-4D97-AF65-F5344CB8AC3E}">
        <p14:creationId xmlns:p14="http://schemas.microsoft.com/office/powerpoint/2010/main" val="9688610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1383-6B34-E468-1316-F7BB6A02D075}"/>
            </a:ext>
          </a:extLst>
        </p:cNvPr>
        <p:cNvGrpSpPr/>
        <p:nvPr/>
      </p:nvGrpSpPr>
      <p:grpSpPr>
        <a:xfrm>
          <a:off x="0" y="0"/>
          <a:ext cx="0" cy="0"/>
          <a:chOff x="0" y="0"/>
          <a:chExt cx="0" cy="0"/>
        </a:xfrm>
      </p:grpSpPr>
    </p:spTree>
    <p:extLst>
      <p:ext uri="{BB962C8B-B14F-4D97-AF65-F5344CB8AC3E}">
        <p14:creationId xmlns:p14="http://schemas.microsoft.com/office/powerpoint/2010/main" val="12100757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463-FC14-8CA8-6D2C-26A46C3531EB}"/>
            </a:ext>
          </a:extLst>
        </p:cNvPr>
        <p:cNvGrpSpPr/>
        <p:nvPr/>
      </p:nvGrpSpPr>
      <p:grpSpPr>
        <a:xfrm>
          <a:off x="0" y="0"/>
          <a:ext cx="0" cy="0"/>
          <a:chOff x="0" y="0"/>
          <a:chExt cx="0" cy="0"/>
        </a:xfrm>
      </p:grpSpPr>
    </p:spTree>
    <p:extLst>
      <p:ext uri="{BB962C8B-B14F-4D97-AF65-F5344CB8AC3E}">
        <p14:creationId xmlns:p14="http://schemas.microsoft.com/office/powerpoint/2010/main" val="3926847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45A3-7F9A-3D1E-9952-CB829B42141B}"/>
            </a:ext>
          </a:extLst>
        </p:cNvPr>
        <p:cNvGrpSpPr/>
        <p:nvPr/>
      </p:nvGrpSpPr>
      <p:grpSpPr>
        <a:xfrm>
          <a:off x="0" y="0"/>
          <a:ext cx="0" cy="0"/>
          <a:chOff x="0" y="0"/>
          <a:chExt cx="0" cy="0"/>
        </a:xfrm>
      </p:grpSpPr>
    </p:spTree>
    <p:extLst>
      <p:ext uri="{BB962C8B-B14F-4D97-AF65-F5344CB8AC3E}">
        <p14:creationId xmlns:p14="http://schemas.microsoft.com/office/powerpoint/2010/main" val="19777060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D669-6DBE-F77D-D40F-7C6D96C5C19D}"/>
            </a:ext>
          </a:extLst>
        </p:cNvPr>
        <p:cNvGrpSpPr/>
        <p:nvPr/>
      </p:nvGrpSpPr>
      <p:grpSpPr>
        <a:xfrm>
          <a:off x="0" y="0"/>
          <a:ext cx="0" cy="0"/>
          <a:chOff x="0" y="0"/>
          <a:chExt cx="0" cy="0"/>
        </a:xfrm>
      </p:grpSpPr>
    </p:spTree>
    <p:extLst>
      <p:ext uri="{BB962C8B-B14F-4D97-AF65-F5344CB8AC3E}">
        <p14:creationId xmlns:p14="http://schemas.microsoft.com/office/powerpoint/2010/main" val="17367196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5A9-6E07-F074-80C0-B8D1E6741BC1}"/>
            </a:ext>
          </a:extLst>
        </p:cNvPr>
        <p:cNvGrpSpPr/>
        <p:nvPr/>
      </p:nvGrpSpPr>
      <p:grpSpPr>
        <a:xfrm>
          <a:off x="0" y="0"/>
          <a:ext cx="0" cy="0"/>
          <a:chOff x="0" y="0"/>
          <a:chExt cx="0" cy="0"/>
        </a:xfrm>
      </p:grpSpPr>
    </p:spTree>
    <p:extLst>
      <p:ext uri="{BB962C8B-B14F-4D97-AF65-F5344CB8AC3E}">
        <p14:creationId xmlns:p14="http://schemas.microsoft.com/office/powerpoint/2010/main" val="38732128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65A7-8CF5-3E06-19C9-4886680E1B18}"/>
            </a:ext>
          </a:extLst>
        </p:cNvPr>
        <p:cNvGrpSpPr/>
        <p:nvPr/>
      </p:nvGrpSpPr>
      <p:grpSpPr>
        <a:xfrm>
          <a:off x="0" y="0"/>
          <a:ext cx="0" cy="0"/>
          <a:chOff x="0" y="0"/>
          <a:chExt cx="0" cy="0"/>
        </a:xfrm>
      </p:grpSpPr>
    </p:spTree>
    <p:extLst>
      <p:ext uri="{BB962C8B-B14F-4D97-AF65-F5344CB8AC3E}">
        <p14:creationId xmlns:p14="http://schemas.microsoft.com/office/powerpoint/2010/main" val="2313166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E8E8-9926-55CC-14D3-10A08BDEC077}"/>
            </a:ext>
          </a:extLst>
        </p:cNvPr>
        <p:cNvGrpSpPr/>
        <p:nvPr/>
      </p:nvGrpSpPr>
      <p:grpSpPr>
        <a:xfrm>
          <a:off x="0" y="0"/>
          <a:ext cx="0" cy="0"/>
          <a:chOff x="0" y="0"/>
          <a:chExt cx="0" cy="0"/>
        </a:xfrm>
      </p:grpSpPr>
    </p:spTree>
    <p:extLst>
      <p:ext uri="{BB962C8B-B14F-4D97-AF65-F5344CB8AC3E}">
        <p14:creationId xmlns:p14="http://schemas.microsoft.com/office/powerpoint/2010/main" val="15579513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8A96-9E7C-76A2-3967-042D834D1CF9}"/>
            </a:ext>
          </a:extLst>
        </p:cNvPr>
        <p:cNvGrpSpPr/>
        <p:nvPr/>
      </p:nvGrpSpPr>
      <p:grpSpPr>
        <a:xfrm>
          <a:off x="0" y="0"/>
          <a:ext cx="0" cy="0"/>
          <a:chOff x="0" y="0"/>
          <a:chExt cx="0" cy="0"/>
        </a:xfrm>
      </p:grpSpPr>
    </p:spTree>
    <p:extLst>
      <p:ext uri="{BB962C8B-B14F-4D97-AF65-F5344CB8AC3E}">
        <p14:creationId xmlns:p14="http://schemas.microsoft.com/office/powerpoint/2010/main" val="40308874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AA9C-307F-F804-9057-56F9D987339A}"/>
            </a:ext>
          </a:extLst>
        </p:cNvPr>
        <p:cNvGrpSpPr/>
        <p:nvPr/>
      </p:nvGrpSpPr>
      <p:grpSpPr>
        <a:xfrm>
          <a:off x="0" y="0"/>
          <a:ext cx="0" cy="0"/>
          <a:chOff x="0" y="0"/>
          <a:chExt cx="0" cy="0"/>
        </a:xfrm>
      </p:grpSpPr>
    </p:spTree>
    <p:extLst>
      <p:ext uri="{BB962C8B-B14F-4D97-AF65-F5344CB8AC3E}">
        <p14:creationId xmlns:p14="http://schemas.microsoft.com/office/powerpoint/2010/main" val="311662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378</TotalTime>
  <Words>12625</Words>
  <Application>Microsoft Office PowerPoint</Application>
  <PresentationFormat>A4 Paper (210x297 mm)</PresentationFormat>
  <Paragraphs>1218</Paragraphs>
  <Slides>104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104</vt:i4>
      </vt:variant>
    </vt:vector>
  </HeadingPairs>
  <TitlesOfParts>
    <vt:vector size="110" baseType="lpstr">
      <vt:lpstr>Aptos</vt:lpstr>
      <vt:lpstr>Aptos Display</vt:lpstr>
      <vt:lpstr>Arial</vt:lpstr>
      <vt:lpstr>Courier New</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66</cp:revision>
  <dcterms:created xsi:type="dcterms:W3CDTF">2026-02-06T21:19:28Z</dcterms:created>
  <dcterms:modified xsi:type="dcterms:W3CDTF">2026-02-23T23:00:49Z</dcterms:modified>
</cp:coreProperties>
</file>