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notesMasterIdLst>
    <p:notesMasterId r:id="rId2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478" r:id="rId15"/>
    <p:sldId id="481" r:id="rId16"/>
    <p:sldId id="480" r:id="rId17"/>
    <p:sldId id="479"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p:scale>
          <a:sx n="94" d="100"/>
          <a:sy n="94" d="100"/>
        </p:scale>
        <p:origin x="1133" y="-23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notesMaster" Target="notesMasters/notesMaster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presProps" Target="presProp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viewProps" Target="viewProp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theme" Target="theme/theme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B25EA9-0406-429C-A6BB-4B3D6646C25B}" type="datetimeFigureOut">
              <a:rPr lang="en-US" smtClean="0"/>
              <a:t>2/25/2026</a:t>
            </a:fld>
            <a:endParaRPr lang="en-US"/>
          </a:p>
        </p:txBody>
      </p:sp>
      <p:sp>
        <p:nvSpPr>
          <p:cNvPr id="4" name="Slide Image Placeholder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07EF44-048B-4709-BD68-B45E13BC5913}" type="slidenum">
              <a:rPr lang="en-US" smtClean="0"/>
              <a:t>‹#›</a:t>
            </a:fld>
            <a:endParaRPr lang="en-US"/>
          </a:p>
        </p:txBody>
      </p:sp>
    </p:spTree>
    <p:extLst>
      <p:ext uri="{BB962C8B-B14F-4D97-AF65-F5344CB8AC3E}">
        <p14:creationId xmlns:p14="http://schemas.microsoft.com/office/powerpoint/2010/main" val="2969853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07EF44-048B-4709-BD68-B45E13BC5913}" type="slidenum">
              <a:rPr lang="en-US" smtClean="0"/>
              <a:t>11</a:t>
            </a:fld>
            <a:endParaRPr lang="en-US"/>
          </a:p>
        </p:txBody>
      </p:sp>
    </p:spTree>
    <p:extLst>
      <p:ext uri="{BB962C8B-B14F-4D97-AF65-F5344CB8AC3E}">
        <p14:creationId xmlns:p14="http://schemas.microsoft.com/office/powerpoint/2010/main" val="969757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2/25/2026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difference-between-jdk-jre-and-jv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intellipaat.com/blog/tutorial/java-tutorial/data-types-in-java/"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hyperlink" Target="https://intellipaat.com/blog/pointers-in-java/"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hyperlink" Target="https://intellipaat.com/blog/tutorial/java-tutorial/encapsulation-in-java/" TargetMode="Externa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hyperlink" Target="https://intellipaat.com/blog/difference-between-method-overloading-and-method-overriding-in-java/" TargetMode="Externa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hyperlink" Target="https://intellipaat.com/blog/packages-in-java/" TargetMode="Externa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hyperlink" Target="https://intellipaat.com/blog/tutorial/java-tutorial/loops-in-java/" TargetMode="Externa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hyperlink" Target="https://intellipaat.com/blog/wrapper-classes-in-java/" TargetMode="Externa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hyperlink" Target="https://intellipaat.com/blog/stringbuilder-in-java/"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hyperlink" Target="https://intellipaat.com/blog/cpp-vector/" TargetMode="Externa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hyperlink" Target="https://intellipaat.com/blog/what-is-enumeration/" TargetMode="Externa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hyperlink" Target="https://intellipaat.com/blog/inheritance-in-java/" TargetMode="External"/><Relationship Id="rId2" Type="http://schemas.openxmlformats.org/officeDocument/2006/relationships/hyperlink" Target="https://intellipaat.com/blog/java-inner-class/"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hyperlink" Target="https://intellipaat.com/blog/tutorial/data-science-tutorial/command-line-tools/" TargetMode="External"/><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hyperlink" Target="https://intellipaat.com/blog/tutorial/java-tutorial/abstract-class-interface/" TargetMode="External"/><Relationship Id="rId2" Type="http://schemas.openxmlformats.org/officeDocument/2006/relationships/hyperlink" Target="https://intellipaat.com/blog/tutorial/java-tutorial/multithreading-in-java/" TargetMode="Externa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hyperlink" Target="https://intellipaat.com/blog/destructor-in-cpp/" TargetMode="Externa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hyperlink" Target="https://intellipaat.com/blog/volatile-keyword-in-java/" TargetMode="Externa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hyperlink" Target="https://intellipaat.com/blog/checked-vs-unchecked-exceptions-in-java/" TargetMode="Externa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stack-vs-heap/" TargetMode="Externa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hyperlink" Target="https://intellipaat.com/blog/serialization-in-java/" TargetMode="Externa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hyperlink" Target="https://intellipaat.com/blog/what-is-a-web-server/" TargetMode="External"/><Relationship Id="rId2" Type="http://schemas.openxmlformats.org/officeDocument/2006/relationships/hyperlink" Target="https://intellipaat.com/blog/how-do-servlets-work/" TargetMode="Externa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thread-life-cycle-in-java/" TargetMode="Externa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hyperlink" Target="https://intellipaat.com/blog/java-stream/" TargetMode="Externa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hyperlink" Target="https://intellipaat.com/blog/regular-expressions-in-java-java-regex/" TargetMode="Externa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hyperlink" Target="https://intellipaat.com/blog/what-issues-should-be-considered-when-overriding-equals-and-hashcode-in-java/" TargetMode="Externa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hyperlink" Target="https://intellipaat.com/blog/java-generics/" TargetMode="Externa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hyperlink" Target="https://intellipaat.com/blog/java-type-erasure/" TargetMode="Externa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hyperlink" Target="https://intellipaat.com/blog/tutorial/angular-tutorial/angularjs-dom/" TargetMode="Externa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3" Type="http://schemas.openxmlformats.org/officeDocument/2006/relationships/hyperlink" Target="https://intellipaat.com/blog/linkedlist-in-java/" TargetMode="External"/><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hyperlink" Target="https://intellipaat.com/blog/java-memory-management/" TargetMode="Externa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hyperlink" Target="https://intellipaat.com/blog/thread-synchronization-in-java/" TargetMode="Externa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hyperlink" Target="https://intellipaat.com/blog/java-microbenchmark-harness/" TargetMode="Externa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hyperlink" Target="https://intellipaat.com/blog/java-frameworks/" TargetMode="Externa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hyperlink" Target="https://intellipaat.com/blog/singleton-class-in-java/" TargetMode="Externa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hyperlink" Target="https://intellipaat.com/blog/java-developer-resume/" TargetMode="Externa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hyperlink" Target="https://intellipaat.com/blog/authors/ayaan-alam/" TargetMode="Externa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E535DE-BC82-6647-7749-E1164A41B33B}"/>
              </a:ext>
            </a:extLst>
          </p:cNvPr>
          <p:cNvSpPr txBox="1"/>
          <p:nvPr/>
        </p:nvSpPr>
        <p:spPr>
          <a:xfrm>
            <a:off x="374176" y="221000"/>
            <a:ext cx="9157648" cy="60811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is Java, and what makes it popular among developers?</a:t>
            </a:r>
          </a:p>
          <a:p>
            <a:pPr algn="just">
              <a:lnSpc>
                <a:spcPts val="2100"/>
              </a:lnSpc>
              <a:spcBef>
                <a:spcPts val="1650"/>
              </a:spcBef>
              <a:buNone/>
            </a:pPr>
            <a:r>
              <a:rPr lang="en-US" b="0" i="0" dirty="0">
                <a:solidFill>
                  <a:srgbClr val="3A3A3A"/>
                </a:solidFill>
                <a:effectLst/>
                <a:latin typeface="Roboto" panose="02000000000000000000" pitchFamily="2" charset="0"/>
              </a:rPr>
              <a:t>Java is a high-level, object-oriented programming language developed by James Gosling,  vice-president at Sun Microsystems. Java stands out due to unique features like platform independence, automatic memory and pointer management, object-oriented design, built-in multithreading. These features have made Java a popular choice among developers and software companies worldwide.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What makes the Java platform independent?</a:t>
            </a:r>
          </a:p>
          <a:p>
            <a:pPr algn="just">
              <a:lnSpc>
                <a:spcPts val="2100"/>
              </a:lnSpc>
              <a:spcBef>
                <a:spcPts val="1650"/>
              </a:spcBef>
              <a:buNone/>
            </a:pPr>
            <a:r>
              <a:rPr lang="en-US" b="0" i="0" dirty="0">
                <a:solidFill>
                  <a:srgbClr val="3A3A3A"/>
                </a:solidFill>
                <a:effectLst/>
                <a:latin typeface="Roboto" panose="02000000000000000000" pitchFamily="2" charset="0"/>
              </a:rPr>
              <a:t>Java’s ‘Write Once, Run Anywhere’ feature allows it to be platform-independent. Once a Java program is written, it can run on any machine or operating system with Java installed.</a:t>
            </a:r>
          </a:p>
          <a:p>
            <a:pPr algn="just">
              <a:lnSpc>
                <a:spcPts val="2100"/>
              </a:lnSpc>
              <a:spcBef>
                <a:spcPts val="750"/>
              </a:spcBef>
              <a:buNone/>
            </a:pPr>
            <a:r>
              <a:rPr lang="en-US" b="0" i="0" dirty="0">
                <a:solidFill>
                  <a:srgbClr val="3A3A3A"/>
                </a:solidFill>
                <a:effectLst/>
                <a:latin typeface="Roboto" panose="02000000000000000000" pitchFamily="2" charset="0"/>
              </a:rPr>
              <a:t>When the code is compiled, it is compiled into an intermediate language called Bytecode. Bytecode is not dependent on any operating system or hardware. Once the code is compiled into Bytecode, it is then executed by the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JVM is platform-dependent and needs to be installed on the platform where you want the code to run. Therefore, as long as the target platform has a JVM installed, it can run any code that is written in Java, making it platform-independent.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D9244D-12F7-F57C-73DA-97F438DFF7EC}"/>
              </a:ext>
            </a:extLst>
          </p:cNvPr>
          <p:cNvSpPr txBox="1"/>
          <p:nvPr/>
        </p:nvSpPr>
        <p:spPr>
          <a:xfrm>
            <a:off x="225187" y="114433"/>
            <a:ext cx="613466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Explain the differences between Java and C++</a:t>
            </a:r>
          </a:p>
        </p:txBody>
      </p:sp>
      <p:graphicFrame>
        <p:nvGraphicFramePr>
          <p:cNvPr id="4" name="Table 3">
            <a:extLst>
              <a:ext uri="{FF2B5EF4-FFF2-40B4-BE49-F238E27FC236}">
                <a16:creationId xmlns:a16="http://schemas.microsoft.com/office/drawing/2014/main" id="{ED214AFE-D74F-FA2E-C6F0-F5A71241E1CA}"/>
              </a:ext>
            </a:extLst>
          </p:cNvPr>
          <p:cNvGraphicFramePr>
            <a:graphicFrameLocks noGrp="1"/>
          </p:cNvGraphicFramePr>
          <p:nvPr>
            <p:extLst>
              <p:ext uri="{D42A27DB-BD31-4B8C-83A1-F6EECF244321}">
                <p14:modId xmlns:p14="http://schemas.microsoft.com/office/powerpoint/2010/main" val="2065513711"/>
              </p:ext>
            </p:extLst>
          </p:nvPr>
        </p:nvGraphicFramePr>
        <p:xfrm>
          <a:off x="0" y="476070"/>
          <a:ext cx="9794241" cy="6277195"/>
        </p:xfrm>
        <a:graphic>
          <a:graphicData uri="http://schemas.openxmlformats.org/drawingml/2006/table">
            <a:tbl>
              <a:tblPr/>
              <a:tblGrid>
                <a:gridCol w="3264747">
                  <a:extLst>
                    <a:ext uri="{9D8B030D-6E8A-4147-A177-3AD203B41FA5}">
                      <a16:colId xmlns:a16="http://schemas.microsoft.com/office/drawing/2014/main" val="611230221"/>
                    </a:ext>
                  </a:extLst>
                </a:gridCol>
                <a:gridCol w="3264747">
                  <a:extLst>
                    <a:ext uri="{9D8B030D-6E8A-4147-A177-3AD203B41FA5}">
                      <a16:colId xmlns:a16="http://schemas.microsoft.com/office/drawing/2014/main" val="236476390"/>
                    </a:ext>
                  </a:extLst>
                </a:gridCol>
                <a:gridCol w="3264747">
                  <a:extLst>
                    <a:ext uri="{9D8B030D-6E8A-4147-A177-3AD203B41FA5}">
                      <a16:colId xmlns:a16="http://schemas.microsoft.com/office/drawing/2014/main" val="3364931066"/>
                    </a:ext>
                  </a:extLst>
                </a:gridCol>
              </a:tblGrid>
              <a:tr h="283591">
                <a:tc>
                  <a:txBody>
                    <a:bodyPr/>
                    <a:lstStyle/>
                    <a:p>
                      <a:pPr algn="l" fontAlgn="t">
                        <a:buNone/>
                      </a:pPr>
                      <a:r>
                        <a:rPr lang="en-US" sz="1600" b="0">
                          <a:solidFill>
                            <a:srgbClr val="FFFFFF"/>
                          </a:solidFill>
                          <a:effectLst/>
                        </a:rPr>
                        <a:t>Feature</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l" fontAlgn="t">
                        <a:buNone/>
                      </a:pPr>
                      <a:r>
                        <a:rPr lang="en-US" sz="1600" b="0">
                          <a:solidFill>
                            <a:srgbClr val="FFFFFF"/>
                          </a:solidFill>
                          <a:effectLst/>
                        </a:rPr>
                        <a:t>Java</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l" fontAlgn="t">
                        <a:buNone/>
                      </a:pPr>
                      <a:r>
                        <a:rPr lang="en-US" sz="1600" b="0">
                          <a:solidFill>
                            <a:srgbClr val="FFFFFF"/>
                          </a:solidFill>
                          <a:effectLst/>
                        </a:rPr>
                        <a:t>C++</a:t>
                      </a:r>
                      <a:endParaRPr lang="en-US" sz="16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76600295"/>
                  </a:ext>
                </a:extLst>
              </a:tr>
              <a:tr h="1354181">
                <a:tc>
                  <a:txBody>
                    <a:bodyPr/>
                    <a:lstStyle/>
                    <a:p>
                      <a:pPr algn="l" fontAlgn="t">
                        <a:buNone/>
                      </a:pPr>
                      <a:r>
                        <a:rPr lang="en-US" sz="1600">
                          <a:effectLst/>
                        </a:rPr>
                        <a:t>Design Philosophy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More focus on portability and simplicity.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It is a software layer that provides the necessary environment to run Java programs. (Note: This point seems misplaced;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8067529"/>
                  </a:ext>
                </a:extLst>
              </a:tr>
              <a:tr h="1568299">
                <a:tc>
                  <a:txBody>
                    <a:bodyPr/>
                    <a:lstStyle/>
                    <a:p>
                      <a:pPr algn="l" fontAlgn="t">
                        <a:buNone/>
                      </a:pPr>
                      <a:r>
                        <a:rPr lang="en-US" sz="1600">
                          <a:effectLst/>
                        </a:rPr>
                        <a:t>Platform Independence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Platform independent, just needs the target platform’s JVM installed.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Consists of JVM, Java libraries like .util and .lang, and runtime tools like garbage collector. (Note: This also seems Java-specific;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5693926"/>
                  </a:ext>
                </a:extLst>
              </a:tr>
              <a:tr h="497709">
                <a:tc>
                  <a:txBody>
                    <a:bodyPr/>
                    <a:lstStyle/>
                    <a:p>
                      <a:pPr algn="l" fontAlgn="t">
                        <a:buNone/>
                      </a:pPr>
                      <a:r>
                        <a:rPr lang="en-US" sz="1600">
                          <a:effectLst/>
                        </a:rPr>
                        <a:t>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Automatic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Manual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92130132"/>
                  </a:ext>
                </a:extLst>
              </a:tr>
              <a:tr h="1140064">
                <a:tc>
                  <a:txBody>
                    <a:bodyPr/>
                    <a:lstStyle/>
                    <a:p>
                      <a:pPr algn="l" fontAlgn="t">
                        <a:buNone/>
                      </a:pPr>
                      <a:r>
                        <a:rPr lang="en-US" sz="1600">
                          <a:effectLst/>
                        </a:rPr>
                        <a:t>Execution Speed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It is slower since the code is first converted to bytecode and then interpreted/compiled by the JVM.</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Faster due to direct compilation to machine code.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9304644"/>
                  </a:ext>
                </a:extLst>
              </a:tr>
              <a:tr h="497709">
                <a:tc>
                  <a:txBody>
                    <a:bodyPr/>
                    <a:lstStyle/>
                    <a:p>
                      <a:pPr algn="l" fontAlgn="t">
                        <a:buNone/>
                      </a:pPr>
                      <a:r>
                        <a:rPr lang="en-US" sz="1600">
                          <a:effectLst/>
                        </a:rPr>
                        <a:t>Syntax Complexity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Simpler Syntax.</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Complex Syntax compared to Java.</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77786822"/>
                  </a:ext>
                </a:extLst>
              </a:tr>
              <a:tr h="925945">
                <a:tc>
                  <a:txBody>
                    <a:bodyPr/>
                    <a:lstStyle/>
                    <a:p>
                      <a:pPr algn="l" fontAlgn="t">
                        <a:buNone/>
                      </a:pPr>
                      <a:r>
                        <a:rPr lang="en-US" sz="1600">
                          <a:effectLst/>
                        </a:rPr>
                        <a:t>Application Domains</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a:effectLst/>
                        </a:rPr>
                        <a:t>Used in enterprise applications, web development, Android apps,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l" fontAlgn="t">
                        <a:buNone/>
                      </a:pPr>
                      <a:r>
                        <a:rPr lang="en-US" sz="1600" dirty="0">
                          <a:effectLst/>
                        </a:rPr>
                        <a:t>Used in system software, game development, embedded systems,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94847417"/>
                  </a:ext>
                </a:extLst>
              </a:tr>
            </a:tbl>
          </a:graphicData>
        </a:graphic>
      </p:graphicFrame>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69B671-4B28-039A-FA0C-0AC3C22A2DFA}"/>
              </a:ext>
            </a:extLst>
          </p:cNvPr>
          <p:cNvSpPr txBox="1"/>
          <p:nvPr/>
        </p:nvSpPr>
        <p:spPr>
          <a:xfrm>
            <a:off x="252484" y="250911"/>
            <a:ext cx="822277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What is the difference between JDK, JRE, and JVM in Java?</a:t>
            </a:r>
          </a:p>
        </p:txBody>
      </p:sp>
      <p:graphicFrame>
        <p:nvGraphicFramePr>
          <p:cNvPr id="4" name="Table 3">
            <a:extLst>
              <a:ext uri="{FF2B5EF4-FFF2-40B4-BE49-F238E27FC236}">
                <a16:creationId xmlns:a16="http://schemas.microsoft.com/office/drawing/2014/main" id="{651CD197-35DA-4C21-4C9B-66BAF6ACADCD}"/>
              </a:ext>
            </a:extLst>
          </p:cNvPr>
          <p:cNvGraphicFramePr>
            <a:graphicFrameLocks noGrp="1"/>
          </p:cNvGraphicFramePr>
          <p:nvPr>
            <p:extLst>
              <p:ext uri="{D42A27DB-BD31-4B8C-83A1-F6EECF244321}">
                <p14:modId xmlns:p14="http://schemas.microsoft.com/office/powerpoint/2010/main" val="1093853136"/>
              </p:ext>
            </p:extLst>
          </p:nvPr>
        </p:nvGraphicFramePr>
        <p:xfrm>
          <a:off x="503617" y="1019259"/>
          <a:ext cx="8543925" cy="2743200"/>
        </p:xfrm>
        <a:graphic>
          <a:graphicData uri="http://schemas.openxmlformats.org/drawingml/2006/table">
            <a:tbl>
              <a:tblPr/>
              <a:tblGrid>
                <a:gridCol w="2847975">
                  <a:extLst>
                    <a:ext uri="{9D8B030D-6E8A-4147-A177-3AD203B41FA5}">
                      <a16:colId xmlns:a16="http://schemas.microsoft.com/office/drawing/2014/main" val="3024203670"/>
                    </a:ext>
                  </a:extLst>
                </a:gridCol>
                <a:gridCol w="2847975">
                  <a:extLst>
                    <a:ext uri="{9D8B030D-6E8A-4147-A177-3AD203B41FA5}">
                      <a16:colId xmlns:a16="http://schemas.microsoft.com/office/drawing/2014/main" val="1394751381"/>
                    </a:ext>
                  </a:extLst>
                </a:gridCol>
                <a:gridCol w="2847975">
                  <a:extLst>
                    <a:ext uri="{9D8B030D-6E8A-4147-A177-3AD203B41FA5}">
                      <a16:colId xmlns:a16="http://schemas.microsoft.com/office/drawing/2014/main" val="2971432932"/>
                    </a:ext>
                  </a:extLst>
                </a:gridCol>
              </a:tblGrid>
              <a:tr h="0">
                <a:tc>
                  <a:txBody>
                    <a:bodyPr/>
                    <a:lstStyle/>
                    <a:p>
                      <a:pPr algn="ctr" fontAlgn="t">
                        <a:buNone/>
                      </a:pPr>
                      <a:r>
                        <a:rPr lang="en-US" b="0">
                          <a:solidFill>
                            <a:srgbClr val="FFFFFF"/>
                          </a:solidFill>
                          <a:effectLst/>
                        </a:rPr>
                        <a:t>JDK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JVM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974209314"/>
                  </a:ext>
                </a:extLst>
              </a:tr>
              <a:tr h="0">
                <a:tc>
                  <a:txBody>
                    <a:bodyPr/>
                    <a:lstStyle/>
                    <a:p>
                      <a:pPr fontAlgn="t">
                        <a:buNone/>
                      </a:pPr>
                      <a:r>
                        <a:rPr lang="en-US">
                          <a:effectLst/>
                        </a:rPr>
                        <a:t>It includes the full suite of tools required for developing Java applications.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is a software layer that provides the necessary environment to run Java programs.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JVM converts Java Code into Bytecode.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1430161"/>
                  </a:ext>
                </a:extLst>
              </a:tr>
              <a:tr h="0">
                <a:tc>
                  <a:txBody>
                    <a:bodyPr/>
                    <a:lstStyle/>
                    <a:p>
                      <a:pPr fontAlgn="t">
                        <a:buNone/>
                      </a:pPr>
                      <a:r>
                        <a:rPr lang="en-US">
                          <a:effectLst/>
                        </a:rPr>
                        <a:t>Includes JRE, JVM, Java compiler, java debugger, and javadoc.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consists of the JVM, java libraries like .util and .lang, and runtime tools like java collector.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It is platform dependent i.e., it has different versions of Mac, Linux, and Windows.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55766642"/>
                  </a:ext>
                </a:extLst>
              </a:tr>
            </a:tbl>
          </a:graphicData>
        </a:graphic>
      </p:graphicFrame>
      <p:sp>
        <p:nvSpPr>
          <p:cNvPr id="6" name="TextBox 5">
            <a:extLst>
              <a:ext uri="{FF2B5EF4-FFF2-40B4-BE49-F238E27FC236}">
                <a16:creationId xmlns:a16="http://schemas.microsoft.com/office/drawing/2014/main" id="{3D225C71-E947-85E4-6B10-C16B016160EF}"/>
              </a:ext>
            </a:extLst>
          </p:cNvPr>
          <p:cNvSpPr txBox="1"/>
          <p:nvPr/>
        </p:nvSpPr>
        <p:spPr>
          <a:xfrm>
            <a:off x="689212" y="4405785"/>
            <a:ext cx="8543924" cy="646331"/>
          </a:xfrm>
          <a:prstGeom prst="rect">
            <a:avLst/>
          </a:prstGeom>
          <a:noFill/>
        </p:spPr>
        <p:txBody>
          <a:bodyPr wrap="square">
            <a:spAutoFit/>
          </a:bodyPr>
          <a:lstStyle/>
          <a:p>
            <a:r>
              <a:rPr lang="en-US" b="0" i="1" dirty="0">
                <a:solidFill>
                  <a:srgbClr val="3A3A3A"/>
                </a:solidFill>
                <a:effectLst/>
                <a:latin typeface="Roboto" panose="02000000000000000000" pitchFamily="2" charset="0"/>
              </a:rPr>
              <a:t>If you want to learn more differences, explore our detailed guide on </a:t>
            </a:r>
            <a:r>
              <a:rPr lang="en-US" b="0" i="1" u="none" strike="noStrike" dirty="0">
                <a:solidFill>
                  <a:srgbClr val="0F5A9E"/>
                </a:solidFill>
                <a:effectLst/>
                <a:latin typeface="Roboto" panose="02000000000000000000" pitchFamily="2" charset="0"/>
                <a:hlinkClick r:id="rId2"/>
              </a:rPr>
              <a:t>JDK, JRE, and JVM</a:t>
            </a:r>
            <a:r>
              <a:rPr lang="en-US" b="0" i="1"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F8B06F-0340-8782-1362-32E9F60DC022}"/>
              </a:ext>
            </a:extLst>
          </p:cNvPr>
          <p:cNvSpPr txBox="1"/>
          <p:nvPr/>
        </p:nvSpPr>
        <p:spPr>
          <a:xfrm>
            <a:off x="335280" y="372600"/>
            <a:ext cx="9245600" cy="42344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Which features of the Java programming language make it popular?</a:t>
            </a:r>
          </a:p>
          <a:p>
            <a:pPr algn="just">
              <a:lnSpc>
                <a:spcPts val="2100"/>
              </a:lnSpc>
              <a:spcBef>
                <a:spcPts val="1650"/>
              </a:spcBef>
              <a:buNone/>
            </a:pPr>
            <a:r>
              <a:rPr lang="en-US" b="0" i="0" dirty="0">
                <a:solidFill>
                  <a:srgbClr val="3A3A3A"/>
                </a:solidFill>
                <a:effectLst/>
                <a:latin typeface="Roboto" panose="02000000000000000000" pitchFamily="2" charset="0"/>
              </a:rPr>
              <a:t>Java’s popularity lies in the features it offers. Here are the top features provided by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Object Oriented: Follows the principles of OOPS.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Simple and Easy to Learn: Doesn’t include complex features such as pointers, operator overloading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Explicit access to pointers is unavailable, making it less vulnerable.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Multi-threaded: Supports parallel computing.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Distributed Computing: Built-in support for remote method invocation and protocols like HTTP and FTP.</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78EF69-58DB-C787-B193-B5CCE99D3CF5}"/>
              </a:ext>
            </a:extLst>
          </p:cNvPr>
          <p:cNvSpPr txBox="1"/>
          <p:nvPr/>
        </p:nvSpPr>
        <p:spPr>
          <a:xfrm>
            <a:off x="266131" y="237264"/>
            <a:ext cx="8591265"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Explain the following syntax: public static void main(String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p:txBody>
      </p:sp>
      <p:pic>
        <p:nvPicPr>
          <p:cNvPr id="3076" name="Picture 4" descr="Public static void main">
            <a:extLst>
              <a:ext uri="{FF2B5EF4-FFF2-40B4-BE49-F238E27FC236}">
                <a16:creationId xmlns:a16="http://schemas.microsoft.com/office/drawing/2014/main" id="{34446741-8D1F-FCCD-89E9-556725F276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3549" y="598901"/>
            <a:ext cx="4376428" cy="20936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8E3FA5-7312-32C0-4436-D3E6C9D3973D}"/>
              </a:ext>
            </a:extLst>
          </p:cNvPr>
          <p:cNvSpPr txBox="1"/>
          <p:nvPr/>
        </p:nvSpPr>
        <p:spPr>
          <a:xfrm>
            <a:off x="182881" y="2692536"/>
            <a:ext cx="9513854" cy="373435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Every Java program needs a main method. When you compile a Java program, the JVM looks for the main method with the exact same syntax. Let’s break down the syntax to understand it better.</a:t>
            </a:r>
          </a:p>
          <a:p>
            <a:pPr algn="just">
              <a:lnSpc>
                <a:spcPts val="2100"/>
              </a:lnSpc>
              <a:spcBef>
                <a:spcPts val="750"/>
              </a:spcBef>
              <a:buNone/>
            </a:pPr>
            <a:r>
              <a:rPr lang="en-US" b="0" i="0" dirty="0">
                <a:solidFill>
                  <a:srgbClr val="3A3A3A"/>
                </a:solidFill>
                <a:effectLst/>
                <a:latin typeface="Roboto" panose="02000000000000000000" pitchFamily="2" charset="0"/>
              </a:rPr>
              <a:t>Public: The access specifier ‘public’ helps JVM access the method from outside the class.</a:t>
            </a:r>
          </a:p>
          <a:p>
            <a:pPr algn="just">
              <a:lnSpc>
                <a:spcPts val="2100"/>
              </a:lnSpc>
              <a:spcBef>
                <a:spcPts val="750"/>
              </a:spcBef>
              <a:buNone/>
            </a:pPr>
            <a:r>
              <a:rPr lang="en-US" b="0" i="0" dirty="0">
                <a:solidFill>
                  <a:srgbClr val="3A3A3A"/>
                </a:solidFill>
                <a:effectLst/>
                <a:latin typeface="Roboto" panose="02000000000000000000" pitchFamily="2" charset="0"/>
              </a:rPr>
              <a:t>Static: The static keyword helps to make a method or variable belong to a class, and not to an instance of a class, which is its object. This is useful because even if an object is instantiated from the class, the main method will remain global and not instantiate again, hence not confusing the JVM.</a:t>
            </a:r>
          </a:p>
          <a:p>
            <a:pPr algn="just">
              <a:lnSpc>
                <a:spcPts val="2100"/>
              </a:lnSpc>
              <a:spcBef>
                <a:spcPts val="750"/>
              </a:spcBef>
              <a:buNone/>
            </a:pPr>
            <a:r>
              <a:rPr lang="en-US" b="0" i="0" dirty="0">
                <a:solidFill>
                  <a:srgbClr val="3A3A3A"/>
                </a:solidFill>
                <a:effectLst/>
                <a:latin typeface="Roboto" panose="02000000000000000000" pitchFamily="2" charset="0"/>
              </a:rPr>
              <a:t>Void: This is a return type, and means the main method is not returning any value to the caller. In this case, it’s the JVM.</a:t>
            </a:r>
          </a:p>
          <a:p>
            <a:pPr algn="just">
              <a:lnSpc>
                <a:spcPts val="2100"/>
              </a:lnSpc>
              <a:spcBef>
                <a:spcPts val="750"/>
              </a:spcBef>
              <a:buNone/>
            </a:pPr>
            <a:r>
              <a:rPr lang="en-US" b="0" i="0" dirty="0">
                <a:solidFill>
                  <a:srgbClr val="3A3A3A"/>
                </a:solidFill>
                <a:effectLst/>
                <a:latin typeface="Roboto" panose="02000000000000000000" pitchFamily="2" charset="0"/>
              </a:rPr>
              <a:t>main(String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This is the main method, with parameters of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helps to catch any command line arguments passed while launching the program.</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07D1DA-1653-4363-1D60-031CFB6FC9BE}"/>
              </a:ext>
            </a:extLst>
          </p:cNvPr>
          <p:cNvSpPr txBox="1"/>
          <p:nvPr/>
        </p:nvSpPr>
        <p:spPr>
          <a:xfrm>
            <a:off x="216848" y="289609"/>
            <a:ext cx="8977952" cy="21390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the main method is not declared as static, what will happen?</a:t>
            </a:r>
          </a:p>
          <a:p>
            <a:pPr algn="just">
              <a:lnSpc>
                <a:spcPts val="2100"/>
              </a:lnSpc>
              <a:spcBef>
                <a:spcPts val="1650"/>
              </a:spcBef>
              <a:buNone/>
            </a:pPr>
            <a:r>
              <a:rPr lang="en-US" b="0" i="0" dirty="0">
                <a:solidFill>
                  <a:srgbClr val="3A3A3A"/>
                </a:solidFill>
                <a:effectLst/>
                <a:latin typeface="Roboto" panose="02000000000000000000" pitchFamily="2" charset="0"/>
              </a:rPr>
              <a:t>The program will compile successfully, but it will produce the following runtime error when executed.</a:t>
            </a:r>
          </a:p>
          <a:p>
            <a:pPr algn="just">
              <a:lnSpc>
                <a:spcPts val="2100"/>
              </a:lnSpc>
              <a:spcBef>
                <a:spcPts val="750"/>
              </a:spcBef>
              <a:buNone/>
            </a:pPr>
            <a:r>
              <a:rPr lang="en-US" b="0" i="0" dirty="0">
                <a:solidFill>
                  <a:srgbClr val="3A3A3A"/>
                </a:solidFill>
                <a:effectLst/>
                <a:latin typeface="Roboto" panose="02000000000000000000" pitchFamily="2" charset="0"/>
              </a:rPr>
              <a:t>Error: Main method is not static in class Example, please define the main method as:</a:t>
            </a:r>
          </a:p>
          <a:p>
            <a:pPr algn="l">
              <a:spcBef>
                <a:spcPts val="1125"/>
              </a:spcBef>
              <a:spcAft>
                <a:spcPts val="375"/>
              </a:spcAft>
              <a:buNone/>
            </a:pPr>
            <a:r>
              <a:rPr lang="en-US" b="0" i="0" dirty="0">
                <a:solidFill>
                  <a:srgbClr val="212529"/>
                </a:solidFill>
                <a:effectLst/>
                <a:latin typeface="Courier New" panose="02070309020205020404" pitchFamily="49" charset="0"/>
              </a:rPr>
              <a:t>public static void main(String[]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484271AB-3B50-E2FA-28D7-B0FCF25152E0}"/>
              </a:ext>
            </a:extLst>
          </p:cNvPr>
          <p:cNvSpPr txBox="1"/>
          <p:nvPr/>
        </p:nvSpPr>
        <p:spPr>
          <a:xfrm>
            <a:off x="216848" y="2940476"/>
            <a:ext cx="9435152" cy="24391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different kinds of data types in Java?</a:t>
            </a:r>
          </a:p>
          <a:p>
            <a:pPr algn="just">
              <a:lnSpc>
                <a:spcPts val="2100"/>
              </a:lnSpc>
              <a:spcBef>
                <a:spcPts val="1650"/>
              </a:spcBef>
              <a:buNone/>
            </a:pPr>
            <a:r>
              <a:rPr lang="en-US" b="0" i="0" dirty="0">
                <a:solidFill>
                  <a:srgbClr val="3A3A3A"/>
                </a:solidFill>
                <a:effectLst/>
                <a:latin typeface="Roboto" panose="02000000000000000000" pitchFamily="2" charset="0"/>
              </a:rPr>
              <a:t>Java primarily has two kind of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Primitive Data Types: These are the most basic data types, they have simple values and are not objects. Example: byte, short, int, etc.</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Non-Primitive Data types: These are also called reference types and are used to store references to objects in memory. Example: strings, arrays, classes, etc.</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50299B-7F47-AAD8-A5C7-751214E94B49}"/>
              </a:ext>
            </a:extLst>
          </p:cNvPr>
          <p:cNvSpPr txBox="1"/>
          <p:nvPr/>
        </p:nvSpPr>
        <p:spPr>
          <a:xfrm>
            <a:off x="244522" y="182394"/>
            <a:ext cx="9416955" cy="532453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Why can’t we use pointers in Java?</a:t>
            </a:r>
          </a:p>
          <a:p>
            <a:pPr algn="just">
              <a:lnSpc>
                <a:spcPts val="2100"/>
              </a:lnSpc>
              <a:spcBef>
                <a:spcPts val="1650"/>
              </a:spcBef>
              <a:buNone/>
            </a:pPr>
            <a:r>
              <a:rPr lang="en-US" b="0" i="0" dirty="0">
                <a:solidFill>
                  <a:srgbClr val="3A3A3A"/>
                </a:solidFill>
                <a:effectLst/>
                <a:latin typeface="Roboto" panose="02000000000000000000" pitchFamily="2" charset="0"/>
              </a:rPr>
              <a:t>Pointers allow direct access to memory, and is a key feature of C/C++, however Java’s design intentionally disallows direct access to memory and therefore it does not make </a:t>
            </a:r>
            <a:r>
              <a:rPr lang="en-US" b="0" i="0" u="none" strike="noStrike" dirty="0">
                <a:solidFill>
                  <a:srgbClr val="0F5A9E"/>
                </a:solidFill>
                <a:effectLst/>
                <a:latin typeface="Roboto" panose="02000000000000000000" pitchFamily="2" charset="0"/>
                <a:hlinkClick r:id="rId2"/>
              </a:rPr>
              <a:t>use of pointers</a:t>
            </a:r>
            <a:r>
              <a:rPr lang="en-US" b="0" i="0" dirty="0">
                <a:solidFill>
                  <a:srgbClr val="3A3A3A"/>
                </a:solidFill>
                <a:effectLst/>
                <a:latin typeface="Roboto" panose="02000000000000000000" pitchFamily="2" charset="0"/>
              </a:rPr>
              <a:t>. This design decision is to align Java to be a safe, simple, platform independent and secure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But why can the use of pointers be problematic? Let’s understand: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Safety: Direct access to memory via pointers can lead to a lot of vulnerabilities such as unauthorized memory access, memory corruption, overflows etc. Java automatically manages the memory, hence no room for human error.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Simplicity: Since java has automatic memory management, it is more simple to use.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Different systems have different memory layouts, Java abstracts the memory management, and manages it via JVM. Therefore the same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Restricted memory access and automatic memory management promotes better security.</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AF90C8-85B7-E61C-CAD6-33F6E6430CF4}"/>
              </a:ext>
            </a:extLst>
          </p:cNvPr>
          <p:cNvSpPr txBox="1"/>
          <p:nvPr/>
        </p:nvSpPr>
        <p:spPr>
          <a:xfrm>
            <a:off x="113580" y="55639"/>
            <a:ext cx="5169620" cy="6771084"/>
          </a:xfrm>
          <a:prstGeom prst="rect">
            <a:avLst/>
          </a:prstGeom>
          <a:noFill/>
          <a:ln>
            <a:solidFill>
              <a:schemeClr val="bg2">
                <a:lumMod val="75000"/>
              </a:schemeClr>
            </a:solidFill>
          </a:ln>
        </p:spPr>
        <p:txBody>
          <a:bodyPr wrap="square">
            <a:spAutoFit/>
          </a:bodyPr>
          <a:lstStyle/>
          <a:p>
            <a:r>
              <a:rPr lang="en-US" sz="1400" b="1" dirty="0"/>
              <a:t>10. What are Classes and Objects in Java?</a:t>
            </a:r>
          </a:p>
          <a:p>
            <a:r>
              <a:rPr lang="en-US" sz="1400" dirty="0"/>
              <a:t>A </a:t>
            </a:r>
            <a:r>
              <a:rPr lang="en-US" sz="1400" b="1" dirty="0"/>
              <a:t>class</a:t>
            </a:r>
            <a:r>
              <a:rPr lang="en-US" sz="1400" dirty="0"/>
              <a:t> is the blueprint or template for creating an object, and an </a:t>
            </a:r>
            <a:r>
              <a:rPr lang="en-US" sz="1400" b="1" dirty="0"/>
              <a:t>object</a:t>
            </a:r>
            <a:r>
              <a:rPr lang="en-US" sz="1400" dirty="0"/>
              <a:t> is an instance of a class with all its properties.</a:t>
            </a:r>
          </a:p>
          <a:p>
            <a:r>
              <a:rPr lang="en-US" sz="1400" b="1" dirty="0"/>
              <a:t>Real-World Example:</a:t>
            </a:r>
          </a:p>
          <a:p>
            <a:r>
              <a:rPr lang="en-US" sz="1400" dirty="0"/>
              <a:t>Let's understand this with a real-world example:</a:t>
            </a:r>
          </a:p>
          <a:p>
            <a:r>
              <a:rPr lang="en-US" sz="1400" dirty="0"/>
              <a:t>There are many models of cars, such as Mercedes, BMW, Audi, etc. These specific models can be considered as </a:t>
            </a:r>
            <a:r>
              <a:rPr lang="en-US" sz="1400" b="1" dirty="0"/>
              <a:t>objects</a:t>
            </a:r>
            <a:r>
              <a:rPr lang="en-US" sz="1400" dirty="0"/>
              <a:t>. They have all been derived from a common blueprint, which is a </a:t>
            </a:r>
            <a:r>
              <a:rPr lang="en-US" sz="1400" b="1" dirty="0"/>
              <a:t>"Car"</a:t>
            </a:r>
            <a:r>
              <a:rPr lang="en-US" sz="1400" dirty="0"/>
              <a:t>.</a:t>
            </a:r>
          </a:p>
          <a:p>
            <a:r>
              <a:rPr lang="en-US" sz="1400" dirty="0"/>
              <a:t>Consider </a:t>
            </a:r>
            <a:r>
              <a:rPr lang="en-US" sz="1400" b="1" dirty="0"/>
              <a:t>"Car"</a:t>
            </a:r>
            <a:r>
              <a:rPr lang="en-US" sz="1400" dirty="0"/>
              <a:t> as a class or blueprint.</a:t>
            </a:r>
          </a:p>
          <a:p>
            <a:endParaRPr lang="en-US" sz="1400" dirty="0"/>
          </a:p>
          <a:p>
            <a:r>
              <a:rPr lang="en-US" sz="1400" dirty="0"/>
              <a:t>A car typically has:</a:t>
            </a:r>
          </a:p>
          <a:p>
            <a:r>
              <a:rPr lang="en-US" sz="1400" dirty="0"/>
              <a:t>4 wheels</a:t>
            </a:r>
          </a:p>
          <a:p>
            <a:r>
              <a:rPr lang="en-US" sz="1400" dirty="0"/>
              <a:t>An engine</a:t>
            </a:r>
          </a:p>
          <a:p>
            <a:r>
              <a:rPr lang="en-US" sz="1400" dirty="0"/>
              <a:t>Brakes</a:t>
            </a:r>
          </a:p>
          <a:p>
            <a:r>
              <a:rPr lang="en-US" sz="1400" dirty="0"/>
              <a:t>Windshield wipers</a:t>
            </a:r>
          </a:p>
          <a:p>
            <a:r>
              <a:rPr lang="en-US" sz="1400" dirty="0"/>
              <a:t>Headlights</a:t>
            </a:r>
          </a:p>
          <a:p>
            <a:endParaRPr lang="en-US" sz="1400" dirty="0"/>
          </a:p>
          <a:p>
            <a:r>
              <a:rPr lang="en-US" sz="1400" dirty="0"/>
              <a:t>These features of a car are called the </a:t>
            </a:r>
            <a:r>
              <a:rPr lang="en-US" sz="1400" b="1" dirty="0"/>
              <a:t>properties</a:t>
            </a:r>
            <a:r>
              <a:rPr lang="en-US" sz="1400" dirty="0"/>
              <a:t> of a car.</a:t>
            </a:r>
          </a:p>
          <a:p>
            <a:endParaRPr lang="en-US" sz="1400" dirty="0"/>
          </a:p>
          <a:p>
            <a:r>
              <a:rPr lang="en-US" sz="1400" dirty="0"/>
              <a:t>An </a:t>
            </a:r>
            <a:r>
              <a:rPr lang="en-US" sz="1400" b="1" dirty="0"/>
              <a:t>object</a:t>
            </a:r>
            <a:r>
              <a:rPr lang="en-US" sz="1400" dirty="0"/>
              <a:t> of the class </a:t>
            </a:r>
            <a:r>
              <a:rPr lang="en-US" sz="1400" b="1" dirty="0"/>
              <a:t>'Car'</a:t>
            </a:r>
            <a:r>
              <a:rPr lang="en-US" sz="1400" dirty="0"/>
              <a:t> will have all these properties. Cars like BMW, Mercedes, and Audi all possess these common features. Therefore, we call them </a:t>
            </a:r>
            <a:r>
              <a:rPr lang="en-US" sz="1400" b="1" dirty="0"/>
              <a:t>objects</a:t>
            </a:r>
            <a:r>
              <a:rPr lang="en-US" sz="1400" dirty="0"/>
              <a:t> of the class </a:t>
            </a:r>
            <a:r>
              <a:rPr lang="en-US" sz="1400" b="1" dirty="0"/>
              <a:t>Car</a:t>
            </a:r>
            <a:r>
              <a:rPr lang="en-US" sz="1400" dirty="0"/>
              <a:t>.</a:t>
            </a:r>
          </a:p>
          <a:p>
            <a:r>
              <a:rPr lang="en-US" sz="1400" b="1" dirty="0"/>
              <a:t>In Java:</a:t>
            </a:r>
          </a:p>
          <a:p>
            <a:r>
              <a:rPr lang="en-US" sz="1400" dirty="0"/>
              <a:t>Similarly, in Java, we can define a </a:t>
            </a:r>
            <a:r>
              <a:rPr lang="en-US" sz="1400" b="1" dirty="0"/>
              <a:t>class</a:t>
            </a:r>
            <a:r>
              <a:rPr lang="en-US" sz="1400" dirty="0"/>
              <a:t> with:</a:t>
            </a:r>
          </a:p>
          <a:p>
            <a:r>
              <a:rPr lang="en-US" sz="1400" dirty="0"/>
              <a:t>Custom functions (methods)</a:t>
            </a:r>
          </a:p>
          <a:p>
            <a:r>
              <a:rPr lang="en-US" sz="1400" dirty="0"/>
              <a:t>Variables (fields)</a:t>
            </a:r>
          </a:p>
          <a:p>
            <a:r>
              <a:rPr lang="en-US" sz="1400" dirty="0"/>
              <a:t>Constructors</a:t>
            </a:r>
          </a:p>
          <a:p>
            <a:r>
              <a:rPr lang="en-US" sz="1400" dirty="0"/>
              <a:t>And other components</a:t>
            </a:r>
          </a:p>
          <a:p>
            <a:r>
              <a:rPr lang="en-US" sz="1400" dirty="0"/>
              <a:t>Whenever we define an </a:t>
            </a:r>
            <a:r>
              <a:rPr lang="en-US" sz="1400" b="1" dirty="0"/>
              <a:t>object</a:t>
            </a:r>
            <a:r>
              <a:rPr lang="en-US" sz="1400" dirty="0"/>
              <a:t> that is derived from a class, it inherits all the properties of that class, such as its variables and methods.</a:t>
            </a:r>
          </a:p>
        </p:txBody>
      </p:sp>
      <p:sp>
        <p:nvSpPr>
          <p:cNvPr id="6" name="TextBox 5">
            <a:extLst>
              <a:ext uri="{FF2B5EF4-FFF2-40B4-BE49-F238E27FC236}">
                <a16:creationId xmlns:a16="http://schemas.microsoft.com/office/drawing/2014/main" id="{901DE940-F3E7-4BB5-D5EE-51C5654C824F}"/>
              </a:ext>
            </a:extLst>
          </p:cNvPr>
          <p:cNvSpPr txBox="1"/>
          <p:nvPr/>
        </p:nvSpPr>
        <p:spPr>
          <a:xfrm>
            <a:off x="5293360" y="55639"/>
            <a:ext cx="4499059" cy="3573351"/>
          </a:xfrm>
          <a:prstGeom prst="rect">
            <a:avLst/>
          </a:prstGeom>
          <a:noFill/>
          <a:ln>
            <a:solidFill>
              <a:schemeClr val="tx1"/>
            </a:solidFill>
          </a:ln>
        </p:spPr>
        <p:txBody>
          <a:bodyPr wrap="square">
            <a:spAutoFit/>
          </a:bodyPr>
          <a:lstStyle/>
          <a:p>
            <a:pPr algn="l" latinLnBrk="1">
              <a:lnSpc>
                <a:spcPts val="1650"/>
              </a:lnSpc>
              <a:buNone/>
            </a:pPr>
            <a:r>
              <a:rPr lang="en-US" sz="1400" b="0" i="1" dirty="0">
                <a:solidFill>
                  <a:srgbClr val="A0A1A7"/>
                </a:solidFill>
                <a:effectLst/>
                <a:latin typeface="Menlo"/>
              </a:rPr>
              <a:t>// Defining a class</a:t>
            </a:r>
            <a:endParaRPr lang="en-US" sz="1400" b="0" dirty="0">
              <a:solidFill>
                <a:srgbClr val="0F1115"/>
              </a:solidFill>
              <a:effectLst/>
              <a:latin typeface="Menlo"/>
            </a:endParaRPr>
          </a:p>
          <a:p>
            <a:pPr algn="l" latinLnBrk="1">
              <a:lnSpc>
                <a:spcPts val="1650"/>
              </a:lnSpc>
              <a:buNone/>
            </a:pPr>
            <a:r>
              <a:rPr lang="en-US" sz="1400" b="0" dirty="0">
                <a:solidFill>
                  <a:srgbClr val="A626A4"/>
                </a:solidFill>
                <a:effectLst/>
                <a:latin typeface="Menlo"/>
              </a:rPr>
              <a:t>class</a:t>
            </a: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i="1" dirty="0">
                <a:solidFill>
                  <a:srgbClr val="A0A1A7"/>
                </a:solidFill>
                <a:effectLst/>
                <a:latin typeface="Menlo"/>
              </a:rPr>
              <a:t>// Constructor</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err="1">
                <a:solidFill>
                  <a:srgbClr val="B76B01"/>
                </a:solidFill>
                <a:effectLst/>
                <a:latin typeface="Menlo"/>
              </a:rPr>
              <a:t>System</a:t>
            </a:r>
            <a:r>
              <a:rPr lang="en-US" sz="1400" b="0" dirty="0" err="1">
                <a:solidFill>
                  <a:srgbClr val="383A42"/>
                </a:solidFill>
                <a:effectLst/>
                <a:latin typeface="Menlo"/>
              </a:rPr>
              <a:t>.</a:t>
            </a:r>
            <a:r>
              <a:rPr lang="en-US" sz="1400" b="0" dirty="0" err="1">
                <a:solidFill>
                  <a:srgbClr val="0F1115"/>
                </a:solidFill>
                <a:effectLst/>
                <a:latin typeface="Menlo"/>
              </a:rPr>
              <a:t>out</a:t>
            </a:r>
            <a:r>
              <a:rPr lang="en-US" sz="1400" b="0" dirty="0" err="1">
                <a:solidFill>
                  <a:srgbClr val="383A42"/>
                </a:solidFill>
                <a:effectLst/>
                <a:latin typeface="Menlo"/>
              </a:rPr>
              <a:t>.</a:t>
            </a:r>
            <a:r>
              <a:rPr lang="en-US" sz="1400" b="0" dirty="0" err="1">
                <a:solidFill>
                  <a:srgbClr val="4078F2"/>
                </a:solidFill>
                <a:effectLst/>
                <a:latin typeface="Menlo"/>
              </a:rPr>
              <a:t>println</a:t>
            </a:r>
            <a:r>
              <a:rPr lang="en-US" sz="1400" b="0" dirty="0">
                <a:solidFill>
                  <a:srgbClr val="383A42"/>
                </a:solidFill>
                <a:effectLst/>
                <a:latin typeface="Menlo"/>
              </a:rPr>
              <a:t>(</a:t>
            </a:r>
            <a:r>
              <a:rPr lang="en-US" sz="1400" b="0" dirty="0">
                <a:solidFill>
                  <a:srgbClr val="50A14F"/>
                </a:solidFill>
                <a:effectLst/>
                <a:latin typeface="Menlo"/>
              </a:rPr>
              <a:t>"Hello from Sample Class!!"</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endParaRPr lang="en-US" sz="1400" b="0" dirty="0">
              <a:solidFill>
                <a:srgbClr val="0F1115"/>
              </a:solidFill>
              <a:effectLst/>
              <a:latin typeface="Menlo"/>
            </a:endParaRPr>
          </a:p>
          <a:p>
            <a:pPr algn="l" latinLnBrk="1">
              <a:lnSpc>
                <a:spcPts val="1650"/>
              </a:lnSpc>
              <a:buNone/>
            </a:pPr>
            <a:r>
              <a:rPr lang="en-US" sz="1400" b="0" i="1" dirty="0">
                <a:solidFill>
                  <a:srgbClr val="A0A1A7"/>
                </a:solidFill>
                <a:effectLst/>
                <a:latin typeface="Menlo"/>
              </a:rPr>
              <a:t>// Main class to create an object</a:t>
            </a:r>
            <a:endParaRPr lang="en-US" sz="1400" b="0" dirty="0">
              <a:solidFill>
                <a:srgbClr val="0F1115"/>
              </a:solidFill>
              <a:effectLst/>
              <a:latin typeface="Menlo"/>
            </a:endParaRPr>
          </a:p>
          <a:p>
            <a:pPr algn="l" latinLnBrk="1">
              <a:lnSpc>
                <a:spcPts val="1650"/>
              </a:lnSpc>
              <a:buNone/>
            </a:pPr>
            <a:r>
              <a:rPr lang="en-US" sz="1400" b="0" dirty="0">
                <a:solidFill>
                  <a:srgbClr val="A626A4"/>
                </a:solidFill>
                <a:effectLst/>
                <a:latin typeface="Menlo"/>
              </a:rPr>
              <a:t>public</a:t>
            </a:r>
            <a:r>
              <a:rPr lang="en-US" sz="1400" b="0" dirty="0">
                <a:solidFill>
                  <a:srgbClr val="0F1115"/>
                </a:solidFill>
                <a:effectLst/>
                <a:latin typeface="Menlo"/>
              </a:rPr>
              <a:t> </a:t>
            </a:r>
            <a:r>
              <a:rPr lang="en-US" sz="1400" b="0" dirty="0">
                <a:solidFill>
                  <a:srgbClr val="A626A4"/>
                </a:solidFill>
                <a:effectLst/>
                <a:latin typeface="Menlo"/>
              </a:rPr>
              <a:t>class</a:t>
            </a:r>
            <a:r>
              <a:rPr lang="en-US" sz="1400" b="0" dirty="0">
                <a:solidFill>
                  <a:srgbClr val="0F1115"/>
                </a:solidFill>
                <a:effectLst/>
                <a:latin typeface="Menlo"/>
              </a:rPr>
              <a:t> </a:t>
            </a:r>
            <a:r>
              <a:rPr lang="en-US" sz="1400" b="0" dirty="0">
                <a:solidFill>
                  <a:srgbClr val="B76B01"/>
                </a:solidFill>
                <a:effectLst/>
                <a:latin typeface="Menlo"/>
              </a:rPr>
              <a:t>Main</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A626A4"/>
                </a:solidFill>
                <a:effectLst/>
                <a:latin typeface="Menlo"/>
              </a:rPr>
              <a:t>public</a:t>
            </a:r>
            <a:r>
              <a:rPr lang="en-US" sz="1400" b="0" dirty="0">
                <a:solidFill>
                  <a:srgbClr val="0F1115"/>
                </a:solidFill>
                <a:effectLst/>
                <a:latin typeface="Menlo"/>
              </a:rPr>
              <a:t> </a:t>
            </a:r>
            <a:r>
              <a:rPr lang="en-US" sz="1400" b="0" dirty="0">
                <a:solidFill>
                  <a:srgbClr val="A626A4"/>
                </a:solidFill>
                <a:effectLst/>
                <a:latin typeface="Menlo"/>
              </a:rPr>
              <a:t>static</a:t>
            </a:r>
            <a:r>
              <a:rPr lang="en-US" sz="1400" b="0" dirty="0">
                <a:solidFill>
                  <a:srgbClr val="0F1115"/>
                </a:solidFill>
                <a:effectLst/>
                <a:latin typeface="Menlo"/>
              </a:rPr>
              <a:t> </a:t>
            </a:r>
            <a:r>
              <a:rPr lang="en-US" sz="1400" b="0" dirty="0">
                <a:solidFill>
                  <a:srgbClr val="A626A4"/>
                </a:solidFill>
                <a:effectLst/>
                <a:latin typeface="Menlo"/>
              </a:rPr>
              <a:t>void</a:t>
            </a:r>
            <a:r>
              <a:rPr lang="en-US" sz="1400" b="0" dirty="0">
                <a:solidFill>
                  <a:srgbClr val="0F1115"/>
                </a:solidFill>
                <a:effectLst/>
                <a:latin typeface="Menlo"/>
              </a:rPr>
              <a:t> </a:t>
            </a:r>
            <a:r>
              <a:rPr lang="en-US" sz="1400" b="0" dirty="0">
                <a:solidFill>
                  <a:srgbClr val="4078F2"/>
                </a:solidFill>
                <a:effectLst/>
                <a:latin typeface="Menlo"/>
              </a:rPr>
              <a:t>main</a:t>
            </a:r>
            <a:r>
              <a:rPr lang="en-US" sz="1400" b="0" dirty="0">
                <a:solidFill>
                  <a:srgbClr val="383A42"/>
                </a:solidFill>
                <a:effectLst/>
                <a:latin typeface="Menlo"/>
              </a:rPr>
              <a:t>(</a:t>
            </a:r>
            <a:r>
              <a:rPr lang="en-US" sz="1400" b="0" dirty="0">
                <a:solidFill>
                  <a:srgbClr val="B76B01"/>
                </a:solidFill>
                <a:effectLst/>
                <a:latin typeface="Menlo"/>
              </a:rPr>
              <a:t>String</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err="1">
                <a:solidFill>
                  <a:srgbClr val="0F1115"/>
                </a:solidFill>
                <a:effectLst/>
                <a:latin typeface="Menlo"/>
              </a:rPr>
              <a:t>args</a:t>
            </a:r>
            <a:r>
              <a:rPr lang="en-US" sz="1400" b="0" dirty="0">
                <a:solidFill>
                  <a:srgbClr val="383A42"/>
                </a:solidFill>
                <a:effectLst/>
                <a:latin typeface="Menlo"/>
              </a:rPr>
              <a:t>)</a:t>
            </a: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i="1" dirty="0">
                <a:solidFill>
                  <a:srgbClr val="A0A1A7"/>
                </a:solidFill>
                <a:effectLst/>
                <a:latin typeface="Menlo"/>
              </a:rPr>
              <a:t>// Creating an object of class Sample</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0F1115"/>
                </a:solidFill>
                <a:effectLst/>
                <a:latin typeface="Menlo"/>
              </a:rPr>
              <a:t> obj </a:t>
            </a:r>
            <a:r>
              <a:rPr lang="en-US" sz="1400" b="0" dirty="0">
                <a:solidFill>
                  <a:srgbClr val="4078F2"/>
                </a:solidFill>
                <a:effectLst/>
                <a:latin typeface="Menlo"/>
              </a:rPr>
              <a:t>=</a:t>
            </a:r>
            <a:r>
              <a:rPr lang="en-US" sz="1400" b="0" dirty="0">
                <a:solidFill>
                  <a:srgbClr val="0F1115"/>
                </a:solidFill>
                <a:effectLst/>
                <a:latin typeface="Menlo"/>
              </a:rPr>
              <a:t> </a:t>
            </a:r>
            <a:r>
              <a:rPr lang="en-US" sz="1400" b="0" dirty="0">
                <a:solidFill>
                  <a:srgbClr val="A626A4"/>
                </a:solidFill>
                <a:effectLst/>
                <a:latin typeface="Menlo"/>
              </a:rPr>
              <a:t>new</a:t>
            </a:r>
            <a:r>
              <a:rPr lang="en-US" sz="1400" b="0" dirty="0">
                <a:solidFill>
                  <a:srgbClr val="0F1115"/>
                </a:solidFill>
                <a:effectLst/>
                <a:latin typeface="Menlo"/>
              </a:rPr>
              <a:t> </a:t>
            </a:r>
            <a:r>
              <a:rPr lang="en-US" sz="1400" b="0" dirty="0">
                <a:solidFill>
                  <a:srgbClr val="B76B01"/>
                </a:solidFill>
                <a:effectLst/>
                <a:latin typeface="Menlo"/>
              </a:rPr>
              <a:t>Sample</a:t>
            </a:r>
            <a:r>
              <a:rPr lang="en-US" sz="1400" b="0" dirty="0">
                <a:solidFill>
                  <a:srgbClr val="383A42"/>
                </a:solidFill>
                <a:effectLst/>
                <a:latin typeface="Menlo"/>
              </a:rPr>
              <a:t>();</a:t>
            </a:r>
            <a:r>
              <a:rPr lang="en-US" sz="1400" b="0" dirty="0">
                <a:solidFill>
                  <a:srgbClr val="0F1115"/>
                </a:solidFill>
                <a:effectLst/>
                <a:latin typeface="Menlo"/>
              </a:rPr>
              <a:t>  </a:t>
            </a:r>
            <a:r>
              <a:rPr lang="en-US" sz="1400" b="0" i="1" dirty="0">
                <a:solidFill>
                  <a:srgbClr val="A0A1A7"/>
                </a:solidFill>
                <a:effectLst/>
                <a:latin typeface="Menlo"/>
              </a:rPr>
              <a:t>// obj is an object of class Sample</a:t>
            </a:r>
            <a:endParaRPr lang="en-US" sz="1400" b="0" dirty="0">
              <a:solidFill>
                <a:srgbClr val="0F1115"/>
              </a:solidFill>
              <a:effectLst/>
              <a:latin typeface="Menlo"/>
            </a:endParaRPr>
          </a:p>
          <a:p>
            <a:pPr algn="l" latinLnBrk="1">
              <a:lnSpc>
                <a:spcPts val="1650"/>
              </a:lnSpc>
              <a:buNone/>
            </a:pPr>
            <a:r>
              <a:rPr lang="en-US" sz="1400" b="0" dirty="0">
                <a:solidFill>
                  <a:srgbClr val="0F1115"/>
                </a:solidFill>
                <a:effectLst/>
                <a:latin typeface="Menlo"/>
              </a:rPr>
              <a:t>    </a:t>
            </a:r>
            <a:r>
              <a:rPr lang="en-US" sz="1400" b="0" dirty="0">
                <a:solidFill>
                  <a:srgbClr val="383A42"/>
                </a:solidFill>
                <a:effectLst/>
                <a:latin typeface="Menlo"/>
              </a:rPr>
              <a:t>}</a:t>
            </a:r>
            <a:endParaRPr lang="en-US" sz="1400" b="0" dirty="0">
              <a:solidFill>
                <a:srgbClr val="0F1115"/>
              </a:solidFill>
              <a:effectLst/>
              <a:latin typeface="Menlo"/>
            </a:endParaRPr>
          </a:p>
          <a:p>
            <a:pPr algn="l" latinLnBrk="1">
              <a:lnSpc>
                <a:spcPts val="1650"/>
              </a:lnSpc>
              <a:buNone/>
            </a:pPr>
            <a:r>
              <a:rPr lang="en-US" sz="1400" b="0" dirty="0">
                <a:solidFill>
                  <a:srgbClr val="383A42"/>
                </a:solidFill>
                <a:effectLst/>
                <a:latin typeface="Menlo"/>
              </a:rPr>
              <a:t>}</a:t>
            </a:r>
            <a:endParaRPr lang="en-US" sz="1400" b="0" dirty="0">
              <a:solidFill>
                <a:srgbClr val="0F1115"/>
              </a:solidFill>
              <a:effectLst/>
              <a:latin typeface="Menlo"/>
            </a:endParaRPr>
          </a:p>
        </p:txBody>
      </p:sp>
      <p:sp>
        <p:nvSpPr>
          <p:cNvPr id="10" name="TextBox 9">
            <a:extLst>
              <a:ext uri="{FF2B5EF4-FFF2-40B4-BE49-F238E27FC236}">
                <a16:creationId xmlns:a16="http://schemas.microsoft.com/office/drawing/2014/main" id="{8ED1C1A4-E0CF-D3C1-511D-DED42E441DED}"/>
              </a:ext>
            </a:extLst>
          </p:cNvPr>
          <p:cNvSpPr txBox="1"/>
          <p:nvPr/>
        </p:nvSpPr>
        <p:spPr>
          <a:xfrm>
            <a:off x="5283200" y="3628990"/>
            <a:ext cx="4499059" cy="3372718"/>
          </a:xfrm>
          <a:prstGeom prst="rect">
            <a:avLst/>
          </a:prstGeom>
          <a:noFill/>
        </p:spPr>
        <p:txBody>
          <a:bodyPr wrap="square">
            <a:spAutoFit/>
          </a:bodyPr>
          <a:lstStyle/>
          <a:p>
            <a:pPr algn="l">
              <a:spcBef>
                <a:spcPts val="1200"/>
              </a:spcBef>
              <a:spcAft>
                <a:spcPts val="1200"/>
              </a:spcAft>
              <a:buNone/>
            </a:pPr>
            <a:r>
              <a:rPr lang="en-US" sz="1400" b="0" i="0" dirty="0">
                <a:solidFill>
                  <a:srgbClr val="0F1115"/>
                </a:solidFill>
                <a:effectLst/>
                <a:latin typeface="quote-cjk-patch"/>
              </a:rPr>
              <a:t>In this example:</a:t>
            </a:r>
          </a:p>
          <a:p>
            <a:pPr algn="l">
              <a:spcBef>
                <a:spcPts val="1200"/>
              </a:spcBef>
              <a:spcAft>
                <a:spcPts val="1200"/>
              </a:spcAft>
              <a:buFont typeface="Arial" panose="020B0604020202020204" pitchFamily="34" charset="0"/>
              <a:buChar char="•"/>
            </a:pPr>
            <a:r>
              <a:rPr lang="en-US" sz="1400" b="0" i="0" dirty="0">
                <a:solidFill>
                  <a:srgbClr val="0F1115"/>
                </a:solidFill>
                <a:effectLst/>
                <a:latin typeface="Menlo"/>
              </a:rPr>
              <a:t>Sample</a:t>
            </a:r>
            <a:r>
              <a:rPr lang="en-US" sz="1400" b="0" i="0" dirty="0">
                <a:solidFill>
                  <a:srgbClr val="0F1115"/>
                </a:solidFill>
                <a:effectLst/>
                <a:latin typeface="quote-cjk-patch"/>
              </a:rPr>
              <a:t> is the class</a:t>
            </a:r>
          </a:p>
          <a:p>
            <a:pPr algn="l">
              <a:lnSpc>
                <a:spcPts val="1650"/>
              </a:lnSpc>
              <a:spcBef>
                <a:spcPts val="450"/>
              </a:spcBef>
              <a:spcAft>
                <a:spcPts val="1200"/>
              </a:spcAft>
              <a:buFont typeface="Arial" panose="020B0604020202020204" pitchFamily="34" charset="0"/>
              <a:buChar char="•"/>
            </a:pPr>
            <a:r>
              <a:rPr lang="en-US" sz="1400" b="0" i="0" dirty="0">
                <a:solidFill>
                  <a:srgbClr val="0F1115"/>
                </a:solidFill>
                <a:effectLst/>
                <a:latin typeface="Menlo"/>
              </a:rPr>
              <a:t>obj</a:t>
            </a:r>
            <a:r>
              <a:rPr lang="en-US" sz="1400" b="0" i="0" dirty="0">
                <a:solidFill>
                  <a:srgbClr val="0F1115"/>
                </a:solidFill>
                <a:effectLst/>
                <a:latin typeface="quote-cjk-patch"/>
              </a:rPr>
              <a:t> is the object (instance) derived from the class </a:t>
            </a:r>
            <a:r>
              <a:rPr lang="en-US" sz="1400" b="0" i="0" dirty="0">
                <a:solidFill>
                  <a:srgbClr val="0F1115"/>
                </a:solidFill>
                <a:effectLst/>
                <a:latin typeface="Menlo"/>
              </a:rPr>
              <a:t>Sample</a:t>
            </a:r>
            <a:endParaRPr lang="en-US" sz="1400" b="0" i="0" dirty="0">
              <a:solidFill>
                <a:srgbClr val="0F1115"/>
              </a:solidFill>
              <a:effectLst/>
              <a:latin typeface="quote-cjk-patch"/>
            </a:endParaRPr>
          </a:p>
          <a:p>
            <a:pPr algn="l">
              <a:lnSpc>
                <a:spcPts val="1650"/>
              </a:lnSpc>
              <a:spcBef>
                <a:spcPts val="450"/>
              </a:spcBef>
              <a:spcAft>
                <a:spcPts val="1200"/>
              </a:spcAft>
              <a:buFont typeface="Arial" panose="020B0604020202020204" pitchFamily="34" charset="0"/>
              <a:buChar char="•"/>
            </a:pPr>
            <a:r>
              <a:rPr lang="en-US" sz="1400" b="0" i="0" dirty="0">
                <a:solidFill>
                  <a:srgbClr val="0F1115"/>
                </a:solidFill>
                <a:effectLst/>
                <a:latin typeface="quote-cjk-patch"/>
              </a:rPr>
              <a:t>When </a:t>
            </a:r>
            <a:r>
              <a:rPr lang="en-US" sz="1400" b="0" i="0" dirty="0">
                <a:solidFill>
                  <a:srgbClr val="0F1115"/>
                </a:solidFill>
                <a:effectLst/>
                <a:latin typeface="Menlo"/>
              </a:rPr>
              <a:t>obj</a:t>
            </a:r>
            <a:r>
              <a:rPr lang="en-US" sz="1400" b="0" i="0" dirty="0">
                <a:solidFill>
                  <a:srgbClr val="0F1115"/>
                </a:solidFill>
                <a:effectLst/>
                <a:latin typeface="quote-cjk-patch"/>
              </a:rPr>
              <a:t> is initialized using the </a:t>
            </a:r>
            <a:r>
              <a:rPr lang="en-US" sz="1400" b="0" i="0" dirty="0">
                <a:solidFill>
                  <a:srgbClr val="0F1115"/>
                </a:solidFill>
                <a:effectLst/>
                <a:latin typeface="Menlo"/>
              </a:rPr>
              <a:t>new</a:t>
            </a:r>
            <a:r>
              <a:rPr lang="en-US" sz="1400" b="0" i="0" dirty="0">
                <a:solidFill>
                  <a:srgbClr val="0F1115"/>
                </a:solidFill>
                <a:effectLst/>
                <a:latin typeface="quote-cjk-patch"/>
              </a:rPr>
              <a:t> keyword, the constructor executes and prints </a:t>
            </a:r>
            <a:r>
              <a:rPr lang="en-US" sz="1400" b="1" i="0" dirty="0">
                <a:solidFill>
                  <a:srgbClr val="0F1115"/>
                </a:solidFill>
                <a:effectLst/>
                <a:latin typeface="quote-cjk-patch"/>
              </a:rPr>
              <a:t>"Hello from Sample Class!!"</a:t>
            </a:r>
            <a:endParaRPr lang="en-US" sz="1400" b="0" i="0" dirty="0">
              <a:solidFill>
                <a:srgbClr val="0F1115"/>
              </a:solidFill>
              <a:effectLst/>
              <a:latin typeface="quote-cjk-patch"/>
            </a:endParaRPr>
          </a:p>
          <a:p>
            <a:pPr algn="l">
              <a:spcBef>
                <a:spcPts val="450"/>
              </a:spcBef>
              <a:spcAft>
                <a:spcPts val="1200"/>
              </a:spcAft>
              <a:buFont typeface="Arial" panose="020B0604020202020204" pitchFamily="34" charset="0"/>
              <a:buChar char="•"/>
            </a:pPr>
            <a:r>
              <a:rPr lang="en-US" sz="1400" b="0" i="0" dirty="0">
                <a:solidFill>
                  <a:srgbClr val="0F1115"/>
                </a:solidFill>
                <a:effectLst/>
                <a:latin typeface="quote-cjk-patch"/>
              </a:rPr>
              <a:t>This demonstrates that the object inherits the properties (constructor behavior) of its class</a:t>
            </a:r>
          </a:p>
          <a:p>
            <a:pPr>
              <a:buNone/>
            </a:pPr>
            <a:br>
              <a:rPr lang="en-US" sz="1400" dirty="0"/>
            </a:br>
            <a:endParaRPr lang="en-US" sz="1400"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D6783A-482A-E65C-4E06-6352F1384C3B}"/>
              </a:ext>
            </a:extLst>
          </p:cNvPr>
          <p:cNvSpPr txBox="1"/>
          <p:nvPr/>
        </p:nvSpPr>
        <p:spPr>
          <a:xfrm>
            <a:off x="177421" y="163773"/>
            <a:ext cx="5800298" cy="3046988"/>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11. Explain the concept of Inheritance in Java</a:t>
            </a:r>
          </a:p>
          <a:p>
            <a:pPr algn="l">
              <a:buNone/>
            </a:pPr>
            <a:r>
              <a:rPr lang="en-US" sz="1200" b="1" i="0" dirty="0">
                <a:solidFill>
                  <a:srgbClr val="0F1115"/>
                </a:solidFill>
                <a:effectLst/>
                <a:latin typeface="quote-cjk-patch"/>
              </a:rPr>
              <a:t>Inheritance</a:t>
            </a:r>
            <a:r>
              <a:rPr lang="en-US" sz="1200" b="0" i="0" dirty="0">
                <a:solidFill>
                  <a:srgbClr val="0F1115"/>
                </a:solidFill>
                <a:effectLst/>
                <a:latin typeface="quote-cjk-patch"/>
              </a:rPr>
              <a:t> is a mechanism in Java that allows a child class to acquire the properties and behaviors of its parent class. This concept is similar to how children inherit traits from their parents, such as physical appearance, habits, etc.</a:t>
            </a:r>
          </a:p>
          <a:p>
            <a:pPr algn="l">
              <a:buNone/>
            </a:pPr>
            <a:r>
              <a:rPr lang="en-US" sz="1200" b="1" dirty="0">
                <a:solidFill>
                  <a:srgbClr val="0F1115"/>
                </a:solidFill>
                <a:effectLst/>
                <a:latin typeface="quote-cjk-patch"/>
              </a:rPr>
              <a:t>Real-World Example:</a:t>
            </a:r>
          </a:p>
          <a:p>
            <a:pPr algn="l">
              <a:buNone/>
            </a:pPr>
            <a:r>
              <a:rPr lang="en-US" sz="1200" b="0" i="0" dirty="0">
                <a:solidFill>
                  <a:srgbClr val="0F1115"/>
                </a:solidFill>
                <a:effectLst/>
                <a:latin typeface="quote-cjk-patch"/>
              </a:rPr>
              <a:t>Consider </a:t>
            </a:r>
            <a:r>
              <a:rPr lang="en-US" sz="1200" b="1" i="0" dirty="0">
                <a:solidFill>
                  <a:srgbClr val="0F1115"/>
                </a:solidFill>
                <a:effectLst/>
                <a:latin typeface="quote-cjk-patch"/>
              </a:rPr>
              <a:t>Vehicles</a:t>
            </a:r>
            <a:r>
              <a:rPr lang="en-US" sz="1200" b="0" i="0" dirty="0">
                <a:solidFill>
                  <a:srgbClr val="0F1115"/>
                </a:solidFill>
                <a:effectLst/>
                <a:latin typeface="quote-cjk-patch"/>
              </a:rPr>
              <a:t> as a real-world example. All vehicles inherently share common properties such as:</a:t>
            </a:r>
          </a:p>
          <a:p>
            <a:pPr algn="l">
              <a:buFont typeface="Arial" panose="020B0604020202020204" pitchFamily="34" charset="0"/>
              <a:buChar char="•"/>
            </a:pPr>
            <a:r>
              <a:rPr lang="en-US" sz="1200" b="0" i="0" dirty="0" err="1">
                <a:solidFill>
                  <a:srgbClr val="0F1115"/>
                </a:solidFill>
                <a:effectLst/>
                <a:latin typeface="quote-cjk-patch"/>
              </a:rPr>
              <a:t>Tyres</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Engine</a:t>
            </a:r>
          </a:p>
          <a:p>
            <a:pPr algn="l">
              <a:buFont typeface="Arial" panose="020B0604020202020204" pitchFamily="34" charset="0"/>
              <a:buChar char="•"/>
            </a:pPr>
            <a:r>
              <a:rPr lang="en-US" sz="1200" b="0" i="0" dirty="0">
                <a:solidFill>
                  <a:srgbClr val="0F1115"/>
                </a:solidFill>
                <a:effectLst/>
                <a:latin typeface="quote-cjk-patch"/>
              </a:rPr>
              <a:t>Steering</a:t>
            </a:r>
          </a:p>
          <a:p>
            <a:pPr algn="l">
              <a:buFont typeface="Arial" panose="020B0604020202020204" pitchFamily="34" charset="0"/>
              <a:buChar char="•"/>
            </a:pPr>
            <a:r>
              <a:rPr lang="en-US" sz="1200" b="0" i="0" dirty="0">
                <a:solidFill>
                  <a:srgbClr val="0F1115"/>
                </a:solidFill>
                <a:effectLst/>
                <a:latin typeface="quote-cjk-patch"/>
              </a:rPr>
              <a:t>Brakes</a:t>
            </a:r>
          </a:p>
          <a:p>
            <a:pPr algn="l">
              <a:buNone/>
            </a:pPr>
            <a:r>
              <a:rPr lang="en-US" sz="1200" b="0" i="0" dirty="0">
                <a:solidFill>
                  <a:srgbClr val="0F1115"/>
                </a:solidFill>
                <a:effectLst/>
                <a:latin typeface="quote-cjk-patch"/>
              </a:rPr>
              <a:t>However, each specific vehicle type (car, bike, truck) has its own unique features in addition to these common properties.</a:t>
            </a:r>
          </a:p>
          <a:p>
            <a:pPr algn="l">
              <a:buNone/>
            </a:pPr>
            <a:r>
              <a:rPr lang="en-US" sz="1200" b="0" i="0" dirty="0">
                <a:solidFill>
                  <a:srgbClr val="0F1115"/>
                </a:solidFill>
                <a:effectLst/>
                <a:latin typeface="quote-cjk-patch"/>
              </a:rPr>
              <a:t>Similarly in Java, when you create a class and want to inherit its properties in another class, you use </a:t>
            </a:r>
            <a:r>
              <a:rPr lang="en-US" sz="1200" b="1" i="0" dirty="0">
                <a:solidFill>
                  <a:srgbClr val="0F1115"/>
                </a:solidFill>
                <a:effectLst/>
                <a:latin typeface="quote-cjk-patch"/>
              </a:rPr>
              <a:t>inheritance</a:t>
            </a:r>
            <a:r>
              <a:rPr lang="en-US" sz="1200" b="0" i="0" dirty="0">
                <a:solidFill>
                  <a:srgbClr val="0F1115"/>
                </a:solidFill>
                <a:effectLst/>
                <a:latin typeface="quote-cjk-patch"/>
              </a:rPr>
              <a:t>. This offers </a:t>
            </a:r>
            <a:r>
              <a:rPr lang="en-US" sz="1200" b="1" i="0" dirty="0">
                <a:solidFill>
                  <a:srgbClr val="0F1115"/>
                </a:solidFill>
                <a:effectLst/>
                <a:latin typeface="quote-cjk-patch"/>
              </a:rPr>
              <a:t>code reusability</a:t>
            </a:r>
            <a:r>
              <a:rPr lang="en-US" sz="1200" b="0" i="0" dirty="0">
                <a:solidFill>
                  <a:srgbClr val="0F1115"/>
                </a:solidFill>
                <a:effectLst/>
                <a:latin typeface="quote-cjk-patch"/>
              </a:rPr>
              <a:t> – you don't need to write the same code again in the child class.</a:t>
            </a:r>
          </a:p>
        </p:txBody>
      </p:sp>
      <p:sp>
        <p:nvSpPr>
          <p:cNvPr id="8" name="TextBox 7">
            <a:extLst>
              <a:ext uri="{FF2B5EF4-FFF2-40B4-BE49-F238E27FC236}">
                <a16:creationId xmlns:a16="http://schemas.microsoft.com/office/drawing/2014/main" id="{A5335C4D-B396-870C-C526-9435B5B4B986}"/>
              </a:ext>
            </a:extLst>
          </p:cNvPr>
          <p:cNvSpPr txBox="1"/>
          <p:nvPr/>
        </p:nvSpPr>
        <p:spPr>
          <a:xfrm>
            <a:off x="6098274" y="151179"/>
            <a:ext cx="3630305" cy="6555641"/>
          </a:xfrm>
          <a:prstGeom prst="rect">
            <a:avLst/>
          </a:prstGeom>
          <a:noFill/>
          <a:ln>
            <a:solidFill>
              <a:schemeClr val="tx1"/>
            </a:solidFill>
          </a:ln>
        </p:spPr>
        <p:txBody>
          <a:bodyPr wrap="square">
            <a:spAutoFit/>
          </a:bodyPr>
          <a:lstStyle/>
          <a:p>
            <a:pPr algn="l" latinLnBrk="1">
              <a:buNone/>
            </a:pPr>
            <a:r>
              <a:rPr lang="en-US" sz="1200" b="0" i="1" dirty="0">
                <a:solidFill>
                  <a:srgbClr val="A0A1A7"/>
                </a:solidFill>
                <a:effectLst/>
                <a:latin typeface="Menlo"/>
              </a:rPr>
              <a:t>// Parent class (Base class)</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Vehicles</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err="1">
                <a:solidFill>
                  <a:srgbClr val="4078F2"/>
                </a:solidFill>
                <a:effectLst/>
                <a:latin typeface="Menlo"/>
              </a:rPr>
              <a:t>tyres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4 </a:t>
            </a:r>
            <a:r>
              <a:rPr lang="en-US" sz="1200" b="0" dirty="0" err="1">
                <a:solidFill>
                  <a:srgbClr val="50A14F"/>
                </a:solidFill>
                <a:effectLst/>
                <a:latin typeface="Menlo"/>
              </a:rPr>
              <a:t>tyres</a:t>
            </a:r>
            <a:r>
              <a:rPr lang="en-US" sz="1200" b="0" dirty="0">
                <a:solidFill>
                  <a:srgbClr val="50A14F"/>
                </a:solidFill>
                <a:effectLst/>
                <a:latin typeface="Menlo"/>
              </a:rPr>
              <a:t>"</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engine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an engine"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doors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has 4 doors"</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Child class (Derived class) inheriting from Vehicles</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0F1115"/>
                </a:solidFill>
                <a:effectLst/>
                <a:latin typeface="Menlo"/>
              </a:rPr>
              <a:t> </a:t>
            </a:r>
            <a:r>
              <a:rPr lang="en-US" sz="1200" b="0" dirty="0">
                <a:solidFill>
                  <a:srgbClr val="A626A4"/>
                </a:solidFill>
                <a:effectLst/>
                <a:latin typeface="Menlo"/>
              </a:rPr>
              <a:t>extends</a:t>
            </a:r>
            <a:r>
              <a:rPr lang="en-US" sz="1200" b="0" dirty="0">
                <a:solidFill>
                  <a:srgbClr val="0F1115"/>
                </a:solidFill>
                <a:effectLst/>
                <a:latin typeface="Menlo"/>
              </a:rPr>
              <a:t> </a:t>
            </a:r>
            <a:r>
              <a:rPr lang="en-US" sz="1200" b="0" dirty="0">
                <a:solidFill>
                  <a:srgbClr val="B76B01"/>
                </a:solidFill>
                <a:effectLst/>
                <a:latin typeface="Menlo"/>
              </a:rPr>
              <a:t>Vehicles</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fuel</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"It takes diesel fuel"</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Main class to test inheritance</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Creating an object of child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0F1115"/>
                </a:solidFill>
                <a:effectLst/>
                <a:latin typeface="Menlo"/>
              </a:rPr>
              <a:t> test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new</a:t>
            </a:r>
            <a:r>
              <a:rPr lang="en-US" sz="1200" b="0" dirty="0">
                <a:solidFill>
                  <a:srgbClr val="0F1115"/>
                </a:solidFill>
                <a:effectLst/>
                <a:latin typeface="Menlo"/>
              </a:rPr>
              <a:t> </a:t>
            </a:r>
            <a:r>
              <a:rPr lang="en-US" sz="1200" b="0" dirty="0" err="1">
                <a:solidFill>
                  <a:srgbClr val="B76B01"/>
                </a:solidFill>
                <a:effectLst/>
                <a:latin typeface="Menlo"/>
              </a:rPr>
              <a:t>NewCar</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Calling methods - both inherited and its own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fuel</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Own method of </a:t>
            </a:r>
            <a:r>
              <a:rPr lang="en-US" sz="1200" b="0" i="1" dirty="0" err="1">
                <a:solidFill>
                  <a:srgbClr val="A0A1A7"/>
                </a:solidFill>
                <a:effectLst/>
                <a:latin typeface="Menlo"/>
              </a:rPr>
              <a:t>NewCar</a:t>
            </a:r>
            <a:r>
              <a:rPr lang="en-US" sz="1200" b="0" i="1" dirty="0">
                <a:solidFill>
                  <a:srgbClr val="A0A1A7"/>
                </a:solidFill>
                <a:effectLst/>
                <a:latin typeface="Menlo"/>
              </a:rPr>
              <a:t>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engine</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doors</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test</a:t>
            </a:r>
            <a:r>
              <a:rPr lang="en-US" sz="1200" b="0" dirty="0" err="1">
                <a:solidFill>
                  <a:srgbClr val="383A42"/>
                </a:solidFill>
                <a:effectLst/>
                <a:latin typeface="Menlo"/>
              </a:rPr>
              <a:t>.</a:t>
            </a:r>
            <a:r>
              <a:rPr lang="en-US" sz="1200" b="0" dirty="0" err="1">
                <a:solidFill>
                  <a:srgbClr val="4078F2"/>
                </a:solidFill>
                <a:effectLst/>
                <a:latin typeface="Menlo"/>
              </a:rPr>
              <a:t>tyres</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Inherited from Vehicles class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0" name="TextBox 9">
            <a:extLst>
              <a:ext uri="{FF2B5EF4-FFF2-40B4-BE49-F238E27FC236}">
                <a16:creationId xmlns:a16="http://schemas.microsoft.com/office/drawing/2014/main" id="{187341BD-5BBF-716F-5B76-323F8CCCDC27}"/>
              </a:ext>
            </a:extLst>
          </p:cNvPr>
          <p:cNvSpPr txBox="1"/>
          <p:nvPr/>
        </p:nvSpPr>
        <p:spPr>
          <a:xfrm>
            <a:off x="3981733" y="5487999"/>
            <a:ext cx="2116541" cy="1200329"/>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Output:</a:t>
            </a:r>
          </a:p>
          <a:p>
            <a:pPr algn="l">
              <a:buNone/>
            </a:pPr>
            <a:r>
              <a:rPr lang="en-US" sz="1200" b="0" i="0" dirty="0">
                <a:solidFill>
                  <a:srgbClr val="0F1115"/>
                </a:solidFill>
                <a:effectLst/>
                <a:latin typeface="Menlo"/>
              </a:rPr>
              <a:t>text</a:t>
            </a:r>
            <a:endParaRPr lang="en-US" sz="1200" b="0" i="0" dirty="0">
              <a:solidFill>
                <a:srgbClr val="0F1115"/>
              </a:solidFill>
              <a:effectLst/>
              <a:latin typeface="quote-cjk-patch"/>
            </a:endParaRPr>
          </a:p>
          <a:p>
            <a:pPr algn="l" latinLnBrk="1">
              <a:buNone/>
            </a:pPr>
            <a:r>
              <a:rPr lang="en-US" sz="1200" b="0" i="0" dirty="0">
                <a:solidFill>
                  <a:srgbClr val="0F1115"/>
                </a:solidFill>
                <a:effectLst/>
                <a:latin typeface="Menlo"/>
              </a:rPr>
              <a:t>It takes diesel fuel</a:t>
            </a:r>
          </a:p>
          <a:p>
            <a:pPr algn="l" latinLnBrk="1">
              <a:buNone/>
            </a:pPr>
            <a:r>
              <a:rPr lang="en-US" sz="1200" b="0" i="0" dirty="0">
                <a:solidFill>
                  <a:srgbClr val="0F1115"/>
                </a:solidFill>
                <a:effectLst/>
                <a:latin typeface="Menlo"/>
              </a:rPr>
              <a:t>It has an engine</a:t>
            </a:r>
          </a:p>
          <a:p>
            <a:pPr algn="l" latinLnBrk="1">
              <a:buNone/>
            </a:pPr>
            <a:r>
              <a:rPr lang="en-US" sz="1200" b="0" i="0" dirty="0">
                <a:solidFill>
                  <a:srgbClr val="0F1115"/>
                </a:solidFill>
                <a:effectLst/>
                <a:latin typeface="Menlo"/>
              </a:rPr>
              <a:t>It has 4 doors</a:t>
            </a:r>
          </a:p>
          <a:p>
            <a:pPr algn="l" latinLnBrk="1">
              <a:buNone/>
            </a:pPr>
            <a:r>
              <a:rPr lang="en-US" sz="1200" b="0" i="0" dirty="0">
                <a:solidFill>
                  <a:srgbClr val="0F1115"/>
                </a:solidFill>
                <a:effectLst/>
                <a:latin typeface="Menlo"/>
              </a:rPr>
              <a:t>It has 4 </a:t>
            </a:r>
            <a:r>
              <a:rPr lang="en-US" sz="1200" b="0" i="0" dirty="0" err="1">
                <a:solidFill>
                  <a:srgbClr val="0F1115"/>
                </a:solidFill>
                <a:effectLst/>
                <a:latin typeface="Menlo"/>
              </a:rPr>
              <a:t>tyres</a:t>
            </a:r>
            <a:endParaRPr lang="en-US" sz="1200" b="0" i="0" dirty="0">
              <a:solidFill>
                <a:srgbClr val="0F1115"/>
              </a:solidFill>
              <a:effectLst/>
              <a:latin typeface="Menlo"/>
            </a:endParaRPr>
          </a:p>
        </p:txBody>
      </p:sp>
      <p:sp>
        <p:nvSpPr>
          <p:cNvPr id="12" name="TextBox 11">
            <a:extLst>
              <a:ext uri="{FF2B5EF4-FFF2-40B4-BE49-F238E27FC236}">
                <a16:creationId xmlns:a16="http://schemas.microsoft.com/office/drawing/2014/main" id="{BBB25256-94D7-C130-1D0D-14CB72C56B98}"/>
              </a:ext>
            </a:extLst>
          </p:cNvPr>
          <p:cNvSpPr txBox="1"/>
          <p:nvPr/>
        </p:nvSpPr>
        <p:spPr>
          <a:xfrm>
            <a:off x="177420" y="3210761"/>
            <a:ext cx="5800297"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Key Points:</a:t>
            </a:r>
          </a:p>
          <a:p>
            <a:pPr algn="l">
              <a:buFont typeface="+mj-lt"/>
              <a:buAutoNum type="arabicPeriod"/>
            </a:pPr>
            <a:r>
              <a:rPr lang="en-US" sz="1200" b="0" i="0" dirty="0">
                <a:solidFill>
                  <a:srgbClr val="0F1115"/>
                </a:solidFill>
                <a:effectLst/>
                <a:latin typeface="Menlo"/>
              </a:rPr>
              <a:t>extends</a:t>
            </a:r>
            <a:r>
              <a:rPr lang="en-US" sz="1200" b="1" i="0" dirty="0">
                <a:solidFill>
                  <a:srgbClr val="0F1115"/>
                </a:solidFill>
                <a:effectLst/>
                <a:latin typeface="quote-cjk-patch"/>
              </a:rPr>
              <a:t> keyword</a:t>
            </a:r>
            <a:r>
              <a:rPr lang="en-US" sz="1200" b="0" i="0" dirty="0">
                <a:solidFill>
                  <a:srgbClr val="0F1115"/>
                </a:solidFill>
                <a:effectLst/>
                <a:latin typeface="quote-cjk-patch"/>
              </a:rPr>
              <a:t> is used to implement inheritance in Java</a:t>
            </a:r>
          </a:p>
          <a:p>
            <a:pPr algn="l">
              <a:buFont typeface="+mj-lt"/>
              <a:buAutoNum type="arabicPeriod"/>
            </a:pPr>
            <a:r>
              <a:rPr lang="en-US" sz="1200" b="0" i="0" dirty="0">
                <a:solidFill>
                  <a:srgbClr val="0F1115"/>
                </a:solidFill>
                <a:effectLst/>
                <a:latin typeface="quote-cjk-patch"/>
              </a:rPr>
              <a:t>The </a:t>
            </a:r>
            <a:r>
              <a:rPr lang="en-US" sz="1200" b="1" i="0" dirty="0">
                <a:solidFill>
                  <a:srgbClr val="0F1115"/>
                </a:solidFill>
                <a:effectLst/>
                <a:latin typeface="quote-cjk-patch"/>
              </a:rPr>
              <a:t>child class</a:t>
            </a:r>
            <a:r>
              <a:rPr lang="en-US" sz="1200" b="0" i="0" dirty="0">
                <a:solidFill>
                  <a:srgbClr val="0F1115"/>
                </a:solidFill>
                <a:effectLst/>
                <a:latin typeface="quote-cjk-patch"/>
              </a:rPr>
              <a:t> (</a:t>
            </a:r>
            <a:r>
              <a:rPr lang="en-US" sz="1200" b="0" i="0" dirty="0" err="1">
                <a:solidFill>
                  <a:srgbClr val="0F1115"/>
                </a:solidFill>
                <a:effectLst/>
                <a:latin typeface="Menlo"/>
              </a:rPr>
              <a:t>NewCar</a:t>
            </a:r>
            <a:r>
              <a:rPr lang="en-US" sz="1200" b="0" i="0" dirty="0">
                <a:solidFill>
                  <a:srgbClr val="0F1115"/>
                </a:solidFill>
                <a:effectLst/>
                <a:latin typeface="quote-cjk-patch"/>
              </a:rPr>
              <a:t>) inherits all non-private methods from the </a:t>
            </a:r>
            <a:r>
              <a:rPr lang="en-US" sz="1200" b="1" i="0" dirty="0">
                <a:solidFill>
                  <a:srgbClr val="0F1115"/>
                </a:solidFill>
                <a:effectLst/>
                <a:latin typeface="quote-cjk-patch"/>
              </a:rPr>
              <a:t>parent class</a:t>
            </a:r>
            <a:r>
              <a:rPr lang="en-US" sz="1200" b="0" i="0" dirty="0">
                <a:solidFill>
                  <a:srgbClr val="0F1115"/>
                </a:solidFill>
                <a:effectLst/>
                <a:latin typeface="quote-cjk-patch"/>
              </a:rPr>
              <a:t> (</a:t>
            </a:r>
            <a:r>
              <a:rPr lang="en-US" sz="1200" b="0" i="0" dirty="0">
                <a:solidFill>
                  <a:srgbClr val="0F1115"/>
                </a:solidFill>
                <a:effectLst/>
                <a:latin typeface="Menlo"/>
              </a:rPr>
              <a:t>Vehicles</a:t>
            </a:r>
            <a:r>
              <a:rPr lang="en-US" sz="1200" b="0" i="0" dirty="0">
                <a:solidFill>
                  <a:srgbClr val="0F1115"/>
                </a:solidFill>
                <a:effectLst/>
                <a:latin typeface="quote-cjk-patch"/>
              </a:rPr>
              <a:t>)</a:t>
            </a:r>
          </a:p>
          <a:p>
            <a:pPr algn="l">
              <a:buFont typeface="+mj-lt"/>
              <a:buAutoNum type="arabicPeriod"/>
            </a:pPr>
            <a:r>
              <a:rPr lang="en-US" sz="1200" b="0" i="0" dirty="0">
                <a:solidFill>
                  <a:srgbClr val="0F1115"/>
                </a:solidFill>
                <a:effectLst/>
                <a:latin typeface="quote-cjk-patch"/>
              </a:rPr>
              <a:t>The child class can also have its </a:t>
            </a:r>
            <a:r>
              <a:rPr lang="en-US" sz="1200" b="1" i="0" dirty="0">
                <a:solidFill>
                  <a:srgbClr val="0F1115"/>
                </a:solidFill>
                <a:effectLst/>
                <a:latin typeface="quote-cjk-patch"/>
              </a:rPr>
              <a:t>own additional methods</a:t>
            </a:r>
            <a:r>
              <a:rPr lang="en-US" sz="1200" b="0" i="0" dirty="0">
                <a:solidFill>
                  <a:srgbClr val="0F1115"/>
                </a:solidFill>
                <a:effectLst/>
                <a:latin typeface="quote-cjk-patch"/>
              </a:rPr>
              <a:t> (like </a:t>
            </a:r>
            <a:r>
              <a:rPr lang="en-US" sz="1200" b="0" i="0" dirty="0">
                <a:solidFill>
                  <a:srgbClr val="0F1115"/>
                </a:solidFill>
                <a:effectLst/>
                <a:latin typeface="Menlo"/>
              </a:rPr>
              <a:t>fuel()</a:t>
            </a:r>
            <a:r>
              <a:rPr lang="en-US" sz="1200" b="0" i="0" dirty="0">
                <a:solidFill>
                  <a:srgbClr val="0F1115"/>
                </a:solidFill>
                <a:effectLst/>
                <a:latin typeface="quote-cjk-patch"/>
              </a:rPr>
              <a:t>)</a:t>
            </a:r>
          </a:p>
          <a:p>
            <a:pPr algn="l">
              <a:buFont typeface="+mj-lt"/>
              <a:buAutoNum type="arabicPeriod"/>
            </a:pPr>
            <a:r>
              <a:rPr lang="en-US" sz="1200" b="1" i="0" dirty="0">
                <a:solidFill>
                  <a:srgbClr val="0F1115"/>
                </a:solidFill>
                <a:effectLst/>
                <a:latin typeface="quote-cjk-patch"/>
              </a:rPr>
              <a:t>Code reusability</a:t>
            </a:r>
            <a:r>
              <a:rPr lang="en-US" sz="1200" b="0" i="0" dirty="0">
                <a:solidFill>
                  <a:srgbClr val="0F1115"/>
                </a:solidFill>
                <a:effectLst/>
                <a:latin typeface="quote-cjk-patch"/>
              </a:rPr>
              <a:t> is achieved as the child class doesn't need to redefine the inherited methods</a:t>
            </a:r>
          </a:p>
          <a:p>
            <a:pPr algn="l">
              <a:buFont typeface="+mj-lt"/>
              <a:buAutoNum type="arabicPeriod"/>
            </a:pPr>
            <a:r>
              <a:rPr lang="en-US" sz="1200" b="0" i="0" dirty="0">
                <a:solidFill>
                  <a:srgbClr val="0F1115"/>
                </a:solidFill>
                <a:effectLst/>
                <a:latin typeface="quote-cjk-patch"/>
              </a:rPr>
              <a:t>In this example, </a:t>
            </a:r>
            <a:r>
              <a:rPr lang="en-US" sz="1200" b="0" i="0" dirty="0" err="1">
                <a:solidFill>
                  <a:srgbClr val="0F1115"/>
                </a:solidFill>
                <a:effectLst/>
                <a:latin typeface="Menlo"/>
              </a:rPr>
              <a:t>NewCar</a:t>
            </a:r>
            <a:r>
              <a:rPr lang="en-US" sz="1200" b="0" i="0" dirty="0">
                <a:solidFill>
                  <a:srgbClr val="0F1115"/>
                </a:solidFill>
                <a:effectLst/>
                <a:latin typeface="quote-cjk-patch"/>
              </a:rPr>
              <a:t> automatically gets the </a:t>
            </a:r>
            <a:r>
              <a:rPr lang="en-US" sz="1200" b="0" i="0" dirty="0" err="1">
                <a:solidFill>
                  <a:srgbClr val="0F1115"/>
                </a:solidFill>
                <a:effectLst/>
                <a:latin typeface="Menlo"/>
              </a:rPr>
              <a:t>tyres</a:t>
            </a:r>
            <a:r>
              <a:rPr lang="en-US" sz="1200" b="0" i="0" dirty="0">
                <a:solidFill>
                  <a:srgbClr val="0F1115"/>
                </a:solidFill>
                <a:effectLst/>
                <a:latin typeface="Menlo"/>
              </a:rPr>
              <a:t>()</a:t>
            </a:r>
            <a:r>
              <a:rPr lang="en-US" sz="1200" b="0" i="0" dirty="0">
                <a:solidFill>
                  <a:srgbClr val="0F1115"/>
                </a:solidFill>
                <a:effectLst/>
                <a:latin typeface="quote-cjk-patch"/>
              </a:rPr>
              <a:t>, </a:t>
            </a:r>
            <a:r>
              <a:rPr lang="en-US" sz="1200" b="0" i="0" dirty="0">
                <a:solidFill>
                  <a:srgbClr val="0F1115"/>
                </a:solidFill>
                <a:effectLst/>
                <a:latin typeface="Menlo"/>
              </a:rPr>
              <a:t>engine()</a:t>
            </a:r>
            <a:r>
              <a:rPr lang="en-US" sz="1200" b="0" i="0" dirty="0">
                <a:solidFill>
                  <a:srgbClr val="0F1115"/>
                </a:solidFill>
                <a:effectLst/>
                <a:latin typeface="quote-cjk-patch"/>
              </a:rPr>
              <a:t>, and </a:t>
            </a:r>
            <a:r>
              <a:rPr lang="en-US" sz="1200" b="0" i="0" dirty="0">
                <a:solidFill>
                  <a:srgbClr val="0F1115"/>
                </a:solidFill>
                <a:effectLst/>
                <a:latin typeface="Menlo"/>
              </a:rPr>
              <a:t>doors()</a:t>
            </a:r>
            <a:r>
              <a:rPr lang="en-US" sz="1200" b="0" i="0" dirty="0">
                <a:solidFill>
                  <a:srgbClr val="0F1115"/>
                </a:solidFill>
                <a:effectLst/>
                <a:latin typeface="quote-cjk-patch"/>
              </a:rPr>
              <a:t> methods from </a:t>
            </a:r>
            <a:r>
              <a:rPr lang="en-US" sz="1200" b="0" i="0" dirty="0">
                <a:solidFill>
                  <a:srgbClr val="0F1115"/>
                </a:solidFill>
                <a:effectLst/>
                <a:latin typeface="Menlo"/>
              </a:rPr>
              <a:t>Vehicles</a:t>
            </a:r>
            <a:r>
              <a:rPr lang="en-US" sz="1200" b="0" i="0" dirty="0">
                <a:solidFill>
                  <a:srgbClr val="0F1115"/>
                </a:solidFill>
                <a:effectLst/>
                <a:latin typeface="quote-cjk-patch"/>
              </a:rPr>
              <a:t> without writing them again</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9FFF498-F359-82AB-BBD3-7F89BA7EC167}"/>
              </a:ext>
            </a:extLst>
          </p:cNvPr>
          <p:cNvSpPr txBox="1"/>
          <p:nvPr/>
        </p:nvSpPr>
        <p:spPr>
          <a:xfrm>
            <a:off x="13649" y="123624"/>
            <a:ext cx="5363571" cy="1384995"/>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12. What is the concept of Method Overloading in Java?</a:t>
            </a:r>
          </a:p>
          <a:p>
            <a:pPr algn="l">
              <a:buNone/>
            </a:pPr>
            <a:r>
              <a:rPr lang="en-US" sz="1200" b="1" i="0" dirty="0">
                <a:solidFill>
                  <a:srgbClr val="0F1115"/>
                </a:solidFill>
                <a:effectLst/>
                <a:latin typeface="quote-cjk-patch"/>
              </a:rPr>
              <a:t>Method Overloading</a:t>
            </a:r>
            <a:r>
              <a:rPr lang="en-US" sz="1200" b="0" i="0" dirty="0">
                <a:solidFill>
                  <a:srgbClr val="0F1115"/>
                </a:solidFill>
                <a:effectLst/>
                <a:latin typeface="quote-cjk-patch"/>
              </a:rPr>
              <a:t> is a feature in Java that allows a class to have more than one method with the </a:t>
            </a:r>
            <a:r>
              <a:rPr lang="en-US" sz="1200" b="1" i="0" dirty="0">
                <a:solidFill>
                  <a:srgbClr val="0F1115"/>
                </a:solidFill>
                <a:effectLst/>
                <a:latin typeface="quote-cjk-patch"/>
              </a:rPr>
              <a:t>same name</a:t>
            </a:r>
            <a:r>
              <a:rPr lang="en-US" sz="1200" b="0" i="0" dirty="0">
                <a:solidFill>
                  <a:srgbClr val="0F1115"/>
                </a:solidFill>
                <a:effectLst/>
                <a:latin typeface="quote-cjk-patch"/>
              </a:rPr>
              <a:t> but with </a:t>
            </a:r>
            <a:r>
              <a:rPr lang="en-US" sz="1200" b="1" i="0" dirty="0">
                <a:solidFill>
                  <a:srgbClr val="0F1115"/>
                </a:solidFill>
                <a:effectLst/>
                <a:latin typeface="quote-cjk-patch"/>
              </a:rPr>
              <a:t>different parameters</a:t>
            </a:r>
            <a:r>
              <a:rPr lang="en-US" sz="1200" b="0" i="0" dirty="0">
                <a:solidFill>
                  <a:srgbClr val="0F1115"/>
                </a:solidFill>
                <a:effectLst/>
                <a:latin typeface="quote-cjk-patch"/>
              </a:rPr>
              <a:t> (different type, number, or order of parameters).</a:t>
            </a:r>
          </a:p>
          <a:p>
            <a:pPr algn="l">
              <a:buNone/>
            </a:pPr>
            <a:r>
              <a:rPr lang="en-US" sz="1200" b="0" i="0" dirty="0">
                <a:solidFill>
                  <a:srgbClr val="0F1115"/>
                </a:solidFill>
                <a:effectLst/>
                <a:latin typeface="quote-cjk-patch"/>
              </a:rPr>
              <a:t>Java resolves method calls by checking the </a:t>
            </a:r>
            <a:r>
              <a:rPr lang="en-US" sz="1200" b="1" i="0" dirty="0">
                <a:solidFill>
                  <a:srgbClr val="0F1115"/>
                </a:solidFill>
                <a:effectLst/>
                <a:latin typeface="quote-cjk-patch"/>
              </a:rPr>
              <a:t>type and number of arguments</a:t>
            </a:r>
            <a:r>
              <a:rPr lang="en-US" sz="1200" b="0" i="0" dirty="0">
                <a:solidFill>
                  <a:srgbClr val="0F1115"/>
                </a:solidFill>
                <a:effectLst/>
                <a:latin typeface="quote-cjk-patch"/>
              </a:rPr>
              <a:t> passed. Based on these arguments, it calls the appropriate method at compile time. This is also known as </a:t>
            </a:r>
            <a:r>
              <a:rPr lang="en-US" sz="1200" b="1" i="0" dirty="0">
                <a:solidFill>
                  <a:srgbClr val="0F1115"/>
                </a:solidFill>
                <a:effectLst/>
                <a:latin typeface="quote-cjk-patch"/>
              </a:rPr>
              <a:t>compile-time polymorphism</a:t>
            </a:r>
            <a:r>
              <a:rPr lang="en-US" sz="1200" b="0" i="0" dirty="0">
                <a:solidFill>
                  <a:srgbClr val="0F1115"/>
                </a:solidFill>
                <a:effectLst/>
                <a:latin typeface="quote-cjk-patch"/>
              </a:rPr>
              <a:t>.</a:t>
            </a:r>
          </a:p>
        </p:txBody>
      </p:sp>
      <p:sp>
        <p:nvSpPr>
          <p:cNvPr id="11" name="TextBox 10">
            <a:extLst>
              <a:ext uri="{FF2B5EF4-FFF2-40B4-BE49-F238E27FC236}">
                <a16:creationId xmlns:a16="http://schemas.microsoft.com/office/drawing/2014/main" id="{CF9E6691-1CF7-73EE-6890-53F09AEAA9EE}"/>
              </a:ext>
            </a:extLst>
          </p:cNvPr>
          <p:cNvSpPr txBox="1"/>
          <p:nvPr/>
        </p:nvSpPr>
        <p:spPr>
          <a:xfrm>
            <a:off x="54593" y="1673820"/>
            <a:ext cx="5295331" cy="4708981"/>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an integer</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A626A4"/>
                </a:solidFill>
                <a:effectLst/>
                <a:latin typeface="Menlo"/>
              </a:rPr>
              <a:t>int</a:t>
            </a:r>
            <a:r>
              <a:rPr lang="en-US" sz="1200" b="0" dirty="0">
                <a:solidFill>
                  <a:srgbClr val="0F1115"/>
                </a:solidFill>
                <a:effectLst/>
                <a:latin typeface="Menlo"/>
              </a:rPr>
              <a:t> a</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"Integer: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 string</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0F1115"/>
                </a:solidFill>
                <a:effectLst/>
                <a:latin typeface="Menlo"/>
              </a:rPr>
              <a:t> b</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"String: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b</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Method to display a double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A626A4"/>
                </a:solidFill>
                <a:effectLst/>
                <a:latin typeface="Menlo"/>
              </a:rPr>
              <a:t>double</a:t>
            </a:r>
            <a:r>
              <a:rPr lang="en-US" sz="1200" b="0" dirty="0">
                <a:solidFill>
                  <a:srgbClr val="0F1115"/>
                </a:solidFill>
                <a:effectLst/>
                <a:latin typeface="Menlo"/>
              </a:rPr>
              <a:t> c</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"Double: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c</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new</a:t>
            </a:r>
            <a:r>
              <a:rPr lang="en-US" sz="1200" b="0" dirty="0">
                <a:solidFill>
                  <a:srgbClr val="0F1115"/>
                </a:solidFill>
                <a:effectLst/>
                <a:latin typeface="Menlo"/>
              </a:rPr>
              <a:t> </a:t>
            </a:r>
            <a:r>
              <a:rPr lang="en-US" sz="1200" b="0" dirty="0">
                <a:solidFill>
                  <a:srgbClr val="B76B01"/>
                </a:solidFill>
                <a:effectLst/>
                <a:latin typeface="Menlo"/>
              </a:rPr>
              <a:t>Display</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Calling overloaded methods - Java automatically calls the right one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10</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show(int a) because integer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50A14F"/>
                </a:solidFill>
                <a:effectLst/>
                <a:latin typeface="Menlo"/>
              </a:rPr>
              <a:t>"</a:t>
            </a:r>
            <a:r>
              <a:rPr lang="en-US" sz="1200" b="0" dirty="0" err="1">
                <a:solidFill>
                  <a:srgbClr val="50A14F"/>
                </a:solidFill>
                <a:effectLst/>
                <a:latin typeface="Menlo"/>
              </a:rPr>
              <a:t>Intellipaat</a:t>
            </a:r>
            <a:r>
              <a:rPr lang="en-US" sz="1200" b="0" dirty="0">
                <a:solidFill>
                  <a:srgbClr val="50A14F"/>
                </a:solidFill>
                <a:effectLst/>
                <a:latin typeface="Menlo"/>
              </a:rPr>
              <a:t>"</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show(String b) because string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display</a:t>
            </a:r>
            <a:r>
              <a:rPr lang="en-US" sz="1200" b="0" dirty="0" err="1">
                <a:solidFill>
                  <a:srgbClr val="383A42"/>
                </a:solidFill>
                <a:effectLst/>
                <a:latin typeface="Menlo"/>
              </a:rPr>
              <a:t>.</a:t>
            </a:r>
            <a:r>
              <a:rPr lang="en-US" sz="1200" b="0" dirty="0" err="1">
                <a:solidFill>
                  <a:srgbClr val="4078F2"/>
                </a:solidFill>
                <a:effectLst/>
                <a:latin typeface="Menlo"/>
              </a:rPr>
              <a:t>show</a:t>
            </a:r>
            <a:r>
              <a:rPr lang="en-US" sz="1200" b="0" dirty="0">
                <a:solidFill>
                  <a:srgbClr val="383A42"/>
                </a:solidFill>
                <a:effectLst/>
                <a:latin typeface="Menlo"/>
              </a:rPr>
              <a:t>(</a:t>
            </a:r>
            <a:r>
              <a:rPr lang="en-US" sz="1200" b="0" dirty="0">
                <a:solidFill>
                  <a:srgbClr val="B76B01"/>
                </a:solidFill>
                <a:effectLst/>
                <a:latin typeface="Menlo"/>
              </a:rPr>
              <a:t>10.5</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Calls show(double c) because double is passed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4" name="TextBox 13">
            <a:extLst>
              <a:ext uri="{FF2B5EF4-FFF2-40B4-BE49-F238E27FC236}">
                <a16:creationId xmlns:a16="http://schemas.microsoft.com/office/drawing/2014/main" id="{9741072D-523F-5F4B-6C0A-51174E03DA71}"/>
              </a:ext>
            </a:extLst>
          </p:cNvPr>
          <p:cNvSpPr txBox="1"/>
          <p:nvPr/>
        </p:nvSpPr>
        <p:spPr>
          <a:xfrm>
            <a:off x="3439237" y="2829690"/>
            <a:ext cx="1296537" cy="1015663"/>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Output:</a:t>
            </a:r>
          </a:p>
          <a:p>
            <a:pPr algn="l">
              <a:buNone/>
            </a:pPr>
            <a:r>
              <a:rPr lang="en-US" sz="1200" b="0" i="0" dirty="0">
                <a:solidFill>
                  <a:srgbClr val="0F1115"/>
                </a:solidFill>
                <a:effectLst/>
                <a:latin typeface="Menlo"/>
              </a:rPr>
              <a:t>text</a:t>
            </a:r>
            <a:endParaRPr lang="en-US" sz="1200" b="0" i="0" dirty="0">
              <a:solidFill>
                <a:srgbClr val="0F1115"/>
              </a:solidFill>
              <a:effectLst/>
              <a:latin typeface="quote-cjk-patch"/>
            </a:endParaRPr>
          </a:p>
          <a:p>
            <a:pPr algn="l" latinLnBrk="1">
              <a:buNone/>
            </a:pPr>
            <a:r>
              <a:rPr lang="en-US" sz="1200" b="0" i="0" dirty="0">
                <a:solidFill>
                  <a:srgbClr val="0F1115"/>
                </a:solidFill>
                <a:effectLst/>
                <a:latin typeface="Menlo"/>
              </a:rPr>
              <a:t>Integer: 10</a:t>
            </a:r>
          </a:p>
          <a:p>
            <a:pPr algn="l" latinLnBrk="1">
              <a:buNone/>
            </a:pPr>
            <a:r>
              <a:rPr lang="en-US" sz="1200" b="0" i="0" dirty="0">
                <a:solidFill>
                  <a:srgbClr val="0F1115"/>
                </a:solidFill>
                <a:effectLst/>
                <a:latin typeface="Menlo"/>
              </a:rPr>
              <a:t>String: </a:t>
            </a:r>
            <a:r>
              <a:rPr lang="en-US" sz="1200" b="0" i="0" dirty="0" err="1">
                <a:solidFill>
                  <a:srgbClr val="0F1115"/>
                </a:solidFill>
                <a:effectLst/>
                <a:latin typeface="Menlo"/>
              </a:rPr>
              <a:t>Intellipaat</a:t>
            </a:r>
            <a:endParaRPr lang="en-US" sz="1200" b="0" i="0" dirty="0">
              <a:solidFill>
                <a:srgbClr val="0F1115"/>
              </a:solidFill>
              <a:effectLst/>
              <a:latin typeface="Menlo"/>
            </a:endParaRPr>
          </a:p>
          <a:p>
            <a:pPr algn="l" latinLnBrk="1">
              <a:buNone/>
            </a:pPr>
            <a:r>
              <a:rPr lang="en-US" sz="1200" b="0" i="0" dirty="0">
                <a:solidFill>
                  <a:srgbClr val="0F1115"/>
                </a:solidFill>
                <a:effectLst/>
                <a:latin typeface="Menlo"/>
              </a:rPr>
              <a:t>Double: 10.5</a:t>
            </a:r>
          </a:p>
        </p:txBody>
      </p:sp>
      <p:sp>
        <p:nvSpPr>
          <p:cNvPr id="16" name="TextBox 15">
            <a:extLst>
              <a:ext uri="{FF2B5EF4-FFF2-40B4-BE49-F238E27FC236}">
                <a16:creationId xmlns:a16="http://schemas.microsoft.com/office/drawing/2014/main" id="{8E5EE854-58DC-B4E0-80A0-75A5D8D3226B}"/>
              </a:ext>
            </a:extLst>
          </p:cNvPr>
          <p:cNvSpPr txBox="1"/>
          <p:nvPr/>
        </p:nvSpPr>
        <p:spPr>
          <a:xfrm>
            <a:off x="5554640" y="4628475"/>
            <a:ext cx="4176214"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How Method Overloading Works:</a:t>
            </a:r>
          </a:p>
          <a:p>
            <a:pPr algn="l">
              <a:buNone/>
            </a:pPr>
            <a:r>
              <a:rPr lang="en-US" sz="1200" b="0" i="0" dirty="0">
                <a:solidFill>
                  <a:srgbClr val="0F1115"/>
                </a:solidFill>
                <a:effectLst/>
                <a:latin typeface="quote-cjk-patch"/>
              </a:rPr>
              <a:t>When a method is called with specific arguments, Java determines which method to execute:</a:t>
            </a:r>
          </a:p>
          <a:p>
            <a:pPr algn="l">
              <a:buFont typeface="Arial" panose="020B0604020202020204" pitchFamily="34" charset="0"/>
              <a:buChar char="•"/>
            </a:pPr>
            <a:r>
              <a:rPr lang="en-US" sz="1200" b="0" i="0" dirty="0">
                <a:solidFill>
                  <a:srgbClr val="0F1115"/>
                </a:solidFill>
                <a:effectLst/>
                <a:latin typeface="quote-cjk-patch"/>
              </a:rPr>
              <a:t>If you pass an </a:t>
            </a:r>
            <a:r>
              <a:rPr lang="en-US" sz="1200" b="1" i="0" dirty="0">
                <a:solidFill>
                  <a:srgbClr val="0F1115"/>
                </a:solidFill>
                <a:effectLst/>
                <a:latin typeface="quote-cjk-patch"/>
              </a:rPr>
              <a:t>integer</a:t>
            </a:r>
            <a:r>
              <a:rPr lang="en-US" sz="1200" b="0" i="0" dirty="0">
                <a:solidFill>
                  <a:srgbClr val="0F1115"/>
                </a:solidFill>
                <a:effectLst/>
                <a:latin typeface="quote-cjk-patch"/>
              </a:rPr>
              <a:t> value (like 10), the method that accepts an </a:t>
            </a:r>
            <a:r>
              <a:rPr lang="en-US" sz="1200" b="1" i="0" dirty="0">
                <a:solidFill>
                  <a:srgbClr val="0F1115"/>
                </a:solidFill>
                <a:effectLst/>
                <a:latin typeface="quote-cjk-patch"/>
              </a:rPr>
              <a:t>int</a:t>
            </a:r>
            <a:r>
              <a:rPr lang="en-US" sz="1200" b="0" i="0" dirty="0">
                <a:solidFill>
                  <a:srgbClr val="0F1115"/>
                </a:solidFill>
                <a:effectLst/>
                <a:latin typeface="quote-cjk-patch"/>
              </a:rPr>
              <a:t> parameter is called</a:t>
            </a:r>
          </a:p>
          <a:p>
            <a:pPr algn="l">
              <a:buFont typeface="Arial" panose="020B0604020202020204" pitchFamily="34" charset="0"/>
              <a:buChar char="•"/>
            </a:pPr>
            <a:r>
              <a:rPr lang="en-US" sz="1200" b="0" i="0" dirty="0">
                <a:solidFill>
                  <a:srgbClr val="0F1115"/>
                </a:solidFill>
                <a:effectLst/>
                <a:latin typeface="quote-cjk-patch"/>
              </a:rPr>
              <a:t>If you pass a </a:t>
            </a:r>
            <a:r>
              <a:rPr lang="en-US" sz="1200" b="1" i="0" dirty="0">
                <a:solidFill>
                  <a:srgbClr val="0F1115"/>
                </a:solidFill>
                <a:effectLst/>
                <a:latin typeface="quote-cjk-patch"/>
              </a:rPr>
              <a:t>String</a:t>
            </a:r>
            <a:r>
              <a:rPr lang="en-US" sz="1200" b="0" i="0" dirty="0">
                <a:solidFill>
                  <a:srgbClr val="0F1115"/>
                </a:solidFill>
                <a:effectLst/>
                <a:latin typeface="quote-cjk-patch"/>
              </a:rPr>
              <a:t> value (like "</a:t>
            </a:r>
            <a:r>
              <a:rPr lang="en-US" sz="1200" b="0" i="0" dirty="0" err="1">
                <a:solidFill>
                  <a:srgbClr val="0F1115"/>
                </a:solidFill>
                <a:effectLst/>
                <a:latin typeface="quote-cjk-patch"/>
              </a:rPr>
              <a:t>Intellipaat</a:t>
            </a:r>
            <a:r>
              <a:rPr lang="en-US" sz="1200" b="0" i="0" dirty="0">
                <a:solidFill>
                  <a:srgbClr val="0F1115"/>
                </a:solidFill>
                <a:effectLst/>
                <a:latin typeface="quote-cjk-patch"/>
              </a:rPr>
              <a:t>"), the method that accepts a </a:t>
            </a:r>
            <a:r>
              <a:rPr lang="en-US" sz="1200" b="1" i="0" dirty="0">
                <a:solidFill>
                  <a:srgbClr val="0F1115"/>
                </a:solidFill>
                <a:effectLst/>
                <a:latin typeface="quote-cjk-patch"/>
              </a:rPr>
              <a:t>String</a:t>
            </a:r>
            <a:r>
              <a:rPr lang="en-US" sz="1200" b="0" i="0" dirty="0">
                <a:solidFill>
                  <a:srgbClr val="0F1115"/>
                </a:solidFill>
                <a:effectLst/>
                <a:latin typeface="quote-cjk-patch"/>
              </a:rPr>
              <a:t> parameter is called</a:t>
            </a:r>
          </a:p>
          <a:p>
            <a:pPr algn="l">
              <a:buFont typeface="Arial" panose="020B0604020202020204" pitchFamily="34" charset="0"/>
              <a:buChar char="•"/>
            </a:pPr>
            <a:r>
              <a:rPr lang="en-US" sz="1200" b="0" i="0" dirty="0">
                <a:solidFill>
                  <a:srgbClr val="0F1115"/>
                </a:solidFill>
                <a:effectLst/>
                <a:latin typeface="quote-cjk-patch"/>
              </a:rPr>
              <a:t>If you pass a </a:t>
            </a:r>
            <a:r>
              <a:rPr lang="en-US" sz="1200" b="1" i="0" dirty="0">
                <a:solidFill>
                  <a:srgbClr val="0F1115"/>
                </a:solidFill>
                <a:effectLst/>
                <a:latin typeface="quote-cjk-patch"/>
              </a:rPr>
              <a:t>double</a:t>
            </a:r>
            <a:r>
              <a:rPr lang="en-US" sz="1200" b="0" i="0" dirty="0">
                <a:solidFill>
                  <a:srgbClr val="0F1115"/>
                </a:solidFill>
                <a:effectLst/>
                <a:latin typeface="quote-cjk-patch"/>
              </a:rPr>
              <a:t> value (like 10.5), the method that accepts a </a:t>
            </a:r>
            <a:r>
              <a:rPr lang="en-US" sz="1200" b="1" i="0" dirty="0">
                <a:solidFill>
                  <a:srgbClr val="0F1115"/>
                </a:solidFill>
                <a:effectLst/>
                <a:latin typeface="quote-cjk-patch"/>
              </a:rPr>
              <a:t>double</a:t>
            </a:r>
            <a:r>
              <a:rPr lang="en-US" sz="1200" b="0" i="0" dirty="0">
                <a:solidFill>
                  <a:srgbClr val="0F1115"/>
                </a:solidFill>
                <a:effectLst/>
                <a:latin typeface="quote-cjk-patch"/>
              </a:rPr>
              <a:t> parameter is called</a:t>
            </a:r>
          </a:p>
        </p:txBody>
      </p:sp>
      <p:sp>
        <p:nvSpPr>
          <p:cNvPr id="20" name="TextBox 19">
            <a:extLst>
              <a:ext uri="{FF2B5EF4-FFF2-40B4-BE49-F238E27FC236}">
                <a16:creationId xmlns:a16="http://schemas.microsoft.com/office/drawing/2014/main" id="{1B1032FD-EF5F-EB6A-05F0-9E9DA6A22683}"/>
              </a:ext>
            </a:extLst>
          </p:cNvPr>
          <p:cNvSpPr txBox="1"/>
          <p:nvPr/>
        </p:nvSpPr>
        <p:spPr>
          <a:xfrm>
            <a:off x="6039136" y="2089318"/>
            <a:ext cx="3207222" cy="1938992"/>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Ways to Achieve Method Overloading:</a:t>
            </a:r>
          </a:p>
          <a:p>
            <a:pPr algn="l">
              <a:buFont typeface="+mj-lt"/>
              <a:buAutoNum type="arabicPeriod"/>
            </a:pPr>
            <a:r>
              <a:rPr lang="en-US" sz="1200" b="1" i="0" dirty="0">
                <a:solidFill>
                  <a:srgbClr val="0F1115"/>
                </a:solidFill>
                <a:effectLst/>
                <a:latin typeface="quote-cjk-patch"/>
              </a:rPr>
              <a:t>By changing the number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br>
              <a:rPr lang="en-US" sz="1200" dirty="0">
                <a:solidFill>
                  <a:srgbClr val="0F1115"/>
                </a:solidFill>
                <a:latin typeface="Menlo"/>
              </a:rPr>
            </a:br>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int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a:r>
              <a:rPr lang="en-US" sz="1200" b="1" i="0" dirty="0">
                <a:solidFill>
                  <a:srgbClr val="0F1115"/>
                </a:solidFill>
                <a:effectLst/>
                <a:latin typeface="quote-cjk-patch"/>
              </a:rPr>
              <a:t>2. By changing the data type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B76B01"/>
                </a:solidFill>
                <a:effectLst/>
                <a:latin typeface="Menlo"/>
              </a:rPr>
              <a:t>String</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a:r>
              <a:rPr lang="en-US" sz="1200" b="1" i="0" dirty="0">
                <a:solidFill>
                  <a:srgbClr val="0F1115"/>
                </a:solidFill>
                <a:effectLst/>
                <a:latin typeface="quote-cjk-patch"/>
              </a:rPr>
              <a:t>3.By changing the sequence of parameters</a:t>
            </a:r>
            <a:endParaRPr lang="en-US" sz="1200" b="0" i="0" dirty="0">
              <a:solidFill>
                <a:srgbClr val="0F1115"/>
              </a:solidFill>
              <a:effectLst/>
              <a:latin typeface="quote-cjk-patch"/>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A626A4"/>
                </a:solidFill>
                <a:effectLst/>
                <a:latin typeface="Menlo"/>
              </a:rPr>
              <a:t>int</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r>
              <a:rPr lang="en-US" sz="1200" b="0" i="0" dirty="0">
                <a:solidFill>
                  <a:srgbClr val="A626A4"/>
                </a:solidFill>
                <a:effectLst/>
                <a:latin typeface="Menlo"/>
              </a:rPr>
              <a:t>void</a:t>
            </a:r>
            <a:r>
              <a:rPr lang="en-US" sz="1200" b="0" i="0" dirty="0">
                <a:solidFill>
                  <a:srgbClr val="0F1115"/>
                </a:solidFill>
                <a:effectLst/>
                <a:latin typeface="Menlo"/>
              </a:rPr>
              <a:t> </a:t>
            </a:r>
            <a:r>
              <a:rPr lang="en-US" sz="1200" b="0" i="0" dirty="0">
                <a:solidFill>
                  <a:srgbClr val="4078F2"/>
                </a:solidFill>
                <a:effectLst/>
                <a:latin typeface="Menlo"/>
              </a:rPr>
              <a:t>display</a:t>
            </a:r>
            <a:r>
              <a:rPr lang="en-US" sz="1200" b="0" i="0" dirty="0">
                <a:solidFill>
                  <a:srgbClr val="383A42"/>
                </a:solidFill>
                <a:effectLst/>
                <a:latin typeface="Menlo"/>
              </a:rPr>
              <a:t>(</a:t>
            </a:r>
            <a:r>
              <a:rPr lang="en-US" sz="1200" b="0" i="0" dirty="0">
                <a:solidFill>
                  <a:srgbClr val="B76B01"/>
                </a:solidFill>
                <a:effectLst/>
                <a:latin typeface="Menlo"/>
              </a:rPr>
              <a:t>String</a:t>
            </a:r>
            <a:r>
              <a:rPr lang="en-US" sz="1200" b="0" i="0" dirty="0">
                <a:solidFill>
                  <a:srgbClr val="0F1115"/>
                </a:solidFill>
                <a:effectLst/>
                <a:latin typeface="Menlo"/>
              </a:rPr>
              <a:t> a</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int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p:txBody>
      </p:sp>
      <p:sp>
        <p:nvSpPr>
          <p:cNvPr id="22" name="TextBox 21">
            <a:extLst>
              <a:ext uri="{FF2B5EF4-FFF2-40B4-BE49-F238E27FC236}">
                <a16:creationId xmlns:a16="http://schemas.microsoft.com/office/drawing/2014/main" id="{1DFE01F6-8BFD-3980-701D-7C4CA5E720E2}"/>
              </a:ext>
            </a:extLst>
          </p:cNvPr>
          <p:cNvSpPr txBox="1"/>
          <p:nvPr/>
        </p:nvSpPr>
        <p:spPr>
          <a:xfrm>
            <a:off x="5554640" y="405523"/>
            <a:ext cx="4176214" cy="1384995"/>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Key Points:</a:t>
            </a:r>
          </a:p>
          <a:p>
            <a:pPr algn="l">
              <a:buFont typeface="Arial" panose="020B0604020202020204" pitchFamily="34" charset="0"/>
              <a:buChar char="•"/>
            </a:pPr>
            <a:r>
              <a:rPr lang="en-US" sz="1200" b="0" i="0" dirty="0">
                <a:solidFill>
                  <a:srgbClr val="0F1115"/>
                </a:solidFill>
                <a:effectLst/>
                <a:latin typeface="quote-cjk-patch"/>
              </a:rPr>
              <a:t>Method overloading improves code </a:t>
            </a:r>
            <a:r>
              <a:rPr lang="en-US" sz="1200" b="1" i="0" dirty="0">
                <a:solidFill>
                  <a:srgbClr val="0F1115"/>
                </a:solidFill>
                <a:effectLst/>
                <a:latin typeface="quote-cjk-patch"/>
              </a:rPr>
              <a:t>readability</a:t>
            </a:r>
            <a:r>
              <a:rPr lang="en-US" sz="1200" b="0" i="0" dirty="0">
                <a:solidFill>
                  <a:srgbClr val="0F1115"/>
                </a:solidFill>
                <a:effectLst/>
                <a:latin typeface="quote-cjk-patch"/>
              </a:rPr>
              <a:t> and </a:t>
            </a:r>
            <a:r>
              <a:rPr lang="en-US" sz="1200" b="1" i="0" dirty="0">
                <a:solidFill>
                  <a:srgbClr val="0F1115"/>
                </a:solidFill>
                <a:effectLst/>
                <a:latin typeface="quote-cjk-patch"/>
              </a:rPr>
              <a:t>reusability</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It allows methods to perform similar functions with different inputs</a:t>
            </a:r>
          </a:p>
          <a:p>
            <a:pPr algn="l">
              <a:buFont typeface="Arial" panose="020B0604020202020204" pitchFamily="34" charset="0"/>
              <a:buChar char="•"/>
            </a:pPr>
            <a:r>
              <a:rPr lang="en-US" sz="1200" b="0" i="0" dirty="0">
                <a:solidFill>
                  <a:srgbClr val="0F1115"/>
                </a:solidFill>
                <a:effectLst/>
                <a:latin typeface="quote-cjk-patch"/>
              </a:rPr>
              <a:t>Return type alone is </a:t>
            </a:r>
            <a:r>
              <a:rPr lang="en-US" sz="1200" b="1" i="0" dirty="0">
                <a:solidFill>
                  <a:srgbClr val="0F1115"/>
                </a:solidFill>
                <a:effectLst/>
                <a:latin typeface="quote-cjk-patch"/>
              </a:rPr>
              <a:t>not sufficient</a:t>
            </a:r>
            <a:r>
              <a:rPr lang="en-US" sz="1200" b="0" i="0" dirty="0">
                <a:solidFill>
                  <a:srgbClr val="0F1115"/>
                </a:solidFill>
                <a:effectLst/>
                <a:latin typeface="quote-cjk-patch"/>
              </a:rPr>
              <a:t> to overload methods (methods must differ in parameters)</a:t>
            </a:r>
          </a:p>
          <a:p>
            <a:pPr algn="l">
              <a:buFont typeface="Arial" panose="020B0604020202020204" pitchFamily="34" charset="0"/>
              <a:buChar char="•"/>
            </a:pPr>
            <a:r>
              <a:rPr lang="en-US" sz="1200" b="0" i="0" dirty="0">
                <a:solidFill>
                  <a:srgbClr val="0F1115"/>
                </a:solidFill>
                <a:effectLst/>
                <a:latin typeface="quote-cjk-patch"/>
              </a:rPr>
              <a:t>It's a way to implement </a:t>
            </a:r>
            <a:r>
              <a:rPr lang="en-US" sz="1200" b="1" i="0" dirty="0">
                <a:solidFill>
                  <a:srgbClr val="0F1115"/>
                </a:solidFill>
                <a:effectLst/>
                <a:latin typeface="quote-cjk-patch"/>
              </a:rPr>
              <a:t>compile-time polymorphism</a:t>
            </a:r>
            <a:r>
              <a:rPr lang="en-US" sz="1200" b="0" i="0" dirty="0">
                <a:solidFill>
                  <a:srgbClr val="0F1115"/>
                </a:solidFill>
                <a:effectLst/>
                <a:latin typeface="quote-cjk-patch"/>
              </a:rPr>
              <a:t> in Java</a:t>
            </a: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731B864-9C53-5C94-595D-A8CDAED87791}"/>
              </a:ext>
            </a:extLst>
          </p:cNvPr>
          <p:cNvSpPr txBox="1"/>
          <p:nvPr/>
        </p:nvSpPr>
        <p:spPr>
          <a:xfrm>
            <a:off x="-1" y="-11669"/>
            <a:ext cx="9810463" cy="646331"/>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13. Explain the working of == operator in Java</a:t>
            </a:r>
          </a:p>
          <a:p>
            <a:pPr algn="l">
              <a:buNone/>
            </a:pPr>
            <a:r>
              <a:rPr lang="en-US" sz="1200" b="0" i="0" dirty="0">
                <a:solidFill>
                  <a:srgbClr val="0F1115"/>
                </a:solidFill>
                <a:effectLst/>
                <a:latin typeface="quote-cjk-patch"/>
              </a:rPr>
              <a:t>The </a:t>
            </a:r>
            <a:r>
              <a:rPr lang="en-US" sz="1200" b="0" i="0" dirty="0">
                <a:solidFill>
                  <a:srgbClr val="0F1115"/>
                </a:solidFill>
                <a:effectLst/>
                <a:latin typeface="Menlo"/>
              </a:rPr>
              <a:t>==</a:t>
            </a:r>
            <a:r>
              <a:rPr lang="en-US" sz="1200" b="1" i="0" dirty="0">
                <a:solidFill>
                  <a:srgbClr val="0F1115"/>
                </a:solidFill>
                <a:effectLst/>
                <a:latin typeface="quote-cjk-patch"/>
              </a:rPr>
              <a:t> operator</a:t>
            </a:r>
            <a:r>
              <a:rPr lang="en-US" sz="1200" b="0" i="0" dirty="0">
                <a:solidFill>
                  <a:srgbClr val="0F1115"/>
                </a:solidFill>
                <a:effectLst/>
                <a:latin typeface="quote-cjk-patch"/>
              </a:rPr>
              <a:t> in Java is used to compare primitives, object references, and more. Its behavior varies depending on the context – specifically, what type of data is being compared.</a:t>
            </a:r>
          </a:p>
        </p:txBody>
      </p:sp>
      <p:graphicFrame>
        <p:nvGraphicFramePr>
          <p:cNvPr id="6" name="Table 5">
            <a:extLst>
              <a:ext uri="{FF2B5EF4-FFF2-40B4-BE49-F238E27FC236}">
                <a16:creationId xmlns:a16="http://schemas.microsoft.com/office/drawing/2014/main" id="{B43EE8B1-CEA3-D521-3B0F-A9655364FA07}"/>
              </a:ext>
            </a:extLst>
          </p:cNvPr>
          <p:cNvGraphicFramePr>
            <a:graphicFrameLocks noGrp="1"/>
          </p:cNvGraphicFramePr>
          <p:nvPr>
            <p:extLst>
              <p:ext uri="{D42A27DB-BD31-4B8C-83A1-F6EECF244321}">
                <p14:modId xmlns:p14="http://schemas.microsoft.com/office/powerpoint/2010/main" val="1675267843"/>
              </p:ext>
            </p:extLst>
          </p:nvPr>
        </p:nvGraphicFramePr>
        <p:xfrm>
          <a:off x="95537" y="692765"/>
          <a:ext cx="4656942" cy="3097520"/>
        </p:xfrm>
        <a:graphic>
          <a:graphicData uri="http://schemas.openxmlformats.org/drawingml/2006/table">
            <a:tbl>
              <a:tblPr>
                <a:tableStyleId>{5940675A-B579-460E-94D1-54222C63F5DA}</a:tableStyleId>
              </a:tblPr>
              <a:tblGrid>
                <a:gridCol w="1552314">
                  <a:extLst>
                    <a:ext uri="{9D8B030D-6E8A-4147-A177-3AD203B41FA5}">
                      <a16:colId xmlns:a16="http://schemas.microsoft.com/office/drawing/2014/main" val="3124445098"/>
                    </a:ext>
                  </a:extLst>
                </a:gridCol>
                <a:gridCol w="1005683">
                  <a:extLst>
                    <a:ext uri="{9D8B030D-6E8A-4147-A177-3AD203B41FA5}">
                      <a16:colId xmlns:a16="http://schemas.microsoft.com/office/drawing/2014/main" val="2874509823"/>
                    </a:ext>
                  </a:extLst>
                </a:gridCol>
                <a:gridCol w="2098945">
                  <a:extLst>
                    <a:ext uri="{9D8B030D-6E8A-4147-A177-3AD203B41FA5}">
                      <a16:colId xmlns:a16="http://schemas.microsoft.com/office/drawing/2014/main" val="2812532903"/>
                    </a:ext>
                  </a:extLst>
                </a:gridCol>
              </a:tblGrid>
              <a:tr h="317383">
                <a:tc>
                  <a:txBody>
                    <a:bodyPr/>
                    <a:lstStyle/>
                    <a:p>
                      <a:pPr algn="l">
                        <a:lnSpc>
                          <a:spcPct val="100000"/>
                        </a:lnSpc>
                        <a:buNone/>
                      </a:pPr>
                      <a:r>
                        <a:rPr lang="en-US" sz="1200" b="0" dirty="0">
                          <a:effectLst/>
                        </a:rPr>
                        <a:t>Context</a:t>
                      </a:r>
                      <a:endParaRPr lang="en-US" sz="1200" b="0" dirty="0">
                        <a:effectLst/>
                        <a:latin typeface="quote-cjk-patch"/>
                      </a:endParaRPr>
                    </a:p>
                  </a:txBody>
                  <a:tcPr marL="64464" marR="85952" marT="53720" marB="53720" anchor="ctr"/>
                </a:tc>
                <a:tc>
                  <a:txBody>
                    <a:bodyPr/>
                    <a:lstStyle/>
                    <a:p>
                      <a:pPr algn="l">
                        <a:lnSpc>
                          <a:spcPct val="100000"/>
                        </a:lnSpc>
                        <a:buNone/>
                      </a:pPr>
                      <a:r>
                        <a:rPr lang="en-US" sz="1200" b="0" dirty="0">
                          <a:effectLst/>
                        </a:rPr>
                        <a:t>What == compares?</a:t>
                      </a:r>
                      <a:endParaRPr lang="en-US" sz="1200" b="0" dirty="0">
                        <a:effectLst/>
                        <a:latin typeface="quote-cjk-patch"/>
                      </a:endParaRPr>
                    </a:p>
                  </a:txBody>
                  <a:tcPr marL="85952" marR="85952" marT="53720" marB="53720" anchor="ctr"/>
                </a:tc>
                <a:tc>
                  <a:txBody>
                    <a:bodyPr/>
                    <a:lstStyle/>
                    <a:p>
                      <a:pPr algn="l">
                        <a:lnSpc>
                          <a:spcPct val="100000"/>
                        </a:lnSpc>
                        <a:buNone/>
                      </a:pPr>
                      <a:r>
                        <a:rPr lang="en-US" sz="1200" b="0" dirty="0">
                          <a:effectLst/>
                        </a:rPr>
                        <a:t>Explanation</a:t>
                      </a:r>
                      <a:endParaRPr lang="en-US" sz="1200" b="0" dirty="0">
                        <a:effectLst/>
                        <a:latin typeface="quote-cjk-patch"/>
                      </a:endParaRPr>
                    </a:p>
                  </a:txBody>
                  <a:tcPr marL="85952" marR="85952" marT="53720" marB="53720" anchor="ctr"/>
                </a:tc>
                <a:extLst>
                  <a:ext uri="{0D108BD9-81ED-4DB2-BD59-A6C34878D82A}">
                    <a16:rowId xmlns:a16="http://schemas.microsoft.com/office/drawing/2014/main" val="1489827379"/>
                  </a:ext>
                </a:extLst>
              </a:tr>
              <a:tr h="442225">
                <a:tc>
                  <a:txBody>
                    <a:bodyPr/>
                    <a:lstStyle/>
                    <a:p>
                      <a:pPr>
                        <a:lnSpc>
                          <a:spcPct val="100000"/>
                        </a:lnSpc>
                        <a:buNone/>
                      </a:pPr>
                      <a:r>
                        <a:rPr lang="en-US" sz="1200" b="1" dirty="0">
                          <a:effectLst/>
                        </a:rPr>
                        <a:t>Primitives</a:t>
                      </a:r>
                      <a:endParaRPr lang="en-US" sz="1200" b="0" dirty="0">
                        <a:effectLst/>
                        <a:latin typeface="quote-cjk-patch"/>
                      </a:endParaRPr>
                    </a:p>
                  </a:txBody>
                  <a:tcPr marL="64464" marR="85952" marT="53720" marB="53720" anchor="ctr"/>
                </a:tc>
                <a:tc>
                  <a:txBody>
                    <a:bodyPr/>
                    <a:lstStyle/>
                    <a:p>
                      <a:pPr>
                        <a:lnSpc>
                          <a:spcPct val="100000"/>
                        </a:lnSpc>
                        <a:buNone/>
                      </a:pPr>
                      <a:r>
                        <a:rPr lang="en-US" sz="1200" b="0" dirty="0">
                          <a:effectLst/>
                        </a:rPr>
                        <a:t>Values</a:t>
                      </a:r>
                      <a:endParaRPr lang="en-US" sz="1200" b="0" dirty="0">
                        <a:effectLst/>
                        <a:latin typeface="quote-cjk-patch"/>
                      </a:endParaRPr>
                    </a:p>
                  </a:txBody>
                  <a:tcPr marL="85952" marR="85952" marT="53720" marB="53720" anchor="ctr"/>
                </a:tc>
                <a:tc>
                  <a:txBody>
                    <a:bodyPr/>
                    <a:lstStyle/>
                    <a:p>
                      <a:pPr>
                        <a:lnSpc>
                          <a:spcPct val="100000"/>
                        </a:lnSpc>
                        <a:buNone/>
                      </a:pPr>
                      <a:r>
                        <a:rPr lang="en-US" sz="1200" b="0" dirty="0">
                          <a:effectLst/>
                        </a:rPr>
                        <a:t>Compares the actual values (e.g., 5 == 5 returns true)</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2643944614"/>
                  </a:ext>
                </a:extLst>
              </a:tr>
              <a:tr h="542273">
                <a:tc>
                  <a:txBody>
                    <a:bodyPr/>
                    <a:lstStyle/>
                    <a:p>
                      <a:pPr>
                        <a:lnSpc>
                          <a:spcPct val="100000"/>
                        </a:lnSpc>
                        <a:buNone/>
                      </a:pPr>
                      <a:r>
                        <a:rPr lang="en-US" sz="1200" b="1" dirty="0">
                          <a:effectLst/>
                        </a:rPr>
                        <a:t>Object References</a:t>
                      </a:r>
                      <a:endParaRPr lang="en-US" sz="1200" b="0" dirty="0">
                        <a:effectLst/>
                        <a:latin typeface="quote-cjk-patch"/>
                      </a:endParaRPr>
                    </a:p>
                  </a:txBody>
                  <a:tcPr marL="64464" marR="85952" marT="53720" marB="53720" anchor="ctr"/>
                </a:tc>
                <a:tc>
                  <a:txBody>
                    <a:bodyPr/>
                    <a:lstStyle/>
                    <a:p>
                      <a:pPr>
                        <a:lnSpc>
                          <a:spcPct val="100000"/>
                        </a:lnSpc>
                        <a:buNone/>
                      </a:pPr>
                      <a:r>
                        <a:rPr lang="en-US" sz="1200" b="0" dirty="0">
                          <a:effectLst/>
                        </a:rPr>
                        <a:t>Memory Locations</a:t>
                      </a:r>
                      <a:endParaRPr lang="en-US" sz="1200" b="0" dirty="0">
                        <a:effectLst/>
                        <a:latin typeface="quote-cjk-patch"/>
                      </a:endParaRPr>
                    </a:p>
                  </a:txBody>
                  <a:tcPr marL="85952" marR="85952" marT="53720" marB="53720" anchor="ctr"/>
                </a:tc>
                <a:tc>
                  <a:txBody>
                    <a:bodyPr/>
                    <a:lstStyle/>
                    <a:p>
                      <a:pPr>
                        <a:lnSpc>
                          <a:spcPct val="100000"/>
                        </a:lnSpc>
                        <a:buNone/>
                      </a:pPr>
                      <a:r>
                        <a:rPr lang="en-US" sz="1200" b="0" dirty="0">
                          <a:effectLst/>
                        </a:rPr>
                        <a:t>Compares whether two references point to the same object in memory</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779543737"/>
                  </a:ext>
                </a:extLst>
              </a:tr>
              <a:tr h="567066">
                <a:tc>
                  <a:txBody>
                    <a:bodyPr/>
                    <a:lstStyle/>
                    <a:p>
                      <a:pPr>
                        <a:lnSpc>
                          <a:spcPct val="100000"/>
                        </a:lnSpc>
                        <a:buNone/>
                      </a:pPr>
                      <a:r>
                        <a:rPr lang="en-US" sz="1200" b="1">
                          <a:effectLst/>
                        </a:rPr>
                        <a:t>String Literals</a:t>
                      </a:r>
                      <a:endParaRPr lang="en-US" sz="1200" b="0">
                        <a:effectLst/>
                        <a:latin typeface="quote-cjk-patch"/>
                      </a:endParaRPr>
                    </a:p>
                  </a:txBody>
                  <a:tcPr marL="64464" marR="85952" marT="53720" marB="53720" anchor="ctr"/>
                </a:tc>
                <a:tc>
                  <a:txBody>
                    <a:bodyPr/>
                    <a:lstStyle/>
                    <a:p>
                      <a:pPr>
                        <a:lnSpc>
                          <a:spcPct val="100000"/>
                        </a:lnSpc>
                        <a:buNone/>
                      </a:pPr>
                      <a:r>
                        <a:rPr lang="en-US" sz="1200" b="0">
                          <a:effectLst/>
                        </a:rPr>
                        <a:t>Memory Locations in String Pool</a:t>
                      </a:r>
                      <a:endParaRPr lang="en-US" sz="1200" b="0">
                        <a:effectLst/>
                        <a:latin typeface="quote-cjk-patch"/>
                      </a:endParaRPr>
                    </a:p>
                  </a:txBody>
                  <a:tcPr marL="85952" marR="85952" marT="53720" marB="53720" anchor="ctr"/>
                </a:tc>
                <a:tc>
                  <a:txBody>
                    <a:bodyPr/>
                    <a:lstStyle/>
                    <a:p>
                      <a:pPr>
                        <a:lnSpc>
                          <a:spcPct val="100000"/>
                        </a:lnSpc>
                        <a:buNone/>
                      </a:pPr>
                      <a:r>
                        <a:rPr lang="en-US" sz="1200" b="0" dirty="0">
                          <a:effectLst/>
                        </a:rPr>
                        <a:t>Compares references in the string constant pool</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494749635"/>
                  </a:ext>
                </a:extLst>
              </a:tr>
              <a:tr h="624043">
                <a:tc>
                  <a:txBody>
                    <a:bodyPr/>
                    <a:lstStyle/>
                    <a:p>
                      <a:pPr>
                        <a:lnSpc>
                          <a:spcPct val="100000"/>
                        </a:lnSpc>
                        <a:buNone/>
                      </a:pPr>
                      <a:r>
                        <a:rPr lang="en-US" sz="1200" b="1" dirty="0">
                          <a:effectLst/>
                        </a:rPr>
                        <a:t>Wrapper Objects</a:t>
                      </a:r>
                      <a:endParaRPr lang="en-US" sz="1200" b="0" dirty="0">
                        <a:effectLst/>
                        <a:latin typeface="quote-cjk-patch"/>
                      </a:endParaRPr>
                    </a:p>
                  </a:txBody>
                  <a:tcPr marL="64464" marR="85952" marT="53720" marB="53720" anchor="ctr"/>
                </a:tc>
                <a:tc>
                  <a:txBody>
                    <a:bodyPr/>
                    <a:lstStyle/>
                    <a:p>
                      <a:pPr>
                        <a:lnSpc>
                          <a:spcPct val="100000"/>
                        </a:lnSpc>
                        <a:buNone/>
                      </a:pPr>
                      <a:r>
                        <a:rPr lang="en-US" sz="1200" b="0">
                          <a:effectLst/>
                        </a:rPr>
                        <a:t>Memory Locations</a:t>
                      </a:r>
                      <a:endParaRPr lang="en-US" sz="1200" b="0">
                        <a:effectLst/>
                        <a:latin typeface="quote-cjk-patch"/>
                      </a:endParaRPr>
                    </a:p>
                  </a:txBody>
                  <a:tcPr marL="85952" marR="85952" marT="53720" marB="53720" anchor="ctr"/>
                </a:tc>
                <a:tc>
                  <a:txBody>
                    <a:bodyPr/>
                    <a:lstStyle/>
                    <a:p>
                      <a:pPr>
                        <a:lnSpc>
                          <a:spcPct val="100000"/>
                        </a:lnSpc>
                        <a:buNone/>
                      </a:pPr>
                      <a:r>
                        <a:rPr lang="en-US" sz="1200" b="0" dirty="0">
                          <a:effectLst/>
                        </a:rPr>
                        <a:t>Compares references (depends on caching, e.g., Integer from -128 to 127 are cached)</a:t>
                      </a:r>
                      <a:endParaRPr lang="en-US" sz="1200" b="0" dirty="0">
                        <a:effectLst/>
                        <a:latin typeface="quote-cjk-patch"/>
                      </a:endParaRPr>
                    </a:p>
                  </a:txBody>
                  <a:tcPr marL="85952" marR="64464" marT="53720" marB="53720" anchor="ctr"/>
                </a:tc>
                <a:extLst>
                  <a:ext uri="{0D108BD9-81ED-4DB2-BD59-A6C34878D82A}">
                    <a16:rowId xmlns:a16="http://schemas.microsoft.com/office/drawing/2014/main" val="3046487741"/>
                  </a:ext>
                </a:extLst>
              </a:tr>
            </a:tbl>
          </a:graphicData>
        </a:graphic>
      </p:graphicFrame>
      <p:sp>
        <p:nvSpPr>
          <p:cNvPr id="9" name="TextBox 8">
            <a:extLst>
              <a:ext uri="{FF2B5EF4-FFF2-40B4-BE49-F238E27FC236}">
                <a16:creationId xmlns:a16="http://schemas.microsoft.com/office/drawing/2014/main" id="{9AE56D19-61F1-B4A3-042F-A4C41338F30A}"/>
              </a:ext>
            </a:extLst>
          </p:cNvPr>
          <p:cNvSpPr txBox="1"/>
          <p:nvPr/>
        </p:nvSpPr>
        <p:spPr>
          <a:xfrm>
            <a:off x="4920974" y="663979"/>
            <a:ext cx="4815386" cy="6186309"/>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Examples to Understand Each Context:</a:t>
            </a:r>
          </a:p>
          <a:p>
            <a:pPr algn="l">
              <a:buNone/>
            </a:pPr>
            <a:r>
              <a:rPr lang="en-US" sz="1200" b="1" dirty="0">
                <a:solidFill>
                  <a:srgbClr val="0F1115"/>
                </a:solidFill>
                <a:effectLst/>
                <a:latin typeface="quote-cjk-patch"/>
              </a:rPr>
              <a:t>1. Primitives Comparison</a:t>
            </a:r>
            <a:endParaRPr lang="en-US" sz="1200" b="0" i="0" dirty="0">
              <a:solidFill>
                <a:srgbClr val="0F1115"/>
              </a:solidFill>
              <a:effectLst/>
              <a:latin typeface="quote-cjk-patch"/>
            </a:endParaRPr>
          </a:p>
          <a:p>
            <a:pPr algn="l" latinLnBrk="1">
              <a:buNone/>
            </a:pPr>
            <a:r>
              <a:rPr lang="en-US" sz="1200" b="0" i="0" dirty="0">
                <a:solidFill>
                  <a:srgbClr val="A626A4"/>
                </a:solidFill>
                <a:effectLst/>
                <a:latin typeface="Menlo"/>
              </a:rPr>
              <a:t>int</a:t>
            </a:r>
            <a:r>
              <a:rPr lang="en-US" sz="1200" b="0" i="0" dirty="0">
                <a:solidFill>
                  <a:srgbClr val="0F1115"/>
                </a:solidFill>
                <a:effectLst/>
                <a:latin typeface="Menlo"/>
              </a:rPr>
              <a:t> a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A626A4"/>
                </a:solidFill>
                <a:effectLst/>
                <a:latin typeface="Menlo"/>
              </a:rPr>
              <a:t>int</a:t>
            </a:r>
            <a:r>
              <a:rPr lang="en-US" sz="1200" b="0" i="0" dirty="0">
                <a:solidFill>
                  <a:srgbClr val="0F1115"/>
                </a:solidFill>
                <a:effectLst/>
                <a:latin typeface="Menlo"/>
              </a:rPr>
              <a:t> b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a </a:t>
            </a:r>
            <a:r>
              <a:rPr lang="en-US" sz="1200" b="0" i="0" dirty="0">
                <a:solidFill>
                  <a:srgbClr val="4078F2"/>
                </a:solidFill>
                <a:effectLst/>
                <a:latin typeface="Menlo"/>
              </a:rPr>
              <a:t>==</a:t>
            </a:r>
            <a:r>
              <a:rPr lang="en-US" sz="1200" b="0" i="0" dirty="0">
                <a:solidFill>
                  <a:srgbClr val="0F1115"/>
                </a:solidFill>
                <a:effectLst/>
                <a:latin typeface="Menlo"/>
              </a:rPr>
              <a:t> b</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(compares values)</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2. Object References Comparison</a:t>
            </a:r>
            <a:endParaRPr lang="en-US" sz="1200" b="0" i="0" dirty="0">
              <a:solidFill>
                <a:srgbClr val="0F1115"/>
              </a:solidFill>
              <a:effectLst/>
              <a:latin typeface="quote-cjk-patch"/>
            </a:endParaRPr>
          </a:p>
          <a:p>
            <a:pPr algn="l" latinLnBrk="1">
              <a:buNone/>
            </a:pPr>
            <a:r>
              <a:rPr lang="en-US" sz="1200" b="0" i="0" dirty="0">
                <a:solidFill>
                  <a:srgbClr val="A626A4"/>
                </a:solidFill>
                <a:effectLst/>
                <a:latin typeface="Menlo"/>
              </a:rPr>
              <a:t>class</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0F1115"/>
                </a:solidFill>
                <a:effectLst/>
                <a:latin typeface="Menlo"/>
              </a:rPr>
              <a:t> </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0F1115"/>
                </a:solidFill>
                <a:effectLst/>
                <a:latin typeface="Menlo"/>
              </a:rPr>
              <a:t> model</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Car</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Car</a:t>
            </a:r>
            <a:r>
              <a:rPr lang="en-US" sz="1200" b="0" i="0" dirty="0">
                <a:solidFill>
                  <a:srgbClr val="0F1115"/>
                </a:solidFill>
                <a:effectLst/>
                <a:latin typeface="Menlo"/>
              </a:rPr>
              <a:t> car3 </a:t>
            </a:r>
            <a:r>
              <a:rPr lang="en-US" sz="1200" b="0" i="0" dirty="0">
                <a:solidFill>
                  <a:srgbClr val="4078F2"/>
                </a:solidFill>
                <a:effectLst/>
                <a:latin typeface="Menlo"/>
              </a:rPr>
              <a:t>=</a:t>
            </a:r>
            <a:r>
              <a:rPr lang="en-US" sz="1200" b="0" i="0" dirty="0">
                <a:solidFill>
                  <a:srgbClr val="0F1115"/>
                </a:solidFill>
                <a:effectLst/>
                <a:latin typeface="Menlo"/>
              </a:rPr>
              <a:t> car1</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car3 references the same object as car1</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car1 </a:t>
            </a:r>
            <a:r>
              <a:rPr lang="en-US" sz="1200" b="0" i="0" dirty="0">
                <a:solidFill>
                  <a:srgbClr val="4078F2"/>
                </a:solidFill>
                <a:effectLst/>
                <a:latin typeface="Menlo"/>
              </a:rPr>
              <a:t>==</a:t>
            </a:r>
            <a:r>
              <a:rPr lang="en-US" sz="1200" b="0" i="0" dirty="0">
                <a:solidFill>
                  <a:srgbClr val="0F1115"/>
                </a:solidFill>
                <a:effectLst/>
                <a:latin typeface="Menlo"/>
              </a:rPr>
              <a:t> car2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(different objects in memory)</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car1 </a:t>
            </a:r>
            <a:r>
              <a:rPr lang="en-US" sz="1200" b="0" i="0" dirty="0">
                <a:solidFill>
                  <a:srgbClr val="4078F2"/>
                </a:solidFill>
                <a:effectLst/>
                <a:latin typeface="Menlo"/>
              </a:rPr>
              <a:t>==</a:t>
            </a:r>
            <a:r>
              <a:rPr lang="en-US" sz="1200" b="0" i="0" dirty="0">
                <a:solidFill>
                  <a:srgbClr val="0F1115"/>
                </a:solidFill>
                <a:effectLst/>
                <a:latin typeface="Menlo"/>
              </a:rPr>
              <a:t> car3</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(same object reference)</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3. String Literals Comparison</a:t>
            </a:r>
            <a:endParaRPr lang="en-US" sz="1200" b="0" i="0" dirty="0">
              <a:solidFill>
                <a:srgbClr val="0F1115"/>
              </a:solidFill>
              <a:effectLst/>
              <a:latin typeface="quote-cjk-patch"/>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50A14F"/>
                </a:solidFill>
                <a:effectLst/>
                <a:latin typeface="Menlo"/>
              </a:rPr>
              <a:t>"Hello"</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50A14F"/>
                </a:solidFill>
                <a:effectLst/>
                <a:latin typeface="Menlo"/>
              </a:rPr>
              <a:t>"Hello"</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Points to same string in String Pool</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String</a:t>
            </a:r>
            <a:r>
              <a:rPr lang="en-US" sz="1200" b="0" i="0" dirty="0">
                <a:solidFill>
                  <a:srgbClr val="0F1115"/>
                </a:solidFill>
                <a:effectLst/>
                <a:latin typeface="Menlo"/>
              </a:rPr>
              <a:t> str3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A626A4"/>
                </a:solidFill>
                <a:effectLst/>
                <a:latin typeface="Menlo"/>
              </a:rPr>
              <a:t>new</a:t>
            </a:r>
            <a:r>
              <a:rPr lang="en-US" sz="1200" b="0" i="0" dirty="0">
                <a:solidFill>
                  <a:srgbClr val="0F1115"/>
                </a:solidFill>
                <a:effectLst/>
                <a:latin typeface="Menlo"/>
              </a:rPr>
              <a:t> </a:t>
            </a:r>
            <a:r>
              <a:rPr lang="en-US" sz="1200" b="0" i="0" dirty="0">
                <a:solidFill>
                  <a:srgbClr val="B76B01"/>
                </a:solidFill>
                <a:effectLst/>
                <a:latin typeface="Menlo"/>
              </a:rPr>
              <a:t>String</a:t>
            </a:r>
            <a:r>
              <a:rPr lang="en-US" sz="1200" b="0" i="0" dirty="0">
                <a:solidFill>
                  <a:srgbClr val="383A42"/>
                </a:solidFill>
                <a:effectLst/>
                <a:latin typeface="Menlo"/>
              </a:rPr>
              <a:t>(</a:t>
            </a:r>
            <a:r>
              <a:rPr lang="en-US" sz="1200" b="0" i="0" dirty="0">
                <a:solidFill>
                  <a:srgbClr val="50A14F"/>
                </a:solidFill>
                <a:effectLst/>
                <a:latin typeface="Menlo"/>
              </a:rPr>
              <a:t>"Hello"</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Creates new object in heap</a:t>
            </a:r>
            <a:endParaRPr lang="en-US" sz="1200" b="0" i="0" dirty="0">
              <a:solidFill>
                <a:srgbClr val="0F1115"/>
              </a:solidFill>
              <a:effectLst/>
              <a:latin typeface="Menlo"/>
            </a:endParaRPr>
          </a:p>
          <a:p>
            <a:pPr algn="l" latinLnBrk="1">
              <a:buNone/>
            </a:pP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str1 </a:t>
            </a:r>
            <a:r>
              <a:rPr lang="en-US" sz="1200" b="0" i="0" dirty="0">
                <a:solidFill>
                  <a:srgbClr val="4078F2"/>
                </a:solidFill>
                <a:effectLst/>
                <a:latin typeface="Menlo"/>
              </a:rPr>
              <a:t>==</a:t>
            </a:r>
            <a:r>
              <a:rPr lang="en-US" sz="1200" b="0" i="0" dirty="0">
                <a:solidFill>
                  <a:srgbClr val="0F1115"/>
                </a:solidFill>
                <a:effectLst/>
                <a:latin typeface="Menlo"/>
              </a:rPr>
              <a:t> str2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(same reference in String Pool)</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str1 </a:t>
            </a:r>
            <a:r>
              <a:rPr lang="en-US" sz="1200" b="0" i="0" dirty="0">
                <a:solidFill>
                  <a:srgbClr val="4078F2"/>
                </a:solidFill>
                <a:effectLst/>
                <a:latin typeface="Menlo"/>
              </a:rPr>
              <a:t>==</a:t>
            </a:r>
            <a:r>
              <a:rPr lang="en-US" sz="1200" b="0" i="0" dirty="0">
                <a:solidFill>
                  <a:srgbClr val="0F1115"/>
                </a:solidFill>
                <a:effectLst/>
                <a:latin typeface="Menlo"/>
              </a:rPr>
              <a:t> str3</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(different memory locations)</a:t>
            </a:r>
            <a:endParaRPr lang="en-US" sz="1200" b="0" i="0" dirty="0">
              <a:solidFill>
                <a:srgbClr val="0F1115"/>
              </a:solidFill>
              <a:effectLst/>
              <a:latin typeface="Menlo"/>
            </a:endParaRPr>
          </a:p>
          <a:p>
            <a:pPr algn="l">
              <a:buNone/>
            </a:pPr>
            <a:r>
              <a:rPr lang="en-US" sz="1200" b="1" dirty="0">
                <a:solidFill>
                  <a:srgbClr val="0F1115"/>
                </a:solidFill>
                <a:effectLst/>
                <a:latin typeface="quote-cjk-patch"/>
              </a:rPr>
              <a:t>4. Wrapper Objects Comparison</a:t>
            </a:r>
            <a:endParaRPr lang="en-US" sz="1200" b="0" i="0" dirty="0">
              <a:solidFill>
                <a:srgbClr val="0F1115"/>
              </a:solidFill>
              <a:effectLst/>
              <a:latin typeface="quote-cjk-patch"/>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num1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num2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100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num3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200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a:solidFill>
                  <a:srgbClr val="B76B01"/>
                </a:solidFill>
                <a:effectLst/>
                <a:latin typeface="Menlo"/>
              </a:rPr>
              <a:t>Integer</a:t>
            </a:r>
            <a:r>
              <a:rPr lang="en-US" sz="1200" b="0" i="0" dirty="0">
                <a:solidFill>
                  <a:srgbClr val="0F1115"/>
                </a:solidFill>
                <a:effectLst/>
                <a:latin typeface="Menlo"/>
              </a:rPr>
              <a:t> num4 </a:t>
            </a:r>
            <a:r>
              <a:rPr lang="en-US" sz="1200" b="0" i="0" dirty="0">
                <a:solidFill>
                  <a:srgbClr val="4078F2"/>
                </a:solidFill>
                <a:effectLst/>
                <a:latin typeface="Menlo"/>
              </a:rPr>
              <a:t>=</a:t>
            </a:r>
            <a:r>
              <a:rPr lang="en-US" sz="1200" b="0" i="0" dirty="0">
                <a:solidFill>
                  <a:srgbClr val="0F1115"/>
                </a:solidFill>
                <a:effectLst/>
                <a:latin typeface="Menlo"/>
              </a:rPr>
              <a:t> </a:t>
            </a:r>
            <a:r>
              <a:rPr lang="en-US" sz="1200" b="0" i="0" dirty="0">
                <a:solidFill>
                  <a:srgbClr val="B76B01"/>
                </a:solidFill>
                <a:effectLst/>
                <a:latin typeface="Menlo"/>
              </a:rPr>
              <a:t>200</a:t>
            </a:r>
            <a:r>
              <a:rPr lang="en-US" sz="1200" b="0" i="0" dirty="0">
                <a:solidFill>
                  <a:srgbClr val="383A42"/>
                </a:solidFill>
                <a:effectLst/>
                <a:latin typeface="Menlo"/>
              </a:rPr>
              <a:t>;</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num1 </a:t>
            </a:r>
            <a:r>
              <a:rPr lang="en-US" sz="1200" b="0" i="0" dirty="0">
                <a:solidFill>
                  <a:srgbClr val="4078F2"/>
                </a:solidFill>
                <a:effectLst/>
                <a:latin typeface="Menlo"/>
              </a:rPr>
              <a:t>==</a:t>
            </a:r>
            <a:r>
              <a:rPr lang="en-US" sz="1200" b="0" i="0" dirty="0">
                <a:solidFill>
                  <a:srgbClr val="0F1115"/>
                </a:solidFill>
                <a:effectLst/>
                <a:latin typeface="Menlo"/>
              </a:rPr>
              <a:t> num2</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(cached values -128 to 127)</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num3 </a:t>
            </a:r>
            <a:r>
              <a:rPr lang="en-US" sz="1200" b="0" i="0" dirty="0">
                <a:solidFill>
                  <a:srgbClr val="4078F2"/>
                </a:solidFill>
                <a:effectLst/>
                <a:latin typeface="Menlo"/>
              </a:rPr>
              <a:t>==</a:t>
            </a:r>
            <a:r>
              <a:rPr lang="en-US" sz="1200" b="0" i="0" dirty="0">
                <a:solidFill>
                  <a:srgbClr val="0F1115"/>
                </a:solidFill>
                <a:effectLst/>
                <a:latin typeface="Menlo"/>
              </a:rPr>
              <a:t> num4</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false (outside cache range, different objects)</a:t>
            </a:r>
            <a:endParaRPr lang="en-US" sz="1200" b="0" i="0" dirty="0">
              <a:solidFill>
                <a:srgbClr val="0F1115"/>
              </a:solidFill>
              <a:effectLst/>
              <a:latin typeface="Menlo"/>
            </a:endParaRPr>
          </a:p>
          <a:p>
            <a:pPr algn="l" latinLnBrk="1">
              <a:buNone/>
            </a:pPr>
            <a:r>
              <a:rPr lang="en-US" sz="1200" b="0" i="1" dirty="0">
                <a:solidFill>
                  <a:srgbClr val="A0A1A7"/>
                </a:solidFill>
                <a:effectLst/>
                <a:latin typeface="Menlo"/>
              </a:rPr>
              <a:t>// Compare values properly using .equals()</a:t>
            </a:r>
            <a:endParaRPr lang="en-US" sz="1200" b="0" i="0" dirty="0">
              <a:solidFill>
                <a:srgbClr val="0F1115"/>
              </a:solidFill>
              <a:effectLst/>
              <a:latin typeface="Menlo"/>
            </a:endParaRPr>
          </a:p>
          <a:p>
            <a:pPr algn="l" latinLnBrk="1">
              <a:buNone/>
            </a:pPr>
            <a:r>
              <a:rPr lang="en-US" sz="1200" b="0" i="0" dirty="0" err="1">
                <a:solidFill>
                  <a:srgbClr val="B76B01"/>
                </a:solidFill>
                <a:effectLst/>
                <a:latin typeface="Menlo"/>
              </a:rPr>
              <a:t>System</a:t>
            </a:r>
            <a:r>
              <a:rPr lang="en-US" sz="1200" b="0" i="0" dirty="0" err="1">
                <a:solidFill>
                  <a:srgbClr val="383A42"/>
                </a:solidFill>
                <a:effectLst/>
                <a:latin typeface="Menlo"/>
              </a:rPr>
              <a:t>.</a:t>
            </a:r>
            <a:r>
              <a:rPr lang="en-US" sz="1200" b="0" i="0" dirty="0" err="1">
                <a:solidFill>
                  <a:srgbClr val="0F1115"/>
                </a:solidFill>
                <a:effectLst/>
                <a:latin typeface="Menlo"/>
              </a:rPr>
              <a:t>out</a:t>
            </a:r>
            <a:r>
              <a:rPr lang="en-US" sz="1200" b="0" i="0" dirty="0" err="1">
                <a:solidFill>
                  <a:srgbClr val="383A42"/>
                </a:solidFill>
                <a:effectLst/>
                <a:latin typeface="Menlo"/>
              </a:rPr>
              <a:t>.</a:t>
            </a:r>
            <a:r>
              <a:rPr lang="en-US" sz="1200" b="0" i="0" dirty="0" err="1">
                <a:solidFill>
                  <a:srgbClr val="4078F2"/>
                </a:solidFill>
                <a:effectLst/>
                <a:latin typeface="Menlo"/>
              </a:rPr>
              <a:t>println</a:t>
            </a:r>
            <a:r>
              <a:rPr lang="en-US" sz="1200" b="0" i="0" dirty="0">
                <a:solidFill>
                  <a:srgbClr val="383A42"/>
                </a:solidFill>
                <a:effectLst/>
                <a:latin typeface="Menlo"/>
              </a:rPr>
              <a:t>(</a:t>
            </a:r>
            <a:r>
              <a:rPr lang="en-US" sz="1200" b="0" i="0" dirty="0">
                <a:solidFill>
                  <a:srgbClr val="0F1115"/>
                </a:solidFill>
                <a:effectLst/>
                <a:latin typeface="Menlo"/>
              </a:rPr>
              <a:t>num3</a:t>
            </a:r>
            <a:r>
              <a:rPr lang="en-US" sz="1200" b="0" i="0" dirty="0">
                <a:solidFill>
                  <a:srgbClr val="383A42"/>
                </a:solidFill>
                <a:effectLst/>
                <a:latin typeface="Menlo"/>
              </a:rPr>
              <a:t>.</a:t>
            </a:r>
            <a:r>
              <a:rPr lang="en-US" sz="1200" b="0" i="0" dirty="0">
                <a:solidFill>
                  <a:srgbClr val="4078F2"/>
                </a:solidFill>
                <a:effectLst/>
                <a:latin typeface="Menlo"/>
              </a:rPr>
              <a:t>equals</a:t>
            </a:r>
            <a:r>
              <a:rPr lang="en-US" sz="1200" b="0" i="0" dirty="0">
                <a:solidFill>
                  <a:srgbClr val="383A42"/>
                </a:solidFill>
                <a:effectLst/>
                <a:latin typeface="Menlo"/>
              </a:rPr>
              <a:t>(</a:t>
            </a:r>
            <a:r>
              <a:rPr lang="en-US" sz="1200" b="0" i="0" dirty="0">
                <a:solidFill>
                  <a:srgbClr val="0F1115"/>
                </a:solidFill>
                <a:effectLst/>
                <a:latin typeface="Menlo"/>
              </a:rPr>
              <a:t>num4</a:t>
            </a:r>
            <a:r>
              <a:rPr lang="en-US" sz="1200" b="0" i="0" dirty="0">
                <a:solidFill>
                  <a:srgbClr val="383A42"/>
                </a:solidFill>
                <a:effectLst/>
                <a:latin typeface="Menlo"/>
              </a:rPr>
              <a:t>));</a:t>
            </a:r>
            <a:r>
              <a:rPr lang="en-US" sz="1200" b="0" i="0" dirty="0">
                <a:solidFill>
                  <a:srgbClr val="0F1115"/>
                </a:solidFill>
                <a:effectLst/>
                <a:latin typeface="Menlo"/>
              </a:rPr>
              <a:t>  </a:t>
            </a:r>
            <a:r>
              <a:rPr lang="en-US" sz="1200" b="0" i="1" dirty="0">
                <a:solidFill>
                  <a:srgbClr val="A0A1A7"/>
                </a:solidFill>
                <a:effectLst/>
                <a:latin typeface="Menlo"/>
              </a:rPr>
              <a:t>// true (compares values)</a:t>
            </a:r>
            <a:endParaRPr lang="en-US" sz="1200" b="0" i="0" dirty="0">
              <a:solidFill>
                <a:srgbClr val="0F1115"/>
              </a:solidFill>
              <a:effectLst/>
              <a:latin typeface="Menlo"/>
            </a:endParaRPr>
          </a:p>
        </p:txBody>
      </p:sp>
      <p:sp>
        <p:nvSpPr>
          <p:cNvPr id="11" name="TextBox 10">
            <a:extLst>
              <a:ext uri="{FF2B5EF4-FFF2-40B4-BE49-F238E27FC236}">
                <a16:creationId xmlns:a16="http://schemas.microsoft.com/office/drawing/2014/main" id="{E43C59A2-E33A-1656-8440-C4247B83756C}"/>
              </a:ext>
            </a:extLst>
          </p:cNvPr>
          <p:cNvSpPr txBox="1"/>
          <p:nvPr/>
        </p:nvSpPr>
        <p:spPr>
          <a:xfrm>
            <a:off x="74104" y="3934215"/>
            <a:ext cx="4670204" cy="1754326"/>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Important Notes:</a:t>
            </a:r>
          </a:p>
          <a:p>
            <a:pPr algn="l">
              <a:buFont typeface="Arial" panose="020B0604020202020204" pitchFamily="34" charset="0"/>
              <a:buChar char="•"/>
            </a:pPr>
            <a:r>
              <a:rPr lang="en-US" sz="1200" b="0" i="0" dirty="0">
                <a:solidFill>
                  <a:srgbClr val="0F1115"/>
                </a:solidFill>
                <a:effectLst/>
                <a:latin typeface="quote-cjk-patch"/>
              </a:rPr>
              <a:t>For </a:t>
            </a:r>
            <a:r>
              <a:rPr lang="en-US" sz="1200" b="1" i="0" dirty="0">
                <a:solidFill>
                  <a:srgbClr val="0F1115"/>
                </a:solidFill>
                <a:effectLst/>
                <a:latin typeface="quote-cjk-patch"/>
              </a:rPr>
              <a:t>primitives</a:t>
            </a:r>
            <a:r>
              <a:rPr lang="en-US" sz="1200" b="0" i="0" dirty="0">
                <a:solidFill>
                  <a:srgbClr val="0F1115"/>
                </a:solidFill>
                <a:effectLst/>
                <a:latin typeface="quote-cjk-patch"/>
              </a:rPr>
              <a:t>, </a:t>
            </a:r>
            <a:r>
              <a:rPr lang="en-US" sz="1200" b="0" i="0" dirty="0">
                <a:solidFill>
                  <a:srgbClr val="0F1115"/>
                </a:solidFill>
                <a:effectLst/>
                <a:latin typeface="Menlo"/>
              </a:rPr>
              <a:t>==</a:t>
            </a:r>
            <a:r>
              <a:rPr lang="en-US" sz="1200" b="0" i="0" dirty="0">
                <a:solidFill>
                  <a:srgbClr val="0F1115"/>
                </a:solidFill>
                <a:effectLst/>
                <a:latin typeface="quote-cjk-patch"/>
              </a:rPr>
              <a:t> always compares values – simple and straightforward</a:t>
            </a:r>
          </a:p>
          <a:p>
            <a:pPr algn="l">
              <a:buFont typeface="Arial" panose="020B0604020202020204" pitchFamily="34" charset="0"/>
              <a:buChar char="•"/>
            </a:pPr>
            <a:r>
              <a:rPr lang="en-US" sz="1200" b="0" i="0" dirty="0">
                <a:solidFill>
                  <a:srgbClr val="0F1115"/>
                </a:solidFill>
                <a:effectLst/>
                <a:latin typeface="quote-cjk-patch"/>
              </a:rPr>
              <a:t>For </a:t>
            </a:r>
            <a:r>
              <a:rPr lang="en-US" sz="1200" b="1" i="0" dirty="0">
                <a:solidFill>
                  <a:srgbClr val="0F1115"/>
                </a:solidFill>
                <a:effectLst/>
                <a:latin typeface="quote-cjk-patch"/>
              </a:rPr>
              <a:t>objects</a:t>
            </a:r>
            <a:r>
              <a:rPr lang="en-US" sz="1200" b="0" i="0" dirty="0">
                <a:solidFill>
                  <a:srgbClr val="0F1115"/>
                </a:solidFill>
                <a:effectLst/>
                <a:latin typeface="quote-cjk-patch"/>
              </a:rPr>
              <a:t>, </a:t>
            </a:r>
            <a:r>
              <a:rPr lang="en-US" sz="1200" b="0" i="0" dirty="0">
                <a:solidFill>
                  <a:srgbClr val="0F1115"/>
                </a:solidFill>
                <a:effectLst/>
                <a:latin typeface="Menlo"/>
              </a:rPr>
              <a:t>==</a:t>
            </a:r>
            <a:r>
              <a:rPr lang="en-US" sz="1200" b="0" i="0" dirty="0">
                <a:solidFill>
                  <a:srgbClr val="0F1115"/>
                </a:solidFill>
                <a:effectLst/>
                <a:latin typeface="quote-cjk-patch"/>
              </a:rPr>
              <a:t> compares memory references, </a:t>
            </a:r>
            <a:r>
              <a:rPr lang="en-US" sz="1200" b="1" i="0" dirty="0">
                <a:solidFill>
                  <a:srgbClr val="0F1115"/>
                </a:solidFill>
                <a:effectLst/>
                <a:latin typeface="quote-cjk-patch"/>
              </a:rPr>
              <a:t>NOT</a:t>
            </a:r>
            <a:r>
              <a:rPr lang="en-US" sz="1200" b="0" i="0" dirty="0">
                <a:solidFill>
                  <a:srgbClr val="0F1115"/>
                </a:solidFill>
                <a:effectLst/>
                <a:latin typeface="quote-cjk-patch"/>
              </a:rPr>
              <a:t> the actual content</a:t>
            </a:r>
          </a:p>
          <a:p>
            <a:pPr algn="l">
              <a:buFont typeface="Arial" panose="020B0604020202020204" pitchFamily="34" charset="0"/>
              <a:buChar char="•"/>
            </a:pPr>
            <a:r>
              <a:rPr lang="en-US" sz="1200" b="0" i="0" dirty="0">
                <a:solidFill>
                  <a:srgbClr val="0F1115"/>
                </a:solidFill>
                <a:effectLst/>
                <a:latin typeface="quote-cjk-patch"/>
              </a:rPr>
              <a:t>To compare object </a:t>
            </a:r>
            <a:r>
              <a:rPr lang="en-US" sz="1200" b="1" i="0" dirty="0">
                <a:solidFill>
                  <a:srgbClr val="0F1115"/>
                </a:solidFill>
                <a:effectLst/>
                <a:latin typeface="quote-cjk-patch"/>
              </a:rPr>
              <a:t>content</a:t>
            </a:r>
            <a:r>
              <a:rPr lang="en-US" sz="1200" b="0" i="0" dirty="0">
                <a:solidFill>
                  <a:srgbClr val="0F1115"/>
                </a:solidFill>
                <a:effectLst/>
                <a:latin typeface="quote-cjk-patch"/>
              </a:rPr>
              <a:t> (like actual String text), use the </a:t>
            </a:r>
            <a:r>
              <a:rPr lang="en-US" sz="1200" b="0" i="0" dirty="0">
                <a:solidFill>
                  <a:srgbClr val="0F1115"/>
                </a:solidFill>
                <a:effectLst/>
                <a:latin typeface="Menlo"/>
              </a:rPr>
              <a:t>.equals()</a:t>
            </a:r>
            <a:r>
              <a:rPr lang="en-US" sz="1200" b="0" i="0" dirty="0">
                <a:solidFill>
                  <a:srgbClr val="0F1115"/>
                </a:solidFill>
                <a:effectLst/>
                <a:latin typeface="quote-cjk-patch"/>
              </a:rPr>
              <a:t> method instead</a:t>
            </a:r>
          </a:p>
          <a:p>
            <a:pPr algn="l">
              <a:buFont typeface="Arial" panose="020B0604020202020204" pitchFamily="34" charset="0"/>
              <a:buChar char="•"/>
            </a:pPr>
            <a:r>
              <a:rPr lang="en-US" sz="1200" b="1" i="0" dirty="0">
                <a:solidFill>
                  <a:srgbClr val="0F1115"/>
                </a:solidFill>
                <a:effectLst/>
                <a:latin typeface="quote-cjk-patch"/>
              </a:rPr>
              <a:t>String literals</a:t>
            </a:r>
            <a:r>
              <a:rPr lang="en-US" sz="1200" b="0" i="0" dirty="0">
                <a:solidFill>
                  <a:srgbClr val="0F1115"/>
                </a:solidFill>
                <a:effectLst/>
                <a:latin typeface="quote-cjk-patch"/>
              </a:rPr>
              <a:t> with the same content share the same memory location in the String Pool</a:t>
            </a:r>
          </a:p>
          <a:p>
            <a:pPr algn="l">
              <a:buFont typeface="Arial" panose="020B0604020202020204" pitchFamily="34" charset="0"/>
              <a:buChar char="•"/>
            </a:pPr>
            <a:r>
              <a:rPr lang="en-US" sz="1200" b="1" i="0" dirty="0">
                <a:solidFill>
                  <a:srgbClr val="0F1115"/>
                </a:solidFill>
                <a:effectLst/>
                <a:latin typeface="quote-cjk-patch"/>
              </a:rPr>
              <a:t>Wrapper classes</a:t>
            </a:r>
            <a:r>
              <a:rPr lang="en-US" sz="1200" b="0" i="0" dirty="0">
                <a:solidFill>
                  <a:srgbClr val="0F1115"/>
                </a:solidFill>
                <a:effectLst/>
                <a:latin typeface="quote-cjk-patch"/>
              </a:rPr>
              <a:t> (Integer, Byte, etc.) cache values in a specific range (-128 to 127), so </a:t>
            </a:r>
            <a:r>
              <a:rPr lang="en-US" sz="1200" b="0" i="0" dirty="0">
                <a:solidFill>
                  <a:srgbClr val="0F1115"/>
                </a:solidFill>
                <a:effectLst/>
                <a:latin typeface="Menlo"/>
              </a:rPr>
              <a:t>==</a:t>
            </a:r>
            <a:r>
              <a:rPr lang="en-US" sz="1200" b="0" i="0" dirty="0">
                <a:solidFill>
                  <a:srgbClr val="0F1115"/>
                </a:solidFill>
                <a:effectLst/>
                <a:latin typeface="quote-cjk-patch"/>
              </a:rPr>
              <a:t> may return </a:t>
            </a:r>
            <a:r>
              <a:rPr lang="en-US" sz="1200" b="0" i="0" dirty="0">
                <a:solidFill>
                  <a:srgbClr val="0F1115"/>
                </a:solidFill>
                <a:effectLst/>
                <a:latin typeface="Menlo"/>
              </a:rPr>
              <a:t>true</a:t>
            </a:r>
            <a:r>
              <a:rPr lang="en-US" sz="1200" b="0" i="0" dirty="0">
                <a:solidFill>
                  <a:srgbClr val="0F1115"/>
                </a:solidFill>
                <a:effectLst/>
                <a:latin typeface="quote-cjk-patch"/>
              </a:rPr>
              <a:t> for cached values but </a:t>
            </a:r>
            <a:r>
              <a:rPr lang="en-US" sz="1200" b="0" i="0" dirty="0">
                <a:solidFill>
                  <a:srgbClr val="0F1115"/>
                </a:solidFill>
                <a:effectLst/>
                <a:latin typeface="Menlo"/>
              </a:rPr>
              <a:t>false</a:t>
            </a:r>
            <a:r>
              <a:rPr lang="en-US" sz="1200" b="0" i="0" dirty="0">
                <a:solidFill>
                  <a:srgbClr val="0F1115"/>
                </a:solidFill>
                <a:effectLst/>
                <a:latin typeface="quote-cjk-patch"/>
              </a:rPr>
              <a:t> for others</a:t>
            </a:r>
          </a:p>
        </p:txBody>
      </p:sp>
      <p:sp>
        <p:nvSpPr>
          <p:cNvPr id="13" name="TextBox 12">
            <a:extLst>
              <a:ext uri="{FF2B5EF4-FFF2-40B4-BE49-F238E27FC236}">
                <a16:creationId xmlns:a16="http://schemas.microsoft.com/office/drawing/2014/main" id="{1427B99E-B889-3241-A26F-3B55FF6710D0}"/>
              </a:ext>
            </a:extLst>
          </p:cNvPr>
          <p:cNvSpPr txBox="1"/>
          <p:nvPr/>
        </p:nvSpPr>
        <p:spPr>
          <a:xfrm>
            <a:off x="74104" y="5854338"/>
            <a:ext cx="4678375" cy="830997"/>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Quick Rule of Thumb:</a:t>
            </a:r>
          </a:p>
          <a:p>
            <a:pPr algn="l">
              <a:buFont typeface="Arial" panose="020B0604020202020204" pitchFamily="34" charset="0"/>
              <a:buChar char="•"/>
            </a:pPr>
            <a:r>
              <a:rPr lang="en-US" sz="1200" b="0" i="0" dirty="0">
                <a:solidFill>
                  <a:srgbClr val="0F1115"/>
                </a:solidFill>
                <a:effectLst/>
                <a:latin typeface="quote-cjk-patch"/>
              </a:rPr>
              <a:t>Use </a:t>
            </a:r>
            <a:r>
              <a:rPr lang="en-US" sz="1200" b="0" i="0" dirty="0">
                <a:solidFill>
                  <a:srgbClr val="0F1115"/>
                </a:solidFill>
                <a:effectLst/>
                <a:latin typeface="Menlo"/>
              </a:rPr>
              <a:t>==</a:t>
            </a:r>
            <a:r>
              <a:rPr lang="en-US" sz="1200" b="0" i="0" dirty="0">
                <a:solidFill>
                  <a:srgbClr val="0F1115"/>
                </a:solidFill>
                <a:effectLst/>
                <a:latin typeface="quote-cjk-patch"/>
              </a:rPr>
              <a:t> for </a:t>
            </a:r>
            <a:r>
              <a:rPr lang="en-US" sz="1200" b="1" i="0" dirty="0">
                <a:solidFill>
                  <a:srgbClr val="0F1115"/>
                </a:solidFill>
                <a:effectLst/>
                <a:latin typeface="quote-cjk-patch"/>
              </a:rPr>
              <a:t>primitives</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Use </a:t>
            </a:r>
            <a:r>
              <a:rPr lang="en-US" sz="1200" b="0" i="0" dirty="0">
                <a:solidFill>
                  <a:srgbClr val="0F1115"/>
                </a:solidFill>
                <a:effectLst/>
                <a:latin typeface="Menlo"/>
              </a:rPr>
              <a:t>.equals()</a:t>
            </a:r>
            <a:r>
              <a:rPr lang="en-US" sz="1200" b="0" i="0" dirty="0">
                <a:solidFill>
                  <a:srgbClr val="0F1115"/>
                </a:solidFill>
                <a:effectLst/>
                <a:latin typeface="quote-cjk-patch"/>
              </a:rPr>
              <a:t> for </a:t>
            </a:r>
            <a:r>
              <a:rPr lang="en-US" sz="1200" b="1" i="0" dirty="0">
                <a:solidFill>
                  <a:srgbClr val="0F1115"/>
                </a:solidFill>
                <a:effectLst/>
                <a:latin typeface="quote-cjk-patch"/>
              </a:rPr>
              <a:t>objects</a:t>
            </a:r>
            <a:r>
              <a:rPr lang="en-US" sz="1200" b="0" i="0" dirty="0">
                <a:solidFill>
                  <a:srgbClr val="0F1115"/>
                </a:solidFill>
                <a:effectLst/>
                <a:latin typeface="quote-cjk-patch"/>
              </a:rPr>
              <a:t> when you want to compare their actual content/values</a:t>
            </a: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2E20A91-C67A-EDEA-8BD0-B2C93B8D60ED}"/>
              </a:ext>
            </a:extLst>
          </p:cNvPr>
          <p:cNvSpPr txBox="1"/>
          <p:nvPr/>
        </p:nvSpPr>
        <p:spPr>
          <a:xfrm>
            <a:off x="52824" y="30048"/>
            <a:ext cx="9609336" cy="400110"/>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14. What are the differences between abstract class and interface?</a:t>
            </a:r>
          </a:p>
          <a:p>
            <a:pPr algn="l">
              <a:buNone/>
            </a:pPr>
            <a:r>
              <a:rPr lang="en-US" sz="1000" b="0" i="0" dirty="0">
                <a:solidFill>
                  <a:srgbClr val="0F1115"/>
                </a:solidFill>
                <a:effectLst/>
                <a:latin typeface="quote-cjk-patch"/>
              </a:rPr>
              <a:t>Both </a:t>
            </a:r>
            <a:r>
              <a:rPr lang="en-US" sz="1000" b="1" i="0" dirty="0">
                <a:solidFill>
                  <a:srgbClr val="0F1115"/>
                </a:solidFill>
                <a:effectLst/>
                <a:latin typeface="quote-cjk-patch"/>
              </a:rPr>
              <a:t>abstract classes</a:t>
            </a:r>
            <a:r>
              <a:rPr lang="en-US" sz="1000" b="0" i="0" dirty="0">
                <a:solidFill>
                  <a:srgbClr val="0F1115"/>
                </a:solidFill>
                <a:effectLst/>
                <a:latin typeface="quote-cjk-patch"/>
              </a:rPr>
              <a:t> and </a:t>
            </a:r>
            <a:r>
              <a:rPr lang="en-US" sz="1000" b="1" i="0" dirty="0">
                <a:solidFill>
                  <a:srgbClr val="0F1115"/>
                </a:solidFill>
                <a:effectLst/>
                <a:latin typeface="quote-cjk-patch"/>
              </a:rPr>
              <a:t>interfaces</a:t>
            </a:r>
            <a:r>
              <a:rPr lang="en-US" sz="1000" b="0" i="0" dirty="0">
                <a:solidFill>
                  <a:srgbClr val="0F1115"/>
                </a:solidFill>
                <a:effectLst/>
                <a:latin typeface="quote-cjk-patch"/>
              </a:rPr>
              <a:t> are used to achieve abstraction in Java, but they have several key differences. Below is a comparison of the major differences:</a:t>
            </a:r>
          </a:p>
        </p:txBody>
      </p:sp>
      <p:graphicFrame>
        <p:nvGraphicFramePr>
          <p:cNvPr id="6" name="Table 5">
            <a:extLst>
              <a:ext uri="{FF2B5EF4-FFF2-40B4-BE49-F238E27FC236}">
                <a16:creationId xmlns:a16="http://schemas.microsoft.com/office/drawing/2014/main" id="{9A2D4D69-2ECD-B6EB-C5F4-DF71BF4E4045}"/>
              </a:ext>
            </a:extLst>
          </p:cNvPr>
          <p:cNvGraphicFramePr>
            <a:graphicFrameLocks noGrp="1"/>
          </p:cNvGraphicFramePr>
          <p:nvPr>
            <p:extLst>
              <p:ext uri="{D42A27DB-BD31-4B8C-83A1-F6EECF244321}">
                <p14:modId xmlns:p14="http://schemas.microsoft.com/office/powerpoint/2010/main" val="2306210887"/>
              </p:ext>
            </p:extLst>
          </p:nvPr>
        </p:nvGraphicFramePr>
        <p:xfrm>
          <a:off x="182560" y="644056"/>
          <a:ext cx="4892360" cy="3183255"/>
        </p:xfrm>
        <a:graphic>
          <a:graphicData uri="http://schemas.openxmlformats.org/drawingml/2006/table">
            <a:tbl>
              <a:tblPr>
                <a:tableStyleId>{5940675A-B579-460E-94D1-54222C63F5DA}</a:tableStyleId>
              </a:tblPr>
              <a:tblGrid>
                <a:gridCol w="2446180">
                  <a:extLst>
                    <a:ext uri="{9D8B030D-6E8A-4147-A177-3AD203B41FA5}">
                      <a16:colId xmlns:a16="http://schemas.microsoft.com/office/drawing/2014/main" val="327509211"/>
                    </a:ext>
                  </a:extLst>
                </a:gridCol>
                <a:gridCol w="2446180">
                  <a:extLst>
                    <a:ext uri="{9D8B030D-6E8A-4147-A177-3AD203B41FA5}">
                      <a16:colId xmlns:a16="http://schemas.microsoft.com/office/drawing/2014/main" val="3987630893"/>
                    </a:ext>
                  </a:extLst>
                </a:gridCol>
              </a:tblGrid>
              <a:tr h="196123">
                <a:tc>
                  <a:txBody>
                    <a:bodyPr/>
                    <a:lstStyle/>
                    <a:p>
                      <a:pPr algn="l">
                        <a:lnSpc>
                          <a:spcPct val="100000"/>
                        </a:lnSpc>
                        <a:spcBef>
                          <a:spcPts val="0"/>
                        </a:spcBef>
                        <a:buNone/>
                      </a:pPr>
                      <a:r>
                        <a:rPr lang="en-US" sz="1000" b="1">
                          <a:effectLst/>
                        </a:rPr>
                        <a:t>Abstract Class</a:t>
                      </a:r>
                      <a:endParaRPr lang="en-US" sz="1000" b="0">
                        <a:effectLst/>
                        <a:latin typeface="quote-cjk-patch"/>
                      </a:endParaRPr>
                    </a:p>
                  </a:txBody>
                  <a:tcPr marL="54204" marR="72271" marT="45170" marB="45170" anchor="ctr"/>
                </a:tc>
                <a:tc>
                  <a:txBody>
                    <a:bodyPr/>
                    <a:lstStyle/>
                    <a:p>
                      <a:pPr algn="l">
                        <a:lnSpc>
                          <a:spcPct val="100000"/>
                        </a:lnSpc>
                        <a:spcBef>
                          <a:spcPts val="0"/>
                        </a:spcBef>
                        <a:buNone/>
                      </a:pPr>
                      <a:r>
                        <a:rPr lang="en-US" sz="1000" b="1">
                          <a:effectLst/>
                        </a:rPr>
                        <a:t>Interface</a:t>
                      </a:r>
                      <a:endParaRPr lang="en-US" sz="1000" b="0">
                        <a:effectLst/>
                        <a:latin typeface="quote-cjk-patch"/>
                      </a:endParaRPr>
                    </a:p>
                  </a:txBody>
                  <a:tcPr marL="72271" marR="72271" marT="45170" marB="45170" anchor="ctr"/>
                </a:tc>
                <a:extLst>
                  <a:ext uri="{0D108BD9-81ED-4DB2-BD59-A6C34878D82A}">
                    <a16:rowId xmlns:a16="http://schemas.microsoft.com/office/drawing/2014/main" val="3650372585"/>
                  </a:ext>
                </a:extLst>
              </a:tr>
              <a:tr h="565520">
                <a:tc>
                  <a:txBody>
                    <a:bodyPr/>
                    <a:lstStyle/>
                    <a:p>
                      <a:pPr>
                        <a:lnSpc>
                          <a:spcPct val="100000"/>
                        </a:lnSpc>
                        <a:spcBef>
                          <a:spcPts val="0"/>
                        </a:spcBef>
                        <a:buNone/>
                      </a:pPr>
                      <a:r>
                        <a:rPr lang="en-US" sz="1000" b="0">
                          <a:effectLst/>
                        </a:rPr>
                        <a:t>Can provide complete code, default code, or just the method signatures that need to be overridden.</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Cannot provide any code implementation (before Java 8); only contains method signatures.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42376799"/>
                  </a:ext>
                </a:extLst>
              </a:tr>
              <a:tr h="319255">
                <a:tc>
                  <a:txBody>
                    <a:bodyPr/>
                    <a:lstStyle/>
                    <a:p>
                      <a:pPr>
                        <a:lnSpc>
                          <a:spcPct val="100000"/>
                        </a:lnSpc>
                        <a:spcBef>
                          <a:spcPts val="0"/>
                        </a:spcBef>
                        <a:buNone/>
                      </a:pPr>
                      <a:r>
                        <a:rPr lang="en-US" sz="1000" b="0">
                          <a:effectLst/>
                        </a:rPr>
                        <a:t>Can have instance variables.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Cannot have instance variables (only static final constants).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2448699561"/>
                  </a:ext>
                </a:extLst>
              </a:tr>
              <a:tr h="454262">
                <a:tc>
                  <a:txBody>
                    <a:bodyPr/>
                    <a:lstStyle/>
                    <a:p>
                      <a:pPr>
                        <a:lnSpc>
                          <a:spcPct val="100000"/>
                        </a:lnSpc>
                        <a:spcBef>
                          <a:spcPts val="0"/>
                        </a:spcBef>
                        <a:buNone/>
                      </a:pPr>
                      <a:r>
                        <a:rPr lang="en-US" sz="1000" b="0">
                          <a:effectLst/>
                        </a:rPr>
                        <a:t>An abstract class can have access modifiers like public, private, or protected for its members.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Interface members are implicitly public and must remain public.</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1825518159"/>
                  </a:ext>
                </a:extLst>
              </a:tr>
              <a:tr h="319255">
                <a:tc>
                  <a:txBody>
                    <a:bodyPr/>
                    <a:lstStyle/>
                    <a:p>
                      <a:pPr>
                        <a:lnSpc>
                          <a:spcPct val="100000"/>
                        </a:lnSpc>
                        <a:spcBef>
                          <a:spcPts val="0"/>
                        </a:spcBef>
                        <a:buNone/>
                      </a:pPr>
                      <a:r>
                        <a:rPr lang="en-US" sz="1000" b="0">
                          <a:effectLst/>
                        </a:rPr>
                        <a:t>An abstract class can have constructors.</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a:effectLst/>
                        </a:rPr>
                        <a:t>Interfaces cannot have constructors.</a:t>
                      </a:r>
                      <a:endParaRPr lang="en-US" sz="1000" b="0">
                        <a:effectLst/>
                        <a:latin typeface="quote-cjk-patch"/>
                      </a:endParaRPr>
                    </a:p>
                  </a:txBody>
                  <a:tcPr marL="72271" marR="54204" marT="45170" marB="45170" anchor="ctr"/>
                </a:tc>
                <a:extLst>
                  <a:ext uri="{0D108BD9-81ED-4DB2-BD59-A6C34878D82A}">
                    <a16:rowId xmlns:a16="http://schemas.microsoft.com/office/drawing/2014/main" val="4155293977"/>
                  </a:ext>
                </a:extLst>
              </a:tr>
              <a:tr h="442387">
                <a:tc>
                  <a:txBody>
                    <a:bodyPr/>
                    <a:lstStyle/>
                    <a:p>
                      <a:pPr>
                        <a:lnSpc>
                          <a:spcPct val="100000"/>
                        </a:lnSpc>
                        <a:spcBef>
                          <a:spcPts val="0"/>
                        </a:spcBef>
                        <a:buNone/>
                      </a:pPr>
                      <a:r>
                        <a:rPr lang="en-US" sz="1000" b="0">
                          <a:effectLst/>
                        </a:rPr>
                        <a:t>A class can inherit from </a:t>
                      </a:r>
                      <a:r>
                        <a:rPr lang="en-US" sz="1000" b="1">
                          <a:effectLst/>
                        </a:rPr>
                        <a:t>only one</a:t>
                      </a:r>
                      <a:r>
                        <a:rPr lang="en-US" sz="1000" b="0">
                          <a:effectLst/>
                        </a:rPr>
                        <a:t> abstract class (single inheritance).</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a:effectLst/>
                        </a:rPr>
                        <a:t>A class can implement </a:t>
                      </a:r>
                      <a:r>
                        <a:rPr lang="en-US" sz="1000" b="1">
                          <a:effectLst/>
                        </a:rPr>
                        <a:t>multiple</a:t>
                      </a:r>
                      <a:r>
                        <a:rPr lang="en-US" sz="1000" b="0">
                          <a:effectLst/>
                        </a:rPr>
                        <a:t> interfaces (multiple inheritance).</a:t>
                      </a:r>
                      <a:endParaRPr lang="en-US" sz="1000" b="0">
                        <a:effectLst/>
                        <a:latin typeface="quote-cjk-patch"/>
                      </a:endParaRPr>
                    </a:p>
                  </a:txBody>
                  <a:tcPr marL="72271" marR="54204" marT="45170" marB="45170" anchor="ctr"/>
                </a:tc>
                <a:extLst>
                  <a:ext uri="{0D108BD9-81ED-4DB2-BD59-A6C34878D82A}">
                    <a16:rowId xmlns:a16="http://schemas.microsoft.com/office/drawing/2014/main" val="2815042938"/>
                  </a:ext>
                </a:extLst>
              </a:tr>
              <a:tr h="565520">
                <a:tc>
                  <a:txBody>
                    <a:bodyPr/>
                    <a:lstStyle/>
                    <a:p>
                      <a:pPr>
                        <a:lnSpc>
                          <a:spcPct val="100000"/>
                        </a:lnSpc>
                        <a:spcBef>
                          <a:spcPts val="0"/>
                        </a:spcBef>
                        <a:buNone/>
                      </a:pPr>
                      <a:r>
                        <a:rPr lang="en-US" sz="1000" b="0">
                          <a:effectLst/>
                        </a:rPr>
                        <a:t>Abstract classes are </a:t>
                      </a:r>
                      <a:r>
                        <a:rPr lang="en-US" sz="1000" b="1">
                          <a:effectLst/>
                        </a:rPr>
                        <a:t>fast</a:t>
                      </a:r>
                      <a:r>
                        <a:rPr lang="en-US" sz="1000" b="0">
                          <a:effectLst/>
                        </a:rPr>
                        <a:t> because they don't require method lookup at runtime.</a:t>
                      </a:r>
                      <a:endParaRPr lang="en-US" sz="1000" b="0">
                        <a:effectLst/>
                        <a:latin typeface="quote-cjk-patch"/>
                      </a:endParaRPr>
                    </a:p>
                  </a:txBody>
                  <a:tcPr marL="54204" marR="72271" marT="45170" marB="45170" anchor="ctr"/>
                </a:tc>
                <a:tc>
                  <a:txBody>
                    <a:bodyPr/>
                    <a:lstStyle/>
                    <a:p>
                      <a:pPr>
                        <a:lnSpc>
                          <a:spcPct val="100000"/>
                        </a:lnSpc>
                        <a:spcBef>
                          <a:spcPts val="0"/>
                        </a:spcBef>
                        <a:buNone/>
                      </a:pPr>
                      <a:r>
                        <a:rPr lang="en-US" sz="1000" b="0" dirty="0">
                          <a:effectLst/>
                        </a:rPr>
                        <a:t>Interfaces are </a:t>
                      </a:r>
                      <a:r>
                        <a:rPr lang="en-US" sz="1000" b="1" dirty="0">
                          <a:effectLst/>
                        </a:rPr>
                        <a:t>slightly slower</a:t>
                      </a:r>
                      <a:r>
                        <a:rPr lang="en-US" sz="1000" b="0" dirty="0">
                          <a:effectLst/>
                        </a:rPr>
                        <a:t> as they need to locate the corresponding methods in the implementing class.</a:t>
                      </a:r>
                      <a:endParaRPr lang="en-US" sz="1000" b="0" dirty="0">
                        <a:effectLst/>
                        <a:latin typeface="quote-cjk-patch"/>
                      </a:endParaRPr>
                    </a:p>
                  </a:txBody>
                  <a:tcPr marL="72271" marR="54204" marT="45170" marB="45170" anchor="ctr"/>
                </a:tc>
                <a:extLst>
                  <a:ext uri="{0D108BD9-81ED-4DB2-BD59-A6C34878D82A}">
                    <a16:rowId xmlns:a16="http://schemas.microsoft.com/office/drawing/2014/main" val="869117517"/>
                  </a:ext>
                </a:extLst>
              </a:tr>
            </a:tbl>
          </a:graphicData>
        </a:graphic>
      </p:graphicFrame>
      <p:graphicFrame>
        <p:nvGraphicFramePr>
          <p:cNvPr id="7" name="Table 6">
            <a:extLst>
              <a:ext uri="{FF2B5EF4-FFF2-40B4-BE49-F238E27FC236}">
                <a16:creationId xmlns:a16="http://schemas.microsoft.com/office/drawing/2014/main" id="{D7F8729C-CBBF-4528-C902-CDD509B18366}"/>
              </a:ext>
            </a:extLst>
          </p:cNvPr>
          <p:cNvGraphicFramePr>
            <a:graphicFrameLocks noGrp="1"/>
          </p:cNvGraphicFramePr>
          <p:nvPr>
            <p:extLst>
              <p:ext uri="{D42A27DB-BD31-4B8C-83A1-F6EECF244321}">
                <p14:modId xmlns:p14="http://schemas.microsoft.com/office/powerpoint/2010/main" val="4042645350"/>
              </p:ext>
            </p:extLst>
          </p:nvPr>
        </p:nvGraphicFramePr>
        <p:xfrm>
          <a:off x="5771790" y="751585"/>
          <a:ext cx="3890370" cy="3015444"/>
        </p:xfrm>
        <a:graphic>
          <a:graphicData uri="http://schemas.openxmlformats.org/drawingml/2006/table">
            <a:tbl>
              <a:tblPr>
                <a:tableStyleId>{5940675A-B579-460E-94D1-54222C63F5DA}</a:tableStyleId>
              </a:tblPr>
              <a:tblGrid>
                <a:gridCol w="1296790">
                  <a:extLst>
                    <a:ext uri="{9D8B030D-6E8A-4147-A177-3AD203B41FA5}">
                      <a16:colId xmlns:a16="http://schemas.microsoft.com/office/drawing/2014/main" val="3289452231"/>
                    </a:ext>
                  </a:extLst>
                </a:gridCol>
                <a:gridCol w="1296790">
                  <a:extLst>
                    <a:ext uri="{9D8B030D-6E8A-4147-A177-3AD203B41FA5}">
                      <a16:colId xmlns:a16="http://schemas.microsoft.com/office/drawing/2014/main" val="2892310324"/>
                    </a:ext>
                  </a:extLst>
                </a:gridCol>
                <a:gridCol w="1296790">
                  <a:extLst>
                    <a:ext uri="{9D8B030D-6E8A-4147-A177-3AD203B41FA5}">
                      <a16:colId xmlns:a16="http://schemas.microsoft.com/office/drawing/2014/main" val="646630838"/>
                    </a:ext>
                  </a:extLst>
                </a:gridCol>
              </a:tblGrid>
              <a:tr h="204007">
                <a:tc>
                  <a:txBody>
                    <a:bodyPr/>
                    <a:lstStyle/>
                    <a:p>
                      <a:pPr algn="l">
                        <a:lnSpc>
                          <a:spcPct val="100000"/>
                        </a:lnSpc>
                        <a:buNone/>
                      </a:pPr>
                      <a:r>
                        <a:rPr lang="en-US" sz="1000" b="0">
                          <a:effectLst/>
                        </a:rPr>
                        <a:t>Feature</a:t>
                      </a:r>
                      <a:endParaRPr lang="en-US" sz="1000" b="0">
                        <a:effectLst/>
                        <a:latin typeface="quote-cjk-patch"/>
                      </a:endParaRPr>
                    </a:p>
                  </a:txBody>
                  <a:tcPr marL="72944" marR="97259" marT="60787" marB="60787" anchor="ctr"/>
                </a:tc>
                <a:tc>
                  <a:txBody>
                    <a:bodyPr/>
                    <a:lstStyle/>
                    <a:p>
                      <a:pPr algn="l">
                        <a:lnSpc>
                          <a:spcPct val="100000"/>
                        </a:lnSpc>
                        <a:buNone/>
                      </a:pPr>
                      <a:r>
                        <a:rPr lang="en-US" sz="1000" b="0">
                          <a:effectLst/>
                        </a:rPr>
                        <a:t>Abstract Class</a:t>
                      </a:r>
                      <a:endParaRPr lang="en-US" sz="1000" b="0">
                        <a:effectLst/>
                        <a:latin typeface="quote-cjk-patch"/>
                      </a:endParaRPr>
                    </a:p>
                  </a:txBody>
                  <a:tcPr marL="97259" marR="97259" marT="60787" marB="60787" anchor="ctr"/>
                </a:tc>
                <a:tc>
                  <a:txBody>
                    <a:bodyPr/>
                    <a:lstStyle/>
                    <a:p>
                      <a:pPr algn="l">
                        <a:lnSpc>
                          <a:spcPct val="100000"/>
                        </a:lnSpc>
                        <a:buNone/>
                      </a:pPr>
                      <a:r>
                        <a:rPr lang="en-US" sz="1000" b="0">
                          <a:effectLst/>
                        </a:rPr>
                        <a:t>Interface</a:t>
                      </a:r>
                      <a:endParaRPr lang="en-US" sz="1000" b="0">
                        <a:effectLst/>
                        <a:latin typeface="quote-cjk-patch"/>
                      </a:endParaRPr>
                    </a:p>
                  </a:txBody>
                  <a:tcPr marL="97259" marR="97259" marT="60787" marB="60787" anchor="ctr"/>
                </a:tc>
                <a:extLst>
                  <a:ext uri="{0D108BD9-81ED-4DB2-BD59-A6C34878D82A}">
                    <a16:rowId xmlns:a16="http://schemas.microsoft.com/office/drawing/2014/main" val="62713413"/>
                  </a:ext>
                </a:extLst>
              </a:tr>
              <a:tr h="204007">
                <a:tc>
                  <a:txBody>
                    <a:bodyPr/>
                    <a:lstStyle/>
                    <a:p>
                      <a:pPr>
                        <a:lnSpc>
                          <a:spcPct val="100000"/>
                        </a:lnSpc>
                        <a:buNone/>
                      </a:pPr>
                      <a:r>
                        <a:rPr lang="en-US" sz="1000" b="1">
                          <a:effectLst/>
                        </a:rPr>
                        <a:t>Keyword</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abstract</a:t>
                      </a:r>
                      <a:endParaRPr lang="en-US" sz="1000" b="0">
                        <a:effectLst/>
                        <a:latin typeface="quote-cjk-patch"/>
                      </a:endParaRPr>
                    </a:p>
                  </a:txBody>
                  <a:tcPr marL="97259" marR="97259" marT="60787" marB="60787" anchor="ctr"/>
                </a:tc>
                <a:tc>
                  <a:txBody>
                    <a:bodyPr/>
                    <a:lstStyle/>
                    <a:p>
                      <a:pPr>
                        <a:lnSpc>
                          <a:spcPct val="100000"/>
                        </a:lnSpc>
                        <a:buNone/>
                      </a:pPr>
                      <a:r>
                        <a:rPr lang="en-US" sz="1000" b="0">
                          <a:effectLst/>
                        </a:rPr>
                        <a:t>interface</a:t>
                      </a:r>
                      <a:endParaRPr lang="en-US" sz="1000" b="0">
                        <a:effectLst/>
                        <a:latin typeface="quote-cjk-patch"/>
                      </a:endParaRPr>
                    </a:p>
                  </a:txBody>
                  <a:tcPr marL="97259" marR="72944" marT="60787" marB="60787" anchor="ctr"/>
                </a:tc>
                <a:extLst>
                  <a:ext uri="{0D108BD9-81ED-4DB2-BD59-A6C34878D82A}">
                    <a16:rowId xmlns:a16="http://schemas.microsoft.com/office/drawing/2014/main" val="3816230311"/>
                  </a:ext>
                </a:extLst>
              </a:tr>
              <a:tr h="317487">
                <a:tc>
                  <a:txBody>
                    <a:bodyPr/>
                    <a:lstStyle/>
                    <a:p>
                      <a:pPr>
                        <a:lnSpc>
                          <a:spcPct val="100000"/>
                        </a:lnSpc>
                        <a:buNone/>
                      </a:pPr>
                      <a:r>
                        <a:rPr lang="en-US" sz="1000" b="1">
                          <a:effectLst/>
                        </a:rPr>
                        <a:t>Inheritance</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Uses extends keyword</a:t>
                      </a:r>
                      <a:endParaRPr lang="en-US" sz="1000" b="0">
                        <a:effectLst/>
                        <a:latin typeface="quote-cjk-patch"/>
                      </a:endParaRPr>
                    </a:p>
                  </a:txBody>
                  <a:tcPr marL="97259" marR="97259" marT="60787" marB="60787" anchor="ctr"/>
                </a:tc>
                <a:tc>
                  <a:txBody>
                    <a:bodyPr/>
                    <a:lstStyle/>
                    <a:p>
                      <a:pPr>
                        <a:lnSpc>
                          <a:spcPct val="100000"/>
                        </a:lnSpc>
                        <a:buNone/>
                      </a:pPr>
                      <a:r>
                        <a:rPr lang="en-US" sz="1000" b="0">
                          <a:effectLst/>
                        </a:rPr>
                        <a:t>Uses implements keyword</a:t>
                      </a:r>
                      <a:endParaRPr lang="en-US" sz="1000" b="0">
                        <a:effectLst/>
                        <a:latin typeface="quote-cjk-patch"/>
                      </a:endParaRPr>
                    </a:p>
                  </a:txBody>
                  <a:tcPr marL="97259" marR="72944" marT="60787" marB="60787" anchor="ctr"/>
                </a:tc>
                <a:extLst>
                  <a:ext uri="{0D108BD9-81ED-4DB2-BD59-A6C34878D82A}">
                    <a16:rowId xmlns:a16="http://schemas.microsoft.com/office/drawing/2014/main" val="675688915"/>
                  </a:ext>
                </a:extLst>
              </a:tr>
              <a:tr h="430967">
                <a:tc>
                  <a:txBody>
                    <a:bodyPr/>
                    <a:lstStyle/>
                    <a:p>
                      <a:pPr>
                        <a:lnSpc>
                          <a:spcPct val="100000"/>
                        </a:lnSpc>
                        <a:buNone/>
                      </a:pPr>
                      <a:r>
                        <a:rPr lang="en-US" sz="1000" b="1">
                          <a:effectLst/>
                        </a:rPr>
                        <a:t>Variables</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Can have final, non-final, static, non-static variables</a:t>
                      </a:r>
                      <a:endParaRPr lang="en-US" sz="1000" b="0">
                        <a:effectLst/>
                        <a:latin typeface="quote-cjk-patch"/>
                      </a:endParaRPr>
                    </a:p>
                  </a:txBody>
                  <a:tcPr marL="97259" marR="97259" marT="60787" marB="60787" anchor="ctr"/>
                </a:tc>
                <a:tc>
                  <a:txBody>
                    <a:bodyPr/>
                    <a:lstStyle/>
                    <a:p>
                      <a:pPr>
                        <a:lnSpc>
                          <a:spcPct val="100000"/>
                        </a:lnSpc>
                        <a:buNone/>
                      </a:pPr>
                      <a:r>
                        <a:rPr lang="en-US" sz="1000" b="0" dirty="0">
                          <a:effectLst/>
                        </a:rPr>
                        <a:t>Only public static final variables (constants)</a:t>
                      </a:r>
                      <a:endParaRPr lang="en-US" sz="1000" b="0" dirty="0">
                        <a:effectLst/>
                        <a:latin typeface="quote-cjk-patch"/>
                      </a:endParaRPr>
                    </a:p>
                  </a:txBody>
                  <a:tcPr marL="97259" marR="72944" marT="60787" marB="60787" anchor="ctr"/>
                </a:tc>
                <a:extLst>
                  <a:ext uri="{0D108BD9-81ED-4DB2-BD59-A6C34878D82A}">
                    <a16:rowId xmlns:a16="http://schemas.microsoft.com/office/drawing/2014/main" val="420335082"/>
                  </a:ext>
                </a:extLst>
              </a:tr>
              <a:tr h="771407">
                <a:tc>
                  <a:txBody>
                    <a:bodyPr/>
                    <a:lstStyle/>
                    <a:p>
                      <a:pPr>
                        <a:lnSpc>
                          <a:spcPct val="100000"/>
                        </a:lnSpc>
                        <a:buNone/>
                      </a:pPr>
                      <a:r>
                        <a:rPr lang="en-US" sz="1000" b="1">
                          <a:effectLst/>
                        </a:rPr>
                        <a:t>Method Implementation</a:t>
                      </a:r>
                      <a:endParaRPr lang="en-US" sz="1000" b="0">
                        <a:effectLst/>
                        <a:latin typeface="quote-cjk-patch"/>
                      </a:endParaRPr>
                    </a:p>
                  </a:txBody>
                  <a:tcPr marL="72944" marR="97259" marT="60787" marB="60787" anchor="ctr"/>
                </a:tc>
                <a:tc>
                  <a:txBody>
                    <a:bodyPr/>
                    <a:lstStyle/>
                    <a:p>
                      <a:pPr>
                        <a:lnSpc>
                          <a:spcPct val="100000"/>
                        </a:lnSpc>
                        <a:buNone/>
                      </a:pPr>
                      <a:r>
                        <a:rPr lang="en-US" sz="1000" b="0" dirty="0">
                          <a:effectLst/>
                        </a:rPr>
                        <a:t>Can have both abstract and concrete methods</a:t>
                      </a:r>
                      <a:endParaRPr lang="en-US" sz="1000" b="0" dirty="0">
                        <a:effectLst/>
                        <a:latin typeface="quote-cjk-patch"/>
                      </a:endParaRPr>
                    </a:p>
                  </a:txBody>
                  <a:tcPr marL="97259" marR="97259" marT="60787" marB="60787" anchor="ctr"/>
                </a:tc>
                <a:tc>
                  <a:txBody>
                    <a:bodyPr/>
                    <a:lstStyle/>
                    <a:p>
                      <a:pPr>
                        <a:lnSpc>
                          <a:spcPct val="100000"/>
                        </a:lnSpc>
                        <a:buNone/>
                      </a:pPr>
                      <a:r>
                        <a:rPr lang="en-US" sz="1000" b="0">
                          <a:effectLst/>
                        </a:rPr>
                        <a:t>Before Java 8: only abstract methods</a:t>
                      </a:r>
                      <a:br>
                        <a:rPr lang="en-US" sz="1000" b="0">
                          <a:effectLst/>
                        </a:rPr>
                      </a:br>
                      <a:r>
                        <a:rPr lang="en-US" sz="1000" b="0">
                          <a:effectLst/>
                        </a:rPr>
                        <a:t>Java 8+: default and static methods</a:t>
                      </a:r>
                      <a:br>
                        <a:rPr lang="en-US" sz="1000" b="0">
                          <a:effectLst/>
                        </a:rPr>
                      </a:br>
                      <a:r>
                        <a:rPr lang="en-US" sz="1000" b="0">
                          <a:effectLst/>
                        </a:rPr>
                        <a:t>Java 9+: private methods</a:t>
                      </a:r>
                      <a:endParaRPr lang="en-US" sz="1000" b="0">
                        <a:effectLst/>
                        <a:latin typeface="quote-cjk-patch"/>
                      </a:endParaRPr>
                    </a:p>
                  </a:txBody>
                  <a:tcPr marL="97259" marR="72944" marT="60787" marB="60787" anchor="ctr"/>
                </a:tc>
                <a:extLst>
                  <a:ext uri="{0D108BD9-81ED-4DB2-BD59-A6C34878D82A}">
                    <a16:rowId xmlns:a16="http://schemas.microsoft.com/office/drawing/2014/main" val="2964370291"/>
                  </a:ext>
                </a:extLst>
              </a:tr>
              <a:tr h="204007">
                <a:tc>
                  <a:txBody>
                    <a:bodyPr/>
                    <a:lstStyle/>
                    <a:p>
                      <a:pPr>
                        <a:lnSpc>
                          <a:spcPct val="100000"/>
                        </a:lnSpc>
                        <a:buNone/>
                      </a:pPr>
                      <a:r>
                        <a:rPr lang="en-US" sz="1000" b="1">
                          <a:effectLst/>
                        </a:rPr>
                        <a:t>Multiple Inheritance</a:t>
                      </a:r>
                      <a:endParaRPr lang="en-US" sz="1000" b="0">
                        <a:effectLst/>
                        <a:latin typeface="quote-cjk-patch"/>
                      </a:endParaRPr>
                    </a:p>
                  </a:txBody>
                  <a:tcPr marL="72944" marR="97259" marT="60787" marB="60787" anchor="ctr"/>
                </a:tc>
                <a:tc>
                  <a:txBody>
                    <a:bodyPr/>
                    <a:lstStyle/>
                    <a:p>
                      <a:pPr>
                        <a:lnSpc>
                          <a:spcPct val="100000"/>
                        </a:lnSpc>
                        <a:buNone/>
                      </a:pPr>
                      <a:r>
                        <a:rPr lang="en-US" sz="1000" b="0">
                          <a:effectLst/>
                        </a:rPr>
                        <a:t>Not supported</a:t>
                      </a:r>
                      <a:endParaRPr lang="en-US" sz="1000" b="0">
                        <a:effectLst/>
                        <a:latin typeface="quote-cjk-patch"/>
                      </a:endParaRPr>
                    </a:p>
                  </a:txBody>
                  <a:tcPr marL="97259" marR="97259" marT="60787" marB="60787" anchor="ctr"/>
                </a:tc>
                <a:tc>
                  <a:txBody>
                    <a:bodyPr/>
                    <a:lstStyle/>
                    <a:p>
                      <a:pPr>
                        <a:lnSpc>
                          <a:spcPct val="100000"/>
                        </a:lnSpc>
                        <a:buNone/>
                      </a:pPr>
                      <a:r>
                        <a:rPr lang="en-US" sz="1000" b="0" dirty="0">
                          <a:effectLst/>
                        </a:rPr>
                        <a:t>Supported</a:t>
                      </a:r>
                      <a:endParaRPr lang="en-US" sz="1000" b="0" dirty="0">
                        <a:effectLst/>
                        <a:latin typeface="quote-cjk-patch"/>
                      </a:endParaRPr>
                    </a:p>
                  </a:txBody>
                  <a:tcPr marL="97259" marR="72944" marT="60787" marB="60787" anchor="ctr"/>
                </a:tc>
                <a:extLst>
                  <a:ext uri="{0D108BD9-81ED-4DB2-BD59-A6C34878D82A}">
                    <a16:rowId xmlns:a16="http://schemas.microsoft.com/office/drawing/2014/main" val="1185955815"/>
                  </a:ext>
                </a:extLst>
              </a:tr>
            </a:tbl>
          </a:graphicData>
        </a:graphic>
      </p:graphicFrame>
      <p:sp>
        <p:nvSpPr>
          <p:cNvPr id="8" name="Rectangle 1">
            <a:extLst>
              <a:ext uri="{FF2B5EF4-FFF2-40B4-BE49-F238E27FC236}">
                <a16:creationId xmlns:a16="http://schemas.microsoft.com/office/drawing/2014/main" id="{CC4A6D5D-1297-2307-F1C1-64B8CACFF68E}"/>
              </a:ext>
            </a:extLst>
          </p:cNvPr>
          <p:cNvSpPr>
            <a:spLocks noChangeArrowheads="1"/>
          </p:cNvSpPr>
          <p:nvPr/>
        </p:nvSpPr>
        <p:spPr bwMode="auto">
          <a:xfrm>
            <a:off x="3357937" y="-4522448"/>
            <a:ext cx="1447512" cy="61545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203136" rIns="0" bIns="101568"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spcBef>
                <a:spcPts val="0"/>
              </a:spcBef>
              <a:spcAft>
                <a:spcPts val="0"/>
              </a:spcAft>
              <a:buClrTx/>
              <a:buSzTx/>
              <a:buFontTx/>
              <a:buNone/>
              <a:tabLst/>
            </a:pPr>
            <a:r>
              <a:rPr kumimoji="0" lang="en-US" altLang="en-US" sz="1000" b="1" i="0" u="none" strike="noStrike" cap="none" normalizeH="0" baseline="0">
                <a:ln>
                  <a:noFill/>
                </a:ln>
                <a:solidFill>
                  <a:srgbClr val="0F1115"/>
                </a:solidFill>
                <a:effectLst/>
                <a:latin typeface="quote-cjk-patch"/>
              </a:rPr>
              <a:t>Additional Key Differences:</a:t>
            </a:r>
          </a:p>
          <a:p>
            <a:pPr marL="0" marR="0" lvl="0" indent="0" algn="l" defTabSz="914400" rtl="0" eaLnBrk="0" fontAlgn="base" latinLnBrk="0" hangingPunct="0">
              <a:spcBef>
                <a:spcPts val="0"/>
              </a:spcBef>
              <a:spcAft>
                <a:spcPts val="0"/>
              </a:spcAft>
              <a:buClrTx/>
              <a:buSzTx/>
              <a:buFontTx/>
              <a:buNone/>
              <a:tabLst/>
            </a:pPr>
            <a:endParaRPr kumimoji="0" lang="en-US" altLang="en-US" sz="1000" b="0" i="0" u="none" strike="noStrike" cap="none" normalizeH="0" baseline="0">
              <a:ln>
                <a:noFill/>
              </a:ln>
              <a:solidFill>
                <a:schemeClr val="tx1"/>
              </a:solidFill>
              <a:effectLst/>
            </a:endParaRPr>
          </a:p>
        </p:txBody>
      </p:sp>
      <p:sp>
        <p:nvSpPr>
          <p:cNvPr id="10" name="TextBox 9">
            <a:extLst>
              <a:ext uri="{FF2B5EF4-FFF2-40B4-BE49-F238E27FC236}">
                <a16:creationId xmlns:a16="http://schemas.microsoft.com/office/drawing/2014/main" id="{712C91D6-4510-A5EA-6896-CAA20B59C534}"/>
              </a:ext>
            </a:extLst>
          </p:cNvPr>
          <p:cNvSpPr txBox="1"/>
          <p:nvPr/>
        </p:nvSpPr>
        <p:spPr>
          <a:xfrm>
            <a:off x="182560" y="3889430"/>
            <a:ext cx="2569286" cy="2862322"/>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Example of Abstract Class:</a:t>
            </a:r>
          </a:p>
          <a:p>
            <a:pPr algn="l">
              <a:buNone/>
            </a:pPr>
            <a:r>
              <a:rPr lang="en-US" sz="1000" b="0" i="0" dirty="0">
                <a:solidFill>
                  <a:srgbClr val="0F1115"/>
                </a:solidFill>
                <a:effectLst/>
                <a:latin typeface="Menlo"/>
              </a:rPr>
              <a:t>java</a:t>
            </a:r>
            <a:endParaRPr lang="en-US" sz="1000" b="0" i="0" dirty="0">
              <a:solidFill>
                <a:srgbClr val="0F1115"/>
              </a:solidFill>
              <a:effectLst/>
              <a:latin typeface="quote-cjk-patch"/>
            </a:endParaRPr>
          </a:p>
          <a:p>
            <a:pPr algn="l" latinLnBrk="1">
              <a:buNone/>
            </a:pPr>
            <a:r>
              <a:rPr lang="en-US" sz="1000" b="0" i="0" dirty="0">
                <a:solidFill>
                  <a:srgbClr val="A626A4"/>
                </a:solidFill>
                <a:effectLst/>
                <a:latin typeface="Menlo"/>
              </a:rPr>
              <a:t>abstract</a:t>
            </a:r>
            <a:r>
              <a:rPr lang="en-US" sz="1000" b="0" i="0" dirty="0">
                <a:solidFill>
                  <a:srgbClr val="0F1115"/>
                </a:solidFill>
                <a:effectLst/>
                <a:latin typeface="Menlo"/>
              </a:rPr>
              <a:t> </a:t>
            </a:r>
            <a:r>
              <a:rPr lang="en-US" sz="1000" b="0" i="0" dirty="0">
                <a:solidFill>
                  <a:srgbClr val="A626A4"/>
                </a:solidFill>
                <a:effectLst/>
                <a:latin typeface="Menlo"/>
              </a:rPr>
              <a:t>class</a:t>
            </a:r>
            <a:r>
              <a:rPr lang="en-US" sz="1000" b="0" i="0" dirty="0">
                <a:solidFill>
                  <a:srgbClr val="0F1115"/>
                </a:solidFill>
                <a:effectLst/>
                <a:latin typeface="Menlo"/>
              </a:rPr>
              <a:t> </a:t>
            </a:r>
            <a:r>
              <a:rPr lang="en-US" sz="1000" b="0" i="0" dirty="0">
                <a:solidFill>
                  <a:srgbClr val="B76B01"/>
                </a:solidFill>
                <a:effectLst/>
                <a:latin typeface="Menlo"/>
              </a:rPr>
              <a:t>Vehicle</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B76B01"/>
                </a:solidFill>
                <a:effectLst/>
                <a:latin typeface="Menlo"/>
              </a:rPr>
              <a:t>String</a:t>
            </a:r>
            <a:r>
              <a:rPr lang="en-US" sz="1000" b="0" i="0" dirty="0">
                <a:solidFill>
                  <a:srgbClr val="0F1115"/>
                </a:solidFill>
                <a:effectLst/>
                <a:latin typeface="Menlo"/>
              </a:rPr>
              <a:t> color</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1" dirty="0">
                <a:solidFill>
                  <a:srgbClr val="A0A1A7"/>
                </a:solidFill>
                <a:effectLst/>
                <a:latin typeface="Menlo"/>
              </a:rPr>
              <a:t>// instance variable</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Constructor</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B76B01"/>
                </a:solidFill>
                <a:effectLst/>
                <a:latin typeface="Menlo"/>
              </a:rPr>
              <a:t>Vehicle</a:t>
            </a:r>
            <a:r>
              <a:rPr lang="en-US" sz="1000" b="0" i="0" dirty="0">
                <a:solidFill>
                  <a:srgbClr val="383A42"/>
                </a:solidFill>
                <a:effectLst/>
                <a:latin typeface="Menlo"/>
              </a:rPr>
              <a:t>(</a:t>
            </a:r>
            <a:r>
              <a:rPr lang="en-US" sz="1000" b="0" i="0" dirty="0">
                <a:solidFill>
                  <a:srgbClr val="B76B01"/>
                </a:solidFill>
                <a:effectLst/>
                <a:latin typeface="Menlo"/>
              </a:rPr>
              <a:t>String</a:t>
            </a:r>
            <a:r>
              <a:rPr lang="en-US" sz="1000" b="0" i="0" dirty="0">
                <a:solidFill>
                  <a:srgbClr val="0F1115"/>
                </a:solidFill>
                <a:effectLst/>
                <a:latin typeface="Menlo"/>
              </a:rPr>
              <a:t> color</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A626A4"/>
                </a:solidFill>
                <a:effectLst/>
                <a:latin typeface="Menlo"/>
              </a:rPr>
              <a:t>this</a:t>
            </a:r>
            <a:r>
              <a:rPr lang="en-US" sz="1000" b="0" i="0" dirty="0" err="1">
                <a:solidFill>
                  <a:srgbClr val="383A42"/>
                </a:solidFill>
                <a:effectLst/>
                <a:latin typeface="Menlo"/>
              </a:rPr>
              <a:t>.</a:t>
            </a:r>
            <a:r>
              <a:rPr lang="en-US" sz="1000" b="0" i="0" dirty="0" err="1">
                <a:solidFill>
                  <a:srgbClr val="0F1115"/>
                </a:solidFill>
                <a:effectLst/>
                <a:latin typeface="Menlo"/>
              </a:rPr>
              <a:t>color</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color</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Abstract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abstract</a:t>
            </a: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start</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Concrete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stop</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B76B01"/>
                </a:solidFill>
                <a:effectLst/>
                <a:latin typeface="Menlo"/>
              </a:rPr>
              <a:t>System</a:t>
            </a:r>
            <a:r>
              <a:rPr lang="en-US" sz="1000" b="0" i="0" dirty="0" err="1">
                <a:solidFill>
                  <a:srgbClr val="383A42"/>
                </a:solidFill>
                <a:effectLst/>
                <a:latin typeface="Menlo"/>
              </a:rPr>
              <a:t>.</a:t>
            </a:r>
            <a:r>
              <a:rPr lang="en-US" sz="1000" b="0" i="0" dirty="0" err="1">
                <a:solidFill>
                  <a:srgbClr val="0F1115"/>
                </a:solidFill>
                <a:effectLst/>
                <a:latin typeface="Menlo"/>
              </a:rPr>
              <a:t>out</a:t>
            </a:r>
            <a:r>
              <a:rPr lang="en-US" sz="1000" b="0" i="0" dirty="0" err="1">
                <a:solidFill>
                  <a:srgbClr val="383A42"/>
                </a:solidFill>
                <a:effectLst/>
                <a:latin typeface="Menlo"/>
              </a:rPr>
              <a:t>.</a:t>
            </a:r>
            <a:r>
              <a:rPr lang="en-US" sz="1000" b="0" i="0" dirty="0" err="1">
                <a:solidFill>
                  <a:srgbClr val="4078F2"/>
                </a:solidFill>
                <a:effectLst/>
                <a:latin typeface="Menlo"/>
              </a:rPr>
              <a:t>println</a:t>
            </a:r>
            <a:r>
              <a:rPr lang="en-US" sz="1000" b="0" i="0" dirty="0">
                <a:solidFill>
                  <a:srgbClr val="383A42"/>
                </a:solidFill>
                <a:effectLst/>
                <a:latin typeface="Menlo"/>
              </a:rPr>
              <a:t>(</a:t>
            </a:r>
            <a:r>
              <a:rPr lang="en-US" sz="1000" b="0" i="0" dirty="0">
                <a:solidFill>
                  <a:srgbClr val="50A14F"/>
                </a:solidFill>
                <a:effectLst/>
                <a:latin typeface="Menlo"/>
              </a:rPr>
              <a:t>"Vehicle stopped"</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383A42"/>
                </a:solidFill>
                <a:effectLst/>
                <a:latin typeface="Menlo"/>
              </a:rPr>
              <a:t>}</a:t>
            </a:r>
            <a:endParaRPr lang="en-US" sz="1000" b="0" i="0" dirty="0">
              <a:solidFill>
                <a:srgbClr val="0F1115"/>
              </a:solidFill>
              <a:effectLst/>
              <a:latin typeface="Menlo"/>
            </a:endParaRPr>
          </a:p>
        </p:txBody>
      </p:sp>
      <p:sp>
        <p:nvSpPr>
          <p:cNvPr id="12" name="TextBox 11">
            <a:extLst>
              <a:ext uri="{FF2B5EF4-FFF2-40B4-BE49-F238E27FC236}">
                <a16:creationId xmlns:a16="http://schemas.microsoft.com/office/drawing/2014/main" id="{FF55F2DF-7499-5323-C0CC-436BC8EBF8CF}"/>
              </a:ext>
            </a:extLst>
          </p:cNvPr>
          <p:cNvSpPr txBox="1"/>
          <p:nvPr/>
        </p:nvSpPr>
        <p:spPr>
          <a:xfrm>
            <a:off x="2841831" y="4525075"/>
            <a:ext cx="3560424" cy="2246769"/>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Example of Interface:</a:t>
            </a:r>
          </a:p>
          <a:p>
            <a:pPr algn="l">
              <a:buNone/>
            </a:pPr>
            <a:r>
              <a:rPr lang="en-US" sz="1000" b="0" i="0" dirty="0">
                <a:solidFill>
                  <a:srgbClr val="0F1115"/>
                </a:solidFill>
                <a:effectLst/>
                <a:latin typeface="Menlo"/>
              </a:rPr>
              <a:t>java</a:t>
            </a:r>
            <a:endParaRPr lang="en-US" sz="1000" b="0" i="0" dirty="0">
              <a:solidFill>
                <a:srgbClr val="0F1115"/>
              </a:solidFill>
              <a:effectLst/>
              <a:latin typeface="quote-cjk-patch"/>
            </a:endParaRPr>
          </a:p>
          <a:p>
            <a:pPr algn="l" latinLnBrk="1">
              <a:buNone/>
            </a:pPr>
            <a:r>
              <a:rPr lang="en-US" sz="1000" b="0" i="0" dirty="0">
                <a:solidFill>
                  <a:srgbClr val="A626A4"/>
                </a:solidFill>
                <a:effectLst/>
                <a:latin typeface="Menlo"/>
              </a:rPr>
              <a:t>interface</a:t>
            </a:r>
            <a:r>
              <a:rPr lang="en-US" sz="1000" b="0" i="0" dirty="0">
                <a:solidFill>
                  <a:srgbClr val="0F1115"/>
                </a:solidFill>
                <a:effectLst/>
                <a:latin typeface="Menlo"/>
              </a:rPr>
              <a:t> </a:t>
            </a:r>
            <a:r>
              <a:rPr lang="en-US" sz="1000" b="0" i="0" dirty="0">
                <a:solidFill>
                  <a:srgbClr val="B76B01"/>
                </a:solidFill>
                <a:effectLst/>
                <a:latin typeface="Menlo"/>
              </a:rPr>
              <a:t>Electric</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Constant (public static final by default)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int</a:t>
            </a:r>
            <a:r>
              <a:rPr lang="en-US" sz="1000" b="0" i="0" dirty="0">
                <a:solidFill>
                  <a:srgbClr val="0F1115"/>
                </a:solidFill>
                <a:effectLst/>
                <a:latin typeface="Menlo"/>
              </a:rPr>
              <a:t> </a:t>
            </a:r>
            <a:r>
              <a:rPr lang="en-US" sz="1000" b="0" i="0" dirty="0">
                <a:solidFill>
                  <a:srgbClr val="B76B01"/>
                </a:solidFill>
                <a:effectLst/>
                <a:latin typeface="Menlo"/>
              </a:rPr>
              <a:t>BATTERY_CAPACITY</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B76B01"/>
                </a:solidFill>
                <a:effectLst/>
                <a:latin typeface="Menlo"/>
              </a:rPr>
              <a:t>100</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Abstract method</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a:solidFill>
                  <a:srgbClr val="4078F2"/>
                </a:solidFill>
                <a:effectLst/>
                <a:latin typeface="Menlo"/>
              </a:rPr>
              <a:t>charge</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p>
          <a:p>
            <a:pPr algn="l" latinLnBrk="1">
              <a:buNone/>
            </a:pPr>
            <a:r>
              <a:rPr lang="en-US" sz="1000" b="0" i="0" dirty="0">
                <a:solidFill>
                  <a:srgbClr val="0F1115"/>
                </a:solidFill>
                <a:effectLst/>
                <a:latin typeface="Menlo"/>
              </a:rPr>
              <a:t>    </a:t>
            </a:r>
            <a:r>
              <a:rPr lang="en-US" sz="1000" b="0" i="1" dirty="0">
                <a:solidFill>
                  <a:srgbClr val="A0A1A7"/>
                </a:solidFill>
                <a:effectLst/>
                <a:latin typeface="Menlo"/>
              </a:rPr>
              <a:t>// Default method (Java 8+)</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A626A4"/>
                </a:solidFill>
                <a:effectLst/>
                <a:latin typeface="Menlo"/>
              </a:rPr>
              <a:t>default</a:t>
            </a:r>
            <a:r>
              <a:rPr lang="en-US" sz="1000" b="0" i="0" dirty="0">
                <a:solidFill>
                  <a:srgbClr val="0F1115"/>
                </a:solidFill>
                <a:effectLst/>
                <a:latin typeface="Menlo"/>
              </a:rPr>
              <a:t> </a:t>
            </a:r>
            <a:r>
              <a:rPr lang="en-US" sz="1000" b="0" i="0" dirty="0">
                <a:solidFill>
                  <a:srgbClr val="A626A4"/>
                </a:solidFill>
                <a:effectLst/>
                <a:latin typeface="Menlo"/>
              </a:rPr>
              <a:t>void</a:t>
            </a:r>
            <a:r>
              <a:rPr lang="en-US" sz="1000" b="0" i="0" dirty="0">
                <a:solidFill>
                  <a:srgbClr val="0F1115"/>
                </a:solidFill>
                <a:effectLst/>
                <a:latin typeface="Menlo"/>
              </a:rPr>
              <a:t> </a:t>
            </a:r>
            <a:r>
              <a:rPr lang="en-US" sz="1000" b="0" i="0" dirty="0" err="1">
                <a:solidFill>
                  <a:srgbClr val="4078F2"/>
                </a:solidFill>
                <a:effectLst/>
                <a:latin typeface="Menlo"/>
              </a:rPr>
              <a:t>displayBattery</a:t>
            </a:r>
            <a:r>
              <a:rPr lang="en-US" sz="1000" b="0" i="0" dirty="0">
                <a:solidFill>
                  <a:srgbClr val="383A42"/>
                </a:solidFill>
                <a:effectLst/>
                <a:latin typeface="Menlo"/>
              </a:rPr>
              <a:t>()</a:t>
            </a: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err="1">
                <a:solidFill>
                  <a:srgbClr val="B76B01"/>
                </a:solidFill>
                <a:effectLst/>
                <a:latin typeface="Menlo"/>
              </a:rPr>
              <a:t>System</a:t>
            </a:r>
            <a:r>
              <a:rPr lang="en-US" sz="1000" b="0" i="0" dirty="0" err="1">
                <a:solidFill>
                  <a:srgbClr val="383A42"/>
                </a:solidFill>
                <a:effectLst/>
                <a:latin typeface="Menlo"/>
              </a:rPr>
              <a:t>.</a:t>
            </a:r>
            <a:r>
              <a:rPr lang="en-US" sz="1000" b="0" i="0" dirty="0" err="1">
                <a:solidFill>
                  <a:srgbClr val="0F1115"/>
                </a:solidFill>
                <a:effectLst/>
                <a:latin typeface="Menlo"/>
              </a:rPr>
              <a:t>out</a:t>
            </a:r>
            <a:r>
              <a:rPr lang="en-US" sz="1000" b="0" i="0" dirty="0" err="1">
                <a:solidFill>
                  <a:srgbClr val="383A42"/>
                </a:solidFill>
                <a:effectLst/>
                <a:latin typeface="Menlo"/>
              </a:rPr>
              <a:t>.</a:t>
            </a:r>
            <a:r>
              <a:rPr lang="en-US" sz="1000" b="0" i="0" dirty="0" err="1">
                <a:solidFill>
                  <a:srgbClr val="4078F2"/>
                </a:solidFill>
                <a:effectLst/>
                <a:latin typeface="Menlo"/>
              </a:rPr>
              <a:t>println</a:t>
            </a:r>
            <a:r>
              <a:rPr lang="en-US" sz="1000" b="0" i="0" dirty="0">
                <a:solidFill>
                  <a:srgbClr val="383A42"/>
                </a:solidFill>
                <a:effectLst/>
                <a:latin typeface="Menlo"/>
              </a:rPr>
              <a:t>(</a:t>
            </a:r>
            <a:r>
              <a:rPr lang="en-US" sz="1000" b="0" i="0" dirty="0">
                <a:solidFill>
                  <a:srgbClr val="50A14F"/>
                </a:solidFill>
                <a:effectLst/>
                <a:latin typeface="Menlo"/>
              </a:rPr>
              <a:t>"Battery: "</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B76B01"/>
                </a:solidFill>
                <a:effectLst/>
                <a:latin typeface="Menlo"/>
              </a:rPr>
              <a:t>BATTERY_CAPACITY</a:t>
            </a:r>
            <a:r>
              <a:rPr lang="en-US" sz="1000" b="0" i="0" dirty="0">
                <a:solidFill>
                  <a:srgbClr val="0F1115"/>
                </a:solidFill>
                <a:effectLst/>
                <a:latin typeface="Menlo"/>
              </a:rPr>
              <a:t> </a:t>
            </a:r>
            <a:r>
              <a:rPr lang="en-US" sz="1000" b="0" i="0" dirty="0">
                <a:solidFill>
                  <a:srgbClr val="4078F2"/>
                </a:solidFill>
                <a:effectLst/>
                <a:latin typeface="Menlo"/>
              </a:rPr>
              <a:t>+</a:t>
            </a:r>
            <a:r>
              <a:rPr lang="en-US" sz="1000" b="0" i="0" dirty="0">
                <a:solidFill>
                  <a:srgbClr val="0F1115"/>
                </a:solidFill>
                <a:effectLst/>
                <a:latin typeface="Menlo"/>
              </a:rPr>
              <a:t> </a:t>
            </a:r>
            <a:r>
              <a:rPr lang="en-US" sz="1000" b="0" i="0" dirty="0">
                <a:solidFill>
                  <a:srgbClr val="50A14F"/>
                </a:solidFill>
                <a:effectLst/>
                <a:latin typeface="Menlo"/>
              </a:rPr>
              <a:t>"%"</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0F1115"/>
                </a:solidFill>
                <a:effectLst/>
                <a:latin typeface="Menlo"/>
              </a:rPr>
              <a:t>    </a:t>
            </a:r>
            <a:r>
              <a:rPr lang="en-US" sz="1000" b="0" i="0" dirty="0">
                <a:solidFill>
                  <a:srgbClr val="383A42"/>
                </a:solidFill>
                <a:effectLst/>
                <a:latin typeface="Menlo"/>
              </a:rPr>
              <a:t>}</a:t>
            </a:r>
            <a:endParaRPr lang="en-US" sz="1000" b="0" i="0" dirty="0">
              <a:solidFill>
                <a:srgbClr val="0F1115"/>
              </a:solidFill>
              <a:effectLst/>
              <a:latin typeface="Menlo"/>
            </a:endParaRPr>
          </a:p>
          <a:p>
            <a:pPr algn="l" latinLnBrk="1">
              <a:buNone/>
            </a:pPr>
            <a:r>
              <a:rPr lang="en-US" sz="1000" b="0" i="0" dirty="0">
                <a:solidFill>
                  <a:srgbClr val="383A42"/>
                </a:solidFill>
                <a:effectLst/>
                <a:latin typeface="Menlo"/>
              </a:rPr>
              <a:t>}</a:t>
            </a:r>
            <a:endParaRPr lang="en-US" sz="1000" b="0" i="0" dirty="0">
              <a:solidFill>
                <a:srgbClr val="0F1115"/>
              </a:solidFill>
              <a:effectLst/>
              <a:latin typeface="Menlo"/>
            </a:endParaRPr>
          </a:p>
        </p:txBody>
      </p:sp>
      <p:sp>
        <p:nvSpPr>
          <p:cNvPr id="14" name="TextBox 13">
            <a:extLst>
              <a:ext uri="{FF2B5EF4-FFF2-40B4-BE49-F238E27FC236}">
                <a16:creationId xmlns:a16="http://schemas.microsoft.com/office/drawing/2014/main" id="{255C518B-4539-6138-B938-AA47057F9D58}"/>
              </a:ext>
            </a:extLst>
          </p:cNvPr>
          <p:cNvSpPr txBox="1"/>
          <p:nvPr/>
        </p:nvSpPr>
        <p:spPr>
          <a:xfrm>
            <a:off x="6492240" y="4367198"/>
            <a:ext cx="3169920" cy="2400657"/>
          </a:xfrm>
          <a:prstGeom prst="rect">
            <a:avLst/>
          </a:prstGeom>
          <a:noFill/>
          <a:ln>
            <a:solidFill>
              <a:schemeClr val="tx1"/>
            </a:solidFill>
          </a:ln>
        </p:spPr>
        <p:txBody>
          <a:bodyPr wrap="square">
            <a:spAutoFit/>
          </a:bodyPr>
          <a:lstStyle/>
          <a:p>
            <a:pPr algn="l">
              <a:buNone/>
            </a:pPr>
            <a:r>
              <a:rPr lang="en-US" sz="1000" b="1" dirty="0">
                <a:solidFill>
                  <a:srgbClr val="0F1115"/>
                </a:solidFill>
                <a:effectLst/>
                <a:latin typeface="quote-cjk-patch"/>
              </a:rPr>
              <a:t>When to Use Which?</a:t>
            </a:r>
          </a:p>
          <a:p>
            <a:pPr algn="l">
              <a:buNone/>
            </a:pPr>
            <a:r>
              <a:rPr lang="en-US" sz="1000" b="1" i="0" dirty="0">
                <a:solidFill>
                  <a:srgbClr val="0F1115"/>
                </a:solidFill>
                <a:effectLst/>
                <a:latin typeface="quote-cjk-patch"/>
              </a:rPr>
              <a:t>Use Abstract Class when:</a:t>
            </a:r>
            <a:endParaRPr lang="en-US" sz="1000" b="0" i="0" dirty="0">
              <a:solidFill>
                <a:srgbClr val="0F1115"/>
              </a:solidFill>
              <a:effectLst/>
              <a:latin typeface="quote-cjk-patch"/>
            </a:endParaRPr>
          </a:p>
          <a:p>
            <a:pPr algn="l">
              <a:buFont typeface="Arial" panose="020B0604020202020204" pitchFamily="34" charset="0"/>
              <a:buChar char="•"/>
            </a:pPr>
            <a:r>
              <a:rPr lang="en-US" sz="1000" b="0" i="0" dirty="0">
                <a:solidFill>
                  <a:srgbClr val="0F1115"/>
                </a:solidFill>
                <a:effectLst/>
                <a:latin typeface="quote-cjk-patch"/>
              </a:rPr>
              <a:t>You want to share code among several closely related classes</a:t>
            </a:r>
          </a:p>
          <a:p>
            <a:pPr algn="l">
              <a:buFont typeface="Arial" panose="020B0604020202020204" pitchFamily="34" charset="0"/>
              <a:buChar char="•"/>
            </a:pPr>
            <a:r>
              <a:rPr lang="en-US" sz="1000" b="0" i="0" dirty="0">
                <a:solidFill>
                  <a:srgbClr val="0F1115"/>
                </a:solidFill>
                <a:effectLst/>
                <a:latin typeface="quote-cjk-patch"/>
              </a:rPr>
              <a:t>You expect classes to have common methods or fields</a:t>
            </a:r>
          </a:p>
          <a:p>
            <a:pPr algn="l">
              <a:buFont typeface="Arial" panose="020B0604020202020204" pitchFamily="34" charset="0"/>
              <a:buChar char="•"/>
            </a:pPr>
            <a:r>
              <a:rPr lang="en-US" sz="1000" b="0" i="0" dirty="0">
                <a:solidFill>
                  <a:srgbClr val="0F1115"/>
                </a:solidFill>
                <a:effectLst/>
                <a:latin typeface="quote-cjk-patch"/>
              </a:rPr>
              <a:t>You want to declare non-static or non-final fields</a:t>
            </a:r>
          </a:p>
          <a:p>
            <a:pPr algn="l">
              <a:buFont typeface="Arial" panose="020B0604020202020204" pitchFamily="34" charset="0"/>
              <a:buChar char="•"/>
            </a:pPr>
            <a:r>
              <a:rPr lang="en-US" sz="1000" b="0" i="0" dirty="0">
                <a:solidFill>
                  <a:srgbClr val="0F1115"/>
                </a:solidFill>
                <a:effectLst/>
                <a:latin typeface="quote-cjk-patch"/>
              </a:rPr>
              <a:t>You need access control beyond public (protected, private)</a:t>
            </a:r>
          </a:p>
          <a:p>
            <a:pPr algn="l">
              <a:buNone/>
            </a:pPr>
            <a:r>
              <a:rPr lang="en-US" sz="1000" b="1" i="0" dirty="0">
                <a:solidFill>
                  <a:srgbClr val="0F1115"/>
                </a:solidFill>
                <a:effectLst/>
                <a:latin typeface="quote-cjk-patch"/>
              </a:rPr>
              <a:t>Use Interface when:</a:t>
            </a:r>
            <a:endParaRPr lang="en-US" sz="1000" b="0" i="0" dirty="0">
              <a:solidFill>
                <a:srgbClr val="0F1115"/>
              </a:solidFill>
              <a:effectLst/>
              <a:latin typeface="quote-cjk-patch"/>
            </a:endParaRPr>
          </a:p>
          <a:p>
            <a:pPr algn="l">
              <a:buFont typeface="Arial" panose="020B0604020202020204" pitchFamily="34" charset="0"/>
              <a:buChar char="•"/>
            </a:pPr>
            <a:r>
              <a:rPr lang="en-US" sz="1000" b="0" i="0" dirty="0">
                <a:solidFill>
                  <a:srgbClr val="0F1115"/>
                </a:solidFill>
                <a:effectLst/>
                <a:latin typeface="quote-cjk-patch"/>
              </a:rPr>
              <a:t>You expect unrelated classes to implement your methods</a:t>
            </a:r>
          </a:p>
          <a:p>
            <a:pPr algn="l">
              <a:buFont typeface="Arial" panose="020B0604020202020204" pitchFamily="34" charset="0"/>
              <a:buChar char="•"/>
            </a:pPr>
            <a:r>
              <a:rPr lang="en-US" sz="1000" b="0" i="0" dirty="0">
                <a:solidFill>
                  <a:srgbClr val="0F1115"/>
                </a:solidFill>
                <a:effectLst/>
                <a:latin typeface="quote-cjk-patch"/>
              </a:rPr>
              <a:t>You want to specify the behavior of a particular data type, but not concerned about who implements it</a:t>
            </a:r>
          </a:p>
          <a:p>
            <a:pPr algn="l">
              <a:buFont typeface="Arial" panose="020B0604020202020204" pitchFamily="34" charset="0"/>
              <a:buChar char="•"/>
            </a:pPr>
            <a:r>
              <a:rPr lang="en-US" sz="1000" b="0" i="0" dirty="0">
                <a:solidFill>
                  <a:srgbClr val="0F1115"/>
                </a:solidFill>
                <a:effectLst/>
                <a:latin typeface="quote-cjk-patch"/>
              </a:rPr>
              <a:t>You want to take advantage of multiple inheritance in Java</a:t>
            </a: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70CAFCB-146E-F7F1-1AB8-64E6A8EAE944}"/>
              </a:ext>
            </a:extLst>
          </p:cNvPr>
          <p:cNvSpPr txBox="1"/>
          <p:nvPr/>
        </p:nvSpPr>
        <p:spPr>
          <a:xfrm>
            <a:off x="57875" y="57875"/>
            <a:ext cx="3842794" cy="282200"/>
          </a:xfrm>
          <a:prstGeom prst="rect">
            <a:avLst/>
          </a:prstGeom>
          <a:noFill/>
          <a:ln>
            <a:solidFill>
              <a:schemeClr val="tx1"/>
            </a:solidFill>
          </a:ln>
        </p:spPr>
        <p:txBody>
          <a:bodyPr wrap="square">
            <a:spAutoFit/>
          </a:bodyPr>
          <a:lstStyle/>
          <a:p>
            <a:r>
              <a:rPr lang="en-US" sz="1200" b="1" i="0" dirty="0">
                <a:solidFill>
                  <a:srgbClr val="0F1115"/>
                </a:solidFill>
                <a:effectLst/>
                <a:latin typeface="quote-cjk-patch"/>
              </a:rPr>
              <a:t>15. Explain the try-catch block in Java.</a:t>
            </a:r>
            <a:endParaRPr lang="en-US" sz="1200" b="1" dirty="0"/>
          </a:p>
        </p:txBody>
      </p:sp>
      <p:sp>
        <p:nvSpPr>
          <p:cNvPr id="6" name="TextBox 5">
            <a:extLst>
              <a:ext uri="{FF2B5EF4-FFF2-40B4-BE49-F238E27FC236}">
                <a16:creationId xmlns:a16="http://schemas.microsoft.com/office/drawing/2014/main" id="{BF21CAF3-3543-916B-7545-A81E609107D2}"/>
              </a:ext>
            </a:extLst>
          </p:cNvPr>
          <p:cNvSpPr txBox="1"/>
          <p:nvPr/>
        </p:nvSpPr>
        <p:spPr>
          <a:xfrm>
            <a:off x="57874" y="376145"/>
            <a:ext cx="3842795" cy="646331"/>
          </a:xfrm>
          <a:prstGeom prst="rect">
            <a:avLst/>
          </a:prstGeom>
          <a:noFill/>
          <a:ln>
            <a:solidFill>
              <a:schemeClr val="tx1"/>
            </a:solidFill>
          </a:ln>
        </p:spPr>
        <p:txBody>
          <a:bodyPr wrap="square">
            <a:spAutoFit/>
          </a:bodyPr>
          <a:lstStyle/>
          <a:p>
            <a:pPr algn="l">
              <a:buNone/>
            </a:pPr>
            <a:r>
              <a:rPr lang="en-US" sz="1200" b="0" i="0" dirty="0">
                <a:solidFill>
                  <a:srgbClr val="0F1115"/>
                </a:solidFill>
                <a:effectLst/>
                <a:latin typeface="quote-cjk-patch"/>
              </a:rPr>
              <a:t>A try-catch block is a fundamental construct for </a:t>
            </a:r>
            <a:r>
              <a:rPr lang="en-US" sz="1200" b="1" i="0" dirty="0">
                <a:solidFill>
                  <a:srgbClr val="0F1115"/>
                </a:solidFill>
                <a:effectLst/>
                <a:latin typeface="quote-cjk-patch"/>
              </a:rPr>
              <a:t>exception handling</a:t>
            </a:r>
            <a:r>
              <a:rPr lang="en-US" sz="1200" b="0" i="0" dirty="0">
                <a:solidFill>
                  <a:srgbClr val="0F1115"/>
                </a:solidFill>
                <a:effectLst/>
                <a:latin typeface="quote-cjk-patch"/>
              </a:rPr>
              <a:t> in Java that allows programs to handle runtime errors gracefully without crashing.</a:t>
            </a:r>
          </a:p>
        </p:txBody>
      </p:sp>
      <p:sp>
        <p:nvSpPr>
          <p:cNvPr id="8" name="TextBox 7">
            <a:extLst>
              <a:ext uri="{FF2B5EF4-FFF2-40B4-BE49-F238E27FC236}">
                <a16:creationId xmlns:a16="http://schemas.microsoft.com/office/drawing/2014/main" id="{F5BE59F9-AC76-7299-D8C7-44B5196DCE15}"/>
              </a:ext>
            </a:extLst>
          </p:cNvPr>
          <p:cNvSpPr txBox="1"/>
          <p:nvPr/>
        </p:nvSpPr>
        <p:spPr>
          <a:xfrm>
            <a:off x="57875" y="1068309"/>
            <a:ext cx="3842796" cy="1384995"/>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try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Code that may throw an exception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Risky operations go here</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err="1">
                <a:solidFill>
                  <a:srgbClr val="B76B01"/>
                </a:solidFill>
                <a:effectLst/>
                <a:latin typeface="Menlo"/>
              </a:rPr>
              <a:t>ExceptionType</a:t>
            </a:r>
            <a:r>
              <a:rPr lang="en-US" sz="1200" b="0" dirty="0">
                <a:solidFill>
                  <a:srgbClr val="0F1115"/>
                </a:solidFill>
                <a:effectLst/>
                <a:latin typeface="Menlo"/>
              </a:rPr>
              <a:t> </a:t>
            </a:r>
            <a:r>
              <a:rPr lang="en-US" sz="1200" b="0" dirty="0" err="1">
                <a:solidFill>
                  <a:srgbClr val="0F1115"/>
                </a:solidFill>
                <a:effectLst/>
                <a:latin typeface="Menlo"/>
              </a:rPr>
              <a:t>variableName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Code to handle the exception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This executes only if the specified exception occurs</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0" name="TextBox 9">
            <a:extLst>
              <a:ext uri="{FF2B5EF4-FFF2-40B4-BE49-F238E27FC236}">
                <a16:creationId xmlns:a16="http://schemas.microsoft.com/office/drawing/2014/main" id="{1DA9EE92-EF3A-5F5B-DE80-06006CE28632}"/>
              </a:ext>
            </a:extLst>
          </p:cNvPr>
          <p:cNvSpPr txBox="1"/>
          <p:nvPr/>
        </p:nvSpPr>
        <p:spPr>
          <a:xfrm>
            <a:off x="46301" y="2498670"/>
            <a:ext cx="3854370" cy="2123658"/>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Key Components</a:t>
            </a:r>
          </a:p>
          <a:p>
            <a:pPr algn="l">
              <a:buNone/>
            </a:pPr>
            <a:r>
              <a:rPr lang="en-US" sz="1200" b="1" i="0" dirty="0">
                <a:solidFill>
                  <a:srgbClr val="0F1115"/>
                </a:solidFill>
                <a:effectLst/>
                <a:latin typeface="quote-cjk-patch"/>
              </a:rPr>
              <a:t>Try Block:</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Contains code that might throw an exception</a:t>
            </a:r>
          </a:p>
          <a:p>
            <a:pPr algn="l">
              <a:buFont typeface="Arial" panose="020B0604020202020204" pitchFamily="34" charset="0"/>
              <a:buChar char="•"/>
            </a:pPr>
            <a:r>
              <a:rPr lang="en-US" sz="1200" b="0" i="0" dirty="0">
                <a:solidFill>
                  <a:srgbClr val="0F1115"/>
                </a:solidFill>
                <a:effectLst/>
                <a:latin typeface="quote-cjk-patch"/>
              </a:rPr>
              <a:t>If an exception occurs, the normal flow is interrupted</a:t>
            </a:r>
          </a:p>
          <a:p>
            <a:pPr algn="l">
              <a:buFont typeface="Arial" panose="020B0604020202020204" pitchFamily="34" charset="0"/>
              <a:buChar char="•"/>
            </a:pPr>
            <a:r>
              <a:rPr lang="en-US" sz="1200" b="0" i="0" dirty="0">
                <a:solidFill>
                  <a:srgbClr val="0F1115"/>
                </a:solidFill>
                <a:effectLst/>
                <a:latin typeface="quote-cjk-patch"/>
              </a:rPr>
              <a:t>The rest of the try block is skipped after an exception</a:t>
            </a:r>
          </a:p>
          <a:p>
            <a:pPr algn="l">
              <a:buFont typeface="Arial" panose="020B0604020202020204" pitchFamily="34" charset="0"/>
              <a:buChar char="•"/>
            </a:pPr>
            <a:r>
              <a:rPr lang="en-US" sz="1200" b="0" i="0" dirty="0">
                <a:solidFill>
                  <a:srgbClr val="0F1115"/>
                </a:solidFill>
                <a:effectLst/>
                <a:latin typeface="quote-cjk-patch"/>
              </a:rPr>
              <a:t>Must be followed by at least one catch or finally block</a:t>
            </a:r>
          </a:p>
          <a:p>
            <a:pPr algn="l">
              <a:buNone/>
            </a:pPr>
            <a:r>
              <a:rPr lang="en-US" sz="1200" b="1" i="0" dirty="0">
                <a:solidFill>
                  <a:srgbClr val="0F1115"/>
                </a:solidFill>
                <a:effectLst/>
                <a:latin typeface="quote-cjk-patch"/>
              </a:rPr>
              <a:t>Catch Block:</a:t>
            </a:r>
            <a:endParaRPr lang="en-US" sz="1200" b="0" i="0" dirty="0">
              <a:solidFill>
                <a:srgbClr val="0F1115"/>
              </a:solidFill>
              <a:effectLst/>
              <a:latin typeface="quote-cjk-patch"/>
            </a:endParaRPr>
          </a:p>
          <a:p>
            <a:pPr algn="l">
              <a:buFont typeface="Arial" panose="020B0604020202020204" pitchFamily="34" charset="0"/>
              <a:buChar char="•"/>
            </a:pPr>
            <a:r>
              <a:rPr lang="en-US" sz="1200" b="0" i="0" dirty="0">
                <a:solidFill>
                  <a:srgbClr val="0F1115"/>
                </a:solidFill>
                <a:effectLst/>
                <a:latin typeface="quote-cjk-patch"/>
              </a:rPr>
              <a:t>Catches and handles specific exceptions</a:t>
            </a:r>
          </a:p>
          <a:p>
            <a:pPr algn="l">
              <a:buFont typeface="Arial" panose="020B0604020202020204" pitchFamily="34" charset="0"/>
              <a:buChar char="•"/>
            </a:pPr>
            <a:r>
              <a:rPr lang="en-US" sz="1200" b="0" i="0" dirty="0">
                <a:solidFill>
                  <a:srgbClr val="0F1115"/>
                </a:solidFill>
                <a:effectLst/>
                <a:latin typeface="quote-cjk-patch"/>
              </a:rPr>
              <a:t>Multiple catch blocks can handle different exception types</a:t>
            </a:r>
          </a:p>
          <a:p>
            <a:pPr algn="l">
              <a:buFont typeface="Arial" panose="020B0604020202020204" pitchFamily="34" charset="0"/>
              <a:buChar char="•"/>
            </a:pPr>
            <a:r>
              <a:rPr lang="en-US" sz="1200" b="0" i="0" dirty="0">
                <a:solidFill>
                  <a:srgbClr val="0F1115"/>
                </a:solidFill>
                <a:effectLst/>
                <a:latin typeface="quote-cjk-patch"/>
              </a:rPr>
              <a:t>Only the first matching catch block executes</a:t>
            </a:r>
          </a:p>
          <a:p>
            <a:pPr algn="l">
              <a:buFont typeface="Arial" panose="020B0604020202020204" pitchFamily="34" charset="0"/>
              <a:buChar char="•"/>
            </a:pPr>
            <a:r>
              <a:rPr lang="en-US" sz="1200" b="0" i="0" dirty="0">
                <a:solidFill>
                  <a:srgbClr val="0F1115"/>
                </a:solidFill>
                <a:effectLst/>
                <a:latin typeface="quote-cjk-patch"/>
              </a:rPr>
              <a:t>The parameter defines which exception type it handles</a:t>
            </a:r>
          </a:p>
        </p:txBody>
      </p:sp>
      <p:sp>
        <p:nvSpPr>
          <p:cNvPr id="12" name="TextBox 11">
            <a:extLst>
              <a:ext uri="{FF2B5EF4-FFF2-40B4-BE49-F238E27FC236}">
                <a16:creationId xmlns:a16="http://schemas.microsoft.com/office/drawing/2014/main" id="{04A8D0C4-B59F-F1BD-EE4F-0E35A6C41CEC}"/>
              </a:ext>
            </a:extLst>
          </p:cNvPr>
          <p:cNvSpPr txBox="1"/>
          <p:nvPr/>
        </p:nvSpPr>
        <p:spPr>
          <a:xfrm>
            <a:off x="3946965" y="46300"/>
            <a:ext cx="5895838" cy="3231654"/>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TryCatchExample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try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383A42"/>
                </a:solidFill>
                <a:effectLst/>
                <a:latin typeface="Menlo"/>
              </a:rPr>
              <a:t>[]</a:t>
            </a:r>
            <a:r>
              <a:rPr lang="en-US" sz="1200" b="0" dirty="0">
                <a:solidFill>
                  <a:srgbClr val="0F1115"/>
                </a:solidFill>
                <a:effectLst/>
                <a:latin typeface="Menlo"/>
              </a:rPr>
              <a:t> numbers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B76B01"/>
                </a:solidFill>
                <a:effectLst/>
                <a:latin typeface="Menlo"/>
              </a:rPr>
              <a:t>1</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2</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3</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0F1115"/>
                </a:solidFill>
                <a:effectLst/>
                <a:latin typeface="Menlo"/>
              </a:rPr>
              <a:t>numbers</a:t>
            </a:r>
            <a:r>
              <a:rPr lang="en-US" sz="1200" b="0" dirty="0">
                <a:solidFill>
                  <a:srgbClr val="383A42"/>
                </a:solidFill>
                <a:effectLst/>
                <a:latin typeface="Menlo"/>
              </a:rPr>
              <a:t>[</a:t>
            </a:r>
            <a:r>
              <a:rPr lang="en-US" sz="1200" b="0" dirty="0">
                <a:solidFill>
                  <a:srgbClr val="B76B01"/>
                </a:solidFill>
                <a:effectLst/>
                <a:latin typeface="Menlo"/>
              </a:rPr>
              <a:t>5</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This will throw </a:t>
            </a:r>
            <a:r>
              <a:rPr lang="en-US" sz="1200" b="0" i="1" dirty="0" err="1">
                <a:solidFill>
                  <a:srgbClr val="A0A1A7"/>
                </a:solidFill>
                <a:effectLst/>
                <a:latin typeface="Menlo"/>
              </a:rPr>
              <a:t>ArrayIndexOutOfBoundsException</a:t>
            </a: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            int</a:t>
            </a:r>
            <a:r>
              <a:rPr lang="en-US" sz="1200" b="0" dirty="0">
                <a:solidFill>
                  <a:srgbClr val="0F1115"/>
                </a:solidFill>
                <a:effectLst/>
                <a:latin typeface="Menlo"/>
              </a:rPr>
              <a:t> result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10</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0</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This line won't execute because exception already occurred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err="1">
                <a:solidFill>
                  <a:srgbClr val="B76B01"/>
                </a:solidFill>
                <a:effectLst/>
                <a:latin typeface="Menlo"/>
              </a:rPr>
              <a:t>ArrayIndexOutOfBoundsException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"Array index error: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e</a:t>
            </a:r>
            <a:r>
              <a:rPr lang="en-US" sz="1200" b="0" dirty="0" err="1">
                <a:solidFill>
                  <a:srgbClr val="383A42"/>
                </a:solidFill>
                <a:effectLst/>
                <a:latin typeface="Menlo"/>
              </a:rPr>
              <a:t>.</a:t>
            </a:r>
            <a:r>
              <a:rPr lang="en-US" sz="1200" b="0" dirty="0" err="1">
                <a:solidFill>
                  <a:srgbClr val="4078F2"/>
                </a:solidFill>
                <a:effectLst/>
                <a:latin typeface="Menlo"/>
              </a:rPr>
              <a:t>getMessage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err="1">
                <a:solidFill>
                  <a:srgbClr val="B76B01"/>
                </a:solidFill>
                <a:effectLst/>
                <a:latin typeface="Menlo"/>
              </a:rPr>
              <a:t>ArithmeticException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"Arithmetic error: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e</a:t>
            </a:r>
            <a:r>
              <a:rPr lang="en-US" sz="1200" b="0" dirty="0" err="1">
                <a:solidFill>
                  <a:srgbClr val="383A42"/>
                </a:solidFill>
                <a:effectLst/>
                <a:latin typeface="Menlo"/>
              </a:rPr>
              <a:t>.</a:t>
            </a:r>
            <a:r>
              <a:rPr lang="en-US" sz="1200" b="0" dirty="0" err="1">
                <a:solidFill>
                  <a:srgbClr val="4078F2"/>
                </a:solidFill>
                <a:effectLst/>
                <a:latin typeface="Menlo"/>
              </a:rPr>
              <a:t>getMessage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B76B01"/>
                </a:solidFill>
                <a:effectLst/>
                <a:latin typeface="Menlo"/>
              </a:rPr>
              <a:t>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Generic catch block for any other exceptions</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"Some error occurred: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"Program continues after exception handling"</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4" name="TextBox 13">
            <a:extLst>
              <a:ext uri="{FF2B5EF4-FFF2-40B4-BE49-F238E27FC236}">
                <a16:creationId xmlns:a16="http://schemas.microsoft.com/office/drawing/2014/main" id="{D13443EB-C711-69B1-E2F3-15CFC46A0F4D}"/>
              </a:ext>
            </a:extLst>
          </p:cNvPr>
          <p:cNvSpPr txBox="1"/>
          <p:nvPr/>
        </p:nvSpPr>
        <p:spPr>
          <a:xfrm>
            <a:off x="3946965" y="3322775"/>
            <a:ext cx="5895838" cy="646331"/>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Multiple Catch Blocks</a:t>
            </a:r>
          </a:p>
          <a:p>
            <a:pPr algn="l">
              <a:buNone/>
            </a:pPr>
            <a:r>
              <a:rPr lang="en-US" sz="1200" b="0" i="0" dirty="0">
                <a:solidFill>
                  <a:srgbClr val="0F1115"/>
                </a:solidFill>
                <a:effectLst/>
                <a:latin typeface="quote-cjk-patch"/>
              </a:rPr>
              <a:t>When using multiple catch blocks, order matters - more specific exceptions should come before more general ones:</a:t>
            </a:r>
          </a:p>
        </p:txBody>
      </p:sp>
      <p:sp>
        <p:nvSpPr>
          <p:cNvPr id="16" name="TextBox 15">
            <a:extLst>
              <a:ext uri="{FF2B5EF4-FFF2-40B4-BE49-F238E27FC236}">
                <a16:creationId xmlns:a16="http://schemas.microsoft.com/office/drawing/2014/main" id="{198F8CEA-999A-6376-0E0C-4869A05AE56C}"/>
              </a:ext>
            </a:extLst>
          </p:cNvPr>
          <p:cNvSpPr txBox="1"/>
          <p:nvPr/>
        </p:nvSpPr>
        <p:spPr>
          <a:xfrm>
            <a:off x="4502169" y="4015714"/>
            <a:ext cx="3380190" cy="1754326"/>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try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code that may throw multiple exceptions</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err="1">
                <a:solidFill>
                  <a:srgbClr val="B76B01"/>
                </a:solidFill>
                <a:effectLst/>
                <a:latin typeface="Menlo"/>
              </a:rPr>
              <a:t>FileNotFoundException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Handle file not found (specific)</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err="1">
                <a:solidFill>
                  <a:srgbClr val="B76B01"/>
                </a:solidFill>
                <a:effectLst/>
                <a:latin typeface="Menlo"/>
              </a:rPr>
              <a:t>IOException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Handle IO errors (more general)</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B76B01"/>
                </a:solidFill>
                <a:effectLst/>
                <a:latin typeface="Menlo"/>
              </a:rPr>
              <a:t>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Handle any other exceptions (most general)</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8" name="TextBox 17">
            <a:extLst>
              <a:ext uri="{FF2B5EF4-FFF2-40B4-BE49-F238E27FC236}">
                <a16:creationId xmlns:a16="http://schemas.microsoft.com/office/drawing/2014/main" id="{D1C4C5C3-BCCB-D254-061D-3532838C7FEB}"/>
              </a:ext>
            </a:extLst>
          </p:cNvPr>
          <p:cNvSpPr txBox="1"/>
          <p:nvPr/>
        </p:nvSpPr>
        <p:spPr>
          <a:xfrm>
            <a:off x="57875" y="4669919"/>
            <a:ext cx="4386805" cy="646331"/>
          </a:xfrm>
          <a:prstGeom prst="rect">
            <a:avLst/>
          </a:prstGeom>
          <a:noFill/>
          <a:ln>
            <a:solidFill>
              <a:schemeClr val="tx1"/>
            </a:solidFill>
          </a:ln>
        </p:spPr>
        <p:txBody>
          <a:bodyPr wrap="square">
            <a:spAutoFit/>
          </a:bodyPr>
          <a:lstStyle/>
          <a:p>
            <a:pPr algn="l">
              <a:buNone/>
            </a:pPr>
            <a:r>
              <a:rPr lang="en-US" sz="1200" b="1" dirty="0">
                <a:solidFill>
                  <a:srgbClr val="0F1115"/>
                </a:solidFill>
                <a:effectLst/>
                <a:latin typeface="quote-cjk-patch"/>
              </a:rPr>
              <a:t>Try-with-Finally</a:t>
            </a:r>
          </a:p>
          <a:p>
            <a:pPr algn="l">
              <a:buNone/>
            </a:pPr>
            <a:r>
              <a:rPr lang="en-US" sz="1200" b="0" i="0" dirty="0">
                <a:solidFill>
                  <a:srgbClr val="0F1115"/>
                </a:solidFill>
                <a:effectLst/>
                <a:latin typeface="quote-cjk-patch"/>
              </a:rPr>
              <a:t>The try block can also be combined with a finally block, which always executes:</a:t>
            </a:r>
          </a:p>
        </p:txBody>
      </p:sp>
      <p:sp>
        <p:nvSpPr>
          <p:cNvPr id="20" name="TextBox 19">
            <a:extLst>
              <a:ext uri="{FF2B5EF4-FFF2-40B4-BE49-F238E27FC236}">
                <a16:creationId xmlns:a16="http://schemas.microsoft.com/office/drawing/2014/main" id="{CE35105B-23E0-EF09-ADFE-8936F9F31DDF}"/>
              </a:ext>
            </a:extLst>
          </p:cNvPr>
          <p:cNvSpPr txBox="1"/>
          <p:nvPr/>
        </p:nvSpPr>
        <p:spPr>
          <a:xfrm>
            <a:off x="92600" y="5365277"/>
            <a:ext cx="2639028" cy="1384995"/>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try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Risky code</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catch</a:t>
            </a:r>
            <a:r>
              <a:rPr lang="en-US" sz="1200" b="0" dirty="0">
                <a:solidFill>
                  <a:srgbClr val="0F1115"/>
                </a:solidFill>
                <a:effectLst/>
                <a:latin typeface="Menlo"/>
              </a:rPr>
              <a:t> </a:t>
            </a:r>
            <a:r>
              <a:rPr lang="en-US" sz="1200" b="0" dirty="0">
                <a:solidFill>
                  <a:srgbClr val="383A42"/>
                </a:solidFill>
                <a:effectLst/>
                <a:latin typeface="Menlo"/>
              </a:rPr>
              <a:t>(</a:t>
            </a:r>
            <a:r>
              <a:rPr lang="en-US" sz="1200" b="0" dirty="0">
                <a:solidFill>
                  <a:srgbClr val="B76B01"/>
                </a:solidFill>
                <a:effectLst/>
                <a:latin typeface="Menlo"/>
              </a:rPr>
              <a:t>Exception</a:t>
            </a:r>
            <a:r>
              <a:rPr lang="en-US" sz="1200" b="0" dirty="0">
                <a:solidFill>
                  <a:srgbClr val="0F1115"/>
                </a:solidFill>
                <a:effectLst/>
                <a:latin typeface="Menlo"/>
              </a:rPr>
              <a:t> 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Handle exception</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finally</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Always executes (cleanup code)</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22" name="TextBox 21">
            <a:extLst>
              <a:ext uri="{FF2B5EF4-FFF2-40B4-BE49-F238E27FC236}">
                <a16:creationId xmlns:a16="http://schemas.microsoft.com/office/drawing/2014/main" id="{D11EAA5B-E8FC-6A4E-9BE2-25AFAF4E3C26}"/>
              </a:ext>
            </a:extLst>
          </p:cNvPr>
          <p:cNvSpPr txBox="1"/>
          <p:nvPr/>
        </p:nvSpPr>
        <p:spPr>
          <a:xfrm>
            <a:off x="2789117" y="5361071"/>
            <a:ext cx="1655564" cy="1384995"/>
          </a:xfrm>
          <a:prstGeom prst="rect">
            <a:avLst/>
          </a:prstGeom>
          <a:noFill/>
          <a:ln>
            <a:solidFill>
              <a:schemeClr val="tx1"/>
            </a:solidFill>
          </a:ln>
        </p:spPr>
        <p:txBody>
          <a:bodyPr wrap="square">
            <a:spAutoFit/>
          </a:bodyPr>
          <a:lstStyle/>
          <a:p>
            <a:r>
              <a:rPr lang="en-US" sz="1200" b="0" i="0" dirty="0">
                <a:solidFill>
                  <a:srgbClr val="0F1115"/>
                </a:solidFill>
                <a:effectLst/>
                <a:latin typeface="quote-cjk-patch"/>
              </a:rPr>
              <a:t>This exception handling mechanism helps create more robust applications by separating error-handling code from regular business logic.</a:t>
            </a:r>
            <a:endParaRPr lang="en-US" sz="1200" dirty="0"/>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E4579-EDA3-32E0-74D4-C40A2B639F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63CB2D-4978-D9A3-DAB3-44B34FE44611}"/>
              </a:ext>
            </a:extLst>
          </p:cNvPr>
          <p:cNvSpPr txBox="1"/>
          <p:nvPr/>
        </p:nvSpPr>
        <p:spPr>
          <a:xfrm>
            <a:off x="28576" y="362026"/>
            <a:ext cx="6846751" cy="646331"/>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The 'final' Keyword in Java</a:t>
            </a:r>
            <a:br>
              <a:rPr lang="en-US" sz="1200" b="1" dirty="0">
                <a:solidFill>
                  <a:srgbClr val="0F1115"/>
                </a:solidFill>
                <a:effectLst/>
                <a:latin typeface="quote-cjk-patch"/>
              </a:rPr>
            </a:br>
            <a:r>
              <a:rPr lang="en-US" sz="1200" b="0" i="0" dirty="0">
                <a:solidFill>
                  <a:srgbClr val="0F1115"/>
                </a:solidFill>
                <a:effectLst/>
                <a:latin typeface="quote-cjk-patch"/>
              </a:rPr>
              <a:t>The </a:t>
            </a:r>
            <a:r>
              <a:rPr lang="en-US" sz="1200" b="0" i="0" dirty="0">
                <a:solidFill>
                  <a:srgbClr val="0F1115"/>
                </a:solidFill>
                <a:effectLst/>
                <a:latin typeface="Menlo"/>
              </a:rPr>
              <a:t>final</a:t>
            </a:r>
            <a:r>
              <a:rPr lang="en-US" sz="1200" b="0" i="0" dirty="0">
                <a:solidFill>
                  <a:srgbClr val="0F1115"/>
                </a:solidFill>
                <a:effectLst/>
                <a:latin typeface="quote-cjk-patch"/>
              </a:rPr>
              <a:t> keyword is used to restrict the user and can be applied to </a:t>
            </a:r>
            <a:r>
              <a:rPr lang="en-US" sz="1200" b="1" i="0" dirty="0">
                <a:solidFill>
                  <a:srgbClr val="0F1115"/>
                </a:solidFill>
                <a:effectLst/>
                <a:latin typeface="quote-cjk-patch"/>
              </a:rPr>
              <a:t>variables, methods, and classes</a:t>
            </a:r>
            <a:r>
              <a:rPr lang="en-US" sz="1200" b="0" i="0" dirty="0">
                <a:solidFill>
                  <a:srgbClr val="0F1115"/>
                </a:solidFill>
                <a:effectLst/>
                <a:latin typeface="quote-cjk-patch"/>
              </a:rPr>
              <a:t>. Its meaning varies depending on where it's used.</a:t>
            </a:r>
          </a:p>
        </p:txBody>
      </p:sp>
      <p:sp>
        <p:nvSpPr>
          <p:cNvPr id="6" name="TextBox 5">
            <a:extLst>
              <a:ext uri="{FF2B5EF4-FFF2-40B4-BE49-F238E27FC236}">
                <a16:creationId xmlns:a16="http://schemas.microsoft.com/office/drawing/2014/main" id="{0904B74F-296B-4298-64BA-347DD702DC91}"/>
              </a:ext>
            </a:extLst>
          </p:cNvPr>
          <p:cNvSpPr txBox="1"/>
          <p:nvPr/>
        </p:nvSpPr>
        <p:spPr>
          <a:xfrm>
            <a:off x="9526" y="1037196"/>
            <a:ext cx="7086599" cy="277625"/>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1. Final Variables (Constants)</a:t>
            </a:r>
            <a:r>
              <a:rPr lang="en-US" sz="1200" b="0" i="0" dirty="0">
                <a:solidFill>
                  <a:srgbClr val="0F1115"/>
                </a:solidFill>
                <a:effectLst/>
                <a:latin typeface="quote-cjk-patch"/>
              </a:rPr>
              <a:t>When a variable is declared as </a:t>
            </a:r>
            <a:r>
              <a:rPr lang="en-US" sz="1200" b="0" i="0" dirty="0">
                <a:solidFill>
                  <a:srgbClr val="0F1115"/>
                </a:solidFill>
                <a:effectLst/>
                <a:latin typeface="Menlo"/>
              </a:rPr>
              <a:t>final</a:t>
            </a:r>
            <a:r>
              <a:rPr lang="en-US" sz="1200" b="0" i="0" dirty="0">
                <a:solidFill>
                  <a:srgbClr val="0F1115"/>
                </a:solidFill>
                <a:effectLst/>
                <a:latin typeface="quote-cjk-patch"/>
              </a:rPr>
              <a:t>, its value cannot be changed once initialized.</a:t>
            </a:r>
          </a:p>
        </p:txBody>
      </p:sp>
      <p:sp>
        <p:nvSpPr>
          <p:cNvPr id="10" name="TextBox 9">
            <a:extLst>
              <a:ext uri="{FF2B5EF4-FFF2-40B4-BE49-F238E27FC236}">
                <a16:creationId xmlns:a16="http://schemas.microsoft.com/office/drawing/2014/main" id="{58272012-CB38-0925-FC4B-B1447C1A2CD7}"/>
              </a:ext>
            </a:extLst>
          </p:cNvPr>
          <p:cNvSpPr txBox="1"/>
          <p:nvPr/>
        </p:nvSpPr>
        <p:spPr>
          <a:xfrm>
            <a:off x="-9586" y="1347674"/>
            <a:ext cx="3164144" cy="5447645"/>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FinalVariableExample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Final instance variable - must be initialized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a:t>
            </a:r>
            <a:r>
              <a:rPr lang="en-US" sz="1200" b="0" dirty="0">
                <a:solidFill>
                  <a:srgbClr val="B76B01"/>
                </a:solidFill>
                <a:effectLst/>
                <a:latin typeface="Menlo"/>
              </a:rPr>
              <a:t>MAX_VALUE</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100</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Blank final variable - can be initialized in constructor</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a:t>
            </a:r>
            <a:r>
              <a:rPr lang="en-US" sz="1200" b="0" dirty="0">
                <a:solidFill>
                  <a:srgbClr val="B76B01"/>
                </a:solidFill>
                <a:effectLst/>
                <a:latin typeface="Menlo"/>
              </a:rPr>
              <a:t>MIN_VALUE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Static final variable (class constant)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double</a:t>
            </a:r>
            <a:r>
              <a:rPr lang="en-US" sz="1200" b="0" dirty="0">
                <a:solidFill>
                  <a:srgbClr val="0F1115"/>
                </a:solidFill>
                <a:effectLst/>
                <a:latin typeface="Menlo"/>
              </a:rPr>
              <a:t> </a:t>
            </a:r>
            <a:r>
              <a:rPr lang="en-US" sz="1200" b="0" dirty="0">
                <a:solidFill>
                  <a:srgbClr val="B76B01"/>
                </a:solidFill>
                <a:effectLst/>
                <a:latin typeface="Menlo"/>
              </a:rPr>
              <a:t>PI</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3.14159</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err="1">
                <a:solidFill>
                  <a:srgbClr val="B76B01"/>
                </a:solidFill>
                <a:effectLst/>
                <a:latin typeface="Menlo"/>
              </a:rPr>
              <a:t>FinalVariableExample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B76B01"/>
                </a:solidFill>
                <a:effectLst/>
                <a:latin typeface="Menlo"/>
              </a:rPr>
              <a:t>MIN_VALUE</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1</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Initializing blank final variable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demonstrate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MAX_VALUE = 200; // ERROR! Cannot reassign final variable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a:t>
            </a:r>
            <a:r>
              <a:rPr lang="en-US" sz="1200" b="0" dirty="0">
                <a:solidFill>
                  <a:srgbClr val="B76B01"/>
                </a:solidFill>
                <a:effectLst/>
                <a:latin typeface="Menlo"/>
              </a:rPr>
              <a:t>LOCAL_CONSTANT</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50</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LOCAL_CONSTANT = 60; // ERROR! Cannot reassign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"Max: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MAX_VALUE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"Min: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MIN_VALUE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"PI: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B76B01"/>
                </a:solidFill>
                <a:effectLst/>
                <a:latin typeface="Menlo"/>
              </a:rPr>
              <a:t>PI</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2" name="TextBox 11">
            <a:extLst>
              <a:ext uri="{FF2B5EF4-FFF2-40B4-BE49-F238E27FC236}">
                <a16:creationId xmlns:a16="http://schemas.microsoft.com/office/drawing/2014/main" id="{D208C710-5B66-2349-26CE-785A0AA1F9E2}"/>
              </a:ext>
            </a:extLst>
          </p:cNvPr>
          <p:cNvSpPr txBox="1"/>
          <p:nvPr/>
        </p:nvSpPr>
        <p:spPr>
          <a:xfrm>
            <a:off x="3196376" y="1348920"/>
            <a:ext cx="1562162" cy="1569660"/>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2. Final Methods (Prevent Overriding)</a:t>
            </a:r>
            <a:br>
              <a:rPr lang="en-US" sz="1200" b="1" dirty="0">
                <a:solidFill>
                  <a:srgbClr val="0F1115"/>
                </a:solidFill>
                <a:effectLst/>
                <a:latin typeface="quote-cjk-patch"/>
              </a:rPr>
            </a:br>
            <a:r>
              <a:rPr lang="en-US" sz="1200" b="0" i="0" dirty="0">
                <a:solidFill>
                  <a:srgbClr val="0F1115"/>
                </a:solidFill>
                <a:effectLst/>
                <a:latin typeface="quote-cjk-patch"/>
              </a:rPr>
              <a:t>A </a:t>
            </a:r>
            <a:r>
              <a:rPr lang="en-US" sz="1200" b="0" i="0" dirty="0">
                <a:solidFill>
                  <a:srgbClr val="0F1115"/>
                </a:solidFill>
                <a:effectLst/>
                <a:latin typeface="Menlo"/>
              </a:rPr>
              <a:t>final</a:t>
            </a:r>
            <a:r>
              <a:rPr lang="en-US" sz="1200" b="0" i="0" dirty="0">
                <a:solidFill>
                  <a:srgbClr val="0F1115"/>
                </a:solidFill>
                <a:effectLst/>
                <a:latin typeface="quote-cjk-patch"/>
              </a:rPr>
              <a:t> method cannot be overridden by subclasses. This is useful when you want to preserve the implementation.</a:t>
            </a:r>
            <a:endParaRPr lang="en-US" sz="1200" dirty="0"/>
          </a:p>
        </p:txBody>
      </p:sp>
      <p:sp>
        <p:nvSpPr>
          <p:cNvPr id="14" name="TextBox 13">
            <a:extLst>
              <a:ext uri="{FF2B5EF4-FFF2-40B4-BE49-F238E27FC236}">
                <a16:creationId xmlns:a16="http://schemas.microsoft.com/office/drawing/2014/main" id="{B7543984-3041-7A17-0BA4-73E10154B81A}"/>
              </a:ext>
            </a:extLst>
          </p:cNvPr>
          <p:cNvSpPr txBox="1"/>
          <p:nvPr/>
        </p:nvSpPr>
        <p:spPr>
          <a:xfrm>
            <a:off x="3154558" y="2994904"/>
            <a:ext cx="3673086" cy="3785652"/>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Parent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This method cannot be overridden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display</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"This is a final method"</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Regular method - can be overridden</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"Regular method in parent"</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endParaRPr lang="en-US" sz="1200" b="0" dirty="0">
              <a:solidFill>
                <a:srgbClr val="0F1115"/>
              </a:solidFill>
              <a:effectLst/>
              <a:latin typeface="Menlo"/>
            </a:endParaRPr>
          </a:p>
          <a:p>
            <a:pPr algn="l" latinLnBrk="1">
              <a:buNone/>
            </a:pP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a:solidFill>
                  <a:srgbClr val="B76B01"/>
                </a:solidFill>
                <a:effectLst/>
                <a:latin typeface="Menlo"/>
              </a:rPr>
              <a:t>Child</a:t>
            </a:r>
            <a:r>
              <a:rPr lang="en-US" sz="1200" b="0" dirty="0">
                <a:solidFill>
                  <a:srgbClr val="0F1115"/>
                </a:solidFill>
                <a:effectLst/>
                <a:latin typeface="Menlo"/>
              </a:rPr>
              <a:t> </a:t>
            </a:r>
            <a:r>
              <a:rPr lang="en-US" sz="1200" b="0" dirty="0">
                <a:solidFill>
                  <a:srgbClr val="A626A4"/>
                </a:solidFill>
                <a:effectLst/>
                <a:latin typeface="Menlo"/>
              </a:rPr>
              <a:t>extends</a:t>
            </a:r>
            <a:r>
              <a:rPr lang="en-US" sz="1200" b="0" dirty="0">
                <a:solidFill>
                  <a:srgbClr val="0F1115"/>
                </a:solidFill>
                <a:effectLst/>
                <a:latin typeface="Menlo"/>
              </a:rPr>
              <a:t> </a:t>
            </a:r>
            <a:r>
              <a:rPr lang="en-US" sz="1200" b="0" dirty="0">
                <a:solidFill>
                  <a:srgbClr val="B76B01"/>
                </a:solidFill>
                <a:effectLst/>
                <a:latin typeface="Menlo"/>
              </a:rPr>
              <a:t>Parent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@Override - ERROR! Cannot override final method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public void display() { }</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@Override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show</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"Overridden method in child"</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16" name="TextBox 15">
            <a:extLst>
              <a:ext uri="{FF2B5EF4-FFF2-40B4-BE49-F238E27FC236}">
                <a16:creationId xmlns:a16="http://schemas.microsoft.com/office/drawing/2014/main" id="{C4CCEAF5-3993-D404-8322-6F954B1F5E31}"/>
              </a:ext>
            </a:extLst>
          </p:cNvPr>
          <p:cNvSpPr txBox="1"/>
          <p:nvPr/>
        </p:nvSpPr>
        <p:spPr>
          <a:xfrm>
            <a:off x="6857878" y="3072581"/>
            <a:ext cx="1839986" cy="1384995"/>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3. Final Classes (Prevent Inheritance)</a:t>
            </a:r>
            <a:br>
              <a:rPr lang="en-US" sz="1200" b="1" dirty="0">
                <a:solidFill>
                  <a:srgbClr val="0F1115"/>
                </a:solidFill>
                <a:effectLst/>
                <a:latin typeface="quote-cjk-patch"/>
              </a:rPr>
            </a:br>
            <a:r>
              <a:rPr lang="en-US" sz="1200" b="0" i="0" dirty="0">
                <a:solidFill>
                  <a:srgbClr val="0F1115"/>
                </a:solidFill>
                <a:effectLst/>
                <a:latin typeface="quote-cjk-patch"/>
              </a:rPr>
              <a:t>A </a:t>
            </a:r>
            <a:r>
              <a:rPr lang="en-US" sz="1200" b="0" i="0" dirty="0">
                <a:solidFill>
                  <a:srgbClr val="0F1115"/>
                </a:solidFill>
                <a:effectLst/>
                <a:latin typeface="Menlo"/>
              </a:rPr>
              <a:t>final</a:t>
            </a:r>
            <a:r>
              <a:rPr lang="en-US" sz="1200" b="0" i="0" dirty="0">
                <a:solidFill>
                  <a:srgbClr val="0F1115"/>
                </a:solidFill>
                <a:effectLst/>
                <a:latin typeface="quote-cjk-patch"/>
              </a:rPr>
              <a:t> class cannot be extended (subclassed). This is used for security or to ensure immutable behavior.</a:t>
            </a:r>
          </a:p>
        </p:txBody>
      </p:sp>
      <p:sp>
        <p:nvSpPr>
          <p:cNvPr id="18" name="TextBox 17">
            <a:extLst>
              <a:ext uri="{FF2B5EF4-FFF2-40B4-BE49-F238E27FC236}">
                <a16:creationId xmlns:a16="http://schemas.microsoft.com/office/drawing/2014/main" id="{73649BEE-435C-B102-32A4-9BFFFBBC9C63}"/>
              </a:ext>
            </a:extLst>
          </p:cNvPr>
          <p:cNvSpPr txBox="1"/>
          <p:nvPr/>
        </p:nvSpPr>
        <p:spPr>
          <a:xfrm>
            <a:off x="6875328" y="4492526"/>
            <a:ext cx="2954472" cy="2308324"/>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ImmutableClass</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private</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err="1">
                <a:solidFill>
                  <a:srgbClr val="B76B01"/>
                </a:solidFill>
                <a:effectLst/>
                <a:latin typeface="Menlo"/>
              </a:rPr>
              <a:t>ImmutableClass</a:t>
            </a:r>
            <a:r>
              <a:rPr lang="en-US" sz="1200" b="0" dirty="0">
                <a:solidFill>
                  <a:srgbClr val="383A42"/>
                </a:solidFill>
                <a:effectLst/>
                <a:latin typeface="Menlo"/>
              </a:rPr>
              <a:t>(</a:t>
            </a:r>
            <a:r>
              <a:rPr lang="en-US" sz="1200" b="0" dirty="0">
                <a:solidFill>
                  <a:srgbClr val="A626A4"/>
                </a:solidFill>
                <a:effectLst/>
                <a:latin typeface="Menlo"/>
              </a:rPr>
              <a:t>int</a:t>
            </a:r>
            <a:r>
              <a:rPr lang="en-US" sz="1200" b="0" dirty="0">
                <a:solidFill>
                  <a:srgbClr val="0F1115"/>
                </a:solidFill>
                <a:effectLst/>
                <a:latin typeface="Menlo"/>
              </a:rPr>
              <a:t> value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A626A4"/>
                </a:solidFill>
                <a:effectLst/>
                <a:latin typeface="Menlo"/>
              </a:rPr>
              <a:t>this</a:t>
            </a:r>
            <a:r>
              <a:rPr lang="en-US" sz="1200" b="0" dirty="0" err="1">
                <a:solidFill>
                  <a:srgbClr val="383A42"/>
                </a:solidFill>
                <a:effectLst/>
                <a:latin typeface="Menlo"/>
              </a:rPr>
              <a:t>.</a:t>
            </a:r>
            <a:r>
              <a:rPr lang="en-US" sz="1200" b="0" dirty="0" err="1">
                <a:solidFill>
                  <a:srgbClr val="0F1115"/>
                </a:solidFill>
                <a:effectLst/>
                <a:latin typeface="Menlo"/>
              </a:rPr>
              <a:t>value</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a:t>
            </a:r>
            <a:r>
              <a:rPr lang="en-US" sz="1200" b="0" dirty="0" err="1">
                <a:solidFill>
                  <a:srgbClr val="4078F2"/>
                </a:solidFill>
                <a:effectLst/>
                <a:latin typeface="Menlo"/>
              </a:rPr>
              <a:t>getValue</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return</a:t>
            </a:r>
            <a:r>
              <a:rPr lang="en-US" sz="1200" b="0" dirty="0">
                <a:solidFill>
                  <a:srgbClr val="0F1115"/>
                </a:solidFill>
                <a:effectLst/>
                <a:latin typeface="Menlo"/>
              </a:rPr>
              <a:t> value</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ERROR! Cannot inherit from final class</a:t>
            </a:r>
            <a:endParaRPr lang="en-US" sz="1200" b="0" dirty="0">
              <a:solidFill>
                <a:srgbClr val="0F1115"/>
              </a:solidFill>
              <a:effectLst/>
              <a:latin typeface="Menlo"/>
            </a:endParaRPr>
          </a:p>
          <a:p>
            <a:pPr algn="l" latinLnBrk="1">
              <a:buNone/>
            </a:pPr>
            <a:r>
              <a:rPr lang="en-US" sz="1200" b="0" i="1" dirty="0">
                <a:solidFill>
                  <a:srgbClr val="A0A1A7"/>
                </a:solidFill>
                <a:effectLst/>
                <a:latin typeface="Menlo"/>
              </a:rPr>
              <a:t>// class </a:t>
            </a:r>
            <a:r>
              <a:rPr lang="en-US" sz="1200" b="0" i="1" dirty="0" err="1">
                <a:solidFill>
                  <a:srgbClr val="A0A1A7"/>
                </a:solidFill>
                <a:effectLst/>
                <a:latin typeface="Menlo"/>
              </a:rPr>
              <a:t>ExtendedClass</a:t>
            </a:r>
            <a:r>
              <a:rPr lang="en-US" sz="1200" b="0" i="1" dirty="0">
                <a:solidFill>
                  <a:srgbClr val="A0A1A7"/>
                </a:solidFill>
                <a:effectLst/>
                <a:latin typeface="Menlo"/>
              </a:rPr>
              <a:t> extends </a:t>
            </a:r>
            <a:r>
              <a:rPr lang="en-US" sz="1200" b="0" i="1" dirty="0" err="1">
                <a:solidFill>
                  <a:srgbClr val="A0A1A7"/>
                </a:solidFill>
                <a:effectLst/>
                <a:latin typeface="Menlo"/>
              </a:rPr>
              <a:t>ImmutableClass</a:t>
            </a:r>
            <a:r>
              <a:rPr lang="en-US" sz="1200" b="0" i="1" dirty="0">
                <a:solidFill>
                  <a:srgbClr val="A0A1A7"/>
                </a:solidFill>
                <a:effectLst/>
                <a:latin typeface="Menlo"/>
              </a:rPr>
              <a:t> { }</a:t>
            </a:r>
            <a:endParaRPr lang="en-US" sz="1200" b="0" dirty="0">
              <a:solidFill>
                <a:srgbClr val="0F1115"/>
              </a:solidFill>
              <a:effectLst/>
              <a:latin typeface="Menlo"/>
            </a:endParaRPr>
          </a:p>
        </p:txBody>
      </p:sp>
      <p:sp>
        <p:nvSpPr>
          <p:cNvPr id="28" name="TextBox 27">
            <a:extLst>
              <a:ext uri="{FF2B5EF4-FFF2-40B4-BE49-F238E27FC236}">
                <a16:creationId xmlns:a16="http://schemas.microsoft.com/office/drawing/2014/main" id="{5C2210EA-0919-4E16-20C1-5209C55EF680}"/>
              </a:ext>
            </a:extLst>
          </p:cNvPr>
          <p:cNvSpPr txBox="1"/>
          <p:nvPr/>
        </p:nvSpPr>
        <p:spPr>
          <a:xfrm>
            <a:off x="28576" y="0"/>
            <a:ext cx="6846751" cy="369332"/>
          </a:xfrm>
          <a:prstGeom prst="rect">
            <a:avLst/>
          </a:prstGeom>
          <a:noFill/>
          <a:ln>
            <a:solidFill>
              <a:schemeClr val="tx1"/>
            </a:solidFill>
          </a:ln>
        </p:spPr>
        <p:txBody>
          <a:bodyPr wrap="square">
            <a:spAutoFit/>
          </a:bodyPr>
          <a:lstStyle/>
          <a:p>
            <a:r>
              <a:rPr lang="en-US" b="0" i="0" dirty="0">
                <a:solidFill>
                  <a:srgbClr val="0F1115"/>
                </a:solidFill>
                <a:effectLst/>
                <a:latin typeface="quote-cjk-patch"/>
              </a:rPr>
              <a:t>16. Explain the meaning of the ‘final’ keyword in Java. Give an example.</a:t>
            </a:r>
            <a:endParaRPr lang="en-US" dirty="0"/>
          </a:p>
        </p:txBody>
      </p:sp>
    </p:spTree>
    <p:extLst>
      <p:ext uri="{BB962C8B-B14F-4D97-AF65-F5344CB8AC3E}">
        <p14:creationId xmlns:p14="http://schemas.microsoft.com/office/powerpoint/2010/main" val="3653440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F74CA-95FF-D8CB-D9AE-C1FADBA0071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3DD9F04-EA75-7B3B-ECFB-564CD8AD3D61}"/>
              </a:ext>
            </a:extLst>
          </p:cNvPr>
          <p:cNvSpPr txBox="1"/>
          <p:nvPr/>
        </p:nvSpPr>
        <p:spPr>
          <a:xfrm>
            <a:off x="1" y="38100"/>
            <a:ext cx="1809750" cy="1508105"/>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4. Final Parameters</a:t>
            </a:r>
          </a:p>
          <a:p>
            <a:pPr algn="l">
              <a:spcBef>
                <a:spcPts val="1200"/>
              </a:spcBef>
              <a:spcAft>
                <a:spcPts val="1200"/>
              </a:spcAft>
              <a:buNone/>
            </a:pPr>
            <a:r>
              <a:rPr lang="en-US" sz="1200" b="0" i="0" dirty="0">
                <a:solidFill>
                  <a:srgbClr val="0F1115"/>
                </a:solidFill>
                <a:effectLst/>
                <a:latin typeface="quote-cjk-patch"/>
              </a:rPr>
              <a:t>Method parameters can also be declared as </a:t>
            </a:r>
            <a:r>
              <a:rPr lang="en-US" sz="1200" b="0" i="0" dirty="0">
                <a:solidFill>
                  <a:srgbClr val="0F1115"/>
                </a:solidFill>
                <a:effectLst/>
                <a:latin typeface="Menlo"/>
              </a:rPr>
              <a:t>final</a:t>
            </a:r>
            <a:r>
              <a:rPr lang="en-US" sz="1200" b="0" i="0" dirty="0">
                <a:solidFill>
                  <a:srgbClr val="0F1115"/>
                </a:solidFill>
                <a:effectLst/>
                <a:latin typeface="quote-cjk-patch"/>
              </a:rPr>
              <a:t>, preventing them from being modified inside the method.</a:t>
            </a:r>
          </a:p>
        </p:txBody>
      </p:sp>
      <p:sp>
        <p:nvSpPr>
          <p:cNvPr id="22" name="TextBox 21">
            <a:extLst>
              <a:ext uri="{FF2B5EF4-FFF2-40B4-BE49-F238E27FC236}">
                <a16:creationId xmlns:a16="http://schemas.microsoft.com/office/drawing/2014/main" id="{86FFCA75-3031-BC82-1D73-2090CBEF7BAC}"/>
              </a:ext>
            </a:extLst>
          </p:cNvPr>
          <p:cNvSpPr txBox="1"/>
          <p:nvPr/>
        </p:nvSpPr>
        <p:spPr>
          <a:xfrm>
            <a:off x="1885951" y="41424"/>
            <a:ext cx="5211935" cy="2123658"/>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FinalParameterExample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process</a:t>
            </a:r>
            <a:r>
              <a:rPr lang="en-US" sz="1200" b="0" dirty="0">
                <a:solidFill>
                  <a:srgbClr val="383A42"/>
                </a:solidFill>
                <a:effectLst/>
                <a:latin typeface="Menlo"/>
              </a:rPr>
              <a:t>(</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A626A4"/>
                </a:solidFill>
                <a:effectLst/>
                <a:latin typeface="Menlo"/>
              </a:rPr>
              <a:t>int</a:t>
            </a:r>
            <a:r>
              <a:rPr lang="en-US" sz="1200" b="0" dirty="0">
                <a:solidFill>
                  <a:srgbClr val="0F1115"/>
                </a:solidFill>
                <a:effectLst/>
                <a:latin typeface="Menlo"/>
              </a:rPr>
              <a:t> number</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number = number + 10; // ERROR! Cannot modify final parameter</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50A14F"/>
                </a:solidFill>
                <a:effectLst/>
                <a:latin typeface="Menlo"/>
              </a:rPr>
              <a:t>"Processing: "</a:t>
            </a:r>
            <a:r>
              <a:rPr lang="en-US" sz="1200" b="0" dirty="0">
                <a:solidFill>
                  <a:srgbClr val="0F1115"/>
                </a:solidFill>
                <a:effectLst/>
                <a:latin typeface="Menlo"/>
              </a:rPr>
              <a:t> </a:t>
            </a:r>
            <a:r>
              <a:rPr lang="en-US" sz="1200" b="0" dirty="0">
                <a:solidFill>
                  <a:srgbClr val="4078F2"/>
                </a:solidFill>
                <a:effectLst/>
                <a:latin typeface="Menlo"/>
              </a:rPr>
              <a:t>+</a:t>
            </a:r>
            <a:r>
              <a:rPr lang="en-US" sz="1200" b="0" dirty="0">
                <a:solidFill>
                  <a:srgbClr val="0F1115"/>
                </a:solidFill>
                <a:effectLst/>
                <a:latin typeface="Menlo"/>
              </a:rPr>
              <a:t> number</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update</a:t>
            </a:r>
            <a:r>
              <a:rPr lang="en-US" sz="1200" b="0" dirty="0">
                <a:solidFill>
                  <a:srgbClr val="383A42"/>
                </a:solidFill>
                <a:effectLst/>
                <a:latin typeface="Menlo"/>
              </a:rPr>
              <a:t>(</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B76B01"/>
                </a:solidFill>
                <a:effectLst/>
                <a:latin typeface="Menlo"/>
              </a:rPr>
              <a:t>StringBuilder</a:t>
            </a:r>
            <a:r>
              <a:rPr lang="en-US" sz="1200" b="0" dirty="0">
                <a:solidFill>
                  <a:srgbClr val="0F1115"/>
                </a:solidFill>
                <a:effectLst/>
                <a:latin typeface="Menlo"/>
              </a:rPr>
              <a:t> builder</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builder = new StringBuilder(); // ERROR! Cannot reassign reference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builder</a:t>
            </a:r>
            <a:r>
              <a:rPr lang="en-US" sz="1200" b="0" dirty="0" err="1">
                <a:solidFill>
                  <a:srgbClr val="383A42"/>
                </a:solidFill>
                <a:effectLst/>
                <a:latin typeface="Menlo"/>
              </a:rPr>
              <a:t>.</a:t>
            </a:r>
            <a:r>
              <a:rPr lang="en-US" sz="1200" b="0" dirty="0" err="1">
                <a:solidFill>
                  <a:srgbClr val="4078F2"/>
                </a:solidFill>
                <a:effectLst/>
                <a:latin typeface="Menlo"/>
              </a:rPr>
              <a:t>append</a:t>
            </a:r>
            <a:r>
              <a:rPr lang="en-US" sz="1200" b="0" dirty="0">
                <a:solidFill>
                  <a:srgbClr val="383A42"/>
                </a:solidFill>
                <a:effectLst/>
                <a:latin typeface="Menlo"/>
              </a:rPr>
              <a:t>(</a:t>
            </a:r>
            <a:r>
              <a:rPr lang="en-US" sz="1200" b="0" dirty="0">
                <a:solidFill>
                  <a:srgbClr val="50A14F"/>
                </a:solidFill>
                <a:effectLst/>
                <a:latin typeface="Menlo"/>
              </a:rPr>
              <a:t>" - Modified"</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OK! Modifying object content is allowed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
        <p:nvSpPr>
          <p:cNvPr id="24" name="TextBox 23">
            <a:extLst>
              <a:ext uri="{FF2B5EF4-FFF2-40B4-BE49-F238E27FC236}">
                <a16:creationId xmlns:a16="http://schemas.microsoft.com/office/drawing/2014/main" id="{F7241558-3D84-8BB1-0D8C-D5FD9FDDEA16}"/>
              </a:ext>
            </a:extLst>
          </p:cNvPr>
          <p:cNvSpPr txBox="1"/>
          <p:nvPr/>
        </p:nvSpPr>
        <p:spPr>
          <a:xfrm>
            <a:off x="57150" y="2222232"/>
            <a:ext cx="2945153" cy="1323439"/>
          </a:xfrm>
          <a:prstGeom prst="rect">
            <a:avLst/>
          </a:prstGeom>
          <a:noFill/>
          <a:ln>
            <a:solidFill>
              <a:schemeClr val="tx1"/>
            </a:solidFill>
          </a:ln>
        </p:spPr>
        <p:txBody>
          <a:bodyPr wrap="square">
            <a:spAutoFit/>
          </a:bodyPr>
          <a:lstStyle/>
          <a:p>
            <a:pPr algn="l">
              <a:spcBef>
                <a:spcPts val="2400"/>
              </a:spcBef>
              <a:spcAft>
                <a:spcPts val="1200"/>
              </a:spcAft>
              <a:buNone/>
            </a:pPr>
            <a:r>
              <a:rPr lang="en-US" sz="1200" b="1" dirty="0">
                <a:solidFill>
                  <a:srgbClr val="0F1115"/>
                </a:solidFill>
                <a:effectLst/>
                <a:latin typeface="quote-cjk-patch"/>
              </a:rPr>
              <a:t>5. Final with Reference Variables</a:t>
            </a:r>
          </a:p>
          <a:p>
            <a:pPr algn="l">
              <a:spcBef>
                <a:spcPts val="1200"/>
              </a:spcBef>
              <a:spcAft>
                <a:spcPts val="1200"/>
              </a:spcAft>
              <a:buNone/>
            </a:pPr>
            <a:r>
              <a:rPr lang="en-US" sz="1200" b="0" i="0" dirty="0">
                <a:solidFill>
                  <a:srgbClr val="0F1115"/>
                </a:solidFill>
                <a:effectLst/>
                <a:latin typeface="quote-cjk-patch"/>
              </a:rPr>
              <a:t>When a reference variable is </a:t>
            </a:r>
            <a:r>
              <a:rPr lang="en-US" sz="1200" b="0" i="0" dirty="0">
                <a:solidFill>
                  <a:srgbClr val="0F1115"/>
                </a:solidFill>
                <a:effectLst/>
                <a:latin typeface="Menlo"/>
              </a:rPr>
              <a:t>final</a:t>
            </a:r>
            <a:r>
              <a:rPr lang="en-US" sz="1200" b="0" i="0" dirty="0">
                <a:solidFill>
                  <a:srgbClr val="0F1115"/>
                </a:solidFill>
                <a:effectLst/>
                <a:latin typeface="quote-cjk-patch"/>
              </a:rPr>
              <a:t>, you cannot reassign it to point to a different object, but you can modify the object's internal state.</a:t>
            </a:r>
          </a:p>
        </p:txBody>
      </p:sp>
      <p:sp>
        <p:nvSpPr>
          <p:cNvPr id="26" name="TextBox 25">
            <a:extLst>
              <a:ext uri="{FF2B5EF4-FFF2-40B4-BE49-F238E27FC236}">
                <a16:creationId xmlns:a16="http://schemas.microsoft.com/office/drawing/2014/main" id="{59C0609C-62BB-CC1C-0EF0-08643E2721B2}"/>
              </a:ext>
            </a:extLst>
          </p:cNvPr>
          <p:cNvSpPr txBox="1"/>
          <p:nvPr/>
        </p:nvSpPr>
        <p:spPr>
          <a:xfrm>
            <a:off x="57150" y="3640921"/>
            <a:ext cx="5211935" cy="1938992"/>
          </a:xfrm>
          <a:prstGeom prst="rect">
            <a:avLst/>
          </a:prstGeom>
          <a:noFill/>
          <a:ln>
            <a:solidFill>
              <a:schemeClr val="tx1"/>
            </a:solidFill>
          </a:ln>
        </p:spPr>
        <p:txBody>
          <a:bodyPr wrap="square">
            <a:spAutoFit/>
          </a:bodyPr>
          <a:lstStyle/>
          <a:p>
            <a:pPr algn="l" latinLnBrk="1">
              <a:buNone/>
            </a:pP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class</a:t>
            </a:r>
            <a:r>
              <a:rPr lang="en-US" sz="1200" b="0" dirty="0">
                <a:solidFill>
                  <a:srgbClr val="0F1115"/>
                </a:solidFill>
                <a:effectLst/>
                <a:latin typeface="Menlo"/>
              </a:rPr>
              <a:t> </a:t>
            </a:r>
            <a:r>
              <a:rPr lang="en-US" sz="1200" b="0" dirty="0" err="1">
                <a:solidFill>
                  <a:srgbClr val="B76B01"/>
                </a:solidFill>
                <a:effectLst/>
                <a:latin typeface="Menlo"/>
              </a:rPr>
              <a:t>FinalReferenceExample</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public</a:t>
            </a:r>
            <a:r>
              <a:rPr lang="en-US" sz="1200" b="0" dirty="0">
                <a:solidFill>
                  <a:srgbClr val="0F1115"/>
                </a:solidFill>
                <a:effectLst/>
                <a:latin typeface="Menlo"/>
              </a:rPr>
              <a:t> </a:t>
            </a:r>
            <a:r>
              <a:rPr lang="en-US" sz="1200" b="0" dirty="0">
                <a:solidFill>
                  <a:srgbClr val="A626A4"/>
                </a:solidFill>
                <a:effectLst/>
                <a:latin typeface="Menlo"/>
              </a:rPr>
              <a:t>static</a:t>
            </a:r>
            <a:r>
              <a:rPr lang="en-US" sz="1200" b="0" dirty="0">
                <a:solidFill>
                  <a:srgbClr val="0F1115"/>
                </a:solidFill>
                <a:effectLst/>
                <a:latin typeface="Menlo"/>
              </a:rPr>
              <a:t> </a:t>
            </a:r>
            <a:r>
              <a:rPr lang="en-US" sz="1200" b="0" dirty="0">
                <a:solidFill>
                  <a:srgbClr val="A626A4"/>
                </a:solidFill>
                <a:effectLst/>
                <a:latin typeface="Menlo"/>
              </a:rPr>
              <a:t>void</a:t>
            </a:r>
            <a:r>
              <a:rPr lang="en-US" sz="1200" b="0" dirty="0">
                <a:solidFill>
                  <a:srgbClr val="0F1115"/>
                </a:solidFill>
                <a:effectLst/>
                <a:latin typeface="Menlo"/>
              </a:rPr>
              <a:t> </a:t>
            </a:r>
            <a:r>
              <a:rPr lang="en-US" sz="1200" b="0" dirty="0">
                <a:solidFill>
                  <a:srgbClr val="4078F2"/>
                </a:solidFill>
                <a:effectLst/>
                <a:latin typeface="Menlo"/>
              </a:rPr>
              <a:t>main</a:t>
            </a:r>
            <a:r>
              <a:rPr lang="en-US" sz="1200" b="0" dirty="0">
                <a:solidFill>
                  <a:srgbClr val="383A42"/>
                </a:solidFill>
                <a:effectLst/>
                <a:latin typeface="Menlo"/>
              </a:rPr>
              <a:t>(</a:t>
            </a:r>
            <a:r>
              <a:rPr lang="en-US" sz="1200" b="0" dirty="0">
                <a:solidFill>
                  <a:srgbClr val="B76B01"/>
                </a:solidFill>
                <a:effectLst/>
                <a:latin typeface="Menlo"/>
              </a:rPr>
              <a:t>String</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err="1">
                <a:solidFill>
                  <a:srgbClr val="0F1115"/>
                </a:solidFill>
                <a:effectLst/>
                <a:latin typeface="Menlo"/>
              </a:rPr>
              <a:t>args</a:t>
            </a:r>
            <a:r>
              <a:rPr lang="en-US" sz="1200" b="0" dirty="0">
                <a:solidFill>
                  <a:srgbClr val="383A42"/>
                </a:solidFill>
                <a:effectLst/>
                <a:latin typeface="Menlo"/>
              </a:rPr>
              <a:t>)</a:t>
            </a: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A626A4"/>
                </a:solidFill>
                <a:effectLst/>
                <a:latin typeface="Menlo"/>
              </a:rPr>
              <a:t>final</a:t>
            </a:r>
            <a:r>
              <a:rPr lang="en-US" sz="1200" b="0" dirty="0">
                <a:solidFill>
                  <a:srgbClr val="0F1115"/>
                </a:solidFill>
                <a:effectLst/>
                <a:latin typeface="Menlo"/>
              </a:rPr>
              <a:t> </a:t>
            </a:r>
            <a:r>
              <a:rPr lang="en-US" sz="1200" b="0" dirty="0">
                <a:solidFill>
                  <a:srgbClr val="B76B01"/>
                </a:solidFill>
                <a:effectLst/>
                <a:latin typeface="Menlo"/>
              </a:rPr>
              <a:t>StringBuilder</a:t>
            </a:r>
            <a:r>
              <a:rPr lang="en-US" sz="1200" b="0" dirty="0">
                <a:solidFill>
                  <a:srgbClr val="0F1115"/>
                </a:solidFill>
                <a:effectLst/>
                <a:latin typeface="Menlo"/>
              </a:rPr>
              <a:t> sb </a:t>
            </a:r>
            <a:r>
              <a:rPr lang="en-US" sz="1200" b="0" dirty="0">
                <a:solidFill>
                  <a:srgbClr val="4078F2"/>
                </a:solidFill>
                <a:effectLst/>
                <a:latin typeface="Menlo"/>
              </a:rPr>
              <a:t>=</a:t>
            </a:r>
            <a:r>
              <a:rPr lang="en-US" sz="1200" b="0" dirty="0">
                <a:solidFill>
                  <a:srgbClr val="0F1115"/>
                </a:solidFill>
                <a:effectLst/>
                <a:latin typeface="Menlo"/>
              </a:rPr>
              <a:t> </a:t>
            </a:r>
            <a:r>
              <a:rPr lang="en-US" sz="1200" b="0" dirty="0">
                <a:solidFill>
                  <a:srgbClr val="A626A4"/>
                </a:solidFill>
                <a:effectLst/>
                <a:latin typeface="Menlo"/>
              </a:rPr>
              <a:t>new</a:t>
            </a:r>
            <a:r>
              <a:rPr lang="en-US" sz="1200" b="0" dirty="0">
                <a:solidFill>
                  <a:srgbClr val="0F1115"/>
                </a:solidFill>
                <a:effectLst/>
                <a:latin typeface="Menlo"/>
              </a:rPr>
              <a:t> </a:t>
            </a:r>
            <a:r>
              <a:rPr lang="en-US" sz="1200" b="0" dirty="0">
                <a:solidFill>
                  <a:srgbClr val="B76B01"/>
                </a:solidFill>
                <a:effectLst/>
                <a:latin typeface="Menlo"/>
              </a:rPr>
              <a:t>StringBuilder</a:t>
            </a:r>
            <a:r>
              <a:rPr lang="en-US" sz="1200" b="0" dirty="0">
                <a:solidFill>
                  <a:srgbClr val="383A42"/>
                </a:solidFill>
                <a:effectLst/>
                <a:latin typeface="Menlo"/>
              </a:rPr>
              <a:t>(</a:t>
            </a:r>
            <a:r>
              <a:rPr lang="en-US" sz="1200" b="0" dirty="0">
                <a:solidFill>
                  <a:srgbClr val="50A14F"/>
                </a:solidFill>
                <a:effectLst/>
                <a:latin typeface="Menlo"/>
              </a:rPr>
              <a:t>"Hello"</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i="1" dirty="0">
                <a:solidFill>
                  <a:srgbClr val="A0A1A7"/>
                </a:solidFill>
                <a:effectLst/>
                <a:latin typeface="Menlo"/>
              </a:rPr>
              <a:t>// sb = new StringBuilder("World"); // ERROR! Cannot reassign reference</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p>
          <a:p>
            <a:pPr algn="l" latinLnBrk="1">
              <a:buNone/>
            </a:pPr>
            <a:r>
              <a:rPr lang="en-US" sz="1200" b="0" dirty="0">
                <a:solidFill>
                  <a:srgbClr val="0F1115"/>
                </a:solidFill>
                <a:effectLst/>
                <a:latin typeface="Menlo"/>
              </a:rPr>
              <a:t>        </a:t>
            </a:r>
            <a:r>
              <a:rPr lang="en-US" sz="1200" b="0" dirty="0" err="1">
                <a:solidFill>
                  <a:srgbClr val="0F1115"/>
                </a:solidFill>
                <a:effectLst/>
                <a:latin typeface="Menlo"/>
              </a:rPr>
              <a:t>sb</a:t>
            </a:r>
            <a:r>
              <a:rPr lang="en-US" sz="1200" b="0" dirty="0" err="1">
                <a:solidFill>
                  <a:srgbClr val="383A42"/>
                </a:solidFill>
                <a:effectLst/>
                <a:latin typeface="Menlo"/>
              </a:rPr>
              <a:t>.</a:t>
            </a:r>
            <a:r>
              <a:rPr lang="en-US" sz="1200" b="0" dirty="0" err="1">
                <a:solidFill>
                  <a:srgbClr val="4078F2"/>
                </a:solidFill>
                <a:effectLst/>
                <a:latin typeface="Menlo"/>
              </a:rPr>
              <a:t>append</a:t>
            </a:r>
            <a:r>
              <a:rPr lang="en-US" sz="1200" b="0" dirty="0">
                <a:solidFill>
                  <a:srgbClr val="383A42"/>
                </a:solidFill>
                <a:effectLst/>
                <a:latin typeface="Menlo"/>
              </a:rPr>
              <a:t>(</a:t>
            </a:r>
            <a:r>
              <a:rPr lang="en-US" sz="1200" b="0" dirty="0">
                <a:solidFill>
                  <a:srgbClr val="50A14F"/>
                </a:solidFill>
                <a:effectLst/>
                <a:latin typeface="Menlo"/>
              </a:rPr>
              <a:t>" World"</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OK! Modifying object content</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err="1">
                <a:solidFill>
                  <a:srgbClr val="B76B01"/>
                </a:solidFill>
                <a:effectLst/>
                <a:latin typeface="Menlo"/>
              </a:rPr>
              <a:t>System</a:t>
            </a:r>
            <a:r>
              <a:rPr lang="en-US" sz="1200" b="0" dirty="0" err="1">
                <a:solidFill>
                  <a:srgbClr val="383A42"/>
                </a:solidFill>
                <a:effectLst/>
                <a:latin typeface="Menlo"/>
              </a:rPr>
              <a:t>.</a:t>
            </a:r>
            <a:r>
              <a:rPr lang="en-US" sz="1200" b="0" dirty="0" err="1">
                <a:solidFill>
                  <a:srgbClr val="0F1115"/>
                </a:solidFill>
                <a:effectLst/>
                <a:latin typeface="Menlo"/>
              </a:rPr>
              <a:t>out</a:t>
            </a:r>
            <a:r>
              <a:rPr lang="en-US" sz="1200" b="0" dirty="0" err="1">
                <a:solidFill>
                  <a:srgbClr val="383A42"/>
                </a:solidFill>
                <a:effectLst/>
                <a:latin typeface="Menlo"/>
              </a:rPr>
              <a:t>.</a:t>
            </a:r>
            <a:r>
              <a:rPr lang="en-US" sz="1200" b="0" dirty="0" err="1">
                <a:solidFill>
                  <a:srgbClr val="4078F2"/>
                </a:solidFill>
                <a:effectLst/>
                <a:latin typeface="Menlo"/>
              </a:rPr>
              <a:t>println</a:t>
            </a:r>
            <a:r>
              <a:rPr lang="en-US" sz="1200" b="0" dirty="0">
                <a:solidFill>
                  <a:srgbClr val="383A42"/>
                </a:solidFill>
                <a:effectLst/>
                <a:latin typeface="Menlo"/>
              </a:rPr>
              <a:t>(</a:t>
            </a:r>
            <a:r>
              <a:rPr lang="en-US" sz="1200" b="0" dirty="0">
                <a:solidFill>
                  <a:srgbClr val="0F1115"/>
                </a:solidFill>
                <a:effectLst/>
                <a:latin typeface="Menlo"/>
              </a:rPr>
              <a:t>sb</a:t>
            </a:r>
            <a:r>
              <a:rPr lang="en-US" sz="1200" b="0" dirty="0">
                <a:solidFill>
                  <a:srgbClr val="383A42"/>
                </a:solidFill>
                <a:effectLst/>
                <a:latin typeface="Menlo"/>
              </a:rPr>
              <a:t>);</a:t>
            </a:r>
            <a:r>
              <a:rPr lang="en-US" sz="1200" b="0" dirty="0">
                <a:solidFill>
                  <a:srgbClr val="0F1115"/>
                </a:solidFill>
                <a:effectLst/>
                <a:latin typeface="Menlo"/>
              </a:rPr>
              <a:t> </a:t>
            </a:r>
            <a:r>
              <a:rPr lang="en-US" sz="1200" b="0" i="1" dirty="0">
                <a:solidFill>
                  <a:srgbClr val="A0A1A7"/>
                </a:solidFill>
                <a:effectLst/>
                <a:latin typeface="Menlo"/>
              </a:rPr>
              <a:t>// Output: Hello World</a:t>
            </a:r>
            <a:endParaRPr lang="en-US" sz="1200" b="0" dirty="0">
              <a:solidFill>
                <a:srgbClr val="0F1115"/>
              </a:solidFill>
              <a:effectLst/>
              <a:latin typeface="Menlo"/>
            </a:endParaRPr>
          </a:p>
          <a:p>
            <a:pPr algn="l" latinLnBrk="1">
              <a:buNone/>
            </a:pPr>
            <a:r>
              <a:rPr lang="en-US" sz="1200" b="0" dirty="0">
                <a:solidFill>
                  <a:srgbClr val="0F1115"/>
                </a:solidFill>
                <a:effectLst/>
                <a:latin typeface="Menlo"/>
              </a:rPr>
              <a:t>    </a:t>
            </a:r>
            <a:r>
              <a:rPr lang="en-US" sz="1200" b="0" dirty="0">
                <a:solidFill>
                  <a:srgbClr val="383A42"/>
                </a:solidFill>
                <a:effectLst/>
                <a:latin typeface="Menlo"/>
              </a:rPr>
              <a:t>}</a:t>
            </a:r>
            <a:endParaRPr lang="en-US" sz="1200" b="0" dirty="0">
              <a:solidFill>
                <a:srgbClr val="0F1115"/>
              </a:solidFill>
              <a:effectLst/>
              <a:latin typeface="Menlo"/>
            </a:endParaRPr>
          </a:p>
          <a:p>
            <a:pPr algn="l" latinLnBrk="1">
              <a:buNone/>
            </a:pPr>
            <a:r>
              <a:rPr lang="en-US" sz="1200" b="0" dirty="0">
                <a:solidFill>
                  <a:srgbClr val="383A42"/>
                </a:solidFill>
                <a:effectLst/>
                <a:latin typeface="Menlo"/>
              </a:rPr>
              <a:t>}</a:t>
            </a:r>
            <a:endParaRPr lang="en-US" sz="1200" b="0" dirty="0">
              <a:solidFill>
                <a:srgbClr val="0F1115"/>
              </a:solidFill>
              <a:effectLst/>
              <a:latin typeface="Menlo"/>
            </a:endParaRPr>
          </a:p>
        </p:txBody>
      </p:sp>
    </p:spTree>
    <p:extLst>
      <p:ext uri="{BB962C8B-B14F-4D97-AF65-F5344CB8AC3E}">
        <p14:creationId xmlns:p14="http://schemas.microsoft.com/office/powerpoint/2010/main" val="21671575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775138B-EE4B-61B3-FDB0-ACECF42A774E}"/>
              </a:ext>
            </a:extLst>
          </p:cNvPr>
          <p:cNvSpPr txBox="1"/>
          <p:nvPr/>
        </p:nvSpPr>
        <p:spPr>
          <a:xfrm>
            <a:off x="194310" y="247650"/>
            <a:ext cx="4949190" cy="374461"/>
          </a:xfrm>
          <a:prstGeom prst="rect">
            <a:avLst/>
          </a:prstGeom>
          <a:noFill/>
          <a:ln>
            <a:solidFill>
              <a:schemeClr val="tx1"/>
            </a:solidFill>
          </a:ln>
        </p:spPr>
        <p:txBody>
          <a:bodyPr wrap="square">
            <a:spAutoFit/>
          </a:bodyPr>
          <a:lstStyle/>
          <a:p>
            <a:pPr algn="l">
              <a:lnSpc>
                <a:spcPts val="2250"/>
              </a:lnSpc>
              <a:spcBef>
                <a:spcPts val="2400"/>
              </a:spcBef>
              <a:spcAft>
                <a:spcPts val="1200"/>
              </a:spcAft>
              <a:buNone/>
            </a:pPr>
            <a:r>
              <a:rPr lang="en-US" b="1" dirty="0">
                <a:solidFill>
                  <a:srgbClr val="0F1115"/>
                </a:solidFill>
                <a:effectLst/>
                <a:latin typeface="quote-cjk-patch"/>
              </a:rPr>
              <a:t>Complete Example</a:t>
            </a:r>
          </a:p>
        </p:txBody>
      </p:sp>
      <p:sp>
        <p:nvSpPr>
          <p:cNvPr id="7" name="TextBox 6">
            <a:extLst>
              <a:ext uri="{FF2B5EF4-FFF2-40B4-BE49-F238E27FC236}">
                <a16:creationId xmlns:a16="http://schemas.microsoft.com/office/drawing/2014/main" id="{E70B51FD-BC51-3C9F-9DC7-6B9839D5E6E7}"/>
              </a:ext>
            </a:extLst>
          </p:cNvPr>
          <p:cNvSpPr txBox="1"/>
          <p:nvPr/>
        </p:nvSpPr>
        <p:spPr>
          <a:xfrm>
            <a:off x="190500" y="831661"/>
            <a:ext cx="4972050" cy="5330947"/>
          </a:xfrm>
          <a:prstGeom prst="rect">
            <a:avLst/>
          </a:prstGeom>
          <a:noFill/>
          <a:ln>
            <a:solidFill>
              <a:schemeClr val="tx1"/>
            </a:solidFill>
          </a:ln>
        </p:spPr>
        <p:txBody>
          <a:bodyPr wrap="square">
            <a:spAutoFit/>
          </a:bodyPr>
          <a:lstStyle/>
          <a:p>
            <a:pPr algn="l" latinLnBrk="1">
              <a:lnSpc>
                <a:spcPts val="1650"/>
              </a:lnSpc>
              <a:buNone/>
            </a:pPr>
            <a:r>
              <a:rPr lang="en-US" b="0" dirty="0">
                <a:solidFill>
                  <a:srgbClr val="A626A4"/>
                </a:solidFill>
                <a:effectLst/>
                <a:latin typeface="Menlo"/>
              </a:rPr>
              <a:t>final</a:t>
            </a:r>
            <a:r>
              <a:rPr lang="en-US" b="0" dirty="0">
                <a:solidFill>
                  <a:srgbClr val="0F1115"/>
                </a:solidFill>
                <a:effectLst/>
                <a:latin typeface="Menlo"/>
              </a:rPr>
              <a:t> </a:t>
            </a:r>
            <a:r>
              <a:rPr lang="en-US" b="0" dirty="0">
                <a:solidFill>
                  <a:srgbClr val="A626A4"/>
                </a:solidFill>
                <a:effectLst/>
                <a:latin typeface="Menlo"/>
              </a:rPr>
              <a:t>class</a:t>
            </a:r>
            <a:r>
              <a:rPr lang="en-US" b="0" dirty="0">
                <a:solidFill>
                  <a:srgbClr val="0F1115"/>
                </a:solidFill>
                <a:effectLst/>
                <a:latin typeface="Menlo"/>
              </a:rPr>
              <a:t> </a:t>
            </a:r>
            <a:r>
              <a:rPr lang="en-US" b="0" dirty="0">
                <a:solidFill>
                  <a:srgbClr val="B76B01"/>
                </a:solidFill>
                <a:effectLst/>
                <a:latin typeface="Menlo"/>
              </a:rPr>
              <a:t>Constants</a:t>
            </a: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A626A4"/>
                </a:solidFill>
                <a:effectLst/>
                <a:latin typeface="Menlo"/>
              </a:rPr>
              <a:t>public</a:t>
            </a:r>
            <a:r>
              <a:rPr lang="en-US" b="0" dirty="0">
                <a:solidFill>
                  <a:srgbClr val="0F1115"/>
                </a:solidFill>
                <a:effectLst/>
                <a:latin typeface="Menlo"/>
              </a:rPr>
              <a:t> </a:t>
            </a:r>
            <a:r>
              <a:rPr lang="en-US" b="0" dirty="0">
                <a:solidFill>
                  <a:srgbClr val="A626A4"/>
                </a:solidFill>
                <a:effectLst/>
                <a:latin typeface="Menlo"/>
              </a:rPr>
              <a:t>static</a:t>
            </a:r>
            <a:r>
              <a:rPr lang="en-US" b="0" dirty="0">
                <a:solidFill>
                  <a:srgbClr val="0F1115"/>
                </a:solidFill>
                <a:effectLst/>
                <a:latin typeface="Menlo"/>
              </a:rPr>
              <a:t> </a:t>
            </a:r>
            <a:r>
              <a:rPr lang="en-US" b="0" dirty="0">
                <a:solidFill>
                  <a:srgbClr val="A626A4"/>
                </a:solidFill>
                <a:effectLst/>
                <a:latin typeface="Menlo"/>
              </a:rPr>
              <a:t>final</a:t>
            </a:r>
            <a:r>
              <a:rPr lang="en-US" b="0" dirty="0">
                <a:solidFill>
                  <a:srgbClr val="0F1115"/>
                </a:solidFill>
                <a:effectLst/>
                <a:latin typeface="Menlo"/>
              </a:rPr>
              <a:t> </a:t>
            </a:r>
            <a:r>
              <a:rPr lang="en-US" b="0" dirty="0">
                <a:solidFill>
                  <a:srgbClr val="B76B01"/>
                </a:solidFill>
                <a:effectLst/>
                <a:latin typeface="Menlo"/>
              </a:rPr>
              <a:t>String</a:t>
            </a:r>
            <a:r>
              <a:rPr lang="en-US" b="0" dirty="0">
                <a:solidFill>
                  <a:srgbClr val="0F1115"/>
                </a:solidFill>
                <a:effectLst/>
                <a:latin typeface="Menlo"/>
              </a:rPr>
              <a:t> </a:t>
            </a:r>
            <a:r>
              <a:rPr lang="en-US" b="0" dirty="0">
                <a:solidFill>
                  <a:srgbClr val="B76B01"/>
                </a:solidFill>
                <a:effectLst/>
                <a:latin typeface="Menlo"/>
              </a:rPr>
              <a:t>APP_NAME</a:t>
            </a:r>
            <a:r>
              <a:rPr lang="en-US" b="0" dirty="0">
                <a:solidFill>
                  <a:srgbClr val="0F1115"/>
                </a:solidFill>
                <a:effectLst/>
                <a:latin typeface="Menlo"/>
              </a:rPr>
              <a:t> </a:t>
            </a:r>
            <a:r>
              <a:rPr lang="en-US" b="0" dirty="0">
                <a:solidFill>
                  <a:srgbClr val="4078F2"/>
                </a:solidFill>
                <a:effectLst/>
                <a:latin typeface="Menlo"/>
              </a:rPr>
              <a:t>=</a:t>
            </a:r>
            <a:r>
              <a:rPr lang="en-US" b="0" dirty="0">
                <a:solidFill>
                  <a:srgbClr val="0F1115"/>
                </a:solidFill>
                <a:effectLst/>
                <a:latin typeface="Menlo"/>
              </a:rPr>
              <a:t> </a:t>
            </a:r>
            <a:r>
              <a:rPr lang="en-US" b="0" dirty="0">
                <a:solidFill>
                  <a:srgbClr val="50A14F"/>
                </a:solidFill>
                <a:effectLst/>
                <a:latin typeface="Menlo"/>
              </a:rPr>
              <a:t>"</a:t>
            </a:r>
            <a:r>
              <a:rPr lang="en-US" b="0" dirty="0" err="1">
                <a:solidFill>
                  <a:srgbClr val="50A14F"/>
                </a:solidFill>
                <a:effectLst/>
                <a:latin typeface="Menlo"/>
              </a:rPr>
              <a:t>MyApplication</a:t>
            </a:r>
            <a:r>
              <a:rPr lang="en-US" b="0" dirty="0">
                <a:solidFill>
                  <a:srgbClr val="50A14F"/>
                </a:solidFill>
                <a:effectLst/>
                <a:latin typeface="Menlo"/>
              </a:rPr>
              <a:t>"</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A626A4"/>
                </a:solidFill>
                <a:effectLst/>
                <a:latin typeface="Menlo"/>
              </a:rPr>
              <a:t>public</a:t>
            </a:r>
            <a:r>
              <a:rPr lang="en-US" b="0" dirty="0">
                <a:solidFill>
                  <a:srgbClr val="0F1115"/>
                </a:solidFill>
                <a:effectLst/>
                <a:latin typeface="Menlo"/>
              </a:rPr>
              <a:t> </a:t>
            </a:r>
            <a:r>
              <a:rPr lang="en-US" b="0" dirty="0">
                <a:solidFill>
                  <a:srgbClr val="A626A4"/>
                </a:solidFill>
                <a:effectLst/>
                <a:latin typeface="Menlo"/>
              </a:rPr>
              <a:t>static</a:t>
            </a:r>
            <a:r>
              <a:rPr lang="en-US" b="0" dirty="0">
                <a:solidFill>
                  <a:srgbClr val="0F1115"/>
                </a:solidFill>
                <a:effectLst/>
                <a:latin typeface="Menlo"/>
              </a:rPr>
              <a:t> </a:t>
            </a:r>
            <a:r>
              <a:rPr lang="en-US" b="0" dirty="0">
                <a:solidFill>
                  <a:srgbClr val="A626A4"/>
                </a:solidFill>
                <a:effectLst/>
                <a:latin typeface="Menlo"/>
              </a:rPr>
              <a:t>final</a:t>
            </a:r>
            <a:r>
              <a:rPr lang="en-US" b="0" dirty="0">
                <a:solidFill>
                  <a:srgbClr val="0F1115"/>
                </a:solidFill>
                <a:effectLst/>
                <a:latin typeface="Menlo"/>
              </a:rPr>
              <a:t> </a:t>
            </a:r>
            <a:r>
              <a:rPr lang="en-US" b="0" dirty="0">
                <a:solidFill>
                  <a:srgbClr val="A626A4"/>
                </a:solidFill>
                <a:effectLst/>
                <a:latin typeface="Menlo"/>
              </a:rPr>
              <a:t>int</a:t>
            </a:r>
            <a:r>
              <a:rPr lang="en-US" b="0" dirty="0">
                <a:solidFill>
                  <a:srgbClr val="0F1115"/>
                </a:solidFill>
                <a:effectLst/>
                <a:latin typeface="Menlo"/>
              </a:rPr>
              <a:t> </a:t>
            </a:r>
            <a:r>
              <a:rPr lang="en-US" b="0" dirty="0">
                <a:solidFill>
                  <a:srgbClr val="B76B01"/>
                </a:solidFill>
                <a:effectLst/>
                <a:latin typeface="Menlo"/>
              </a:rPr>
              <a:t>MAX_USERS</a:t>
            </a:r>
            <a:r>
              <a:rPr lang="en-US" b="0" dirty="0">
                <a:solidFill>
                  <a:srgbClr val="0F1115"/>
                </a:solidFill>
                <a:effectLst/>
                <a:latin typeface="Menlo"/>
              </a:rPr>
              <a:t> </a:t>
            </a:r>
            <a:r>
              <a:rPr lang="en-US" b="0" dirty="0">
                <a:solidFill>
                  <a:srgbClr val="4078F2"/>
                </a:solidFill>
                <a:effectLst/>
                <a:latin typeface="Menlo"/>
              </a:rPr>
              <a:t>=</a:t>
            </a:r>
            <a:r>
              <a:rPr lang="en-US" b="0" dirty="0">
                <a:solidFill>
                  <a:srgbClr val="0F1115"/>
                </a:solidFill>
                <a:effectLst/>
                <a:latin typeface="Menlo"/>
              </a:rPr>
              <a:t> </a:t>
            </a:r>
            <a:r>
              <a:rPr lang="en-US" b="0" dirty="0">
                <a:solidFill>
                  <a:srgbClr val="B76B01"/>
                </a:solidFill>
                <a:effectLst/>
                <a:latin typeface="Menlo"/>
              </a:rPr>
              <a:t>1000</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endParaRPr lang="en-US" b="0" dirty="0">
              <a:solidFill>
                <a:srgbClr val="0F1115"/>
              </a:solidFill>
              <a:effectLst/>
              <a:latin typeface="Menlo"/>
            </a:endParaRPr>
          </a:p>
          <a:p>
            <a:pPr algn="l" latinLnBrk="1">
              <a:lnSpc>
                <a:spcPts val="1650"/>
              </a:lnSpc>
              <a:buNone/>
            </a:pPr>
            <a:r>
              <a:rPr lang="en-US" b="0" dirty="0">
                <a:solidFill>
                  <a:srgbClr val="A626A4"/>
                </a:solidFill>
                <a:effectLst/>
                <a:latin typeface="Menlo"/>
              </a:rPr>
              <a:t>class</a:t>
            </a:r>
            <a:r>
              <a:rPr lang="en-US" b="0" dirty="0">
                <a:solidFill>
                  <a:srgbClr val="0F1115"/>
                </a:solidFill>
                <a:effectLst/>
                <a:latin typeface="Menlo"/>
              </a:rPr>
              <a:t> </a:t>
            </a:r>
            <a:r>
              <a:rPr lang="en-US" b="0" dirty="0">
                <a:solidFill>
                  <a:srgbClr val="B76B01"/>
                </a:solidFill>
                <a:effectLst/>
                <a:latin typeface="Menlo"/>
              </a:rPr>
              <a:t>Calculator</a:t>
            </a: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A626A4"/>
                </a:solidFill>
                <a:effectLst/>
                <a:latin typeface="Menlo"/>
              </a:rPr>
              <a:t>public</a:t>
            </a:r>
            <a:r>
              <a:rPr lang="en-US" b="0" dirty="0">
                <a:solidFill>
                  <a:srgbClr val="0F1115"/>
                </a:solidFill>
                <a:effectLst/>
                <a:latin typeface="Menlo"/>
              </a:rPr>
              <a:t> </a:t>
            </a:r>
            <a:r>
              <a:rPr lang="en-US" b="0" dirty="0">
                <a:solidFill>
                  <a:srgbClr val="A626A4"/>
                </a:solidFill>
                <a:effectLst/>
                <a:latin typeface="Menlo"/>
              </a:rPr>
              <a:t>final</a:t>
            </a:r>
            <a:r>
              <a:rPr lang="en-US" b="0" dirty="0">
                <a:solidFill>
                  <a:srgbClr val="0F1115"/>
                </a:solidFill>
                <a:effectLst/>
                <a:latin typeface="Menlo"/>
              </a:rPr>
              <a:t> </a:t>
            </a:r>
            <a:r>
              <a:rPr lang="en-US" b="0" dirty="0">
                <a:solidFill>
                  <a:srgbClr val="A626A4"/>
                </a:solidFill>
                <a:effectLst/>
                <a:latin typeface="Menlo"/>
              </a:rPr>
              <a:t>double</a:t>
            </a:r>
            <a:r>
              <a:rPr lang="en-US" b="0" dirty="0">
                <a:solidFill>
                  <a:srgbClr val="0F1115"/>
                </a:solidFill>
                <a:effectLst/>
                <a:latin typeface="Menlo"/>
              </a:rPr>
              <a:t> </a:t>
            </a:r>
            <a:r>
              <a:rPr lang="en-US" b="0" dirty="0" err="1">
                <a:solidFill>
                  <a:srgbClr val="4078F2"/>
                </a:solidFill>
                <a:effectLst/>
                <a:latin typeface="Menlo"/>
              </a:rPr>
              <a:t>calculateArea</a:t>
            </a:r>
            <a:r>
              <a:rPr lang="en-US" b="0" dirty="0">
                <a:solidFill>
                  <a:srgbClr val="383A42"/>
                </a:solidFill>
                <a:effectLst/>
                <a:latin typeface="Menlo"/>
              </a:rPr>
              <a:t>(</a:t>
            </a:r>
            <a:r>
              <a:rPr lang="en-US" b="0" dirty="0">
                <a:solidFill>
                  <a:srgbClr val="A626A4"/>
                </a:solidFill>
                <a:effectLst/>
                <a:latin typeface="Menlo"/>
              </a:rPr>
              <a:t>final</a:t>
            </a:r>
            <a:r>
              <a:rPr lang="en-US" b="0" dirty="0">
                <a:solidFill>
                  <a:srgbClr val="0F1115"/>
                </a:solidFill>
                <a:effectLst/>
                <a:latin typeface="Menlo"/>
              </a:rPr>
              <a:t> </a:t>
            </a:r>
            <a:r>
              <a:rPr lang="en-US" b="0" dirty="0">
                <a:solidFill>
                  <a:srgbClr val="A626A4"/>
                </a:solidFill>
                <a:effectLst/>
                <a:latin typeface="Menlo"/>
              </a:rPr>
              <a:t>double</a:t>
            </a:r>
            <a:r>
              <a:rPr lang="en-US" b="0" dirty="0">
                <a:solidFill>
                  <a:srgbClr val="0F1115"/>
                </a:solidFill>
                <a:effectLst/>
                <a:latin typeface="Menlo"/>
              </a:rPr>
              <a:t> radius</a:t>
            </a:r>
            <a:r>
              <a:rPr lang="en-US" b="0" dirty="0">
                <a:solidFill>
                  <a:srgbClr val="383A42"/>
                </a:solidFill>
                <a:effectLst/>
                <a:latin typeface="Menlo"/>
              </a:rPr>
              <a:t>)</a:t>
            </a: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i="1" dirty="0">
                <a:solidFill>
                  <a:srgbClr val="A0A1A7"/>
                </a:solidFill>
                <a:effectLst/>
                <a:latin typeface="Menlo"/>
              </a:rPr>
              <a:t>// radius = radius + 1; // ERROR! Cannot modify final parameter</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A626A4"/>
                </a:solidFill>
                <a:effectLst/>
                <a:latin typeface="Menlo"/>
              </a:rPr>
              <a:t>return</a:t>
            </a:r>
            <a:r>
              <a:rPr lang="en-US" b="0" dirty="0">
                <a:solidFill>
                  <a:srgbClr val="0F1115"/>
                </a:solidFill>
                <a:effectLst/>
                <a:latin typeface="Menlo"/>
              </a:rPr>
              <a:t> </a:t>
            </a:r>
            <a:r>
              <a:rPr lang="en-US" b="0" dirty="0" err="1">
                <a:solidFill>
                  <a:srgbClr val="B76B01"/>
                </a:solidFill>
                <a:effectLst/>
                <a:latin typeface="Menlo"/>
              </a:rPr>
              <a:t>Constants</a:t>
            </a:r>
            <a:r>
              <a:rPr lang="en-US" b="0" dirty="0" err="1">
                <a:solidFill>
                  <a:srgbClr val="383A42"/>
                </a:solidFill>
                <a:effectLst/>
                <a:latin typeface="Menlo"/>
              </a:rPr>
              <a:t>.</a:t>
            </a:r>
            <a:r>
              <a:rPr lang="en-US" b="0" dirty="0" err="1">
                <a:solidFill>
                  <a:srgbClr val="B76B01"/>
                </a:solidFill>
                <a:effectLst/>
                <a:latin typeface="Menlo"/>
              </a:rPr>
              <a:t>PI</a:t>
            </a:r>
            <a:r>
              <a:rPr lang="en-US" b="0" dirty="0">
                <a:solidFill>
                  <a:srgbClr val="0F1115"/>
                </a:solidFill>
                <a:effectLst/>
                <a:latin typeface="Menlo"/>
              </a:rPr>
              <a:t> </a:t>
            </a:r>
            <a:r>
              <a:rPr lang="en-US" b="0" dirty="0">
                <a:solidFill>
                  <a:srgbClr val="4078F2"/>
                </a:solidFill>
                <a:effectLst/>
                <a:latin typeface="Menlo"/>
              </a:rPr>
              <a:t>*</a:t>
            </a:r>
            <a:r>
              <a:rPr lang="en-US" b="0" dirty="0">
                <a:solidFill>
                  <a:srgbClr val="0F1115"/>
                </a:solidFill>
                <a:effectLst/>
                <a:latin typeface="Menlo"/>
              </a:rPr>
              <a:t> radius </a:t>
            </a:r>
            <a:r>
              <a:rPr lang="en-US" b="0" dirty="0">
                <a:solidFill>
                  <a:srgbClr val="4078F2"/>
                </a:solidFill>
                <a:effectLst/>
                <a:latin typeface="Menlo"/>
              </a:rPr>
              <a:t>*</a:t>
            </a:r>
            <a:r>
              <a:rPr lang="en-US" b="0" dirty="0">
                <a:solidFill>
                  <a:srgbClr val="0F1115"/>
                </a:solidFill>
                <a:effectLst/>
                <a:latin typeface="Menlo"/>
              </a:rPr>
              <a:t> radius</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endParaRPr lang="en-US" b="0" dirty="0">
              <a:solidFill>
                <a:srgbClr val="0F1115"/>
              </a:solidFill>
              <a:effectLst/>
              <a:latin typeface="Menlo"/>
            </a:endParaRPr>
          </a:p>
          <a:p>
            <a:pPr algn="l" latinLnBrk="1">
              <a:lnSpc>
                <a:spcPts val="1650"/>
              </a:lnSpc>
              <a:buNone/>
            </a:pPr>
            <a:r>
              <a:rPr lang="en-US" b="0" dirty="0">
                <a:solidFill>
                  <a:srgbClr val="A626A4"/>
                </a:solidFill>
                <a:effectLst/>
                <a:latin typeface="Menlo"/>
              </a:rPr>
              <a:t>public</a:t>
            </a:r>
            <a:r>
              <a:rPr lang="en-US" b="0" dirty="0">
                <a:solidFill>
                  <a:srgbClr val="0F1115"/>
                </a:solidFill>
                <a:effectLst/>
                <a:latin typeface="Menlo"/>
              </a:rPr>
              <a:t> </a:t>
            </a:r>
            <a:r>
              <a:rPr lang="en-US" b="0" dirty="0">
                <a:solidFill>
                  <a:srgbClr val="A626A4"/>
                </a:solidFill>
                <a:effectLst/>
                <a:latin typeface="Menlo"/>
              </a:rPr>
              <a:t>class</a:t>
            </a:r>
            <a:r>
              <a:rPr lang="en-US" b="0" dirty="0">
                <a:solidFill>
                  <a:srgbClr val="0F1115"/>
                </a:solidFill>
                <a:effectLst/>
                <a:latin typeface="Menlo"/>
              </a:rPr>
              <a:t> </a:t>
            </a:r>
            <a:r>
              <a:rPr lang="en-US" b="0" dirty="0" err="1">
                <a:solidFill>
                  <a:srgbClr val="B76B01"/>
                </a:solidFill>
                <a:effectLst/>
                <a:latin typeface="Menlo"/>
              </a:rPr>
              <a:t>FinalDemo</a:t>
            </a: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A626A4"/>
                </a:solidFill>
                <a:effectLst/>
                <a:latin typeface="Menlo"/>
              </a:rPr>
              <a:t>public</a:t>
            </a:r>
            <a:r>
              <a:rPr lang="en-US" b="0" dirty="0">
                <a:solidFill>
                  <a:srgbClr val="0F1115"/>
                </a:solidFill>
                <a:effectLst/>
                <a:latin typeface="Menlo"/>
              </a:rPr>
              <a:t> </a:t>
            </a:r>
            <a:r>
              <a:rPr lang="en-US" b="0" dirty="0">
                <a:solidFill>
                  <a:srgbClr val="A626A4"/>
                </a:solidFill>
                <a:effectLst/>
                <a:latin typeface="Menlo"/>
              </a:rPr>
              <a:t>static</a:t>
            </a:r>
            <a:r>
              <a:rPr lang="en-US" b="0" dirty="0">
                <a:solidFill>
                  <a:srgbClr val="0F1115"/>
                </a:solidFill>
                <a:effectLst/>
                <a:latin typeface="Menlo"/>
              </a:rPr>
              <a:t> </a:t>
            </a:r>
            <a:r>
              <a:rPr lang="en-US" b="0" dirty="0">
                <a:solidFill>
                  <a:srgbClr val="A626A4"/>
                </a:solidFill>
                <a:effectLst/>
                <a:latin typeface="Menlo"/>
              </a:rPr>
              <a:t>void</a:t>
            </a:r>
            <a:r>
              <a:rPr lang="en-US" b="0" dirty="0">
                <a:solidFill>
                  <a:srgbClr val="0F1115"/>
                </a:solidFill>
                <a:effectLst/>
                <a:latin typeface="Menlo"/>
              </a:rPr>
              <a:t> </a:t>
            </a:r>
            <a:r>
              <a:rPr lang="en-US" b="0" dirty="0">
                <a:solidFill>
                  <a:srgbClr val="4078F2"/>
                </a:solidFill>
                <a:effectLst/>
                <a:latin typeface="Menlo"/>
              </a:rPr>
              <a:t>main</a:t>
            </a:r>
            <a:r>
              <a:rPr lang="en-US" b="0" dirty="0">
                <a:solidFill>
                  <a:srgbClr val="383A42"/>
                </a:solidFill>
                <a:effectLst/>
                <a:latin typeface="Menlo"/>
              </a:rPr>
              <a:t>(</a:t>
            </a:r>
            <a:r>
              <a:rPr lang="en-US" b="0" dirty="0">
                <a:solidFill>
                  <a:srgbClr val="B76B01"/>
                </a:solidFill>
                <a:effectLst/>
                <a:latin typeface="Menlo"/>
              </a:rPr>
              <a:t>String</a:t>
            </a:r>
            <a:r>
              <a:rPr lang="en-US" b="0" dirty="0">
                <a:solidFill>
                  <a:srgbClr val="383A42"/>
                </a:solidFill>
                <a:effectLst/>
                <a:latin typeface="Menlo"/>
              </a:rPr>
              <a:t>[]</a:t>
            </a:r>
            <a:r>
              <a:rPr lang="en-US" b="0" dirty="0">
                <a:solidFill>
                  <a:srgbClr val="0F1115"/>
                </a:solidFill>
                <a:effectLst/>
                <a:latin typeface="Menlo"/>
              </a:rPr>
              <a:t> </a:t>
            </a:r>
            <a:r>
              <a:rPr lang="en-US" b="0" dirty="0" err="1">
                <a:solidFill>
                  <a:srgbClr val="0F1115"/>
                </a:solidFill>
                <a:effectLst/>
                <a:latin typeface="Menlo"/>
              </a:rPr>
              <a:t>args</a:t>
            </a:r>
            <a:r>
              <a:rPr lang="en-US" b="0" dirty="0">
                <a:solidFill>
                  <a:srgbClr val="383A42"/>
                </a:solidFill>
                <a:effectLst/>
                <a:latin typeface="Menlo"/>
              </a:rPr>
              <a:t>)</a:t>
            </a: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B76B01"/>
                </a:solidFill>
                <a:effectLst/>
                <a:latin typeface="Menlo"/>
              </a:rPr>
              <a:t>Calculator</a:t>
            </a:r>
            <a:r>
              <a:rPr lang="en-US" b="0" dirty="0">
                <a:solidFill>
                  <a:srgbClr val="0F1115"/>
                </a:solidFill>
                <a:effectLst/>
                <a:latin typeface="Menlo"/>
              </a:rPr>
              <a:t> calc </a:t>
            </a:r>
            <a:r>
              <a:rPr lang="en-US" b="0" dirty="0">
                <a:solidFill>
                  <a:srgbClr val="4078F2"/>
                </a:solidFill>
                <a:effectLst/>
                <a:latin typeface="Menlo"/>
              </a:rPr>
              <a:t>=</a:t>
            </a:r>
            <a:r>
              <a:rPr lang="en-US" b="0" dirty="0">
                <a:solidFill>
                  <a:srgbClr val="0F1115"/>
                </a:solidFill>
                <a:effectLst/>
                <a:latin typeface="Menlo"/>
              </a:rPr>
              <a:t> </a:t>
            </a:r>
            <a:r>
              <a:rPr lang="en-US" b="0" dirty="0">
                <a:solidFill>
                  <a:srgbClr val="A626A4"/>
                </a:solidFill>
                <a:effectLst/>
                <a:latin typeface="Menlo"/>
              </a:rPr>
              <a:t>new</a:t>
            </a:r>
            <a:r>
              <a:rPr lang="en-US" b="0" dirty="0">
                <a:solidFill>
                  <a:srgbClr val="0F1115"/>
                </a:solidFill>
                <a:effectLst/>
                <a:latin typeface="Menlo"/>
              </a:rPr>
              <a:t> </a:t>
            </a:r>
            <a:r>
              <a:rPr lang="en-US" b="0" dirty="0">
                <a:solidFill>
                  <a:srgbClr val="B76B01"/>
                </a:solidFill>
                <a:effectLst/>
                <a:latin typeface="Menlo"/>
              </a:rPr>
              <a:t>Calculator</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err="1">
                <a:solidFill>
                  <a:srgbClr val="B76B01"/>
                </a:solidFill>
                <a:effectLst/>
                <a:latin typeface="Menlo"/>
              </a:rPr>
              <a:t>System</a:t>
            </a:r>
            <a:r>
              <a:rPr lang="en-US" b="0" dirty="0" err="1">
                <a:solidFill>
                  <a:srgbClr val="383A42"/>
                </a:solidFill>
                <a:effectLst/>
                <a:latin typeface="Menlo"/>
              </a:rPr>
              <a:t>.</a:t>
            </a:r>
            <a:r>
              <a:rPr lang="en-US" b="0" dirty="0" err="1">
                <a:solidFill>
                  <a:srgbClr val="0F1115"/>
                </a:solidFill>
                <a:effectLst/>
                <a:latin typeface="Menlo"/>
              </a:rPr>
              <a:t>out</a:t>
            </a:r>
            <a:r>
              <a:rPr lang="en-US" b="0" dirty="0" err="1">
                <a:solidFill>
                  <a:srgbClr val="383A42"/>
                </a:solidFill>
                <a:effectLst/>
                <a:latin typeface="Menlo"/>
              </a:rPr>
              <a:t>.</a:t>
            </a:r>
            <a:r>
              <a:rPr lang="en-US" b="0" dirty="0" err="1">
                <a:solidFill>
                  <a:srgbClr val="4078F2"/>
                </a:solidFill>
                <a:effectLst/>
                <a:latin typeface="Menlo"/>
              </a:rPr>
              <a:t>println</a:t>
            </a:r>
            <a:r>
              <a:rPr lang="en-US" b="0" dirty="0">
                <a:solidFill>
                  <a:srgbClr val="383A42"/>
                </a:solidFill>
                <a:effectLst/>
                <a:latin typeface="Menlo"/>
              </a:rPr>
              <a:t>(</a:t>
            </a:r>
            <a:r>
              <a:rPr lang="en-US" b="0" dirty="0">
                <a:solidFill>
                  <a:srgbClr val="50A14F"/>
                </a:solidFill>
                <a:effectLst/>
                <a:latin typeface="Menlo"/>
              </a:rPr>
              <a:t>"Area: "</a:t>
            </a:r>
            <a:r>
              <a:rPr lang="en-US" b="0" dirty="0">
                <a:solidFill>
                  <a:srgbClr val="0F1115"/>
                </a:solidFill>
                <a:effectLst/>
                <a:latin typeface="Menlo"/>
              </a:rPr>
              <a:t> </a:t>
            </a:r>
            <a:r>
              <a:rPr lang="en-US" b="0" dirty="0">
                <a:solidFill>
                  <a:srgbClr val="4078F2"/>
                </a:solidFill>
                <a:effectLst/>
                <a:latin typeface="Menlo"/>
              </a:rPr>
              <a:t>+</a:t>
            </a:r>
            <a:r>
              <a:rPr lang="en-US" b="0" dirty="0">
                <a:solidFill>
                  <a:srgbClr val="0F1115"/>
                </a:solidFill>
                <a:effectLst/>
                <a:latin typeface="Menlo"/>
              </a:rPr>
              <a:t> </a:t>
            </a:r>
            <a:r>
              <a:rPr lang="en-US" b="0" dirty="0" err="1">
                <a:solidFill>
                  <a:srgbClr val="0F1115"/>
                </a:solidFill>
                <a:effectLst/>
                <a:latin typeface="Menlo"/>
              </a:rPr>
              <a:t>calc</a:t>
            </a:r>
            <a:r>
              <a:rPr lang="en-US" b="0" dirty="0" err="1">
                <a:solidFill>
                  <a:srgbClr val="383A42"/>
                </a:solidFill>
                <a:effectLst/>
                <a:latin typeface="Menlo"/>
              </a:rPr>
              <a:t>.</a:t>
            </a:r>
            <a:r>
              <a:rPr lang="en-US" b="0" dirty="0" err="1">
                <a:solidFill>
                  <a:srgbClr val="4078F2"/>
                </a:solidFill>
                <a:effectLst/>
                <a:latin typeface="Menlo"/>
              </a:rPr>
              <a:t>calculateArea</a:t>
            </a:r>
            <a:r>
              <a:rPr lang="en-US" b="0" dirty="0">
                <a:solidFill>
                  <a:srgbClr val="383A42"/>
                </a:solidFill>
                <a:effectLst/>
                <a:latin typeface="Menlo"/>
              </a:rPr>
              <a:t>(</a:t>
            </a:r>
            <a:r>
              <a:rPr lang="en-US" b="0" dirty="0">
                <a:solidFill>
                  <a:srgbClr val="B76B01"/>
                </a:solidFill>
                <a:effectLst/>
                <a:latin typeface="Menlo"/>
              </a:rPr>
              <a:t>5</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err="1">
                <a:solidFill>
                  <a:srgbClr val="B76B01"/>
                </a:solidFill>
                <a:effectLst/>
                <a:latin typeface="Menlo"/>
              </a:rPr>
              <a:t>System</a:t>
            </a:r>
            <a:r>
              <a:rPr lang="en-US" b="0" dirty="0" err="1">
                <a:solidFill>
                  <a:srgbClr val="383A42"/>
                </a:solidFill>
                <a:effectLst/>
                <a:latin typeface="Menlo"/>
              </a:rPr>
              <a:t>.</a:t>
            </a:r>
            <a:r>
              <a:rPr lang="en-US" b="0" dirty="0" err="1">
                <a:solidFill>
                  <a:srgbClr val="0F1115"/>
                </a:solidFill>
                <a:effectLst/>
                <a:latin typeface="Menlo"/>
              </a:rPr>
              <a:t>out</a:t>
            </a:r>
            <a:r>
              <a:rPr lang="en-US" b="0" dirty="0" err="1">
                <a:solidFill>
                  <a:srgbClr val="383A42"/>
                </a:solidFill>
                <a:effectLst/>
                <a:latin typeface="Menlo"/>
              </a:rPr>
              <a:t>.</a:t>
            </a:r>
            <a:r>
              <a:rPr lang="en-US" b="0" dirty="0" err="1">
                <a:solidFill>
                  <a:srgbClr val="4078F2"/>
                </a:solidFill>
                <a:effectLst/>
                <a:latin typeface="Menlo"/>
              </a:rPr>
              <a:t>println</a:t>
            </a:r>
            <a:r>
              <a:rPr lang="en-US" b="0" dirty="0">
                <a:solidFill>
                  <a:srgbClr val="383A42"/>
                </a:solidFill>
                <a:effectLst/>
                <a:latin typeface="Menlo"/>
              </a:rPr>
              <a:t>(</a:t>
            </a:r>
            <a:r>
              <a:rPr lang="en-US" b="0" dirty="0">
                <a:solidFill>
                  <a:srgbClr val="50A14F"/>
                </a:solidFill>
                <a:effectLst/>
                <a:latin typeface="Menlo"/>
              </a:rPr>
              <a:t>"App: "</a:t>
            </a:r>
            <a:r>
              <a:rPr lang="en-US" b="0" dirty="0">
                <a:solidFill>
                  <a:srgbClr val="0F1115"/>
                </a:solidFill>
                <a:effectLst/>
                <a:latin typeface="Menlo"/>
              </a:rPr>
              <a:t> </a:t>
            </a:r>
            <a:r>
              <a:rPr lang="en-US" b="0" dirty="0">
                <a:solidFill>
                  <a:srgbClr val="4078F2"/>
                </a:solidFill>
                <a:effectLst/>
                <a:latin typeface="Menlo"/>
              </a:rPr>
              <a:t>+</a:t>
            </a:r>
            <a:r>
              <a:rPr lang="en-US" b="0" dirty="0">
                <a:solidFill>
                  <a:srgbClr val="0F1115"/>
                </a:solidFill>
                <a:effectLst/>
                <a:latin typeface="Menlo"/>
              </a:rPr>
              <a:t> </a:t>
            </a:r>
            <a:r>
              <a:rPr lang="en-US" b="0" dirty="0" err="1">
                <a:solidFill>
                  <a:srgbClr val="B76B01"/>
                </a:solidFill>
                <a:effectLst/>
                <a:latin typeface="Menlo"/>
              </a:rPr>
              <a:t>Constants</a:t>
            </a:r>
            <a:r>
              <a:rPr lang="en-US" b="0" dirty="0" err="1">
                <a:solidFill>
                  <a:srgbClr val="383A42"/>
                </a:solidFill>
                <a:effectLst/>
                <a:latin typeface="Menlo"/>
              </a:rPr>
              <a:t>.</a:t>
            </a:r>
            <a:r>
              <a:rPr lang="en-US" b="0" dirty="0" err="1">
                <a:solidFill>
                  <a:srgbClr val="B76B01"/>
                </a:solidFill>
                <a:effectLst/>
                <a:latin typeface="Menlo"/>
              </a:rPr>
              <a:t>APP_NAME</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0F1115"/>
                </a:solidFill>
                <a:effectLst/>
                <a:latin typeface="Menlo"/>
              </a:rPr>
              <a:t>    </a:t>
            </a:r>
            <a:r>
              <a:rPr lang="en-US" b="0" dirty="0">
                <a:solidFill>
                  <a:srgbClr val="383A42"/>
                </a:solidFill>
                <a:effectLst/>
                <a:latin typeface="Menlo"/>
              </a:rPr>
              <a:t>}</a:t>
            </a:r>
            <a:endParaRPr lang="en-US" b="0" dirty="0">
              <a:solidFill>
                <a:srgbClr val="0F1115"/>
              </a:solidFill>
              <a:effectLst/>
              <a:latin typeface="Menlo"/>
            </a:endParaRPr>
          </a:p>
          <a:p>
            <a:pPr algn="l" latinLnBrk="1">
              <a:lnSpc>
                <a:spcPts val="1650"/>
              </a:lnSpc>
              <a:buNone/>
            </a:pPr>
            <a:r>
              <a:rPr lang="en-US" b="0" dirty="0">
                <a:solidFill>
                  <a:srgbClr val="383A42"/>
                </a:solidFill>
                <a:effectLst/>
                <a:latin typeface="Menlo"/>
              </a:rPr>
              <a:t>}</a:t>
            </a:r>
            <a:endParaRPr lang="en-US" b="0" dirty="0">
              <a:solidFill>
                <a:srgbClr val="0F1115"/>
              </a:solidFill>
              <a:effectLst/>
              <a:latin typeface="Menlo"/>
            </a:endParaRPr>
          </a:p>
        </p:txBody>
      </p:sp>
      <p:sp>
        <p:nvSpPr>
          <p:cNvPr id="9" name="TextBox 8">
            <a:extLst>
              <a:ext uri="{FF2B5EF4-FFF2-40B4-BE49-F238E27FC236}">
                <a16:creationId xmlns:a16="http://schemas.microsoft.com/office/drawing/2014/main" id="{D0A53C43-4D8D-384A-44E9-8505101BE2D5}"/>
              </a:ext>
            </a:extLst>
          </p:cNvPr>
          <p:cNvSpPr txBox="1"/>
          <p:nvPr/>
        </p:nvSpPr>
        <p:spPr>
          <a:xfrm>
            <a:off x="5330190" y="869761"/>
            <a:ext cx="4213860" cy="4060086"/>
          </a:xfrm>
          <a:prstGeom prst="rect">
            <a:avLst/>
          </a:prstGeom>
          <a:noFill/>
          <a:ln>
            <a:solidFill>
              <a:schemeClr val="tx1"/>
            </a:solidFill>
          </a:ln>
        </p:spPr>
        <p:txBody>
          <a:bodyPr wrap="square">
            <a:spAutoFit/>
          </a:bodyPr>
          <a:lstStyle/>
          <a:p>
            <a:pPr algn="l">
              <a:lnSpc>
                <a:spcPts val="2250"/>
              </a:lnSpc>
              <a:spcBef>
                <a:spcPts val="2400"/>
              </a:spcBef>
              <a:spcAft>
                <a:spcPts val="1200"/>
              </a:spcAft>
              <a:buNone/>
            </a:pPr>
            <a:r>
              <a:rPr lang="en-US" b="1" dirty="0">
                <a:solidFill>
                  <a:srgbClr val="0F1115"/>
                </a:solidFill>
                <a:effectLst/>
                <a:latin typeface="quote-cjk-patch"/>
              </a:rPr>
              <a:t>Key Points to Remember:</a:t>
            </a:r>
          </a:p>
          <a:p>
            <a:pPr algn="l">
              <a:spcBef>
                <a:spcPts val="1200"/>
              </a:spcBef>
              <a:spcAft>
                <a:spcPts val="1200"/>
              </a:spcAft>
              <a:buFont typeface="Arial" panose="020B0604020202020204" pitchFamily="34" charset="0"/>
              <a:buChar char="•"/>
            </a:pPr>
            <a:r>
              <a:rPr lang="en-US" b="1" i="0" dirty="0">
                <a:solidFill>
                  <a:srgbClr val="0F1115"/>
                </a:solidFill>
                <a:effectLst/>
                <a:latin typeface="quote-cjk-patch"/>
              </a:rPr>
              <a:t>Final variable</a:t>
            </a:r>
            <a:r>
              <a:rPr lang="en-US" b="0" i="0" dirty="0">
                <a:solidFill>
                  <a:srgbClr val="0F1115"/>
                </a:solidFill>
                <a:effectLst/>
                <a:latin typeface="quote-cjk-patch"/>
              </a:rPr>
              <a:t>: Cannot be reassigned (for primitives) or re-pointed (for references)</a:t>
            </a:r>
          </a:p>
          <a:p>
            <a:pPr algn="l">
              <a:spcBef>
                <a:spcPts val="450"/>
              </a:spcBef>
              <a:spcAft>
                <a:spcPts val="1200"/>
              </a:spcAft>
              <a:buFont typeface="Arial" panose="020B0604020202020204" pitchFamily="34" charset="0"/>
              <a:buChar char="•"/>
            </a:pPr>
            <a:r>
              <a:rPr lang="en-US" b="1" i="0" dirty="0">
                <a:solidFill>
                  <a:srgbClr val="0F1115"/>
                </a:solidFill>
                <a:effectLst/>
                <a:latin typeface="quote-cjk-patch"/>
              </a:rPr>
              <a:t>Final method</a:t>
            </a:r>
            <a:r>
              <a:rPr lang="en-US" b="0" i="0" dirty="0">
                <a:solidFill>
                  <a:srgbClr val="0F1115"/>
                </a:solidFill>
                <a:effectLst/>
                <a:latin typeface="quote-cjk-patch"/>
              </a:rPr>
              <a:t>: Cannot be overridden by subclasses</a:t>
            </a:r>
          </a:p>
          <a:p>
            <a:pPr algn="l">
              <a:spcBef>
                <a:spcPts val="450"/>
              </a:spcBef>
              <a:spcAft>
                <a:spcPts val="1200"/>
              </a:spcAft>
              <a:buFont typeface="Arial" panose="020B0604020202020204" pitchFamily="34" charset="0"/>
              <a:buChar char="•"/>
            </a:pPr>
            <a:r>
              <a:rPr lang="en-US" b="1" i="0" dirty="0">
                <a:solidFill>
                  <a:srgbClr val="0F1115"/>
                </a:solidFill>
                <a:effectLst/>
                <a:latin typeface="quote-cjk-patch"/>
              </a:rPr>
              <a:t>Final class</a:t>
            </a:r>
            <a:r>
              <a:rPr lang="en-US" b="0" i="0" dirty="0">
                <a:solidFill>
                  <a:srgbClr val="0F1115"/>
                </a:solidFill>
                <a:effectLst/>
                <a:latin typeface="quote-cjk-patch"/>
              </a:rPr>
              <a:t>: Cannot be extended</a:t>
            </a:r>
          </a:p>
          <a:p>
            <a:pPr algn="l">
              <a:spcBef>
                <a:spcPts val="450"/>
              </a:spcBef>
              <a:spcAft>
                <a:spcPts val="1200"/>
              </a:spcAft>
              <a:buFont typeface="Arial" panose="020B0604020202020204" pitchFamily="34" charset="0"/>
              <a:buChar char="•"/>
            </a:pPr>
            <a:r>
              <a:rPr lang="en-US" b="1" i="0" dirty="0">
                <a:solidFill>
                  <a:srgbClr val="0F1115"/>
                </a:solidFill>
                <a:effectLst/>
                <a:latin typeface="quote-cjk-patch"/>
              </a:rPr>
              <a:t>Final parameters</a:t>
            </a:r>
            <a:r>
              <a:rPr lang="en-US" b="0" i="0" dirty="0">
                <a:solidFill>
                  <a:srgbClr val="0F1115"/>
                </a:solidFill>
                <a:effectLst/>
                <a:latin typeface="quote-cjk-patch"/>
              </a:rPr>
              <a:t>: Cannot be modified inside the method</a:t>
            </a:r>
          </a:p>
          <a:p>
            <a:pPr algn="l">
              <a:spcBef>
                <a:spcPts val="450"/>
              </a:spcBef>
              <a:spcAft>
                <a:spcPts val="1200"/>
              </a:spcAft>
              <a:buFont typeface="Arial" panose="020B0604020202020204" pitchFamily="34" charset="0"/>
              <a:buChar char="•"/>
            </a:pPr>
            <a:r>
              <a:rPr lang="en-US" b="1" i="0" dirty="0">
                <a:solidFill>
                  <a:srgbClr val="0F1115"/>
                </a:solidFill>
                <a:effectLst/>
                <a:latin typeface="quote-cjk-patch"/>
              </a:rPr>
              <a:t>Static final</a:t>
            </a:r>
            <a:r>
              <a:rPr lang="en-US" b="0" i="0" dirty="0">
                <a:solidFill>
                  <a:srgbClr val="0F1115"/>
                </a:solidFill>
                <a:effectLst/>
                <a:latin typeface="quote-cjk-patch"/>
              </a:rPr>
              <a:t>: Creates true constants at class level</a:t>
            </a:r>
          </a:p>
        </p:txBody>
      </p:sp>
    </p:spTree>
    <p:extLst>
      <p:ext uri="{BB962C8B-B14F-4D97-AF65-F5344CB8AC3E}">
        <p14:creationId xmlns:p14="http://schemas.microsoft.com/office/powerpoint/2010/main" val="5415246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0A607-E215-521E-D689-5F67C67FB19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0848D7-B37C-E442-633F-53C7D99A6563}"/>
              </a:ext>
            </a:extLst>
          </p:cNvPr>
          <p:cNvSpPr txBox="1"/>
          <p:nvPr/>
        </p:nvSpPr>
        <p:spPr>
          <a:xfrm>
            <a:off x="171450" y="317359"/>
            <a:ext cx="9505950" cy="34522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Explain the use of the ‘super’ keyword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Super</a:t>
            </a:r>
            <a:r>
              <a:rPr lang="en-US" b="0" i="0" dirty="0">
                <a:solidFill>
                  <a:srgbClr val="3A3A3A"/>
                </a:solidFill>
                <a:effectLst/>
                <a:latin typeface="Roboto" panose="02000000000000000000" pitchFamily="2" charset="0"/>
              </a:rPr>
              <a:t> is used in the Java programming language to refer to the superclass of the current object. It can also be used as a bridge between superclass methods/constructors and subclass methods/constructors. For instance, </a:t>
            </a:r>
            <a:r>
              <a:rPr lang="en-US" b="0" i="0" dirty="0" err="1">
                <a:solidFill>
                  <a:srgbClr val="3A3A3A"/>
                </a:solidFill>
                <a:effectLst/>
                <a:latin typeface="Roboto" panose="02000000000000000000" pitchFamily="2" charset="0"/>
              </a:rPr>
              <a:t>super.methodName</a:t>
            </a:r>
            <a:r>
              <a:rPr lang="en-US" b="0" i="0" dirty="0">
                <a:solidFill>
                  <a:srgbClr val="3A3A3A"/>
                </a:solidFill>
                <a:effectLst/>
                <a:latin typeface="Roboto" panose="02000000000000000000" pitchFamily="2" charset="0"/>
              </a:rPr>
              <a:t>() invokes the method defined by the superclass.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spTree>
    <p:extLst>
      <p:ext uri="{BB962C8B-B14F-4D97-AF65-F5344CB8AC3E}">
        <p14:creationId xmlns:p14="http://schemas.microsoft.com/office/powerpoint/2010/main" val="3350882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E8F72C-8BD2-361D-2B06-C93CC9BEF62A}"/>
              </a:ext>
            </a:extLst>
          </p:cNvPr>
          <p:cNvSpPr txBox="1"/>
          <p:nvPr/>
        </p:nvSpPr>
        <p:spPr>
          <a:xfrm>
            <a:off x="511792" y="291274"/>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graphicFrame>
        <p:nvGraphicFramePr>
          <p:cNvPr id="4" name="Table 3">
            <a:extLst>
              <a:ext uri="{FF2B5EF4-FFF2-40B4-BE49-F238E27FC236}">
                <a16:creationId xmlns:a16="http://schemas.microsoft.com/office/drawing/2014/main" id="{042611AF-F051-E8AF-491C-91F000191A90}"/>
              </a:ext>
            </a:extLst>
          </p:cNvPr>
          <p:cNvGraphicFramePr>
            <a:graphicFrameLocks noGrp="1"/>
          </p:cNvGraphicFramePr>
          <p:nvPr/>
        </p:nvGraphicFramePr>
        <p:xfrm>
          <a:off x="681038" y="2721134"/>
          <a:ext cx="8543924" cy="2560320"/>
        </p:xfrm>
        <a:graphic>
          <a:graphicData uri="http://schemas.openxmlformats.org/drawingml/2006/table">
            <a:tbl>
              <a:tblPr/>
              <a:tblGrid>
                <a:gridCol w="4271962">
                  <a:extLst>
                    <a:ext uri="{9D8B030D-6E8A-4147-A177-3AD203B41FA5}">
                      <a16:colId xmlns:a16="http://schemas.microsoft.com/office/drawing/2014/main" val="1661619601"/>
                    </a:ext>
                  </a:extLst>
                </a:gridCol>
                <a:gridCol w="4271962">
                  <a:extLst>
                    <a:ext uri="{9D8B030D-6E8A-4147-A177-3AD203B41FA5}">
                      <a16:colId xmlns:a16="http://schemas.microsoft.com/office/drawing/2014/main" val="213516415"/>
                    </a:ext>
                  </a:extLst>
                </a:gridCol>
              </a:tblGrid>
              <a:tr h="365760">
                <a:tc>
                  <a:txBody>
                    <a:bodyPr/>
                    <a:lstStyle/>
                    <a:p>
                      <a:pPr algn="ctr" fontAlgn="t">
                        <a:buNone/>
                      </a:pPr>
                      <a:r>
                        <a:rPr lang="en-US" sz="1800" b="0">
                          <a:solidFill>
                            <a:srgbClr val="FFFFFF"/>
                          </a:solidFill>
                          <a:effectLst/>
                        </a:rPr>
                        <a:t>Object-oriented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Object-based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963717072"/>
                  </a:ext>
                </a:extLst>
              </a:tr>
              <a:tr h="914400">
                <a:tc>
                  <a:txBody>
                    <a:bodyPr/>
                    <a:lstStyle/>
                    <a:p>
                      <a:pPr fontAlgn="t">
                        <a:buNone/>
                      </a:pPr>
                      <a:r>
                        <a:rPr lang="en-US" sz="1800">
                          <a:effectLst/>
                        </a:rPr>
                        <a:t>Object-oriented programming languages support all the features of OOPs, including polymorphism and inheritance.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Object-based programming language does not support inheritance or polymorphism.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89855479"/>
                  </a:ext>
                </a:extLst>
              </a:tr>
              <a:tr h="640080">
                <a:tc>
                  <a:txBody>
                    <a:bodyPr/>
                    <a:lstStyle/>
                    <a:p>
                      <a:pPr fontAlgn="t">
                        <a:buNone/>
                      </a:pPr>
                      <a:r>
                        <a:rPr lang="en-US" sz="1800">
                          <a:effectLst/>
                        </a:rPr>
                        <a:t>Doesn’t support built-in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Support built-in objects like JavaScript has the window object.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5531628"/>
                  </a:ext>
                </a:extLst>
              </a:tr>
              <a:tr h="640080">
                <a:tc>
                  <a:txBody>
                    <a:bodyPr/>
                    <a:lstStyle/>
                    <a:p>
                      <a:pPr fontAlgn="t">
                        <a:buNone/>
                      </a:pPr>
                      <a:r>
                        <a:rPr lang="fr-FR" sz="1800">
                          <a:effectLst/>
                        </a:rPr>
                        <a:t>Example: C#, C++, Java, Python,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JavaScript and Visual Basic are examples of object-based programming languages.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20559602"/>
                  </a:ext>
                </a:extLst>
              </a:tr>
            </a:tbl>
          </a:graphicData>
        </a:graphic>
      </p:graphicFrame>
    </p:spTree>
    <p:extLst>
      <p:ext uri="{BB962C8B-B14F-4D97-AF65-F5344CB8AC3E}">
        <p14:creationId xmlns:p14="http://schemas.microsoft.com/office/powerpoint/2010/main" val="248224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4949A-15DB-3BC5-F9C6-3B5E5613DA01}"/>
              </a:ext>
            </a:extLst>
          </p:cNvPr>
          <p:cNvSpPr txBox="1"/>
          <p:nvPr/>
        </p:nvSpPr>
        <p:spPr>
          <a:xfrm>
            <a:off x="368490" y="366814"/>
            <a:ext cx="9157647"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data encapsulation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Encapsulation in Java</a:t>
            </a:r>
            <a:r>
              <a:rPr lang="en-US" b="0" i="0" dirty="0">
                <a:solidFill>
                  <a:srgbClr val="3A3A3A"/>
                </a:solidFill>
                <a:effectLst/>
                <a:latin typeface="Roboto" panose="02000000000000000000" pitchFamily="2" charset="0"/>
              </a:rPr>
              <a:t> is the process of bundling data and methods within a class while restricting direct access to the class’s internal state. The reason behind this approach is to ensure data integrity and promote abstraction by exposing only essential details of the class’s behavior through public methods.</a:t>
            </a:r>
          </a:p>
        </p:txBody>
      </p:sp>
      <p:sp>
        <p:nvSpPr>
          <p:cNvPr id="5" name="TextBox 4">
            <a:extLst>
              <a:ext uri="{FF2B5EF4-FFF2-40B4-BE49-F238E27FC236}">
                <a16:creationId xmlns:a16="http://schemas.microsoft.com/office/drawing/2014/main" id="{84882A3B-134C-847B-DC9F-1BEC3EEE2236}"/>
              </a:ext>
            </a:extLst>
          </p:cNvPr>
          <p:cNvSpPr txBox="1"/>
          <p:nvPr/>
        </p:nvSpPr>
        <p:spPr>
          <a:xfrm>
            <a:off x="368490" y="2487526"/>
            <a:ext cx="7051342" cy="40036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is a constructor in Java? Explain the different types.</a:t>
            </a:r>
          </a:p>
          <a:p>
            <a:pPr algn="just">
              <a:lnSpc>
                <a:spcPts val="2100"/>
              </a:lnSpc>
              <a:spcBef>
                <a:spcPts val="1650"/>
              </a:spcBef>
              <a:buNone/>
            </a:pPr>
            <a:r>
              <a:rPr lang="en-US" b="0" i="0" dirty="0">
                <a:solidFill>
                  <a:srgbClr val="3A3A3A"/>
                </a:solidFill>
                <a:effectLst/>
                <a:latin typeface="Roboto" panose="02000000000000000000" pitchFamily="2" charset="0"/>
              </a:rPr>
              <a:t>In Java, a constructor is a special type of method used to initialize objects. Constructors are automatically called when an object of a class is created. They must have the same name as the class and do not have any return type, not even void – unlike regular methods.</a:t>
            </a:r>
          </a:p>
          <a:p>
            <a:pPr algn="just">
              <a:lnSpc>
                <a:spcPts val="2100"/>
              </a:lnSpc>
              <a:spcBef>
                <a:spcPts val="750"/>
              </a:spcBef>
              <a:buNone/>
            </a:pPr>
            <a:r>
              <a:rPr lang="en-US" b="0" i="0" dirty="0">
                <a:solidFill>
                  <a:srgbClr val="3A3A3A"/>
                </a:solidFill>
                <a:effectLst/>
                <a:latin typeface="Roboto" panose="02000000000000000000" pitchFamily="2" charset="0"/>
              </a:rPr>
              <a:t>There are two types of constructors in the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Parameterized Constructor: A constructor that accepts arguments or parameters is known as the parameterized constructor. It initializes the instance variables and the values passed while creating an object.</a:t>
            </a:r>
          </a:p>
          <a:p>
            <a:pPr algn="just">
              <a:lnSpc>
                <a:spcPts val="2100"/>
              </a:lnSpc>
              <a:spcBef>
                <a:spcPts val="1650"/>
              </a:spcBef>
              <a:buNone/>
            </a:pPr>
            <a:r>
              <a:rPr lang="en-US" b="0" i="0" dirty="0">
                <a:solidFill>
                  <a:srgbClr val="3A3A3A"/>
                </a:solidFill>
                <a:effectLst/>
                <a:latin typeface="Roboto" panose="02000000000000000000" pitchFamily="2" charset="0"/>
              </a:rPr>
              <a:t>Below is an example of the parameterized constructor:</a:t>
            </a:r>
          </a:p>
        </p:txBody>
      </p:sp>
    </p:spTree>
    <p:extLst>
      <p:ext uri="{BB962C8B-B14F-4D97-AF65-F5344CB8AC3E}">
        <p14:creationId xmlns:p14="http://schemas.microsoft.com/office/powerpoint/2010/main" val="39824342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AB4D68-D87A-B31B-259F-6610171A7A36}"/>
              </a:ext>
            </a:extLst>
          </p:cNvPr>
          <p:cNvSpPr txBox="1"/>
          <p:nvPr/>
        </p:nvSpPr>
        <p:spPr>
          <a:xfrm>
            <a:off x="2477069" y="-353239"/>
            <a:ext cx="4954136" cy="7571303"/>
          </a:xfrm>
          <a:prstGeom prst="rect">
            <a:avLst/>
          </a:prstGeom>
          <a:noFill/>
        </p:spPr>
        <p:txBody>
          <a:bodyPr wrap="square">
            <a:spAutoFit/>
          </a:bodyPr>
          <a:lstStyle/>
          <a:p>
            <a:r>
              <a:rPr lang="en-US" dirty="0"/>
              <a:t>public class </a:t>
            </a:r>
            <a:r>
              <a:rPr lang="en-US" dirty="0" err="1"/>
              <a:t>ParameterizedConstructorDemo</a:t>
            </a:r>
            <a:r>
              <a:rPr lang="en-US" dirty="0"/>
              <a:t> {</a:t>
            </a:r>
          </a:p>
          <a:p>
            <a:r>
              <a:rPr lang="en-US" dirty="0"/>
              <a:t>    public static void main(String[] </a:t>
            </a:r>
            <a:r>
              <a:rPr lang="en-US" dirty="0" err="1"/>
              <a:t>args</a:t>
            </a:r>
            <a:r>
              <a:rPr lang="en-US" dirty="0"/>
              <a:t>) {</a:t>
            </a:r>
          </a:p>
          <a:p>
            <a:r>
              <a:rPr lang="en-US" dirty="0"/>
              <a:t>        A obj = new A(10, "Harry Williams"); // Calls parameterized constructor</a:t>
            </a:r>
          </a:p>
          <a:p>
            <a:r>
              <a:rPr lang="en-US" dirty="0"/>
              <a:t>        </a:t>
            </a:r>
            <a:r>
              <a:rPr lang="en-US" dirty="0" err="1"/>
              <a:t>System.out.println</a:t>
            </a:r>
            <a:r>
              <a:rPr lang="en-US" dirty="0"/>
              <a:t>("The value of instance variables:");</a:t>
            </a:r>
          </a:p>
          <a:p>
            <a:r>
              <a:rPr lang="en-US" dirty="0"/>
              <a:t>        </a:t>
            </a:r>
            <a:r>
              <a:rPr lang="en-US" dirty="0" err="1"/>
              <a:t>System.out.println</a:t>
            </a:r>
            <a:r>
              <a:rPr lang="en-US" dirty="0"/>
              <a:t>("Name: " + obj.name);</a:t>
            </a:r>
          </a:p>
          <a:p>
            <a:r>
              <a:rPr lang="en-US" dirty="0"/>
              <a:t>        </a:t>
            </a:r>
            <a:r>
              <a:rPr lang="en-US" dirty="0" err="1"/>
              <a:t>System.out.println</a:t>
            </a:r>
            <a:r>
              <a:rPr lang="en-US" dirty="0"/>
              <a:t>("Roll No: " + </a:t>
            </a:r>
            <a:r>
              <a:rPr lang="en-US" dirty="0" err="1"/>
              <a:t>obj.roll_no</a:t>
            </a:r>
            <a:r>
              <a:rPr lang="en-US" dirty="0"/>
              <a:t>);</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Parameterized Constructor</a:t>
            </a:r>
          </a:p>
          <a:p>
            <a:r>
              <a:rPr lang="en-US" dirty="0"/>
              <a:t>    A(int x, String y) {</a:t>
            </a:r>
          </a:p>
          <a:p>
            <a:r>
              <a:rPr lang="en-US" dirty="0"/>
              <a:t>        </a:t>
            </a:r>
            <a:r>
              <a:rPr lang="en-US" dirty="0" err="1"/>
              <a:t>this.roll_no</a:t>
            </a:r>
            <a:r>
              <a:rPr lang="en-US" dirty="0"/>
              <a:t> = x;</a:t>
            </a:r>
          </a:p>
          <a:p>
            <a:r>
              <a:rPr lang="en-US" dirty="0"/>
              <a:t>        this.name = y;</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114950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7A28E59-16D4-CC65-F001-A7CADC45FD47}"/>
              </a:ext>
            </a:extLst>
          </p:cNvPr>
          <p:cNvSpPr txBox="1"/>
          <p:nvPr/>
        </p:nvSpPr>
        <p:spPr>
          <a:xfrm>
            <a:off x="0" y="184452"/>
            <a:ext cx="3971499" cy="3349635"/>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a:solidFill>
                  <a:srgbClr val="3A3A3A"/>
                </a:solidFill>
                <a:effectLst/>
                <a:latin typeface="Roboto" panose="02000000000000000000" pitchFamily="2" charset="0"/>
              </a:rPr>
              <a:t>Non-parameterized/Default constructor: The constructors with no parameters or arguments are known and non-parameterized constructors. In case you don’t define a constructor of any type, the compiler itself creates a default constructor which will be called when the object is created.</a:t>
            </a:r>
          </a:p>
          <a:p>
            <a:pPr algn="just">
              <a:lnSpc>
                <a:spcPts val="2100"/>
              </a:lnSpc>
              <a:spcBef>
                <a:spcPts val="1650"/>
              </a:spcBef>
              <a:buNone/>
            </a:pPr>
            <a:r>
              <a:rPr lang="en-US" b="0" i="0">
                <a:solidFill>
                  <a:srgbClr val="3A3A3A"/>
                </a:solidFill>
                <a:effectLst/>
                <a:latin typeface="Roboto" panose="02000000000000000000" pitchFamily="2" charset="0"/>
              </a:rPr>
              <a:t>Below is an example of a non-parameterized constructor:</a:t>
            </a:r>
            <a:endParaRPr lang="en-US" b="0" i="0" dirty="0">
              <a:solidFill>
                <a:srgbClr val="3A3A3A"/>
              </a:solidFill>
              <a:effectLst/>
              <a:latin typeface="Roboto" panose="02000000000000000000" pitchFamily="2" charset="0"/>
            </a:endParaRPr>
          </a:p>
        </p:txBody>
      </p:sp>
      <p:sp>
        <p:nvSpPr>
          <p:cNvPr id="15" name="TextBox 14">
            <a:extLst>
              <a:ext uri="{FF2B5EF4-FFF2-40B4-BE49-F238E27FC236}">
                <a16:creationId xmlns:a16="http://schemas.microsoft.com/office/drawing/2014/main" id="{C9C0BFC9-F1E0-9A73-83F0-EE547F394284}"/>
              </a:ext>
            </a:extLst>
          </p:cNvPr>
          <p:cNvSpPr txBox="1"/>
          <p:nvPr/>
        </p:nvSpPr>
        <p:spPr>
          <a:xfrm>
            <a:off x="4483290" y="82777"/>
            <a:ext cx="4981432" cy="7571303"/>
          </a:xfrm>
          <a:prstGeom prst="rect">
            <a:avLst/>
          </a:prstGeom>
          <a:noFill/>
        </p:spPr>
        <p:txBody>
          <a:bodyPr wrap="square">
            <a:spAutoFit/>
          </a:bodyPr>
          <a:lstStyle/>
          <a:p>
            <a:r>
              <a:rPr lang="en-US" dirty="0"/>
              <a:t>public class </a:t>
            </a:r>
            <a:r>
              <a:rPr lang="en-US" dirty="0" err="1"/>
              <a:t>DefaultConstructorDemo</a:t>
            </a:r>
            <a:r>
              <a:rPr lang="en-US" dirty="0"/>
              <a:t> {</a:t>
            </a:r>
          </a:p>
          <a:p>
            <a:r>
              <a:rPr lang="en-US" dirty="0"/>
              <a:t>    public static void main(String[] </a:t>
            </a:r>
            <a:r>
              <a:rPr lang="en-US" dirty="0" err="1"/>
              <a:t>args</a:t>
            </a:r>
            <a:r>
              <a:rPr lang="en-US" dirty="0"/>
              <a:t>) {</a:t>
            </a:r>
          </a:p>
          <a:p>
            <a:r>
              <a:rPr lang="en-US" dirty="0"/>
              <a:t>        A obj = new A(); // Calls default constructor</a:t>
            </a:r>
          </a:p>
          <a:p>
            <a:r>
              <a:rPr lang="en-US" dirty="0"/>
              <a:t>        </a:t>
            </a:r>
            <a:r>
              <a:rPr lang="en-US" dirty="0" err="1"/>
              <a:t>obj.fun</a:t>
            </a:r>
            <a:r>
              <a:rPr lang="en-US" dirty="0"/>
              <a:t>();</a:t>
            </a:r>
          </a:p>
          <a:p>
            <a:r>
              <a:rPr lang="en-US" dirty="0"/>
              <a:t>        </a:t>
            </a:r>
            <a:r>
              <a:rPr lang="en-US" dirty="0" err="1"/>
              <a:t>System.out.println</a:t>
            </a:r>
            <a:r>
              <a:rPr lang="en-US" dirty="0"/>
              <a:t>("The value of instance variables are:");</a:t>
            </a:r>
          </a:p>
          <a:p>
            <a:r>
              <a:rPr lang="en-US" dirty="0"/>
              <a:t>        </a:t>
            </a:r>
            <a:r>
              <a:rPr lang="en-US" dirty="0" err="1"/>
              <a:t>System.out.println</a:t>
            </a:r>
            <a:r>
              <a:rPr lang="en-US" dirty="0"/>
              <a:t>("Name: " + obj.name); // null</a:t>
            </a:r>
          </a:p>
          <a:p>
            <a:r>
              <a:rPr lang="en-US" dirty="0"/>
              <a:t>        </a:t>
            </a:r>
            <a:r>
              <a:rPr lang="en-US" dirty="0" err="1"/>
              <a:t>System.out.println</a:t>
            </a:r>
            <a:r>
              <a:rPr lang="en-US" dirty="0"/>
              <a:t>("Roll No: " + </a:t>
            </a:r>
            <a:r>
              <a:rPr lang="en-US" dirty="0" err="1"/>
              <a:t>obj.roll_no</a:t>
            </a:r>
            <a:r>
              <a:rPr lang="en-US" dirty="0"/>
              <a:t>); // 0</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Default Constructor</a:t>
            </a:r>
          </a:p>
          <a:p>
            <a:r>
              <a:rPr lang="en-US" dirty="0"/>
              <a:t>    A() {</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966014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3E7134-8820-1C91-010B-A0D4E4477BDF}"/>
              </a:ext>
            </a:extLst>
          </p:cNvPr>
          <p:cNvSpPr txBox="1"/>
          <p:nvPr/>
        </p:nvSpPr>
        <p:spPr>
          <a:xfrm>
            <a:off x="2477069" y="157157"/>
            <a:ext cx="4954136" cy="65505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significance of (String[]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argument exists within the main() method, and this is the entry point of any Java program. The array of strings permits the program to take command-line arguments when the program is executed. Every argument that is passed via the command line is placed within the array as a String object.</a:t>
            </a:r>
          </a:p>
          <a:p>
            <a:pPr algn="just">
              <a:lnSpc>
                <a:spcPts val="2100"/>
              </a:lnSpc>
              <a:spcBef>
                <a:spcPts val="750"/>
              </a:spcBef>
              <a:buNone/>
            </a:pPr>
            <a:r>
              <a:rPr lang="en-US" b="0" i="0" dirty="0">
                <a:solidFill>
                  <a:srgbClr val="3A3A3A"/>
                </a:solidFill>
                <a:effectLst/>
                <a:latin typeface="Roboto" panose="02000000000000000000" pitchFamily="2" charset="0"/>
              </a:rPr>
              <a:t>For instance, when you execute a Java program like this:</a:t>
            </a:r>
          </a:p>
          <a:p>
            <a:pPr algn="l">
              <a:spcBef>
                <a:spcPts val="1125"/>
              </a:spcBef>
              <a:spcAft>
                <a:spcPts val="375"/>
              </a:spcAft>
              <a:buNone/>
            </a:pPr>
            <a:r>
              <a:rPr lang="en-US" b="0" i="0" dirty="0">
                <a:solidFill>
                  <a:srgbClr val="212529"/>
                </a:solidFill>
                <a:effectLst/>
                <a:latin typeface="Courier New" panose="02070309020205020404" pitchFamily="49" charset="0"/>
              </a:rPr>
              <a:t>java </a:t>
            </a:r>
            <a:r>
              <a:rPr lang="en-US" b="0" i="0" dirty="0" err="1">
                <a:solidFill>
                  <a:srgbClr val="212529"/>
                </a:solidFill>
                <a:effectLst/>
                <a:latin typeface="Courier New" panose="02070309020205020404" pitchFamily="49" charset="0"/>
              </a:rPr>
              <a:t>MyApp</a:t>
            </a:r>
            <a:r>
              <a:rPr lang="en-US" b="0" i="0" dirty="0">
                <a:solidFill>
                  <a:srgbClr val="212529"/>
                </a:solidFill>
                <a:effectLst/>
                <a:latin typeface="Courier New" panose="02070309020205020404" pitchFamily="49" charset="0"/>
              </a:rPr>
              <a:t> Hello World</a:t>
            </a:r>
          </a:p>
          <a:p>
            <a:pPr algn="just">
              <a:lnSpc>
                <a:spcPts val="2100"/>
              </a:lnSpc>
              <a:spcBef>
                <a:spcPts val="1650"/>
              </a:spcBef>
              <a:buNone/>
            </a:pPr>
            <a:r>
              <a:rPr lang="en-US" b="0" i="0" dirty="0">
                <a:solidFill>
                  <a:srgbClr val="3A3A3A"/>
                </a:solidFill>
                <a:effectLst/>
                <a:latin typeface="Roboto" panose="02000000000000000000" pitchFamily="2" charset="0"/>
              </a:rPr>
              <a:t>Then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[0] would be “Hello” and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[1] would be “World”.</a:t>
            </a:r>
          </a:p>
          <a:p>
            <a:pPr algn="just">
              <a:lnSpc>
                <a:spcPts val="2100"/>
              </a:lnSpc>
              <a:spcBef>
                <a:spcPts val="750"/>
              </a:spcBef>
              <a:buNone/>
            </a:pPr>
            <a:r>
              <a:rPr lang="en-US" b="0" i="0" dirty="0">
                <a:solidFill>
                  <a:srgbClr val="3A3A3A"/>
                </a:solidFill>
                <a:effectLst/>
                <a:latin typeface="Roboto" panose="02000000000000000000" pitchFamily="2" charset="0"/>
              </a:rPr>
              <a:t>This is very helpful in enterprise applications, batch jobs, or scripting where parameters have to be passed at runtime. So,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makes your program flexible and configurable without the need to hardcode values.</a:t>
            </a:r>
          </a:p>
        </p:txBody>
      </p:sp>
    </p:spTree>
    <p:extLst>
      <p:ext uri="{BB962C8B-B14F-4D97-AF65-F5344CB8AC3E}">
        <p14:creationId xmlns:p14="http://schemas.microsoft.com/office/powerpoint/2010/main" val="1894340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6648EB-5871-643D-458C-C0A73CB52BF6}"/>
              </a:ext>
            </a:extLst>
          </p:cNvPr>
          <p:cNvSpPr txBox="1"/>
          <p:nvPr/>
        </p:nvSpPr>
        <p:spPr>
          <a:xfrm>
            <a:off x="2477069" y="-1152176"/>
            <a:ext cx="4954136" cy="91691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 Method in Java?</a:t>
            </a:r>
          </a:p>
          <a:p>
            <a:pPr algn="just">
              <a:lnSpc>
                <a:spcPts val="2100"/>
              </a:lnSpc>
              <a:spcBef>
                <a:spcPts val="1650"/>
              </a:spcBef>
              <a:buNone/>
            </a:pPr>
            <a:r>
              <a:rPr lang="en-US" b="0" i="0" dirty="0">
                <a:solidFill>
                  <a:srgbClr val="3A3A3A"/>
                </a:solidFill>
                <a:effectLst/>
                <a:latin typeface="Roboto" panose="02000000000000000000" pitchFamily="2" charset="0"/>
              </a:rPr>
              <a:t>A method in Java is generally a block of code designed to perform a specific task and is executed only when called. These Java Methods help in writing modular, reusable, and maintainable code.</a:t>
            </a:r>
          </a:p>
          <a:p>
            <a:pPr algn="just">
              <a:lnSpc>
                <a:spcPts val="2100"/>
              </a:lnSpc>
              <a:spcBef>
                <a:spcPts val="750"/>
              </a:spcBef>
              <a:buNone/>
            </a:pPr>
            <a:r>
              <a:rPr lang="en-US" b="0" i="0" dirty="0">
                <a:solidFill>
                  <a:srgbClr val="3A3A3A"/>
                </a:solidFill>
                <a:effectLst/>
                <a:latin typeface="Roboto" panose="02000000000000000000" pitchFamily="2" charset="0"/>
              </a:rPr>
              <a:t>Methods in Java can be: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Predefined (like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(where developers create their own custom logic)</a:t>
            </a:r>
          </a:p>
          <a:p>
            <a:pPr algn="just">
              <a:lnSpc>
                <a:spcPts val="2100"/>
              </a:lnSpc>
              <a:spcBef>
                <a:spcPts val="1650"/>
              </a:spcBef>
              <a:buNone/>
            </a:pPr>
            <a:r>
              <a:rPr lang="en-US" b="0" i="0" dirty="0">
                <a:solidFill>
                  <a:srgbClr val="3A3A3A"/>
                </a:solidFill>
                <a:effectLst/>
                <a:latin typeface="Roboto" panose="02000000000000000000" pitchFamily="2" charset="0"/>
              </a:rPr>
              <a:t>Each method has 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Return type (like int, void, String,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Method name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parameters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Body that contains the logic</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int add(int a, int b) {</a:t>
            </a: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Using Java methods also promotes code reusability and separation of concerns, which are generally the key principles in object-oriented programming and clean architecture.</a:t>
            </a:r>
          </a:p>
        </p:txBody>
      </p:sp>
    </p:spTree>
    <p:extLst>
      <p:ext uri="{BB962C8B-B14F-4D97-AF65-F5344CB8AC3E}">
        <p14:creationId xmlns:p14="http://schemas.microsoft.com/office/powerpoint/2010/main" val="416432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897C6-5607-E872-BCC8-D6A08B8F777E}"/>
              </a:ext>
            </a:extLst>
          </p:cNvPr>
          <p:cNvSpPr txBox="1"/>
          <p:nvPr/>
        </p:nvSpPr>
        <p:spPr>
          <a:xfrm>
            <a:off x="143300" y="182092"/>
            <a:ext cx="9560257"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the differences between method overriding and method overloading.</a:t>
            </a:r>
          </a:p>
          <a:p>
            <a:pPr algn="just">
              <a:lnSpc>
                <a:spcPts val="2100"/>
              </a:lnSpc>
              <a:spcBef>
                <a:spcPts val="1650"/>
              </a:spcBef>
              <a:buNone/>
            </a:pPr>
            <a:r>
              <a:rPr lang="en-US" b="0" i="0" dirty="0">
                <a:solidFill>
                  <a:srgbClr val="3A3A3A"/>
                </a:solidFill>
                <a:effectLst/>
                <a:latin typeface="Roboto" panose="02000000000000000000" pitchFamily="2" charset="0"/>
              </a:rPr>
              <a:t>The following is the difference between </a:t>
            </a:r>
            <a:r>
              <a:rPr lang="en-US" b="0" i="0" u="none" strike="noStrike" dirty="0">
                <a:solidFill>
                  <a:srgbClr val="0F5A9E"/>
                </a:solidFill>
                <a:effectLst/>
                <a:latin typeface="Roboto" panose="02000000000000000000" pitchFamily="2" charset="0"/>
                <a:hlinkClick r:id="rId2"/>
              </a:rPr>
              <a:t>Method Overloading and Method Overriding</a:t>
            </a:r>
            <a:r>
              <a:rPr lang="en-US" b="0" i="0" dirty="0">
                <a:solidFill>
                  <a:srgbClr val="3A3A3A"/>
                </a:solidFill>
                <a:effectLst/>
                <a:latin typeface="Roboto" panose="02000000000000000000" pitchFamily="2" charset="0"/>
              </a:rPr>
              <a:t> in Java:</a:t>
            </a:r>
          </a:p>
        </p:txBody>
      </p:sp>
      <p:graphicFrame>
        <p:nvGraphicFramePr>
          <p:cNvPr id="4" name="Table 3">
            <a:extLst>
              <a:ext uri="{FF2B5EF4-FFF2-40B4-BE49-F238E27FC236}">
                <a16:creationId xmlns:a16="http://schemas.microsoft.com/office/drawing/2014/main" id="{7B02CF26-4D60-14CA-376B-916541DB85DB}"/>
              </a:ext>
            </a:extLst>
          </p:cNvPr>
          <p:cNvGraphicFramePr>
            <a:graphicFrameLocks noGrp="1"/>
          </p:cNvGraphicFramePr>
          <p:nvPr/>
        </p:nvGraphicFramePr>
        <p:xfrm>
          <a:off x="804243" y="1825625"/>
          <a:ext cx="8297514" cy="4351338"/>
        </p:xfrm>
        <a:graphic>
          <a:graphicData uri="http://schemas.openxmlformats.org/drawingml/2006/table">
            <a:tbl>
              <a:tblPr/>
              <a:tblGrid>
                <a:gridCol w="2765838">
                  <a:extLst>
                    <a:ext uri="{9D8B030D-6E8A-4147-A177-3AD203B41FA5}">
                      <a16:colId xmlns:a16="http://schemas.microsoft.com/office/drawing/2014/main" val="3933588883"/>
                    </a:ext>
                  </a:extLst>
                </a:gridCol>
                <a:gridCol w="2765838">
                  <a:extLst>
                    <a:ext uri="{9D8B030D-6E8A-4147-A177-3AD203B41FA5}">
                      <a16:colId xmlns:a16="http://schemas.microsoft.com/office/drawing/2014/main" val="979214764"/>
                    </a:ext>
                  </a:extLst>
                </a:gridCol>
                <a:gridCol w="2765838">
                  <a:extLst>
                    <a:ext uri="{9D8B030D-6E8A-4147-A177-3AD203B41FA5}">
                      <a16:colId xmlns:a16="http://schemas.microsoft.com/office/drawing/2014/main" val="2653846457"/>
                    </a:ext>
                  </a:extLst>
                </a:gridCol>
              </a:tblGrid>
              <a:tr h="35521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Overriding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Overloading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0716736"/>
                  </a:ext>
                </a:extLst>
              </a:tr>
              <a:tr h="888028">
                <a:tc>
                  <a:txBody>
                    <a:bodyPr/>
                    <a:lstStyle/>
                    <a:p>
                      <a:pPr fontAlgn="t">
                        <a:buNone/>
                      </a:pPr>
                      <a:r>
                        <a:rPr lang="en-US" sz="1700">
                          <a:effectLst/>
                        </a:rPr>
                        <a:t>Definition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Redefining a method in a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Defining multiple methods with same name but different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60879753"/>
                  </a:ext>
                </a:extLst>
              </a:tr>
              <a:tr h="621620">
                <a:tc>
                  <a:txBody>
                    <a:bodyPr/>
                    <a:lstStyle/>
                    <a:p>
                      <a:pPr fontAlgn="t">
                        <a:buNone/>
                      </a:pPr>
                      <a:r>
                        <a:rPr lang="en-US" sz="1700">
                          <a:effectLst/>
                        </a:rPr>
                        <a:t>Class Relationship</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Requires inheritance (subclass &amp; superclass)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Happens within the same 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444040"/>
                  </a:ext>
                </a:extLst>
              </a:tr>
              <a:tr h="621620">
                <a:tc>
                  <a:txBody>
                    <a:bodyPr/>
                    <a:lstStyle/>
                    <a:p>
                      <a:pPr fontAlgn="t">
                        <a:buNone/>
                      </a:pPr>
                      <a:r>
                        <a:rPr lang="en-US" sz="1700">
                          <a:effectLst/>
                        </a:rPr>
                        <a:t>Method Signature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be the same (name,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differ (parameters type, number, or order)</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67609802"/>
                  </a:ext>
                </a:extLst>
              </a:tr>
              <a:tr h="621620">
                <a:tc>
                  <a:txBody>
                    <a:bodyPr/>
                    <a:lstStyle/>
                    <a:p>
                      <a:pPr fontAlgn="t">
                        <a:buNone/>
                      </a:pPr>
                      <a:r>
                        <a:rPr lang="en-US" sz="1700">
                          <a:effectLst/>
                        </a:rPr>
                        <a:t>Runtime or Compile Time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runtime (dynamic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compile time (static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37800055"/>
                  </a:ext>
                </a:extLst>
              </a:tr>
              <a:tr h="355211">
                <a:tc>
                  <a:txBody>
                    <a:bodyPr/>
                    <a:lstStyle/>
                    <a:p>
                      <a:pPr fontAlgn="t">
                        <a:buNone/>
                      </a:pPr>
                      <a:r>
                        <a:rPr lang="en-US" sz="1700">
                          <a:effectLst/>
                        </a:rPr>
                        <a:t>Access Modifiers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Cannot reduce visibility</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such restriction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5632227"/>
                  </a:ext>
                </a:extLst>
              </a:tr>
              <a:tr h="888028">
                <a:tc>
                  <a:txBody>
                    <a:bodyPr/>
                    <a:lstStyle/>
                    <a:p>
                      <a:pPr fontAlgn="t">
                        <a:buNone/>
                      </a:pPr>
                      <a:r>
                        <a:rPr lang="en-US" sz="1700">
                          <a:effectLst/>
                        </a:rPr>
                        <a:t>Use Case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To provide specific implementation in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To perform different tasks with same method name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83486582"/>
                  </a:ext>
                </a:extLst>
              </a:tr>
            </a:tbl>
          </a:graphicData>
        </a:graphic>
      </p:graphicFrame>
    </p:spTree>
    <p:extLst>
      <p:ext uri="{BB962C8B-B14F-4D97-AF65-F5344CB8AC3E}">
        <p14:creationId xmlns:p14="http://schemas.microsoft.com/office/powerpoint/2010/main" val="19809076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2EB7B-861C-9EA5-B5CB-2BED36228158}"/>
              </a:ext>
            </a:extLst>
          </p:cNvPr>
          <p:cNvSpPr txBox="1"/>
          <p:nvPr/>
        </p:nvSpPr>
        <p:spPr>
          <a:xfrm>
            <a:off x="2477069" y="-768738"/>
            <a:ext cx="4954136" cy="840230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a:t>
            </a:r>
          </a:p>
          <a:p>
            <a:r>
              <a:rPr lang="en-US" dirty="0"/>
              <a:t>        </a:t>
            </a:r>
            <a:r>
              <a:rPr lang="en-US" dirty="0" err="1"/>
              <a:t>a.makeSound</a:t>
            </a:r>
            <a:r>
              <a:rPr lang="en-US" dirty="0"/>
              <a:t>(); // Overriding: Outputs "Dog barks"</a:t>
            </a:r>
          </a:p>
          <a:p>
            <a:endParaRPr lang="en-US" dirty="0"/>
          </a:p>
          <a:p>
            <a:r>
              <a:rPr lang="en-US" dirty="0"/>
              <a:t>        Dog d = new Dog();</a:t>
            </a:r>
          </a:p>
          <a:p>
            <a:r>
              <a:rPr lang="en-US" dirty="0"/>
              <a:t>        </a:t>
            </a:r>
            <a:r>
              <a:rPr lang="en-US" dirty="0" err="1"/>
              <a:t>d.makeSound</a:t>
            </a:r>
            <a:r>
              <a:rPr lang="en-US" dirty="0"/>
              <a:t>("growls"); // Overloading: Outputs "Dog growls"</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("Animal makes a sound");</a:t>
            </a:r>
          </a:p>
          <a:p>
            <a:r>
              <a:rPr lang="en-US" dirty="0"/>
              <a:t>    }</a:t>
            </a:r>
          </a:p>
          <a:p>
            <a:r>
              <a:rPr lang="en-US" dirty="0"/>
              <a:t>}</a:t>
            </a:r>
          </a:p>
          <a:p>
            <a:endParaRPr lang="en-US" dirty="0"/>
          </a:p>
          <a:p>
            <a:r>
              <a:rPr lang="en-US" dirty="0"/>
              <a:t>class Dog extends Animal {</a:t>
            </a:r>
          </a:p>
          <a:p>
            <a:r>
              <a:rPr lang="en-US" dirty="0"/>
              <a:t>    // Method Overriding</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("Dog barks");</a:t>
            </a:r>
          </a:p>
          <a:p>
            <a:r>
              <a:rPr lang="en-US" dirty="0"/>
              <a:t>    }</a:t>
            </a:r>
          </a:p>
          <a:p>
            <a:endParaRPr lang="en-US" dirty="0"/>
          </a:p>
          <a:p>
            <a:r>
              <a:rPr lang="en-US" dirty="0"/>
              <a:t>    // Method Overloading</a:t>
            </a:r>
          </a:p>
          <a:p>
            <a:r>
              <a:rPr lang="en-US" dirty="0"/>
              <a:t>    void </a:t>
            </a:r>
            <a:r>
              <a:rPr lang="en-US" dirty="0" err="1"/>
              <a:t>makeSound</a:t>
            </a:r>
            <a:r>
              <a:rPr lang="en-US" dirty="0"/>
              <a:t>(String </a:t>
            </a:r>
            <a:r>
              <a:rPr lang="en-US" dirty="0" err="1"/>
              <a:t>soundType</a:t>
            </a:r>
            <a:r>
              <a:rPr lang="en-US" dirty="0"/>
              <a:t>) {</a:t>
            </a:r>
          </a:p>
          <a:p>
            <a:r>
              <a:rPr lang="en-US" dirty="0"/>
              <a:t>        </a:t>
            </a:r>
            <a:r>
              <a:rPr lang="en-US" dirty="0" err="1"/>
              <a:t>System.out.println</a:t>
            </a:r>
            <a:r>
              <a:rPr lang="en-US" dirty="0"/>
              <a:t>("Dog " + </a:t>
            </a:r>
            <a:r>
              <a:rPr lang="en-US" dirty="0" err="1"/>
              <a:t>soundType</a:t>
            </a:r>
            <a:r>
              <a:rPr lang="en-US" dirty="0"/>
              <a:t>);</a:t>
            </a:r>
          </a:p>
          <a:p>
            <a:r>
              <a:rPr lang="en-US" dirty="0"/>
              <a:t>    }</a:t>
            </a:r>
          </a:p>
          <a:p>
            <a:r>
              <a:rPr lang="en-US" dirty="0"/>
              <a:t>}</a:t>
            </a:r>
          </a:p>
        </p:txBody>
      </p:sp>
    </p:spTree>
    <p:extLst>
      <p:ext uri="{BB962C8B-B14F-4D97-AF65-F5344CB8AC3E}">
        <p14:creationId xmlns:p14="http://schemas.microsoft.com/office/powerpoint/2010/main" val="10298206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684853-8E47-93CB-1272-8479DBBFBB6D}"/>
              </a:ext>
            </a:extLst>
          </p:cNvPr>
          <p:cNvSpPr txBox="1"/>
          <p:nvPr/>
        </p:nvSpPr>
        <p:spPr>
          <a:xfrm>
            <a:off x="2477069" y="-905955"/>
            <a:ext cx="4954136" cy="86767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a package in Java? Explain built-in and user-defined packages.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package in Java</a:t>
            </a:r>
            <a:r>
              <a:rPr lang="en-US" b="0" i="0" dirty="0">
                <a:solidFill>
                  <a:srgbClr val="3A3A3A"/>
                </a:solidFill>
                <a:effectLst/>
                <a:latin typeface="Roboto" panose="02000000000000000000" pitchFamily="2" charset="0"/>
              </a:rPr>
              <a:t> is a grouping of related classes and interfaces under a namespace. It is like a folder that prevents naming conflicts and enhances the maintainability of the code.</a:t>
            </a:r>
          </a:p>
          <a:p>
            <a:pPr algn="just">
              <a:lnSpc>
                <a:spcPts val="2100"/>
              </a:lnSpc>
              <a:spcBef>
                <a:spcPts val="750"/>
              </a:spcBef>
              <a:buNone/>
            </a:pPr>
            <a:r>
              <a:rPr lang="en-US" b="0" i="0" dirty="0">
                <a:solidFill>
                  <a:srgbClr val="3A3A3A"/>
                </a:solidFill>
                <a:effectLst/>
                <a:latin typeface="Roboto" panose="02000000000000000000" pitchFamily="2" charset="0"/>
              </a:rPr>
              <a:t>There are two kinds of packages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Packages: These are offered by the Java API. For instance: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 (for collections such as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io (for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net (for networking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Packages: These packages are defined by developers to logically organize their own classes. For instance:</a:t>
            </a:r>
          </a:p>
          <a:p>
            <a:pPr algn="l">
              <a:spcBef>
                <a:spcPts val="1125"/>
              </a:spcBef>
              <a:spcAft>
                <a:spcPts val="375"/>
              </a:spcAft>
              <a:buNone/>
            </a:pPr>
            <a:r>
              <a:rPr lang="en-US" b="0" i="0" dirty="0">
                <a:solidFill>
                  <a:srgbClr val="212529"/>
                </a:solidFill>
                <a:effectLst/>
                <a:latin typeface="Courier New" panose="02070309020205020404" pitchFamily="49" charset="0"/>
              </a:rPr>
              <a:t>package </a:t>
            </a:r>
            <a:r>
              <a:rPr lang="en-US" b="0" i="0" dirty="0" err="1">
                <a:solidFill>
                  <a:srgbClr val="212529"/>
                </a:solidFill>
                <a:effectLst/>
                <a:latin typeface="Courier New" panose="02070309020205020404" pitchFamily="49" charset="0"/>
              </a:rPr>
              <a:t>com.myapp.utils</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public class Logger {</a:t>
            </a:r>
          </a:p>
          <a:p>
            <a:pPr algn="l">
              <a:spcBef>
                <a:spcPts val="1125"/>
              </a:spcBef>
              <a:spcAft>
                <a:spcPts val="375"/>
              </a:spcAft>
              <a:buNone/>
            </a:pPr>
            <a:r>
              <a:rPr lang="en-US" b="0" i="0" dirty="0">
                <a:solidFill>
                  <a:srgbClr val="212529"/>
                </a:solidFill>
                <a:effectLst/>
                <a:latin typeface="Courier New" panose="02070309020205020404" pitchFamily="49" charset="0"/>
              </a:rPr>
              <a:t>    // utility methods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Packages also have a fundamental function in control of access and are relied upon to construct modular Java applications.</a:t>
            </a:r>
          </a:p>
        </p:txBody>
      </p:sp>
    </p:spTree>
    <p:extLst>
      <p:ext uri="{BB962C8B-B14F-4D97-AF65-F5344CB8AC3E}">
        <p14:creationId xmlns:p14="http://schemas.microsoft.com/office/powerpoint/2010/main" val="537445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C56EB3-8E83-087A-7E01-722B88172E56}"/>
              </a:ext>
            </a:extLst>
          </p:cNvPr>
          <p:cNvSpPr txBox="1"/>
          <p:nvPr/>
        </p:nvSpPr>
        <p:spPr>
          <a:xfrm>
            <a:off x="2477069" y="943269"/>
            <a:ext cx="4954136" cy="49782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are the key components to run a Java program?</a:t>
            </a:r>
          </a:p>
          <a:p>
            <a:pPr algn="just">
              <a:lnSpc>
                <a:spcPts val="2100"/>
              </a:lnSpc>
              <a:spcBef>
                <a:spcPts val="1650"/>
              </a:spcBef>
              <a:buNone/>
            </a:pPr>
            <a:r>
              <a:rPr lang="en-US" b="0" i="0" dirty="0">
                <a:solidFill>
                  <a:srgbClr val="3A3A3A"/>
                </a:solidFill>
                <a:effectLst/>
                <a:latin typeface="Roboto" panose="02000000000000000000" pitchFamily="2" charset="0"/>
              </a:rPr>
              <a:t>To run a Java program, you need: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JDK (Java Development Kit) – compiler and tools included.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JRE (Java Runtime Environment) – includes JVM + libraries.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compiler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 compiles source code to bytecode.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JVM (Java Virtual Machine) – executes the bytecode on any operating system.</a:t>
            </a:r>
          </a:p>
          <a:p>
            <a:pPr algn="just">
              <a:lnSpc>
                <a:spcPts val="2100"/>
              </a:lnSpc>
              <a:spcBef>
                <a:spcPts val="1650"/>
              </a:spcBef>
              <a:buNone/>
            </a:pPr>
            <a:r>
              <a:rPr lang="en-US" b="0" i="0" dirty="0">
                <a:solidFill>
                  <a:srgbClr val="3A3A3A"/>
                </a:solidFill>
                <a:effectLst/>
                <a:latin typeface="Roboto" panose="02000000000000000000" pitchFamily="2" charset="0"/>
              </a:rPr>
              <a:t>The components interact together to compile and run Java code.</a:t>
            </a:r>
          </a:p>
        </p:txBody>
      </p:sp>
    </p:spTree>
    <p:extLst>
      <p:ext uri="{BB962C8B-B14F-4D97-AF65-F5344CB8AC3E}">
        <p14:creationId xmlns:p14="http://schemas.microsoft.com/office/powerpoint/2010/main" val="42684021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420C6B-4982-8FD8-4F68-796394CD7ED9}"/>
              </a:ext>
            </a:extLst>
          </p:cNvPr>
          <p:cNvSpPr txBox="1"/>
          <p:nvPr/>
        </p:nvSpPr>
        <p:spPr>
          <a:xfrm>
            <a:off x="0" y="212150"/>
            <a:ext cx="4954136" cy="50757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purpose of the break keyword in Java?</a:t>
            </a:r>
          </a:p>
          <a:p>
            <a:pPr algn="just">
              <a:lnSpc>
                <a:spcPts val="2100"/>
              </a:lnSpc>
              <a:spcBef>
                <a:spcPts val="1650"/>
              </a:spcBef>
              <a:buNone/>
            </a:pPr>
            <a:r>
              <a:rPr lang="en-US" b="0" i="0" dirty="0">
                <a:solidFill>
                  <a:srgbClr val="3A3A3A"/>
                </a:solidFill>
                <a:effectLst/>
                <a:latin typeface="Roboto" panose="02000000000000000000" pitchFamily="2" charset="0"/>
              </a:rPr>
              <a:t>The break statement is mainly utilized to stop a loop or switch prematurely. When there is a break in a loop or a switch, the JVM stops executing the current control structure immediately, irrespective of the leftover iterations or conditions.</a:t>
            </a:r>
          </a:p>
          <a:p>
            <a:pPr algn="l">
              <a:spcBef>
                <a:spcPts val="1650"/>
              </a:spcBef>
              <a:buNone/>
            </a:pPr>
            <a:r>
              <a:rPr lang="en-US" b="0" i="0" dirty="0">
                <a:solidFill>
                  <a:srgbClr val="3A3A3A"/>
                </a:solidFill>
                <a:effectLst/>
                <a:latin typeface="Roboto" panose="02000000000000000000" pitchFamily="2" charset="0"/>
              </a:rPr>
              <a:t>Common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Exiting a for loop, while loop, or do-while loop early, depending on a condition.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Ending a switch case to avoid fall-through.</a:t>
            </a:r>
          </a:p>
          <a:p>
            <a:pPr algn="just">
              <a:lnSpc>
                <a:spcPts val="2100"/>
              </a:lnSpc>
              <a:spcBef>
                <a:spcPts val="1650"/>
              </a:spcBef>
              <a:buNone/>
            </a:pPr>
            <a:r>
              <a:rPr lang="en-US" b="0" i="0" dirty="0">
                <a:solidFill>
                  <a:srgbClr val="3A3A3A"/>
                </a:solidFill>
                <a:effectLst/>
                <a:latin typeface="Roboto" panose="02000000000000000000" pitchFamily="2" charset="0"/>
              </a:rPr>
              <a:t>Example – Using break in a loop:</a:t>
            </a:r>
          </a:p>
        </p:txBody>
      </p:sp>
      <p:sp>
        <p:nvSpPr>
          <p:cNvPr id="5" name="TextBox 4">
            <a:extLst>
              <a:ext uri="{FF2B5EF4-FFF2-40B4-BE49-F238E27FC236}">
                <a16:creationId xmlns:a16="http://schemas.microsoft.com/office/drawing/2014/main" id="{1E4D7CA4-E4E2-B886-9146-6FF44EF1A887}"/>
              </a:ext>
            </a:extLst>
          </p:cNvPr>
          <p:cNvSpPr txBox="1"/>
          <p:nvPr/>
        </p:nvSpPr>
        <p:spPr>
          <a:xfrm>
            <a:off x="184245" y="5287898"/>
            <a:ext cx="4981432" cy="1754326"/>
          </a:xfrm>
          <a:prstGeom prst="rect">
            <a:avLst/>
          </a:prstGeom>
          <a:noFill/>
        </p:spPr>
        <p:txBody>
          <a:bodyPr wrap="square">
            <a:spAutoFit/>
          </a:bodyPr>
          <a:lstStyle/>
          <a:p>
            <a:r>
              <a:rPr lang="en-US" dirty="0"/>
              <a:t>for (int </a:t>
            </a:r>
            <a:r>
              <a:rPr lang="en-US" dirty="0" err="1"/>
              <a:t>i</a:t>
            </a:r>
            <a:r>
              <a:rPr lang="en-US" dirty="0"/>
              <a:t> = 0; </a:t>
            </a:r>
            <a:r>
              <a:rPr lang="en-US" dirty="0" err="1"/>
              <a:t>i</a:t>
            </a:r>
            <a:r>
              <a:rPr lang="en-US" dirty="0"/>
              <a:t> &lt; 10; </a:t>
            </a:r>
            <a:r>
              <a:rPr lang="en-US" dirty="0" err="1"/>
              <a:t>i</a:t>
            </a:r>
            <a:r>
              <a:rPr lang="en-US" dirty="0"/>
              <a:t>++) {</a:t>
            </a:r>
          </a:p>
          <a:p>
            <a:r>
              <a:rPr lang="en-US" dirty="0"/>
              <a:t>    if (</a:t>
            </a:r>
            <a:r>
              <a:rPr lang="en-US" dirty="0" err="1"/>
              <a:t>i</a:t>
            </a:r>
            <a:r>
              <a:rPr lang="en-US" dirty="0"/>
              <a:t> == 5) {</a:t>
            </a:r>
          </a:p>
          <a:p>
            <a:r>
              <a:rPr lang="en-US" dirty="0"/>
              <a:t>        break;</a:t>
            </a:r>
          </a:p>
          <a:p>
            <a:r>
              <a:rPr lang="en-US" dirty="0"/>
              <a:t>    }</a:t>
            </a:r>
          </a:p>
          <a:p>
            <a:r>
              <a:rPr lang="en-US" dirty="0"/>
              <a:t>    </a:t>
            </a:r>
            <a:r>
              <a:rPr lang="en-US" dirty="0" err="1"/>
              <a:t>System.out.print</a:t>
            </a:r>
            <a:r>
              <a:rPr lang="en-US" dirty="0"/>
              <a:t>(</a:t>
            </a:r>
            <a:r>
              <a:rPr lang="en-US" dirty="0" err="1"/>
              <a:t>i</a:t>
            </a:r>
            <a:r>
              <a:rPr lang="en-US" dirty="0"/>
              <a:t> + " ");</a:t>
            </a:r>
          </a:p>
          <a:p>
            <a:r>
              <a:rPr lang="en-US" dirty="0"/>
              <a:t>}</a:t>
            </a:r>
          </a:p>
        </p:txBody>
      </p:sp>
      <p:sp>
        <p:nvSpPr>
          <p:cNvPr id="7" name="TextBox 6">
            <a:extLst>
              <a:ext uri="{FF2B5EF4-FFF2-40B4-BE49-F238E27FC236}">
                <a16:creationId xmlns:a16="http://schemas.microsoft.com/office/drawing/2014/main" id="{91B0C4EA-52DC-5763-72E5-EE34F30CCA08}"/>
              </a:ext>
            </a:extLst>
          </p:cNvPr>
          <p:cNvSpPr txBox="1"/>
          <p:nvPr/>
        </p:nvSpPr>
        <p:spPr>
          <a:xfrm>
            <a:off x="4953000" y="44355"/>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 – Using break in a switch:</a:t>
            </a:r>
            <a:endParaRPr lang="en-US" dirty="0"/>
          </a:p>
        </p:txBody>
      </p:sp>
      <p:sp>
        <p:nvSpPr>
          <p:cNvPr id="9" name="TextBox 8">
            <a:extLst>
              <a:ext uri="{FF2B5EF4-FFF2-40B4-BE49-F238E27FC236}">
                <a16:creationId xmlns:a16="http://schemas.microsoft.com/office/drawing/2014/main" id="{681EE3CC-9041-B714-7A74-95B8CE81DB97}"/>
              </a:ext>
            </a:extLst>
          </p:cNvPr>
          <p:cNvSpPr txBox="1"/>
          <p:nvPr/>
        </p:nvSpPr>
        <p:spPr>
          <a:xfrm>
            <a:off x="5486400" y="793423"/>
            <a:ext cx="4995080" cy="2862322"/>
          </a:xfrm>
          <a:prstGeom prst="rect">
            <a:avLst/>
          </a:prstGeom>
          <a:noFill/>
        </p:spPr>
        <p:txBody>
          <a:bodyPr wrap="square">
            <a:spAutoFit/>
          </a:bodyPr>
          <a:lstStyle/>
          <a:p>
            <a:r>
              <a:rPr lang="en-US" dirty="0"/>
              <a:t>switch (value) {</a:t>
            </a:r>
          </a:p>
          <a:p>
            <a:r>
              <a:rPr lang="en-US" dirty="0"/>
              <a:t>    case 1:</a:t>
            </a:r>
          </a:p>
          <a:p>
            <a:r>
              <a:rPr lang="en-US" dirty="0"/>
              <a:t>        </a:t>
            </a:r>
            <a:r>
              <a:rPr lang="en-US" dirty="0" err="1"/>
              <a:t>System.out.println</a:t>
            </a:r>
            <a:r>
              <a:rPr lang="en-US" dirty="0"/>
              <a:t>("One");</a:t>
            </a:r>
          </a:p>
          <a:p>
            <a:r>
              <a:rPr lang="en-US" dirty="0"/>
              <a:t>        break;</a:t>
            </a:r>
          </a:p>
          <a:p>
            <a:r>
              <a:rPr lang="en-US" dirty="0"/>
              <a:t>    case 2:</a:t>
            </a:r>
          </a:p>
          <a:p>
            <a:r>
              <a:rPr lang="en-US" dirty="0"/>
              <a:t>        </a:t>
            </a:r>
            <a:r>
              <a:rPr lang="en-US" dirty="0" err="1"/>
              <a:t>System.out.println</a:t>
            </a:r>
            <a:r>
              <a:rPr lang="en-US" dirty="0"/>
              <a:t>("Two");</a:t>
            </a:r>
          </a:p>
          <a:p>
            <a:r>
              <a:rPr lang="en-US" dirty="0"/>
              <a:t>        break;</a:t>
            </a:r>
          </a:p>
          <a:p>
            <a:r>
              <a:rPr lang="en-US" dirty="0"/>
              <a:t>    default:</a:t>
            </a:r>
          </a:p>
          <a:p>
            <a:r>
              <a:rPr lang="en-US" dirty="0"/>
              <a:t>        </a:t>
            </a:r>
            <a:r>
              <a:rPr lang="en-US" dirty="0" err="1"/>
              <a:t>System.out.println</a:t>
            </a:r>
            <a:r>
              <a:rPr lang="en-US" dirty="0"/>
              <a:t>("Invalid");</a:t>
            </a:r>
          </a:p>
          <a:p>
            <a:r>
              <a:rPr lang="en-US" dirty="0"/>
              <a:t>}</a:t>
            </a:r>
          </a:p>
        </p:txBody>
      </p:sp>
    </p:spTree>
    <p:extLst>
      <p:ext uri="{BB962C8B-B14F-4D97-AF65-F5344CB8AC3E}">
        <p14:creationId xmlns:p14="http://schemas.microsoft.com/office/powerpoint/2010/main" val="40776458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44DE6F-9A99-08EA-5799-950A5621060A}"/>
              </a:ext>
            </a:extLst>
          </p:cNvPr>
          <p:cNvSpPr txBox="1"/>
          <p:nvPr/>
        </p:nvSpPr>
        <p:spPr>
          <a:xfrm>
            <a:off x="368490" y="-63417"/>
            <a:ext cx="7062715" cy="61837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difference between </a:t>
            </a:r>
            <a:r>
              <a:rPr lang="en-US" b="0" i="0" dirty="0" err="1">
                <a:solidFill>
                  <a:srgbClr val="272C37"/>
                </a:solidFill>
                <a:effectLst/>
                <a:latin typeface="Roboto" panose="02000000000000000000" pitchFamily="2" charset="0"/>
              </a:rPr>
              <a:t>System.out.print</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System.out.println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 between </a:t>
            </a:r>
            <a:r>
              <a:rPr lang="en-US" b="0" i="0" dirty="0" err="1">
                <a:solidFill>
                  <a:srgbClr val="3A3A3A"/>
                </a:solidFill>
                <a:effectLst/>
                <a:latin typeface="Roboto" panose="02000000000000000000" pitchFamily="2" charset="0"/>
              </a:rPr>
              <a:t>System.out.print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 lies in line termination: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a:t>
            </a:r>
            <a:r>
              <a:rPr lang="en-US" b="0" i="0" dirty="0">
                <a:solidFill>
                  <a:srgbClr val="3A3A3A"/>
                </a:solidFill>
                <a:effectLst/>
                <a:latin typeface="Roboto" panose="02000000000000000000" pitchFamily="2" charset="0"/>
              </a:rPr>
              <a:t>() prints text without appending a newline at its conclusion.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out.println</a:t>
            </a:r>
            <a:r>
              <a:rPr lang="en-US" b="0" i="0" dirty="0">
                <a:solidFill>
                  <a:srgbClr val="3A3A3A"/>
                </a:solidFill>
                <a:effectLst/>
                <a:latin typeface="Roboto" panose="02000000000000000000" pitchFamily="2" charset="0"/>
              </a:rPr>
              <a:t>() prints text and then advances the cursor to a new line.</a:t>
            </a:r>
          </a:p>
          <a:p>
            <a:pPr algn="l">
              <a:spcBef>
                <a:spcPts val="1650"/>
              </a:spcBef>
              <a:buNone/>
            </a:pPr>
            <a:r>
              <a:rPr lang="en-US" b="0" i="0" dirty="0">
                <a:solidFill>
                  <a:srgbClr val="3A3A3A"/>
                </a:solidFill>
                <a:effectLst/>
                <a:latin typeface="Roboto" panose="02000000000000000000" pitchFamily="2" charset="0"/>
              </a:rPr>
              <a:t>Comparison Example: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("Hello ");</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("World");</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("World");</a:t>
            </a:r>
          </a:p>
          <a:p>
            <a:pPr algn="just">
              <a:lnSpc>
                <a:spcPts val="2100"/>
              </a:lnSpc>
              <a:spcBef>
                <a:spcPts val="1650"/>
              </a:spcBef>
              <a:buNone/>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println</a:t>
            </a:r>
            <a:r>
              <a:rPr lang="en-US" b="0" i="0" dirty="0">
                <a:solidFill>
                  <a:srgbClr val="3A3A3A"/>
                </a:solidFill>
                <a:effectLst/>
                <a:latin typeface="Roboto" panose="02000000000000000000" pitchFamily="2" charset="0"/>
              </a:rPr>
              <a:t>() when you need outputs on different lines, and use print() when you want to keep going on the same line.</a:t>
            </a:r>
          </a:p>
        </p:txBody>
      </p:sp>
    </p:spTree>
    <p:extLst>
      <p:ext uri="{BB962C8B-B14F-4D97-AF65-F5344CB8AC3E}">
        <p14:creationId xmlns:p14="http://schemas.microsoft.com/office/powerpoint/2010/main" val="35282200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E7A5B0-20FC-FF12-CDDE-E977A6DB4D1B}"/>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How do you declare a constant variable in Java?</a:t>
            </a:r>
          </a:p>
          <a:p>
            <a:pPr algn="just">
              <a:lnSpc>
                <a:spcPts val="2100"/>
              </a:lnSpc>
              <a:spcBef>
                <a:spcPts val="1650"/>
              </a:spcBef>
              <a:buNone/>
            </a:pPr>
            <a:r>
              <a:rPr lang="en-US" b="0" i="0" dirty="0">
                <a:solidFill>
                  <a:srgbClr val="3A3A3A"/>
                </a:solidFill>
                <a:effectLst/>
                <a:latin typeface="Roboto" panose="02000000000000000000" pitchFamily="2" charset="0"/>
              </a:rPr>
              <a:t>In Java, constants are declared using the final keyword. This ensures the variable’s value cannot be modified after initialization.</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final int MAX_USERS = 100;</a:t>
            </a:r>
          </a:p>
          <a:p>
            <a:pPr algn="just">
              <a:lnSpc>
                <a:spcPts val="2100"/>
              </a:lnSpc>
              <a:spcBef>
                <a:spcPts val="1650"/>
              </a:spcBef>
              <a:buNone/>
            </a:pPr>
            <a:r>
              <a:rPr lang="en-US" b="0" i="0" dirty="0">
                <a:solidFill>
                  <a:srgbClr val="3A3A3A"/>
                </a:solidFill>
                <a:effectLst/>
                <a:latin typeface="Roboto" panose="02000000000000000000" pitchFamily="2" charset="0"/>
              </a:rPr>
              <a:t>To make a constant accessible without instantiating a class, use both static and final:</a:t>
            </a:r>
          </a:p>
          <a:p>
            <a:pPr algn="l">
              <a:spcBef>
                <a:spcPts val="1125"/>
              </a:spcBef>
              <a:spcAft>
                <a:spcPts val="375"/>
              </a:spcAft>
              <a:buNone/>
            </a:pPr>
            <a:r>
              <a:rPr lang="en-US" b="0" i="0" dirty="0">
                <a:solidFill>
                  <a:srgbClr val="212529"/>
                </a:solidFill>
                <a:effectLst/>
                <a:latin typeface="Courier New" panose="02070309020205020404" pitchFamily="49" charset="0"/>
              </a:rPr>
              <a:t>public static final double PI = 3.14159;</a:t>
            </a:r>
          </a:p>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UPPERCASE with underscores for naming constants.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Define constants within a separate Constants class or interface for reuse.</a:t>
            </a:r>
          </a:p>
        </p:txBody>
      </p:sp>
    </p:spTree>
    <p:extLst>
      <p:ext uri="{BB962C8B-B14F-4D97-AF65-F5344CB8AC3E}">
        <p14:creationId xmlns:p14="http://schemas.microsoft.com/office/powerpoint/2010/main" val="1250078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854405-65EC-5334-F94A-998DEC2F071D}"/>
              </a:ext>
            </a:extLst>
          </p:cNvPr>
          <p:cNvSpPr txBox="1"/>
          <p:nvPr/>
        </p:nvSpPr>
        <p:spPr>
          <a:xfrm>
            <a:off x="-1136" y="99318"/>
            <a:ext cx="4954136" cy="4537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the purpose of the default case in a switch statement in Java?</a:t>
            </a:r>
          </a:p>
          <a:p>
            <a:pPr algn="just">
              <a:lnSpc>
                <a:spcPts val="2100"/>
              </a:lnSpc>
              <a:spcBef>
                <a:spcPts val="1650"/>
              </a:spcBef>
              <a:buNone/>
            </a:pPr>
            <a:r>
              <a:rPr lang="en-US" b="0" i="0" dirty="0">
                <a:solidFill>
                  <a:srgbClr val="3A3A3A"/>
                </a:solidFill>
                <a:effectLst/>
                <a:latin typeface="Roboto" panose="02000000000000000000" pitchFamily="2" charset="0"/>
              </a:rPr>
              <a:t>The default case in a switch statement is used as a catch-all when none of the case values match an input expression. It is semantically equivalent to an else block in an if-else ladder.</a:t>
            </a:r>
          </a:p>
          <a:p>
            <a:pPr algn="l">
              <a:spcBef>
                <a:spcPts val="1650"/>
              </a:spcBef>
              <a:buNone/>
            </a:pPr>
            <a:r>
              <a:rPr lang="en-US" b="0" i="0" dirty="0">
                <a:solidFill>
                  <a:srgbClr val="3A3A3A"/>
                </a:solidFill>
                <a:effectLst/>
                <a:latin typeface="Roboto" panose="02000000000000000000" pitchFamily="2" charset="0"/>
              </a:rPr>
              <a:t>Why it matters: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Handles invalid or unexpected inputs.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the switch block from doing nothing if no match is found.</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7B97B568-720F-6539-09A2-8F9D7B0DF4CC}"/>
              </a:ext>
            </a:extLst>
          </p:cNvPr>
          <p:cNvSpPr txBox="1"/>
          <p:nvPr/>
        </p:nvSpPr>
        <p:spPr>
          <a:xfrm>
            <a:off x="5124735" y="671353"/>
            <a:ext cx="4981432" cy="3693319"/>
          </a:xfrm>
          <a:prstGeom prst="rect">
            <a:avLst/>
          </a:prstGeom>
          <a:noFill/>
        </p:spPr>
        <p:txBody>
          <a:bodyPr wrap="square">
            <a:spAutoFit/>
          </a:bodyPr>
          <a:lstStyle/>
          <a:p>
            <a:r>
              <a:rPr lang="en-US" dirty="0"/>
              <a:t>int day = 8;</a:t>
            </a:r>
          </a:p>
          <a:p>
            <a:r>
              <a:rPr lang="en-US" dirty="0"/>
              <a:t>switch (day) {</a:t>
            </a:r>
          </a:p>
          <a:p>
            <a:r>
              <a:rPr lang="en-US" dirty="0"/>
              <a:t>    case 1:</a:t>
            </a:r>
          </a:p>
          <a:p>
            <a:r>
              <a:rPr lang="en-US" dirty="0"/>
              <a:t>        </a:t>
            </a:r>
            <a:r>
              <a:rPr lang="en-US" dirty="0" err="1"/>
              <a:t>System.out.println</a:t>
            </a:r>
            <a:r>
              <a:rPr lang="en-US" dirty="0"/>
              <a:t>("Monday");</a:t>
            </a:r>
          </a:p>
          <a:p>
            <a:r>
              <a:rPr lang="en-US" dirty="0"/>
              <a:t>        break;</a:t>
            </a:r>
          </a:p>
          <a:p>
            <a:r>
              <a:rPr lang="en-US" dirty="0"/>
              <a:t>    case 2:</a:t>
            </a:r>
          </a:p>
          <a:p>
            <a:r>
              <a:rPr lang="en-US" dirty="0"/>
              <a:t>        </a:t>
            </a:r>
            <a:r>
              <a:rPr lang="en-US" dirty="0" err="1"/>
              <a:t>System.out.println</a:t>
            </a:r>
            <a:r>
              <a:rPr lang="en-US" dirty="0"/>
              <a:t>("Tuesday");</a:t>
            </a:r>
          </a:p>
          <a:p>
            <a:r>
              <a:rPr lang="en-US" dirty="0"/>
              <a:t>        break;</a:t>
            </a:r>
          </a:p>
          <a:p>
            <a:r>
              <a:rPr lang="en-US" dirty="0"/>
              <a:t>    default:</a:t>
            </a:r>
          </a:p>
          <a:p>
            <a:r>
              <a:rPr lang="en-US" dirty="0"/>
              <a:t>        </a:t>
            </a:r>
            <a:r>
              <a:rPr lang="en-US" dirty="0" err="1"/>
              <a:t>System.out.println</a:t>
            </a:r>
            <a:r>
              <a:rPr lang="en-US" dirty="0"/>
              <a:t>("Invalid day"); // Executed here</a:t>
            </a:r>
          </a:p>
          <a:p>
            <a:r>
              <a:rPr lang="en-US" dirty="0"/>
              <a:t>}</a:t>
            </a:r>
          </a:p>
          <a:p>
            <a:endParaRPr lang="en-US" dirty="0"/>
          </a:p>
        </p:txBody>
      </p:sp>
      <p:sp>
        <p:nvSpPr>
          <p:cNvPr id="11" name="TextBox 10">
            <a:extLst>
              <a:ext uri="{FF2B5EF4-FFF2-40B4-BE49-F238E27FC236}">
                <a16:creationId xmlns:a16="http://schemas.microsoft.com/office/drawing/2014/main" id="{541B2B94-4E50-5EC1-1EB4-AAFC2086643E}"/>
              </a:ext>
            </a:extLst>
          </p:cNvPr>
          <p:cNvSpPr txBox="1"/>
          <p:nvPr/>
        </p:nvSpPr>
        <p:spPr>
          <a:xfrm>
            <a:off x="4551528" y="4364672"/>
            <a:ext cx="511791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Although it is optional, having a default case is a best practice to maintain solid and defensive programming.</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B6739-CE0A-6844-9785-38FAA33BFE5A}"/>
              </a:ext>
            </a:extLst>
          </p:cNvPr>
          <p:cNvSpPr txBox="1"/>
          <p:nvPr/>
        </p:nvSpPr>
        <p:spPr>
          <a:xfrm>
            <a:off x="491318" y="208453"/>
            <a:ext cx="9007523" cy="48320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What is a loop? Name the types of loops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loop in Java</a:t>
            </a:r>
            <a:r>
              <a:rPr lang="en-US" b="0" i="0" dirty="0">
                <a:solidFill>
                  <a:srgbClr val="3A3A3A"/>
                </a:solidFill>
                <a:effectLst/>
                <a:latin typeface="Roboto" panose="02000000000000000000" pitchFamily="2" charset="0"/>
              </a:rPr>
              <a:t> is a control structure through which Java code is repeated over and over again on the basis of a given condition. A loop minimizes code redundancy and is used in cases such as traversing arrays or collections.</a:t>
            </a:r>
          </a:p>
          <a:p>
            <a:pPr algn="l">
              <a:spcBef>
                <a:spcPts val="1650"/>
              </a:spcBef>
              <a:buNone/>
            </a:pPr>
            <a:r>
              <a:rPr lang="en-US" b="0" i="0" dirty="0">
                <a:solidFill>
                  <a:srgbClr val="3A3A3A"/>
                </a:solidFill>
                <a:effectLst/>
                <a:latin typeface="Roboto" panose="02000000000000000000" pitchFamily="2" charset="0"/>
              </a:rPr>
              <a:t>Types of Loops in Java:</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loop: Used when there is a predetermined count of iterations.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While loop: Repeats as long as the condition is true; utilized when the number of iterations is unknown.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Do-while loop: This loop repeats its body at least once before it checks for its condition.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Enhanced for loop (for-each): Suitable for looping through arrays and collections.</a:t>
            </a:r>
          </a:p>
        </p:txBody>
      </p:sp>
    </p:spTree>
    <p:extLst>
      <p:ext uri="{BB962C8B-B14F-4D97-AF65-F5344CB8AC3E}">
        <p14:creationId xmlns:p14="http://schemas.microsoft.com/office/powerpoint/2010/main" val="216510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6DC9D7-4F2A-DD4A-1E54-CB477FF1DF5A}"/>
              </a:ext>
            </a:extLst>
          </p:cNvPr>
          <p:cNvSpPr txBox="1"/>
          <p:nvPr/>
        </p:nvSpPr>
        <p:spPr>
          <a:xfrm>
            <a:off x="572069" y="594891"/>
            <a:ext cx="8761862" cy="56682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How do you concatenate two strings in Java?</a:t>
            </a:r>
          </a:p>
          <a:p>
            <a:pPr algn="just">
              <a:lnSpc>
                <a:spcPts val="2100"/>
              </a:lnSpc>
              <a:spcBef>
                <a:spcPts val="1650"/>
              </a:spcBef>
              <a:buNone/>
            </a:pPr>
            <a:r>
              <a:rPr lang="en-US" b="0" i="0" dirty="0">
                <a:solidFill>
                  <a:srgbClr val="3A3A3A"/>
                </a:solidFill>
                <a:effectLst/>
                <a:latin typeface="Roboto" panose="02000000000000000000" pitchFamily="2" charset="0"/>
              </a:rPr>
              <a:t>You can concatenate two or more strings in Java by:</a:t>
            </a:r>
          </a:p>
          <a:p>
            <a:pPr algn="l">
              <a:spcBef>
                <a:spcPts val="1650"/>
              </a:spcBef>
              <a:buNone/>
            </a:pPr>
            <a:r>
              <a:rPr lang="en-US" b="0" i="0" dirty="0">
                <a:solidFill>
                  <a:srgbClr val="3A3A3A"/>
                </a:solidFill>
                <a:effectLst/>
                <a:latin typeface="Roboto" panose="02000000000000000000" pitchFamily="2" charset="0"/>
              </a:rPr>
              <a:t>1. The + Operator:</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 + " " + "Alam";</a:t>
            </a:r>
          </a:p>
          <a:p>
            <a:pPr algn="l">
              <a:spcBef>
                <a:spcPts val="1650"/>
              </a:spcBef>
              <a:buNone/>
            </a:pPr>
            <a:r>
              <a:rPr lang="en-US" b="0" i="0" dirty="0">
                <a:solidFill>
                  <a:srgbClr val="3A3A3A"/>
                </a:solidFill>
                <a:effectLst/>
                <a:latin typeface="Roboto" panose="02000000000000000000" pitchFamily="2" charset="0"/>
              </a:rPr>
              <a:t>2. The </a:t>
            </a:r>
            <a:r>
              <a:rPr lang="en-US" b="0" i="0" dirty="0" err="1">
                <a:solidFill>
                  <a:srgbClr val="3A3A3A"/>
                </a:solidFill>
                <a:effectLst/>
                <a:latin typeface="Roboto" panose="02000000000000000000" pitchFamily="2" charset="0"/>
              </a:rPr>
              <a:t>concat</a:t>
            </a:r>
            <a:r>
              <a:rPr lang="en-US" b="0" i="0" dirty="0">
                <a:solidFill>
                  <a:srgbClr val="3A3A3A"/>
                </a:solidFill>
                <a:effectLst/>
                <a:latin typeface="Roboto" panose="02000000000000000000" pitchFamily="2" charset="0"/>
              </a:rPr>
              <a:t>() Method:</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("Alam");</a:t>
            </a:r>
          </a:p>
          <a:p>
            <a:pPr algn="l">
              <a:spcBef>
                <a:spcPts val="1650"/>
              </a:spcBef>
              <a:buNone/>
            </a:pPr>
            <a:r>
              <a:rPr lang="en-US" b="0" i="0" dirty="0">
                <a:solidFill>
                  <a:srgbClr val="3A3A3A"/>
                </a:solidFill>
                <a:effectLst/>
                <a:latin typeface="Roboto" panose="02000000000000000000" pitchFamily="2" charset="0"/>
              </a:rPr>
              <a:t>3.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(for better performance in loops):</a:t>
            </a:r>
          </a:p>
          <a:p>
            <a:pPr algn="l">
              <a:spcBef>
                <a:spcPts val="1125"/>
              </a:spcBef>
              <a:spcAft>
                <a:spcPts val="375"/>
              </a:spcAft>
              <a:buNone/>
            </a:pPr>
            <a:r>
              <a:rPr lang="en-US" b="0" i="0" dirty="0">
                <a:solidFill>
                  <a:srgbClr val="212529"/>
                </a:solidFill>
                <a:effectLst/>
                <a:latin typeface="Courier New" panose="02070309020205020404" pitchFamily="49" charset="0"/>
              </a:rPr>
              <a:t>StringBuilder sb = new StringBuilder();</a:t>
            </a:r>
          </a:p>
          <a:p>
            <a:pPr algn="l">
              <a:spcBef>
                <a:spcPts val="1125"/>
              </a:spcBef>
              <a:spcAft>
                <a:spcPts val="375"/>
              </a:spcAft>
              <a:buNone/>
            </a:pPr>
            <a:r>
              <a:rPr lang="en-US" b="0" i="0" dirty="0" err="1">
                <a:solidFill>
                  <a:srgbClr val="212529"/>
                </a:solidFill>
                <a:effectLst/>
                <a:latin typeface="Courier New" panose="02070309020205020404" pitchFamily="49" charset="0"/>
              </a:rPr>
              <a:t>sb.append</a:t>
            </a:r>
            <a:r>
              <a:rPr lang="en-US" b="0" i="0" dirty="0">
                <a:solidFill>
                  <a:srgbClr val="212529"/>
                </a:solidFill>
                <a:effectLst/>
                <a:latin typeface="Courier New" panose="02070309020205020404" pitchFamily="49" charset="0"/>
              </a:rPr>
              <a:t>("Ayaan").append(" ").append("Alam");</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sb.toString</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Best Practice: StringBuilder in high-performance situations such as extensive concatenations or within loop iterations</a:t>
            </a:r>
          </a:p>
        </p:txBody>
      </p:sp>
    </p:spTree>
    <p:extLst>
      <p:ext uri="{BB962C8B-B14F-4D97-AF65-F5344CB8AC3E}">
        <p14:creationId xmlns:p14="http://schemas.microsoft.com/office/powerpoint/2010/main" val="26236135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1F7B0D-1A38-2190-17BB-5006201AEB1F}"/>
              </a:ext>
            </a:extLst>
          </p:cNvPr>
          <p:cNvSpPr txBox="1"/>
          <p:nvPr/>
        </p:nvSpPr>
        <p:spPr>
          <a:xfrm>
            <a:off x="170597" y="0"/>
            <a:ext cx="9260005" cy="22159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difference between int and Integer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 is a primitive data type that stores a 32-bit signed integer.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Integer is a </a:t>
            </a:r>
            <a:r>
              <a:rPr lang="en-US" b="0" i="0" u="none" strike="noStrike" dirty="0">
                <a:solidFill>
                  <a:srgbClr val="0F5A9E"/>
                </a:solidFill>
                <a:effectLst/>
                <a:latin typeface="Roboto" panose="02000000000000000000" pitchFamily="2" charset="0"/>
                <a:hlinkClick r:id="rId2"/>
              </a:rPr>
              <a:t>wrapper class</a:t>
            </a:r>
            <a:r>
              <a:rPr lang="en-US" b="0" i="0" dirty="0">
                <a:solidFill>
                  <a:srgbClr val="3A3A3A"/>
                </a:solidFill>
                <a:effectLst/>
                <a:latin typeface="Roboto" panose="02000000000000000000" pitchFamily="2" charset="0"/>
              </a:rPr>
              <a:t> for an int type and is a part of Java Collections Framework.</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E4EBD0E9-5648-D584-CF72-70804DC8FF53}"/>
              </a:ext>
            </a:extLst>
          </p:cNvPr>
          <p:cNvGraphicFramePr>
            <a:graphicFrameLocks noGrp="1"/>
          </p:cNvGraphicFramePr>
          <p:nvPr>
            <p:extLst>
              <p:ext uri="{D42A27DB-BD31-4B8C-83A1-F6EECF244321}">
                <p14:modId xmlns:p14="http://schemas.microsoft.com/office/powerpoint/2010/main" val="355367491"/>
              </p:ext>
            </p:extLst>
          </p:nvPr>
        </p:nvGraphicFramePr>
        <p:xfrm>
          <a:off x="681037" y="2264570"/>
          <a:ext cx="8543925" cy="2377440"/>
        </p:xfrm>
        <a:graphic>
          <a:graphicData uri="http://schemas.openxmlformats.org/drawingml/2006/table">
            <a:tbl>
              <a:tblPr/>
              <a:tblGrid>
                <a:gridCol w="2847975">
                  <a:extLst>
                    <a:ext uri="{9D8B030D-6E8A-4147-A177-3AD203B41FA5}">
                      <a16:colId xmlns:a16="http://schemas.microsoft.com/office/drawing/2014/main" val="1938403040"/>
                    </a:ext>
                  </a:extLst>
                </a:gridCol>
                <a:gridCol w="2847975">
                  <a:extLst>
                    <a:ext uri="{9D8B030D-6E8A-4147-A177-3AD203B41FA5}">
                      <a16:colId xmlns:a16="http://schemas.microsoft.com/office/drawing/2014/main" val="3247138510"/>
                    </a:ext>
                  </a:extLst>
                </a:gridCol>
                <a:gridCol w="2847975">
                  <a:extLst>
                    <a:ext uri="{9D8B030D-6E8A-4147-A177-3AD203B41FA5}">
                      <a16:colId xmlns:a16="http://schemas.microsoft.com/office/drawing/2014/main" val="415932140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Integer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4140590521"/>
                  </a:ext>
                </a:extLst>
              </a:tr>
              <a:tr h="0">
                <a:tc>
                  <a:txBody>
                    <a:bodyPr/>
                    <a:lstStyle/>
                    <a:p>
                      <a:pPr fontAlgn="t">
                        <a:buNone/>
                      </a:pPr>
                      <a:r>
                        <a:rPr lang="en-US">
                          <a:effectLst/>
                        </a:rPr>
                        <a:t>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Primitive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Object (Wrapper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4762472"/>
                  </a:ext>
                </a:extLst>
              </a:tr>
              <a:tr h="0">
                <a:tc>
                  <a:txBody>
                    <a:bodyPr/>
                    <a:lstStyle/>
                    <a:p>
                      <a:pPr fontAlgn="t">
                        <a:buNone/>
                      </a:pPr>
                      <a:r>
                        <a:rPr lang="en-US">
                          <a:effectLst/>
                        </a:rPr>
                        <a:t>Nullability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Cannot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83254715"/>
                  </a:ext>
                </a:extLst>
              </a:tr>
              <a:tr h="0">
                <a:tc>
                  <a:txBody>
                    <a:bodyPr/>
                    <a:lstStyle/>
                    <a:p>
                      <a:pPr fontAlgn="t">
                        <a:buNone/>
                      </a:pPr>
                      <a:r>
                        <a:rPr lang="en-US">
                          <a:effectLst/>
                        </a:rPr>
                        <a:t>Use in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Allowed (e.g., in ArrayList&lt;Integer&gt;)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49220981"/>
                  </a:ext>
                </a:extLst>
              </a:tr>
              <a:tr h="0">
                <a:tc>
                  <a:txBody>
                    <a:bodyPr/>
                    <a:lstStyle/>
                    <a:p>
                      <a:pPr fontAlgn="t">
                        <a:buNone/>
                      </a:pPr>
                      <a:r>
                        <a:rPr lang="en-US">
                          <a:effectLst/>
                        </a:rPr>
                        <a:t>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Provides utility methods (e.g., </a:t>
                      </a:r>
                      <a:r>
                        <a:rPr lang="en-US" dirty="0" err="1">
                          <a:effectLst/>
                        </a:rPr>
                        <a:t>parseInt</a:t>
                      </a:r>
                      <a:r>
                        <a:rPr lang="en-US" dirty="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71842346"/>
                  </a:ext>
                </a:extLst>
              </a:tr>
            </a:tbl>
          </a:graphicData>
        </a:graphic>
      </p:graphicFrame>
      <p:sp>
        <p:nvSpPr>
          <p:cNvPr id="6" name="TextBox 5">
            <a:extLst>
              <a:ext uri="{FF2B5EF4-FFF2-40B4-BE49-F238E27FC236}">
                <a16:creationId xmlns:a16="http://schemas.microsoft.com/office/drawing/2014/main" id="{3544EB1B-1CCA-BD3C-2FAD-4C7FDFCADBD3}"/>
              </a:ext>
            </a:extLst>
          </p:cNvPr>
          <p:cNvSpPr txBox="1"/>
          <p:nvPr/>
        </p:nvSpPr>
        <p:spPr>
          <a:xfrm>
            <a:off x="443553" y="4982678"/>
            <a:ext cx="4954136" cy="152605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 a = 10;</a:t>
            </a:r>
          </a:p>
          <a:p>
            <a:pPr algn="l">
              <a:spcBef>
                <a:spcPts val="1125"/>
              </a:spcBef>
              <a:spcAft>
                <a:spcPts val="375"/>
              </a:spcAft>
              <a:buNone/>
            </a:pPr>
            <a:r>
              <a:rPr lang="en-US" b="0" i="0" dirty="0">
                <a:solidFill>
                  <a:srgbClr val="212529"/>
                </a:solidFill>
                <a:effectLst/>
                <a:latin typeface="Courier New" panose="02070309020205020404" pitchFamily="49" charset="0"/>
              </a:rPr>
              <a:t>Integer b = </a:t>
            </a:r>
            <a:r>
              <a:rPr lang="en-US" b="0" i="0" dirty="0" err="1">
                <a:solidFill>
                  <a:srgbClr val="212529"/>
                </a:solidFill>
                <a:effectLst/>
                <a:latin typeface="Courier New" panose="02070309020205020404" pitchFamily="49" charset="0"/>
              </a:rPr>
              <a:t>Integer.valueOf</a:t>
            </a:r>
            <a:r>
              <a:rPr lang="en-US" b="0" i="0" dirty="0">
                <a:solidFill>
                  <a:srgbClr val="212529"/>
                </a:solidFill>
                <a:effectLst/>
                <a:latin typeface="Courier New" panose="02070309020205020404" pitchFamily="49" charset="0"/>
              </a:rPr>
              <a:t>(a);  // Autoboxing</a:t>
            </a:r>
          </a:p>
        </p:txBody>
      </p:sp>
    </p:spTree>
    <p:extLst>
      <p:ext uri="{BB962C8B-B14F-4D97-AF65-F5344CB8AC3E}">
        <p14:creationId xmlns:p14="http://schemas.microsoft.com/office/powerpoint/2010/main" val="10081883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07F35C-9833-A050-1F9F-677D3C985B1A}"/>
              </a:ext>
            </a:extLst>
          </p:cNvPr>
          <p:cNvSpPr txBox="1"/>
          <p:nvPr/>
        </p:nvSpPr>
        <p:spPr>
          <a:xfrm>
            <a:off x="2477069" y="909927"/>
            <a:ext cx="4954136" cy="50449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How do you create a single-line comment in Java?</a:t>
            </a:r>
          </a:p>
          <a:p>
            <a:pPr algn="just">
              <a:lnSpc>
                <a:spcPts val="2100"/>
              </a:lnSpc>
              <a:spcBef>
                <a:spcPts val="1650"/>
              </a:spcBef>
              <a:buNone/>
            </a:pPr>
            <a:r>
              <a:rPr lang="en-US" b="0" i="0" dirty="0">
                <a:solidFill>
                  <a:srgbClr val="3A3A3A"/>
                </a:solidFill>
                <a:effectLst/>
                <a:latin typeface="Roboto" panose="02000000000000000000" pitchFamily="2" charset="0"/>
              </a:rPr>
              <a:t>A single line comment in Java is created using two forward slashes //. Any text following // on the same line is considered as a comment and ignored by the compiler.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just">
              <a:lnSpc>
                <a:spcPts val="2100"/>
              </a:lnSpc>
              <a:spcBef>
                <a:spcPts val="750"/>
              </a:spcBef>
              <a:buNone/>
            </a:pPr>
            <a:r>
              <a:rPr lang="en-US" b="0" i="0" dirty="0">
                <a:solidFill>
                  <a:srgbClr val="3A3A3A"/>
                </a:solidFill>
                <a:effectLst/>
                <a:latin typeface="Roboto" panose="02000000000000000000" pitchFamily="2" charset="0"/>
              </a:rPr>
              <a:t>// This is a single-line comment</a:t>
            </a:r>
          </a:p>
          <a:p>
            <a:pPr algn="l">
              <a:spcBef>
                <a:spcPts val="1125"/>
              </a:spcBef>
              <a:spcAft>
                <a:spcPts val="375"/>
              </a:spcAft>
              <a:buNone/>
            </a:pPr>
            <a:r>
              <a:rPr lang="en-US" b="0" i="0" dirty="0">
                <a:solidFill>
                  <a:srgbClr val="212529"/>
                </a:solidFill>
                <a:effectLst/>
                <a:latin typeface="Courier New" panose="02070309020205020404" pitchFamily="49" charset="0"/>
              </a:rPr>
              <a:t> int x = 10; // This sets the value of x to 10</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Single line comments exist to comment on brief lines of code or to comment out a line temporarily when debugging.</a:t>
            </a:r>
          </a:p>
        </p:txBody>
      </p:sp>
    </p:spTree>
    <p:extLst>
      <p:ext uri="{BB962C8B-B14F-4D97-AF65-F5344CB8AC3E}">
        <p14:creationId xmlns:p14="http://schemas.microsoft.com/office/powerpoint/2010/main" val="23357814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9B62F-34A5-CABC-4B4E-BA0809079267}"/>
              </a:ext>
            </a:extLst>
          </p:cNvPr>
          <p:cNvSpPr txBox="1"/>
          <p:nvPr/>
        </p:nvSpPr>
        <p:spPr>
          <a:xfrm>
            <a:off x="225189" y="31663"/>
            <a:ext cx="9680811"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is the ‘continue’ keyword used for in Java?</a:t>
            </a:r>
          </a:p>
          <a:p>
            <a:pPr algn="just">
              <a:lnSpc>
                <a:spcPts val="2100"/>
              </a:lnSpc>
              <a:spcBef>
                <a:spcPts val="1650"/>
              </a:spcBef>
              <a:buNone/>
            </a:pPr>
            <a:r>
              <a:rPr lang="en-US" b="0" i="0" dirty="0">
                <a:solidFill>
                  <a:srgbClr val="3A3A3A"/>
                </a:solidFill>
                <a:effectLst/>
                <a:latin typeface="Roboto" panose="02000000000000000000" pitchFamily="2" charset="0"/>
              </a:rPr>
              <a:t>The continue keyword in Java is used inside loops to skip the current iteration and proceed directly to the next one. It is commonly used when a specific condition is met, and you want to skip the remaining statements in the current loop cycle without terminating the loop entirely.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BD7B6EB2-74E1-57AD-7D3D-C3954B8D165B}"/>
              </a:ext>
            </a:extLst>
          </p:cNvPr>
          <p:cNvSpPr txBox="1"/>
          <p:nvPr/>
        </p:nvSpPr>
        <p:spPr>
          <a:xfrm>
            <a:off x="2354239" y="1870840"/>
            <a:ext cx="4981432" cy="2031325"/>
          </a:xfrm>
          <a:prstGeom prst="rect">
            <a:avLst/>
          </a:prstGeom>
          <a:noFill/>
        </p:spPr>
        <p:txBody>
          <a:bodyPr wrap="square">
            <a:spAutoFit/>
          </a:bodyPr>
          <a:lstStyle/>
          <a:p>
            <a:r>
              <a:rPr lang="en-US"/>
              <a:t>for (int i = 1; i &lt;= 5; i++) {</a:t>
            </a:r>
          </a:p>
          <a:p>
            <a:r>
              <a:rPr lang="en-US"/>
              <a:t>    if (i == 3) {</a:t>
            </a:r>
          </a:p>
          <a:p>
            <a:r>
              <a:rPr lang="en-US"/>
              <a:t>        continue; // Skip the rest of the loop when i is 3</a:t>
            </a:r>
          </a:p>
          <a:p>
            <a:r>
              <a:rPr lang="en-US"/>
              <a:t>    }</a:t>
            </a:r>
          </a:p>
          <a:p>
            <a:r>
              <a:rPr lang="en-US"/>
              <a:t>    System.out.println(i);</a:t>
            </a:r>
          </a:p>
          <a:p>
            <a:r>
              <a:rPr lang="en-US"/>
              <a:t>}</a:t>
            </a:r>
            <a:endParaRPr lang="en-US" dirty="0"/>
          </a:p>
        </p:txBody>
      </p:sp>
      <p:sp>
        <p:nvSpPr>
          <p:cNvPr id="9" name="TextBox 8">
            <a:extLst>
              <a:ext uri="{FF2B5EF4-FFF2-40B4-BE49-F238E27FC236}">
                <a16:creationId xmlns:a16="http://schemas.microsoft.com/office/drawing/2014/main" id="{CB0BCFCD-0697-E818-224F-9FBA77E04E7C}"/>
              </a:ext>
            </a:extLst>
          </p:cNvPr>
          <p:cNvSpPr txBox="1"/>
          <p:nvPr/>
        </p:nvSpPr>
        <p:spPr>
          <a:xfrm>
            <a:off x="580030" y="4469199"/>
            <a:ext cx="9027993" cy="1002839"/>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Improves code clarity by avoiding unnecessarily deeply-nested if statements when there is a need to skip logic within a loop.</a:t>
            </a:r>
          </a:p>
        </p:txBody>
      </p:sp>
    </p:spTree>
    <p:extLst>
      <p:ext uri="{BB962C8B-B14F-4D97-AF65-F5344CB8AC3E}">
        <p14:creationId xmlns:p14="http://schemas.microsoft.com/office/powerpoint/2010/main" val="27264838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3DF03D-882A-BA00-8437-46F0D9AC1828}"/>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What is the superclass of every class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java.lang.Object</a:t>
            </a:r>
            <a:r>
              <a:rPr lang="en-US" b="0" i="0" dirty="0">
                <a:solidFill>
                  <a:srgbClr val="3A3A3A"/>
                </a:solidFill>
                <a:effectLst/>
                <a:latin typeface="Roboto" panose="02000000000000000000" pitchFamily="2" charset="0"/>
              </a:rPr>
              <a:t> class is the superclass of all classes in Java.</a:t>
            </a:r>
          </a:p>
          <a:p>
            <a:pPr algn="just">
              <a:lnSpc>
                <a:spcPts val="2100"/>
              </a:lnSpc>
              <a:spcBef>
                <a:spcPts val="750"/>
              </a:spcBef>
              <a:buNone/>
            </a:pPr>
            <a:r>
              <a:rPr lang="en-US" b="0" i="0" dirty="0">
                <a:solidFill>
                  <a:srgbClr val="3A3A3A"/>
                </a:solidFill>
                <a:effectLst/>
                <a:latin typeface="Roboto" panose="02000000000000000000" pitchFamily="2" charset="0"/>
              </a:rPr>
              <a:t>Even when a class does not explicitly extend another class , the Java compiler automatically makes it extend the Object class.</a:t>
            </a:r>
          </a:p>
          <a:p>
            <a:pPr algn="just">
              <a:lnSpc>
                <a:spcPts val="2100"/>
              </a:lnSpc>
              <a:spcBef>
                <a:spcPts val="750"/>
              </a:spcBef>
              <a:buNone/>
            </a:pPr>
            <a:r>
              <a:rPr lang="en-US" b="0" i="0" dirty="0">
                <a:solidFill>
                  <a:srgbClr val="3A3A3A"/>
                </a:solidFill>
                <a:effectLst/>
                <a:latin typeface="Roboto" panose="02000000000000000000" pitchFamily="2" charset="0"/>
              </a:rPr>
              <a:t>In this way, each class has methods such as: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equals(Object obj)</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getClass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notify(), wait(), clone() (if applicable)</a:t>
            </a:r>
          </a:p>
          <a:p>
            <a:pPr algn="just">
              <a:lnSpc>
                <a:spcPts val="2100"/>
              </a:lnSpc>
              <a:spcBef>
                <a:spcPts val="1650"/>
              </a:spcBef>
              <a:buNone/>
            </a:pPr>
            <a:r>
              <a:rPr lang="en-US" b="0" i="0" dirty="0">
                <a:solidFill>
                  <a:srgbClr val="3A3A3A"/>
                </a:solidFill>
                <a:effectLst/>
                <a:latin typeface="Roboto" panose="02000000000000000000" pitchFamily="2" charset="0"/>
              </a:rPr>
              <a:t>The inheritance here guarantees uniformity and allows Java objects to be compatible with collections, reflection, and other language aspects.</a:t>
            </a:r>
          </a:p>
        </p:txBody>
      </p:sp>
    </p:spTree>
    <p:extLst>
      <p:ext uri="{BB962C8B-B14F-4D97-AF65-F5344CB8AC3E}">
        <p14:creationId xmlns:p14="http://schemas.microsoft.com/office/powerpoint/2010/main" val="25516141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A13F9-83FC-2B37-4486-F2EBA4D7BEB2}"/>
              </a:ext>
            </a:extLst>
          </p:cNvPr>
          <p:cNvSpPr txBox="1"/>
          <p:nvPr/>
        </p:nvSpPr>
        <p:spPr>
          <a:xfrm>
            <a:off x="-1" y="0"/>
            <a:ext cx="9771797"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define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interface keyword is used to define an interface which serves as a blueprint containing abstract methods and constants.</a:t>
            </a:r>
          </a:p>
        </p:txBody>
      </p:sp>
      <p:sp>
        <p:nvSpPr>
          <p:cNvPr id="5" name="TextBox 4">
            <a:extLst>
              <a:ext uri="{FF2B5EF4-FFF2-40B4-BE49-F238E27FC236}">
                <a16:creationId xmlns:a16="http://schemas.microsoft.com/office/drawing/2014/main" id="{5CD3B202-1257-C571-3A72-1009016460B1}"/>
              </a:ext>
            </a:extLst>
          </p:cNvPr>
          <p:cNvSpPr txBox="1"/>
          <p:nvPr/>
        </p:nvSpPr>
        <p:spPr>
          <a:xfrm>
            <a:off x="1385248" y="1542534"/>
            <a:ext cx="4981432" cy="1200329"/>
          </a:xfrm>
          <a:prstGeom prst="rect">
            <a:avLst/>
          </a:prstGeom>
          <a:noFill/>
        </p:spPr>
        <p:txBody>
          <a:bodyPr wrap="square">
            <a:spAutoFit/>
          </a:bodyPr>
          <a:lstStyle/>
          <a:p>
            <a:r>
              <a:rPr lang="en-US" dirty="0"/>
              <a:t>public interface Vehicle {</a:t>
            </a:r>
          </a:p>
          <a:p>
            <a:r>
              <a:rPr lang="en-US" dirty="0"/>
              <a:t>    void start();</a:t>
            </a:r>
          </a:p>
          <a:p>
            <a:r>
              <a:rPr lang="en-US" dirty="0"/>
              <a:t>    void stop();</a:t>
            </a:r>
          </a:p>
          <a:p>
            <a:r>
              <a:rPr lang="en-US" dirty="0"/>
              <a:t>}</a:t>
            </a:r>
          </a:p>
        </p:txBody>
      </p:sp>
      <p:sp>
        <p:nvSpPr>
          <p:cNvPr id="7" name="TextBox 6">
            <a:extLst>
              <a:ext uri="{FF2B5EF4-FFF2-40B4-BE49-F238E27FC236}">
                <a16:creationId xmlns:a16="http://schemas.microsoft.com/office/drawing/2014/main" id="{3F11E0F9-B400-1473-5D7C-184A6AC01F88}"/>
              </a:ext>
            </a:extLst>
          </p:cNvPr>
          <p:cNvSpPr txBox="1"/>
          <p:nvPr/>
        </p:nvSpPr>
        <p:spPr>
          <a:xfrm>
            <a:off x="211540" y="3043011"/>
            <a:ext cx="9396483" cy="246477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Interfaces can also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methods (since Java 9)</a:t>
            </a:r>
          </a:p>
          <a:p>
            <a:pPr algn="just">
              <a:lnSpc>
                <a:spcPts val="2100"/>
              </a:lnSpc>
              <a:spcBef>
                <a:spcPts val="1650"/>
              </a:spcBef>
              <a:buNone/>
            </a:pPr>
            <a:r>
              <a:rPr lang="en-US" b="0" i="0" dirty="0">
                <a:solidFill>
                  <a:srgbClr val="3A3A3A"/>
                </a:solidFill>
                <a:effectLst/>
                <a:latin typeface="Roboto" panose="02000000000000000000" pitchFamily="2" charset="0"/>
              </a:rPr>
              <a:t>Interfaces are employed to facilitate abstraction, decouple components, and provide multi-inheritance by means of contract programming.</a:t>
            </a:r>
          </a:p>
        </p:txBody>
      </p:sp>
    </p:spTree>
    <p:extLst>
      <p:ext uri="{BB962C8B-B14F-4D97-AF65-F5344CB8AC3E}">
        <p14:creationId xmlns:p14="http://schemas.microsoft.com/office/powerpoint/2010/main" val="17508049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619127-767E-1F6E-70A6-552FA73E1AAC}"/>
              </a:ext>
            </a:extLst>
          </p:cNvPr>
          <p:cNvSpPr txBox="1"/>
          <p:nvPr/>
        </p:nvSpPr>
        <p:spPr>
          <a:xfrm>
            <a:off x="95536" y="0"/>
            <a:ext cx="9430602" cy="694036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Intermediate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Now , with this section we will discuss Intermediate Java Interview Questions that will help Java developers with few years of experience who wants to go higher on their Java Development domain.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How does the JVM work?</a:t>
            </a:r>
          </a:p>
          <a:p>
            <a:pPr algn="just">
              <a:lnSpc>
                <a:spcPts val="2100"/>
              </a:lnSpc>
              <a:spcBef>
                <a:spcPts val="1650"/>
              </a:spcBef>
              <a:buNone/>
            </a:pPr>
            <a:r>
              <a:rPr lang="en-US" b="0" i="0" dirty="0">
                <a:solidFill>
                  <a:srgbClr val="3A3A3A"/>
                </a:solidFill>
                <a:effectLst/>
                <a:latin typeface="Roboto" panose="02000000000000000000" pitchFamily="2" charset="0"/>
              </a:rPr>
              <a:t>Java Virtual Machine is a Java Runtime Environment (JRE) component. It loads, verifies, and executes the bytecode. Although JVM is platform-dependent, it enables Java code to be platform-independent.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Explain the working of JIT.</a:t>
            </a:r>
          </a:p>
          <a:p>
            <a:pPr algn="just">
              <a:lnSpc>
                <a:spcPts val="2100"/>
              </a:lnSpc>
              <a:spcBef>
                <a:spcPts val="1650"/>
              </a:spcBef>
              <a:buNone/>
            </a:pPr>
            <a:r>
              <a:rPr lang="en-US" b="0" i="0" dirty="0">
                <a:solidFill>
                  <a:srgbClr val="3A3A3A"/>
                </a:solidFill>
                <a:effectLst/>
                <a:latin typeface="Roboto" panose="02000000000000000000" pitchFamily="2" charset="0"/>
              </a:rPr>
              <a:t>JIT (Just-in-Time) is a runtime component of the Java Virtual Machine (JVM) that converts bytecode into machine code. Its main purpose is to speed up code execution, thereby improving the performance and efficiency of Java applications.</a:t>
            </a:r>
          </a:p>
          <a:p>
            <a:pPr algn="just">
              <a:lnSpc>
                <a:spcPts val="2100"/>
              </a:lnSpc>
              <a:spcBef>
                <a:spcPts val="750"/>
              </a:spcBef>
              <a:buNone/>
            </a:pPr>
            <a:r>
              <a:rPr lang="en-US" b="0" i="0" dirty="0">
                <a:solidFill>
                  <a:srgbClr val="3A3A3A"/>
                </a:solidFill>
                <a:effectLst/>
                <a:latin typeface="Roboto" panose="02000000000000000000" pitchFamily="2" charset="0"/>
              </a:rPr>
              <a:t>It does so by recognizing code blocks that are executed frequently and converting them into machine code. This compiled machine code is then saved in memory and whenever the same code block needs to run again, JVM can use the already compiled version instead of recompiling it..</a:t>
            </a:r>
          </a:p>
          <a:p>
            <a:pPr algn="just">
              <a:lnSpc>
                <a:spcPts val="2100"/>
              </a:lnSpc>
              <a:spcBef>
                <a:spcPts val="750"/>
              </a:spcBef>
              <a:buNone/>
            </a:pPr>
            <a:r>
              <a:rPr lang="en-US" b="0" i="0" dirty="0">
                <a:solidFill>
                  <a:srgbClr val="3A3A3A"/>
                </a:solidFill>
                <a:effectLst/>
                <a:latin typeface="Roboto" panose="02000000000000000000" pitchFamily="2" charset="0"/>
              </a:rPr>
              <a:t>By avoiding repeated compilation of the same code, the JIT compiler improves execution speed and reduces the workload on the JVM.</a:t>
            </a:r>
          </a:p>
        </p:txBody>
      </p:sp>
    </p:spTree>
    <p:extLst>
      <p:ext uri="{BB962C8B-B14F-4D97-AF65-F5344CB8AC3E}">
        <p14:creationId xmlns:p14="http://schemas.microsoft.com/office/powerpoint/2010/main" val="41301174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596123-DF73-D5F9-DB40-B63DB1AB12CB}"/>
              </a:ext>
            </a:extLst>
          </p:cNvPr>
          <p:cNvSpPr txBox="1"/>
          <p:nvPr/>
        </p:nvSpPr>
        <p:spPr>
          <a:xfrm>
            <a:off x="0" y="306852"/>
            <a:ext cx="9662615" cy="59400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Which memory areas are allocated by JVM?</a:t>
            </a:r>
          </a:p>
          <a:p>
            <a:pPr algn="just">
              <a:lnSpc>
                <a:spcPts val="2100"/>
              </a:lnSpc>
              <a:spcBef>
                <a:spcPts val="1650"/>
              </a:spcBef>
              <a:buNone/>
            </a:pPr>
            <a:r>
              <a:rPr lang="en-US" b="0" i="0" dirty="0">
                <a:solidFill>
                  <a:srgbClr val="3A3A3A"/>
                </a:solidFill>
                <a:effectLst/>
                <a:latin typeface="Roboto" panose="02000000000000000000" pitchFamily="2" charset="0"/>
              </a:rPr>
              <a:t>JVM is the core component of the Java Platform, responsible for running Java programs. To execute the programs, JVM needs to store instructions, variables, and other data in memory.. JVM’s memory is divided into specific areas, each designed for a specific purpose. Let’s understand them:</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Method Area (</a:t>
            </a: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This area of the memory saves the class metadata, method metadata, field metadata and static variable.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This is the largest memory area, and it stores objects and their associated instance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Java Stacks(Thread stacks): It is a runtime memory area which is created for each thread. It stores local variables, method arguments, etc. It is designed to handle method execution and local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Registers: The program counter register helps point to the current thread being executed. After executing an instruction the PC points to the next instruction.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Stacks: It is a memory area in JVM which is reserved for native methods written in languages other than Java. Like C/C++. It helps java interact with system level APIs which are not written in Java.</a:t>
            </a:r>
          </a:p>
        </p:txBody>
      </p:sp>
    </p:spTree>
    <p:extLst>
      <p:ext uri="{BB962C8B-B14F-4D97-AF65-F5344CB8AC3E}">
        <p14:creationId xmlns:p14="http://schemas.microsoft.com/office/powerpoint/2010/main" val="15231954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B161AA-8012-1DFE-F2E5-29C5E590BBA0}"/>
              </a:ext>
            </a:extLst>
          </p:cNvPr>
          <p:cNvSpPr txBox="1"/>
          <p:nvPr/>
        </p:nvSpPr>
        <p:spPr>
          <a:xfrm>
            <a:off x="368491" y="417484"/>
            <a:ext cx="9239534" cy="41447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Why are wrapper classes needed in Java?</a:t>
            </a:r>
          </a:p>
          <a:p>
            <a:pPr algn="just">
              <a:lnSpc>
                <a:spcPts val="2100"/>
              </a:lnSpc>
              <a:spcBef>
                <a:spcPts val="1650"/>
              </a:spcBef>
              <a:buNone/>
            </a:pPr>
            <a:r>
              <a:rPr lang="en-US" b="0" i="0" dirty="0">
                <a:solidFill>
                  <a:srgbClr val="3A3A3A"/>
                </a:solidFill>
                <a:effectLst/>
                <a:latin typeface="Roboto" panose="02000000000000000000" pitchFamily="2" charset="0"/>
              </a:rPr>
              <a:t>We need wrapper classes to convert primitive data types to objects. They are required for special use cases such as follows: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Working with Collections: Collections in java work with objects and not primitive data types, so wrapper classes help convert primitive data types to collections.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Converting Data Types: Wrapper classes can help convert Strings to primitive data types.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Utility Methods: Wrapper classes have useful utility methods, which if we want to use, then we have to convert primitive data type to object.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Autoboxing and Unboxing: Java can automatically convert between primitive data types and their corresponding wrapper objects whenever needed.</a:t>
            </a:r>
          </a:p>
        </p:txBody>
      </p:sp>
    </p:spTree>
    <p:extLst>
      <p:ext uri="{BB962C8B-B14F-4D97-AF65-F5344CB8AC3E}">
        <p14:creationId xmlns:p14="http://schemas.microsoft.com/office/powerpoint/2010/main" val="39585885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20E3E3-0D0A-20E2-1410-1229AF31BBF9}"/>
              </a:ext>
            </a:extLst>
          </p:cNvPr>
          <p:cNvSpPr txBox="1"/>
          <p:nvPr/>
        </p:nvSpPr>
        <p:spPr>
          <a:xfrm>
            <a:off x="0" y="104100"/>
            <a:ext cx="9594376" cy="2900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Explain the following variables in Java:</a:t>
            </a:r>
          </a:p>
          <a:p>
            <a:pPr algn="just">
              <a:lnSpc>
                <a:spcPts val="2100"/>
              </a:lnSpc>
              <a:spcBef>
                <a:spcPts val="1650"/>
              </a:spcBef>
              <a:buNone/>
            </a:pPr>
            <a:r>
              <a:rPr lang="en-US" b="0" i="0" dirty="0">
                <a:solidFill>
                  <a:srgbClr val="3A3A3A"/>
                </a:solidFill>
                <a:effectLst/>
                <a:latin typeface="Roboto" panose="02000000000000000000" pitchFamily="2" charset="0"/>
              </a:rPr>
              <a:t>a. Instance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b. Local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 Class Variables</a:t>
            </a:r>
          </a:p>
          <a:p>
            <a:pPr algn="just">
              <a:lnSpc>
                <a:spcPts val="2100"/>
              </a:lnSpc>
              <a:spcBef>
                <a:spcPts val="750"/>
              </a:spcBef>
              <a:buNone/>
            </a:pPr>
            <a:r>
              <a:rPr lang="en-US" b="0" i="0" dirty="0">
                <a:solidFill>
                  <a:srgbClr val="3A3A3A"/>
                </a:solidFill>
                <a:effectLst/>
                <a:latin typeface="Roboto" panose="02000000000000000000" pitchFamily="2" charset="0"/>
              </a:rPr>
              <a:t>Instance variables are declared inside the class but outside the methods. So basically these are accessible by all the methods of that class. The default value for numeric types is 0, for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false and null for object references.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31A00230-8D14-EF4D-5E03-9F2E2A25C96B}"/>
              </a:ext>
            </a:extLst>
          </p:cNvPr>
          <p:cNvSpPr txBox="1"/>
          <p:nvPr/>
        </p:nvSpPr>
        <p:spPr>
          <a:xfrm>
            <a:off x="1344305" y="2804954"/>
            <a:ext cx="4981432" cy="8679299"/>
          </a:xfrm>
          <a:prstGeom prst="rect">
            <a:avLst/>
          </a:prstGeom>
          <a:noFill/>
        </p:spPr>
        <p:txBody>
          <a:bodyPr wrap="square">
            <a:spAutoFit/>
          </a:bodyPr>
          <a:lstStyle/>
          <a:p>
            <a:r>
              <a:rPr lang="en-US" dirty="0"/>
              <a:t>class Sample {</a:t>
            </a:r>
          </a:p>
          <a:p>
            <a:r>
              <a:rPr lang="en-US" dirty="0"/>
              <a:t>    // Instance Variables</a:t>
            </a:r>
          </a:p>
          <a:p>
            <a:r>
              <a:rPr lang="en-US" dirty="0"/>
              <a:t>    public String s1;</a:t>
            </a:r>
          </a:p>
          <a:p>
            <a:r>
              <a:rPr lang="en-US" dirty="0"/>
              <a:t>    public int m1;</a:t>
            </a:r>
          </a:p>
          <a:p>
            <a:endParaRPr lang="en-US" dirty="0"/>
          </a:p>
          <a:p>
            <a:r>
              <a:rPr lang="en-US" dirty="0"/>
              <a:t>    // main method</a:t>
            </a:r>
          </a:p>
          <a:p>
            <a:r>
              <a:rPr lang="en-US" dirty="0"/>
              <a:t>    public static void main(String[] </a:t>
            </a:r>
            <a:r>
              <a:rPr lang="en-US" dirty="0" err="1"/>
              <a:t>args</a:t>
            </a:r>
            <a:r>
              <a:rPr lang="en-US" dirty="0"/>
              <a:t>) {</a:t>
            </a:r>
          </a:p>
          <a:p>
            <a:r>
              <a:rPr lang="en-US" dirty="0"/>
              <a:t>        // Creating an instance of the Sample class</a:t>
            </a:r>
          </a:p>
          <a:p>
            <a:r>
              <a:rPr lang="en-US" dirty="0"/>
              <a:t>        Sample obj = new Sample();</a:t>
            </a:r>
          </a:p>
          <a:p>
            <a:endParaRPr lang="en-US" dirty="0"/>
          </a:p>
          <a:p>
            <a:r>
              <a:rPr lang="en-US" dirty="0"/>
              <a:t>        // Initializing instance variables</a:t>
            </a:r>
          </a:p>
          <a:p>
            <a:r>
              <a:rPr lang="en-US" dirty="0"/>
              <a:t>        obj.s1 = "</a:t>
            </a:r>
            <a:r>
              <a:rPr lang="en-US" dirty="0" err="1"/>
              <a:t>Intellipaat</a:t>
            </a:r>
            <a:r>
              <a:rPr lang="en-US" dirty="0"/>
              <a:t>";</a:t>
            </a:r>
          </a:p>
          <a:p>
            <a:r>
              <a:rPr lang="en-US" dirty="0"/>
              <a:t>        obj.m1 = 100;</a:t>
            </a:r>
          </a:p>
          <a:p>
            <a:endParaRPr lang="en-US" dirty="0"/>
          </a:p>
          <a:p>
            <a:r>
              <a:rPr lang="en-US" dirty="0"/>
              <a:t>        // Displaying the values of instance variables</a:t>
            </a:r>
          </a:p>
          <a:p>
            <a:r>
              <a:rPr lang="en-US" dirty="0"/>
              <a:t>        </a:t>
            </a:r>
            <a:r>
              <a:rPr lang="en-US" dirty="0" err="1"/>
              <a:t>System.out.println</a:t>
            </a:r>
            <a:r>
              <a:rPr lang="en-US" dirty="0"/>
              <a:t>("The value of s1 is: " + obj.s1);</a:t>
            </a:r>
          </a:p>
          <a:p>
            <a:r>
              <a:rPr lang="en-US" dirty="0"/>
              <a:t>        </a:t>
            </a:r>
            <a:r>
              <a:rPr lang="en-US" dirty="0" err="1"/>
              <a:t>System.out.println</a:t>
            </a:r>
            <a:r>
              <a:rPr lang="en-US" dirty="0"/>
              <a:t>("The value of m1 is: " + obj.m1);</a:t>
            </a:r>
          </a:p>
          <a:p>
            <a:endParaRPr lang="en-US" dirty="0"/>
          </a:p>
          <a:p>
            <a:r>
              <a:rPr lang="en-US" dirty="0"/>
              <a:t>        // Modifying instance variables</a:t>
            </a:r>
          </a:p>
          <a:p>
            <a:r>
              <a:rPr lang="en-US" dirty="0"/>
              <a:t>        obj.s1 = "Updated </a:t>
            </a:r>
            <a:r>
              <a:rPr lang="en-US" dirty="0" err="1"/>
              <a:t>Intellipaat</a:t>
            </a:r>
            <a:r>
              <a:rPr lang="en-US" dirty="0"/>
              <a:t>";</a:t>
            </a:r>
          </a:p>
          <a:p>
            <a:r>
              <a:rPr lang="en-US" dirty="0"/>
              <a:t>        obj.m1 = 200;</a:t>
            </a:r>
          </a:p>
          <a:p>
            <a:endParaRPr lang="en-US" dirty="0"/>
          </a:p>
          <a:p>
            <a:r>
              <a:rPr lang="en-US" dirty="0"/>
              <a:t>        // Displaying updated values</a:t>
            </a:r>
          </a:p>
          <a:p>
            <a:r>
              <a:rPr lang="en-US" dirty="0"/>
              <a:t>        </a:t>
            </a:r>
            <a:r>
              <a:rPr lang="en-US" dirty="0" err="1"/>
              <a:t>System.out.println</a:t>
            </a:r>
            <a:r>
              <a:rPr lang="en-US" dirty="0"/>
              <a:t>("The updated value of s1 is: " + obj.s1);</a:t>
            </a:r>
          </a:p>
          <a:p>
            <a:r>
              <a:rPr lang="en-US" dirty="0"/>
              <a:t>        </a:t>
            </a:r>
            <a:r>
              <a:rPr lang="en-US" dirty="0" err="1"/>
              <a:t>System.out.println</a:t>
            </a:r>
            <a:r>
              <a:rPr lang="en-US" dirty="0"/>
              <a:t>("The updated value of m1 is: " + obj.m1);</a:t>
            </a:r>
          </a:p>
          <a:p>
            <a:r>
              <a:rPr lang="en-US" dirty="0"/>
              <a:t>    }</a:t>
            </a:r>
          </a:p>
          <a:p>
            <a:r>
              <a:rPr lang="en-US" dirty="0"/>
              <a:t>}</a:t>
            </a:r>
          </a:p>
        </p:txBody>
      </p:sp>
    </p:spTree>
    <p:extLst>
      <p:ext uri="{BB962C8B-B14F-4D97-AF65-F5344CB8AC3E}">
        <p14:creationId xmlns:p14="http://schemas.microsoft.com/office/powerpoint/2010/main" val="31339317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D18AC1-6F3D-9C92-E720-FF4CF627E8ED}"/>
              </a:ext>
            </a:extLst>
          </p:cNvPr>
          <p:cNvSpPr txBox="1"/>
          <p:nvPr/>
        </p:nvSpPr>
        <p:spPr>
          <a:xfrm>
            <a:off x="0" y="109557"/>
            <a:ext cx="4954136" cy="154144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Local variables’ scope is limited to the function, constructor, or block of code, so no other function can access these variables. These variables don’t have any default value.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177C3CB0-DCAE-FCE6-4F1F-4152F7FB84D8}"/>
              </a:ext>
            </a:extLst>
          </p:cNvPr>
          <p:cNvSpPr txBox="1"/>
          <p:nvPr/>
        </p:nvSpPr>
        <p:spPr>
          <a:xfrm>
            <a:off x="129654" y="1801590"/>
            <a:ext cx="4981432" cy="5909310"/>
          </a:xfrm>
          <a:prstGeom prst="rect">
            <a:avLst/>
          </a:prstGeom>
          <a:noFill/>
        </p:spPr>
        <p:txBody>
          <a:bodyPr wrap="square">
            <a:spAutoFit/>
          </a:bodyPr>
          <a:lstStyle/>
          <a:p>
            <a:r>
              <a:rPr lang="en-US" dirty="0"/>
              <a:t>class Sample {</a:t>
            </a:r>
          </a:p>
          <a:p>
            <a:r>
              <a:rPr lang="en-US" dirty="0"/>
              <a:t>    // main method</a:t>
            </a:r>
          </a:p>
          <a:p>
            <a:r>
              <a:rPr lang="en-US" dirty="0"/>
              <a:t>    public static void main(String[] </a:t>
            </a:r>
            <a:r>
              <a:rPr lang="en-US" dirty="0" err="1"/>
              <a:t>args</a:t>
            </a:r>
            <a:r>
              <a:rPr lang="en-US" dirty="0"/>
              <a:t>) {</a:t>
            </a:r>
          </a:p>
          <a:p>
            <a:r>
              <a:rPr lang="en-US" dirty="0"/>
              <a:t>        // local variable</a:t>
            </a:r>
          </a:p>
          <a:p>
            <a:r>
              <a:rPr lang="en-US" dirty="0"/>
              <a:t>        int m1 = 50;</a:t>
            </a:r>
          </a:p>
          <a:p>
            <a:endParaRPr lang="en-US" dirty="0"/>
          </a:p>
          <a:p>
            <a:r>
              <a:rPr lang="en-US" dirty="0"/>
              <a:t>        // Displaying the value of the local variable</a:t>
            </a:r>
          </a:p>
          <a:p>
            <a:r>
              <a:rPr lang="en-US" dirty="0"/>
              <a:t>        </a:t>
            </a:r>
            <a:r>
              <a:rPr lang="en-US" dirty="0" err="1"/>
              <a:t>System.out.println</a:t>
            </a:r>
            <a:r>
              <a:rPr lang="en-US" dirty="0"/>
              <a:t>("The value of m1 is: " + m1);</a:t>
            </a:r>
          </a:p>
          <a:p>
            <a:endParaRPr lang="en-US" dirty="0"/>
          </a:p>
          <a:p>
            <a:r>
              <a:rPr lang="en-US" dirty="0"/>
              <a:t>        // Perform some operations on m1</a:t>
            </a:r>
          </a:p>
          <a:p>
            <a:r>
              <a:rPr lang="en-US" dirty="0"/>
              <a:t>        m1 = m1 + 25; // Add 25 to m1</a:t>
            </a:r>
          </a:p>
          <a:p>
            <a:r>
              <a:rPr lang="en-US" dirty="0"/>
              <a:t>        </a:t>
            </a:r>
            <a:r>
              <a:rPr lang="en-US" dirty="0" err="1"/>
              <a:t>System.out.println</a:t>
            </a:r>
            <a:r>
              <a:rPr lang="en-US" dirty="0"/>
              <a:t>("The updated value of m1 is: " + m1);</a:t>
            </a:r>
          </a:p>
          <a:p>
            <a:endParaRPr lang="en-US" dirty="0"/>
          </a:p>
          <a:p>
            <a:r>
              <a:rPr lang="en-US" dirty="0"/>
              <a:t>        // Further operation</a:t>
            </a:r>
          </a:p>
          <a:p>
            <a:r>
              <a:rPr lang="en-US" dirty="0"/>
              <a:t>        m1 = m1 * 2; // Multiply m1 by 2</a:t>
            </a:r>
          </a:p>
          <a:p>
            <a:r>
              <a:rPr lang="en-US" dirty="0"/>
              <a:t>        </a:t>
            </a:r>
            <a:r>
              <a:rPr lang="en-US" dirty="0" err="1"/>
              <a:t>System.out.println</a:t>
            </a:r>
            <a:r>
              <a:rPr lang="en-US" dirty="0"/>
              <a:t>("The value of m1 after multiplying by 2 is: " + m1);</a:t>
            </a:r>
          </a:p>
          <a:p>
            <a:r>
              <a:rPr lang="en-US" dirty="0"/>
              <a:t>    }</a:t>
            </a:r>
          </a:p>
          <a:p>
            <a:r>
              <a:rPr lang="en-US" dirty="0"/>
              <a:t>}</a:t>
            </a:r>
          </a:p>
        </p:txBody>
      </p:sp>
      <p:sp>
        <p:nvSpPr>
          <p:cNvPr id="7" name="TextBox 6">
            <a:extLst>
              <a:ext uri="{FF2B5EF4-FFF2-40B4-BE49-F238E27FC236}">
                <a16:creationId xmlns:a16="http://schemas.microsoft.com/office/drawing/2014/main" id="{B4AC32B0-386D-63E3-9227-796628BF8126}"/>
              </a:ext>
            </a:extLst>
          </p:cNvPr>
          <p:cNvSpPr txBox="1"/>
          <p:nvPr/>
        </p:nvSpPr>
        <p:spPr>
          <a:xfrm>
            <a:off x="4953000" y="0"/>
            <a:ext cx="4981432" cy="208005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Class variables are also known as static variables in Java, defined in a class using static keywords. These variables are stored in static memory and can be called in a program using the class name. The default values are the same as the instance variables.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9" name="TextBox 8">
            <a:extLst>
              <a:ext uri="{FF2B5EF4-FFF2-40B4-BE49-F238E27FC236}">
                <a16:creationId xmlns:a16="http://schemas.microsoft.com/office/drawing/2014/main" id="{D903AF72-039D-2404-3060-80EF434F1FC1}"/>
              </a:ext>
            </a:extLst>
          </p:cNvPr>
          <p:cNvSpPr txBox="1"/>
          <p:nvPr/>
        </p:nvSpPr>
        <p:spPr>
          <a:xfrm>
            <a:off x="4932528" y="2230642"/>
            <a:ext cx="5022376" cy="3970318"/>
          </a:xfrm>
          <a:prstGeom prst="rect">
            <a:avLst/>
          </a:prstGeom>
          <a:noFill/>
        </p:spPr>
        <p:txBody>
          <a:bodyPr wrap="square">
            <a:spAutoFit/>
          </a:bodyPr>
          <a:lstStyle/>
          <a:p>
            <a:r>
              <a:rPr lang="en-US" dirty="0"/>
              <a:t>class Sample {</a:t>
            </a:r>
          </a:p>
          <a:p>
            <a:r>
              <a:rPr lang="en-US" dirty="0"/>
              <a:t>    // Static or class variable</a:t>
            </a:r>
          </a:p>
          <a:p>
            <a:r>
              <a:rPr lang="en-US" dirty="0"/>
              <a:t>    public static String s1 = "</a:t>
            </a:r>
            <a:r>
              <a:rPr lang="en-US" dirty="0" err="1"/>
              <a:t>Intellipaat</a:t>
            </a:r>
            <a:r>
              <a:rPr lang="en-US" dirty="0"/>
              <a:t>";</a:t>
            </a:r>
          </a:p>
          <a:p>
            <a:endParaRPr lang="en-US" dirty="0"/>
          </a:p>
          <a:p>
            <a:r>
              <a:rPr lang="en-US" dirty="0"/>
              <a:t>    public static void main(String[] </a:t>
            </a:r>
            <a:r>
              <a:rPr lang="en-US" dirty="0" err="1"/>
              <a:t>args</a:t>
            </a:r>
            <a:r>
              <a:rPr lang="en-US" dirty="0"/>
              <a:t>) {</a:t>
            </a:r>
          </a:p>
          <a:p>
            <a:r>
              <a:rPr lang="en-US" dirty="0"/>
              <a:t>        // Accessing and printing the static variable</a:t>
            </a:r>
          </a:p>
          <a:p>
            <a:r>
              <a:rPr lang="en-US" dirty="0"/>
              <a:t>        </a:t>
            </a:r>
            <a:r>
              <a:rPr lang="en-US" dirty="0" err="1"/>
              <a:t>System.out.println</a:t>
            </a:r>
            <a:r>
              <a:rPr lang="en-US" dirty="0"/>
              <a:t>("The value of s1 is: " + s1);</a:t>
            </a:r>
          </a:p>
          <a:p>
            <a:endParaRPr lang="en-US" dirty="0"/>
          </a:p>
          <a:p>
            <a:r>
              <a:rPr lang="en-US" dirty="0"/>
              <a:t>        // Modifying the static variable</a:t>
            </a:r>
          </a:p>
          <a:p>
            <a:r>
              <a:rPr lang="en-US" dirty="0"/>
              <a:t>        s1 = "Updated </a:t>
            </a:r>
            <a:r>
              <a:rPr lang="en-US" dirty="0" err="1"/>
              <a:t>Intellipaat</a:t>
            </a:r>
            <a:r>
              <a:rPr lang="en-US" dirty="0"/>
              <a:t>";</a:t>
            </a:r>
          </a:p>
          <a:p>
            <a:r>
              <a:rPr lang="en-US" dirty="0"/>
              <a:t>        </a:t>
            </a:r>
            <a:r>
              <a:rPr lang="en-US" dirty="0" err="1"/>
              <a:t>System.out.println</a:t>
            </a:r>
            <a:r>
              <a:rPr lang="en-US" dirty="0"/>
              <a:t>("The updated value of s1 is: " + s1);</a:t>
            </a:r>
          </a:p>
          <a:p>
            <a:r>
              <a:rPr lang="en-US" dirty="0"/>
              <a:t>    }</a:t>
            </a:r>
          </a:p>
          <a:p>
            <a:r>
              <a:rPr lang="en-US" dirty="0"/>
              <a:t>}</a:t>
            </a:r>
          </a:p>
        </p:txBody>
      </p:sp>
      <p:sp>
        <p:nvSpPr>
          <p:cNvPr id="11" name="TextBox 10">
            <a:extLst>
              <a:ext uri="{FF2B5EF4-FFF2-40B4-BE49-F238E27FC236}">
                <a16:creationId xmlns:a16="http://schemas.microsoft.com/office/drawing/2014/main" id="{1976B6D0-D263-EE9F-D2A8-217EA0CC6096}"/>
              </a:ext>
            </a:extLst>
          </p:cNvPr>
          <p:cNvSpPr txBox="1"/>
          <p:nvPr/>
        </p:nvSpPr>
        <p:spPr>
          <a:xfrm>
            <a:off x="5390865" y="5752849"/>
            <a:ext cx="5022376"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main difference between Instance variables and Class Variables is that the instance variables belong to only a specified class in which they are declared. While the class variables belong to classes and subclasses.</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99248C-181A-3B7B-5AE3-D143200A24D2}"/>
              </a:ext>
            </a:extLst>
          </p:cNvPr>
          <p:cNvSpPr txBox="1"/>
          <p:nvPr/>
        </p:nvSpPr>
        <p:spPr>
          <a:xfrm>
            <a:off x="266131" y="237638"/>
            <a:ext cx="947836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Is Java a pure object-oriented programming language?</a:t>
            </a:r>
          </a:p>
          <a:p>
            <a:pPr algn="just">
              <a:lnSpc>
                <a:spcPts val="2100"/>
              </a:lnSpc>
              <a:spcBef>
                <a:spcPts val="1650"/>
              </a:spcBef>
              <a:buNone/>
            </a:pPr>
            <a:r>
              <a:rPr lang="en-US" b="0" i="0" dirty="0">
                <a:solidFill>
                  <a:srgbClr val="3A3A3A"/>
                </a:solidFill>
                <a:effectLst/>
                <a:latin typeface="Roboto" panose="02000000000000000000" pitchFamily="2" charset="0"/>
              </a:rPr>
              <a:t>No, Java is not a pure object-oriented programming language because it uses primitive data types like char,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int, short, long, double etc. and also supports the concepts of static methods and variables, which can be directly accessed with class names. A pure object oriented programming language treats everything as an object, however java uses both Object oriented programming and procedural programming language features.</a:t>
            </a:r>
          </a:p>
        </p:txBody>
      </p:sp>
      <p:sp>
        <p:nvSpPr>
          <p:cNvPr id="5" name="TextBox 4">
            <a:extLst>
              <a:ext uri="{FF2B5EF4-FFF2-40B4-BE49-F238E27FC236}">
                <a16:creationId xmlns:a16="http://schemas.microsoft.com/office/drawing/2014/main" id="{E9344394-C69D-756D-76DB-26BD960A4993}"/>
              </a:ext>
            </a:extLst>
          </p:cNvPr>
          <p:cNvSpPr txBox="1"/>
          <p:nvPr/>
        </p:nvSpPr>
        <p:spPr>
          <a:xfrm>
            <a:off x="266131" y="2627447"/>
            <a:ext cx="9369188"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What are the differences between </a:t>
            </a:r>
            <a:r>
              <a:rPr lang="en-US" b="0" i="0" dirty="0" err="1">
                <a:solidFill>
                  <a:srgbClr val="272C37"/>
                </a:solidFill>
                <a:effectLst/>
                <a:latin typeface="Roboto" panose="02000000000000000000" pitchFamily="2" charset="0"/>
              </a:rPr>
              <a:t>StringBuffer</a:t>
            </a:r>
            <a:r>
              <a:rPr lang="en-US" b="0" i="0" dirty="0">
                <a:solidFill>
                  <a:srgbClr val="272C37"/>
                </a:solidFill>
                <a:effectLst/>
                <a:latin typeface="Roboto" panose="02000000000000000000" pitchFamily="2" charset="0"/>
              </a:rPr>
              <a:t> and StringBuilder in Java programming?</a:t>
            </a:r>
          </a:p>
        </p:txBody>
      </p:sp>
      <p:graphicFrame>
        <p:nvGraphicFramePr>
          <p:cNvPr id="6" name="Table 5">
            <a:extLst>
              <a:ext uri="{FF2B5EF4-FFF2-40B4-BE49-F238E27FC236}">
                <a16:creationId xmlns:a16="http://schemas.microsoft.com/office/drawing/2014/main" id="{FDEDB100-0475-D22C-FA67-CAD36E13C519}"/>
              </a:ext>
            </a:extLst>
          </p:cNvPr>
          <p:cNvGraphicFramePr>
            <a:graphicFrameLocks noGrp="1"/>
          </p:cNvGraphicFramePr>
          <p:nvPr/>
        </p:nvGraphicFramePr>
        <p:xfrm>
          <a:off x="681038" y="3269774"/>
          <a:ext cx="8543924" cy="1463040"/>
        </p:xfrm>
        <a:graphic>
          <a:graphicData uri="http://schemas.openxmlformats.org/drawingml/2006/table">
            <a:tbl>
              <a:tblPr/>
              <a:tblGrid>
                <a:gridCol w="4271962">
                  <a:extLst>
                    <a:ext uri="{9D8B030D-6E8A-4147-A177-3AD203B41FA5}">
                      <a16:colId xmlns:a16="http://schemas.microsoft.com/office/drawing/2014/main" val="258259869"/>
                    </a:ext>
                  </a:extLst>
                </a:gridCol>
                <a:gridCol w="4271962">
                  <a:extLst>
                    <a:ext uri="{9D8B030D-6E8A-4147-A177-3AD203B41FA5}">
                      <a16:colId xmlns:a16="http://schemas.microsoft.com/office/drawing/2014/main" val="2503829115"/>
                    </a:ext>
                  </a:extLst>
                </a:gridCol>
              </a:tblGrid>
              <a:tr h="365760">
                <a:tc>
                  <a:txBody>
                    <a:bodyPr/>
                    <a:lstStyle/>
                    <a:p>
                      <a:pPr algn="ctr" fontAlgn="t">
                        <a:buNone/>
                      </a:pPr>
                      <a:r>
                        <a:rPr lang="en-US" sz="1800" b="0">
                          <a:solidFill>
                            <a:srgbClr val="FFFFFF"/>
                          </a:solidFill>
                          <a:effectLst/>
                        </a:rPr>
                        <a:t>StringBuffer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StringBuilder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40471703"/>
                  </a:ext>
                </a:extLst>
              </a:tr>
              <a:tr h="365760">
                <a:tc>
                  <a:txBody>
                    <a:bodyPr/>
                    <a:lstStyle/>
                    <a:p>
                      <a:pPr fontAlgn="t">
                        <a:buNone/>
                      </a:pPr>
                      <a:r>
                        <a:rPr lang="en-US" sz="1800">
                          <a:effectLst/>
                        </a:rPr>
                        <a:t>StringBuffer methods are 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StringBuilder</a:t>
                      </a:r>
                      <a:r>
                        <a:rPr lang="en-US" sz="1800">
                          <a:effectLst/>
                        </a:rPr>
                        <a:t> is non-synchronized.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0215446"/>
                  </a:ext>
                </a:extLst>
              </a:tr>
              <a:tr h="365760">
                <a:tc>
                  <a:txBody>
                    <a:bodyPr/>
                    <a:lstStyle/>
                    <a:p>
                      <a:pPr fontAlgn="t">
                        <a:buNone/>
                      </a:pPr>
                      <a:r>
                        <a:rPr lang="en-US" sz="1800">
                          <a:effectLst/>
                        </a:rPr>
                        <a:t>StringBuffer is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StringBuilder is not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0687581"/>
                  </a:ext>
                </a:extLst>
              </a:tr>
              <a:tr h="365760">
                <a:tc>
                  <a:txBody>
                    <a:bodyPr/>
                    <a:lstStyle/>
                    <a:p>
                      <a:pPr fontAlgn="t">
                        <a:buNone/>
                      </a:pPr>
                      <a:r>
                        <a:rPr lang="en-US" sz="1800">
                          <a:effectLst/>
                        </a:rPr>
                        <a:t>The performance is very slow.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performance is very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1534119"/>
                  </a:ext>
                </a:extLst>
              </a:tr>
            </a:tbl>
          </a:graphicData>
        </a:graphic>
      </p:graphicFrame>
    </p:spTree>
    <p:extLst>
      <p:ext uri="{BB962C8B-B14F-4D97-AF65-F5344CB8AC3E}">
        <p14:creationId xmlns:p14="http://schemas.microsoft.com/office/powerpoint/2010/main" val="23667029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88A793-A036-9C29-FD2A-0E1B86DF75D5}"/>
              </a:ext>
            </a:extLst>
          </p:cNvPr>
          <p:cNvSpPr txBox="1"/>
          <p:nvPr/>
        </p:nvSpPr>
        <p:spPr>
          <a:xfrm>
            <a:off x="204716" y="155376"/>
            <a:ext cx="657139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List the differences between an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a Vector.</a:t>
            </a:r>
          </a:p>
        </p:txBody>
      </p:sp>
      <p:graphicFrame>
        <p:nvGraphicFramePr>
          <p:cNvPr id="4" name="Table 3">
            <a:extLst>
              <a:ext uri="{FF2B5EF4-FFF2-40B4-BE49-F238E27FC236}">
                <a16:creationId xmlns:a16="http://schemas.microsoft.com/office/drawing/2014/main" id="{0FCE2DDE-8121-F3FF-EFC3-829BD8B09E12}"/>
              </a:ext>
            </a:extLst>
          </p:cNvPr>
          <p:cNvGraphicFramePr>
            <a:graphicFrameLocks noGrp="1"/>
          </p:cNvGraphicFramePr>
          <p:nvPr>
            <p:extLst>
              <p:ext uri="{D42A27DB-BD31-4B8C-83A1-F6EECF244321}">
                <p14:modId xmlns:p14="http://schemas.microsoft.com/office/powerpoint/2010/main" val="2431776105"/>
              </p:ext>
            </p:extLst>
          </p:nvPr>
        </p:nvGraphicFramePr>
        <p:xfrm>
          <a:off x="857759" y="860538"/>
          <a:ext cx="7972119" cy="4398120"/>
        </p:xfrm>
        <a:graphic>
          <a:graphicData uri="http://schemas.openxmlformats.org/drawingml/2006/table">
            <a:tbl>
              <a:tblPr/>
              <a:tblGrid>
                <a:gridCol w="2657373">
                  <a:extLst>
                    <a:ext uri="{9D8B030D-6E8A-4147-A177-3AD203B41FA5}">
                      <a16:colId xmlns:a16="http://schemas.microsoft.com/office/drawing/2014/main" val="641263869"/>
                    </a:ext>
                  </a:extLst>
                </a:gridCol>
                <a:gridCol w="2657373">
                  <a:extLst>
                    <a:ext uri="{9D8B030D-6E8A-4147-A177-3AD203B41FA5}">
                      <a16:colId xmlns:a16="http://schemas.microsoft.com/office/drawing/2014/main" val="2269139765"/>
                    </a:ext>
                  </a:extLst>
                </a:gridCol>
                <a:gridCol w="2657373">
                  <a:extLst>
                    <a:ext uri="{9D8B030D-6E8A-4147-A177-3AD203B41FA5}">
                      <a16:colId xmlns:a16="http://schemas.microsoft.com/office/drawing/2014/main" val="2277441443"/>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ArrayList</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Vector</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89959491"/>
                  </a:ext>
                </a:extLst>
              </a:tr>
              <a:tr h="597242">
                <a:tc>
                  <a:txBody>
                    <a:bodyPr/>
                    <a:lstStyle/>
                    <a:p>
                      <a:pPr fontAlgn="t">
                        <a:buNone/>
                      </a:pPr>
                      <a:r>
                        <a:rPr lang="en-US" sz="1700">
                          <a:effectLst/>
                        </a:rPr>
                        <a:t>Synchronization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not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a:t>
                      </a:r>
                      <a:r>
                        <a:rPr lang="en-US" sz="1700" b="0" u="none" strike="noStrike">
                          <a:solidFill>
                            <a:srgbClr val="0F5A9E"/>
                          </a:solidFill>
                          <a:effectLst/>
                          <a:hlinkClick r:id="rId2"/>
                        </a:rPr>
                        <a:t>vector</a:t>
                      </a:r>
                      <a:r>
                        <a:rPr lang="en-US" sz="1700">
                          <a:effectLst/>
                        </a:rPr>
                        <a:t> is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84810590"/>
                  </a:ext>
                </a:extLst>
              </a:tr>
              <a:tr h="597242">
                <a:tc>
                  <a:txBody>
                    <a:bodyPr/>
                    <a:lstStyle/>
                    <a:p>
                      <a:pPr fontAlgn="t">
                        <a:buNone/>
                      </a:pPr>
                      <a:r>
                        <a:rPr lang="en-US" sz="1700">
                          <a:effectLst/>
                        </a:rPr>
                        <a:t>Performance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fast.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is slow as it is thread-safe.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81582448"/>
                  </a:ext>
                </a:extLst>
              </a:tr>
              <a:tr h="1109165">
                <a:tc>
                  <a:txBody>
                    <a:bodyPr/>
                    <a:lstStyle/>
                    <a:p>
                      <a:pPr fontAlgn="t">
                        <a:buNone/>
                      </a:pPr>
                      <a:r>
                        <a:rPr lang="en-US" sz="1700">
                          <a:effectLst/>
                        </a:rPr>
                        <a:t>Growth Policy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If an element is inserted into an ArrayList, it increases its array size by 50 percent.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defaults to doubling the size of its array.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14659214"/>
                  </a:ext>
                </a:extLst>
              </a:tr>
              <a:tr h="597242">
                <a:tc>
                  <a:txBody>
                    <a:bodyPr/>
                    <a:lstStyle/>
                    <a:p>
                      <a:pPr fontAlgn="t">
                        <a:buNone/>
                      </a:pPr>
                      <a:r>
                        <a:rPr lang="en-US" sz="1700">
                          <a:effectLst/>
                        </a:rPr>
                        <a:t>Capacity Increment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does not define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defines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5515223"/>
                  </a:ext>
                </a:extLst>
              </a:tr>
              <a:tr h="1109165">
                <a:tc>
                  <a:txBody>
                    <a:bodyPr/>
                    <a:lstStyle/>
                    <a:p>
                      <a:pPr fontAlgn="t">
                        <a:buNone/>
                      </a:pPr>
                      <a:r>
                        <a:rPr lang="en-US" sz="1700">
                          <a:effectLst/>
                        </a:rPr>
                        <a:t>Traversal Mechanism</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uses an Iterator for traversing.</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Except for the </a:t>
                      </a:r>
                      <a:r>
                        <a:rPr lang="en-US" sz="1700" dirty="0" err="1">
                          <a:effectLst/>
                        </a:rPr>
                        <a:t>hashtable</a:t>
                      </a:r>
                      <a:r>
                        <a:rPr lang="en-US" sz="1700" dirty="0">
                          <a:effectLst/>
                        </a:rPr>
                        <a:t>, a vector is the only other class using Enumeration and Iterator.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05569980"/>
                  </a:ext>
                </a:extLst>
              </a:tr>
            </a:tbl>
          </a:graphicData>
        </a:graphic>
      </p:graphicFrame>
    </p:spTree>
    <p:extLst>
      <p:ext uri="{BB962C8B-B14F-4D97-AF65-F5344CB8AC3E}">
        <p14:creationId xmlns:p14="http://schemas.microsoft.com/office/powerpoint/2010/main" val="24405599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01AC21-EC81-0C03-3A6F-1E44695FCF1F}"/>
              </a:ext>
            </a:extLst>
          </p:cNvPr>
          <p:cNvSpPr txBox="1"/>
          <p:nvPr/>
        </p:nvSpPr>
        <p:spPr>
          <a:xfrm>
            <a:off x="116006" y="0"/>
            <a:ext cx="495413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Explain Iterator vs Enumeration.</a:t>
            </a:r>
          </a:p>
        </p:txBody>
      </p:sp>
      <p:graphicFrame>
        <p:nvGraphicFramePr>
          <p:cNvPr id="4" name="Table 3">
            <a:extLst>
              <a:ext uri="{FF2B5EF4-FFF2-40B4-BE49-F238E27FC236}">
                <a16:creationId xmlns:a16="http://schemas.microsoft.com/office/drawing/2014/main" id="{EC47BFFA-5B4D-4BCA-1F40-DDD1C492C6BF}"/>
              </a:ext>
            </a:extLst>
          </p:cNvPr>
          <p:cNvGraphicFramePr>
            <a:graphicFrameLocks noGrp="1"/>
          </p:cNvGraphicFramePr>
          <p:nvPr/>
        </p:nvGraphicFramePr>
        <p:xfrm>
          <a:off x="681038" y="2169001"/>
          <a:ext cx="8543924" cy="3664585"/>
        </p:xfrm>
        <a:graphic>
          <a:graphicData uri="http://schemas.openxmlformats.org/drawingml/2006/table">
            <a:tbl>
              <a:tblPr/>
              <a:tblGrid>
                <a:gridCol w="4271962">
                  <a:extLst>
                    <a:ext uri="{9D8B030D-6E8A-4147-A177-3AD203B41FA5}">
                      <a16:colId xmlns:a16="http://schemas.microsoft.com/office/drawing/2014/main" val="996416561"/>
                    </a:ext>
                  </a:extLst>
                </a:gridCol>
                <a:gridCol w="4271962">
                  <a:extLst>
                    <a:ext uri="{9D8B030D-6E8A-4147-A177-3AD203B41FA5}">
                      <a16:colId xmlns:a16="http://schemas.microsoft.com/office/drawing/2014/main" val="397300579"/>
                    </a:ext>
                  </a:extLst>
                </a:gridCol>
              </a:tblGrid>
              <a:tr h="365760">
                <a:tc>
                  <a:txBody>
                    <a:bodyPr/>
                    <a:lstStyle/>
                    <a:p>
                      <a:pPr algn="ctr" fontAlgn="t">
                        <a:buNone/>
                      </a:pPr>
                      <a:r>
                        <a:rPr lang="en-US" sz="1800" b="0">
                          <a:solidFill>
                            <a:srgbClr val="FFFFFF"/>
                          </a:solidFill>
                          <a:effectLst/>
                        </a:rPr>
                        <a:t>Iterator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Enumeration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63340820"/>
                  </a:ext>
                </a:extLst>
              </a:tr>
              <a:tr h="914400">
                <a:tc>
                  <a:txBody>
                    <a:bodyPr/>
                    <a:lstStyle/>
                    <a:p>
                      <a:pPr fontAlgn="t">
                        <a:buNone/>
                      </a:pPr>
                      <a:r>
                        <a:rPr lang="en-US" sz="1800">
                          <a:effectLst/>
                        </a:rPr>
                        <a:t>Iterator is an interface found in the java.util 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Enumeration</a:t>
                      </a:r>
                      <a:r>
                        <a:rPr lang="en-US" sz="1800">
                          <a:effectLst/>
                        </a:rPr>
                        <a:t> is a special data type that allows you to define a fixed set of constants.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24058087"/>
                  </a:ext>
                </a:extLst>
              </a:tr>
              <a:tr h="1744345">
                <a:tc>
                  <a:txBody>
                    <a:bodyPr/>
                    <a:lstStyle/>
                    <a:p>
                      <a:pPr algn="just" fontAlgn="t">
                        <a:lnSpc>
                          <a:spcPts val="2100"/>
                        </a:lnSpc>
                        <a:spcBef>
                          <a:spcPts val="1650"/>
                        </a:spcBef>
                        <a:spcAft>
                          <a:spcPts val="600"/>
                        </a:spcAft>
                        <a:buFont typeface="+mj-lt"/>
                        <a:buAutoNum type="arabicPeriod"/>
                      </a:pPr>
                      <a:r>
                        <a:rPr lang="en-US" sz="1800">
                          <a:effectLst/>
                        </a:rPr>
                        <a:t>Uses three methods to interface:</a:t>
                      </a:r>
                      <a:r>
                        <a:rPr lang="en-US" sz="1800">
                          <a:solidFill>
                            <a:srgbClr val="3A3A3A"/>
                          </a:solidFill>
                          <a:effectLst/>
                        </a:rPr>
                        <a:t>hasNext()</a:t>
                      </a:r>
                    </a:p>
                    <a:p>
                      <a:pPr algn="just" fontAlgn="t">
                        <a:lnSpc>
                          <a:spcPts val="2100"/>
                        </a:lnSpc>
                        <a:spcBef>
                          <a:spcPts val="1650"/>
                        </a:spcBef>
                        <a:spcAft>
                          <a:spcPts val="600"/>
                        </a:spcAft>
                        <a:buFont typeface="+mj-lt"/>
                        <a:buAutoNum type="arabicPeriod"/>
                      </a:pPr>
                      <a:r>
                        <a:rPr lang="en-US" sz="1800">
                          <a:solidFill>
                            <a:srgbClr val="3A3A3A"/>
                          </a:solidFill>
                          <a:effectLst/>
                        </a:rPr>
                        <a:t>next()</a:t>
                      </a:r>
                    </a:p>
                    <a:p>
                      <a:pPr algn="just" fontAlgn="t">
                        <a:lnSpc>
                          <a:spcPts val="2100"/>
                        </a:lnSpc>
                        <a:spcBef>
                          <a:spcPts val="1650"/>
                        </a:spcBef>
                        <a:spcAft>
                          <a:spcPts val="600"/>
                        </a:spcAft>
                        <a:buFont typeface="+mj-lt"/>
                        <a:buAutoNum type="arabicPeriod"/>
                      </a:pPr>
                      <a:r>
                        <a:rPr lang="en-US" sz="1800">
                          <a:solidFill>
                            <a:srgbClr val="3A3A3A"/>
                          </a:solidFill>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just" fontAlgn="t">
                        <a:lnSpc>
                          <a:spcPts val="2100"/>
                        </a:lnSpc>
                        <a:spcBef>
                          <a:spcPts val="1650"/>
                        </a:spcBef>
                        <a:spcAft>
                          <a:spcPts val="600"/>
                        </a:spcAft>
                        <a:buFont typeface="+mj-lt"/>
                        <a:buAutoNum type="arabicPeriod"/>
                      </a:pPr>
                      <a:r>
                        <a:rPr lang="en-US" sz="1800">
                          <a:effectLst/>
                        </a:rPr>
                        <a:t>Uses two methods:</a:t>
                      </a:r>
                      <a:r>
                        <a:rPr lang="en-US" sz="1800">
                          <a:solidFill>
                            <a:srgbClr val="3A3A3A"/>
                          </a:solidFill>
                          <a:effectLst/>
                        </a:rPr>
                        <a:t>hasMoreElements()</a:t>
                      </a:r>
                    </a:p>
                    <a:p>
                      <a:pPr algn="just" fontAlgn="t">
                        <a:lnSpc>
                          <a:spcPts val="2100"/>
                        </a:lnSpc>
                        <a:spcBef>
                          <a:spcPts val="1650"/>
                        </a:spcBef>
                        <a:spcAft>
                          <a:spcPts val="600"/>
                        </a:spcAft>
                        <a:buFont typeface="+mj-lt"/>
                        <a:buAutoNum type="arabicPeriod"/>
                      </a:pPr>
                      <a:r>
                        <a:rPr lang="en-US" sz="1800">
                          <a:solidFill>
                            <a:srgbClr val="3A3A3A"/>
                          </a:solidFill>
                          <a:effectLst/>
                        </a:rPr>
                        <a:t>nextElement()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09941248"/>
                  </a:ext>
                </a:extLst>
              </a:tr>
              <a:tr h="640080">
                <a:tc>
                  <a:txBody>
                    <a:bodyPr/>
                    <a:lstStyle/>
                    <a:p>
                      <a:pPr fontAlgn="t">
                        <a:buNone/>
                      </a:pPr>
                      <a:r>
                        <a:rPr lang="en-US" sz="1800">
                          <a:effectLst/>
                        </a:rPr>
                        <a:t>Iterator method names have been improved.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traversing of elements can only be done once per creation.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5778830"/>
                  </a:ext>
                </a:extLst>
              </a:tr>
            </a:tbl>
          </a:graphicData>
        </a:graphic>
      </p:graphicFrame>
    </p:spTree>
    <p:extLst>
      <p:ext uri="{BB962C8B-B14F-4D97-AF65-F5344CB8AC3E}">
        <p14:creationId xmlns:p14="http://schemas.microsoft.com/office/powerpoint/2010/main" val="4701438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82604B-D5F1-518D-C261-FD93F20C1BCA}"/>
              </a:ext>
            </a:extLst>
          </p:cNvPr>
          <p:cNvSpPr txBox="1"/>
          <p:nvPr/>
        </p:nvSpPr>
        <p:spPr>
          <a:xfrm>
            <a:off x="348018" y="291854"/>
            <a:ext cx="8767762"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What are the differences between the inner class and the subclass?</a:t>
            </a:r>
          </a:p>
        </p:txBody>
      </p:sp>
      <p:graphicFrame>
        <p:nvGraphicFramePr>
          <p:cNvPr id="4" name="Table 3">
            <a:extLst>
              <a:ext uri="{FF2B5EF4-FFF2-40B4-BE49-F238E27FC236}">
                <a16:creationId xmlns:a16="http://schemas.microsoft.com/office/drawing/2014/main" id="{BFE8D3E3-C93A-8BAC-ADCE-F5F6C2454044}"/>
              </a:ext>
            </a:extLst>
          </p:cNvPr>
          <p:cNvGraphicFramePr>
            <a:graphicFrameLocks noGrp="1"/>
          </p:cNvGraphicFramePr>
          <p:nvPr>
            <p:extLst>
              <p:ext uri="{D42A27DB-BD31-4B8C-83A1-F6EECF244321}">
                <p14:modId xmlns:p14="http://schemas.microsoft.com/office/powerpoint/2010/main" val="3806859571"/>
              </p:ext>
            </p:extLst>
          </p:nvPr>
        </p:nvGraphicFramePr>
        <p:xfrm>
          <a:off x="571856" y="1565851"/>
          <a:ext cx="8543924" cy="2468880"/>
        </p:xfrm>
        <a:graphic>
          <a:graphicData uri="http://schemas.openxmlformats.org/drawingml/2006/table">
            <a:tbl>
              <a:tblPr/>
              <a:tblGrid>
                <a:gridCol w="4271962">
                  <a:extLst>
                    <a:ext uri="{9D8B030D-6E8A-4147-A177-3AD203B41FA5}">
                      <a16:colId xmlns:a16="http://schemas.microsoft.com/office/drawing/2014/main" val="141892242"/>
                    </a:ext>
                  </a:extLst>
                </a:gridCol>
                <a:gridCol w="4271962">
                  <a:extLst>
                    <a:ext uri="{9D8B030D-6E8A-4147-A177-3AD203B41FA5}">
                      <a16:colId xmlns:a16="http://schemas.microsoft.com/office/drawing/2014/main" val="2796274134"/>
                    </a:ext>
                  </a:extLst>
                </a:gridCol>
              </a:tblGrid>
              <a:tr h="365760">
                <a:tc>
                  <a:txBody>
                    <a:bodyPr/>
                    <a:lstStyle/>
                    <a:p>
                      <a:pPr algn="ctr" fontAlgn="t">
                        <a:buNone/>
                      </a:pPr>
                      <a:r>
                        <a:rPr lang="en-US" sz="1800" b="0">
                          <a:solidFill>
                            <a:srgbClr val="FFFFFF"/>
                          </a:solidFill>
                          <a:effectLst/>
                        </a:rPr>
                        <a:t>Inner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Subclass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5369288"/>
                  </a:ext>
                </a:extLst>
              </a:tr>
              <a:tr h="914400">
                <a:tc>
                  <a:txBody>
                    <a:bodyPr/>
                    <a:lstStyle/>
                    <a:p>
                      <a:pPr fontAlgn="t">
                        <a:buNone/>
                      </a:pPr>
                      <a:r>
                        <a:rPr lang="en-US" sz="1800">
                          <a:effectLst/>
                        </a:rPr>
                        <a:t>An </a:t>
                      </a:r>
                      <a:r>
                        <a:rPr lang="en-US" sz="1800" u="none" strike="noStrike">
                          <a:solidFill>
                            <a:srgbClr val="0F5A9E"/>
                          </a:solidFill>
                          <a:effectLst/>
                          <a:hlinkClick r:id="rId2"/>
                        </a:rPr>
                        <a:t>inner class</a:t>
                      </a:r>
                      <a:r>
                        <a:rPr lang="en-US" sz="1800">
                          <a:effectLst/>
                        </a:rPr>
                        <a:t> is a class that is defined within another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subclass is a class that </a:t>
                      </a:r>
                      <a:r>
                        <a:rPr lang="en-US" sz="1800" b="0" u="none" strike="noStrike">
                          <a:solidFill>
                            <a:srgbClr val="0F5A9E"/>
                          </a:solidFill>
                          <a:effectLst/>
                          <a:hlinkClick r:id="rId3"/>
                        </a:rPr>
                        <a:t>inherits</a:t>
                      </a:r>
                      <a:r>
                        <a:rPr lang="en-US" sz="1800">
                          <a:effectLst/>
                        </a:rPr>
                        <a:t> properties from another class called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5661208"/>
                  </a:ext>
                </a:extLst>
              </a:tr>
              <a:tr h="1188720">
                <a:tc>
                  <a:txBody>
                    <a:bodyPr/>
                    <a:lstStyle/>
                    <a:p>
                      <a:pPr fontAlgn="t">
                        <a:buNone/>
                      </a:pPr>
                      <a:r>
                        <a:rPr lang="en-US" sz="1800">
                          <a:effectLst/>
                        </a:rPr>
                        <a:t>It provides access rights for the class, which is nesting it, which can access all variables and methods defined in the outer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It provides access to all public and protected methods and fields of its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8691986"/>
                  </a:ext>
                </a:extLst>
              </a:tr>
            </a:tbl>
          </a:graphicData>
        </a:graphic>
      </p:graphicFrame>
    </p:spTree>
    <p:extLst>
      <p:ext uri="{BB962C8B-B14F-4D97-AF65-F5344CB8AC3E}">
        <p14:creationId xmlns:p14="http://schemas.microsoft.com/office/powerpoint/2010/main" val="41036620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AA48-CB44-8D77-AA8F-7CA90F712B76}"/>
              </a:ext>
            </a:extLst>
          </p:cNvPr>
          <p:cNvSpPr txBox="1"/>
          <p:nvPr/>
        </p:nvSpPr>
        <p:spPr>
          <a:xfrm>
            <a:off x="375313" y="113162"/>
            <a:ext cx="9260006" cy="31829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How can we restrict a class from being inherited?</a:t>
            </a:r>
          </a:p>
          <a:p>
            <a:pPr algn="just">
              <a:lnSpc>
                <a:spcPts val="2100"/>
              </a:lnSpc>
              <a:spcBef>
                <a:spcPts val="1650"/>
              </a:spcBef>
              <a:buNone/>
            </a:pPr>
            <a:r>
              <a:rPr lang="en-US" b="0" i="0" dirty="0">
                <a:solidFill>
                  <a:srgbClr val="3A3A3A"/>
                </a:solidFill>
                <a:effectLst/>
                <a:latin typeface="Roboto" panose="02000000000000000000" pitchFamily="2" charset="0"/>
              </a:rPr>
              <a:t>There are various ways to restrict inheritance for a class in Java. They are listed below: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the final keyword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private </a:t>
            </a:r>
            <a:r>
              <a:rPr lang="en-US" b="0" i="0" u="none" strike="noStrike" dirty="0">
                <a:solidFill>
                  <a:srgbClr val="0F5A9E"/>
                </a:solidFill>
                <a:effectLst/>
                <a:latin typeface="Roboto" panose="02000000000000000000" pitchFamily="2" charset="0"/>
                <a:hlinkClick r:id="rId2"/>
              </a:rPr>
              <a:t>constructors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sealed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By using final keyword: if you mark a class as final, it cannot be extended, below is the code for the same.</a:t>
            </a:r>
          </a:p>
        </p:txBody>
      </p:sp>
      <p:sp>
        <p:nvSpPr>
          <p:cNvPr id="5" name="TextBox 4">
            <a:extLst>
              <a:ext uri="{FF2B5EF4-FFF2-40B4-BE49-F238E27FC236}">
                <a16:creationId xmlns:a16="http://schemas.microsoft.com/office/drawing/2014/main" id="{D66EAE64-4895-E3D9-4598-116A88E5BDB4}"/>
              </a:ext>
            </a:extLst>
          </p:cNvPr>
          <p:cNvSpPr txBox="1"/>
          <p:nvPr/>
        </p:nvSpPr>
        <p:spPr>
          <a:xfrm>
            <a:off x="1344305" y="3788098"/>
            <a:ext cx="4954136" cy="6740307"/>
          </a:xfrm>
          <a:prstGeom prst="rect">
            <a:avLst/>
          </a:prstGeom>
          <a:noFill/>
        </p:spPr>
        <p:txBody>
          <a:bodyPr wrap="square">
            <a:spAutoFit/>
          </a:bodyPr>
          <a:lstStyle/>
          <a:p>
            <a:r>
              <a:rPr lang="en-US" dirty="0"/>
              <a:t>public class </a:t>
            </a:r>
            <a:r>
              <a:rPr lang="en-US" dirty="0" err="1"/>
              <a:t>ExampleFinal</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r>
              <a:rPr lang="en-US" dirty="0" err="1"/>
              <a:t>d.display</a:t>
            </a:r>
            <a:r>
              <a:rPr lang="en-US" dirty="0"/>
              <a:t>();</a:t>
            </a:r>
          </a:p>
          <a:p>
            <a:r>
              <a:rPr lang="en-US" dirty="0"/>
              <a:t>        </a:t>
            </a:r>
            <a:r>
              <a:rPr lang="en-US" dirty="0" err="1"/>
              <a:t>d.show</a:t>
            </a:r>
            <a:r>
              <a:rPr lang="en-US" dirty="0"/>
              <a:t>();</a:t>
            </a:r>
          </a:p>
          <a:p>
            <a:r>
              <a:rPr lang="en-US" dirty="0"/>
              <a:t>    }</a:t>
            </a:r>
          </a:p>
          <a:p>
            <a:r>
              <a:rPr lang="en-US" dirty="0"/>
              <a:t>}</a:t>
            </a:r>
          </a:p>
          <a:p>
            <a:endParaRPr lang="en-US" dirty="0"/>
          </a:p>
          <a:p>
            <a:r>
              <a:rPr lang="en-US" dirty="0"/>
              <a:t>// This will cause a compile-time error because Base is final and cannot be extended</a:t>
            </a:r>
          </a:p>
          <a:p>
            <a:r>
              <a:rPr lang="en-US" dirty="0"/>
              <a:t>final class Base {</a:t>
            </a:r>
          </a:p>
          <a:p>
            <a:r>
              <a:rPr lang="en-US" dirty="0"/>
              <a:t>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Compile-time error: Cannot inherit from final 'Base'</a:t>
            </a:r>
          </a:p>
          <a:p>
            <a:r>
              <a:rPr lang="en-US" dirty="0"/>
              <a:t>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p:txBody>
      </p:sp>
      <p:sp>
        <p:nvSpPr>
          <p:cNvPr id="7" name="TextBox 6">
            <a:extLst>
              <a:ext uri="{FF2B5EF4-FFF2-40B4-BE49-F238E27FC236}">
                <a16:creationId xmlns:a16="http://schemas.microsoft.com/office/drawing/2014/main" id="{63723134-CB6F-731C-7E7D-3BE64C5645BC}"/>
              </a:ext>
            </a:extLst>
          </p:cNvPr>
          <p:cNvSpPr txBox="1"/>
          <p:nvPr/>
        </p:nvSpPr>
        <p:spPr>
          <a:xfrm>
            <a:off x="6298441" y="3187933"/>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‘Base’ class is ‘final’, and hence it cannot be inherited. Here, if you remove the ‘final’ keyword from the ‘Base’ class, the code will work as intended.</a:t>
            </a:r>
            <a:endParaRPr lang="en-US" dirty="0"/>
          </a:p>
        </p:txBody>
      </p:sp>
    </p:spTree>
    <p:extLst>
      <p:ext uri="{BB962C8B-B14F-4D97-AF65-F5344CB8AC3E}">
        <p14:creationId xmlns:p14="http://schemas.microsoft.com/office/powerpoint/2010/main" val="23931530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65E32C-FBAC-2B7B-286E-922A55E0694D}"/>
              </a:ext>
            </a:extLst>
          </p:cNvPr>
          <p:cNvSpPr txBox="1"/>
          <p:nvPr/>
        </p:nvSpPr>
        <p:spPr>
          <a:xfrm>
            <a:off x="102358" y="136206"/>
            <a:ext cx="4954136" cy="1733808"/>
          </a:xfrm>
          <a:prstGeom prst="rect">
            <a:avLst/>
          </a:prstGeom>
          <a:noFill/>
        </p:spPr>
        <p:txBody>
          <a:bodyPr wrap="square">
            <a:spAutoFit/>
          </a:bodyPr>
          <a:lstStyle/>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By using private constructors: if we make the constructor private of the class, then it cannot be inherited by another class. This way it cannot be instantiated outside the class.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9EFDDB02-C696-8A1D-A089-2FDC869110C3}"/>
              </a:ext>
            </a:extLst>
          </p:cNvPr>
          <p:cNvSpPr txBox="1"/>
          <p:nvPr/>
        </p:nvSpPr>
        <p:spPr>
          <a:xfrm>
            <a:off x="1398896" y="1366482"/>
            <a:ext cx="4954136" cy="5355312"/>
          </a:xfrm>
          <a:prstGeom prst="rect">
            <a:avLst/>
          </a:prstGeom>
          <a:noFill/>
        </p:spPr>
        <p:txBody>
          <a:bodyPr wrap="square">
            <a:spAutoFit/>
          </a:bodyPr>
          <a:lstStyle/>
          <a:p>
            <a:r>
              <a:rPr lang="en-US" dirty="0"/>
              <a:t>class Base {</a:t>
            </a:r>
          </a:p>
          <a:p>
            <a:r>
              <a:rPr lang="en-US" dirty="0"/>
              <a:t>    private Base() {</a:t>
            </a:r>
          </a:p>
          <a:p>
            <a:r>
              <a:rPr lang="en-US" dirty="0"/>
              <a:t>        </a:t>
            </a:r>
            <a:r>
              <a:rPr lang="en-US" dirty="0" err="1"/>
              <a:t>System.out.println</a:t>
            </a:r>
            <a:r>
              <a:rPr lang="en-US" dirty="0"/>
              <a:t>("Base constructor");</a:t>
            </a:r>
          </a:p>
          <a:p>
            <a:r>
              <a:rPr lang="en-US" dirty="0"/>
              <a:t>    }</a:t>
            </a:r>
          </a:p>
          <a:p>
            <a:r>
              <a:rPr lang="en-US" dirty="0"/>
              <a:t>}</a:t>
            </a:r>
          </a:p>
          <a:p>
            <a:endParaRPr lang="en-US" dirty="0"/>
          </a:p>
          <a:p>
            <a:r>
              <a:rPr lang="en-US" dirty="0"/>
              <a:t>// Compile-time error: Base() has private access</a:t>
            </a:r>
          </a:p>
          <a:p>
            <a:r>
              <a:rPr lang="en-US" dirty="0"/>
              <a:t>class Derived extends Base {</a:t>
            </a:r>
          </a:p>
          <a:p>
            <a:r>
              <a:rPr lang="en-US" dirty="0"/>
              <a:t>    Derived() {</a:t>
            </a:r>
          </a:p>
          <a:p>
            <a:r>
              <a:rPr lang="en-US" dirty="0"/>
              <a:t>        </a:t>
            </a:r>
            <a:r>
              <a:rPr lang="en-US" dirty="0" err="1"/>
              <a:t>System.out.println</a:t>
            </a:r>
            <a:r>
              <a:rPr lang="en-US" dirty="0"/>
              <a:t>("Derived constructor");</a:t>
            </a:r>
          </a:p>
          <a:p>
            <a:r>
              <a:rPr lang="en-US" dirty="0"/>
              <a:t>    }</a:t>
            </a:r>
          </a:p>
          <a:p>
            <a:r>
              <a:rPr lang="en-US" dirty="0"/>
              <a:t>}</a:t>
            </a:r>
          </a:p>
          <a:p>
            <a:endParaRPr lang="en-US" dirty="0"/>
          </a:p>
          <a:p>
            <a:r>
              <a:rPr lang="en-US" dirty="0"/>
              <a:t>public class </a:t>
            </a:r>
            <a:r>
              <a:rPr lang="en-US" dirty="0" err="1"/>
              <a:t>ExamplePrivateConstructor</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p>
          <a:p>
            <a:r>
              <a:rPr lang="en-US" dirty="0"/>
              <a:t>}</a:t>
            </a:r>
          </a:p>
        </p:txBody>
      </p:sp>
      <p:sp>
        <p:nvSpPr>
          <p:cNvPr id="7" name="TextBox 6">
            <a:extLst>
              <a:ext uri="{FF2B5EF4-FFF2-40B4-BE49-F238E27FC236}">
                <a16:creationId xmlns:a16="http://schemas.microsoft.com/office/drawing/2014/main" id="{FA947D18-1082-9067-706F-2CF5B1E84EDD}"/>
              </a:ext>
            </a:extLst>
          </p:cNvPr>
          <p:cNvSpPr txBox="1"/>
          <p:nvPr/>
        </p:nvSpPr>
        <p:spPr>
          <a:xfrm>
            <a:off x="6353032" y="212320"/>
            <a:ext cx="3295933"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display method in the Base class is private, hence it cannot be instantiated. If we remove the keyword ‘private’ from the method, the code will work as expected.</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786E6A-D1E7-CFE3-0AFD-025730549732}"/>
              </a:ext>
            </a:extLst>
          </p:cNvPr>
          <p:cNvSpPr txBox="1"/>
          <p:nvPr/>
        </p:nvSpPr>
        <p:spPr>
          <a:xfrm>
            <a:off x="184244" y="172676"/>
            <a:ext cx="9721755" cy="630942"/>
          </a:xfrm>
          <a:prstGeom prst="rect">
            <a:avLst/>
          </a:prstGeom>
          <a:noFill/>
        </p:spPr>
        <p:txBody>
          <a:bodyPr wrap="square">
            <a:spAutoFit/>
          </a:bodyPr>
          <a:lstStyle/>
          <a:p>
            <a:pPr algn="just">
              <a:lnSpc>
                <a:spcPts val="2100"/>
              </a:lnSpc>
              <a:spcBef>
                <a:spcPts val="750"/>
              </a:spcBef>
              <a:spcAft>
                <a:spcPts val="600"/>
              </a:spcAft>
              <a:buFont typeface="+mj-lt"/>
              <a:buAutoNum type="arabicPeriod" startAt="3"/>
            </a:pPr>
            <a:r>
              <a:rPr lang="en-US" b="0" i="0" dirty="0">
                <a:solidFill>
                  <a:srgbClr val="3A3A3A"/>
                </a:solidFill>
                <a:effectLst/>
                <a:latin typeface="Roboto" panose="02000000000000000000" pitchFamily="2" charset="0"/>
              </a:rPr>
              <a:t>By sealing the class: By using the seal keyword, we can restrict which classes can inherit the base class. Let’s understand it using an example:</a:t>
            </a:r>
          </a:p>
        </p:txBody>
      </p:sp>
      <p:sp>
        <p:nvSpPr>
          <p:cNvPr id="5" name="TextBox 4">
            <a:extLst>
              <a:ext uri="{FF2B5EF4-FFF2-40B4-BE49-F238E27FC236}">
                <a16:creationId xmlns:a16="http://schemas.microsoft.com/office/drawing/2014/main" id="{E16DCBCC-FF31-D307-2A7E-2BDE463F253E}"/>
              </a:ext>
            </a:extLst>
          </p:cNvPr>
          <p:cNvSpPr txBox="1"/>
          <p:nvPr/>
        </p:nvSpPr>
        <p:spPr>
          <a:xfrm>
            <a:off x="184244" y="803618"/>
            <a:ext cx="4981432" cy="6740307"/>
          </a:xfrm>
          <a:prstGeom prst="rect">
            <a:avLst/>
          </a:prstGeom>
          <a:noFill/>
        </p:spPr>
        <p:txBody>
          <a:bodyPr wrap="square">
            <a:spAutoFit/>
          </a:bodyPr>
          <a:lstStyle/>
          <a:p>
            <a:r>
              <a:rPr lang="en-US" dirty="0"/>
              <a:t>public class </a:t>
            </a:r>
            <a:r>
              <a:rPr lang="en-US" dirty="0" err="1"/>
              <a:t>ExampleSealed</a:t>
            </a:r>
            <a:r>
              <a:rPr lang="en-US" dirty="0"/>
              <a:t> {</a:t>
            </a:r>
          </a:p>
          <a:p>
            <a:r>
              <a:rPr lang="en-US" dirty="0"/>
              <a:t>    public static void main(String[] </a:t>
            </a:r>
            <a:r>
              <a:rPr lang="en-US" dirty="0" err="1"/>
              <a:t>args</a:t>
            </a:r>
            <a:r>
              <a:rPr lang="en-US" dirty="0"/>
              <a:t>) {</a:t>
            </a:r>
          </a:p>
          <a:p>
            <a:r>
              <a:rPr lang="en-US" dirty="0"/>
              <a:t>        Derived d = new Derived();</a:t>
            </a:r>
          </a:p>
          <a:p>
            <a:r>
              <a:rPr lang="en-US" dirty="0"/>
              <a:t>        </a:t>
            </a:r>
            <a:r>
              <a:rPr lang="en-US" dirty="0" err="1"/>
              <a:t>d.display</a:t>
            </a:r>
            <a:r>
              <a:rPr lang="en-US" dirty="0"/>
              <a:t>(); // Calling the final method from Base</a:t>
            </a:r>
          </a:p>
          <a:p>
            <a:r>
              <a:rPr lang="en-US" dirty="0"/>
              <a:t>        </a:t>
            </a:r>
            <a:r>
              <a:rPr lang="en-US" dirty="0" err="1"/>
              <a:t>d.show</a:t>
            </a:r>
            <a:r>
              <a:rPr lang="en-US" dirty="0"/>
              <a:t>(); // Calling the Derived class method</a:t>
            </a:r>
          </a:p>
          <a:p>
            <a:r>
              <a:rPr lang="en-US" dirty="0"/>
              <a:t>    }</a:t>
            </a:r>
          </a:p>
          <a:p>
            <a:r>
              <a:rPr lang="en-US" dirty="0"/>
              <a:t>}</a:t>
            </a:r>
          </a:p>
          <a:p>
            <a:endParaRPr lang="en-US" dirty="0"/>
          </a:p>
          <a:p>
            <a:r>
              <a:rPr lang="en-US" dirty="0"/>
              <a:t>// Sealed class allows only specified subclasses</a:t>
            </a:r>
          </a:p>
          <a:p>
            <a:r>
              <a:rPr lang="en-US" dirty="0"/>
              <a:t>sealed class Base permits Derived {</a:t>
            </a:r>
          </a:p>
          <a:p>
            <a:r>
              <a:rPr lang="en-US" dirty="0"/>
              <a:t>    final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'non-sealed' means this class can be further extended</a:t>
            </a:r>
          </a:p>
          <a:p>
            <a:r>
              <a:rPr lang="en-US" dirty="0"/>
              <a:t>non-sealed 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B742DA82-6B82-2997-16F1-FE57FD735A7F}"/>
              </a:ext>
            </a:extLst>
          </p:cNvPr>
          <p:cNvSpPr txBox="1"/>
          <p:nvPr/>
        </p:nvSpPr>
        <p:spPr>
          <a:xfrm>
            <a:off x="6078940" y="1549358"/>
            <a:ext cx="2913795"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A class that wants to inherit properties from a sealed class must be declared with one of the following access specifiers: final, non-sealed, or sealed.</a:t>
            </a:r>
            <a:endParaRPr lang="en-US" dirty="0"/>
          </a:p>
        </p:txBody>
      </p:sp>
    </p:spTree>
    <p:extLst>
      <p:ext uri="{BB962C8B-B14F-4D97-AF65-F5344CB8AC3E}">
        <p14:creationId xmlns:p14="http://schemas.microsoft.com/office/powerpoint/2010/main" val="12919321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F3B9-8058-45EC-0042-4F9E81CE908D}"/>
              </a:ext>
            </a:extLst>
          </p:cNvPr>
          <p:cNvSpPr txBox="1"/>
          <p:nvPr/>
        </p:nvSpPr>
        <p:spPr>
          <a:xfrm>
            <a:off x="0" y="0"/>
            <a:ext cx="9587551" cy="24647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Why doesn’t Java support multiple inheritance?</a:t>
            </a:r>
          </a:p>
          <a:p>
            <a:pPr algn="just">
              <a:lnSpc>
                <a:spcPts val="2100"/>
              </a:lnSpc>
              <a:spcBef>
                <a:spcPts val="1650"/>
              </a:spcBef>
              <a:buNone/>
            </a:pPr>
            <a:r>
              <a:rPr lang="en-US" b="0" i="0" dirty="0">
                <a:solidFill>
                  <a:srgbClr val="3A3A3A"/>
                </a:solidFill>
                <a:effectLst/>
                <a:latin typeface="Roboto" panose="02000000000000000000" pitchFamily="2" charset="0"/>
              </a:rPr>
              <a:t>Java doesn’t support multiple inheritance because of two reasons: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Simplicity</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3E2929F-33DA-A9B6-569B-750BC8F2D8D3}"/>
              </a:ext>
            </a:extLst>
          </p:cNvPr>
          <p:cNvSpPr txBox="1"/>
          <p:nvPr/>
        </p:nvSpPr>
        <p:spPr>
          <a:xfrm>
            <a:off x="170597" y="2464777"/>
            <a:ext cx="4954136" cy="9787295"/>
          </a:xfrm>
          <a:prstGeom prst="rect">
            <a:avLst/>
          </a:prstGeom>
          <a:noFill/>
        </p:spPr>
        <p:txBody>
          <a:bodyPr wrap="square">
            <a:spAutoFit/>
          </a:bodyPr>
          <a:lstStyle/>
          <a:p>
            <a:r>
              <a:rPr lang="en-US" dirty="0"/>
              <a:t>class Main {</a:t>
            </a:r>
          </a:p>
          <a:p>
            <a:r>
              <a:rPr lang="en-US" dirty="0"/>
              <a:t>    public static void main(String[] </a:t>
            </a:r>
            <a:r>
              <a:rPr lang="en-US" dirty="0" err="1"/>
              <a:t>args</a:t>
            </a:r>
            <a:r>
              <a:rPr lang="en-US" dirty="0"/>
              <a:t>) {</a:t>
            </a:r>
          </a:p>
          <a:p>
            <a:r>
              <a:rPr lang="en-US" dirty="0"/>
              <a:t>        C obj = new C(); // Creating object of class C</a:t>
            </a:r>
          </a:p>
          <a:p>
            <a:r>
              <a:rPr lang="en-US" dirty="0"/>
              <a:t>        </a:t>
            </a:r>
            <a:r>
              <a:rPr lang="en-US" dirty="0" err="1"/>
              <a:t>obj.test</a:t>
            </a:r>
            <a:r>
              <a:rPr lang="en-US" dirty="0"/>
              <a:t>(); // Calling overridden test() method</a:t>
            </a:r>
          </a:p>
          <a:p>
            <a:r>
              <a:rPr lang="en-US" dirty="0"/>
              <a:t>    }</a:t>
            </a:r>
          </a:p>
          <a:p>
            <a:r>
              <a:rPr lang="en-US" dirty="0"/>
              <a:t>}</a:t>
            </a:r>
          </a:p>
          <a:p>
            <a:endParaRPr lang="en-US" dirty="0"/>
          </a:p>
          <a:p>
            <a:r>
              <a:rPr lang="en-US" dirty="0"/>
              <a:t>// First interface with default test() method</a:t>
            </a:r>
          </a:p>
          <a:p>
            <a:r>
              <a:rPr lang="en-US" dirty="0"/>
              <a:t>interface Intellipaat1 {</a:t>
            </a:r>
          </a:p>
          <a:p>
            <a:r>
              <a:rPr lang="en-US" dirty="0"/>
              <a:t>    default void test() {</a:t>
            </a:r>
          </a:p>
          <a:p>
            <a:r>
              <a:rPr lang="en-US" dirty="0"/>
              <a:t>        </a:t>
            </a:r>
            <a:r>
              <a:rPr lang="en-US" dirty="0" err="1"/>
              <a:t>System.out.println</a:t>
            </a:r>
            <a:r>
              <a:rPr lang="en-US" dirty="0"/>
              <a:t>("test() method from Intellipaat1");</a:t>
            </a:r>
          </a:p>
          <a:p>
            <a:r>
              <a:rPr lang="en-US" dirty="0"/>
              <a:t>    }</a:t>
            </a:r>
          </a:p>
          <a:p>
            <a:r>
              <a:rPr lang="en-US" dirty="0"/>
              <a:t>}</a:t>
            </a:r>
          </a:p>
          <a:p>
            <a:endParaRPr lang="en-US" dirty="0"/>
          </a:p>
          <a:p>
            <a:r>
              <a:rPr lang="en-US" dirty="0"/>
              <a:t>// Second interface with default test() method</a:t>
            </a:r>
          </a:p>
          <a:p>
            <a:r>
              <a:rPr lang="en-US" dirty="0"/>
              <a:t>interface Intellipaat2 {</a:t>
            </a:r>
          </a:p>
          <a:p>
            <a:r>
              <a:rPr lang="en-US" dirty="0"/>
              <a:t>    default void test() {</a:t>
            </a:r>
          </a:p>
          <a:p>
            <a:r>
              <a:rPr lang="en-US" dirty="0"/>
              <a:t>        </a:t>
            </a:r>
            <a:r>
              <a:rPr lang="en-US" dirty="0" err="1"/>
              <a:t>System.out.println</a:t>
            </a:r>
            <a:r>
              <a:rPr lang="en-US" dirty="0"/>
              <a:t>("test() method from Intellipaat2");</a:t>
            </a:r>
          </a:p>
          <a:p>
            <a:r>
              <a:rPr lang="en-US" dirty="0"/>
              <a:t>    }</a:t>
            </a:r>
          </a:p>
          <a:p>
            <a:r>
              <a:rPr lang="en-US" dirty="0"/>
              <a:t>}</a:t>
            </a:r>
          </a:p>
          <a:p>
            <a:endParaRPr lang="en-US" dirty="0"/>
          </a:p>
          <a:p>
            <a:r>
              <a:rPr lang="en-US" dirty="0"/>
              <a:t>// Implementing multiple interfaces</a:t>
            </a:r>
          </a:p>
          <a:p>
            <a:r>
              <a:rPr lang="en-US" dirty="0"/>
              <a:t>class C implements Intellipaat1, Intellipaat2 {</a:t>
            </a:r>
          </a:p>
          <a:p>
            <a:r>
              <a:rPr lang="en-US" dirty="0"/>
              <a:t>    @Override</a:t>
            </a:r>
          </a:p>
          <a:p>
            <a:r>
              <a:rPr lang="en-US" dirty="0"/>
              <a:t>    public void test() {</a:t>
            </a:r>
          </a:p>
          <a:p>
            <a:r>
              <a:rPr lang="en-US" dirty="0"/>
              <a:t>        Intellipaat1.super.test(); // Call test() from Intellipaat1</a:t>
            </a:r>
          </a:p>
          <a:p>
            <a:r>
              <a:rPr lang="en-US" dirty="0"/>
              <a:t>        Intellipaat2.super.test(); // Call test() from Intellipaat2</a:t>
            </a:r>
          </a:p>
          <a:p>
            <a:r>
              <a:rPr lang="en-US" dirty="0"/>
              <a:t>        </a:t>
            </a:r>
            <a:r>
              <a:rPr lang="en-US" dirty="0" err="1"/>
              <a:t>System.out.println</a:t>
            </a:r>
            <a:r>
              <a:rPr lang="en-US" dirty="0"/>
              <a:t>("test() method from class C");</a:t>
            </a:r>
          </a:p>
          <a:p>
            <a:r>
              <a:rPr lang="en-US" dirty="0"/>
              <a:t>    }</a:t>
            </a:r>
          </a:p>
          <a:p>
            <a:r>
              <a:rPr lang="en-US" dirty="0"/>
              <a:t>}</a:t>
            </a:r>
          </a:p>
        </p:txBody>
      </p:sp>
      <p:sp>
        <p:nvSpPr>
          <p:cNvPr id="7" name="TextBox 6">
            <a:extLst>
              <a:ext uri="{FF2B5EF4-FFF2-40B4-BE49-F238E27FC236}">
                <a16:creationId xmlns:a16="http://schemas.microsoft.com/office/drawing/2014/main" id="{29DD7C23-88FE-AC08-4D2B-78A6F160D825}"/>
              </a:ext>
            </a:extLst>
          </p:cNvPr>
          <p:cNvSpPr txBox="1"/>
          <p:nvPr/>
        </p:nvSpPr>
        <p:spPr>
          <a:xfrm>
            <a:off x="5716140" y="1957481"/>
            <a:ext cx="4019263" cy="315727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Both Intellipaat1 and Intellipaat2 classes have their own test() methods, and class C is inheriting from both. In this case, there is ambiguity because the compiler cannot determine which test() method to inherit.</a:t>
            </a:r>
          </a:p>
          <a:p>
            <a:pPr algn="just">
              <a:lnSpc>
                <a:spcPts val="2100"/>
              </a:lnSpc>
              <a:spcBef>
                <a:spcPts val="750"/>
              </a:spcBef>
              <a:buNone/>
            </a:pPr>
            <a:r>
              <a:rPr lang="en-US" b="0" i="0" dirty="0">
                <a:solidFill>
                  <a:srgbClr val="3A3A3A"/>
                </a:solidFill>
                <a:effectLst/>
                <a:latin typeface="Roboto" panose="02000000000000000000" pitchFamily="2" charset="0"/>
              </a:rPr>
              <a:t>To resolve this, class C must override the test() method and provide its own implementation. This way, the ambiguity is explicitly handled.</a:t>
            </a:r>
          </a:p>
        </p:txBody>
      </p:sp>
    </p:spTree>
    <p:extLst>
      <p:ext uri="{BB962C8B-B14F-4D97-AF65-F5344CB8AC3E}">
        <p14:creationId xmlns:p14="http://schemas.microsoft.com/office/powerpoint/2010/main" val="87078075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AFF934-5692-35E2-BBC6-4A0BFEF91909}"/>
              </a:ext>
            </a:extLst>
          </p:cNvPr>
          <p:cNvSpPr txBox="1"/>
          <p:nvPr/>
        </p:nvSpPr>
        <p:spPr>
          <a:xfrm>
            <a:off x="0" y="0"/>
            <a:ext cx="9906000"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Can a constructor be inherited? Is it possible for a subclass to call the parent’s class constructor?</a:t>
            </a:r>
          </a:p>
          <a:p>
            <a:pPr algn="just">
              <a:lnSpc>
                <a:spcPts val="2100"/>
              </a:lnSpc>
              <a:spcBef>
                <a:spcPts val="1650"/>
              </a:spcBef>
              <a:buNone/>
            </a:pPr>
            <a:r>
              <a:rPr lang="en-US" b="0" i="0" dirty="0">
                <a:solidFill>
                  <a:srgbClr val="3A3A3A"/>
                </a:solidFill>
                <a:effectLst/>
                <a:latin typeface="Roboto" panose="02000000000000000000" pitchFamily="2" charset="0"/>
              </a:rPr>
              <a:t>We cannot inherit a constructor in Java, However, a subclass can call the parent’s constructor using the </a:t>
            </a:r>
            <a:r>
              <a:rPr lang="en-US" b="0" i="0" u="none" strike="noStrike" dirty="0">
                <a:solidFill>
                  <a:srgbClr val="0F5A9E"/>
                </a:solidFill>
                <a:effectLst/>
                <a:latin typeface="Roboto" panose="02000000000000000000" pitchFamily="2" charset="0"/>
                <a:hlinkClick r:id="rId2"/>
              </a:rPr>
              <a:t>super keyword</a:t>
            </a:r>
            <a:r>
              <a:rPr lang="en-US" b="0" i="0" dirty="0">
                <a:solidFill>
                  <a:srgbClr val="3A3A3A"/>
                </a:solidFill>
                <a:effectLst/>
                <a:latin typeface="Roboto" panose="02000000000000000000" pitchFamily="2" charset="0"/>
              </a:rPr>
              <a:t>. We do this to initialize inherited fields in the parents class by creating an instance of a subclass. By calling the parent constructor, we ensure that the parent class is initialized correctly.</a:t>
            </a:r>
          </a:p>
        </p:txBody>
      </p:sp>
      <p:sp>
        <p:nvSpPr>
          <p:cNvPr id="5" name="TextBox 4">
            <a:extLst>
              <a:ext uri="{FF2B5EF4-FFF2-40B4-BE49-F238E27FC236}">
                <a16:creationId xmlns:a16="http://schemas.microsoft.com/office/drawing/2014/main" id="{CDE5DB31-EE27-12E6-F09A-8390B32446B7}"/>
              </a:ext>
            </a:extLst>
          </p:cNvPr>
          <p:cNvSpPr txBox="1"/>
          <p:nvPr/>
        </p:nvSpPr>
        <p:spPr>
          <a:xfrm>
            <a:off x="0" y="2379898"/>
            <a:ext cx="9906000" cy="514499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Explain a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It is a part of the Java Runtime Environment which is used to dynamically load the class files into the Java Virtual Machine (JVM).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triggers whenever a Java file is executed.</a:t>
            </a:r>
          </a:p>
          <a:p>
            <a:pPr algn="just">
              <a:lnSpc>
                <a:spcPts val="2100"/>
              </a:lnSpc>
              <a:spcBef>
                <a:spcPts val="750"/>
              </a:spcBef>
              <a:buNone/>
            </a:pPr>
            <a:r>
              <a:rPr lang="en-US" b="0" i="0" dirty="0">
                <a:solidFill>
                  <a:srgbClr val="3A3A3A"/>
                </a:solidFill>
                <a:effectLst/>
                <a:latin typeface="Roboto" panose="02000000000000000000" pitchFamily="2" charset="0"/>
              </a:rPr>
              <a:t>There are three types of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bootstrap loader is the superclass of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which loads the standard JDK files from rt.jar and other core classes. The rt.jar file contains all the package classes of java.net, </a:t>
            </a:r>
            <a:r>
              <a:rPr lang="en-US" b="0" i="0" dirty="0" err="1">
                <a:solidFill>
                  <a:srgbClr val="3A3A3A"/>
                </a:solidFill>
                <a:effectLst/>
                <a:latin typeface="Roboto" panose="02000000000000000000" pitchFamily="2" charset="0"/>
              </a:rPr>
              <a:t>java.lang</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java.io, </a:t>
            </a:r>
            <a:r>
              <a:rPr lang="en-US" b="0" i="0" dirty="0" err="1">
                <a:solidFill>
                  <a:srgbClr val="3A3A3A"/>
                </a:solidFill>
                <a:effectLst/>
                <a:latin typeface="Roboto" panose="02000000000000000000" pitchFamily="2" charset="0"/>
              </a:rPr>
              <a:t>java.sql</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known as the parent of the System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and the child of the 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only loads the files available in the extension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which includes ‘</a:t>
            </a:r>
            <a:r>
              <a:rPr lang="en-US" b="0" i="0" dirty="0" err="1">
                <a:solidFill>
                  <a:srgbClr val="3A3A3A"/>
                </a:solidFill>
                <a:effectLst/>
                <a:latin typeface="Roboto" panose="02000000000000000000" pitchFamily="2" charset="0"/>
              </a:rPr>
              <a:t>dirs</a:t>
            </a:r>
            <a:r>
              <a:rPr lang="en-US" b="0" i="0" dirty="0">
                <a:solidFill>
                  <a:srgbClr val="3A3A3A"/>
                </a:solidFill>
                <a:effectLst/>
                <a:latin typeface="Roboto" panose="02000000000000000000" pitchFamily="2" charset="0"/>
              </a:rPr>
              <a:t>/JRE/lib/</a:t>
            </a:r>
            <a:r>
              <a:rPr lang="en-US" b="0" i="0" dirty="0" err="1">
                <a:solidFill>
                  <a:srgbClr val="3A3A3A"/>
                </a:solidFill>
                <a:effectLst/>
                <a:latin typeface="Roboto" panose="02000000000000000000" pitchFamily="2" charset="0"/>
              </a:rPr>
              <a:t>ext</a:t>
            </a:r>
            <a:r>
              <a:rPr lang="en-US" b="0" i="0" dirty="0">
                <a:solidFill>
                  <a:srgbClr val="3A3A3A"/>
                </a:solidFill>
                <a:effectLst/>
                <a:latin typeface="Roboto" panose="02000000000000000000" pitchFamily="2" charset="0"/>
              </a:rPr>
              <a:t> If the file is unavailable in the mentioned directory,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will delegate it to the System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loads the classes of application type available in the environment variable such as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or -cp </a:t>
            </a:r>
            <a:r>
              <a:rPr lang="en-US" b="0" i="0" u="none" strike="noStrike" dirty="0">
                <a:solidFill>
                  <a:srgbClr val="0F5A9E"/>
                </a:solidFill>
                <a:effectLst/>
                <a:latin typeface="Roboto" panose="02000000000000000000" pitchFamily="2" charset="0"/>
                <a:hlinkClick r:id="rId3"/>
              </a:rPr>
              <a:t>command-line</a:t>
            </a:r>
            <a:r>
              <a:rPr lang="en-US" b="0" i="0" dirty="0">
                <a:solidFill>
                  <a:srgbClr val="3A3A3A"/>
                </a:solidFill>
                <a:effectLst/>
                <a:latin typeface="Roboto" panose="02000000000000000000" pitchFamily="2" charset="0"/>
              </a:rPr>
              <a:t> option. The 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generates a </a:t>
            </a: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if the class is unavailable in the application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9548803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08D6E3-904A-D414-D79E-593CB7DC4427}"/>
              </a:ext>
            </a:extLst>
          </p:cNvPr>
          <p:cNvSpPr txBox="1"/>
          <p:nvPr/>
        </p:nvSpPr>
        <p:spPr>
          <a:xfrm>
            <a:off x="0" y="0"/>
            <a:ext cx="9906000" cy="6465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Differentiate between checked and unchecked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 compiler checks checked exceptions at compile time, meaning that programmers have to handle such exceptions with try-catch blocks or declare them using the method signature. Unlike checked exceptions, unchecked exceptions are not checked at compile-time, hence they do not require explicit handling by a programmer.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Can you do multithreading in Java?</a:t>
            </a:r>
          </a:p>
          <a:p>
            <a:pPr algn="just">
              <a:lnSpc>
                <a:spcPts val="2100"/>
              </a:lnSpc>
              <a:spcBef>
                <a:spcPts val="1650"/>
              </a:spcBef>
              <a:buNone/>
            </a:pPr>
            <a:r>
              <a:rPr lang="en-US" b="0" i="0" dirty="0">
                <a:solidFill>
                  <a:srgbClr val="3A3A3A"/>
                </a:solidFill>
                <a:effectLst/>
                <a:latin typeface="Roboto" panose="02000000000000000000" pitchFamily="2" charset="0"/>
              </a:rPr>
              <a:t>Yes, </a:t>
            </a:r>
            <a:r>
              <a:rPr lang="en-US" b="0" i="0" u="none" strike="noStrike" dirty="0">
                <a:solidFill>
                  <a:srgbClr val="0F5A9E"/>
                </a:solidFill>
                <a:effectLst/>
                <a:latin typeface="Roboto" panose="02000000000000000000" pitchFamily="2" charset="0"/>
                <a:hlinkClick r:id="rId2"/>
              </a:rPr>
              <a:t>multithreading</a:t>
            </a:r>
            <a:r>
              <a:rPr lang="en-US" b="0" i="0" dirty="0">
                <a:solidFill>
                  <a:srgbClr val="3A3A3A"/>
                </a:solidFill>
                <a:effectLst/>
                <a:latin typeface="Roboto" panose="02000000000000000000" pitchFamily="2" charset="0"/>
              </a:rPr>
              <a:t> is part of Java. It provides built-in support for creating and managing threads, thereby enabling multiple tasks to be executed concurrently within one program.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What are abstract classes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a:t>
            </a:r>
            <a:r>
              <a:rPr lang="en-US" b="0" i="0" u="none" strike="noStrike" dirty="0">
                <a:solidFill>
                  <a:srgbClr val="0F5A9E"/>
                </a:solidFill>
                <a:effectLst/>
                <a:latin typeface="Roboto" panose="02000000000000000000" pitchFamily="2" charset="0"/>
                <a:hlinkClick r:id="rId3"/>
              </a:rPr>
              <a:t>Abstraction</a:t>
            </a:r>
            <a:r>
              <a:rPr lang="en-US" b="0" i="0" dirty="0">
                <a:solidFill>
                  <a:srgbClr val="3A3A3A"/>
                </a:solidFill>
                <a:effectLst/>
                <a:latin typeface="Roboto" panose="02000000000000000000" pitchFamily="2" charset="0"/>
              </a:rPr>
              <a:t> refers to showing only the function ability and behavior of methods while hiding their implementation details to the user. It focuses on what an object does rather than how it does it.</a:t>
            </a:r>
          </a:p>
          <a:p>
            <a:pPr algn="just">
              <a:lnSpc>
                <a:spcPts val="2100"/>
              </a:lnSpc>
              <a:spcBef>
                <a:spcPts val="750"/>
              </a:spcBef>
              <a:buNone/>
            </a:pPr>
            <a:r>
              <a:rPr lang="en-US" b="0" i="0" dirty="0">
                <a:solidFill>
                  <a:srgbClr val="3A3A3A"/>
                </a:solidFill>
                <a:effectLst/>
                <a:latin typeface="Roboto" panose="02000000000000000000" pitchFamily="2" charset="0"/>
              </a:rPr>
              <a:t>For instance, the List interface in Java represents abstraction because it describes common operations for lists without defining how those operations are carried out. Classes like LinkedList and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implement these operations differently but still follow the same interface.</a:t>
            </a:r>
          </a:p>
        </p:txBody>
      </p:sp>
    </p:spTree>
    <p:extLst>
      <p:ext uri="{BB962C8B-B14F-4D97-AF65-F5344CB8AC3E}">
        <p14:creationId xmlns:p14="http://schemas.microsoft.com/office/powerpoint/2010/main" val="143523700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3" name="TextBox 32">
            <a:extLst>
              <a:ext uri="{FF2B5EF4-FFF2-40B4-BE49-F238E27FC236}">
                <a16:creationId xmlns:a16="http://schemas.microsoft.com/office/drawing/2014/main" id="{CA6E6562-CE06-A3F1-B581-312911052DAD}"/>
              </a:ext>
            </a:extLst>
          </p:cNvPr>
          <p:cNvSpPr txBox="1"/>
          <p:nvPr/>
        </p:nvSpPr>
        <p:spPr>
          <a:xfrm>
            <a:off x="143301" y="1211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Is it possible to declare static variables and methods in an abstract class?</a:t>
            </a:r>
          </a:p>
          <a:p>
            <a:pPr algn="just">
              <a:lnSpc>
                <a:spcPts val="2100"/>
              </a:lnSpc>
              <a:spcBef>
                <a:spcPts val="1650"/>
              </a:spcBef>
              <a:buNone/>
            </a:pPr>
            <a:r>
              <a:rPr lang="en-US" b="0" i="0" dirty="0">
                <a:solidFill>
                  <a:srgbClr val="3A3A3A"/>
                </a:solidFill>
                <a:effectLst/>
                <a:latin typeface="Roboto" panose="02000000000000000000" pitchFamily="2" charset="0"/>
              </a:rPr>
              <a:t>Yes, we can declare static variables and methods in an abstract class by inheriting the abstract class. In java, the static variables and methods can be accessed without creating an object. You can simply extend the abstract class and use the static context as mentioned below:</a:t>
            </a:r>
          </a:p>
        </p:txBody>
      </p:sp>
      <p:sp>
        <p:nvSpPr>
          <p:cNvPr id="35" name="TextBox 34">
            <a:extLst>
              <a:ext uri="{FF2B5EF4-FFF2-40B4-BE49-F238E27FC236}">
                <a16:creationId xmlns:a16="http://schemas.microsoft.com/office/drawing/2014/main" id="{05BC790C-6147-E84F-7667-0DDCAAD35A1E}"/>
              </a:ext>
            </a:extLst>
          </p:cNvPr>
          <p:cNvSpPr txBox="1"/>
          <p:nvPr/>
        </p:nvSpPr>
        <p:spPr>
          <a:xfrm>
            <a:off x="143301" y="3190629"/>
            <a:ext cx="4954136" cy="2585323"/>
          </a:xfrm>
          <a:prstGeom prst="rect">
            <a:avLst/>
          </a:prstGeom>
          <a:noFill/>
        </p:spPr>
        <p:txBody>
          <a:bodyPr wrap="square">
            <a:spAutoFit/>
          </a:bodyPr>
          <a:lstStyle/>
          <a:p>
            <a:r>
              <a:rPr lang="en-US" dirty="0"/>
              <a:t>// Child class prog1 inheriting from </a:t>
            </a:r>
            <a:r>
              <a:rPr lang="en-US" dirty="0" err="1"/>
              <a:t>Aclass</a:t>
            </a:r>
            <a:r>
              <a:rPr lang="en-US" dirty="0"/>
              <a:t> prog1 extends A {    public static void main(String[] </a:t>
            </a:r>
            <a:r>
              <a:rPr lang="en-US" dirty="0" err="1"/>
              <a:t>args</a:t>
            </a:r>
            <a:r>
              <a:rPr lang="en-US" dirty="0"/>
              <a:t>) {        // Accessing the static method and variable of class A        A.method1();        </a:t>
            </a:r>
            <a:r>
              <a:rPr lang="en-US" dirty="0" err="1"/>
              <a:t>System.out.println</a:t>
            </a:r>
            <a:r>
              <a:rPr lang="en-US" dirty="0"/>
              <a:t>("Value of x = " + </a:t>
            </a:r>
            <a:r>
              <a:rPr lang="en-US" dirty="0" err="1"/>
              <a:t>A.x</a:t>
            </a:r>
            <a:r>
              <a:rPr lang="en-US" dirty="0"/>
              <a:t>);    }}// Parent class </a:t>
            </a:r>
            <a:r>
              <a:rPr lang="en-US" dirty="0" err="1"/>
              <a:t>Aclass</a:t>
            </a:r>
            <a:r>
              <a:rPr lang="en-US" dirty="0"/>
              <a:t> A {    static int x = 110; // Static variable    // Static method    static void method1() {        </a:t>
            </a:r>
            <a:r>
              <a:rPr lang="en-US" dirty="0" err="1"/>
              <a:t>System.out.println</a:t>
            </a:r>
            <a:r>
              <a:rPr lang="en-US" dirty="0"/>
              <a:t>("Class A static function called");    }}</a:t>
            </a:r>
          </a:p>
        </p:txBody>
      </p:sp>
    </p:spTree>
    <p:extLst>
      <p:ext uri="{BB962C8B-B14F-4D97-AF65-F5344CB8AC3E}">
        <p14:creationId xmlns:p14="http://schemas.microsoft.com/office/powerpoint/2010/main" val="243527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0CDCA-5CF1-213F-4157-67CF4C566EF7}"/>
              </a:ext>
            </a:extLst>
          </p:cNvPr>
          <p:cNvSpPr txBox="1"/>
          <p:nvPr/>
        </p:nvSpPr>
        <p:spPr>
          <a:xfrm>
            <a:off x="54591" y="98110"/>
            <a:ext cx="9796818"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Explain Aggregation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Aggregation</a:t>
            </a:r>
            <a:r>
              <a:rPr lang="en-US" b="0" i="0" dirty="0">
                <a:solidFill>
                  <a:srgbClr val="3A3A3A"/>
                </a:solidFill>
                <a:effectLst/>
                <a:latin typeface="Roboto" panose="02000000000000000000" pitchFamily="2" charset="0"/>
              </a:rPr>
              <a:t> in Java represents a relationship where one class contains the reference of another class. In other words, it refers to a one-way relationship between two objects where the aggregate class has the instance of another class it owns. The aim is to have classes which are loosely coupled with each other.</a:t>
            </a:r>
          </a:p>
          <a:p>
            <a:pPr algn="just">
              <a:lnSpc>
                <a:spcPts val="2100"/>
              </a:lnSpc>
              <a:spcBef>
                <a:spcPts val="750"/>
              </a:spcBef>
              <a:buNone/>
            </a:pPr>
            <a:r>
              <a:rPr lang="en-US" b="0" i="0" dirty="0">
                <a:solidFill>
                  <a:srgbClr val="3A3A3A"/>
                </a:solidFill>
                <a:effectLst/>
                <a:latin typeface="Roboto" panose="02000000000000000000" pitchFamily="2" charset="0"/>
              </a:rPr>
              <a:t>For example, in the program below, the aggregate class Student has a one-way relationship with the class Address. Here each student having an address makes sense, but it doesn’t make sense for an address to have a student. Therefore, instead of using inheritance, aggregation is used based on how the classes are related through usage.</a:t>
            </a:r>
          </a:p>
        </p:txBody>
      </p:sp>
      <p:sp>
        <p:nvSpPr>
          <p:cNvPr id="5" name="TextBox 4">
            <a:extLst>
              <a:ext uri="{FF2B5EF4-FFF2-40B4-BE49-F238E27FC236}">
                <a16:creationId xmlns:a16="http://schemas.microsoft.com/office/drawing/2014/main" id="{BDD3403E-6379-3E61-C460-69E7693A3A78}"/>
              </a:ext>
            </a:extLst>
          </p:cNvPr>
          <p:cNvSpPr txBox="1"/>
          <p:nvPr/>
        </p:nvSpPr>
        <p:spPr>
          <a:xfrm>
            <a:off x="2804616" y="3165616"/>
            <a:ext cx="4954136" cy="7848302"/>
          </a:xfrm>
          <a:prstGeom prst="rect">
            <a:avLst/>
          </a:prstGeom>
          <a:noFill/>
        </p:spPr>
        <p:txBody>
          <a:bodyPr wrap="square">
            <a:spAutoFit/>
          </a:bodyPr>
          <a:lstStyle/>
          <a:p>
            <a:r>
              <a:rPr lang="en-US" dirty="0"/>
              <a:t>// Class prog1 has a reference to A</a:t>
            </a:r>
          </a:p>
          <a:p>
            <a:r>
              <a:rPr lang="en-US" dirty="0"/>
              <a:t>class prog1 {</a:t>
            </a:r>
          </a:p>
          <a:p>
            <a:r>
              <a:rPr lang="en-US" dirty="0"/>
              <a:t>    A </a:t>
            </a:r>
            <a:r>
              <a:rPr lang="en-US" dirty="0" err="1"/>
              <a:t>aObj</a:t>
            </a:r>
            <a:r>
              <a:rPr lang="en-US" dirty="0"/>
              <a:t>; // aggregation (HAS-A)</a:t>
            </a:r>
          </a:p>
          <a:p>
            <a:endParaRPr lang="en-US" dirty="0"/>
          </a:p>
          <a:p>
            <a:r>
              <a:rPr lang="en-US" dirty="0"/>
              <a:t>    prog1(A </a:t>
            </a:r>
            <a:r>
              <a:rPr lang="en-US" dirty="0" err="1"/>
              <a:t>aObj</a:t>
            </a:r>
            <a:r>
              <a:rPr lang="en-US" dirty="0"/>
              <a:t>) {</a:t>
            </a:r>
          </a:p>
          <a:p>
            <a:r>
              <a:rPr lang="en-US" dirty="0"/>
              <a:t>        </a:t>
            </a:r>
            <a:r>
              <a:rPr lang="en-US" dirty="0" err="1"/>
              <a:t>this.aObj</a:t>
            </a:r>
            <a:r>
              <a:rPr lang="en-US" dirty="0"/>
              <a:t> = </a:t>
            </a:r>
            <a:r>
              <a:rPr lang="en-US" dirty="0" err="1"/>
              <a:t>aObj</a:t>
            </a:r>
            <a:r>
              <a:rPr lang="en-US" dirty="0"/>
              <a:t>;</a:t>
            </a:r>
          </a:p>
          <a:p>
            <a:r>
              <a:rPr lang="en-US" dirty="0"/>
              <a:t>    }</a:t>
            </a:r>
          </a:p>
          <a:p>
            <a:endParaRPr lang="en-US" dirty="0"/>
          </a:p>
          <a:p>
            <a:r>
              <a:rPr lang="en-US" dirty="0"/>
              <a:t>    void display() {</a:t>
            </a:r>
          </a:p>
          <a:p>
            <a:r>
              <a:rPr lang="en-US" dirty="0"/>
              <a:t>        aObj.method1();</a:t>
            </a:r>
          </a:p>
          <a:p>
            <a:r>
              <a:rPr lang="en-US" dirty="0"/>
              <a:t>        </a:t>
            </a:r>
            <a:r>
              <a:rPr lang="en-US" dirty="0" err="1"/>
              <a:t>System.out.println</a:t>
            </a:r>
            <a:r>
              <a:rPr lang="en-US" dirty="0"/>
              <a:t>("Value of x = " + </a:t>
            </a:r>
            <a:r>
              <a:rPr lang="en-US" dirty="0" err="1"/>
              <a:t>aObj.x</a:t>
            </a:r>
            <a:r>
              <a:rPr lang="en-US" dirty="0"/>
              <a:t>);</a:t>
            </a:r>
          </a:p>
          <a:p>
            <a:r>
              <a:rPr lang="en-US" dirty="0"/>
              <a:t>    }</a:t>
            </a:r>
          </a:p>
          <a:p>
            <a:endParaRPr lang="en-US" dirty="0"/>
          </a:p>
          <a:p>
            <a:r>
              <a:rPr lang="en-US" dirty="0"/>
              <a:t>    public static void main(String[] </a:t>
            </a:r>
            <a:r>
              <a:rPr lang="en-US" dirty="0" err="1"/>
              <a:t>args</a:t>
            </a:r>
            <a:r>
              <a:rPr lang="en-US" dirty="0"/>
              <a:t>) {</a:t>
            </a:r>
          </a:p>
          <a:p>
            <a:r>
              <a:rPr lang="en-US" dirty="0"/>
              <a:t>        A </a:t>
            </a:r>
            <a:r>
              <a:rPr lang="en-US" dirty="0" err="1"/>
              <a:t>objA</a:t>
            </a:r>
            <a:r>
              <a:rPr lang="en-US" dirty="0"/>
              <a:t> = new A();</a:t>
            </a:r>
          </a:p>
          <a:p>
            <a:r>
              <a:rPr lang="en-US" dirty="0"/>
              <a:t>        prog1 objProg1 = new prog1(</a:t>
            </a:r>
            <a:r>
              <a:rPr lang="en-US" dirty="0" err="1"/>
              <a:t>objA</a:t>
            </a:r>
            <a:r>
              <a:rPr lang="en-US" dirty="0"/>
              <a:t>);</a:t>
            </a:r>
          </a:p>
          <a:p>
            <a:r>
              <a:rPr lang="en-US" dirty="0"/>
              <a:t>        objProg1.display();</a:t>
            </a:r>
          </a:p>
          <a:p>
            <a:r>
              <a:rPr lang="en-US" dirty="0"/>
              <a:t>    }</a:t>
            </a:r>
          </a:p>
          <a:p>
            <a:r>
              <a:rPr lang="en-US" dirty="0"/>
              <a:t>}</a:t>
            </a:r>
          </a:p>
          <a:p>
            <a:r>
              <a:rPr lang="en-US" dirty="0"/>
              <a:t>// Class A</a:t>
            </a:r>
          </a:p>
          <a:p>
            <a:r>
              <a:rPr lang="en-US" dirty="0"/>
              <a:t>class A {</a:t>
            </a:r>
          </a:p>
          <a:p>
            <a:r>
              <a:rPr lang="en-US" dirty="0"/>
              <a:t>    int x = 110;</a:t>
            </a:r>
          </a:p>
          <a:p>
            <a:endParaRPr lang="en-US" dirty="0"/>
          </a:p>
          <a:p>
            <a:r>
              <a:rPr lang="en-US" dirty="0"/>
              <a:t>    void method1() {</a:t>
            </a:r>
          </a:p>
          <a:p>
            <a:r>
              <a:rPr lang="en-US" dirty="0"/>
              <a:t>        </a:t>
            </a:r>
            <a:r>
              <a:rPr lang="en-US" dirty="0" err="1"/>
              <a:t>System.out.println</a:t>
            </a:r>
            <a:r>
              <a:rPr lang="en-US" dirty="0"/>
              <a:t>("Class A method called");</a:t>
            </a:r>
          </a:p>
          <a:p>
            <a:r>
              <a:rPr lang="en-US" dirty="0"/>
              <a:t>    }</a:t>
            </a:r>
          </a:p>
          <a:p>
            <a:r>
              <a:rPr lang="en-US" dirty="0"/>
              <a:t>}</a:t>
            </a:r>
          </a:p>
        </p:txBody>
      </p:sp>
    </p:spTree>
    <p:extLst>
      <p:ext uri="{BB962C8B-B14F-4D97-AF65-F5344CB8AC3E}">
        <p14:creationId xmlns:p14="http://schemas.microsoft.com/office/powerpoint/2010/main" val="26230847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C690D-8225-289B-5717-178094D6FA8D}"/>
              </a:ext>
            </a:extLst>
          </p:cNvPr>
          <p:cNvSpPr txBox="1"/>
          <p:nvPr/>
        </p:nvSpPr>
        <p:spPr>
          <a:xfrm>
            <a:off x="2477069" y="904797"/>
            <a:ext cx="4954136" cy="50552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composition in Java?</a:t>
            </a:r>
          </a:p>
          <a:p>
            <a:pPr algn="just">
              <a:lnSpc>
                <a:spcPts val="2100"/>
              </a:lnSpc>
              <a:spcBef>
                <a:spcPts val="1650"/>
              </a:spcBef>
              <a:buNone/>
            </a:pPr>
            <a:r>
              <a:rPr lang="en-US" b="0" i="0" dirty="0">
                <a:solidFill>
                  <a:srgbClr val="3A3A3A"/>
                </a:solidFill>
                <a:effectLst/>
                <a:latin typeface="Roboto" panose="02000000000000000000" pitchFamily="2" charset="0"/>
              </a:rPr>
              <a:t>Composition refers to a relationship between two classes or objects where they are tightly coupled. In this relationship, the lifetime of the contained object depends on the lifetime of the container object. This concept is known as composition.</a:t>
            </a:r>
          </a:p>
          <a:p>
            <a:pPr algn="just">
              <a:lnSpc>
                <a:spcPts val="2100"/>
              </a:lnSpc>
              <a:spcBef>
                <a:spcPts val="750"/>
              </a:spcBef>
              <a:buNone/>
            </a:pPr>
            <a:r>
              <a:rPr lang="en-US" b="0" i="0" dirty="0">
                <a:solidFill>
                  <a:srgbClr val="3A3A3A"/>
                </a:solidFill>
                <a:effectLst/>
                <a:latin typeface="Roboto" panose="02000000000000000000" pitchFamily="2" charset="0"/>
              </a:rPr>
              <a:t>In simple words, the composition is a kind of aggregation that represents a strong relationship between two classes using the reference variable.</a:t>
            </a:r>
          </a:p>
          <a:p>
            <a:pPr algn="just">
              <a:lnSpc>
                <a:spcPts val="2100"/>
              </a:lnSpc>
              <a:spcBef>
                <a:spcPts val="750"/>
              </a:spcBef>
              <a:buNone/>
            </a:pPr>
            <a:r>
              <a:rPr lang="en-US" b="0" i="0" dirty="0">
                <a:solidFill>
                  <a:srgbClr val="3A3A3A"/>
                </a:solidFill>
                <a:effectLst/>
                <a:latin typeface="Roboto" panose="02000000000000000000" pitchFamily="2" charset="0"/>
              </a:rPr>
              <a:t>For example, if a Student  class contains an Address class and the Address class cannot exist independently without the Student class, then there is a composition relationship between them.</a:t>
            </a:r>
          </a:p>
        </p:txBody>
      </p:sp>
    </p:spTree>
    <p:extLst>
      <p:ext uri="{BB962C8B-B14F-4D97-AF65-F5344CB8AC3E}">
        <p14:creationId xmlns:p14="http://schemas.microsoft.com/office/powerpoint/2010/main" val="281360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DD7722-12FC-2CA7-613A-7824DDE4F473}"/>
              </a:ext>
            </a:extLst>
          </p:cNvPr>
          <p:cNvSpPr txBox="1"/>
          <p:nvPr/>
        </p:nvSpPr>
        <p:spPr>
          <a:xfrm>
            <a:off x="-1136" y="0"/>
            <a:ext cx="9718342" cy="1451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Is it possible to overload the main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you can overload the main() method in Java using the concept of method overloading.</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main() method overloading:</a:t>
            </a:r>
          </a:p>
        </p:txBody>
      </p:sp>
      <p:sp>
        <p:nvSpPr>
          <p:cNvPr id="5" name="TextBox 4">
            <a:extLst>
              <a:ext uri="{FF2B5EF4-FFF2-40B4-BE49-F238E27FC236}">
                <a16:creationId xmlns:a16="http://schemas.microsoft.com/office/drawing/2014/main" id="{1D28EBD0-28D3-612E-4908-8284016EEABD}"/>
              </a:ext>
            </a:extLst>
          </p:cNvPr>
          <p:cNvSpPr txBox="1"/>
          <p:nvPr/>
        </p:nvSpPr>
        <p:spPr>
          <a:xfrm>
            <a:off x="188794" y="1451679"/>
            <a:ext cx="4981432" cy="2862322"/>
          </a:xfrm>
          <a:prstGeom prst="rect">
            <a:avLst/>
          </a:prstGeom>
          <a:noFill/>
        </p:spPr>
        <p:txBody>
          <a:bodyPr wrap="square">
            <a:spAutoFit/>
          </a:bodyPr>
          <a:lstStyle/>
          <a:p>
            <a:r>
              <a:rPr lang="en-US" dirty="0"/>
              <a:t>import </a:t>
            </a:r>
            <a:r>
              <a:rPr lang="en-US" dirty="0" err="1"/>
              <a:t>java.util</a:t>
            </a:r>
            <a:r>
              <a:rPr lang="en-US" dirty="0"/>
              <a:t>.*;class </a:t>
            </a:r>
            <a:r>
              <a:rPr lang="en-US" dirty="0" err="1"/>
              <a:t>main_overloading</a:t>
            </a:r>
            <a:r>
              <a:rPr lang="en-US" dirty="0"/>
              <a:t> {    // Overloaded main method with a single String argument    public static void main(String </a:t>
            </a:r>
            <a:r>
              <a:rPr lang="en-US" dirty="0" err="1"/>
              <a:t>args</a:t>
            </a:r>
            <a:r>
              <a:rPr lang="en-US" dirty="0"/>
              <a:t>) {        </a:t>
            </a:r>
            <a:r>
              <a:rPr lang="en-US" dirty="0" err="1"/>
              <a:t>System.out.println</a:t>
            </a:r>
            <a:r>
              <a:rPr lang="en-US" dirty="0"/>
              <a:t>("Main with String");    }    // Standard main method - entry point of the Java program    public static void main(String </a:t>
            </a:r>
            <a:r>
              <a:rPr lang="en-US" dirty="0" err="1"/>
              <a:t>args</a:t>
            </a:r>
            <a:r>
              <a:rPr lang="en-US" dirty="0"/>
              <a:t>[]) {        </a:t>
            </a:r>
            <a:r>
              <a:rPr lang="en-US" dirty="0" err="1"/>
              <a:t>System.out.println</a:t>
            </a:r>
            <a:r>
              <a:rPr lang="en-US" dirty="0"/>
              <a:t>("Main with the String </a:t>
            </a:r>
            <a:r>
              <a:rPr lang="en-US" dirty="0" err="1"/>
              <a:t>args</a:t>
            </a:r>
            <a:r>
              <a:rPr lang="en-US" dirty="0"/>
              <a:t>[]");    }    // Overloaded main method with no arguments    public static void main() {        </a:t>
            </a:r>
            <a:r>
              <a:rPr lang="en-US" dirty="0" err="1"/>
              <a:t>System.out.println</a:t>
            </a:r>
            <a:r>
              <a:rPr lang="en-US" dirty="0"/>
              <a:t>("main without String");    }}</a:t>
            </a:r>
          </a:p>
        </p:txBody>
      </p:sp>
      <p:sp>
        <p:nvSpPr>
          <p:cNvPr id="7" name="TextBox 6">
            <a:extLst>
              <a:ext uri="{FF2B5EF4-FFF2-40B4-BE49-F238E27FC236}">
                <a16:creationId xmlns:a16="http://schemas.microsoft.com/office/drawing/2014/main" id="{3E30089C-9A94-4ABD-E600-5566F3614065}"/>
              </a:ext>
            </a:extLst>
          </p:cNvPr>
          <p:cNvSpPr txBox="1"/>
          <p:nvPr/>
        </p:nvSpPr>
        <p:spPr>
          <a:xfrm>
            <a:off x="188794" y="4500945"/>
            <a:ext cx="4981432" cy="181075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the JVM only recognizes the main method with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If you have other overloaded main methods, you have to call them explicitly within your code.</a:t>
            </a:r>
          </a:p>
          <a:p>
            <a:pPr algn="just">
              <a:lnSpc>
                <a:spcPts val="2100"/>
              </a:lnSpc>
              <a:spcBef>
                <a:spcPts val="750"/>
              </a:spcBef>
              <a:buNone/>
            </a:pPr>
            <a:r>
              <a:rPr lang="en-US" b="0" i="0" dirty="0">
                <a:solidFill>
                  <a:srgbClr val="3A3A3A"/>
                </a:solidFill>
                <a:effectLst/>
                <a:latin typeface="Roboto" panose="02000000000000000000" pitchFamily="2" charset="0"/>
              </a:rPr>
              <a:t>Here is the code if you want to do so,</a:t>
            </a:r>
          </a:p>
        </p:txBody>
      </p:sp>
      <p:sp>
        <p:nvSpPr>
          <p:cNvPr id="9" name="TextBox 8">
            <a:extLst>
              <a:ext uri="{FF2B5EF4-FFF2-40B4-BE49-F238E27FC236}">
                <a16:creationId xmlns:a16="http://schemas.microsoft.com/office/drawing/2014/main" id="{6C286DAF-2F42-7491-60B2-C0D34DC1A038}"/>
              </a:ext>
            </a:extLst>
          </p:cNvPr>
          <p:cNvSpPr txBox="1"/>
          <p:nvPr/>
        </p:nvSpPr>
        <p:spPr>
          <a:xfrm>
            <a:off x="5170226" y="1424383"/>
            <a:ext cx="4981432" cy="674030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MainOverloading</a:t>
            </a:r>
            <a:r>
              <a:rPr lang="en-US" dirty="0"/>
              <a:t> {</a:t>
            </a:r>
          </a:p>
          <a:p>
            <a:r>
              <a:rPr lang="en-US" dirty="0"/>
              <a:t>    // Entry point of the Java program</a:t>
            </a:r>
          </a:p>
          <a:p>
            <a:r>
              <a:rPr lang="en-US" dirty="0"/>
              <a:t>    public static void main(String[] </a:t>
            </a:r>
            <a:r>
              <a:rPr lang="en-US" dirty="0" err="1"/>
              <a:t>args</a:t>
            </a:r>
            <a:r>
              <a:rPr lang="en-US" dirty="0"/>
              <a:t>) {</a:t>
            </a:r>
          </a:p>
          <a:p>
            <a:r>
              <a:rPr lang="en-US" dirty="0"/>
              <a:t>        </a:t>
            </a:r>
            <a:r>
              <a:rPr lang="en-US" dirty="0" err="1"/>
              <a:t>System.out.println</a:t>
            </a:r>
            <a:r>
              <a:rPr lang="en-US" dirty="0"/>
              <a:t>("Main with the String </a:t>
            </a:r>
            <a:r>
              <a:rPr lang="en-US" dirty="0" err="1"/>
              <a:t>args</a:t>
            </a:r>
            <a:r>
              <a:rPr lang="en-US" dirty="0"/>
              <a:t>[]");</a:t>
            </a:r>
          </a:p>
          <a:p>
            <a:r>
              <a:rPr lang="en-US" dirty="0"/>
              <a:t>        // Explicitly calling other overloaded main methods</a:t>
            </a:r>
          </a:p>
          <a:p>
            <a:r>
              <a:rPr lang="en-US" dirty="0"/>
              <a:t>        main("Single String");</a:t>
            </a:r>
          </a:p>
          <a:p>
            <a:r>
              <a:rPr lang="en-US" dirty="0"/>
              <a:t>        main();</a:t>
            </a:r>
          </a:p>
          <a:p>
            <a:r>
              <a:rPr lang="en-US" dirty="0"/>
              <a:t>    }</a:t>
            </a:r>
          </a:p>
          <a:p>
            <a:endParaRPr lang="en-US" dirty="0"/>
          </a:p>
          <a:p>
            <a:r>
              <a:rPr lang="en-US" dirty="0"/>
              <a:t>    // Overloaded main method with a single String argument</a:t>
            </a:r>
          </a:p>
          <a:p>
            <a:r>
              <a:rPr lang="en-US" dirty="0"/>
              <a:t>    public static void main(String </a:t>
            </a:r>
            <a:r>
              <a:rPr lang="en-US" dirty="0" err="1"/>
              <a:t>args</a:t>
            </a:r>
            <a:r>
              <a:rPr lang="en-US" dirty="0"/>
              <a:t>) {</a:t>
            </a:r>
          </a:p>
          <a:p>
            <a:r>
              <a:rPr lang="en-US" dirty="0"/>
              <a:t>        </a:t>
            </a:r>
            <a:r>
              <a:rPr lang="en-US" dirty="0" err="1"/>
              <a:t>System.out.println</a:t>
            </a:r>
            <a:r>
              <a:rPr lang="en-US" dirty="0"/>
              <a:t>("Main with String");</a:t>
            </a:r>
          </a:p>
          <a:p>
            <a:r>
              <a:rPr lang="en-US" dirty="0"/>
              <a:t>    }</a:t>
            </a:r>
          </a:p>
          <a:p>
            <a:endParaRPr lang="en-US" dirty="0"/>
          </a:p>
          <a:p>
            <a:r>
              <a:rPr lang="en-US" dirty="0"/>
              <a:t>    // Overloaded main method with no arguments</a:t>
            </a:r>
          </a:p>
          <a:p>
            <a:r>
              <a:rPr lang="en-US" dirty="0"/>
              <a:t>    public static void main() {</a:t>
            </a:r>
          </a:p>
          <a:p>
            <a:r>
              <a:rPr lang="en-US" dirty="0"/>
              <a:t>        </a:t>
            </a:r>
            <a:r>
              <a:rPr lang="en-US" dirty="0" err="1"/>
              <a:t>System.out.println</a:t>
            </a:r>
            <a:r>
              <a:rPr lang="en-US" dirty="0"/>
              <a:t>("Main without String");</a:t>
            </a:r>
          </a:p>
          <a:p>
            <a:r>
              <a:rPr lang="en-US" dirty="0"/>
              <a:t>    }</a:t>
            </a:r>
          </a:p>
          <a:p>
            <a:r>
              <a:rPr lang="en-US" dirty="0"/>
              <a:t>}</a:t>
            </a:r>
          </a:p>
        </p:txBody>
      </p:sp>
    </p:spTree>
    <p:extLst>
      <p:ext uri="{BB962C8B-B14F-4D97-AF65-F5344CB8AC3E}">
        <p14:creationId xmlns:p14="http://schemas.microsoft.com/office/powerpoint/2010/main" val="32548526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2D6F48-3254-186D-DADE-F4A21F2E8DEC}"/>
              </a:ext>
            </a:extLst>
          </p:cNvPr>
          <p:cNvSpPr txBox="1"/>
          <p:nvPr/>
        </p:nvSpPr>
        <p:spPr>
          <a:xfrm>
            <a:off x="0" y="0"/>
            <a:ext cx="990600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List the differences between constructor and a destructor.</a:t>
            </a:r>
          </a:p>
          <a:p>
            <a:pPr algn="just">
              <a:lnSpc>
                <a:spcPts val="2100"/>
              </a:lnSpc>
              <a:spcBef>
                <a:spcPts val="1650"/>
              </a:spcBef>
              <a:buNone/>
            </a:pPr>
            <a:r>
              <a:rPr lang="en-US" b="0" i="0" dirty="0">
                <a:solidFill>
                  <a:srgbClr val="3A3A3A"/>
                </a:solidFill>
                <a:effectLst/>
                <a:latin typeface="Roboto" panose="02000000000000000000" pitchFamily="2" charset="0"/>
              </a:rPr>
              <a:t>Below are the differences between a constructor and a destructor based on various parameters:</a:t>
            </a:r>
          </a:p>
        </p:txBody>
      </p:sp>
      <p:graphicFrame>
        <p:nvGraphicFramePr>
          <p:cNvPr id="4" name="Table 3">
            <a:extLst>
              <a:ext uri="{FF2B5EF4-FFF2-40B4-BE49-F238E27FC236}">
                <a16:creationId xmlns:a16="http://schemas.microsoft.com/office/drawing/2014/main" id="{E72987D4-4944-4180-33D5-24B8ECA55368}"/>
              </a:ext>
            </a:extLst>
          </p:cNvPr>
          <p:cNvGraphicFramePr>
            <a:graphicFrameLocks noGrp="1"/>
          </p:cNvGraphicFramePr>
          <p:nvPr>
            <p:extLst>
              <p:ext uri="{D42A27DB-BD31-4B8C-83A1-F6EECF244321}">
                <p14:modId xmlns:p14="http://schemas.microsoft.com/office/powerpoint/2010/main" val="888865906"/>
              </p:ext>
            </p:extLst>
          </p:nvPr>
        </p:nvGraphicFramePr>
        <p:xfrm>
          <a:off x="886497" y="1207403"/>
          <a:ext cx="7095777" cy="4443194"/>
        </p:xfrm>
        <a:graphic>
          <a:graphicData uri="http://schemas.openxmlformats.org/drawingml/2006/table">
            <a:tbl>
              <a:tblPr/>
              <a:tblGrid>
                <a:gridCol w="2365259">
                  <a:extLst>
                    <a:ext uri="{9D8B030D-6E8A-4147-A177-3AD203B41FA5}">
                      <a16:colId xmlns:a16="http://schemas.microsoft.com/office/drawing/2014/main" val="1528353935"/>
                    </a:ext>
                  </a:extLst>
                </a:gridCol>
                <a:gridCol w="2365259">
                  <a:extLst>
                    <a:ext uri="{9D8B030D-6E8A-4147-A177-3AD203B41FA5}">
                      <a16:colId xmlns:a16="http://schemas.microsoft.com/office/drawing/2014/main" val="343046885"/>
                    </a:ext>
                  </a:extLst>
                </a:gridCol>
                <a:gridCol w="2365259">
                  <a:extLst>
                    <a:ext uri="{9D8B030D-6E8A-4147-A177-3AD203B41FA5}">
                      <a16:colId xmlns:a16="http://schemas.microsoft.com/office/drawing/2014/main" val="3408300092"/>
                    </a:ext>
                  </a:extLst>
                </a:gridCol>
              </a:tblGrid>
              <a:tr h="303766">
                <a:tc>
                  <a:txBody>
                    <a:bodyPr/>
                    <a:lstStyle/>
                    <a:p>
                      <a:pPr algn="ctr" fontAlgn="t">
                        <a:buNone/>
                      </a:pPr>
                      <a:r>
                        <a:rPr lang="en-US" sz="1500" b="0">
                          <a:solidFill>
                            <a:srgbClr val="FFFFFF"/>
                          </a:solidFill>
                          <a:effectLst/>
                        </a:rPr>
                        <a:t>Feature</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Constructor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Destructor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07008459"/>
                  </a:ext>
                </a:extLst>
              </a:tr>
              <a:tr h="759414">
                <a:tc>
                  <a:txBody>
                    <a:bodyPr/>
                    <a:lstStyle/>
                    <a:p>
                      <a:pPr fontAlgn="t">
                        <a:buNone/>
                      </a:pPr>
                      <a:r>
                        <a:rPr lang="en-US" sz="1500">
                          <a:effectLst/>
                        </a:rPr>
                        <a:t>Purpose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constructor is used to allocate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a:t>
                      </a:r>
                      <a:r>
                        <a:rPr lang="en-US" sz="1500" b="0" u="none" strike="noStrike">
                          <a:solidFill>
                            <a:srgbClr val="0F5A9E"/>
                          </a:solidFill>
                          <a:effectLst/>
                          <a:hlinkClick r:id="rId2"/>
                        </a:rPr>
                        <a:t>destructor</a:t>
                      </a:r>
                      <a:r>
                        <a:rPr lang="en-US" sz="1500">
                          <a:effectLst/>
                        </a:rPr>
                        <a:t> is used to deallocate or free up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3488968"/>
                  </a:ext>
                </a:extLst>
              </a:tr>
              <a:tr h="531590">
                <a:tc>
                  <a:txBody>
                    <a:bodyPr/>
                    <a:lstStyle/>
                    <a:p>
                      <a:pPr fontAlgn="t">
                        <a:buNone/>
                      </a:pPr>
                      <a:r>
                        <a:rPr lang="en-US" sz="1500">
                          <a:effectLst/>
                        </a:rPr>
                        <a:t>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May or may not accept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don’t accept any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4397542"/>
                  </a:ext>
                </a:extLst>
              </a:tr>
              <a:tr h="706150">
                <a:tc>
                  <a:txBody>
                    <a:bodyPr/>
                    <a:lstStyle/>
                    <a:p>
                      <a:pPr fontAlgn="t">
                        <a:buNone/>
                      </a:pPr>
                      <a:r>
                        <a:rPr lang="en-US" sz="1500">
                          <a:effectLst/>
                        </a:rPr>
                        <a:t>Syntax</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class_name(arguments){</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1038296"/>
                  </a:ext>
                </a:extLst>
              </a:tr>
              <a:tr h="759414">
                <a:tc>
                  <a:txBody>
                    <a:bodyPr/>
                    <a:lstStyle/>
                    <a:p>
                      <a:pPr fontAlgn="t">
                        <a:buNone/>
                      </a:pPr>
                      <a:r>
                        <a:rPr lang="en-US" sz="1500">
                          <a:effectLst/>
                        </a:rPr>
                        <a:t>Invocation Timing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The constructor is called as soon as the object is created.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Called at the time of program termination or when the block is exited.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46901266"/>
                  </a:ext>
                </a:extLst>
              </a:tr>
              <a:tr h="987238">
                <a:tc>
                  <a:txBody>
                    <a:bodyPr/>
                    <a:lstStyle/>
                    <a:p>
                      <a:pPr fontAlgn="t">
                        <a:buNone/>
                      </a:pPr>
                      <a:r>
                        <a:rPr lang="en-US" sz="1500">
                          <a:effectLst/>
                        </a:rPr>
                        <a:t>Execution Order in Inheritance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Constructors are executed in successive order, meaning from parent to child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are called in the reverse order, meaning from child to parent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40451505"/>
                  </a:ext>
                </a:extLst>
              </a:tr>
              <a:tr h="303766">
                <a:tc>
                  <a:txBody>
                    <a:bodyPr/>
                    <a:lstStyle/>
                    <a:p>
                      <a:pPr fontAlgn="t">
                        <a:buNone/>
                      </a:pPr>
                      <a:r>
                        <a:rPr lang="en-US" sz="1500">
                          <a:effectLst/>
                        </a:rPr>
                        <a:t>Overloading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Can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Cannot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46164198"/>
                  </a:ext>
                </a:extLst>
              </a:tr>
            </a:tbl>
          </a:graphicData>
        </a:graphic>
      </p:graphicFrame>
    </p:spTree>
    <p:extLst>
      <p:ext uri="{BB962C8B-B14F-4D97-AF65-F5344CB8AC3E}">
        <p14:creationId xmlns:p14="http://schemas.microsoft.com/office/powerpoint/2010/main" val="7415128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FFB2CA-7C22-938A-1403-C8F48DBBDEE1}"/>
              </a:ext>
            </a:extLst>
          </p:cNvPr>
          <p:cNvSpPr txBox="1"/>
          <p:nvPr/>
        </p:nvSpPr>
        <p:spPr>
          <a:xfrm>
            <a:off x="0" y="0"/>
            <a:ext cx="9906000" cy="8681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What is a JAR file in java?</a:t>
            </a:r>
          </a:p>
          <a:p>
            <a:pPr algn="just">
              <a:lnSpc>
                <a:spcPts val="2100"/>
              </a:lnSpc>
              <a:spcBef>
                <a:spcPts val="1650"/>
              </a:spcBef>
              <a:buNone/>
            </a:pPr>
            <a:r>
              <a:rPr lang="en-US" b="0" i="0" dirty="0">
                <a:solidFill>
                  <a:srgbClr val="3A3A3A"/>
                </a:solidFill>
                <a:effectLst/>
                <a:latin typeface="Roboto" panose="02000000000000000000" pitchFamily="2" charset="0"/>
              </a:rPr>
              <a:t>JAR (Java Archive) is a file format that aggregates many files into a single file in a format similar to a ZIP file. In other words, the JAR is a zipped file composed of java class files, metadata, and resources like text, images, audio files, directories, .class files, and more.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Explain the volatile keyword and its use cases.</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volatile keyword in Java</a:t>
            </a:r>
            <a:r>
              <a:rPr lang="en-US" b="0" i="0" dirty="0">
                <a:solidFill>
                  <a:srgbClr val="3A3A3A"/>
                </a:solidFill>
                <a:effectLst/>
                <a:latin typeface="Roboto" panose="02000000000000000000" pitchFamily="2" charset="0"/>
              </a:rPr>
              <a:t> ensures that updates to a variable are visible to all threads. By declaring a variable as volatile, every read loads the most recent value directly from the main memory, and every write immediately updates the main memory.</a:t>
            </a:r>
          </a:p>
          <a:p>
            <a:pPr algn="l">
              <a:spcBef>
                <a:spcPts val="1650"/>
              </a:spcBef>
              <a:buNone/>
            </a:pPr>
            <a:r>
              <a:rPr lang="en-US" b="0" i="0" dirty="0">
                <a:solidFill>
                  <a:srgbClr val="3A3A3A"/>
                </a:solidFill>
                <a:effectLst/>
                <a:latin typeface="Roboto" panose="02000000000000000000" pitchFamily="2" charset="0"/>
              </a:rPr>
              <a:t>Why it is Important in Multithreading:</a:t>
            </a:r>
          </a:p>
          <a:p>
            <a:pPr algn="just">
              <a:lnSpc>
                <a:spcPts val="2100"/>
              </a:lnSpc>
              <a:spcBef>
                <a:spcPts val="1650"/>
              </a:spcBef>
              <a:buNone/>
            </a:pPr>
            <a:r>
              <a:rPr lang="en-US" b="0" i="0" dirty="0">
                <a:solidFill>
                  <a:srgbClr val="3A3A3A"/>
                </a:solidFill>
                <a:effectLst/>
                <a:latin typeface="Roboto" panose="02000000000000000000" pitchFamily="2" charset="0"/>
              </a:rPr>
              <a:t>In a multithreaded environment, threads can cache variables locally. Without the volatile keyword, updates made by one thread may not be immediately visible to other threads, leading to inconsistent data access.</a:t>
            </a:r>
          </a:p>
          <a:p>
            <a:pPr algn="l">
              <a:spcBef>
                <a:spcPts val="1650"/>
              </a:spcBef>
              <a:buNone/>
            </a:pPr>
            <a:r>
              <a:rPr lang="en-US" b="0" i="0" dirty="0">
                <a:solidFill>
                  <a:srgbClr val="3A3A3A"/>
                </a:solidFill>
                <a:effectLst/>
                <a:latin typeface="Roboto" panose="02000000000000000000" pitchFamily="2" charset="0"/>
              </a:rPr>
              <a:t>Key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Flags to manage thread execution:</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private volatile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running =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Double-checked locking (using volatile to avoid instruction reordering).</a:t>
            </a:r>
          </a:p>
          <a:p>
            <a:pPr algn="l">
              <a:spcBef>
                <a:spcPts val="1650"/>
              </a:spcBef>
              <a:buNone/>
            </a:pPr>
            <a:r>
              <a:rPr lang="en-US" b="0" i="0" dirty="0">
                <a:solidFill>
                  <a:srgbClr val="3A3A3A"/>
                </a:solidFill>
                <a:effectLst/>
                <a:latin typeface="Roboto" panose="02000000000000000000" pitchFamily="2" charset="0"/>
              </a:rPr>
              <a:t>Limitations: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ensure atomicity.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volatile keyword is not a replacement for synchronized when there are compound actions like reading-modifying-writing involved.</a:t>
            </a:r>
          </a:p>
        </p:txBody>
      </p:sp>
    </p:spTree>
    <p:extLst>
      <p:ext uri="{BB962C8B-B14F-4D97-AF65-F5344CB8AC3E}">
        <p14:creationId xmlns:p14="http://schemas.microsoft.com/office/powerpoint/2010/main" val="26190612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022F50-CF44-0214-7364-CCE527A532CC}"/>
              </a:ext>
            </a:extLst>
          </p:cNvPr>
          <p:cNvSpPr txBox="1"/>
          <p:nvPr/>
        </p:nvSpPr>
        <p:spPr>
          <a:xfrm>
            <a:off x="184245" y="152971"/>
            <a:ext cx="495413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What is the difference between throw and throws keyword?</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throw and throws keyword:</a:t>
            </a:r>
          </a:p>
        </p:txBody>
      </p:sp>
      <p:graphicFrame>
        <p:nvGraphicFramePr>
          <p:cNvPr id="4" name="Table 3">
            <a:extLst>
              <a:ext uri="{FF2B5EF4-FFF2-40B4-BE49-F238E27FC236}">
                <a16:creationId xmlns:a16="http://schemas.microsoft.com/office/drawing/2014/main" id="{F62D2AF9-9D72-72C8-76C6-C90D13160DE3}"/>
              </a:ext>
            </a:extLst>
          </p:cNvPr>
          <p:cNvGraphicFramePr>
            <a:graphicFrameLocks noGrp="1"/>
          </p:cNvGraphicFramePr>
          <p:nvPr/>
        </p:nvGraphicFramePr>
        <p:xfrm>
          <a:off x="681038" y="2263934"/>
          <a:ext cx="8543924" cy="3474720"/>
        </p:xfrm>
        <a:graphic>
          <a:graphicData uri="http://schemas.openxmlformats.org/drawingml/2006/table">
            <a:tbl>
              <a:tblPr/>
              <a:tblGrid>
                <a:gridCol w="4271962">
                  <a:extLst>
                    <a:ext uri="{9D8B030D-6E8A-4147-A177-3AD203B41FA5}">
                      <a16:colId xmlns:a16="http://schemas.microsoft.com/office/drawing/2014/main" val="3114483573"/>
                    </a:ext>
                  </a:extLst>
                </a:gridCol>
                <a:gridCol w="4271962">
                  <a:extLst>
                    <a:ext uri="{9D8B030D-6E8A-4147-A177-3AD203B41FA5}">
                      <a16:colId xmlns:a16="http://schemas.microsoft.com/office/drawing/2014/main" val="1888659454"/>
                    </a:ext>
                  </a:extLst>
                </a:gridCol>
              </a:tblGrid>
              <a:tr h="365760">
                <a:tc>
                  <a:txBody>
                    <a:bodyPr/>
                    <a:lstStyle/>
                    <a:p>
                      <a:pPr algn="ctr" fontAlgn="t">
                        <a:buNone/>
                      </a:pPr>
                      <a:r>
                        <a:rPr lang="en-US" sz="1800" b="0">
                          <a:solidFill>
                            <a:srgbClr val="FFFFFF"/>
                          </a:solidFill>
                          <a:effectLst/>
                        </a:rPr>
                        <a:t>throw</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throws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7940584"/>
                  </a:ext>
                </a:extLst>
              </a:tr>
              <a:tr h="1188720">
                <a:tc>
                  <a:txBody>
                    <a:bodyPr/>
                    <a:lstStyle/>
                    <a:p>
                      <a:pPr fontAlgn="t">
                        <a:buNone/>
                      </a:pPr>
                      <a:r>
                        <a:rPr lang="en-US" sz="1800">
                          <a:effectLst/>
                        </a:rPr>
                        <a:t>The throw keyword is used to explicitly throw an exception inside a program or a block of 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is used to declare an exception in the method signature that might occur during the compilation or execution of a program.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57851113"/>
                  </a:ext>
                </a:extLst>
              </a:tr>
              <a:tr h="640080">
                <a:tc>
                  <a:txBody>
                    <a:bodyPr/>
                    <a:lstStyle/>
                    <a:p>
                      <a:pPr fontAlgn="t">
                        <a:buNone/>
                      </a:pPr>
                      <a:r>
                        <a:rPr lang="en-US" sz="1800">
                          <a:effectLst/>
                        </a:rPr>
                        <a:t>Can throw only unchecked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Can be used for both </a:t>
                      </a:r>
                      <a:r>
                        <a:rPr lang="en-US" sz="1800" u="none" strike="noStrike">
                          <a:solidFill>
                            <a:srgbClr val="0F5A9E"/>
                          </a:solidFill>
                          <a:effectLst/>
                          <a:hlinkClick r:id="rId2"/>
                        </a:rPr>
                        <a:t>checked and unchecked exceptions</a:t>
                      </a:r>
                      <a:r>
                        <a:rPr lang="en-US" sz="180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3755058"/>
                  </a:ext>
                </a:extLst>
              </a:tr>
              <a:tr h="640080">
                <a:tc>
                  <a:txBody>
                    <a:bodyPr/>
                    <a:lstStyle/>
                    <a:p>
                      <a:pPr fontAlgn="t">
                        <a:buNone/>
                      </a:pPr>
                      <a:r>
                        <a:rPr lang="en-US" sz="1800">
                          <a:effectLst/>
                        </a:rPr>
                        <a:t>throw keyword followed by an instance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followed by the exception class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08551405"/>
                  </a:ext>
                </a:extLst>
              </a:tr>
              <a:tr h="640080">
                <a:tc>
                  <a:txBody>
                    <a:bodyPr/>
                    <a:lstStyle/>
                    <a:p>
                      <a:pPr fontAlgn="t">
                        <a:buNone/>
                      </a:pPr>
                      <a:r>
                        <a:rPr lang="en-US" sz="1800">
                          <a:effectLst/>
                        </a:rPr>
                        <a:t>throw keyword is used to throw only a single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throws can be used to throw multiple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76477451"/>
                  </a:ext>
                </a:extLst>
              </a:tr>
            </a:tbl>
          </a:graphicData>
        </a:graphic>
      </p:graphicFrame>
    </p:spTree>
    <p:extLst>
      <p:ext uri="{BB962C8B-B14F-4D97-AF65-F5344CB8AC3E}">
        <p14:creationId xmlns:p14="http://schemas.microsoft.com/office/powerpoint/2010/main" val="22578588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6DBA67-E8F9-A793-C734-33781C7BF521}"/>
              </a:ext>
            </a:extLst>
          </p:cNvPr>
          <p:cNvSpPr txBox="1"/>
          <p:nvPr/>
        </p:nvSpPr>
        <p:spPr>
          <a:xfrm>
            <a:off x="230874" y="192073"/>
            <a:ext cx="9444251" cy="66659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What is the </a:t>
            </a:r>
            <a:r>
              <a:rPr lang="en-US" b="0" i="0" dirty="0" err="1">
                <a:solidFill>
                  <a:srgbClr val="272C37"/>
                </a:solidFill>
                <a:effectLst/>
                <a:latin typeface="Roboto" panose="02000000000000000000" pitchFamily="2" charset="0"/>
              </a:rPr>
              <a:t>instanceof</a:t>
            </a:r>
            <a:r>
              <a:rPr lang="en-US" b="0" i="0" dirty="0">
                <a:solidFill>
                  <a:srgbClr val="272C37"/>
                </a:solidFill>
                <a:effectLst/>
                <a:latin typeface="Roboto" panose="02000000000000000000" pitchFamily="2" charset="0"/>
              </a:rPr>
              <a:t> operator used for?</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operator is used to check whether an object is an instance of a particular class or implements a specific interface. It is commonly used to verify an object’s type before </a:t>
            </a:r>
            <a:r>
              <a:rPr lang="en-US" b="0" i="0" dirty="0" err="1">
                <a:solidFill>
                  <a:srgbClr val="3A3A3A"/>
                </a:solidFill>
                <a:effectLst/>
                <a:latin typeface="Roboto" panose="02000000000000000000" pitchFamily="2" charset="0"/>
              </a:rPr>
              <a:t>downcasting</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myObj</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obj;</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Polymorphic functionality when various types are accessed through a superclass or interface.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Casting objects safely while programming with Object references.</a:t>
            </a:r>
          </a:p>
          <a:p>
            <a:pPr algn="l">
              <a:spcBef>
                <a:spcPts val="1650"/>
              </a:spcBef>
              <a:buNone/>
            </a:pPr>
            <a:r>
              <a:rPr lang="en-US" b="0" i="0" dirty="0">
                <a:solidFill>
                  <a:srgbClr val="3A3A3A"/>
                </a:solidFill>
                <a:effectLst/>
                <a:latin typeface="Roboto" panose="02000000000000000000" pitchFamily="2" charset="0"/>
              </a:rPr>
              <a:t>Best Practice:</a:t>
            </a:r>
          </a:p>
          <a:p>
            <a:pPr algn="just">
              <a:lnSpc>
                <a:spcPts val="2100"/>
              </a:lnSpc>
              <a:spcBef>
                <a:spcPts val="1650"/>
              </a:spcBef>
              <a:buNone/>
            </a:pPr>
            <a:r>
              <a:rPr lang="en-US" b="0" i="0" dirty="0">
                <a:solidFill>
                  <a:srgbClr val="3A3A3A"/>
                </a:solidFill>
                <a:effectLst/>
                <a:latin typeface="Roboto" panose="02000000000000000000" pitchFamily="2" charset="0"/>
              </a:rPr>
              <a:t>Use polymorphism and method overriding instead of overusing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as the latter may become a code smell for certain OOP designs.</a:t>
            </a:r>
          </a:p>
        </p:txBody>
      </p:sp>
    </p:spTree>
    <p:extLst>
      <p:ext uri="{BB962C8B-B14F-4D97-AF65-F5344CB8AC3E}">
        <p14:creationId xmlns:p14="http://schemas.microsoft.com/office/powerpoint/2010/main" val="15510496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DFAD70-5854-49EC-8B1A-09E574D093B8}"/>
              </a:ext>
            </a:extLst>
          </p:cNvPr>
          <p:cNvSpPr txBox="1"/>
          <p:nvPr/>
        </p:nvSpPr>
        <p:spPr>
          <a:xfrm>
            <a:off x="0" y="169024"/>
            <a:ext cx="8243248"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How does the Comparator interface differ from Comparable?</a:t>
            </a:r>
          </a:p>
        </p:txBody>
      </p:sp>
      <p:graphicFrame>
        <p:nvGraphicFramePr>
          <p:cNvPr id="4" name="Table 3">
            <a:extLst>
              <a:ext uri="{FF2B5EF4-FFF2-40B4-BE49-F238E27FC236}">
                <a16:creationId xmlns:a16="http://schemas.microsoft.com/office/drawing/2014/main" id="{8C3AAD18-9F33-75B0-473D-AB3D02B1CDDA}"/>
              </a:ext>
            </a:extLst>
          </p:cNvPr>
          <p:cNvGraphicFramePr>
            <a:graphicFrameLocks noGrp="1"/>
          </p:cNvGraphicFramePr>
          <p:nvPr>
            <p:extLst>
              <p:ext uri="{D42A27DB-BD31-4B8C-83A1-F6EECF244321}">
                <p14:modId xmlns:p14="http://schemas.microsoft.com/office/powerpoint/2010/main" val="3212320579"/>
              </p:ext>
            </p:extLst>
          </p:nvPr>
        </p:nvGraphicFramePr>
        <p:xfrm>
          <a:off x="462674" y="530661"/>
          <a:ext cx="8543925" cy="3017520"/>
        </p:xfrm>
        <a:graphic>
          <a:graphicData uri="http://schemas.openxmlformats.org/drawingml/2006/table">
            <a:tbl>
              <a:tblPr/>
              <a:tblGrid>
                <a:gridCol w="2847975">
                  <a:extLst>
                    <a:ext uri="{9D8B030D-6E8A-4147-A177-3AD203B41FA5}">
                      <a16:colId xmlns:a16="http://schemas.microsoft.com/office/drawing/2014/main" val="3859481457"/>
                    </a:ext>
                  </a:extLst>
                </a:gridCol>
                <a:gridCol w="2847975">
                  <a:extLst>
                    <a:ext uri="{9D8B030D-6E8A-4147-A177-3AD203B41FA5}">
                      <a16:colId xmlns:a16="http://schemas.microsoft.com/office/drawing/2014/main" val="2560200675"/>
                    </a:ext>
                  </a:extLst>
                </a:gridCol>
                <a:gridCol w="2847975">
                  <a:extLst>
                    <a:ext uri="{9D8B030D-6E8A-4147-A177-3AD203B41FA5}">
                      <a16:colId xmlns:a16="http://schemas.microsoft.com/office/drawing/2014/main" val="67311086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Comparable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Comparator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87557803"/>
                  </a:ext>
                </a:extLst>
              </a:tr>
              <a:tr h="0">
                <a:tc>
                  <a:txBody>
                    <a:bodyPr/>
                    <a:lstStyle/>
                    <a:p>
                      <a:pPr fontAlgn="t">
                        <a:buNone/>
                      </a:pPr>
                      <a:r>
                        <a:rPr lang="en-US">
                          <a:effectLst/>
                        </a:rPr>
                        <a:t>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java.lang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java.util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55131554"/>
                  </a:ext>
                </a:extLst>
              </a:tr>
              <a:tr h="0">
                <a:tc>
                  <a:txBody>
                    <a:bodyPr/>
                    <a:lstStyle/>
                    <a:p>
                      <a:pPr fontAlgn="t">
                        <a:buNone/>
                      </a:pPr>
                      <a:r>
                        <a:rPr lang="en-US">
                          <a:effectLst/>
                        </a:rPr>
                        <a:t>Method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compareTo(T 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 o1, T o2)</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76155385"/>
                  </a:ext>
                </a:extLst>
              </a:tr>
              <a:tr h="0">
                <a:tc>
                  <a:txBody>
                    <a:bodyPr/>
                    <a:lstStyle/>
                    <a:p>
                      <a:pPr fontAlgn="t">
                        <a:buNone/>
                      </a:pPr>
                      <a:r>
                        <a:rPr lang="en-US">
                          <a:effectLst/>
                        </a:rPr>
                        <a:t>Defined In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Same class being compared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Separate or anonymous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94525264"/>
                  </a:ext>
                </a:extLst>
              </a:tr>
              <a:tr h="0">
                <a:tc>
                  <a:txBody>
                    <a:bodyPr/>
                    <a:lstStyle/>
                    <a:p>
                      <a:pPr fontAlgn="t">
                        <a:buNone/>
                      </a:pPr>
                      <a:r>
                        <a:rPr lang="en-US">
                          <a:effectLst/>
                        </a:rPr>
                        <a:t>Sorting Logic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Natural/default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Custom or multiple orderings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74750990"/>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One comparison strategy only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Multiple strategies possible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6807901"/>
                  </a:ext>
                </a:extLst>
              </a:tr>
            </a:tbl>
          </a:graphicData>
        </a:graphic>
      </p:graphicFrame>
      <p:sp>
        <p:nvSpPr>
          <p:cNvPr id="6" name="TextBox 5">
            <a:extLst>
              <a:ext uri="{FF2B5EF4-FFF2-40B4-BE49-F238E27FC236}">
                <a16:creationId xmlns:a16="http://schemas.microsoft.com/office/drawing/2014/main" id="{5B5AF0ED-929A-2D18-39EC-518C70939C67}"/>
              </a:ext>
            </a:extLst>
          </p:cNvPr>
          <p:cNvSpPr txBox="1"/>
          <p:nvPr/>
        </p:nvSpPr>
        <p:spPr>
          <a:xfrm>
            <a:off x="434241" y="3614818"/>
            <a:ext cx="9105544" cy="47936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Comparable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class Student implements Comparable {</a:t>
            </a:r>
          </a:p>
          <a:p>
            <a:pPr algn="l">
              <a:spcBef>
                <a:spcPts val="1125"/>
              </a:spcBef>
              <a:spcAft>
                <a:spcPts val="375"/>
              </a:spcAft>
              <a:buNone/>
            </a:pPr>
            <a:r>
              <a:rPr lang="en-US" b="0" i="0" dirty="0">
                <a:solidFill>
                  <a:srgbClr val="212529"/>
                </a:solidFill>
                <a:effectLst/>
                <a:latin typeface="Courier New" panose="02070309020205020404" pitchFamily="49" charset="0"/>
              </a:rPr>
              <a:t>    public int </a:t>
            </a:r>
            <a:r>
              <a:rPr lang="en-US" b="0" i="0" dirty="0" err="1">
                <a:solidFill>
                  <a:srgbClr val="212529"/>
                </a:solidFill>
                <a:effectLst/>
                <a:latin typeface="Courier New" panose="02070309020205020404" pitchFamily="49" charset="0"/>
              </a:rPr>
              <a:t>compareTo</a:t>
            </a:r>
            <a:r>
              <a:rPr lang="en-US" b="0" i="0" dirty="0">
                <a:solidFill>
                  <a:srgbClr val="212529"/>
                </a:solidFill>
                <a:effectLst/>
                <a:latin typeface="Courier New" panose="02070309020205020404" pitchFamily="49" charset="0"/>
              </a:rPr>
              <a:t>(Student s) {</a:t>
            </a:r>
          </a:p>
          <a:p>
            <a:pPr algn="l">
              <a:spcBef>
                <a:spcPts val="1125"/>
              </a:spcBef>
              <a:spcAft>
                <a:spcPts val="375"/>
              </a:spcAft>
              <a:buNone/>
            </a:pPr>
            <a:r>
              <a:rPr lang="en-US" b="0" i="0" dirty="0">
                <a:solidFill>
                  <a:srgbClr val="212529"/>
                </a:solidFill>
                <a:effectLst/>
                <a:latin typeface="Courier New" panose="02070309020205020404" pitchFamily="49" charset="0"/>
              </a:rPr>
              <a:t>        return this.id - s.id;</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Comparator Example:</a:t>
            </a:r>
          </a:p>
          <a:p>
            <a:pPr algn="l">
              <a:spcBef>
                <a:spcPts val="1125"/>
              </a:spcBef>
              <a:spcAft>
                <a:spcPts val="375"/>
              </a:spcAft>
              <a:buNone/>
            </a:pPr>
            <a:r>
              <a:rPr lang="en-US" b="0" i="0" dirty="0">
                <a:solidFill>
                  <a:srgbClr val="212529"/>
                </a:solidFill>
                <a:effectLst/>
                <a:latin typeface="Courier New" panose="02070309020205020404" pitchFamily="49" charset="0"/>
              </a:rPr>
              <a:t>Comparator </a:t>
            </a:r>
            <a:r>
              <a:rPr lang="en-US" b="0" i="0" dirty="0" err="1">
                <a:solidFill>
                  <a:srgbClr val="212529"/>
                </a:solidFill>
                <a:effectLst/>
                <a:latin typeface="Courier New" panose="02070309020205020404" pitchFamily="49" charset="0"/>
              </a:rPr>
              <a:t>byName</a:t>
            </a:r>
            <a:r>
              <a:rPr lang="en-US" b="0" i="0" dirty="0">
                <a:solidFill>
                  <a:srgbClr val="212529"/>
                </a:solidFill>
                <a:effectLst/>
                <a:latin typeface="Courier New" panose="02070309020205020404" pitchFamily="49" charset="0"/>
              </a:rPr>
              <a:t> = (s1, s2) -&gt; s1.name.compareTo(s2.name);</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Use Comparable for natural ordering. Use Comparator for flexible, dynamic ordering (particularly with varying fields).</a:t>
            </a:r>
          </a:p>
        </p:txBody>
      </p:sp>
    </p:spTree>
    <p:extLst>
      <p:ext uri="{BB962C8B-B14F-4D97-AF65-F5344CB8AC3E}">
        <p14:creationId xmlns:p14="http://schemas.microsoft.com/office/powerpoint/2010/main" val="30713279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8584C1-4723-CA66-BED7-7848A4D06A79}"/>
              </a:ext>
            </a:extLst>
          </p:cNvPr>
          <p:cNvSpPr txBox="1"/>
          <p:nvPr/>
        </p:nvSpPr>
        <p:spPr>
          <a:xfrm>
            <a:off x="219274" y="129115"/>
            <a:ext cx="7421046" cy="99514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a </a:t>
            </a:r>
            <a:r>
              <a:rPr lang="en-US" b="0" i="0" dirty="0" err="1">
                <a:solidFill>
                  <a:srgbClr val="272C37"/>
                </a:solidFill>
                <a:effectLst/>
                <a:latin typeface="Roboto" panose="02000000000000000000" pitchFamily="2" charset="0"/>
              </a:rPr>
              <a:t>ConcurrentModificationException</a:t>
            </a:r>
            <a:r>
              <a:rPr lang="en-US" b="0" i="0" dirty="0">
                <a:solidFill>
                  <a:srgbClr val="272C37"/>
                </a:solidFill>
                <a:effectLst/>
                <a:latin typeface="Roboto" panose="02000000000000000000" pitchFamily="2" charset="0"/>
              </a:rPr>
              <a:t>, and how can it be avoided?</a:t>
            </a:r>
          </a:p>
          <a:p>
            <a:pPr algn="just">
              <a:lnSpc>
                <a:spcPts val="2100"/>
              </a:lnSpc>
              <a:spcBef>
                <a:spcPts val="1650"/>
              </a:spcBef>
              <a:buNone/>
            </a:pPr>
            <a:r>
              <a:rPr lang="en-US" b="0" i="0" dirty="0" err="1">
                <a:solidFill>
                  <a:srgbClr val="3A3A3A"/>
                </a:solidFill>
                <a:effectLst/>
                <a:latin typeface="Roboto" panose="02000000000000000000" pitchFamily="2" charset="0"/>
              </a:rPr>
              <a:t>ConcurrentModificationException</a:t>
            </a:r>
            <a:r>
              <a:rPr lang="en-US" b="0" i="0" dirty="0">
                <a:solidFill>
                  <a:srgbClr val="3A3A3A"/>
                </a:solidFill>
                <a:effectLst/>
                <a:latin typeface="Roboto" panose="02000000000000000000" pitchFamily="2" charset="0"/>
              </a:rPr>
              <a:t> is raised when a thread is modifying a collection while iterating over its elements with fail-fast iterators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 etc.</a:t>
            </a:r>
          </a:p>
          <a:p>
            <a:pPr algn="l">
              <a:spcBef>
                <a:spcPts val="1650"/>
              </a:spcBef>
              <a:buNone/>
            </a:pPr>
            <a:r>
              <a:rPr lang="en-US" b="0" i="0" dirty="0">
                <a:solidFill>
                  <a:srgbClr val="3A3A3A"/>
                </a:solidFill>
                <a:effectLst/>
                <a:latin typeface="Roboto" panose="02000000000000000000" pitchFamily="2" charset="0"/>
              </a:rPr>
              <a:t>Common Cause:</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list.remove</a:t>
            </a:r>
            <a:r>
              <a:rPr lang="en-US" b="0" i="0" dirty="0">
                <a:solidFill>
                  <a:srgbClr val="212529"/>
                </a:solidFill>
                <a:effectLst/>
                <a:latin typeface="Courier New" panose="02070309020205020404" pitchFamily="49" charset="0"/>
              </a:rPr>
              <a:t>(s); // Unsafe!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How to Avoid It:</a:t>
            </a:r>
          </a:p>
          <a:p>
            <a:pPr algn="just">
              <a:lnSpc>
                <a:spcPts val="2100"/>
              </a:lnSpc>
              <a:spcBef>
                <a:spcPts val="750"/>
              </a:spcBef>
              <a:buNone/>
            </a:pPr>
            <a:r>
              <a:rPr lang="en-US" b="0" i="0" dirty="0">
                <a:solidFill>
                  <a:srgbClr val="3A3A3A"/>
                </a:solidFill>
                <a:effectLst/>
                <a:latin typeface="Roboto" panose="02000000000000000000" pitchFamily="2" charset="0"/>
              </a:rPr>
              <a:t>Use Iterator’s remove() method:</a:t>
            </a:r>
          </a:p>
          <a:p>
            <a:pPr algn="l">
              <a:spcBef>
                <a:spcPts val="1125"/>
              </a:spcBef>
              <a:spcAft>
                <a:spcPts val="375"/>
              </a:spcAft>
              <a:buNone/>
            </a:pPr>
            <a:r>
              <a:rPr lang="en-US" b="0" i="0" dirty="0">
                <a:solidFill>
                  <a:srgbClr val="212529"/>
                </a:solidFill>
                <a:effectLst/>
                <a:latin typeface="Courier New" panose="02070309020205020404" pitchFamily="49" charset="0"/>
              </a:rPr>
              <a:t>Iterator it = </a:t>
            </a:r>
            <a:r>
              <a:rPr lang="en-US" b="0" i="0" dirty="0" err="1">
                <a:solidFill>
                  <a:srgbClr val="212529"/>
                </a:solidFill>
                <a:effectLst/>
                <a:latin typeface="Courier New" panose="02070309020205020404" pitchFamily="49" charset="0"/>
              </a:rPr>
              <a:t>list.iterator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while (</a:t>
            </a:r>
            <a:r>
              <a:rPr lang="en-US" b="0" i="0" dirty="0" err="1">
                <a:solidFill>
                  <a:srgbClr val="212529"/>
                </a:solidFill>
                <a:effectLst/>
                <a:latin typeface="Courier New" panose="02070309020205020404" pitchFamily="49" charset="0"/>
              </a:rPr>
              <a:t>it.hasNext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it.remove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Use concurrent collections like </a:t>
            </a:r>
            <a:r>
              <a:rPr lang="en-US" b="0" i="0" dirty="0" err="1">
                <a:solidFill>
                  <a:srgbClr val="3A3A3A"/>
                </a:solidFill>
                <a:effectLst/>
                <a:latin typeface="Roboto" panose="02000000000000000000" pitchFamily="2" charset="0"/>
              </a:rPr>
              <a:t>CopyOnWriteArrayList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when working in multithreaded environments.</a:t>
            </a:r>
          </a:p>
          <a:p>
            <a:pPr algn="just">
              <a:lnSpc>
                <a:spcPts val="2100"/>
              </a:lnSpc>
              <a:spcBef>
                <a:spcPts val="750"/>
              </a:spcBef>
              <a:buNone/>
            </a:pPr>
            <a:r>
              <a:rPr lang="en-US" b="0" i="0" dirty="0">
                <a:solidFill>
                  <a:srgbClr val="3A3A3A"/>
                </a:solidFill>
                <a:effectLst/>
                <a:latin typeface="Roboto" panose="02000000000000000000" pitchFamily="2" charset="0"/>
              </a:rPr>
              <a:t>Collect and remove later:</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toRemove.add</a:t>
            </a:r>
            <a:r>
              <a:rPr lang="en-US" b="0" i="0" dirty="0">
                <a:solidFill>
                  <a:srgbClr val="212529"/>
                </a:solidFill>
                <a:effectLst/>
                <a:latin typeface="Courier New" panose="02070309020205020404" pitchFamily="49" charset="0"/>
              </a:rPr>
              <a:t>(s);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list.removeAll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570452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17753B-8521-C333-B53F-BE386B303279}"/>
              </a:ext>
            </a:extLst>
          </p:cNvPr>
          <p:cNvSpPr txBox="1"/>
          <p:nvPr/>
        </p:nvSpPr>
        <p:spPr>
          <a:xfrm>
            <a:off x="-2720" y="-390753"/>
            <a:ext cx="990872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65. What is the difference between Jakarta EE and legacy Java EE?\</a:t>
            </a:r>
          </a:p>
          <a:p>
            <a:pPr algn="just">
              <a:lnSpc>
                <a:spcPts val="2100"/>
              </a:lnSpc>
              <a:spcBef>
                <a:spcPts val="1650"/>
              </a:spcBef>
              <a:buNone/>
            </a:pPr>
            <a:r>
              <a:rPr lang="en-US" b="0" i="0" dirty="0">
                <a:solidFill>
                  <a:srgbClr val="3A3A3A"/>
                </a:solidFill>
                <a:effectLst/>
                <a:latin typeface="Roboto" panose="02000000000000000000" pitchFamily="2" charset="0"/>
              </a:rPr>
              <a:t>Jakarta EE is a new Java EE that is more current. Java EE was initially developed by Oracle, but Jakarta EE has been transferred to the Eclipse Foundation, which is more open, innovative at a faster pace, and is better suited to cloud-native architectures.</a:t>
            </a:r>
          </a:p>
          <a:p>
            <a:pPr algn="just">
              <a:lnSpc>
                <a:spcPts val="2100"/>
              </a:lnSpc>
              <a:spcBef>
                <a:spcPts val="7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6CAF7A62-9844-DDBC-E749-5B931E5A7DD7}"/>
              </a:ext>
            </a:extLst>
          </p:cNvPr>
          <p:cNvGraphicFramePr>
            <a:graphicFrameLocks noGrp="1"/>
          </p:cNvGraphicFramePr>
          <p:nvPr/>
        </p:nvGraphicFramePr>
        <p:xfrm>
          <a:off x="681038" y="2309654"/>
          <a:ext cx="8543925" cy="3383280"/>
        </p:xfrm>
        <a:graphic>
          <a:graphicData uri="http://schemas.openxmlformats.org/drawingml/2006/table">
            <a:tbl>
              <a:tblPr/>
              <a:tblGrid>
                <a:gridCol w="2847975">
                  <a:extLst>
                    <a:ext uri="{9D8B030D-6E8A-4147-A177-3AD203B41FA5}">
                      <a16:colId xmlns:a16="http://schemas.microsoft.com/office/drawing/2014/main" val="3331770609"/>
                    </a:ext>
                  </a:extLst>
                </a:gridCol>
                <a:gridCol w="2847975">
                  <a:extLst>
                    <a:ext uri="{9D8B030D-6E8A-4147-A177-3AD203B41FA5}">
                      <a16:colId xmlns:a16="http://schemas.microsoft.com/office/drawing/2014/main" val="172324067"/>
                    </a:ext>
                  </a:extLst>
                </a:gridCol>
                <a:gridCol w="2847975">
                  <a:extLst>
                    <a:ext uri="{9D8B030D-6E8A-4147-A177-3AD203B41FA5}">
                      <a16:colId xmlns:a16="http://schemas.microsoft.com/office/drawing/2014/main" val="95152398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Java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Jakarta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6452504"/>
                  </a:ext>
                </a:extLst>
              </a:tr>
              <a:tr h="0">
                <a:tc>
                  <a:txBody>
                    <a:bodyPr/>
                    <a:lstStyle/>
                    <a:p>
                      <a:pPr fontAlgn="t">
                        <a:buNone/>
                      </a:pPr>
                      <a:r>
                        <a:rPr lang="en-US">
                          <a:effectLst/>
                        </a:rPr>
                        <a:t>Governance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Oracle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Eclipse Foundation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14111238"/>
                  </a:ext>
                </a:extLst>
              </a:tr>
              <a:tr h="0">
                <a:tc>
                  <a:txBody>
                    <a:bodyPr/>
                    <a:lstStyle/>
                    <a:p>
                      <a:pPr fontAlgn="t">
                        <a:buNone/>
                      </a:pPr>
                      <a:r>
                        <a:rPr lang="en-US">
                          <a:effectLst/>
                        </a:rPr>
                        <a:t>Package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i-FI">
                          <a:effectLst/>
                        </a:rPr>
                        <a:t>jakarta.* (from Jakarta EE 9 onwards)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18524392"/>
                  </a:ext>
                </a:extLst>
              </a:tr>
              <a:tr h="0">
                <a:tc>
                  <a:txBody>
                    <a:bodyPr/>
                    <a:lstStyle/>
                    <a:p>
                      <a:pPr fontAlgn="t">
                        <a:buNone/>
                      </a:pPr>
                      <a:r>
                        <a:rPr lang="en-US">
                          <a:effectLst/>
                        </a:rPr>
                        <a:t>Community Involvement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Limited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Open, community-driven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6410087"/>
                  </a:ext>
                </a:extLst>
              </a:tr>
              <a:tr h="0">
                <a:tc>
                  <a:txBody>
                    <a:bodyPr/>
                    <a:lstStyle/>
                    <a:p>
                      <a:pPr fontAlgn="t">
                        <a:buNone/>
                      </a:pPr>
                      <a:r>
                        <a:rPr lang="en-US">
                          <a:effectLst/>
                        </a:rPr>
                        <a:t>Cloud &amp; Microservices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emphasis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Strong microservices and cloud focus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04511431"/>
                  </a:ext>
                </a:extLst>
              </a:tr>
              <a:tr h="0">
                <a:tc>
                  <a:txBody>
                    <a:bodyPr/>
                    <a:lstStyle/>
                    <a:p>
                      <a:pPr fontAlgn="t">
                        <a:buNone/>
                      </a:pPr>
                      <a:r>
                        <a:rPr lang="en-US">
                          <a:effectLst/>
                        </a:rPr>
                        <a:t>Innovation Pace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agile and modular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15570871"/>
                  </a:ext>
                </a:extLst>
              </a:tr>
              <a:tr h="0">
                <a:tc>
                  <a:txBody>
                    <a:bodyPr/>
                    <a:lstStyle/>
                    <a:p>
                      <a:pPr fontAlgn="t">
                        <a:buNone/>
                      </a:pPr>
                      <a:r>
                        <a:rPr lang="en-US">
                          <a:effectLst/>
                        </a:rPr>
                        <a:t>Compatibility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Stable, but less future-proof</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Backward-compatible and forward-looking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8746634"/>
                  </a:ext>
                </a:extLst>
              </a:tr>
            </a:tbl>
          </a:graphicData>
        </a:graphic>
      </p:graphicFrame>
    </p:spTree>
    <p:extLst>
      <p:ext uri="{BB962C8B-B14F-4D97-AF65-F5344CB8AC3E}">
        <p14:creationId xmlns:p14="http://schemas.microsoft.com/office/powerpoint/2010/main" val="108842440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AEDAF3-90F3-1252-BFF6-744D37FA67DA}"/>
              </a:ext>
            </a:extLst>
          </p:cNvPr>
          <p:cNvSpPr txBox="1"/>
          <p:nvPr/>
        </p:nvSpPr>
        <p:spPr>
          <a:xfrm>
            <a:off x="0" y="0"/>
            <a:ext cx="4955720" cy="64992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66. How do you create an immutable class in Java?</a:t>
            </a:r>
          </a:p>
          <a:p>
            <a:pPr algn="just">
              <a:lnSpc>
                <a:spcPts val="2100"/>
              </a:lnSpc>
              <a:spcBef>
                <a:spcPts val="1650"/>
              </a:spcBef>
              <a:buNone/>
            </a:pPr>
            <a:r>
              <a:rPr lang="en-US" b="0" i="0" dirty="0">
                <a:solidFill>
                  <a:srgbClr val="3A3A3A"/>
                </a:solidFill>
                <a:effectLst/>
                <a:latin typeface="Roboto" panose="02000000000000000000" pitchFamily="2" charset="0"/>
              </a:rPr>
              <a:t>An immutable class is that class whose state (values of fields) cannot be modified once an object is created. Java’s String class is a prime example of an immutable class.</a:t>
            </a:r>
          </a:p>
          <a:p>
            <a:pPr algn="l">
              <a:spcBef>
                <a:spcPts val="1650"/>
              </a:spcBef>
              <a:buNone/>
            </a:pPr>
            <a:r>
              <a:rPr lang="en-US" b="0" i="0" dirty="0">
                <a:solidFill>
                  <a:srgbClr val="3A3A3A"/>
                </a:solidFill>
                <a:effectLst/>
                <a:latin typeface="Roboto" panose="02000000000000000000" pitchFamily="2" charset="0"/>
              </a:rPr>
              <a:t>Steps to create an immutable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Declare the class as final so it can’t be subclassed.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All fields should become final and private.</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Don’t give them setters.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Initialize fields only in the constructor.</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mutable fields, create copies in the getter and the constructor.</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233CE69A-8F85-EF4C-D798-D1D58D1C27B7}"/>
              </a:ext>
            </a:extLst>
          </p:cNvPr>
          <p:cNvSpPr txBox="1"/>
          <p:nvPr/>
        </p:nvSpPr>
        <p:spPr>
          <a:xfrm>
            <a:off x="5086349" y="0"/>
            <a:ext cx="4980214" cy="2031325"/>
          </a:xfrm>
          <a:prstGeom prst="rect">
            <a:avLst/>
          </a:prstGeom>
          <a:noFill/>
        </p:spPr>
        <p:txBody>
          <a:bodyPr wrap="square">
            <a:spAutoFit/>
          </a:bodyPr>
          <a:lstStyle/>
          <a:p>
            <a:r>
              <a:rPr lang="en-US" dirty="0"/>
              <a:t>public final class Employee {    // Declaring fields as private and final to make them immutable    private final String name;    private final int id;    public Employee(String name, int id) {        this.name = name;        this.id = id;    }    public String </a:t>
            </a:r>
            <a:r>
              <a:rPr lang="en-US" dirty="0" err="1"/>
              <a:t>getName</a:t>
            </a:r>
            <a:r>
              <a:rPr lang="en-US" dirty="0"/>
              <a:t>() {        return name;    }    public int </a:t>
            </a:r>
            <a:r>
              <a:rPr lang="en-US" dirty="0" err="1"/>
              <a:t>getId</a:t>
            </a:r>
            <a:r>
              <a:rPr lang="en-US" dirty="0"/>
              <a:t>() {        return id;    }}</a:t>
            </a:r>
          </a:p>
        </p:txBody>
      </p:sp>
      <p:sp>
        <p:nvSpPr>
          <p:cNvPr id="7" name="TextBox 6">
            <a:extLst>
              <a:ext uri="{FF2B5EF4-FFF2-40B4-BE49-F238E27FC236}">
                <a16:creationId xmlns:a16="http://schemas.microsoft.com/office/drawing/2014/main" id="{67D83399-AD01-A805-B6FE-1D60068DEAA1}"/>
              </a:ext>
            </a:extLst>
          </p:cNvPr>
          <p:cNvSpPr txBox="1"/>
          <p:nvPr/>
        </p:nvSpPr>
        <p:spPr>
          <a:xfrm>
            <a:off x="5319032" y="2657092"/>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Immutable objects are naturally thread-safe and prevent unwanted side effects, making them ideal for concurrent programming.</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80CF3E-141C-63DD-22D3-30844F72836F}"/>
              </a:ext>
            </a:extLst>
          </p:cNvPr>
          <p:cNvSpPr txBox="1"/>
          <p:nvPr/>
        </p:nvSpPr>
        <p:spPr>
          <a:xfrm>
            <a:off x="0" y="147950"/>
            <a:ext cx="4955720"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a static nested class?</a:t>
            </a:r>
          </a:p>
          <a:p>
            <a:pPr algn="just">
              <a:lnSpc>
                <a:spcPts val="2100"/>
              </a:lnSpc>
              <a:spcBef>
                <a:spcPts val="1650"/>
              </a:spcBef>
              <a:buNone/>
            </a:pPr>
            <a:r>
              <a:rPr lang="en-US" b="0" i="0" dirty="0">
                <a:solidFill>
                  <a:srgbClr val="3A3A3A"/>
                </a:solidFill>
                <a:effectLst/>
                <a:latin typeface="Roboto" panose="02000000000000000000" pitchFamily="2" charset="0"/>
              </a:rPr>
              <a:t>The static nested class is a nested class that is declared with a static modifier inside another class. It does not have direct access to instance members of an outer class unlike non-static inner classes.</a:t>
            </a:r>
          </a:p>
          <a:p>
            <a:pPr algn="l">
              <a:spcBef>
                <a:spcPts val="1650"/>
              </a:spcBef>
              <a:buNone/>
            </a:pPr>
            <a:r>
              <a:rPr lang="en-US" b="0" i="0" dirty="0">
                <a:solidFill>
                  <a:srgbClr val="3A3A3A"/>
                </a:solidFill>
                <a:effectLst/>
                <a:latin typeface="Roboto" panose="02000000000000000000" pitchFamily="2" charset="0"/>
              </a:rPr>
              <a:t>Key Points: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acts like a top-level class but is scoped inside the outer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handy when grouping classes that are utilized solely by the containing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reference static members of its enclosing class.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6D0F1DD-5A75-0E6F-F1A2-90E217484543}"/>
              </a:ext>
            </a:extLst>
          </p:cNvPr>
          <p:cNvSpPr txBox="1"/>
          <p:nvPr/>
        </p:nvSpPr>
        <p:spPr>
          <a:xfrm>
            <a:off x="5167993" y="147950"/>
            <a:ext cx="4980214" cy="2862322"/>
          </a:xfrm>
          <a:prstGeom prst="rect">
            <a:avLst/>
          </a:prstGeom>
          <a:noFill/>
        </p:spPr>
        <p:txBody>
          <a:bodyPr wrap="square">
            <a:spAutoFit/>
          </a:bodyPr>
          <a:lstStyle/>
          <a:p>
            <a:r>
              <a:rPr lang="en-US" dirty="0"/>
              <a:t>public class Outer {</a:t>
            </a:r>
          </a:p>
          <a:p>
            <a:r>
              <a:rPr lang="en-US" dirty="0"/>
              <a:t>    static int </a:t>
            </a:r>
            <a:r>
              <a:rPr lang="en-US" dirty="0" err="1"/>
              <a:t>outerValue</a:t>
            </a:r>
            <a:r>
              <a:rPr lang="en-US" dirty="0"/>
              <a:t> = 10; // Static member</a:t>
            </a:r>
          </a:p>
          <a:p>
            <a:endParaRPr lang="en-US" dirty="0"/>
          </a:p>
          <a:p>
            <a:r>
              <a:rPr lang="en-US" dirty="0"/>
              <a:t>    static class </a:t>
            </a:r>
            <a:r>
              <a:rPr lang="en-US" dirty="0" err="1"/>
              <a:t>StaticNested</a:t>
            </a:r>
            <a:r>
              <a:rPr lang="en-US" dirty="0"/>
              <a:t> { // Static nested class</a:t>
            </a:r>
          </a:p>
          <a:p>
            <a:r>
              <a:rPr lang="en-US" dirty="0"/>
              <a:t>        void display() {</a:t>
            </a:r>
          </a:p>
          <a:p>
            <a:r>
              <a:rPr lang="en-US" dirty="0"/>
              <a:t>            </a:t>
            </a:r>
            <a:r>
              <a:rPr lang="en-US" dirty="0" err="1"/>
              <a:t>System.out.println</a:t>
            </a:r>
            <a:r>
              <a:rPr lang="en-US" dirty="0"/>
              <a:t>("Value: " + </a:t>
            </a:r>
            <a:r>
              <a:rPr lang="en-US" dirty="0" err="1"/>
              <a:t>outerValue</a:t>
            </a:r>
            <a:r>
              <a:rPr lang="en-US" dirty="0"/>
              <a:t>);</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4FB27CA2-5C7D-7785-F896-B05D93269800}"/>
              </a:ext>
            </a:extLst>
          </p:cNvPr>
          <p:cNvSpPr txBox="1"/>
          <p:nvPr/>
        </p:nvSpPr>
        <p:spPr>
          <a:xfrm>
            <a:off x="5167993" y="3625510"/>
            <a:ext cx="5094514" cy="153375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a:p>
            <a:pPr algn="l">
              <a:spcBef>
                <a:spcPts val="1125"/>
              </a:spcBef>
              <a:spcAft>
                <a:spcPts val="375"/>
              </a:spcAft>
              <a:buNone/>
            </a:pP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 obj = new </a:t>
            </a: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obj.display</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8625177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C0EF19-E7EB-6F02-F2EE-68ADB97FA682}"/>
              </a:ext>
            </a:extLst>
          </p:cNvPr>
          <p:cNvSpPr txBox="1"/>
          <p:nvPr/>
        </p:nvSpPr>
        <p:spPr>
          <a:xfrm>
            <a:off x="277586" y="0"/>
            <a:ext cx="9791700" cy="94538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How does the synchronized keyword work in methods?</a:t>
            </a:r>
          </a:p>
          <a:p>
            <a:pPr algn="just">
              <a:lnSpc>
                <a:spcPts val="2100"/>
              </a:lnSpc>
              <a:spcBef>
                <a:spcPts val="1650"/>
              </a:spcBef>
              <a:buNone/>
            </a:pPr>
            <a:r>
              <a:rPr lang="en-US" b="0" i="0" dirty="0">
                <a:solidFill>
                  <a:srgbClr val="3A3A3A"/>
                </a:solidFill>
                <a:effectLst/>
                <a:latin typeface="Roboto" panose="02000000000000000000" pitchFamily="2" charset="0"/>
              </a:rPr>
              <a:t>The synchronized keyword in Java is utilized to manage the multiple threads’ access to a method or section of code to provide mutual exclusion and visibility.</a:t>
            </a:r>
          </a:p>
          <a:p>
            <a:pPr algn="l">
              <a:spcBef>
                <a:spcPts val="1650"/>
              </a:spcBef>
              <a:buNone/>
            </a:pPr>
            <a:r>
              <a:rPr lang="en-US" b="0" i="0" dirty="0">
                <a:solidFill>
                  <a:srgbClr val="3A3A3A"/>
                </a:solidFill>
                <a:effectLst/>
                <a:latin typeface="Roboto" panose="02000000000000000000" pitchFamily="2" charset="0"/>
              </a:rPr>
              <a:t>Synchronized Instance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thread-safe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Acquires a lock on this current object.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most, a single thread can invoke any synchronized method on an object.</a:t>
            </a:r>
          </a:p>
          <a:p>
            <a:pPr algn="l">
              <a:spcBef>
                <a:spcPts val="1650"/>
              </a:spcBef>
              <a:buNone/>
            </a:pPr>
            <a:r>
              <a:rPr lang="en-US" b="0" i="0" dirty="0">
                <a:solidFill>
                  <a:srgbClr val="3A3A3A"/>
                </a:solidFill>
                <a:effectLst/>
                <a:latin typeface="Roboto" panose="02000000000000000000" pitchFamily="2" charset="0"/>
              </a:rPr>
              <a:t>Synchronized Static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static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Obtains a lock on the class object (</a:t>
            </a:r>
            <a:r>
              <a:rPr lang="en-US" b="0" i="0" dirty="0" err="1">
                <a:solidFill>
                  <a:srgbClr val="3A3A3A"/>
                </a:solidFill>
                <a:effectLst/>
                <a:latin typeface="Roboto" panose="02000000000000000000" pitchFamily="2" charset="0"/>
              </a:rPr>
              <a:t>ClassName.class</a:t>
            </a:r>
            <a:r>
              <a:rPr lang="en-US" b="0" i="0" dirty="0">
                <a:solidFill>
                  <a:srgbClr val="3A3A3A"/>
                </a:solidFill>
                <a:effectLst/>
                <a:latin typeface="Roboto" panose="02000000000000000000" pitchFamily="2" charset="0"/>
              </a:rPr>
              <a:t>) rather than on an instance.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race conditions.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 data consistency in concurrent situations.</a:t>
            </a:r>
          </a:p>
          <a:p>
            <a:pPr algn="l">
              <a:spcBef>
                <a:spcPts val="1650"/>
              </a:spcBef>
              <a:buNone/>
            </a:pPr>
            <a:r>
              <a:rPr lang="en-US" b="0" i="0" dirty="0">
                <a:solidFill>
                  <a:srgbClr val="3A3A3A"/>
                </a:solidFill>
                <a:effectLst/>
                <a:latin typeface="Roboto" panose="02000000000000000000" pitchFamily="2" charset="0"/>
              </a:rPr>
              <a:t>Limitation: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used incorrectly, it can lead to performance bottlenecks and deadlocks.</a:t>
            </a:r>
          </a:p>
        </p:txBody>
      </p:sp>
    </p:spTree>
    <p:extLst>
      <p:ext uri="{BB962C8B-B14F-4D97-AF65-F5344CB8AC3E}">
        <p14:creationId xmlns:p14="http://schemas.microsoft.com/office/powerpoint/2010/main" val="201991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37713-4BA5-D995-E81C-DD81D6E53DEA}"/>
              </a:ext>
            </a:extLst>
          </p:cNvPr>
          <p:cNvSpPr txBox="1"/>
          <p:nvPr/>
        </p:nvSpPr>
        <p:spPr>
          <a:xfrm>
            <a:off x="-216353" y="377070"/>
            <a:ext cx="4955720" cy="5352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is the @Override annotation, and why is it used?</a:t>
            </a:r>
          </a:p>
          <a:p>
            <a:pPr algn="just">
              <a:lnSpc>
                <a:spcPts val="2100"/>
              </a:lnSpc>
              <a:spcBef>
                <a:spcPts val="1650"/>
              </a:spcBef>
              <a:buNone/>
            </a:pPr>
            <a:r>
              <a:rPr lang="en-US" b="0" i="0" dirty="0">
                <a:solidFill>
                  <a:srgbClr val="3A3A3A"/>
                </a:solidFill>
                <a:effectLst/>
                <a:latin typeface="Roboto" panose="02000000000000000000" pitchFamily="2" charset="0"/>
              </a:rPr>
              <a:t>The @Override annotation signifies that a method is overriding a method in its superclass or implementing an interface method.</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Compile-time checking: The compiler will issue an error on encountering a method that does not properly override a method from its parent.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Makes it clear that the method is within the inheritance hierarchy.</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55254F3-37EC-E2EA-6D75-F42EA3F6C7B6}"/>
              </a:ext>
            </a:extLst>
          </p:cNvPr>
          <p:cNvSpPr txBox="1"/>
          <p:nvPr/>
        </p:nvSpPr>
        <p:spPr>
          <a:xfrm>
            <a:off x="4953000" y="-1499202"/>
            <a:ext cx="5094514" cy="5909310"/>
          </a:xfrm>
          <a:prstGeom prst="rect">
            <a:avLst/>
          </a:prstGeom>
          <a:noFill/>
        </p:spPr>
        <p:txBody>
          <a:bodyPr wrap="square">
            <a:spAutoFit/>
          </a:bodyPr>
          <a:lstStyle/>
          <a:p>
            <a:r>
              <a:rPr lang="en-US" dirty="0"/>
              <a:t>public class </a:t>
            </a:r>
            <a:r>
              <a:rPr lang="en-US" dirty="0" err="1"/>
              <a:t>OverrideExample</a:t>
            </a:r>
            <a:r>
              <a:rPr lang="en-US" dirty="0"/>
              <a:t> {</a:t>
            </a:r>
          </a:p>
          <a:p>
            <a:r>
              <a:rPr lang="en-US" dirty="0"/>
              <a:t>    public static void main(String[] </a:t>
            </a:r>
            <a:r>
              <a:rPr lang="en-US" dirty="0" err="1"/>
              <a:t>args</a:t>
            </a:r>
            <a:r>
              <a:rPr lang="en-US" dirty="0"/>
              <a:t>) {</a:t>
            </a:r>
          </a:p>
          <a:p>
            <a:r>
              <a:rPr lang="en-US" dirty="0"/>
              <a:t>        Animal a = new Animal();</a:t>
            </a:r>
          </a:p>
          <a:p>
            <a:r>
              <a:rPr lang="en-US" dirty="0"/>
              <a:t>        Dog d = new Dog();</a:t>
            </a:r>
          </a:p>
          <a:p>
            <a:r>
              <a:rPr lang="en-US" dirty="0"/>
              <a:t>        </a:t>
            </a:r>
            <a:r>
              <a:rPr lang="en-US" dirty="0" err="1"/>
              <a:t>a.speak</a:t>
            </a:r>
            <a:r>
              <a:rPr lang="en-US" dirty="0"/>
              <a:t>(); // Outputs: Generic sound</a:t>
            </a:r>
          </a:p>
          <a:p>
            <a:r>
              <a:rPr lang="en-US" dirty="0"/>
              <a:t>        </a:t>
            </a:r>
            <a:r>
              <a:rPr lang="en-US" dirty="0" err="1"/>
              <a:t>d.speak</a:t>
            </a:r>
            <a:r>
              <a:rPr lang="en-US" dirty="0"/>
              <a:t>(); // Outputs: Bark</a:t>
            </a:r>
          </a:p>
          <a:p>
            <a:r>
              <a:rPr lang="en-US" dirty="0"/>
              <a:t>    }</a:t>
            </a:r>
          </a:p>
          <a:p>
            <a:r>
              <a:rPr lang="en-US" dirty="0"/>
              <a:t>}</a:t>
            </a:r>
          </a:p>
          <a:p>
            <a:endParaRPr lang="en-US" dirty="0"/>
          </a:p>
          <a:p>
            <a:r>
              <a:rPr lang="en-US" dirty="0"/>
              <a:t>class Animal {</a:t>
            </a:r>
          </a:p>
          <a:p>
            <a:r>
              <a:rPr lang="en-US" dirty="0"/>
              <a:t>    void speak() {</a:t>
            </a:r>
          </a:p>
          <a:p>
            <a:r>
              <a:rPr lang="en-US" dirty="0"/>
              <a:t>        </a:t>
            </a:r>
            <a:r>
              <a:rPr lang="en-US" dirty="0" err="1"/>
              <a:t>System.out.println</a:t>
            </a:r>
            <a:r>
              <a:rPr lang="en-US" dirty="0"/>
              <a:t>("Generic sound");</a:t>
            </a:r>
          </a:p>
          <a:p>
            <a:r>
              <a:rPr lang="en-US" dirty="0"/>
              <a:t>    }</a:t>
            </a:r>
          </a:p>
          <a:p>
            <a:r>
              <a:rPr lang="en-US" dirty="0"/>
              <a:t>}</a:t>
            </a:r>
          </a:p>
          <a:p>
            <a:endParaRPr lang="en-US" dirty="0"/>
          </a:p>
          <a:p>
            <a:r>
              <a:rPr lang="en-US" dirty="0"/>
              <a:t>class Dog extends Animal {</a:t>
            </a:r>
          </a:p>
          <a:p>
            <a:r>
              <a:rPr lang="en-US" dirty="0"/>
              <a:t>    @Override</a:t>
            </a:r>
          </a:p>
          <a:p>
            <a:r>
              <a:rPr lang="en-US" dirty="0"/>
              <a:t>    void speak()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E3C5D8EE-58B4-B4AC-D977-82665386DEDF}"/>
              </a:ext>
            </a:extLst>
          </p:cNvPr>
          <p:cNvSpPr txBox="1"/>
          <p:nvPr/>
        </p:nvSpPr>
        <p:spPr>
          <a:xfrm>
            <a:off x="4739367" y="4685567"/>
            <a:ext cx="5159828" cy="179536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Without @Override, typos can silently result in unexpected behavior:</a:t>
            </a:r>
          </a:p>
          <a:p>
            <a:pPr algn="l">
              <a:spcBef>
                <a:spcPts val="1125"/>
              </a:spcBef>
              <a:spcAft>
                <a:spcPts val="375"/>
              </a:spcAft>
              <a:buNone/>
            </a:pPr>
            <a:r>
              <a:rPr lang="en-US" b="0" i="0" dirty="0">
                <a:solidFill>
                  <a:srgbClr val="212529"/>
                </a:solidFill>
                <a:effectLst/>
                <a:latin typeface="Courier New" panose="02070309020205020404" pitchFamily="49" charset="0"/>
              </a:rPr>
              <a:t>// Misspelled method name — no compile error without @Override</a:t>
            </a:r>
          </a:p>
          <a:p>
            <a:pPr algn="l">
              <a:spcBef>
                <a:spcPts val="1125"/>
              </a:spcBef>
              <a:spcAft>
                <a:spcPts val="375"/>
              </a:spcAft>
              <a:buNone/>
            </a:pPr>
            <a:r>
              <a:rPr lang="en-US" b="0" i="0" dirty="0">
                <a:solidFill>
                  <a:srgbClr val="212529"/>
                </a:solidFill>
                <a:effectLst/>
                <a:latin typeface="Courier New" panose="02070309020205020404" pitchFamily="49" charset="0"/>
              </a:rPr>
              <a:t>void </a:t>
            </a:r>
            <a:r>
              <a:rPr lang="en-US" b="0" i="0" dirty="0" err="1">
                <a:solidFill>
                  <a:srgbClr val="212529"/>
                </a:solidFill>
                <a:effectLst/>
                <a:latin typeface="Courier New" panose="02070309020205020404" pitchFamily="49" charset="0"/>
              </a:rPr>
              <a:t>speek</a:t>
            </a:r>
            <a:r>
              <a:rPr lang="en-US" b="0" i="0" dirty="0">
                <a:solidFill>
                  <a:srgbClr val="212529"/>
                </a:solidFill>
                <a:effectLst/>
                <a:latin typeface="Courier New" panose="02070309020205020404" pitchFamily="49" charset="0"/>
              </a:rPr>
              <a:t>() { ... }</a:t>
            </a:r>
          </a:p>
        </p:txBody>
      </p:sp>
    </p:spTree>
    <p:extLst>
      <p:ext uri="{BB962C8B-B14F-4D97-AF65-F5344CB8AC3E}">
        <p14:creationId xmlns:p14="http://schemas.microsoft.com/office/powerpoint/2010/main" val="16776248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876A1-71C6-F831-1E47-69A1AE7CEE7C}"/>
              </a:ext>
            </a:extLst>
          </p:cNvPr>
          <p:cNvSpPr txBox="1"/>
          <p:nvPr/>
        </p:nvSpPr>
        <p:spPr>
          <a:xfrm>
            <a:off x="0" y="0"/>
            <a:ext cx="9278711"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What is the difference between Stack and Heap Memory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differences between </a:t>
            </a:r>
            <a:r>
              <a:rPr lang="en-US" b="0" i="0" u="none" strike="noStrike" dirty="0">
                <a:solidFill>
                  <a:srgbClr val="0F5A9E"/>
                </a:solidFill>
                <a:effectLst/>
                <a:latin typeface="Roboto" panose="02000000000000000000" pitchFamily="2" charset="0"/>
                <a:hlinkClick r:id="rId2"/>
              </a:rPr>
              <a:t>Heap and Stack</a:t>
            </a:r>
            <a:r>
              <a:rPr lang="en-US" b="0" i="0" dirty="0">
                <a:solidFill>
                  <a:srgbClr val="3A3A3A"/>
                </a:solidFill>
                <a:effectLst/>
                <a:latin typeface="Roboto" panose="02000000000000000000" pitchFamily="2" charset="0"/>
              </a:rPr>
              <a:t> </a:t>
            </a:r>
            <a:r>
              <a:rPr lang="en-US" b="0" i="0" u="none" strike="noStrike" dirty="0">
                <a:solidFill>
                  <a:srgbClr val="0F5A9E"/>
                </a:solidFill>
                <a:effectLst/>
                <a:latin typeface="Roboto" panose="02000000000000000000" pitchFamily="2" charset="0"/>
                <a:hlinkClick r:id="rId2"/>
              </a:rPr>
              <a:t>memory</a:t>
            </a:r>
            <a:r>
              <a:rPr lang="en-US" b="0" i="0" dirty="0">
                <a:solidFill>
                  <a:srgbClr val="3A3A3A"/>
                </a:solidFill>
                <a:effectLst/>
                <a:latin typeface="Roboto" panose="02000000000000000000" pitchFamily="2" charset="0"/>
              </a:rPr>
              <a:t> in Java are:</a:t>
            </a:r>
          </a:p>
        </p:txBody>
      </p:sp>
      <p:graphicFrame>
        <p:nvGraphicFramePr>
          <p:cNvPr id="4" name="Table 3">
            <a:extLst>
              <a:ext uri="{FF2B5EF4-FFF2-40B4-BE49-F238E27FC236}">
                <a16:creationId xmlns:a16="http://schemas.microsoft.com/office/drawing/2014/main" id="{1BE10448-BCB8-A309-82CD-156F99CD9FD9}"/>
              </a:ext>
            </a:extLst>
          </p:cNvPr>
          <p:cNvGraphicFramePr>
            <a:graphicFrameLocks noGrp="1"/>
          </p:cNvGraphicFramePr>
          <p:nvPr/>
        </p:nvGraphicFramePr>
        <p:xfrm>
          <a:off x="966939" y="1803794"/>
          <a:ext cx="7972122" cy="4395000"/>
        </p:xfrm>
        <a:graphic>
          <a:graphicData uri="http://schemas.openxmlformats.org/drawingml/2006/table">
            <a:tbl>
              <a:tblPr/>
              <a:tblGrid>
                <a:gridCol w="3986061">
                  <a:extLst>
                    <a:ext uri="{9D8B030D-6E8A-4147-A177-3AD203B41FA5}">
                      <a16:colId xmlns:a16="http://schemas.microsoft.com/office/drawing/2014/main" val="212034967"/>
                    </a:ext>
                  </a:extLst>
                </a:gridCol>
                <a:gridCol w="3986061">
                  <a:extLst>
                    <a:ext uri="{9D8B030D-6E8A-4147-A177-3AD203B41FA5}">
                      <a16:colId xmlns:a16="http://schemas.microsoft.com/office/drawing/2014/main" val="3026779535"/>
                    </a:ext>
                  </a:extLst>
                </a:gridCol>
              </a:tblGrid>
              <a:tr h="341281">
                <a:tc>
                  <a:txBody>
                    <a:bodyPr/>
                    <a:lstStyle/>
                    <a:p>
                      <a:pPr algn="ctr" fontAlgn="t">
                        <a:buNone/>
                      </a:pPr>
                      <a:r>
                        <a:rPr lang="en-US" sz="1700" b="0">
                          <a:solidFill>
                            <a:srgbClr val="FFFFFF"/>
                          </a:solidFill>
                          <a:effectLst/>
                        </a:rPr>
                        <a:t>Stack Memory</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dirty="0">
                          <a:solidFill>
                            <a:srgbClr val="FFFFFF"/>
                          </a:solidFill>
                          <a:effectLst/>
                        </a:rPr>
                        <a:t>Heap Memory</a:t>
                      </a:r>
                      <a:endParaRPr lang="en-US" sz="1700" dirty="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2416361"/>
                  </a:ext>
                </a:extLst>
              </a:tr>
              <a:tr h="341281">
                <a:tc>
                  <a:txBody>
                    <a:bodyPr/>
                    <a:lstStyle/>
                    <a:p>
                      <a:pPr fontAlgn="t">
                        <a:buNone/>
                      </a:pPr>
                      <a:r>
                        <a:rPr lang="en-US" sz="1700">
                          <a:effectLst/>
                        </a:rPr>
                        <a:t>Smaller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Larger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06478175"/>
                  </a:ext>
                </a:extLst>
              </a:tr>
              <a:tr h="597242">
                <a:tc>
                  <a:txBody>
                    <a:bodyPr/>
                    <a:lstStyle/>
                    <a:p>
                      <a:pPr fontAlgn="t">
                        <a:buNone/>
                      </a:pPr>
                      <a:r>
                        <a:rPr lang="en-US" sz="1700">
                          <a:effectLst/>
                        </a:rPr>
                        <a:t>Exists until the end of the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Lives from the start till the end of application execution.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57590808"/>
                  </a:ext>
                </a:extLst>
              </a:tr>
              <a:tr h="597242">
                <a:tc>
                  <a:txBody>
                    <a:bodyPr/>
                    <a:lstStyle/>
                    <a:p>
                      <a:pPr fontAlgn="t">
                        <a:buNone/>
                      </a:pPr>
                      <a:r>
                        <a:rPr lang="en-US" sz="1700">
                          <a:effectLst/>
                        </a:rPr>
                        <a:t>Objects stored in Stack can’t be accessed by other </a:t>
                      </a:r>
                      <a:r>
                        <a:rPr lang="en-US" sz="1700" u="none" strike="noStrike">
                          <a:solidFill>
                            <a:srgbClr val="0F5A9E"/>
                          </a:solidFill>
                          <a:effectLst/>
                          <a:hlinkClick r:id="rId3"/>
                        </a:rPr>
                        <a:t>threads</a:t>
                      </a:r>
                      <a:r>
                        <a:rPr lang="en-US" sz="170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Globally accessible.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47020872"/>
                  </a:ext>
                </a:extLst>
              </a:tr>
              <a:tr h="341281">
                <a:tc>
                  <a:txBody>
                    <a:bodyPr/>
                    <a:lstStyle/>
                    <a:p>
                      <a:pPr fontAlgn="t">
                        <a:buNone/>
                      </a:pPr>
                      <a:r>
                        <a:rPr lang="en-US" sz="1700">
                          <a:effectLst/>
                        </a:rPr>
                        <a:t>Follows LIFO (Last In First Out) order.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Dynamic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99436399"/>
                  </a:ext>
                </a:extLst>
              </a:tr>
              <a:tr h="597242">
                <a:tc>
                  <a:txBody>
                    <a:bodyPr/>
                    <a:lstStyle/>
                    <a:p>
                      <a:pPr fontAlgn="t">
                        <a:buNone/>
                      </a:pPr>
                      <a:r>
                        <a:rPr lang="en-US" sz="1700">
                          <a:effectLst/>
                        </a:rPr>
                        <a:t>The variables in Stack memory are only visible to the owner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Heap memory is visible to all the threads.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26928415"/>
                  </a:ext>
                </a:extLst>
              </a:tr>
              <a:tr h="341281">
                <a:tc>
                  <a:txBody>
                    <a:bodyPr/>
                    <a:lstStyle/>
                    <a:p>
                      <a:pPr fontAlgn="t">
                        <a:buNone/>
                      </a:pPr>
                      <a:r>
                        <a:rPr lang="en-US" sz="1700">
                          <a:effectLst/>
                        </a:rPr>
                        <a:t>Continuous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Random order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19388045"/>
                  </a:ext>
                </a:extLst>
              </a:tr>
              <a:tr h="597242">
                <a:tc>
                  <a:txBody>
                    <a:bodyPr/>
                    <a:lstStyle/>
                    <a:p>
                      <a:pPr fontAlgn="t">
                        <a:buNone/>
                      </a:pPr>
                      <a:r>
                        <a:rPr lang="en-US" sz="1700">
                          <a:effectLst/>
                        </a:rPr>
                        <a:t>Less flexible, one cannot alter the allocation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Users can alter the allocated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277765"/>
                  </a:ext>
                </a:extLst>
              </a:tr>
              <a:tr h="597242">
                <a:tc>
                  <a:txBody>
                    <a:bodyPr/>
                    <a:lstStyle/>
                    <a:p>
                      <a:pPr fontAlgn="t">
                        <a:buNone/>
                      </a:pPr>
                      <a:r>
                        <a:rPr lang="en-US" sz="1700" dirty="0">
                          <a:effectLst/>
                        </a:rPr>
                        <a:t>Fast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Slow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30457790"/>
                  </a:ext>
                </a:extLst>
              </a:tr>
            </a:tbl>
          </a:graphicData>
        </a:graphic>
      </p:graphicFrame>
    </p:spTree>
    <p:extLst>
      <p:ext uri="{BB962C8B-B14F-4D97-AF65-F5344CB8AC3E}">
        <p14:creationId xmlns:p14="http://schemas.microsoft.com/office/powerpoint/2010/main" val="29966819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AAB60-407C-9C99-7200-797B39098D95}"/>
              </a:ext>
            </a:extLst>
          </p:cNvPr>
          <p:cNvSpPr txBox="1"/>
          <p:nvPr/>
        </p:nvSpPr>
        <p:spPr>
          <a:xfrm>
            <a:off x="0" y="0"/>
            <a:ext cx="9906000" cy="3670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is a Predicate in Java?</a:t>
            </a:r>
          </a:p>
          <a:p>
            <a:pPr algn="just">
              <a:lnSpc>
                <a:spcPts val="2100"/>
              </a:lnSpc>
              <a:spcBef>
                <a:spcPts val="1650"/>
              </a:spcBef>
              <a:buNone/>
            </a:pPr>
            <a:r>
              <a:rPr lang="en-US" b="0" i="0" dirty="0">
                <a:solidFill>
                  <a:srgbClr val="3A3A3A"/>
                </a:solidFill>
                <a:effectLst/>
                <a:latin typeface="Roboto" panose="02000000000000000000" pitchFamily="2" charset="0"/>
              </a:rPr>
              <a:t>Predicate is a functional interface added in Java as part of the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It is a representation of a one-argument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-valued function.</a:t>
            </a:r>
          </a:p>
          <a:p>
            <a:pPr algn="l">
              <a:spcBef>
                <a:spcPts val="1650"/>
              </a:spcBef>
              <a:buNone/>
            </a:pPr>
            <a:r>
              <a:rPr lang="en-US" b="0" i="0" dirty="0">
                <a:solidFill>
                  <a:srgbClr val="3A3A3A"/>
                </a:solidFill>
                <a:effectLst/>
                <a:latin typeface="Roboto" panose="02000000000000000000" pitchFamily="2" charset="0"/>
              </a:rPr>
              <a:t>Method Signature:</a:t>
            </a:r>
          </a:p>
          <a:p>
            <a:pPr algn="l">
              <a:spcBef>
                <a:spcPts val="1125"/>
              </a:spcBef>
              <a:spcAft>
                <a:spcPts val="375"/>
              </a:spcAft>
              <a:buNone/>
            </a:pPr>
            <a:r>
              <a:rPr lang="en-US" b="0" i="0" dirty="0">
                <a:solidFill>
                  <a:srgbClr val="212529"/>
                </a:solidFill>
                <a:effectLst/>
                <a:latin typeface="Courier New" panose="02070309020205020404" pitchFamily="49" charset="0"/>
              </a:rPr>
              <a:t>@FunctionalInterface</a:t>
            </a:r>
          </a:p>
          <a:p>
            <a:pPr algn="l">
              <a:spcBef>
                <a:spcPts val="1125"/>
              </a:spcBef>
              <a:spcAft>
                <a:spcPts val="375"/>
              </a:spcAft>
              <a:buNone/>
            </a:pPr>
            <a:r>
              <a:rPr lang="en-US" b="0" i="0" dirty="0">
                <a:solidFill>
                  <a:srgbClr val="212529"/>
                </a:solidFill>
                <a:effectLst/>
                <a:latin typeface="Courier New" panose="02070309020205020404" pitchFamily="49" charset="0"/>
              </a:rPr>
              <a:t>public interface Predicate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boolean</a:t>
            </a:r>
            <a:r>
              <a:rPr lang="en-US" b="0" i="0" dirty="0">
                <a:solidFill>
                  <a:srgbClr val="212529"/>
                </a:solidFill>
                <a:effectLst/>
                <a:latin typeface="Courier New" panose="02070309020205020404" pitchFamily="49" charset="0"/>
              </a:rPr>
              <a:t> test(T t);</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366266F8-DD8B-3B34-594D-335510460247}"/>
              </a:ext>
            </a:extLst>
          </p:cNvPr>
          <p:cNvSpPr txBox="1"/>
          <p:nvPr/>
        </p:nvSpPr>
        <p:spPr>
          <a:xfrm>
            <a:off x="54428" y="3702893"/>
            <a:ext cx="9710057" cy="514243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Usage:</a:t>
            </a:r>
          </a:p>
          <a:p>
            <a:pPr algn="l">
              <a:spcBef>
                <a:spcPts val="1125"/>
              </a:spcBef>
              <a:spcAft>
                <a:spcPts val="375"/>
              </a:spcAft>
              <a:buNone/>
            </a:pPr>
            <a:r>
              <a:rPr lang="en-US" b="0" i="0" dirty="0">
                <a:solidFill>
                  <a:srgbClr val="212529"/>
                </a:solidFill>
                <a:effectLst/>
                <a:latin typeface="Courier New" panose="02070309020205020404" pitchFamily="49" charset="0"/>
              </a:rPr>
              <a:t>Predicate </a:t>
            </a:r>
            <a:r>
              <a:rPr lang="en-US" b="0" i="0" dirty="0" err="1">
                <a:solidFill>
                  <a:srgbClr val="212529"/>
                </a:solidFill>
                <a:effectLst/>
                <a:latin typeface="Courier New" panose="02070309020205020404" pitchFamily="49" charset="0"/>
              </a:rPr>
              <a:t>startsWithA</a:t>
            </a:r>
            <a:r>
              <a:rPr lang="en-US" b="0" i="0" dirty="0">
                <a:solidFill>
                  <a:srgbClr val="212529"/>
                </a:solidFill>
                <a:effectLst/>
                <a:latin typeface="Courier New" panose="02070309020205020404" pitchFamily="49" charset="0"/>
              </a:rPr>
              <a:t> = str -&gt; </a:t>
            </a:r>
            <a:r>
              <a:rPr lang="en-US" b="0" i="0" dirty="0" err="1">
                <a:solidFill>
                  <a:srgbClr val="212529"/>
                </a:solidFill>
                <a:effectLst/>
                <a:latin typeface="Courier New" panose="02070309020205020404" pitchFamily="49" charset="0"/>
              </a:rPr>
              <a:t>str.startsWith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("Apple")); // true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("Banana")); // false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Applied with streams, filtering, and conditional logic.</a:t>
            </a:r>
          </a:p>
          <a:p>
            <a:pPr algn="just">
              <a:lnSpc>
                <a:spcPts val="2100"/>
              </a:lnSpc>
              <a:spcBef>
                <a:spcPts val="1650"/>
              </a:spcBef>
              <a:buNone/>
            </a:pPr>
            <a:r>
              <a:rPr lang="en-US" b="0" i="0" dirty="0">
                <a:solidFill>
                  <a:srgbClr val="3A3A3A"/>
                </a:solidFill>
                <a:effectLst/>
                <a:latin typeface="Roboto" panose="02000000000000000000" pitchFamily="2" charset="0"/>
              </a:rPr>
              <a:t>Example with streams:</a:t>
            </a:r>
          </a:p>
          <a:p>
            <a:pPr algn="l">
              <a:spcBef>
                <a:spcPts val="1125"/>
              </a:spcBef>
              <a:spcAft>
                <a:spcPts val="375"/>
              </a:spcAft>
              <a:buNone/>
            </a:pPr>
            <a:r>
              <a:rPr lang="en-US" b="0" i="0" dirty="0">
                <a:solidFill>
                  <a:srgbClr val="212529"/>
                </a:solidFill>
                <a:effectLst/>
                <a:latin typeface="Courier New" panose="02070309020205020404" pitchFamily="49" charset="0"/>
              </a:rPr>
              <a:t>List names = </a:t>
            </a:r>
            <a:r>
              <a:rPr lang="en-US" b="0" i="0" dirty="0" err="1">
                <a:solidFill>
                  <a:srgbClr val="212529"/>
                </a:solidFill>
                <a:effectLst/>
                <a:latin typeface="Courier New" panose="02070309020205020404" pitchFamily="49" charset="0"/>
              </a:rPr>
              <a:t>List.of</a:t>
            </a:r>
            <a:r>
              <a:rPr lang="en-US" b="0" i="0" dirty="0">
                <a:solidFill>
                  <a:srgbClr val="212529"/>
                </a:solidFill>
                <a:effectLst/>
                <a:latin typeface="Courier New" panose="02070309020205020404" pitchFamily="49" charset="0"/>
              </a:rPr>
              <a:t>("Alice", "Bob", "Ankit");</a:t>
            </a:r>
          </a:p>
          <a:p>
            <a:pPr algn="l">
              <a:spcBef>
                <a:spcPts val="1125"/>
              </a:spcBef>
              <a:spcAft>
                <a:spcPts val="375"/>
              </a:spcAft>
              <a:buNone/>
            </a:pPr>
            <a:r>
              <a:rPr lang="en-US" b="0" i="0" dirty="0" err="1">
                <a:solidFill>
                  <a:srgbClr val="212529"/>
                </a:solidFill>
                <a:effectLst/>
                <a:latin typeface="Courier New" panose="02070309020205020404" pitchFamily="49" charset="0"/>
              </a:rPr>
              <a:t>names.stream</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.filter(name -&gt; </a:t>
            </a:r>
            <a:r>
              <a:rPr lang="en-US" b="0" i="0" dirty="0" err="1">
                <a:solidFill>
                  <a:srgbClr val="212529"/>
                </a:solidFill>
                <a:effectLst/>
                <a:latin typeface="Courier New" panose="02070309020205020404" pitchFamily="49" charset="0"/>
              </a:rPr>
              <a:t>name.startsWith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System.out</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println</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906076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853568-CDB2-0319-D96E-4D3DF214D436}"/>
              </a:ext>
            </a:extLst>
          </p:cNvPr>
          <p:cNvSpPr txBox="1"/>
          <p:nvPr/>
        </p:nvSpPr>
        <p:spPr>
          <a:xfrm>
            <a:off x="174171" y="265313"/>
            <a:ext cx="9731829" cy="6327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How does HashSet internally store elements?</a:t>
            </a:r>
          </a:p>
          <a:p>
            <a:pPr algn="just">
              <a:lnSpc>
                <a:spcPts val="2100"/>
              </a:lnSpc>
              <a:spcBef>
                <a:spcPts val="1650"/>
              </a:spcBef>
              <a:buNone/>
            </a:pPr>
            <a:r>
              <a:rPr lang="en-US" b="0" i="0" dirty="0">
                <a:solidFill>
                  <a:srgbClr val="3A3A3A"/>
                </a:solidFill>
                <a:effectLst/>
                <a:latin typeface="Roboto" panose="02000000000000000000" pitchFamily="2" charset="0"/>
              </a:rPr>
              <a:t>Internally, HashSet uses a HashMap to store its elements. When an element is added to a HashSet, it is added as a key in the underlying HashMap with a constant dummy value (PRESENT) associated with it.</a:t>
            </a:r>
          </a:p>
          <a:p>
            <a:pPr algn="l">
              <a:spcBef>
                <a:spcPts val="1650"/>
              </a:spcBef>
              <a:buNone/>
            </a:pPr>
            <a:r>
              <a:rPr lang="en-US" b="0" i="0" dirty="0">
                <a:solidFill>
                  <a:srgbClr val="3A3A3A"/>
                </a:solidFill>
                <a:effectLst/>
                <a:latin typeface="Roboto" panose="02000000000000000000" pitchFamily="2" charset="0"/>
              </a:rPr>
              <a:t>Internal Representation:</a:t>
            </a:r>
          </a:p>
          <a:p>
            <a:pPr algn="l">
              <a:spcBef>
                <a:spcPts val="1125"/>
              </a:spcBef>
              <a:spcAft>
                <a:spcPts val="375"/>
              </a:spcAft>
              <a:buNone/>
            </a:pPr>
            <a:r>
              <a:rPr lang="en-US" b="0" i="0" dirty="0">
                <a:solidFill>
                  <a:srgbClr val="212529"/>
                </a:solidFill>
                <a:effectLst/>
                <a:latin typeface="Courier New" panose="02070309020205020404" pitchFamily="49" charset="0"/>
              </a:rPr>
              <a:t>private transient HashMap&lt;E, Object&gt; map;</a:t>
            </a:r>
          </a:p>
          <a:p>
            <a:pPr algn="l">
              <a:spcBef>
                <a:spcPts val="1125"/>
              </a:spcBef>
              <a:spcAft>
                <a:spcPts val="375"/>
              </a:spcAft>
              <a:buNone/>
            </a:pPr>
            <a:r>
              <a:rPr lang="en-US" b="0" i="0" dirty="0">
                <a:solidFill>
                  <a:srgbClr val="212529"/>
                </a:solidFill>
                <a:effectLst/>
                <a:latin typeface="Courier New" panose="02070309020205020404" pitchFamily="49" charset="0"/>
              </a:rPr>
              <a:t>private static final Object PRESENT = new Object();</a:t>
            </a:r>
          </a:p>
          <a:p>
            <a:pPr algn="l">
              <a:spcBef>
                <a:spcPts val="1650"/>
              </a:spcBef>
              <a:buNone/>
            </a:pPr>
            <a:r>
              <a:rPr lang="en-US" b="0" i="0" dirty="0">
                <a:solidFill>
                  <a:srgbClr val="3A3A3A"/>
                </a:solidFill>
                <a:effectLst/>
                <a:latin typeface="Roboto" panose="02000000000000000000" pitchFamily="2" charset="0"/>
              </a:rPr>
              <a:t>Working: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relies on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and equals() methods to provide uniqueness.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Even when two objects share identical hash codes but are not equal through equals(), both can still be cached.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HashSet set = new HashSet&lt;&gt;();</a:t>
            </a:r>
          </a:p>
          <a:p>
            <a:pPr algn="l">
              <a:spcBef>
                <a:spcPts val="1125"/>
              </a:spcBef>
              <a:spcAft>
                <a:spcPts val="375"/>
              </a:spcAft>
              <a:buNone/>
            </a:pPr>
            <a:r>
              <a:rPr lang="en-US" b="0" i="0" dirty="0" err="1">
                <a:solidFill>
                  <a:srgbClr val="212529"/>
                </a:solidFill>
                <a:effectLst/>
                <a:latin typeface="Courier New" panose="02070309020205020404" pitchFamily="49" charset="0"/>
              </a:rPr>
              <a:t>set.add</a:t>
            </a:r>
            <a:r>
              <a:rPr lang="en-US" b="0" i="0" dirty="0">
                <a:solidFill>
                  <a:srgbClr val="212529"/>
                </a:solidFill>
                <a:effectLst/>
                <a:latin typeface="Courier New" panose="02070309020205020404" pitchFamily="49" charset="0"/>
              </a:rPr>
              <a:t>("Java"); // Stored as </a:t>
            </a:r>
            <a:r>
              <a:rPr lang="en-US" b="0" i="0" dirty="0" err="1">
                <a:solidFill>
                  <a:srgbClr val="212529"/>
                </a:solidFill>
                <a:effectLst/>
                <a:latin typeface="Courier New" panose="02070309020205020404" pitchFamily="49" charset="0"/>
              </a:rPr>
              <a:t>map.put</a:t>
            </a:r>
            <a:r>
              <a:rPr lang="en-US" b="0" i="0" dirty="0">
                <a:solidFill>
                  <a:srgbClr val="212529"/>
                </a:solidFill>
                <a:effectLst/>
                <a:latin typeface="Courier New" panose="02070309020205020404" pitchFamily="49" charset="0"/>
              </a:rPr>
              <a:t>("Java", PRESENT)</a:t>
            </a:r>
          </a:p>
        </p:txBody>
      </p:sp>
    </p:spTree>
    <p:extLst>
      <p:ext uri="{BB962C8B-B14F-4D97-AF65-F5344CB8AC3E}">
        <p14:creationId xmlns:p14="http://schemas.microsoft.com/office/powerpoint/2010/main" val="402645298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82BCBC-1BD8-BBEA-8E44-EB5E556E3F87}"/>
              </a:ext>
            </a:extLst>
          </p:cNvPr>
          <p:cNvSpPr txBox="1"/>
          <p:nvPr/>
        </p:nvSpPr>
        <p:spPr>
          <a:xfrm>
            <a:off x="179614" y="330716"/>
            <a:ext cx="9421586" cy="53886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73. What is the diamond operator (&lt;&gt;) in generics?</a:t>
            </a:r>
          </a:p>
          <a:p>
            <a:pPr algn="just">
              <a:lnSpc>
                <a:spcPts val="2100"/>
              </a:lnSpc>
              <a:spcBef>
                <a:spcPts val="1650"/>
              </a:spcBef>
              <a:buNone/>
            </a:pPr>
            <a:r>
              <a:rPr lang="en-US" b="0" i="0" dirty="0">
                <a:solidFill>
                  <a:srgbClr val="3A3A3A"/>
                </a:solidFill>
                <a:effectLst/>
                <a:latin typeface="Roboto" panose="02000000000000000000" pitchFamily="2" charset="0"/>
              </a:rPr>
              <a:t>The diamond operator (&lt;&gt;), added in Java 7, has made instantiation of generic types easier by enabling the compiler to deduce the type arguments.</a:t>
            </a:r>
          </a:p>
          <a:p>
            <a:pPr algn="l">
              <a:spcBef>
                <a:spcPts val="1650"/>
              </a:spcBef>
              <a:buNone/>
            </a:pPr>
            <a:r>
              <a:rPr lang="en-US" b="0" i="0" dirty="0">
                <a:solidFill>
                  <a:srgbClr val="3A3A3A"/>
                </a:solidFill>
                <a:effectLst/>
                <a:latin typeface="Roboto" panose="02000000000000000000" pitchFamily="2" charset="0"/>
              </a:rPr>
              <a:t>Before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With Diamond Operator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Minimizes boilerplate.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duplicate declarations of types.</a:t>
            </a:r>
          </a:p>
        </p:txBody>
      </p:sp>
    </p:spTree>
    <p:extLst>
      <p:ext uri="{BB962C8B-B14F-4D97-AF65-F5344CB8AC3E}">
        <p14:creationId xmlns:p14="http://schemas.microsoft.com/office/powerpoint/2010/main" val="23174730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83C000-06D2-EFB7-F8B4-32D8CB1878B9}"/>
              </a:ext>
            </a:extLst>
          </p:cNvPr>
          <p:cNvSpPr txBox="1"/>
          <p:nvPr/>
        </p:nvSpPr>
        <p:spPr>
          <a:xfrm>
            <a:off x="0" y="0"/>
            <a:ext cx="9906000" cy="157479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74. How do you create a custom exception in Java?</a:t>
            </a:r>
          </a:p>
          <a:p>
            <a:pPr algn="just">
              <a:lnSpc>
                <a:spcPts val="2100"/>
              </a:lnSpc>
              <a:spcBef>
                <a:spcPts val="1650"/>
              </a:spcBef>
              <a:buNone/>
            </a:pPr>
            <a:r>
              <a:rPr lang="en-US" b="0" i="0" dirty="0">
                <a:solidFill>
                  <a:srgbClr val="3A3A3A"/>
                </a:solidFill>
                <a:effectLst/>
                <a:latin typeface="Roboto" panose="02000000000000000000" pitchFamily="2" charset="0"/>
              </a:rPr>
              <a:t>You can create a custom exception by subclassing the Exception or Runtime Exception class.</a:t>
            </a:r>
          </a:p>
          <a:p>
            <a:pPr algn="l">
              <a:spcBef>
                <a:spcPts val="1650"/>
              </a:spcBef>
              <a:buNone/>
            </a:pPr>
            <a:r>
              <a:rPr lang="en-US" b="0" i="0" dirty="0">
                <a:solidFill>
                  <a:srgbClr val="3A3A3A"/>
                </a:solidFill>
                <a:effectLst/>
                <a:latin typeface="Roboto" panose="02000000000000000000" pitchFamily="2" charset="0"/>
              </a:rPr>
              <a:t>Checked Exception:</a:t>
            </a:r>
          </a:p>
        </p:txBody>
      </p:sp>
      <p:sp>
        <p:nvSpPr>
          <p:cNvPr id="5" name="TextBox 4">
            <a:extLst>
              <a:ext uri="{FF2B5EF4-FFF2-40B4-BE49-F238E27FC236}">
                <a16:creationId xmlns:a16="http://schemas.microsoft.com/office/drawing/2014/main" id="{ABB2E76A-8D3D-4DF6-C53B-2A497E0B4722}"/>
              </a:ext>
            </a:extLst>
          </p:cNvPr>
          <p:cNvSpPr txBox="1"/>
          <p:nvPr/>
        </p:nvSpPr>
        <p:spPr>
          <a:xfrm>
            <a:off x="0" y="1574790"/>
            <a:ext cx="4980214" cy="1754326"/>
          </a:xfrm>
          <a:prstGeom prst="rect">
            <a:avLst/>
          </a:prstGeom>
          <a:noFill/>
        </p:spPr>
        <p:txBody>
          <a:bodyPr wrap="square">
            <a:spAutoFit/>
          </a:bodyPr>
          <a:lstStyle/>
          <a:p>
            <a:r>
              <a:rPr lang="en-US" dirty="0"/>
              <a:t>public class </a:t>
            </a:r>
            <a:r>
              <a:rPr lang="en-US" dirty="0" err="1"/>
              <a:t>MyCheckedException</a:t>
            </a:r>
            <a:r>
              <a:rPr lang="en-US" dirty="0"/>
              <a:t> extends Exception {</a:t>
            </a:r>
          </a:p>
          <a:p>
            <a:r>
              <a:rPr lang="en-US" dirty="0"/>
              <a:t>    public </a:t>
            </a:r>
            <a:r>
              <a:rPr lang="en-US" dirty="0" err="1"/>
              <a:t>MyCheckedException</a:t>
            </a:r>
            <a:r>
              <a:rPr lang="en-US" dirty="0"/>
              <a:t>(String message) {</a:t>
            </a:r>
          </a:p>
          <a:p>
            <a:r>
              <a:rPr lang="en-US" dirty="0"/>
              <a:t>        super(message);</a:t>
            </a:r>
          </a:p>
          <a:p>
            <a:r>
              <a:rPr lang="en-US" dirty="0"/>
              <a:t>    }</a:t>
            </a:r>
          </a:p>
          <a:p>
            <a:r>
              <a:rPr lang="en-US" dirty="0"/>
              <a:t>}</a:t>
            </a:r>
          </a:p>
        </p:txBody>
      </p:sp>
      <p:sp>
        <p:nvSpPr>
          <p:cNvPr id="7" name="TextBox 6">
            <a:extLst>
              <a:ext uri="{FF2B5EF4-FFF2-40B4-BE49-F238E27FC236}">
                <a16:creationId xmlns:a16="http://schemas.microsoft.com/office/drawing/2014/main" id="{A1252EA8-3E8C-CB8C-6A47-09708EC0C821}"/>
              </a:ext>
            </a:extLst>
          </p:cNvPr>
          <p:cNvSpPr txBox="1"/>
          <p:nvPr/>
        </p:nvSpPr>
        <p:spPr>
          <a:xfrm>
            <a:off x="0" y="3329116"/>
            <a:ext cx="4980214"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Unchecked Exception:</a:t>
            </a:r>
          </a:p>
        </p:txBody>
      </p:sp>
      <p:sp>
        <p:nvSpPr>
          <p:cNvPr id="9" name="TextBox 8">
            <a:extLst>
              <a:ext uri="{FF2B5EF4-FFF2-40B4-BE49-F238E27FC236}">
                <a16:creationId xmlns:a16="http://schemas.microsoft.com/office/drawing/2014/main" id="{D4F4EA7B-F957-D779-2E02-F719EFC16396}"/>
              </a:ext>
            </a:extLst>
          </p:cNvPr>
          <p:cNvSpPr txBox="1"/>
          <p:nvPr/>
        </p:nvSpPr>
        <p:spPr>
          <a:xfrm>
            <a:off x="-27214" y="3750101"/>
            <a:ext cx="4980214" cy="2031325"/>
          </a:xfrm>
          <a:prstGeom prst="rect">
            <a:avLst/>
          </a:prstGeom>
          <a:noFill/>
        </p:spPr>
        <p:txBody>
          <a:bodyPr wrap="square">
            <a:spAutoFit/>
          </a:bodyPr>
          <a:lstStyle/>
          <a:p>
            <a:r>
              <a:rPr lang="en-US" dirty="0"/>
              <a:t>public class </a:t>
            </a:r>
            <a:r>
              <a:rPr lang="en-US" dirty="0" err="1"/>
              <a:t>MyUncheckedException</a:t>
            </a:r>
            <a:r>
              <a:rPr lang="en-US" dirty="0"/>
              <a:t> extends </a:t>
            </a:r>
            <a:r>
              <a:rPr lang="en-US" dirty="0" err="1"/>
              <a:t>RuntimeException</a:t>
            </a:r>
            <a:r>
              <a:rPr lang="en-US" dirty="0"/>
              <a:t> {</a:t>
            </a:r>
          </a:p>
          <a:p>
            <a:r>
              <a:rPr lang="en-US" dirty="0"/>
              <a:t>    public </a:t>
            </a:r>
            <a:r>
              <a:rPr lang="en-US" dirty="0" err="1"/>
              <a:t>MyUncheckedException</a:t>
            </a:r>
            <a:r>
              <a:rPr lang="en-US" dirty="0"/>
              <a:t>(String message) {</a:t>
            </a:r>
          </a:p>
          <a:p>
            <a:r>
              <a:rPr lang="en-US" dirty="0"/>
              <a:t>        super(message);</a:t>
            </a:r>
          </a:p>
          <a:p>
            <a:r>
              <a:rPr lang="en-US" dirty="0"/>
              <a:t>    }</a:t>
            </a:r>
          </a:p>
          <a:p>
            <a:r>
              <a:rPr lang="en-US" dirty="0"/>
              <a:t>}</a:t>
            </a:r>
          </a:p>
        </p:txBody>
      </p:sp>
      <p:sp>
        <p:nvSpPr>
          <p:cNvPr id="11" name="TextBox 10">
            <a:extLst>
              <a:ext uri="{FF2B5EF4-FFF2-40B4-BE49-F238E27FC236}">
                <a16:creationId xmlns:a16="http://schemas.microsoft.com/office/drawing/2014/main" id="{24669F45-54B3-C431-755D-93A1B2D8E72A}"/>
              </a:ext>
            </a:extLst>
          </p:cNvPr>
          <p:cNvSpPr txBox="1"/>
          <p:nvPr/>
        </p:nvSpPr>
        <p:spPr>
          <a:xfrm>
            <a:off x="5241472" y="1390123"/>
            <a:ext cx="1959428"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p:txBody>
      </p:sp>
      <p:sp>
        <p:nvSpPr>
          <p:cNvPr id="13" name="TextBox 12">
            <a:extLst>
              <a:ext uri="{FF2B5EF4-FFF2-40B4-BE49-F238E27FC236}">
                <a16:creationId xmlns:a16="http://schemas.microsoft.com/office/drawing/2014/main" id="{29A2F9AD-B04A-5FD1-D7D4-84899F7A1181}"/>
              </a:ext>
            </a:extLst>
          </p:cNvPr>
          <p:cNvSpPr txBox="1"/>
          <p:nvPr/>
        </p:nvSpPr>
        <p:spPr>
          <a:xfrm>
            <a:off x="5094515" y="2595939"/>
            <a:ext cx="4996542" cy="2308324"/>
          </a:xfrm>
          <a:prstGeom prst="rect">
            <a:avLst/>
          </a:prstGeom>
          <a:noFill/>
        </p:spPr>
        <p:txBody>
          <a:bodyPr wrap="square">
            <a:spAutoFit/>
          </a:bodyPr>
          <a:lstStyle/>
          <a:p>
            <a:r>
              <a:rPr lang="en-US" dirty="0"/>
              <a:t>public void </a:t>
            </a:r>
            <a:r>
              <a:rPr lang="en-US" dirty="0" err="1"/>
              <a:t>validateAge</a:t>
            </a:r>
            <a:r>
              <a:rPr lang="en-US" dirty="0"/>
              <a:t>(int age) throws </a:t>
            </a:r>
            <a:r>
              <a:rPr lang="en-US" dirty="0" err="1"/>
              <a:t>MyCheckedException</a:t>
            </a:r>
            <a:r>
              <a:rPr lang="en-US" dirty="0"/>
              <a:t> {</a:t>
            </a:r>
          </a:p>
          <a:p>
            <a:r>
              <a:rPr lang="en-US" dirty="0"/>
              <a:t>    if (age &lt; 18) {</a:t>
            </a:r>
          </a:p>
          <a:p>
            <a:r>
              <a:rPr lang="en-US" dirty="0"/>
              <a:t>        throw new </a:t>
            </a:r>
            <a:r>
              <a:rPr lang="en-US" dirty="0" err="1"/>
              <a:t>MyCheckedException</a:t>
            </a:r>
            <a:r>
              <a:rPr lang="en-US" dirty="0"/>
              <a:t>("Age must be 18 or older.");</a:t>
            </a:r>
          </a:p>
          <a:p>
            <a:r>
              <a:rPr lang="en-US" dirty="0"/>
              <a:t>    }</a:t>
            </a:r>
          </a:p>
          <a:p>
            <a:r>
              <a:rPr lang="en-US" dirty="0"/>
              <a:t>}</a:t>
            </a:r>
          </a:p>
          <a:p>
            <a:endParaRPr lang="en-US" dirty="0"/>
          </a:p>
        </p:txBody>
      </p:sp>
      <p:sp>
        <p:nvSpPr>
          <p:cNvPr id="15" name="TextBox 14">
            <a:extLst>
              <a:ext uri="{FF2B5EF4-FFF2-40B4-BE49-F238E27FC236}">
                <a16:creationId xmlns:a16="http://schemas.microsoft.com/office/drawing/2014/main" id="{31572903-C233-28BB-C43B-EB5AEB74352F}"/>
              </a:ext>
            </a:extLst>
          </p:cNvPr>
          <p:cNvSpPr txBox="1"/>
          <p:nvPr/>
        </p:nvSpPr>
        <p:spPr>
          <a:xfrm>
            <a:off x="5004707" y="4991109"/>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Custom exceptions assist in offering descriptive context to error handling, particularly for domain-specific projects.</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26A4C7-B83E-D140-45E7-3AD9C02D2900}"/>
              </a:ext>
            </a:extLst>
          </p:cNvPr>
          <p:cNvSpPr txBox="1"/>
          <p:nvPr/>
        </p:nvSpPr>
        <p:spPr>
          <a:xfrm>
            <a:off x="136479" y="39176"/>
            <a:ext cx="4558352" cy="705577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75. How does structured concurrency simplify error handling?</a:t>
            </a:r>
          </a:p>
          <a:p>
            <a:pPr algn="just">
              <a:lnSpc>
                <a:spcPts val="2100"/>
              </a:lnSpc>
              <a:spcBef>
                <a:spcPts val="1650"/>
              </a:spcBef>
              <a:buNone/>
            </a:pPr>
            <a:r>
              <a:rPr lang="en-US" b="0" i="0" dirty="0">
                <a:solidFill>
                  <a:srgbClr val="3A3A3A"/>
                </a:solidFill>
                <a:effectLst/>
                <a:latin typeface="Roboto" panose="02000000000000000000" pitchFamily="2" charset="0"/>
              </a:rPr>
              <a:t>Structured concurrency is a structured approach that enables threads and tasks to be managed efficiently by specifying the manner in which they are started, supervised, and finished within a clearly defined scope. This model makes it easy to deal with errors and manage tasks in concurrent programs.</a:t>
            </a:r>
          </a:p>
          <a:p>
            <a:pPr algn="just">
              <a:lnSpc>
                <a:spcPts val="2100"/>
              </a:lnSpc>
              <a:spcBef>
                <a:spcPts val="750"/>
              </a:spcBef>
              <a:buNone/>
            </a:pPr>
            <a:r>
              <a:rPr lang="en-US" b="0" i="0" dirty="0">
                <a:solidFill>
                  <a:srgbClr val="3A3A3A"/>
                </a:solidFill>
                <a:effectLst/>
                <a:latin typeface="Roboto" panose="02000000000000000000" pitchFamily="2" charset="0"/>
              </a:rPr>
              <a:t>In what way it makes error handling easy: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case one task goes wrong, the system will be able to cancel all other tasks which are running at the same time without the user being involved.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exceptions might be handled at a central point by the parent task or scope.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not going to allow thread leaks and tasks without owners to exist.</a:t>
            </a:r>
          </a:p>
          <a:p>
            <a:pPr algn="just">
              <a:lnSpc>
                <a:spcPts val="2100"/>
              </a:lnSpc>
              <a:spcBef>
                <a:spcPts val="1650"/>
              </a:spcBef>
              <a:buNone/>
            </a:pPr>
            <a:r>
              <a:rPr lang="en-US" b="0" i="0" dirty="0">
                <a:solidFill>
                  <a:srgbClr val="3A3A3A"/>
                </a:solidFill>
                <a:effectLst/>
                <a:latin typeface="Roboto" panose="02000000000000000000" pitchFamily="2" charset="0"/>
              </a:rPr>
              <a:t>Example using </a:t>
            </a:r>
            <a:r>
              <a:rPr lang="en-US" b="0" i="0" dirty="0" err="1">
                <a:solidFill>
                  <a:srgbClr val="3A3A3A"/>
                </a:solidFill>
                <a:effectLst/>
                <a:latin typeface="Roboto" panose="02000000000000000000" pitchFamily="2" charset="0"/>
              </a:rPr>
              <a:t>StructuredTaskScope</a:t>
            </a:r>
            <a:r>
              <a:rPr lang="en-US" b="0" i="0" dirty="0">
                <a:solidFill>
                  <a:srgbClr val="3A3A3A"/>
                </a:solidFill>
                <a:effectLst/>
                <a:latin typeface="Roboto" panose="02000000000000000000" pitchFamily="2" charset="0"/>
              </a:rPr>
              <a:t> (Java 21+):</a:t>
            </a:r>
          </a:p>
        </p:txBody>
      </p:sp>
      <p:sp>
        <p:nvSpPr>
          <p:cNvPr id="5" name="TextBox 4">
            <a:extLst>
              <a:ext uri="{FF2B5EF4-FFF2-40B4-BE49-F238E27FC236}">
                <a16:creationId xmlns:a16="http://schemas.microsoft.com/office/drawing/2014/main" id="{65210A3A-AE59-EE70-6E10-41D0DDE50F9B}"/>
              </a:ext>
            </a:extLst>
          </p:cNvPr>
          <p:cNvSpPr txBox="1"/>
          <p:nvPr/>
        </p:nvSpPr>
        <p:spPr>
          <a:xfrm>
            <a:off x="4558353" y="-1165787"/>
            <a:ext cx="4954136" cy="9510296"/>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StructuredConcurrencyDemo</a:t>
            </a:r>
            <a:r>
              <a:rPr lang="en-US" dirty="0"/>
              <a:t> {</a:t>
            </a:r>
          </a:p>
          <a:p>
            <a:r>
              <a:rPr lang="en-US" dirty="0"/>
              <a:t>    public static void main(String[] </a:t>
            </a:r>
            <a:r>
              <a:rPr lang="en-US" dirty="0" err="1"/>
              <a:t>args</a:t>
            </a:r>
            <a:r>
              <a:rPr lang="en-US" dirty="0"/>
              <a:t>) throws Exception {</a:t>
            </a:r>
          </a:p>
          <a:p>
            <a:r>
              <a:rPr lang="en-US" dirty="0"/>
              <a:t>        try (var scope = new </a:t>
            </a:r>
            <a:r>
              <a:rPr lang="en-US" dirty="0" err="1"/>
              <a:t>StructuredTaskScope.ShutdownOnFailure</a:t>
            </a:r>
            <a:r>
              <a:rPr lang="en-US" dirty="0"/>
              <a:t>()) {</a:t>
            </a:r>
          </a:p>
          <a:p>
            <a:r>
              <a:rPr lang="en-US" dirty="0"/>
              <a:t>            Future user = </a:t>
            </a:r>
            <a:r>
              <a:rPr lang="en-US" dirty="0" err="1"/>
              <a:t>scope.fork</a:t>
            </a:r>
            <a:r>
              <a:rPr lang="en-US" dirty="0"/>
              <a:t>(() -&gt; </a:t>
            </a:r>
            <a:r>
              <a:rPr lang="en-US" dirty="0" err="1"/>
              <a:t>fetchUser</a:t>
            </a:r>
            <a:r>
              <a:rPr lang="en-US" dirty="0"/>
              <a:t>());</a:t>
            </a:r>
          </a:p>
          <a:p>
            <a:r>
              <a:rPr lang="en-US" dirty="0"/>
              <a:t>            Future order = </a:t>
            </a:r>
            <a:r>
              <a:rPr lang="en-US" dirty="0" err="1"/>
              <a:t>scope.fork</a:t>
            </a:r>
            <a:r>
              <a:rPr lang="en-US" dirty="0"/>
              <a:t>(() -&gt; </a:t>
            </a:r>
            <a:r>
              <a:rPr lang="en-US" dirty="0" err="1"/>
              <a:t>fetchOrder</a:t>
            </a:r>
            <a:r>
              <a:rPr lang="en-US" dirty="0"/>
              <a:t>());</a:t>
            </a:r>
          </a:p>
          <a:p>
            <a:endParaRPr lang="en-US" dirty="0"/>
          </a:p>
          <a:p>
            <a:r>
              <a:rPr lang="en-US" dirty="0"/>
              <a:t>            </a:t>
            </a:r>
            <a:r>
              <a:rPr lang="en-US" dirty="0" err="1"/>
              <a:t>scope.join</a:t>
            </a:r>
            <a:r>
              <a:rPr lang="en-US" dirty="0"/>
              <a:t>(); // Wait for all tasks</a:t>
            </a:r>
          </a:p>
          <a:p>
            <a:r>
              <a:rPr lang="en-US" dirty="0"/>
              <a:t>            </a:t>
            </a:r>
            <a:r>
              <a:rPr lang="en-US" dirty="0" err="1"/>
              <a:t>scope.throwIfFailed</a:t>
            </a:r>
            <a:r>
              <a:rPr lang="en-US" dirty="0"/>
              <a:t>(); // Propagate error, if any</a:t>
            </a:r>
          </a:p>
          <a:p>
            <a:endParaRPr lang="en-US" dirty="0"/>
          </a:p>
          <a:p>
            <a:r>
              <a:rPr lang="en-US" dirty="0"/>
              <a:t>            </a:t>
            </a:r>
            <a:r>
              <a:rPr lang="en-US" dirty="0" err="1"/>
              <a:t>System.out.println</a:t>
            </a:r>
            <a:r>
              <a:rPr lang="en-US" dirty="0"/>
              <a:t>("User: " + </a:t>
            </a:r>
            <a:r>
              <a:rPr lang="en-US" dirty="0" err="1"/>
              <a:t>user.resultNow</a:t>
            </a:r>
            <a:r>
              <a:rPr lang="en-US" dirty="0"/>
              <a:t>());</a:t>
            </a:r>
          </a:p>
          <a:p>
            <a:r>
              <a:rPr lang="en-US" dirty="0"/>
              <a:t>            </a:t>
            </a:r>
            <a:r>
              <a:rPr lang="en-US" dirty="0" err="1"/>
              <a:t>System.out.println</a:t>
            </a:r>
            <a:r>
              <a:rPr lang="en-US" dirty="0"/>
              <a:t>("Order: " + </a:t>
            </a:r>
            <a:r>
              <a:rPr lang="en-US" dirty="0" err="1"/>
              <a:t>order.resultNow</a:t>
            </a:r>
            <a:r>
              <a:rPr lang="en-US" dirty="0"/>
              <a:t>());</a:t>
            </a:r>
          </a:p>
          <a:p>
            <a:r>
              <a:rPr lang="en-US" dirty="0"/>
              <a:t>        }</a:t>
            </a:r>
          </a:p>
          <a:p>
            <a:r>
              <a:rPr lang="en-US" dirty="0"/>
              <a:t>    }</a:t>
            </a:r>
          </a:p>
          <a:p>
            <a:endParaRPr lang="en-US" dirty="0"/>
          </a:p>
          <a:p>
            <a:r>
              <a:rPr lang="en-US" dirty="0"/>
              <a:t>    static String </a:t>
            </a:r>
            <a:r>
              <a:rPr lang="en-US" dirty="0" err="1"/>
              <a:t>fetchUser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"John";</a:t>
            </a:r>
          </a:p>
          <a:p>
            <a:r>
              <a:rPr lang="en-US" dirty="0"/>
              <a:t>    }</a:t>
            </a:r>
          </a:p>
          <a:p>
            <a:endParaRPr lang="en-US" dirty="0"/>
          </a:p>
          <a:p>
            <a:r>
              <a:rPr lang="en-US" dirty="0"/>
              <a:t>    static String </a:t>
            </a:r>
            <a:r>
              <a:rPr lang="en-US" dirty="0" err="1"/>
              <a:t>fetchOrder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"Order#1234";</a:t>
            </a:r>
          </a:p>
          <a:p>
            <a:r>
              <a:rPr lang="en-US" dirty="0"/>
              <a:t>    }</a:t>
            </a:r>
          </a:p>
          <a:p>
            <a:r>
              <a:rPr lang="en-US" dirty="0"/>
              <a:t>}</a:t>
            </a:r>
          </a:p>
        </p:txBody>
      </p:sp>
      <p:sp>
        <p:nvSpPr>
          <p:cNvPr id="7" name="TextBox 6">
            <a:extLst>
              <a:ext uri="{FF2B5EF4-FFF2-40B4-BE49-F238E27FC236}">
                <a16:creationId xmlns:a16="http://schemas.microsoft.com/office/drawing/2014/main" id="{D6F2C7F8-AF8D-EBA7-D0F5-EF12C062DF4E}"/>
              </a:ext>
            </a:extLst>
          </p:cNvPr>
          <p:cNvSpPr txBox="1"/>
          <p:nvPr/>
        </p:nvSpPr>
        <p:spPr>
          <a:xfrm>
            <a:off x="7410734" y="5272417"/>
            <a:ext cx="295473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This requires Java 21+ with –enable-preview for Structured Concurrency.</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EF824-3FA5-0E7B-933C-613B708EFB45}"/>
              </a:ext>
            </a:extLst>
          </p:cNvPr>
          <p:cNvSpPr txBox="1"/>
          <p:nvPr/>
        </p:nvSpPr>
        <p:spPr>
          <a:xfrm>
            <a:off x="177421" y="-557141"/>
            <a:ext cx="9621672" cy="63555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76. What is a </a:t>
            </a:r>
            <a:r>
              <a:rPr lang="en-US" b="0" i="0" dirty="0" err="1">
                <a:solidFill>
                  <a:srgbClr val="272C37"/>
                </a:solidFill>
                <a:effectLst/>
                <a:latin typeface="Roboto" panose="02000000000000000000" pitchFamily="2" charset="0"/>
              </a:rPr>
              <a:t>NullPointerException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(NPE) is a run-time exception thrown when the program attempts to: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Accessing a field or method on a null reference.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NULL where an object is expected.</a:t>
            </a:r>
          </a:p>
          <a:p>
            <a:pPr algn="l">
              <a:spcBef>
                <a:spcPts val="1650"/>
              </a:spcBef>
              <a:buNone/>
            </a:pPr>
            <a:r>
              <a:rPr lang="en-US" b="0" i="0" dirty="0">
                <a:solidFill>
                  <a:srgbClr val="3A3A3A"/>
                </a:solidFill>
                <a:effectLst/>
                <a:latin typeface="Roboto" panose="02000000000000000000" pitchFamily="2" charset="0"/>
              </a:rPr>
              <a:t>Common Scenarios:</a:t>
            </a:r>
          </a:p>
          <a:p>
            <a:pPr algn="l">
              <a:spcBef>
                <a:spcPts val="1125"/>
              </a:spcBef>
              <a:spcAft>
                <a:spcPts val="375"/>
              </a:spcAft>
              <a:buNone/>
            </a:pPr>
            <a:r>
              <a:rPr lang="en-US" b="0" i="0" dirty="0">
                <a:solidFill>
                  <a:srgbClr val="212529"/>
                </a:solidFill>
                <a:effectLst/>
                <a:latin typeface="Courier New" panose="02070309020205020404" pitchFamily="49" charset="0"/>
              </a:rPr>
              <a:t>String name = null;</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name.length</a:t>
            </a:r>
            <a:r>
              <a:rPr lang="en-US" b="0" i="0" dirty="0">
                <a:solidFill>
                  <a:srgbClr val="212529"/>
                </a:solidFill>
                <a:effectLst/>
                <a:latin typeface="Courier New" panose="02070309020205020404" pitchFamily="49" charset="0"/>
              </a:rPr>
              <a:t>()); // Throws </a:t>
            </a:r>
            <a:r>
              <a:rPr lang="en-US" b="0" i="0" dirty="0" err="1">
                <a:solidFill>
                  <a:srgbClr val="212529"/>
                </a:solidFill>
                <a:effectLst/>
                <a:latin typeface="Courier New" panose="02070309020205020404" pitchFamily="49" charset="0"/>
              </a:rPr>
              <a:t>NullPointerException</a:t>
            </a:r>
            <a:endParaRPr lang="en-US" b="0" i="0" dirty="0">
              <a:solidFill>
                <a:srgbClr val="212529"/>
              </a:solidFill>
              <a:effectLst/>
              <a:latin typeface="Courier New" panose="02070309020205020404" pitchFamily="49" charset="0"/>
            </a:endParaRPr>
          </a:p>
          <a:p>
            <a:pPr algn="l">
              <a:spcBef>
                <a:spcPts val="1650"/>
              </a:spcBef>
              <a:buNone/>
            </a:pPr>
            <a:r>
              <a:rPr lang="en-US" b="0" i="0" dirty="0">
                <a:solidFill>
                  <a:srgbClr val="3A3A3A"/>
                </a:solidFill>
                <a:effectLst/>
                <a:latin typeface="Roboto" panose="02000000000000000000" pitchFamily="2" charset="0"/>
              </a:rPr>
              <a:t>How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Always check for null when invoking methods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for safe-null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Declare variables correctly</a:t>
            </a:r>
          </a:p>
          <a:p>
            <a:pPr algn="just">
              <a:lnSpc>
                <a:spcPts val="2100"/>
              </a:lnSpc>
              <a:spcBef>
                <a:spcPts val="1650"/>
              </a:spcBef>
              <a:buNone/>
            </a:pPr>
            <a:r>
              <a:rPr lang="en-US" b="0" i="0" dirty="0">
                <a:solidFill>
                  <a:srgbClr val="3A3A3A"/>
                </a:solidFill>
                <a:effectLst/>
                <a:latin typeface="Roboto" panose="02000000000000000000" pitchFamily="2" charset="0"/>
              </a:rPr>
              <a:t>NPEs are among Java’s most frequent bugs. Defensive programming and features such as Optional can lower such occurrences significantly.</a:t>
            </a:r>
          </a:p>
        </p:txBody>
      </p:sp>
    </p:spTree>
    <p:extLst>
      <p:ext uri="{BB962C8B-B14F-4D97-AF65-F5344CB8AC3E}">
        <p14:creationId xmlns:p14="http://schemas.microsoft.com/office/powerpoint/2010/main" val="408203408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C1696-E504-07C2-F5F5-7A92D102F7FD}"/>
              </a:ext>
            </a:extLst>
          </p:cNvPr>
          <p:cNvSpPr txBox="1"/>
          <p:nvPr/>
        </p:nvSpPr>
        <p:spPr>
          <a:xfrm>
            <a:off x="-1" y="0"/>
            <a:ext cx="979909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77. Explain the difference between </a:t>
            </a:r>
            <a:r>
              <a:rPr lang="en-US" b="0" i="0" dirty="0" err="1">
                <a:solidFill>
                  <a:srgbClr val="272C37"/>
                </a:solidFill>
                <a:effectLst/>
                <a:latin typeface="Roboto" panose="02000000000000000000" pitchFamily="2" charset="0"/>
              </a:rPr>
              <a:t>FileInputStream</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FileReader</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FileInputStream</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FileReader</a:t>
            </a:r>
            <a:r>
              <a:rPr lang="en-US" b="0" i="0" dirty="0">
                <a:solidFill>
                  <a:srgbClr val="3A3A3A"/>
                </a:solidFill>
                <a:effectLst/>
                <a:latin typeface="Roboto" panose="02000000000000000000" pitchFamily="2" charset="0"/>
              </a:rPr>
              <a:t> are both utilized for reading data from a file, but they differ in type of data they handle:</a:t>
            </a:r>
          </a:p>
        </p:txBody>
      </p:sp>
      <p:graphicFrame>
        <p:nvGraphicFramePr>
          <p:cNvPr id="4" name="Table 3">
            <a:extLst>
              <a:ext uri="{FF2B5EF4-FFF2-40B4-BE49-F238E27FC236}">
                <a16:creationId xmlns:a16="http://schemas.microsoft.com/office/drawing/2014/main" id="{590FC284-8943-54A3-5382-442DB33472F4}"/>
              </a:ext>
            </a:extLst>
          </p:cNvPr>
          <p:cNvGraphicFramePr>
            <a:graphicFrameLocks noGrp="1"/>
          </p:cNvGraphicFramePr>
          <p:nvPr>
            <p:extLst>
              <p:ext uri="{D42A27DB-BD31-4B8C-83A1-F6EECF244321}">
                <p14:modId xmlns:p14="http://schemas.microsoft.com/office/powerpoint/2010/main" val="2917634669"/>
              </p:ext>
            </p:extLst>
          </p:nvPr>
        </p:nvGraphicFramePr>
        <p:xfrm>
          <a:off x="627582" y="1556980"/>
          <a:ext cx="8543925" cy="2377440"/>
        </p:xfrm>
        <a:graphic>
          <a:graphicData uri="http://schemas.openxmlformats.org/drawingml/2006/table">
            <a:tbl>
              <a:tblPr/>
              <a:tblGrid>
                <a:gridCol w="2847975">
                  <a:extLst>
                    <a:ext uri="{9D8B030D-6E8A-4147-A177-3AD203B41FA5}">
                      <a16:colId xmlns:a16="http://schemas.microsoft.com/office/drawing/2014/main" val="1408282372"/>
                    </a:ext>
                  </a:extLst>
                </a:gridCol>
                <a:gridCol w="2847975">
                  <a:extLst>
                    <a:ext uri="{9D8B030D-6E8A-4147-A177-3AD203B41FA5}">
                      <a16:colId xmlns:a16="http://schemas.microsoft.com/office/drawing/2014/main" val="2201265683"/>
                    </a:ext>
                  </a:extLst>
                </a:gridCol>
                <a:gridCol w="2847975">
                  <a:extLst>
                    <a:ext uri="{9D8B030D-6E8A-4147-A177-3AD203B41FA5}">
                      <a16:colId xmlns:a16="http://schemas.microsoft.com/office/drawing/2014/main" val="12098775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FileInputStream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FileReader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83852317"/>
                  </a:ext>
                </a:extLst>
              </a:tr>
              <a:tr h="0">
                <a:tc>
                  <a:txBody>
                    <a:bodyPr/>
                    <a:lstStyle/>
                    <a:p>
                      <a:pPr fontAlgn="t">
                        <a:buNone/>
                      </a:pPr>
                      <a:r>
                        <a:rPr lang="en-US">
                          <a:effectLst/>
                        </a:rPr>
                        <a:t>Data 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raw bytes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character data</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41930017"/>
                  </a:ext>
                </a:extLst>
              </a:tr>
              <a:tr h="0">
                <a:tc>
                  <a:txBody>
                    <a:bodyPr/>
                    <a:lstStyle/>
                    <a:p>
                      <a:pPr fontAlgn="t">
                        <a:buNone/>
                      </a:pPr>
                      <a:r>
                        <a:rPr lang="en-US">
                          <a:effectLst/>
                        </a:rPr>
                        <a:t>Suitable For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files (images, videos, PDFs)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Text files (UTF-16, ASCII,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35658373"/>
                  </a:ext>
                </a:extLst>
              </a:tr>
              <a:tr h="0">
                <a:tc>
                  <a:txBody>
                    <a:bodyPr/>
                    <a:lstStyle/>
                    <a:p>
                      <a:pPr fontAlgn="t">
                        <a:buNone/>
                      </a:pPr>
                      <a:r>
                        <a:rPr lang="en-US">
                          <a:effectLst/>
                        </a:rPr>
                        <a:t>Inherits From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InputStream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61951279"/>
                  </a:ext>
                </a:extLst>
              </a:tr>
              <a:tr h="0">
                <a:tc>
                  <a:txBody>
                    <a:bodyPr/>
                    <a:lstStyle/>
                    <a:p>
                      <a:pPr fontAlgn="t">
                        <a:buNone/>
                      </a:pPr>
                      <a:r>
                        <a:rPr lang="en-US" dirty="0">
                          <a:effectLst/>
                        </a:rPr>
                        <a:t>Encoding Handling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Doesn’t handle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Handles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72056856"/>
                  </a:ext>
                </a:extLst>
              </a:tr>
            </a:tbl>
          </a:graphicData>
        </a:graphic>
      </p:graphicFrame>
      <p:sp>
        <p:nvSpPr>
          <p:cNvPr id="6" name="TextBox 5">
            <a:extLst>
              <a:ext uri="{FF2B5EF4-FFF2-40B4-BE49-F238E27FC236}">
                <a16:creationId xmlns:a16="http://schemas.microsoft.com/office/drawing/2014/main" id="{D636B702-27FC-3D87-AEBF-EC765C41534E}"/>
              </a:ext>
            </a:extLst>
          </p:cNvPr>
          <p:cNvSpPr txBox="1"/>
          <p:nvPr/>
        </p:nvSpPr>
        <p:spPr>
          <a:xfrm>
            <a:off x="627582" y="3930132"/>
            <a:ext cx="4981432" cy="2741776"/>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FileInputStream</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fis</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("image.jpg");</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FileReader</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fr</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("notes.txt");</a:t>
            </a:r>
          </a:p>
        </p:txBody>
      </p:sp>
    </p:spTree>
    <p:extLst>
      <p:ext uri="{BB962C8B-B14F-4D97-AF65-F5344CB8AC3E}">
        <p14:creationId xmlns:p14="http://schemas.microsoft.com/office/powerpoint/2010/main" val="15893815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F693CF-868D-61FA-19D8-620195F18434}"/>
              </a:ext>
            </a:extLst>
          </p:cNvPr>
          <p:cNvSpPr txBox="1"/>
          <p:nvPr/>
        </p:nvSpPr>
        <p:spPr>
          <a:xfrm>
            <a:off x="252483" y="197707"/>
            <a:ext cx="9519313" cy="28264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78. What is the purpose of the </a:t>
            </a:r>
            <a:r>
              <a:rPr lang="en-US" b="0" i="0" dirty="0" err="1">
                <a:solidFill>
                  <a:srgbClr val="272C37"/>
                </a:solidFill>
                <a:effectLst/>
                <a:latin typeface="Roboto" panose="02000000000000000000" pitchFamily="2" charset="0"/>
              </a:rPr>
              <a:t>java.util.Optional</a:t>
            </a:r>
            <a:r>
              <a:rPr lang="en-US" b="0" i="0" dirty="0">
                <a:solidFill>
                  <a:srgbClr val="272C37"/>
                </a:solidFill>
                <a:effectLst/>
                <a:latin typeface="Roboto" panose="02000000000000000000" pitchFamily="2" charset="0"/>
              </a:rPr>
              <a:t> class?</a:t>
            </a:r>
          </a:p>
          <a:p>
            <a:pPr algn="just">
              <a:lnSpc>
                <a:spcPts val="2100"/>
              </a:lnSpc>
              <a:spcBef>
                <a:spcPts val="1650"/>
              </a:spcBef>
              <a:buNone/>
            </a:pPr>
            <a:r>
              <a:rPr lang="en-US" b="0" i="0" dirty="0">
                <a:solidFill>
                  <a:srgbClr val="3A3A3A"/>
                </a:solidFill>
                <a:effectLst/>
                <a:latin typeface="Roboto" panose="02000000000000000000" pitchFamily="2" charset="0"/>
              </a:rPr>
              <a:t>Optional&lt;T&gt; is a container class that can or cannot have a non-null value. It prevents null pointer exceptions and promotes better practices for handling null values.</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buNone/>
            </a:pPr>
            <a:r>
              <a:rPr lang="en-US" b="0" i="0" dirty="0">
                <a:solidFill>
                  <a:srgbClr val="3A3A3A"/>
                </a:solidFill>
                <a:effectLst/>
                <a:latin typeface="Roboto" panose="02000000000000000000" pitchFamily="2" charset="0"/>
              </a:rPr>
              <a:t>Rather than returning null, return an Optional&lt;T&gt;.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09FEA0E-9EF8-A0DB-22C8-8C8829441F43}"/>
              </a:ext>
            </a:extLst>
          </p:cNvPr>
          <p:cNvSpPr txBox="1"/>
          <p:nvPr/>
        </p:nvSpPr>
        <p:spPr>
          <a:xfrm>
            <a:off x="252483" y="3024122"/>
            <a:ext cx="6694226" cy="5632311"/>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Print only if the value is present (non-null)</a:t>
            </a:r>
          </a:p>
          <a:p>
            <a:r>
              <a:rPr lang="en-US" dirty="0"/>
              <a:t>        </a:t>
            </a:r>
            <a:r>
              <a:rPr lang="en-US" dirty="0" err="1"/>
              <a:t>name.ifPresent</a:t>
            </a:r>
            <a:r>
              <a:rPr lang="en-US" dirty="0"/>
              <a:t>(</a:t>
            </a:r>
            <a:r>
              <a:rPr lang="en-US" dirty="0" err="1"/>
              <a:t>System.out</a:t>
            </a:r>
            <a:r>
              <a:rPr lang="en-US" dirty="0"/>
              <a:t>::</a:t>
            </a:r>
            <a:r>
              <a:rPr lang="en-US" dirty="0" err="1"/>
              <a:t>println</a:t>
            </a:r>
            <a:r>
              <a:rPr lang="en-US" dirty="0"/>
              <a:t>);</a:t>
            </a:r>
          </a:p>
          <a:p>
            <a:endParaRPr lang="en-US" dirty="0"/>
          </a:p>
          <a:p>
            <a:r>
              <a:rPr lang="en-US" dirty="0"/>
              <a:t>        // Provide a default value if name is null</a:t>
            </a:r>
          </a:p>
          <a:p>
            <a:r>
              <a:rPr lang="en-US" dirty="0"/>
              <a:t>        String </a:t>
            </a:r>
            <a:r>
              <a:rPr lang="en-US" dirty="0" err="1"/>
              <a:t>finalName</a:t>
            </a:r>
            <a:r>
              <a:rPr lang="en-US" dirty="0"/>
              <a:t> = </a:t>
            </a:r>
            <a:r>
              <a:rPr lang="en-US" dirty="0" err="1"/>
              <a:t>name.orElse</a:t>
            </a:r>
            <a:r>
              <a:rPr lang="en-US" dirty="0"/>
              <a:t>("Default");</a:t>
            </a:r>
          </a:p>
          <a:p>
            <a:r>
              <a:rPr lang="en-US" dirty="0"/>
              <a:t>        </a:t>
            </a:r>
            <a:r>
              <a:rPr lang="en-US" dirty="0" err="1"/>
              <a:t>System.out.println</a:t>
            </a:r>
            <a:r>
              <a:rPr lang="en-US" dirty="0"/>
              <a:t>("Final Name: " + </a:t>
            </a:r>
            <a:r>
              <a:rPr lang="en-US" dirty="0" err="1"/>
              <a:t>finalName</a:t>
            </a:r>
            <a:r>
              <a:rPr lang="en-US" dirty="0"/>
              <a:t>);</a:t>
            </a:r>
          </a:p>
          <a:p>
            <a:r>
              <a:rPr lang="en-US" dirty="0"/>
              <a:t>    }</a:t>
            </a:r>
          </a:p>
          <a:p>
            <a:endParaRPr lang="en-US" dirty="0"/>
          </a:p>
          <a:p>
            <a:r>
              <a:rPr lang="en-US" dirty="0"/>
              <a:t>    // This method can return null or a string value</a:t>
            </a:r>
          </a:p>
          <a:p>
            <a:r>
              <a:rPr lang="en-US" dirty="0"/>
              <a:t>    public static String </a:t>
            </a:r>
            <a:r>
              <a:rPr lang="en-US" dirty="0" err="1"/>
              <a:t>getName</a:t>
            </a:r>
            <a:r>
              <a:rPr lang="en-US" dirty="0"/>
              <a:t>() {</a:t>
            </a:r>
          </a:p>
          <a:p>
            <a:r>
              <a:rPr lang="en-US" dirty="0"/>
              <a:t>        // return "Ayaan"; // Try with non-null</a:t>
            </a:r>
          </a:p>
          <a:p>
            <a:r>
              <a:rPr lang="en-US" dirty="0"/>
              <a:t>        return null;       // Try with null</a:t>
            </a:r>
          </a:p>
          <a:p>
            <a:r>
              <a:rPr lang="en-US" dirty="0"/>
              <a:t>    }</a:t>
            </a:r>
          </a:p>
          <a:p>
            <a:r>
              <a:rPr lang="en-US" dirty="0"/>
              <a:t>}</a:t>
            </a:r>
          </a:p>
        </p:txBody>
      </p:sp>
      <p:sp>
        <p:nvSpPr>
          <p:cNvPr id="7" name="TextBox 6">
            <a:extLst>
              <a:ext uri="{FF2B5EF4-FFF2-40B4-BE49-F238E27FC236}">
                <a16:creationId xmlns:a16="http://schemas.microsoft.com/office/drawing/2014/main" id="{34ADD1CE-3730-C07C-6DA9-CB42AF47EE61}"/>
              </a:ext>
            </a:extLst>
          </p:cNvPr>
          <p:cNvSpPr txBox="1"/>
          <p:nvPr/>
        </p:nvSpPr>
        <p:spPr>
          <a:xfrm>
            <a:off x="6810231" y="4238687"/>
            <a:ext cx="2706808" cy="222881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Decreases likelihood of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clear null checks with </a:t>
            </a:r>
            <a:r>
              <a:rPr lang="en-US" b="0" i="0" dirty="0" err="1">
                <a:solidFill>
                  <a:srgbClr val="3A3A3A"/>
                </a:solidFill>
                <a:effectLst/>
                <a:latin typeface="Roboto" panose="02000000000000000000" pitchFamily="2" charset="0"/>
              </a:rPr>
              <a:t>ifPresent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map(), etc.</a:t>
            </a:r>
          </a:p>
        </p:txBody>
      </p:sp>
    </p:spTree>
    <p:extLst>
      <p:ext uri="{BB962C8B-B14F-4D97-AF65-F5344CB8AC3E}">
        <p14:creationId xmlns:p14="http://schemas.microsoft.com/office/powerpoint/2010/main" val="20308453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6B560-784A-15CF-F73C-2F5FFF333EC7}"/>
              </a:ext>
            </a:extLst>
          </p:cNvPr>
          <p:cNvSpPr txBox="1"/>
          <p:nvPr/>
        </p:nvSpPr>
        <p:spPr>
          <a:xfrm>
            <a:off x="156950" y="154779"/>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79. How do you use </a:t>
            </a:r>
            <a:r>
              <a:rPr lang="en-US" b="0" i="0" dirty="0" err="1">
                <a:solidFill>
                  <a:srgbClr val="272C37"/>
                </a:solidFill>
                <a:effectLst/>
                <a:latin typeface="Roboto" panose="02000000000000000000" pitchFamily="2" charset="0"/>
              </a:rPr>
              <a:t>varargs</a:t>
            </a:r>
            <a:r>
              <a:rPr lang="en-US" b="0" i="0" dirty="0">
                <a:solidFill>
                  <a:srgbClr val="272C37"/>
                </a:solidFill>
                <a:effectLst/>
                <a:latin typeface="Roboto" panose="02000000000000000000" pitchFamily="2" charset="0"/>
              </a:rPr>
              <a:t> (variable arguments) in Java?</a:t>
            </a:r>
          </a:p>
          <a:p>
            <a:pPr algn="just">
              <a:lnSpc>
                <a:spcPts val="2100"/>
              </a:lnSpc>
              <a:spcBef>
                <a:spcPts val="1650"/>
              </a:spcBef>
              <a:buNone/>
            </a:pP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 enable a method to take zero or more parameters of a particular type. They are useful when the number of method parameters is variable and not known in advance.</a:t>
            </a:r>
          </a:p>
          <a:p>
            <a:pPr algn="l">
              <a:spcBef>
                <a:spcPts val="1650"/>
              </a:spcBef>
              <a:buNone/>
            </a:pPr>
            <a:r>
              <a:rPr lang="en-US" b="0" i="0" dirty="0">
                <a:solidFill>
                  <a:srgbClr val="3A3A3A"/>
                </a:solidFill>
                <a:effectLst/>
                <a:latin typeface="Roboto" panose="02000000000000000000" pitchFamily="2" charset="0"/>
              </a:rPr>
              <a:t>Syntax:</a:t>
            </a:r>
          </a:p>
        </p:txBody>
      </p:sp>
      <p:sp>
        <p:nvSpPr>
          <p:cNvPr id="5" name="TextBox 4">
            <a:extLst>
              <a:ext uri="{FF2B5EF4-FFF2-40B4-BE49-F238E27FC236}">
                <a16:creationId xmlns:a16="http://schemas.microsoft.com/office/drawing/2014/main" id="{ABFE8ADE-B9FD-6316-7D36-6AD90F9B8895}"/>
              </a:ext>
            </a:extLst>
          </p:cNvPr>
          <p:cNvSpPr txBox="1"/>
          <p:nvPr/>
        </p:nvSpPr>
        <p:spPr>
          <a:xfrm>
            <a:off x="156950" y="2806787"/>
            <a:ext cx="4954136" cy="5909310"/>
          </a:xfrm>
          <a:prstGeom prst="rect">
            <a:avLst/>
          </a:prstGeom>
          <a:noFill/>
        </p:spPr>
        <p:txBody>
          <a:bodyPr wrap="square">
            <a:spAutoFit/>
          </a:bodyPr>
          <a:lstStyle/>
          <a:p>
            <a:r>
              <a:rPr lang="en-US" dirty="0"/>
              <a:t>public class </a:t>
            </a:r>
            <a:r>
              <a:rPr lang="en-US" dirty="0" err="1"/>
              <a:t>VarargsExample</a:t>
            </a:r>
            <a:r>
              <a:rPr lang="en-US" dirty="0"/>
              <a:t> {</a:t>
            </a:r>
          </a:p>
          <a:p>
            <a:r>
              <a:rPr lang="en-US" dirty="0"/>
              <a:t>    public static void main(String[] </a:t>
            </a:r>
            <a:r>
              <a:rPr lang="en-US" dirty="0" err="1"/>
              <a:t>args</a:t>
            </a:r>
            <a:r>
              <a:rPr lang="en-US" dirty="0"/>
              <a:t>) {</a:t>
            </a:r>
          </a:p>
          <a:p>
            <a:r>
              <a:rPr lang="en-US" dirty="0"/>
              <a:t>        </a:t>
            </a:r>
            <a:r>
              <a:rPr lang="en-US" dirty="0" err="1"/>
              <a:t>printNumbers</a:t>
            </a:r>
            <a:r>
              <a:rPr lang="en-US" dirty="0"/>
              <a:t>();               // Valid: no arguments</a:t>
            </a:r>
          </a:p>
          <a:p>
            <a:r>
              <a:rPr lang="en-US" dirty="0"/>
              <a:t>        </a:t>
            </a:r>
            <a:r>
              <a:rPr lang="en-US" dirty="0" err="1"/>
              <a:t>printNumbers</a:t>
            </a:r>
            <a:r>
              <a:rPr lang="en-US" dirty="0"/>
              <a:t>(1);              // Valid: single argument</a:t>
            </a:r>
          </a:p>
          <a:p>
            <a:r>
              <a:rPr lang="en-US" dirty="0"/>
              <a:t>        </a:t>
            </a:r>
            <a:r>
              <a:rPr lang="en-US" dirty="0" err="1"/>
              <a:t>printNumbers</a:t>
            </a:r>
            <a:r>
              <a:rPr lang="en-US" dirty="0"/>
              <a:t>(1, 2, 3, 4, 5);  // Valid: multiple arguments</a:t>
            </a:r>
          </a:p>
          <a:p>
            <a:r>
              <a:rPr lang="en-US" dirty="0"/>
              <a:t>    }</a:t>
            </a:r>
          </a:p>
          <a:p>
            <a:endParaRPr lang="en-US" dirty="0"/>
          </a:p>
          <a:p>
            <a:r>
              <a:rPr lang="en-US" dirty="0"/>
              <a:t>    // </a:t>
            </a:r>
            <a:r>
              <a:rPr lang="en-US" dirty="0" err="1"/>
              <a:t>Varargs</a:t>
            </a:r>
            <a:r>
              <a:rPr lang="en-US" dirty="0"/>
              <a:t> method: accepts zero or more int values</a:t>
            </a:r>
          </a:p>
          <a:p>
            <a:r>
              <a:rPr lang="en-US" dirty="0"/>
              <a:t>    public static void </a:t>
            </a:r>
            <a:r>
              <a:rPr lang="en-US" dirty="0" err="1"/>
              <a:t>printNumbers</a:t>
            </a:r>
            <a:r>
              <a:rPr lang="en-US" dirty="0"/>
              <a:t>(int... numbers) {</a:t>
            </a:r>
          </a:p>
          <a:p>
            <a:r>
              <a:rPr lang="en-US" dirty="0"/>
              <a:t>        </a:t>
            </a:r>
            <a:r>
              <a:rPr lang="en-US" dirty="0" err="1"/>
              <a:t>System.out.println</a:t>
            </a:r>
            <a:r>
              <a:rPr lang="en-US" dirty="0"/>
              <a:t>("Printing numbers:");</a:t>
            </a:r>
          </a:p>
          <a:p>
            <a:r>
              <a:rPr lang="en-US" dirty="0"/>
              <a:t>        for (int num : numbers) {</a:t>
            </a:r>
          </a:p>
          <a:p>
            <a:r>
              <a:rPr lang="en-US" dirty="0"/>
              <a:t>            </a:t>
            </a:r>
            <a:r>
              <a:rPr lang="en-US" dirty="0" err="1"/>
              <a:t>System.out.println</a:t>
            </a:r>
            <a:r>
              <a:rPr lang="en-US" dirty="0"/>
              <a:t>(num);</a:t>
            </a:r>
          </a:p>
          <a:p>
            <a:r>
              <a:rPr lang="en-US" dirty="0"/>
              <a:t>        }</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7FDC3C03-197B-E6EE-B599-229B40809CF4}"/>
              </a:ext>
            </a:extLst>
          </p:cNvPr>
          <p:cNvSpPr txBox="1"/>
          <p:nvPr/>
        </p:nvSpPr>
        <p:spPr>
          <a:xfrm>
            <a:off x="4953000" y="2361008"/>
            <a:ext cx="4954136"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Rules: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Only one </a:t>
            </a: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parameter is allowed.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has to be the final parameter in the method signature.</a:t>
            </a:r>
          </a:p>
        </p:txBody>
      </p:sp>
    </p:spTree>
    <p:extLst>
      <p:ext uri="{BB962C8B-B14F-4D97-AF65-F5344CB8AC3E}">
        <p14:creationId xmlns:p14="http://schemas.microsoft.com/office/powerpoint/2010/main" val="9394175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CC68D7-C6ED-6EEE-72A6-24B57254CBD7}"/>
              </a:ext>
            </a:extLst>
          </p:cNvPr>
          <p:cNvSpPr txBox="1"/>
          <p:nvPr/>
        </p:nvSpPr>
        <p:spPr>
          <a:xfrm>
            <a:off x="0" y="141729"/>
            <a:ext cx="764274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80. What is the difference between poll() and remove() in a Queue?</a:t>
            </a:r>
          </a:p>
        </p:txBody>
      </p:sp>
      <p:graphicFrame>
        <p:nvGraphicFramePr>
          <p:cNvPr id="4" name="Table 3">
            <a:extLst>
              <a:ext uri="{FF2B5EF4-FFF2-40B4-BE49-F238E27FC236}">
                <a16:creationId xmlns:a16="http://schemas.microsoft.com/office/drawing/2014/main" id="{5F747F40-FE03-372F-9E34-0216E3A15FDE}"/>
              </a:ext>
            </a:extLst>
          </p:cNvPr>
          <p:cNvGraphicFramePr>
            <a:graphicFrameLocks noGrp="1"/>
          </p:cNvGraphicFramePr>
          <p:nvPr>
            <p:extLst>
              <p:ext uri="{D42A27DB-BD31-4B8C-83A1-F6EECF244321}">
                <p14:modId xmlns:p14="http://schemas.microsoft.com/office/powerpoint/2010/main" val="1682301578"/>
              </p:ext>
            </p:extLst>
          </p:nvPr>
        </p:nvGraphicFramePr>
        <p:xfrm>
          <a:off x="380787" y="910076"/>
          <a:ext cx="8543925" cy="2743200"/>
        </p:xfrm>
        <a:graphic>
          <a:graphicData uri="http://schemas.openxmlformats.org/drawingml/2006/table">
            <a:tbl>
              <a:tblPr/>
              <a:tblGrid>
                <a:gridCol w="2847975">
                  <a:extLst>
                    <a:ext uri="{9D8B030D-6E8A-4147-A177-3AD203B41FA5}">
                      <a16:colId xmlns:a16="http://schemas.microsoft.com/office/drawing/2014/main" val="158697984"/>
                    </a:ext>
                  </a:extLst>
                </a:gridCol>
                <a:gridCol w="2847975">
                  <a:extLst>
                    <a:ext uri="{9D8B030D-6E8A-4147-A177-3AD203B41FA5}">
                      <a16:colId xmlns:a16="http://schemas.microsoft.com/office/drawing/2014/main" val="1564949360"/>
                    </a:ext>
                  </a:extLst>
                </a:gridCol>
                <a:gridCol w="2847975">
                  <a:extLst>
                    <a:ext uri="{9D8B030D-6E8A-4147-A177-3AD203B41FA5}">
                      <a16:colId xmlns:a16="http://schemas.microsoft.com/office/drawing/2014/main" val="3558810874"/>
                    </a:ext>
                  </a:extLst>
                </a:gridCol>
              </a:tblGrid>
              <a:tr h="0">
                <a:tc>
                  <a:txBody>
                    <a:bodyPr/>
                    <a:lstStyle/>
                    <a:p>
                      <a:pPr algn="ctr" fontAlgn="t">
                        <a:buNone/>
                      </a:pPr>
                      <a:r>
                        <a:rPr lang="en-US" b="0">
                          <a:solidFill>
                            <a:srgbClr val="FFFFFF"/>
                          </a:solidFill>
                          <a:effectLst/>
                        </a:rPr>
                        <a:t>Method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Description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Throws Exception if Queue is Empty</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3102590"/>
                  </a:ext>
                </a:extLst>
              </a:tr>
              <a:tr h="0">
                <a:tc>
                  <a:txBody>
                    <a:bodyPr/>
                    <a:lstStyle/>
                    <a:p>
                      <a:pPr fontAlgn="t">
                        <a:buNone/>
                      </a:pPr>
                      <a:r>
                        <a:rPr lang="en-US">
                          <a:effectLst/>
                        </a:rPr>
                        <a:t>poll()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returns null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 No (Returns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0092256"/>
                  </a:ext>
                </a:extLst>
              </a:tr>
              <a:tr h="0">
                <a:tc>
                  <a:txBody>
                    <a:bodyPr/>
                    <a:lstStyle/>
                    <a:p>
                      <a:pPr fontAlgn="t">
                        <a:buNone/>
                      </a:pPr>
                      <a:r>
                        <a:rPr lang="en-US">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throws NoSuchElementException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2303964"/>
                  </a:ext>
                </a:extLst>
              </a:tr>
            </a:tbl>
          </a:graphicData>
        </a:graphic>
      </p:graphicFrame>
      <p:sp>
        <p:nvSpPr>
          <p:cNvPr id="6" name="TextBox 5">
            <a:extLst>
              <a:ext uri="{FF2B5EF4-FFF2-40B4-BE49-F238E27FC236}">
                <a16:creationId xmlns:a16="http://schemas.microsoft.com/office/drawing/2014/main" id="{4966F959-EB23-5F5E-3D69-212047E39F04}"/>
              </a:ext>
            </a:extLst>
          </p:cNvPr>
          <p:cNvSpPr txBox="1"/>
          <p:nvPr/>
        </p:nvSpPr>
        <p:spPr>
          <a:xfrm>
            <a:off x="380787" y="3904862"/>
            <a:ext cx="4981432" cy="7571303"/>
          </a:xfrm>
          <a:prstGeom prst="rect">
            <a:avLst/>
          </a:prstGeom>
          <a:noFill/>
        </p:spPr>
        <p:txBody>
          <a:bodyPr wrap="square">
            <a:spAutoFit/>
          </a:bodyPr>
          <a:lstStyle/>
          <a:p>
            <a:r>
              <a:rPr lang="en-US" dirty="0"/>
              <a:t>import </a:t>
            </a:r>
            <a:r>
              <a:rPr lang="en-US" dirty="0" err="1"/>
              <a:t>java.util.Queue</a:t>
            </a:r>
            <a:r>
              <a:rPr lang="en-US" dirty="0"/>
              <a:t>;</a:t>
            </a:r>
          </a:p>
          <a:p>
            <a:r>
              <a:rPr lang="en-US" dirty="0"/>
              <a:t>import </a:t>
            </a:r>
            <a:r>
              <a:rPr lang="en-US" dirty="0" err="1"/>
              <a:t>java.util.LinkedList</a:t>
            </a:r>
            <a:r>
              <a:rPr lang="en-US" dirty="0"/>
              <a:t>;</a:t>
            </a:r>
          </a:p>
          <a:p>
            <a:r>
              <a:rPr lang="en-US" dirty="0"/>
              <a:t>import </a:t>
            </a:r>
            <a:r>
              <a:rPr lang="en-US" dirty="0" err="1"/>
              <a:t>java.util.NoSuchElementException</a:t>
            </a:r>
            <a:r>
              <a:rPr lang="en-US" dirty="0"/>
              <a:t>;</a:t>
            </a:r>
          </a:p>
          <a:p>
            <a:endParaRPr lang="en-US" dirty="0"/>
          </a:p>
          <a:p>
            <a:r>
              <a:rPr lang="en-US" dirty="0"/>
              <a:t>public class </a:t>
            </a:r>
            <a:r>
              <a:rPr lang="en-US" dirty="0" err="1"/>
              <a:t>QueueExample</a:t>
            </a:r>
            <a:r>
              <a:rPr lang="en-US" dirty="0"/>
              <a:t> {</a:t>
            </a:r>
          </a:p>
          <a:p>
            <a:r>
              <a:rPr lang="en-US" dirty="0"/>
              <a:t>    public static void main(String[] </a:t>
            </a:r>
            <a:r>
              <a:rPr lang="en-US" dirty="0" err="1"/>
              <a:t>args</a:t>
            </a:r>
            <a:r>
              <a:rPr lang="en-US" dirty="0"/>
              <a:t>) {</a:t>
            </a:r>
          </a:p>
          <a:p>
            <a:r>
              <a:rPr lang="en-US" dirty="0"/>
              <a:t>        Queue </a:t>
            </a:r>
            <a:r>
              <a:rPr lang="en-US" dirty="0" err="1"/>
              <a:t>queue</a:t>
            </a:r>
            <a:r>
              <a:rPr lang="en-US" dirty="0"/>
              <a:t> = new LinkedList&lt;&gt;();</a:t>
            </a:r>
          </a:p>
          <a:p>
            <a:endParaRPr lang="en-US" dirty="0"/>
          </a:p>
          <a:p>
            <a:r>
              <a:rPr lang="en-US" dirty="0"/>
              <a:t>        // Using poll() - returns null if the queue is empty</a:t>
            </a:r>
          </a:p>
          <a:p>
            <a:r>
              <a:rPr lang="en-US" dirty="0"/>
              <a:t>        String polled = </a:t>
            </a:r>
            <a:r>
              <a:rPr lang="en-US" dirty="0" err="1"/>
              <a:t>queue.poll</a:t>
            </a:r>
            <a:r>
              <a:rPr lang="en-US" dirty="0"/>
              <a:t>();</a:t>
            </a:r>
          </a:p>
          <a:p>
            <a:r>
              <a:rPr lang="en-US" dirty="0"/>
              <a:t>        </a:t>
            </a:r>
            <a:r>
              <a:rPr lang="en-US" dirty="0" err="1"/>
              <a:t>System.out.println</a:t>
            </a:r>
            <a:r>
              <a:rPr lang="en-US" dirty="0"/>
              <a:t>("Result of poll(): " + polled); // Output: null</a:t>
            </a:r>
          </a:p>
          <a:p>
            <a:endParaRPr lang="en-US" dirty="0"/>
          </a:p>
          <a:p>
            <a:r>
              <a:rPr lang="en-US" dirty="0"/>
              <a:t>        // Using remove() - throws </a:t>
            </a:r>
            <a:r>
              <a:rPr lang="en-US" dirty="0" err="1"/>
              <a:t>NoSuchElementException</a:t>
            </a:r>
            <a:r>
              <a:rPr lang="en-US" dirty="0"/>
              <a:t> if the queue is empty</a:t>
            </a:r>
          </a:p>
          <a:p>
            <a:r>
              <a:rPr lang="en-US" dirty="0"/>
              <a:t>        try {</a:t>
            </a:r>
          </a:p>
          <a:p>
            <a:r>
              <a:rPr lang="en-US" dirty="0"/>
              <a:t>            String removed = </a:t>
            </a:r>
            <a:r>
              <a:rPr lang="en-US" dirty="0" err="1"/>
              <a:t>queue.remove</a:t>
            </a:r>
            <a:r>
              <a:rPr lang="en-US" dirty="0"/>
              <a:t>(); // This will throw exception</a:t>
            </a:r>
          </a:p>
          <a:p>
            <a:r>
              <a:rPr lang="en-US" dirty="0"/>
              <a:t>            </a:t>
            </a:r>
            <a:r>
              <a:rPr lang="en-US" dirty="0" err="1"/>
              <a:t>System.out.println</a:t>
            </a:r>
            <a:r>
              <a:rPr lang="en-US" dirty="0"/>
              <a:t>("Result of remove(): " + removed);</a:t>
            </a:r>
          </a:p>
          <a:p>
            <a:r>
              <a:rPr lang="en-US" dirty="0"/>
              <a:t>        } catch (</a:t>
            </a:r>
            <a:r>
              <a:rPr lang="en-US" dirty="0" err="1"/>
              <a:t>NoSuchElementException</a:t>
            </a:r>
            <a:r>
              <a:rPr lang="en-US" dirty="0"/>
              <a:t> e) {</a:t>
            </a:r>
          </a:p>
          <a:p>
            <a:r>
              <a:rPr lang="en-US" dirty="0"/>
              <a:t>            </a:t>
            </a:r>
            <a:r>
              <a:rPr lang="en-US" dirty="0" err="1"/>
              <a:t>System.out.println</a:t>
            </a:r>
            <a:r>
              <a:rPr lang="en-US" dirty="0"/>
              <a:t>("Exception from remove(): " + e);</a:t>
            </a:r>
          </a:p>
          <a:p>
            <a:r>
              <a:rPr lang="en-US" dirty="0"/>
              <a:t>        }</a:t>
            </a:r>
          </a:p>
          <a:p>
            <a:r>
              <a:rPr lang="en-US" dirty="0"/>
              <a:t>    }</a:t>
            </a:r>
          </a:p>
          <a:p>
            <a:r>
              <a:rPr lang="en-US" dirty="0"/>
              <a:t>}</a:t>
            </a:r>
          </a:p>
        </p:txBody>
      </p:sp>
      <p:sp>
        <p:nvSpPr>
          <p:cNvPr id="8" name="TextBox 7">
            <a:extLst>
              <a:ext uri="{FF2B5EF4-FFF2-40B4-BE49-F238E27FC236}">
                <a16:creationId xmlns:a16="http://schemas.microsoft.com/office/drawing/2014/main" id="{F860E85E-9BA4-FB71-F96D-2FFC88E84623}"/>
              </a:ext>
            </a:extLst>
          </p:cNvPr>
          <p:cNvSpPr txBox="1"/>
          <p:nvPr/>
        </p:nvSpPr>
        <p:spPr>
          <a:xfrm>
            <a:off x="5199796" y="3988413"/>
            <a:ext cx="4325417" cy="195951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poll() when you wish to safely search for an element.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remove() when you are certain that the queue is not empty.</a:t>
            </a:r>
          </a:p>
        </p:txBody>
      </p:sp>
    </p:spTree>
    <p:extLst>
      <p:ext uri="{BB962C8B-B14F-4D97-AF65-F5344CB8AC3E}">
        <p14:creationId xmlns:p14="http://schemas.microsoft.com/office/powerpoint/2010/main" val="519649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E4D60-93F0-8125-CC9A-A0E2376E7B66}"/>
              </a:ext>
            </a:extLst>
          </p:cNvPr>
          <p:cNvSpPr txBox="1"/>
          <p:nvPr/>
        </p:nvSpPr>
        <p:spPr>
          <a:xfrm>
            <a:off x="0" y="0"/>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81. What is a </a:t>
            </a:r>
            <a:r>
              <a:rPr lang="en-US" b="0" i="0" dirty="0" err="1">
                <a:solidFill>
                  <a:srgbClr val="272C37"/>
                </a:solidFill>
                <a:effectLst/>
                <a:latin typeface="Roboto" panose="02000000000000000000" pitchFamily="2" charset="0"/>
              </a:rPr>
              <a:t>BiFunction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err="1">
                <a:solidFill>
                  <a:srgbClr val="3A3A3A"/>
                </a:solidFill>
                <a:effectLst/>
                <a:latin typeface="Roboto" panose="02000000000000000000" pitchFamily="2" charset="0"/>
              </a:rPr>
              <a:t>BiFunction</a:t>
            </a:r>
            <a:r>
              <a:rPr lang="en-US" b="0" i="0" dirty="0">
                <a:solidFill>
                  <a:srgbClr val="3A3A3A"/>
                </a:solidFill>
                <a:effectLst/>
                <a:latin typeface="Roboto" panose="02000000000000000000" pitchFamily="2" charset="0"/>
              </a:rPr>
              <a:t>&lt;T, U, R&gt; is a functional interface in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that defines a function that accepts two parameters of types T and U and has an output of type R.</a:t>
            </a:r>
          </a:p>
        </p:txBody>
      </p:sp>
      <p:sp>
        <p:nvSpPr>
          <p:cNvPr id="5" name="TextBox 4">
            <a:extLst>
              <a:ext uri="{FF2B5EF4-FFF2-40B4-BE49-F238E27FC236}">
                <a16:creationId xmlns:a16="http://schemas.microsoft.com/office/drawing/2014/main" id="{A7C21966-A417-0962-A15C-18FC5A8CCB15}"/>
              </a:ext>
            </a:extLst>
          </p:cNvPr>
          <p:cNvSpPr txBox="1"/>
          <p:nvPr/>
        </p:nvSpPr>
        <p:spPr>
          <a:xfrm>
            <a:off x="143302" y="2047502"/>
            <a:ext cx="4183038" cy="1200329"/>
          </a:xfrm>
          <a:prstGeom prst="rect">
            <a:avLst/>
          </a:prstGeom>
          <a:noFill/>
        </p:spPr>
        <p:txBody>
          <a:bodyPr wrap="square">
            <a:spAutoFit/>
          </a:bodyPr>
          <a:lstStyle/>
          <a:p>
            <a:r>
              <a:rPr lang="en-US" dirty="0"/>
              <a:t>@FunctionalInterface</a:t>
            </a:r>
          </a:p>
          <a:p>
            <a:r>
              <a:rPr lang="en-US" dirty="0"/>
              <a:t>public interface </a:t>
            </a:r>
            <a:r>
              <a:rPr lang="en-US" dirty="0" err="1"/>
              <a:t>BiFunction</a:t>
            </a:r>
            <a:r>
              <a:rPr lang="en-US" dirty="0"/>
              <a:t>&lt;T, U, R&gt; {</a:t>
            </a:r>
          </a:p>
          <a:p>
            <a:r>
              <a:rPr lang="en-US" dirty="0"/>
              <a:t>    R apply(T </a:t>
            </a:r>
            <a:r>
              <a:rPr lang="en-US" dirty="0" err="1"/>
              <a:t>t</a:t>
            </a:r>
            <a:r>
              <a:rPr lang="en-US" dirty="0"/>
              <a:t>, U u);</a:t>
            </a:r>
          </a:p>
          <a:p>
            <a:r>
              <a:rPr lang="en-US" dirty="0"/>
              <a:t>}</a:t>
            </a:r>
          </a:p>
        </p:txBody>
      </p:sp>
      <p:sp>
        <p:nvSpPr>
          <p:cNvPr id="7" name="TextBox 6">
            <a:extLst>
              <a:ext uri="{FF2B5EF4-FFF2-40B4-BE49-F238E27FC236}">
                <a16:creationId xmlns:a16="http://schemas.microsoft.com/office/drawing/2014/main" id="{7BCD5499-55D5-CA07-500E-BBDFE8C19461}"/>
              </a:ext>
            </a:extLst>
          </p:cNvPr>
          <p:cNvSpPr txBox="1"/>
          <p:nvPr/>
        </p:nvSpPr>
        <p:spPr>
          <a:xfrm>
            <a:off x="116006" y="3247831"/>
            <a:ext cx="4981432" cy="4247317"/>
          </a:xfrm>
          <a:prstGeom prst="rect">
            <a:avLst/>
          </a:prstGeom>
          <a:noFill/>
        </p:spPr>
        <p:txBody>
          <a:bodyPr wrap="square">
            <a:spAutoFit/>
          </a:bodyPr>
          <a:lstStyle/>
          <a:p>
            <a:r>
              <a:rPr lang="en-US" dirty="0"/>
              <a:t>import </a:t>
            </a:r>
            <a:r>
              <a:rPr lang="en-US" dirty="0" err="1"/>
              <a:t>java.util.function.BiFunction</a:t>
            </a:r>
            <a:r>
              <a:rPr lang="en-US" dirty="0"/>
              <a:t>;</a:t>
            </a:r>
          </a:p>
          <a:p>
            <a:endParaRPr lang="en-US" dirty="0"/>
          </a:p>
          <a:p>
            <a:r>
              <a:rPr lang="en-US" dirty="0"/>
              <a:t>public class </a:t>
            </a:r>
            <a:r>
              <a:rPr lang="en-US" dirty="0" err="1"/>
              <a:t>BiFunctionExample</a:t>
            </a:r>
            <a:r>
              <a:rPr lang="en-US" dirty="0"/>
              <a:t> {</a:t>
            </a:r>
          </a:p>
          <a:p>
            <a:r>
              <a:rPr lang="en-US" dirty="0"/>
              <a:t>    public static void main(String[] </a:t>
            </a:r>
            <a:r>
              <a:rPr lang="en-US" dirty="0" err="1"/>
              <a:t>args</a:t>
            </a:r>
            <a:r>
              <a:rPr lang="en-US" dirty="0"/>
              <a:t>) {</a:t>
            </a:r>
          </a:p>
          <a:p>
            <a:r>
              <a:rPr lang="en-US" dirty="0"/>
              <a:t>        // Create a </a:t>
            </a:r>
            <a:r>
              <a:rPr lang="en-US" dirty="0" err="1"/>
              <a:t>BiFunction</a:t>
            </a:r>
            <a:r>
              <a:rPr lang="en-US" dirty="0"/>
              <a:t> that multiplies two integers</a:t>
            </a:r>
          </a:p>
          <a:p>
            <a:r>
              <a:rPr lang="en-US" dirty="0"/>
              <a:t>        </a:t>
            </a:r>
            <a:r>
              <a:rPr lang="en-US" dirty="0" err="1"/>
              <a:t>BiFunction</a:t>
            </a:r>
            <a:r>
              <a:rPr lang="en-US" dirty="0"/>
              <a:t>&lt;Integer, Integer, Integer&gt; multiply = (a, b) -&gt; a * b;</a:t>
            </a:r>
          </a:p>
          <a:p>
            <a:endParaRPr lang="en-US" dirty="0"/>
          </a:p>
          <a:p>
            <a:r>
              <a:rPr lang="en-US" dirty="0"/>
              <a:t>        // Use the </a:t>
            </a:r>
            <a:r>
              <a:rPr lang="en-US" dirty="0" err="1"/>
              <a:t>BiFunction</a:t>
            </a:r>
            <a:endParaRPr lang="en-US" dirty="0"/>
          </a:p>
          <a:p>
            <a:r>
              <a:rPr lang="en-US" dirty="0"/>
              <a:t>        int result = </a:t>
            </a:r>
            <a:r>
              <a:rPr lang="en-US" dirty="0" err="1"/>
              <a:t>multiply.apply</a:t>
            </a:r>
            <a:r>
              <a:rPr lang="en-US" dirty="0"/>
              <a:t>(3, 4);</a:t>
            </a:r>
          </a:p>
          <a:p>
            <a:r>
              <a:rPr lang="en-US" dirty="0"/>
              <a:t>        </a:t>
            </a:r>
            <a:r>
              <a:rPr lang="en-US" dirty="0" err="1"/>
              <a:t>System.out.println</a:t>
            </a:r>
            <a:r>
              <a:rPr lang="en-US" dirty="0"/>
              <a:t>("Result of </a:t>
            </a:r>
            <a:r>
              <a:rPr lang="en-US" dirty="0" err="1"/>
              <a:t>multiply.apply</a:t>
            </a:r>
            <a:r>
              <a:rPr lang="en-US" dirty="0"/>
              <a:t>(3, 4): " + result); // Output: 12</a:t>
            </a:r>
          </a:p>
          <a:p>
            <a:r>
              <a:rPr lang="en-US" dirty="0"/>
              <a:t>    }</a:t>
            </a:r>
          </a:p>
          <a:p>
            <a:r>
              <a:rPr lang="en-US" dirty="0"/>
              <a:t>}</a:t>
            </a:r>
          </a:p>
        </p:txBody>
      </p:sp>
      <p:sp>
        <p:nvSpPr>
          <p:cNvPr id="9" name="TextBox 8">
            <a:extLst>
              <a:ext uri="{FF2B5EF4-FFF2-40B4-BE49-F238E27FC236}">
                <a16:creationId xmlns:a16="http://schemas.microsoft.com/office/drawing/2014/main" id="{987BC1DE-F3C1-DA8E-B63D-36B5B8FFA061}"/>
              </a:ext>
            </a:extLst>
          </p:cNvPr>
          <p:cNvSpPr txBox="1"/>
          <p:nvPr/>
        </p:nvSpPr>
        <p:spPr>
          <a:xfrm>
            <a:off x="5579662" y="294485"/>
            <a:ext cx="2464558"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Merging two values (for instance, keys and values in maps).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Functional-style computation with two inputs.</a:t>
            </a:r>
          </a:p>
        </p:txBody>
      </p:sp>
    </p:spTree>
    <p:extLst>
      <p:ext uri="{BB962C8B-B14F-4D97-AF65-F5344CB8AC3E}">
        <p14:creationId xmlns:p14="http://schemas.microsoft.com/office/powerpoint/2010/main" val="18976342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01D2D7-70E8-93CB-F860-D1B743B96C7D}"/>
              </a:ext>
            </a:extLst>
          </p:cNvPr>
          <p:cNvSpPr txBox="1"/>
          <p:nvPr/>
        </p:nvSpPr>
        <p:spPr>
          <a:xfrm>
            <a:off x="0" y="0"/>
            <a:ext cx="4954136" cy="397288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82. How does the </a:t>
            </a:r>
            <a:r>
              <a:rPr lang="en-US" b="0" i="0" dirty="0" err="1">
                <a:solidFill>
                  <a:srgbClr val="272C37"/>
                </a:solidFill>
                <a:effectLst/>
                <a:latin typeface="Roboto" panose="02000000000000000000" pitchFamily="2" charset="0"/>
              </a:rPr>
              <a:t>flatMap</a:t>
            </a:r>
            <a:r>
              <a:rPr lang="en-US" b="0" i="0" dirty="0">
                <a:solidFill>
                  <a:srgbClr val="272C37"/>
                </a:solidFill>
                <a:effectLst/>
                <a:latin typeface="Roboto" panose="02000000000000000000" pitchFamily="2" charset="0"/>
              </a:rPr>
              <a:t>() method work in streams?</a:t>
            </a:r>
          </a:p>
          <a:p>
            <a:pPr algn="just">
              <a:lnSpc>
                <a:spcPts val="2100"/>
              </a:lnSpc>
              <a:spcBef>
                <a:spcPts val="1650"/>
              </a:spcBef>
              <a:buNone/>
            </a:pPr>
            <a:r>
              <a:rPr lang="en-US" b="0" i="0" dirty="0">
                <a:solidFill>
                  <a:srgbClr val="3A3A3A"/>
                </a:solidFill>
                <a:effectLst/>
                <a:latin typeface="Roboto" panose="02000000000000000000" pitchFamily="2" charset="0"/>
              </a:rPr>
              <a:t>The Java Streams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 method is utilized to flatten hierarchical structures, often by transforming a stream of collections (e.g., lists) into a single stream of their individual elements.</a:t>
            </a:r>
          </a:p>
          <a:p>
            <a:pPr algn="l">
              <a:spcBef>
                <a:spcPts val="1650"/>
              </a:spcBef>
              <a:buNone/>
            </a:pPr>
            <a:r>
              <a:rPr lang="en-US" b="0" i="0" dirty="0">
                <a:solidFill>
                  <a:srgbClr val="3A3A3A"/>
                </a:solidFill>
                <a:effectLst/>
                <a:latin typeface="Roboto" panose="02000000000000000000" pitchFamily="2" charset="0"/>
              </a:rPr>
              <a:t>Behavior: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Maps every element to a Stream.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Flattens the outcome into one Stream.</a:t>
            </a:r>
          </a:p>
        </p:txBody>
      </p:sp>
      <p:sp>
        <p:nvSpPr>
          <p:cNvPr id="4" name="TextBox 3">
            <a:extLst>
              <a:ext uri="{FF2B5EF4-FFF2-40B4-BE49-F238E27FC236}">
                <a16:creationId xmlns:a16="http://schemas.microsoft.com/office/drawing/2014/main" id="{1BD679E3-09A5-555B-FF90-4686AB0D1AB1}"/>
              </a:ext>
            </a:extLst>
          </p:cNvPr>
          <p:cNvSpPr txBox="1"/>
          <p:nvPr/>
        </p:nvSpPr>
        <p:spPr>
          <a:xfrm>
            <a:off x="4924568" y="1325687"/>
            <a:ext cx="4981432" cy="2862322"/>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java.util.stream.Collectors;public</a:t>
            </a:r>
            <a:r>
              <a:rPr lang="en-US" dirty="0"/>
              <a:t> class </a:t>
            </a:r>
            <a:r>
              <a:rPr lang="en-US" dirty="0" err="1"/>
              <a:t>FlatMapExample</a:t>
            </a:r>
            <a:r>
              <a:rPr lang="en-US" dirty="0"/>
              <a:t> {    public static void main(String[] </a:t>
            </a:r>
            <a:r>
              <a:rPr lang="en-US" dirty="0" err="1"/>
              <a:t>args</a:t>
            </a:r>
            <a:r>
              <a:rPr lang="en-US" dirty="0"/>
              <a:t>) {        List&lt;List&lt;String&gt;&gt; nested = </a:t>
            </a:r>
            <a:r>
              <a:rPr lang="en-US" dirty="0" err="1"/>
              <a:t>Arrays.asList</a:t>
            </a:r>
            <a:r>
              <a:rPr lang="en-US" dirty="0"/>
              <a:t>(            </a:t>
            </a:r>
            <a:r>
              <a:rPr lang="en-US" dirty="0" err="1"/>
              <a:t>Arrays.asList</a:t>
            </a:r>
            <a:r>
              <a:rPr lang="en-US" dirty="0"/>
              <a:t>("A", "B"),            </a:t>
            </a:r>
            <a:r>
              <a:rPr lang="en-US" dirty="0" err="1"/>
              <a:t>Arrays.asList</a:t>
            </a:r>
            <a:r>
              <a:rPr lang="en-US" dirty="0"/>
              <a:t>("C", "D")        );        List&lt;String&gt; flat = </a:t>
            </a:r>
            <a:r>
              <a:rPr lang="en-US" dirty="0" err="1"/>
              <a:t>nested.stream</a:t>
            </a:r>
            <a:r>
              <a:rPr lang="en-US" dirty="0"/>
              <a:t>()              // Stream&lt;List&lt;String&gt;&gt;                                   .</a:t>
            </a:r>
            <a:r>
              <a:rPr lang="en-US" dirty="0" err="1"/>
              <a:t>flatMap</a:t>
            </a:r>
            <a:r>
              <a:rPr lang="en-US" dirty="0"/>
              <a:t>(List::stream) // Stream&lt;String&gt;                                   .collect(</a:t>
            </a:r>
            <a:r>
              <a:rPr lang="en-US" dirty="0" err="1"/>
              <a:t>Collectors.toList</a:t>
            </a:r>
            <a:r>
              <a:rPr lang="en-US" dirty="0"/>
              <a:t>());        </a:t>
            </a:r>
            <a:r>
              <a:rPr lang="en-US" dirty="0" err="1"/>
              <a:t>System.out.println</a:t>
            </a:r>
            <a:r>
              <a:rPr lang="en-US" dirty="0"/>
              <a:t>(flat); // Output: [A, B, C, D]    }}</a:t>
            </a:r>
          </a:p>
        </p:txBody>
      </p:sp>
      <p:sp>
        <p:nvSpPr>
          <p:cNvPr id="6" name="TextBox 5">
            <a:extLst>
              <a:ext uri="{FF2B5EF4-FFF2-40B4-BE49-F238E27FC236}">
                <a16:creationId xmlns:a16="http://schemas.microsoft.com/office/drawing/2014/main" id="{C68B2C7A-9BE9-298D-D5B5-446C21E61488}"/>
              </a:ext>
            </a:extLst>
          </p:cNvPr>
          <p:cNvSpPr txBox="1"/>
          <p:nvPr/>
        </p:nvSpPr>
        <p:spPr>
          <a:xfrm>
            <a:off x="0" y="5103495"/>
            <a:ext cx="5684292" cy="142090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dealing with nested collections.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prevent Stream&lt;Stream&lt;T&gt;&gt; nesting.</a:t>
            </a:r>
          </a:p>
        </p:txBody>
      </p:sp>
    </p:spTree>
    <p:extLst>
      <p:ext uri="{BB962C8B-B14F-4D97-AF65-F5344CB8AC3E}">
        <p14:creationId xmlns:p14="http://schemas.microsoft.com/office/powerpoint/2010/main" val="16542573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6322A-4A4A-A3D0-844B-8501E0750475}"/>
              </a:ext>
            </a:extLst>
          </p:cNvPr>
          <p:cNvSpPr txBox="1"/>
          <p:nvPr/>
        </p:nvSpPr>
        <p:spPr>
          <a:xfrm>
            <a:off x="-1136" y="0"/>
            <a:ext cx="4040873" cy="5083443"/>
          </a:xfrm>
          <a:prstGeom prst="rect">
            <a:avLst/>
          </a:prstGeom>
          <a:noFill/>
        </p:spPr>
        <p:txBody>
          <a:bodyPr wrap="square">
            <a:spAutoFit/>
          </a:bodyPr>
          <a:lstStyle/>
          <a:p>
            <a:pPr algn="l">
              <a:lnSpc>
                <a:spcPts val="2100"/>
              </a:lnSpc>
              <a:spcBef>
                <a:spcPts val="2400"/>
              </a:spcBef>
              <a:spcAft>
                <a:spcPts val="1800"/>
              </a:spcAft>
              <a:buNone/>
            </a:pPr>
            <a:r>
              <a:rPr lang="en-US" b="0" i="0">
                <a:solidFill>
                  <a:srgbClr val="272C37"/>
                </a:solidFill>
                <a:effectLst/>
                <a:latin typeface="Roboto" panose="02000000000000000000" pitchFamily="2" charset="0"/>
              </a:rPr>
              <a:t>83. What is the @FunctionalInterface annotation?</a:t>
            </a:r>
          </a:p>
          <a:p>
            <a:pPr algn="just">
              <a:lnSpc>
                <a:spcPts val="2100"/>
              </a:lnSpc>
              <a:spcBef>
                <a:spcPts val="1650"/>
              </a:spcBef>
              <a:buNone/>
            </a:pPr>
            <a:r>
              <a:rPr lang="en-US" b="0" i="0">
                <a:solidFill>
                  <a:srgbClr val="3A3A3A"/>
                </a:solidFill>
                <a:effectLst/>
                <a:latin typeface="Roboto" panose="02000000000000000000" pitchFamily="2" charset="0"/>
              </a:rPr>
              <a:t>@FunctionalInterface is an annotation that is used to specify that an interface is meant to be a functional interface (an interface with only one abstract method).</a:t>
            </a:r>
          </a:p>
          <a:p>
            <a:pPr algn="l">
              <a:spcBef>
                <a:spcPts val="1650"/>
              </a:spcBef>
              <a:buNone/>
            </a:pPr>
            <a:r>
              <a:rPr lang="en-US" b="0" i="0">
                <a:solidFill>
                  <a:srgbClr val="3A3A3A"/>
                </a:solidFill>
                <a:effectLst/>
                <a:latin typeface="Roboto" panose="02000000000000000000" pitchFamily="2" charset="0"/>
              </a:rPr>
              <a:t>Purpose:</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Tells the compiler to implement a functional interface contract.</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Facilitates use with lambda expressions and method references.</a:t>
            </a:r>
          </a:p>
          <a:p>
            <a:pPr algn="l">
              <a:spcBef>
                <a:spcPts val="1650"/>
              </a:spcBef>
              <a:buNone/>
            </a:pPr>
            <a:r>
              <a:rPr lang="en-US" b="0" i="0">
                <a:solidFill>
                  <a:srgbClr val="3A3A3A"/>
                </a:solidFill>
                <a:effectLst/>
                <a:latin typeface="Roboto" panose="02000000000000000000" pitchFamily="2" charset="0"/>
              </a:rPr>
              <a:t>Example:</a:t>
            </a:r>
            <a:endParaRPr lang="en-US" b="0" i="0" dirty="0">
              <a:solidFill>
                <a:srgbClr val="3A3A3A"/>
              </a:solidFill>
              <a:effectLst/>
              <a:latin typeface="Roboto" panose="02000000000000000000" pitchFamily="2" charset="0"/>
            </a:endParaRPr>
          </a:p>
        </p:txBody>
      </p:sp>
      <p:sp>
        <p:nvSpPr>
          <p:cNvPr id="5" name="TextBox 4">
            <a:extLst>
              <a:ext uri="{FF2B5EF4-FFF2-40B4-BE49-F238E27FC236}">
                <a16:creationId xmlns:a16="http://schemas.microsoft.com/office/drawing/2014/main" id="{70AD69E3-BF48-18E8-796C-A3CEEC5E537B}"/>
              </a:ext>
            </a:extLst>
          </p:cNvPr>
          <p:cNvSpPr txBox="1"/>
          <p:nvPr/>
        </p:nvSpPr>
        <p:spPr>
          <a:xfrm>
            <a:off x="4619768" y="316257"/>
            <a:ext cx="4981432" cy="923330"/>
          </a:xfrm>
          <a:prstGeom prst="rect">
            <a:avLst/>
          </a:prstGeom>
          <a:noFill/>
        </p:spPr>
        <p:txBody>
          <a:bodyPr wrap="square">
            <a:spAutoFit/>
          </a:bodyPr>
          <a:lstStyle/>
          <a:p>
            <a:r>
              <a:rPr lang="en-US" dirty="0"/>
              <a:t>@FunctionalInterfaceinterface </a:t>
            </a:r>
            <a:r>
              <a:rPr lang="en-US" dirty="0" err="1"/>
              <a:t>MyFunction</a:t>
            </a:r>
            <a:r>
              <a:rPr lang="en-US" dirty="0"/>
              <a:t> {    void execute(); // Only one abstract method allowed}</a:t>
            </a:r>
          </a:p>
        </p:txBody>
      </p:sp>
      <p:sp>
        <p:nvSpPr>
          <p:cNvPr id="7" name="TextBox 6">
            <a:extLst>
              <a:ext uri="{FF2B5EF4-FFF2-40B4-BE49-F238E27FC236}">
                <a16:creationId xmlns:a16="http://schemas.microsoft.com/office/drawing/2014/main" id="{3B225ADF-61EC-8693-E87A-A7981B333C56}"/>
              </a:ext>
            </a:extLst>
          </p:cNvPr>
          <p:cNvSpPr txBox="1"/>
          <p:nvPr/>
        </p:nvSpPr>
        <p:spPr>
          <a:xfrm>
            <a:off x="4619768" y="1738794"/>
            <a:ext cx="4981432"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Improves code clarity.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accidental addition of multiple abstract methods.</a:t>
            </a:r>
          </a:p>
        </p:txBody>
      </p:sp>
    </p:spTree>
    <p:extLst>
      <p:ext uri="{BB962C8B-B14F-4D97-AF65-F5344CB8AC3E}">
        <p14:creationId xmlns:p14="http://schemas.microsoft.com/office/powerpoint/2010/main" val="7932197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933C84-B8AC-AAA1-5F4F-72F822C476EF}"/>
              </a:ext>
            </a:extLst>
          </p:cNvPr>
          <p:cNvSpPr txBox="1"/>
          <p:nvPr/>
        </p:nvSpPr>
        <p:spPr>
          <a:xfrm>
            <a:off x="0" y="0"/>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84. How do you handle time zones using the </a:t>
            </a:r>
            <a:r>
              <a:rPr lang="en-US" b="0" i="0" dirty="0" err="1">
                <a:solidFill>
                  <a:srgbClr val="272C37"/>
                </a:solidFill>
                <a:effectLst/>
                <a:latin typeface="Roboto" panose="02000000000000000000" pitchFamily="2" charset="0"/>
              </a:rPr>
              <a:t>java.time</a:t>
            </a:r>
            <a:r>
              <a:rPr lang="en-US" b="0" i="0" dirty="0">
                <a:solidFill>
                  <a:srgbClr val="272C37"/>
                </a:solidFill>
                <a:effectLst/>
                <a:latin typeface="Roboto" panose="02000000000000000000" pitchFamily="2" charset="0"/>
              </a:rPr>
              <a:t> API?</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Java.time</a:t>
            </a:r>
            <a:r>
              <a:rPr lang="en-US" b="0" i="0" dirty="0">
                <a:solidFill>
                  <a:srgbClr val="3A3A3A"/>
                </a:solidFill>
                <a:effectLst/>
                <a:latin typeface="Roboto" panose="02000000000000000000" pitchFamily="2" charset="0"/>
              </a:rPr>
              <a:t> API introduces classes such as </a:t>
            </a: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to manage date and time with zone information support.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2152590-CA3A-9FBD-B266-5BAB992F775D}"/>
              </a:ext>
            </a:extLst>
          </p:cNvPr>
          <p:cNvSpPr txBox="1"/>
          <p:nvPr/>
        </p:nvSpPr>
        <p:spPr>
          <a:xfrm>
            <a:off x="0" y="2652008"/>
            <a:ext cx="4981432" cy="1477328"/>
          </a:xfrm>
          <a:prstGeom prst="rect">
            <a:avLst/>
          </a:prstGeom>
          <a:noFill/>
        </p:spPr>
        <p:txBody>
          <a:bodyPr wrap="square">
            <a:spAutoFit/>
          </a:bodyPr>
          <a:lstStyle/>
          <a:p>
            <a:r>
              <a:rPr lang="en-US" dirty="0"/>
              <a:t>// Get current date and time in Asia/Kolkata </a:t>
            </a:r>
            <a:r>
              <a:rPr lang="en-US" dirty="0" err="1"/>
              <a:t>timezone</a:t>
            </a:r>
            <a:endParaRPr lang="en-US" dirty="0"/>
          </a:p>
          <a:p>
            <a:r>
              <a:rPr lang="en-US" dirty="0" err="1"/>
              <a:t>ZonedDateTime</a:t>
            </a:r>
            <a:r>
              <a:rPr lang="en-US" dirty="0"/>
              <a:t> </a:t>
            </a:r>
            <a:r>
              <a:rPr lang="en-US" dirty="0" err="1"/>
              <a:t>zonedTime</a:t>
            </a:r>
            <a:r>
              <a:rPr lang="en-US" dirty="0"/>
              <a:t> = </a:t>
            </a:r>
            <a:r>
              <a:rPr lang="en-US" dirty="0" err="1"/>
              <a:t>ZonedDateTime.now</a:t>
            </a:r>
            <a:r>
              <a:rPr lang="en-US" dirty="0"/>
              <a:t>(</a:t>
            </a:r>
            <a:r>
              <a:rPr lang="en-US" dirty="0" err="1"/>
              <a:t>ZoneId.of</a:t>
            </a:r>
            <a:r>
              <a:rPr lang="en-US" dirty="0"/>
              <a:t>("Asia/Kolkata"));</a:t>
            </a:r>
          </a:p>
          <a:p>
            <a:r>
              <a:rPr lang="en-US" dirty="0" err="1"/>
              <a:t>System.out.println</a:t>
            </a:r>
            <a:r>
              <a:rPr lang="en-US" dirty="0"/>
              <a:t>(</a:t>
            </a:r>
            <a:r>
              <a:rPr lang="en-US" dirty="0" err="1"/>
              <a:t>zonedTime</a:t>
            </a:r>
            <a:r>
              <a:rPr lang="en-US" dirty="0"/>
              <a:t>);</a:t>
            </a:r>
          </a:p>
        </p:txBody>
      </p:sp>
      <p:sp>
        <p:nvSpPr>
          <p:cNvPr id="7" name="TextBox 6">
            <a:extLst>
              <a:ext uri="{FF2B5EF4-FFF2-40B4-BE49-F238E27FC236}">
                <a16:creationId xmlns:a16="http://schemas.microsoft.com/office/drawing/2014/main" id="{24B6E146-82C0-C63D-29FC-6784F7D0C25E}"/>
              </a:ext>
            </a:extLst>
          </p:cNvPr>
          <p:cNvSpPr txBox="1"/>
          <p:nvPr/>
        </p:nvSpPr>
        <p:spPr>
          <a:xfrm>
            <a:off x="0" y="4129336"/>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Convert Between Time Zones:</a:t>
            </a:r>
            <a:endParaRPr lang="en-US" dirty="0"/>
          </a:p>
        </p:txBody>
      </p:sp>
      <p:sp>
        <p:nvSpPr>
          <p:cNvPr id="9" name="TextBox 8">
            <a:extLst>
              <a:ext uri="{FF2B5EF4-FFF2-40B4-BE49-F238E27FC236}">
                <a16:creationId xmlns:a16="http://schemas.microsoft.com/office/drawing/2014/main" id="{CCA07644-0CAE-42E0-2826-9A8B56108784}"/>
              </a:ext>
            </a:extLst>
          </p:cNvPr>
          <p:cNvSpPr txBox="1"/>
          <p:nvPr/>
        </p:nvSpPr>
        <p:spPr>
          <a:xfrm>
            <a:off x="0" y="4584897"/>
            <a:ext cx="4981432" cy="1477328"/>
          </a:xfrm>
          <a:prstGeom prst="rect">
            <a:avLst/>
          </a:prstGeom>
          <a:noFill/>
        </p:spPr>
        <p:txBody>
          <a:bodyPr wrap="square">
            <a:spAutoFit/>
          </a:bodyPr>
          <a:lstStyle/>
          <a:p>
            <a:r>
              <a:rPr lang="en-US" dirty="0"/>
              <a:t>// Convert to UTC</a:t>
            </a:r>
          </a:p>
          <a:p>
            <a:r>
              <a:rPr lang="en-US" dirty="0" err="1"/>
              <a:t>ZonedDateTime</a:t>
            </a:r>
            <a:r>
              <a:rPr lang="en-US" dirty="0"/>
              <a:t> </a:t>
            </a:r>
            <a:r>
              <a:rPr lang="en-US" dirty="0" err="1"/>
              <a:t>utcTime</a:t>
            </a:r>
            <a:r>
              <a:rPr lang="en-US" dirty="0"/>
              <a:t> = </a:t>
            </a:r>
            <a:r>
              <a:rPr lang="en-US" dirty="0" err="1"/>
              <a:t>zonedTime.withZoneSameInstant</a:t>
            </a:r>
            <a:r>
              <a:rPr lang="en-US" dirty="0"/>
              <a:t>(</a:t>
            </a:r>
            <a:r>
              <a:rPr lang="en-US" dirty="0" err="1"/>
              <a:t>ZoneId.of</a:t>
            </a:r>
            <a:r>
              <a:rPr lang="en-US" dirty="0"/>
              <a:t>("UTC"));</a:t>
            </a:r>
          </a:p>
          <a:p>
            <a:r>
              <a:rPr lang="en-US" dirty="0" err="1"/>
              <a:t>System.out.println</a:t>
            </a:r>
            <a:r>
              <a:rPr lang="en-US" dirty="0"/>
              <a:t>(</a:t>
            </a:r>
            <a:r>
              <a:rPr lang="en-US" dirty="0" err="1"/>
              <a:t>utcTime</a:t>
            </a:r>
            <a:r>
              <a:rPr lang="en-US" dirty="0"/>
              <a:t>);</a:t>
            </a:r>
          </a:p>
        </p:txBody>
      </p:sp>
      <p:sp>
        <p:nvSpPr>
          <p:cNvPr id="11" name="TextBox 10">
            <a:extLst>
              <a:ext uri="{FF2B5EF4-FFF2-40B4-BE49-F238E27FC236}">
                <a16:creationId xmlns:a16="http://schemas.microsoft.com/office/drawing/2014/main" id="{0ADC7916-AAFF-617D-048B-1E31468DE344}"/>
              </a:ext>
            </a:extLst>
          </p:cNvPr>
          <p:cNvSpPr txBox="1"/>
          <p:nvPr/>
        </p:nvSpPr>
        <p:spPr>
          <a:xfrm>
            <a:off x="5165678" y="239369"/>
            <a:ext cx="4981432" cy="252376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Key Classes: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 Represents a time zone (e.g., “America/</a:t>
            </a:r>
            <a:r>
              <a:rPr lang="en-US" b="0" i="0" dirty="0" err="1">
                <a:solidFill>
                  <a:srgbClr val="3A3A3A"/>
                </a:solidFill>
                <a:effectLst/>
                <a:latin typeface="Roboto" panose="02000000000000000000" pitchFamily="2" charset="0"/>
              </a:rPr>
              <a:t>New_York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 Date/time with a time zone</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 Date/time with an offset from UTC</a:t>
            </a:r>
          </a:p>
        </p:txBody>
      </p:sp>
    </p:spTree>
    <p:extLst>
      <p:ext uri="{BB962C8B-B14F-4D97-AF65-F5344CB8AC3E}">
        <p14:creationId xmlns:p14="http://schemas.microsoft.com/office/powerpoint/2010/main" val="34540371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B54671-81AE-43FD-0B91-94C4F0CC3413}"/>
              </a:ext>
            </a:extLst>
          </p:cNvPr>
          <p:cNvSpPr txBox="1"/>
          <p:nvPr/>
        </p:nvSpPr>
        <p:spPr>
          <a:xfrm>
            <a:off x="2477069" y="1090746"/>
            <a:ext cx="4954136" cy="46833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85. List the differences between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LinkedList in Java?</a:t>
            </a:r>
          </a:p>
          <a:p>
            <a:pPr algn="just">
              <a:lnSpc>
                <a:spcPts val="2100"/>
              </a:lnSpc>
              <a:spcBef>
                <a:spcPts val="1650"/>
              </a:spcBef>
              <a:buNone/>
            </a:pP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is a dynamic array that stores elements and supports fast random access. It is better suited for element traversal and frequent access. Conversely, LinkedList is a linked list that stores its elements in the form of nodes, making it very suitable for high-speed insertion and deletion operations. Therefore, it can be useful where there are many additions or removals.</a:t>
            </a:r>
          </a:p>
          <a:p>
            <a:pPr algn="just">
              <a:lnSpc>
                <a:spcPts val="2100"/>
              </a:lnSpc>
              <a:spcBef>
                <a:spcPts val="750"/>
              </a:spcBef>
              <a:buNone/>
            </a:pPr>
            <a:r>
              <a:rPr lang="en-US" b="0" i="0" dirty="0">
                <a:solidFill>
                  <a:srgbClr val="3A3A3A"/>
                </a:solidFill>
                <a:effectLst/>
                <a:latin typeface="Roboto" panose="02000000000000000000" pitchFamily="2" charset="0"/>
              </a:rPr>
              <a:t>If you want fast access and traversal through elements, then use an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otherwise, for fast insertion or deletion of elements, use LinkedList.</a:t>
            </a:r>
          </a:p>
        </p:txBody>
      </p:sp>
    </p:spTree>
    <p:extLst>
      <p:ext uri="{BB962C8B-B14F-4D97-AF65-F5344CB8AC3E}">
        <p14:creationId xmlns:p14="http://schemas.microsoft.com/office/powerpoint/2010/main" val="101582018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F110B-4DBE-0D10-95CF-551A6ED04DD6}"/>
              </a:ext>
            </a:extLst>
          </p:cNvPr>
          <p:cNvSpPr txBox="1"/>
          <p:nvPr/>
        </p:nvSpPr>
        <p:spPr>
          <a:xfrm>
            <a:off x="116007" y="103857"/>
            <a:ext cx="968308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86. Explain the use of copy constructors in Java.</a:t>
            </a:r>
          </a:p>
          <a:p>
            <a:pPr algn="just">
              <a:lnSpc>
                <a:spcPts val="2100"/>
              </a:lnSpc>
              <a:spcBef>
                <a:spcPts val="1650"/>
              </a:spcBef>
              <a:buNone/>
            </a:pPr>
            <a:r>
              <a:rPr lang="en-US" b="0" i="0" dirty="0">
                <a:solidFill>
                  <a:srgbClr val="3A3A3A"/>
                </a:solidFill>
                <a:effectLst/>
                <a:latin typeface="Roboto" panose="02000000000000000000" pitchFamily="2" charset="0"/>
              </a:rPr>
              <a:t>Java does not support a copy constructor. However, you can manually create a copy by assigning the instance variables of one object to another. Below is an example of such a method:</a:t>
            </a:r>
          </a:p>
        </p:txBody>
      </p:sp>
      <p:sp>
        <p:nvSpPr>
          <p:cNvPr id="5" name="TextBox 4">
            <a:extLst>
              <a:ext uri="{FF2B5EF4-FFF2-40B4-BE49-F238E27FC236}">
                <a16:creationId xmlns:a16="http://schemas.microsoft.com/office/drawing/2014/main" id="{73D3B7EE-FA1B-7862-BD99-EFAEFA7F9F1B}"/>
              </a:ext>
            </a:extLst>
          </p:cNvPr>
          <p:cNvSpPr txBox="1"/>
          <p:nvPr/>
        </p:nvSpPr>
        <p:spPr>
          <a:xfrm>
            <a:off x="402609" y="1881962"/>
            <a:ext cx="4954136"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copy_constructor</a:t>
            </a:r>
            <a:r>
              <a:rPr lang="en-US" dirty="0"/>
              <a:t> {</a:t>
            </a:r>
          </a:p>
          <a:p>
            <a:r>
              <a:rPr lang="en-US" dirty="0"/>
              <a:t>    public static void main(String </a:t>
            </a:r>
            <a:r>
              <a:rPr lang="en-US" dirty="0" err="1"/>
              <a:t>args</a:t>
            </a:r>
            <a:r>
              <a:rPr lang="en-US" dirty="0"/>
              <a:t>[]) {</a:t>
            </a:r>
          </a:p>
          <a:p>
            <a:r>
              <a:rPr lang="en-US" dirty="0"/>
              <a:t>        // Creating the first object using parameterized constructor</a:t>
            </a:r>
          </a:p>
          <a:p>
            <a:r>
              <a:rPr lang="en-US" dirty="0"/>
              <a:t>        demo obj = new demo(10, "Ayaan Alam");</a:t>
            </a:r>
          </a:p>
          <a:p>
            <a:endParaRPr lang="en-US" dirty="0"/>
          </a:p>
          <a:p>
            <a:r>
              <a:rPr lang="en-US" dirty="0"/>
              <a:t>        // Creating the second object using copy constructor</a:t>
            </a:r>
          </a:p>
          <a:p>
            <a:r>
              <a:rPr lang="en-US" dirty="0"/>
              <a:t>        demo obj2 = new demo(obj);</a:t>
            </a:r>
          </a:p>
          <a:p>
            <a:endParaRPr lang="en-US" dirty="0"/>
          </a:p>
          <a:p>
            <a:r>
              <a:rPr lang="en-US" dirty="0"/>
              <a:t>        // Displaying both objects</a:t>
            </a:r>
          </a:p>
          <a:p>
            <a:r>
              <a:rPr lang="en-US" dirty="0"/>
              <a:t>        </a:t>
            </a:r>
            <a:r>
              <a:rPr lang="en-US" dirty="0" err="1"/>
              <a:t>obj.display</a:t>
            </a:r>
            <a:r>
              <a:rPr lang="en-US" dirty="0"/>
              <a:t>();</a:t>
            </a:r>
          </a:p>
          <a:p>
            <a:r>
              <a:rPr lang="en-US" dirty="0"/>
              <a:t>        obj2.display();</a:t>
            </a:r>
          </a:p>
          <a:p>
            <a:r>
              <a:rPr lang="en-US" dirty="0"/>
              <a:t>    }</a:t>
            </a:r>
          </a:p>
          <a:p>
            <a:r>
              <a:rPr lang="en-US" dirty="0"/>
              <a:t>}</a:t>
            </a:r>
          </a:p>
          <a:p>
            <a:endParaRPr lang="en-US" dirty="0"/>
          </a:p>
          <a:p>
            <a:r>
              <a:rPr lang="en-US" dirty="0"/>
              <a:t>class demo {</a:t>
            </a:r>
          </a:p>
          <a:p>
            <a:r>
              <a:rPr lang="en-US" dirty="0"/>
              <a:t>    String name;</a:t>
            </a:r>
          </a:p>
          <a:p>
            <a:r>
              <a:rPr lang="en-US" dirty="0"/>
              <a:t>    int </a:t>
            </a:r>
            <a:r>
              <a:rPr lang="en-US" dirty="0" err="1"/>
              <a:t>roll_no</a:t>
            </a:r>
            <a:r>
              <a:rPr lang="en-US" dirty="0"/>
              <a:t>;</a:t>
            </a:r>
          </a:p>
          <a:p>
            <a:endParaRPr lang="en-US" dirty="0"/>
          </a:p>
          <a:p>
            <a:r>
              <a:rPr lang="en-US" dirty="0"/>
              <a:t>    // Constructor to initialize the name and roll number</a:t>
            </a:r>
          </a:p>
          <a:p>
            <a:r>
              <a:rPr lang="en-US" dirty="0"/>
              <a:t>    demo(int x, String y) {</a:t>
            </a:r>
          </a:p>
          <a:p>
            <a:r>
              <a:rPr lang="en-US" dirty="0"/>
              <a:t>        name = y;</a:t>
            </a:r>
          </a:p>
          <a:p>
            <a:r>
              <a:rPr lang="en-US" dirty="0"/>
              <a:t>        </a:t>
            </a:r>
            <a:r>
              <a:rPr lang="en-US" dirty="0" err="1"/>
              <a:t>roll_no</a:t>
            </a:r>
            <a:r>
              <a:rPr lang="en-US" dirty="0"/>
              <a:t> = x;</a:t>
            </a:r>
          </a:p>
          <a:p>
            <a:r>
              <a:rPr lang="en-US" dirty="0"/>
              <a:t>    }</a:t>
            </a:r>
          </a:p>
          <a:p>
            <a:endParaRPr lang="en-US" dirty="0"/>
          </a:p>
          <a:p>
            <a:r>
              <a:rPr lang="en-US" dirty="0"/>
              <a:t>    // Copy constructor to initialize another object's variables</a:t>
            </a:r>
          </a:p>
          <a:p>
            <a:r>
              <a:rPr lang="en-US" dirty="0"/>
              <a:t>    demo(demo </a:t>
            </a:r>
            <a:r>
              <a:rPr lang="en-US" dirty="0" err="1"/>
              <a:t>ob</a:t>
            </a:r>
            <a:r>
              <a:rPr lang="en-US" dirty="0"/>
              <a:t>) {</a:t>
            </a:r>
          </a:p>
          <a:p>
            <a:r>
              <a:rPr lang="en-US" dirty="0"/>
              <a:t>        </a:t>
            </a:r>
            <a:r>
              <a:rPr lang="en-US" dirty="0" err="1"/>
              <a:t>roll_no</a:t>
            </a:r>
            <a:r>
              <a:rPr lang="en-US" dirty="0"/>
              <a:t> = </a:t>
            </a:r>
            <a:r>
              <a:rPr lang="en-US" dirty="0" err="1"/>
              <a:t>ob.roll_no</a:t>
            </a:r>
            <a:r>
              <a:rPr lang="en-US" dirty="0"/>
              <a:t>;</a:t>
            </a:r>
          </a:p>
          <a:p>
            <a:r>
              <a:rPr lang="en-US" dirty="0"/>
              <a:t>        name = ob.name;</a:t>
            </a:r>
          </a:p>
          <a:p>
            <a:r>
              <a:rPr lang="en-US" dirty="0"/>
              <a:t>    }</a:t>
            </a:r>
          </a:p>
          <a:p>
            <a:endParaRPr lang="en-US" dirty="0"/>
          </a:p>
          <a:p>
            <a:r>
              <a:rPr lang="en-US" dirty="0"/>
              <a:t>    void display() {</a:t>
            </a:r>
          </a:p>
          <a:p>
            <a:r>
              <a:rPr lang="en-US" dirty="0"/>
              <a:t>        </a:t>
            </a:r>
            <a:r>
              <a:rPr lang="en-US" dirty="0" err="1"/>
              <a:t>System.out.println</a:t>
            </a:r>
            <a:r>
              <a:rPr lang="en-US" dirty="0"/>
              <a:t>("Name: " + name);</a:t>
            </a:r>
          </a:p>
          <a:p>
            <a:r>
              <a:rPr lang="en-US" dirty="0"/>
              <a:t>        </a:t>
            </a:r>
            <a:r>
              <a:rPr lang="en-US" dirty="0" err="1"/>
              <a:t>System.out.println</a:t>
            </a:r>
            <a:r>
              <a:rPr lang="en-US" dirty="0"/>
              <a:t>("Roll Number: " + </a:t>
            </a:r>
            <a:r>
              <a:rPr lang="en-US" dirty="0" err="1"/>
              <a:t>roll_no</a:t>
            </a:r>
            <a:r>
              <a:rPr lang="en-US" dirty="0"/>
              <a:t>);</a:t>
            </a:r>
          </a:p>
          <a:p>
            <a:r>
              <a:rPr lang="en-US" dirty="0"/>
              <a:t>    }</a:t>
            </a:r>
          </a:p>
          <a:p>
            <a:r>
              <a:rPr lang="en-US" dirty="0"/>
              <a:t>}</a:t>
            </a:r>
          </a:p>
        </p:txBody>
      </p:sp>
    </p:spTree>
    <p:extLst>
      <p:ext uri="{BB962C8B-B14F-4D97-AF65-F5344CB8AC3E}">
        <p14:creationId xmlns:p14="http://schemas.microsoft.com/office/powerpoint/2010/main" val="18148183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A0AFB3-8F23-A886-BE84-67D672162FF1}"/>
              </a:ext>
            </a:extLst>
          </p:cNvPr>
          <p:cNvSpPr txBox="1"/>
          <p:nvPr/>
        </p:nvSpPr>
        <p:spPr>
          <a:xfrm>
            <a:off x="0" y="0"/>
            <a:ext cx="847526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87. List the differences between aggregation and composition.</a:t>
            </a:r>
          </a:p>
          <a:p>
            <a:pPr algn="just">
              <a:lnSpc>
                <a:spcPts val="2100"/>
              </a:lnSpc>
              <a:spcBef>
                <a:spcPts val="1650"/>
              </a:spcBef>
              <a:buNone/>
            </a:pPr>
            <a:r>
              <a:rPr lang="en-US" b="0" i="0" dirty="0">
                <a:solidFill>
                  <a:srgbClr val="3A3A3A"/>
                </a:solidFill>
                <a:effectLst/>
                <a:latin typeface="Roboto" panose="02000000000000000000" pitchFamily="2" charset="0"/>
              </a:rPr>
              <a:t>Below are the key differences between aggregation and composition in Java:</a:t>
            </a:r>
          </a:p>
        </p:txBody>
      </p:sp>
      <p:graphicFrame>
        <p:nvGraphicFramePr>
          <p:cNvPr id="4" name="Table 3">
            <a:extLst>
              <a:ext uri="{FF2B5EF4-FFF2-40B4-BE49-F238E27FC236}">
                <a16:creationId xmlns:a16="http://schemas.microsoft.com/office/drawing/2014/main" id="{46968C99-F89F-74CB-2A1D-D441CDB2327B}"/>
              </a:ext>
            </a:extLst>
          </p:cNvPr>
          <p:cNvGraphicFramePr>
            <a:graphicFrameLocks noGrp="1"/>
          </p:cNvGraphicFramePr>
          <p:nvPr>
            <p:extLst>
              <p:ext uri="{D42A27DB-BD31-4B8C-83A1-F6EECF244321}">
                <p14:modId xmlns:p14="http://schemas.microsoft.com/office/powerpoint/2010/main" val="2139466990"/>
              </p:ext>
            </p:extLst>
          </p:nvPr>
        </p:nvGraphicFramePr>
        <p:xfrm>
          <a:off x="271605" y="1295626"/>
          <a:ext cx="8543924" cy="3200400"/>
        </p:xfrm>
        <a:graphic>
          <a:graphicData uri="http://schemas.openxmlformats.org/drawingml/2006/table">
            <a:tbl>
              <a:tblPr/>
              <a:tblGrid>
                <a:gridCol w="4271962">
                  <a:extLst>
                    <a:ext uri="{9D8B030D-6E8A-4147-A177-3AD203B41FA5}">
                      <a16:colId xmlns:a16="http://schemas.microsoft.com/office/drawing/2014/main" val="4202785081"/>
                    </a:ext>
                  </a:extLst>
                </a:gridCol>
                <a:gridCol w="4271962">
                  <a:extLst>
                    <a:ext uri="{9D8B030D-6E8A-4147-A177-3AD203B41FA5}">
                      <a16:colId xmlns:a16="http://schemas.microsoft.com/office/drawing/2014/main" val="3355887904"/>
                    </a:ext>
                  </a:extLst>
                </a:gridCol>
              </a:tblGrid>
              <a:tr h="365760">
                <a:tc>
                  <a:txBody>
                    <a:bodyPr/>
                    <a:lstStyle/>
                    <a:p>
                      <a:pPr algn="ctr" fontAlgn="t">
                        <a:buNone/>
                      </a:pPr>
                      <a:r>
                        <a:rPr lang="en-US" sz="1800" b="0">
                          <a:solidFill>
                            <a:srgbClr val="FFFFFF"/>
                          </a:solidFill>
                          <a:effectLst/>
                        </a:rPr>
                        <a:t>Aggregation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dirty="0">
                          <a:solidFill>
                            <a:srgbClr val="FFFFFF"/>
                          </a:solidFill>
                          <a:effectLst/>
                        </a:rPr>
                        <a:t>Composition</a:t>
                      </a:r>
                      <a:endParaRPr lang="en-US" sz="1800"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69214660"/>
                  </a:ext>
                </a:extLst>
              </a:tr>
              <a:tr h="640080">
                <a:tc>
                  <a:txBody>
                    <a:bodyPr/>
                    <a:lstStyle/>
                    <a:p>
                      <a:pPr fontAlgn="t">
                        <a:buNone/>
                      </a:pPr>
                      <a:r>
                        <a:rPr lang="en-US" sz="1800">
                          <a:effectLst/>
                        </a:rPr>
                        <a:t>The parent class has a one-way relationship with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In composition, the parent class owns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0165188"/>
                  </a:ext>
                </a:extLst>
              </a:tr>
              <a:tr h="914400">
                <a:tc>
                  <a:txBody>
                    <a:bodyPr/>
                    <a:lstStyle/>
                    <a:p>
                      <a:pPr fontAlgn="t">
                        <a:buNone/>
                      </a:pPr>
                      <a:r>
                        <a:rPr lang="en-US" sz="1800">
                          <a:effectLst/>
                        </a:rPr>
                        <a:t>Aggregation is denoted by an empty diamond in UML (Unified Modeling Language)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Denoted by a filled diamond in the UML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05899356"/>
                  </a:ext>
                </a:extLst>
              </a:tr>
              <a:tr h="365760">
                <a:tc>
                  <a:txBody>
                    <a:bodyPr/>
                    <a:lstStyle/>
                    <a:p>
                      <a:pPr fontAlgn="t">
                        <a:buNone/>
                      </a:pPr>
                      <a:r>
                        <a:rPr lang="en-US" sz="1800">
                          <a:effectLst/>
                        </a:rPr>
                        <a:t>Child class has its own life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Child class doesn’t have a lifetime.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90044103"/>
                  </a:ext>
                </a:extLst>
              </a:tr>
              <a:tr h="914400">
                <a:tc>
                  <a:txBody>
                    <a:bodyPr/>
                    <a:lstStyle/>
                    <a:p>
                      <a:pPr fontAlgn="t">
                        <a:buNone/>
                      </a:pPr>
                      <a:r>
                        <a:rPr lang="en-US" sz="1800" b="0" u="none" strike="noStrike">
                          <a:solidFill>
                            <a:srgbClr val="0F5A9E"/>
                          </a:solidFill>
                          <a:effectLst/>
                          <a:hlinkClick r:id="rId2"/>
                        </a:rPr>
                        <a:t>Aggregation</a:t>
                      </a:r>
                      <a:r>
                        <a:rPr lang="en-US" sz="1800">
                          <a:effectLst/>
                        </a:rPr>
                        <a:t> is a weak relationship. For example, a bike with an indicator is aggregation.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Composition is a stronger relationship. For example, a bike with an engine is a composition.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73678919"/>
                  </a:ext>
                </a:extLst>
              </a:tr>
            </a:tbl>
          </a:graphicData>
        </a:graphic>
      </p:graphicFrame>
    </p:spTree>
    <p:extLst>
      <p:ext uri="{BB962C8B-B14F-4D97-AF65-F5344CB8AC3E}">
        <p14:creationId xmlns:p14="http://schemas.microsoft.com/office/powerpoint/2010/main" val="23590527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79BF0-FE71-0373-B57A-7ED6995986C1}"/>
              </a:ext>
            </a:extLst>
          </p:cNvPr>
          <p:cNvSpPr txBox="1"/>
          <p:nvPr/>
        </p:nvSpPr>
        <p:spPr>
          <a:xfrm>
            <a:off x="116006" y="133587"/>
            <a:ext cx="9789994" cy="267765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88. Explain the purpose of object cloning in Java.</a:t>
            </a:r>
          </a:p>
          <a:p>
            <a:pPr algn="just">
              <a:lnSpc>
                <a:spcPts val="2100"/>
              </a:lnSpc>
              <a:spcBef>
                <a:spcPts val="1650"/>
              </a:spcBef>
              <a:buNone/>
            </a:pPr>
            <a:r>
              <a:rPr lang="en-US" b="0" i="0" dirty="0">
                <a:solidFill>
                  <a:srgbClr val="3A3A3A"/>
                </a:solidFill>
                <a:effectLst/>
                <a:latin typeface="Roboto" panose="02000000000000000000" pitchFamily="2" charset="0"/>
              </a:rPr>
              <a:t>Object cloning means creating the exact copy of an existing object. In java programming, object cloning can be done using the clone() method. To create the object clone, you should implement the </a:t>
            </a:r>
            <a:r>
              <a:rPr lang="en-US" b="0" i="0" dirty="0" err="1">
                <a:solidFill>
                  <a:srgbClr val="3A3A3A"/>
                </a:solidFill>
                <a:effectLst/>
                <a:latin typeface="Roboto" panose="02000000000000000000" pitchFamily="2" charset="0"/>
              </a:rPr>
              <a:t>java.lang.Cloneable</a:t>
            </a:r>
            <a:r>
              <a:rPr lang="en-US" b="0" i="0" dirty="0">
                <a:solidFill>
                  <a:srgbClr val="3A3A3A"/>
                </a:solidFill>
                <a:effectLst/>
                <a:latin typeface="Roboto" panose="02000000000000000000" pitchFamily="2" charset="0"/>
              </a:rPr>
              <a:t> interface, otherwise the clone() method generates a </a:t>
            </a:r>
            <a:r>
              <a:rPr lang="en-US" b="0" i="0" dirty="0" err="1">
                <a:solidFill>
                  <a:srgbClr val="3A3A3A"/>
                </a:solidFill>
                <a:effectLst/>
                <a:latin typeface="Roboto" panose="02000000000000000000" pitchFamily="2" charset="0"/>
              </a:rPr>
              <a:t>CloneNotSupportException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the clone method is:</a:t>
            </a:r>
          </a:p>
          <a:p>
            <a:pPr algn="l">
              <a:spcBef>
                <a:spcPts val="1125"/>
              </a:spcBef>
              <a:spcAft>
                <a:spcPts val="375"/>
              </a:spcAft>
              <a:buNone/>
            </a:pPr>
            <a:r>
              <a:rPr lang="en-US" b="0" i="0" dirty="0">
                <a:solidFill>
                  <a:srgbClr val="212529"/>
                </a:solidFill>
                <a:effectLst/>
                <a:latin typeface="Courier New" panose="02070309020205020404" pitchFamily="49" charset="0"/>
              </a:rPr>
              <a:t>protected Object clone() throws </a:t>
            </a:r>
            <a:r>
              <a:rPr lang="en-US" b="0" i="0" dirty="0" err="1">
                <a:solidFill>
                  <a:srgbClr val="212529"/>
                </a:solidFill>
                <a:effectLst/>
                <a:latin typeface="Courier New" panose="02070309020205020404" pitchFamily="49" charset="0"/>
              </a:rPr>
              <a:t>CloneNotSupportedException</a:t>
            </a:r>
            <a:endParaRPr lang="en-US" b="0" i="0" dirty="0">
              <a:solidFill>
                <a:srgbClr val="212529"/>
              </a:solidFill>
              <a:effectLst/>
              <a:latin typeface="Courier New" panose="02070309020205020404" pitchFamily="49" charset="0"/>
            </a:endParaRPr>
          </a:p>
        </p:txBody>
      </p:sp>
    </p:spTree>
    <p:extLst>
      <p:ext uri="{BB962C8B-B14F-4D97-AF65-F5344CB8AC3E}">
        <p14:creationId xmlns:p14="http://schemas.microsoft.com/office/powerpoint/2010/main" val="2903561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B83B2D-C018-C5AB-AA4E-0BE10F547A02}"/>
              </a:ext>
            </a:extLst>
          </p:cNvPr>
          <p:cNvSpPr txBox="1"/>
          <p:nvPr/>
        </p:nvSpPr>
        <p:spPr>
          <a:xfrm>
            <a:off x="109181" y="105991"/>
            <a:ext cx="9689911" cy="34265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89. Explain various exception handling keywords in Java.</a:t>
            </a:r>
          </a:p>
          <a:p>
            <a:pPr algn="just">
              <a:lnSpc>
                <a:spcPts val="2100"/>
              </a:lnSpc>
              <a:spcBef>
                <a:spcPts val="1650"/>
              </a:spcBef>
              <a:buNone/>
            </a:pPr>
            <a:r>
              <a:rPr lang="en-US" b="0" i="0" dirty="0">
                <a:solidFill>
                  <a:srgbClr val="3A3A3A"/>
                </a:solidFill>
                <a:effectLst/>
                <a:latin typeface="Roboto" panose="02000000000000000000" pitchFamily="2" charset="0"/>
              </a:rPr>
              <a:t>Java has three exception handling keywords: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try: Whenever a code segment has a chance of an error or any abnormality, it can be placed inside the try block. In case of any error, the try block will send the exception to the catch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catch: Catch handles the exception generated in the try block. It comes after the try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final keyword ensures that the segments execute despite the errors and exceptions processed by the try &amp; catch block. The final keyword comes either after the try block or both the try and the catch block.</a:t>
            </a:r>
          </a:p>
        </p:txBody>
      </p:sp>
    </p:spTree>
    <p:extLst>
      <p:ext uri="{BB962C8B-B14F-4D97-AF65-F5344CB8AC3E}">
        <p14:creationId xmlns:p14="http://schemas.microsoft.com/office/powerpoint/2010/main" val="188276075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E32450-3EFE-25C1-2509-B6B7FF4CB65C}"/>
              </a:ext>
            </a:extLst>
          </p:cNvPr>
          <p:cNvSpPr txBox="1"/>
          <p:nvPr/>
        </p:nvSpPr>
        <p:spPr>
          <a:xfrm>
            <a:off x="-1" y="155377"/>
            <a:ext cx="908940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90. List the differences between this() and super() keywords in Java.</a:t>
            </a:r>
          </a:p>
        </p:txBody>
      </p:sp>
      <p:graphicFrame>
        <p:nvGraphicFramePr>
          <p:cNvPr id="4" name="Table 3">
            <a:extLst>
              <a:ext uri="{FF2B5EF4-FFF2-40B4-BE49-F238E27FC236}">
                <a16:creationId xmlns:a16="http://schemas.microsoft.com/office/drawing/2014/main" id="{E43EB572-824D-050E-3239-9D3D364B9717}"/>
              </a:ext>
            </a:extLst>
          </p:cNvPr>
          <p:cNvGraphicFramePr>
            <a:graphicFrameLocks noGrp="1"/>
          </p:cNvGraphicFramePr>
          <p:nvPr>
            <p:extLst>
              <p:ext uri="{D42A27DB-BD31-4B8C-83A1-F6EECF244321}">
                <p14:modId xmlns:p14="http://schemas.microsoft.com/office/powerpoint/2010/main" val="3068256413"/>
              </p:ext>
            </p:extLst>
          </p:nvPr>
        </p:nvGraphicFramePr>
        <p:xfrm>
          <a:off x="545484" y="784517"/>
          <a:ext cx="8543924" cy="2011680"/>
        </p:xfrm>
        <a:graphic>
          <a:graphicData uri="http://schemas.openxmlformats.org/drawingml/2006/table">
            <a:tbl>
              <a:tblPr/>
              <a:tblGrid>
                <a:gridCol w="4271962">
                  <a:extLst>
                    <a:ext uri="{9D8B030D-6E8A-4147-A177-3AD203B41FA5}">
                      <a16:colId xmlns:a16="http://schemas.microsoft.com/office/drawing/2014/main" val="3020083198"/>
                    </a:ext>
                  </a:extLst>
                </a:gridCol>
                <a:gridCol w="4271962">
                  <a:extLst>
                    <a:ext uri="{9D8B030D-6E8A-4147-A177-3AD203B41FA5}">
                      <a16:colId xmlns:a16="http://schemas.microsoft.com/office/drawing/2014/main" val="1878425829"/>
                    </a:ext>
                  </a:extLst>
                </a:gridCol>
              </a:tblGrid>
              <a:tr h="365760">
                <a:tc>
                  <a:txBody>
                    <a:bodyPr/>
                    <a:lstStyle/>
                    <a:p>
                      <a:pPr algn="ctr" fontAlgn="t">
                        <a:buNone/>
                      </a:pPr>
                      <a:r>
                        <a:rPr lang="en-US" sz="1800" b="0">
                          <a:solidFill>
                            <a:srgbClr val="FFFFFF"/>
                          </a:solidFill>
                          <a:effectLst/>
                        </a:rPr>
                        <a:t>this()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super()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19455125"/>
                  </a:ext>
                </a:extLst>
              </a:tr>
              <a:tr h="640080">
                <a:tc>
                  <a:txBody>
                    <a:bodyPr/>
                    <a:lstStyle/>
                    <a:p>
                      <a:pPr fontAlgn="t">
                        <a:buNone/>
                      </a:pPr>
                      <a:r>
                        <a:rPr lang="en-US" sz="1800">
                          <a:effectLst/>
                        </a:rPr>
                        <a:t>Represents the present instance of a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Represents the current instance of the parent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80892839"/>
                  </a:ext>
                </a:extLst>
              </a:tr>
              <a:tr h="365760">
                <a:tc>
                  <a:txBody>
                    <a:bodyPr/>
                    <a:lstStyle/>
                    <a:p>
                      <a:pPr fontAlgn="t">
                        <a:buNone/>
                      </a:pPr>
                      <a:r>
                        <a:rPr lang="en-US" sz="1800">
                          <a:effectLst/>
                        </a:rPr>
                        <a:t>Calls the default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Calls the base class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06384200"/>
                  </a:ext>
                </a:extLst>
              </a:tr>
              <a:tr h="640080">
                <a:tc>
                  <a:txBody>
                    <a:bodyPr/>
                    <a:lstStyle/>
                    <a:p>
                      <a:pPr fontAlgn="t">
                        <a:buNone/>
                      </a:pPr>
                      <a:r>
                        <a:rPr lang="en-US" sz="1800">
                          <a:effectLst/>
                        </a:rPr>
                        <a:t>Used to point to the current class instance.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to point to the instance of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9721654"/>
                  </a:ext>
                </a:extLst>
              </a:tr>
            </a:tbl>
          </a:graphicData>
        </a:graphic>
      </p:graphicFrame>
    </p:spTree>
    <p:extLst>
      <p:ext uri="{BB962C8B-B14F-4D97-AF65-F5344CB8AC3E}">
        <p14:creationId xmlns:p14="http://schemas.microsoft.com/office/powerpoint/2010/main" val="222741363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48D1B7-35F8-0763-9A46-403D1ACC6BDF}"/>
              </a:ext>
            </a:extLst>
          </p:cNvPr>
          <p:cNvSpPr txBox="1"/>
          <p:nvPr/>
        </p:nvSpPr>
        <p:spPr>
          <a:xfrm>
            <a:off x="0" y="0"/>
            <a:ext cx="9906000"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91. Is it possible to import the same package/class twice? Will the JVM load the package twice at runtime?</a:t>
            </a:r>
          </a:p>
          <a:p>
            <a:pPr algn="just">
              <a:lnSpc>
                <a:spcPts val="2100"/>
              </a:lnSpc>
              <a:spcBef>
                <a:spcPts val="1650"/>
              </a:spcBef>
              <a:buNone/>
            </a:pPr>
            <a:r>
              <a:rPr lang="en-US" b="0" i="0" dirty="0">
                <a:solidFill>
                  <a:srgbClr val="3A3A3A"/>
                </a:solidFill>
                <a:effectLst/>
                <a:latin typeface="Roboto" panose="02000000000000000000" pitchFamily="2" charset="0"/>
              </a:rPr>
              <a:t>A package or class can be inherited multiple times in a program code. JVM and compiler don’t create any issue. Moreover, JVM automatically loads the class internally once, regardless of times it is called in the program.</a:t>
            </a:r>
          </a:p>
        </p:txBody>
      </p:sp>
    </p:spTree>
    <p:extLst>
      <p:ext uri="{BB962C8B-B14F-4D97-AF65-F5344CB8AC3E}">
        <p14:creationId xmlns:p14="http://schemas.microsoft.com/office/powerpoint/2010/main" val="7536260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D7D318-7279-DE8F-4B9C-9AB4D845A630}"/>
              </a:ext>
            </a:extLst>
          </p:cNvPr>
          <p:cNvSpPr txBox="1"/>
          <p:nvPr/>
        </p:nvSpPr>
        <p:spPr>
          <a:xfrm>
            <a:off x="258170" y="172938"/>
            <a:ext cx="9389660"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92. List the differences between HashMap and </a:t>
            </a:r>
            <a:r>
              <a:rPr lang="en-US" b="0" i="0" dirty="0" err="1">
                <a:solidFill>
                  <a:srgbClr val="272C37"/>
                </a:solidFill>
                <a:effectLst/>
                <a:latin typeface="Roboto" panose="02000000000000000000" pitchFamily="2" charset="0"/>
              </a:rPr>
              <a:t>HashTable</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HashMap 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are used to save key/value pairs, but with some differences:</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does not have a synchronization feature, making it not thread-safe, while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 allows null keys as well as values, but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 not allow any null key or value.</a:t>
            </a:r>
          </a:p>
          <a:p>
            <a:pPr algn="just">
              <a:lnSpc>
                <a:spcPts val="2100"/>
              </a:lnSpc>
              <a:spcBef>
                <a:spcPts val="1650"/>
              </a:spcBef>
              <a:buNone/>
            </a:pPr>
            <a:r>
              <a:rPr lang="en-US" b="0" i="0" dirty="0">
                <a:solidFill>
                  <a:srgbClr val="3A3A3A"/>
                </a:solidFill>
                <a:effectLst/>
                <a:latin typeface="Roboto" panose="02000000000000000000" pitchFamily="2" charset="0"/>
              </a:rPr>
              <a:t>Generally, HashMap is preferred in non-thread-safe scenarios where performance is important; on the other hand,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is recommended for multi-threaded environments where thread safety is required.</a:t>
            </a:r>
          </a:p>
        </p:txBody>
      </p:sp>
    </p:spTree>
    <p:extLst>
      <p:ext uri="{BB962C8B-B14F-4D97-AF65-F5344CB8AC3E}">
        <p14:creationId xmlns:p14="http://schemas.microsoft.com/office/powerpoint/2010/main" val="17286601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282ADA-1693-14FF-11BF-BD4496DDD99C}"/>
              </a:ext>
            </a:extLst>
          </p:cNvPr>
          <p:cNvSpPr txBox="1"/>
          <p:nvPr/>
        </p:nvSpPr>
        <p:spPr>
          <a:xfrm>
            <a:off x="2477069" y="270008"/>
            <a:ext cx="4954136" cy="63248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93. Explain the use of access modifiers in Java.</a:t>
            </a:r>
          </a:p>
          <a:p>
            <a:pPr algn="just">
              <a:lnSpc>
                <a:spcPts val="2100"/>
              </a:lnSpc>
              <a:spcBef>
                <a:spcPts val="1650"/>
              </a:spcBef>
              <a:buNone/>
            </a:pPr>
            <a:r>
              <a:rPr lang="en-US" b="0" i="0" dirty="0">
                <a:solidFill>
                  <a:srgbClr val="3A3A3A"/>
                </a:solidFill>
                <a:effectLst/>
                <a:latin typeface="Roboto" panose="02000000000000000000" pitchFamily="2" charset="0"/>
              </a:rPr>
              <a:t>Public, protected, default (no modifier), and private are four access modifiers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Public: access from anywhere.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Protected: access to the same package or other packages (subclasses).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(no modifier): Only access in the created package.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No one else but the declaring class will be able to obtain it.</a:t>
            </a:r>
          </a:p>
          <a:p>
            <a:pPr algn="just">
              <a:lnSpc>
                <a:spcPts val="2100"/>
              </a:lnSpc>
              <a:spcBef>
                <a:spcPts val="1650"/>
              </a:spcBef>
              <a:buNone/>
            </a:pPr>
            <a:r>
              <a:rPr lang="en-US" b="0" i="0" dirty="0">
                <a:solidFill>
                  <a:srgbClr val="3A3A3A"/>
                </a:solidFill>
                <a:effectLst/>
                <a:latin typeface="Roboto" panose="02000000000000000000" pitchFamily="2" charset="0"/>
              </a:rPr>
              <a:t>Use public if you want your member to be accessed from anywhere, protected when you wish to restrict access to subclasses and classes within the same package, default when you want access at the package level, and private when you only want access within the declaring class.</a:t>
            </a:r>
          </a:p>
        </p:txBody>
      </p:sp>
    </p:spTree>
    <p:extLst>
      <p:ext uri="{BB962C8B-B14F-4D97-AF65-F5344CB8AC3E}">
        <p14:creationId xmlns:p14="http://schemas.microsoft.com/office/powerpoint/2010/main" val="20082233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435271-3539-2C25-7F21-15513BBD800D}"/>
              </a:ext>
            </a:extLst>
          </p:cNvPr>
          <p:cNvSpPr txBox="1"/>
          <p:nvPr/>
        </p:nvSpPr>
        <p:spPr>
          <a:xfrm>
            <a:off x="266132" y="174725"/>
            <a:ext cx="4954136" cy="3485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94. What is the difference between static loading and dynamic class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loading: In static loading, classes are loaded statically with the operator ‘new.’</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class loading: It is a technique for programmatically invoking the functions of a class loader at runtime. The syntax for this is as follows:</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 (Test </a:t>
            </a:r>
            <a:r>
              <a:rPr lang="en-US" b="0" i="0" dirty="0" err="1">
                <a:solidFill>
                  <a:srgbClr val="212529"/>
                </a:solidFill>
                <a:effectLst/>
                <a:latin typeface="Courier New" panose="02070309020205020404" pitchFamily="49" charset="0"/>
              </a:rPr>
              <a:t>className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5299871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6A7F77-0B4B-E705-59D7-598C40C3ED8F}"/>
              </a:ext>
            </a:extLst>
          </p:cNvPr>
          <p:cNvSpPr txBox="1"/>
          <p:nvPr/>
        </p:nvSpPr>
        <p:spPr>
          <a:xfrm>
            <a:off x="388962" y="223036"/>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95. What methods are available in Java to find the actual size of an object on the heap?</a:t>
            </a:r>
          </a:p>
          <a:p>
            <a:pPr algn="just">
              <a:lnSpc>
                <a:spcPts val="2100"/>
              </a:lnSpc>
              <a:spcBef>
                <a:spcPts val="1650"/>
              </a:spcBef>
              <a:buNone/>
            </a:pPr>
            <a:r>
              <a:rPr lang="en-US" b="0" i="0" dirty="0">
                <a:solidFill>
                  <a:srgbClr val="3A3A3A"/>
                </a:solidFill>
                <a:effectLst/>
                <a:latin typeface="Roboto" panose="02000000000000000000" pitchFamily="2" charset="0"/>
              </a:rPr>
              <a:t>In the Java programming language, you cannot accurately determine the exact size of an object located in the heap.</a:t>
            </a:r>
          </a:p>
        </p:txBody>
      </p:sp>
    </p:spTree>
    <p:extLst>
      <p:ext uri="{BB962C8B-B14F-4D97-AF65-F5344CB8AC3E}">
        <p14:creationId xmlns:p14="http://schemas.microsoft.com/office/powerpoint/2010/main" val="119127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7F99D-BFC5-5BDB-2165-B759A9E0A8CC}"/>
              </a:ext>
            </a:extLst>
          </p:cNvPr>
          <p:cNvSpPr txBox="1"/>
          <p:nvPr/>
        </p:nvSpPr>
        <p:spPr>
          <a:xfrm>
            <a:off x="197892" y="276130"/>
            <a:ext cx="9510215" cy="3978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96. Explain the difference between transient and volatile keywords in Java.</a:t>
            </a:r>
          </a:p>
          <a:p>
            <a:pPr algn="just">
              <a:lnSpc>
                <a:spcPts val="2100"/>
              </a:lnSpc>
              <a:spcBef>
                <a:spcPts val="1650"/>
              </a:spcBef>
              <a:buNone/>
            </a:pPr>
            <a:r>
              <a:rPr lang="en-US" b="0" i="0" dirty="0">
                <a:solidFill>
                  <a:srgbClr val="3A3A3A"/>
                </a:solidFill>
                <a:effectLst/>
                <a:latin typeface="Roboto" panose="02000000000000000000" pitchFamily="2" charset="0"/>
              </a:rPr>
              <a:t>Transient: In Java, it is used to specify whether a variable is not being serialized. </a:t>
            </a:r>
            <a:r>
              <a:rPr lang="en-US" b="0" i="0" u="none" strike="noStrike" dirty="0">
                <a:solidFill>
                  <a:srgbClr val="0F5A9E"/>
                </a:solidFill>
                <a:effectLst/>
                <a:latin typeface="Roboto" panose="02000000000000000000" pitchFamily="2" charset="0"/>
                <a:hlinkClick r:id="rId2"/>
              </a:rPr>
              <a:t>Serialization</a:t>
            </a:r>
            <a:r>
              <a:rPr lang="en-US" b="0" i="0" dirty="0">
                <a:solidFill>
                  <a:srgbClr val="3A3A3A"/>
                </a:solidFill>
                <a:effectLst/>
                <a:latin typeface="Roboto" panose="02000000000000000000" pitchFamily="2" charset="0"/>
              </a:rPr>
              <a:t> is a process of saving an object’s state in Java. When we want to persist the object’s state by default, all instance variables in the object are stored. In some cases, we want to avoid persisting a few variables because you don’t have the necessity to transfer across the network. So, you can declare those variables as transient.</a:t>
            </a:r>
          </a:p>
          <a:p>
            <a:pPr algn="just">
              <a:lnSpc>
                <a:spcPts val="2100"/>
              </a:lnSpc>
              <a:spcBef>
                <a:spcPts val="750"/>
              </a:spcBef>
              <a:buNone/>
            </a:pPr>
            <a:r>
              <a:rPr lang="en-US" b="0" i="0" dirty="0">
                <a:solidFill>
                  <a:srgbClr val="3A3A3A"/>
                </a:solidFill>
                <a:effectLst/>
                <a:latin typeface="Roboto" panose="02000000000000000000" pitchFamily="2" charset="0"/>
              </a:rPr>
              <a:t>If the variable is confirmed as transient, then it will not be persisted. The transient keyword is used with the instance variable that will not participate in the serialization process. We cannot use static with a transient variable as they are part of the instance variable.</a:t>
            </a:r>
          </a:p>
          <a:p>
            <a:pPr algn="just">
              <a:lnSpc>
                <a:spcPts val="2100"/>
              </a:lnSpc>
              <a:spcBef>
                <a:spcPts val="750"/>
              </a:spcBef>
              <a:buNone/>
            </a:pPr>
            <a:r>
              <a:rPr lang="en-US" b="0" i="0" dirty="0">
                <a:solidFill>
                  <a:srgbClr val="3A3A3A"/>
                </a:solidFill>
                <a:effectLst/>
                <a:latin typeface="Roboto" panose="02000000000000000000" pitchFamily="2" charset="0"/>
              </a:rPr>
              <a:t>Volatile: The volatile keyword is used with only one variable in Java, and it guarantees that the value of the volatile variable will always be read from the main memory and not from the thread’s local cache; it can be static.</a:t>
            </a:r>
          </a:p>
        </p:txBody>
      </p:sp>
    </p:spTree>
    <p:extLst>
      <p:ext uri="{BB962C8B-B14F-4D97-AF65-F5344CB8AC3E}">
        <p14:creationId xmlns:p14="http://schemas.microsoft.com/office/powerpoint/2010/main" val="20203731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B3D159-5EF9-C31E-AC34-E537B9F01977}"/>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97. What is the use of synchronized blocks?</a:t>
            </a:r>
          </a:p>
          <a:p>
            <a:pPr algn="just">
              <a:lnSpc>
                <a:spcPts val="2100"/>
              </a:lnSpc>
              <a:spcBef>
                <a:spcPts val="1650"/>
              </a:spcBef>
              <a:buNone/>
            </a:pPr>
            <a:r>
              <a:rPr lang="en-US" b="0" i="0" dirty="0">
                <a:solidFill>
                  <a:srgbClr val="3A3A3A"/>
                </a:solidFill>
                <a:effectLst/>
                <a:latin typeface="Roboto" panose="02000000000000000000" pitchFamily="2" charset="0"/>
              </a:rPr>
              <a:t>The synchronized block in Java is used to provide exclusive access to shared resources by locking a specific object. It helps prevent thread interference and ensures thread safety when multiple threads access the same resource. Unlike synchronized methods, the scope of a synchronized block is limited to a specific section of code, offering more fine-grained control over synchronization.</a:t>
            </a:r>
          </a:p>
        </p:txBody>
      </p:sp>
    </p:spTree>
    <p:extLst>
      <p:ext uri="{BB962C8B-B14F-4D97-AF65-F5344CB8AC3E}">
        <p14:creationId xmlns:p14="http://schemas.microsoft.com/office/powerpoint/2010/main" val="40490989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FF8E74-C06C-F626-A6D2-E83D9B4FA187}"/>
              </a:ext>
            </a:extLst>
          </p:cNvPr>
          <p:cNvSpPr txBox="1"/>
          <p:nvPr/>
        </p:nvSpPr>
        <p:spPr>
          <a:xfrm>
            <a:off x="129654" y="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98. What is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Java interface is a completely abstract class referred to as a collection of abstract methods, static methods, and constants. It acts as a blueprint of a class that groups related methods or functions with empty bodies.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java interface:</a:t>
            </a:r>
          </a:p>
        </p:txBody>
      </p:sp>
      <p:sp>
        <p:nvSpPr>
          <p:cNvPr id="5" name="TextBox 4">
            <a:extLst>
              <a:ext uri="{FF2B5EF4-FFF2-40B4-BE49-F238E27FC236}">
                <a16:creationId xmlns:a16="http://schemas.microsoft.com/office/drawing/2014/main" id="{36851F47-0016-1DFF-2F90-C654D148101A}"/>
              </a:ext>
            </a:extLst>
          </p:cNvPr>
          <p:cNvSpPr txBox="1"/>
          <p:nvPr/>
        </p:nvSpPr>
        <p:spPr>
          <a:xfrm>
            <a:off x="757451" y="2723318"/>
            <a:ext cx="4954136" cy="3970318"/>
          </a:xfrm>
          <a:prstGeom prst="rect">
            <a:avLst/>
          </a:prstGeom>
          <a:noFill/>
        </p:spPr>
        <p:txBody>
          <a:bodyPr wrap="square">
            <a:spAutoFit/>
          </a:bodyPr>
          <a:lstStyle/>
          <a:p>
            <a:r>
              <a:rPr lang="en-US" dirty="0"/>
              <a:t>import java.io.*;class </a:t>
            </a:r>
            <a:r>
              <a:rPr lang="en-US" dirty="0" err="1"/>
              <a:t>impx</a:t>
            </a:r>
            <a:r>
              <a:rPr lang="en-US" dirty="0"/>
              <a:t> implements x { // Class '</a:t>
            </a:r>
            <a:r>
              <a:rPr lang="en-US" dirty="0" err="1"/>
              <a:t>impx</a:t>
            </a:r>
            <a:r>
              <a:rPr lang="en-US" dirty="0"/>
              <a:t>' implements interface 'x'    // Implementing abstract method from the interface    public void pr() {        </a:t>
            </a:r>
            <a:r>
              <a:rPr lang="en-US" dirty="0" err="1"/>
              <a:t>System.out.println</a:t>
            </a:r>
            <a:r>
              <a:rPr lang="en-US" dirty="0"/>
              <a:t>("Hello World");    }    public static void main(String </a:t>
            </a:r>
            <a:r>
              <a:rPr lang="en-US" dirty="0" err="1"/>
              <a:t>args</a:t>
            </a:r>
            <a:r>
              <a:rPr lang="en-US" dirty="0"/>
              <a:t>[]) {        // Interface reference pointing to implementing class object        x </a:t>
            </a:r>
            <a:r>
              <a:rPr lang="en-US" dirty="0" err="1"/>
              <a:t>ob</a:t>
            </a:r>
            <a:r>
              <a:rPr lang="en-US" dirty="0"/>
              <a:t> = new </a:t>
            </a:r>
            <a:r>
              <a:rPr lang="en-US" dirty="0" err="1"/>
              <a:t>impx</a:t>
            </a:r>
            <a:r>
              <a:rPr lang="en-US" dirty="0"/>
              <a:t>();        ob.pr();    // Calling implemented method        </a:t>
            </a:r>
            <a:r>
              <a:rPr lang="en-US" dirty="0" err="1"/>
              <a:t>ob.show</a:t>
            </a:r>
            <a:r>
              <a:rPr lang="en-US" dirty="0"/>
              <a:t>();  // Calling default method from interface    }}interface x {    int p = 10;    // Abstract method    void pr();    // Default method    default void show() {        </a:t>
            </a:r>
            <a:r>
              <a:rPr lang="en-US" dirty="0" err="1"/>
              <a:t>System.out.println</a:t>
            </a:r>
            <a:r>
              <a:rPr lang="en-US" dirty="0"/>
              <a:t>("A default method in interface");    }}</a:t>
            </a:r>
          </a:p>
        </p:txBody>
      </p:sp>
    </p:spTree>
    <p:extLst>
      <p:ext uri="{BB962C8B-B14F-4D97-AF65-F5344CB8AC3E}">
        <p14:creationId xmlns:p14="http://schemas.microsoft.com/office/powerpoint/2010/main" val="39098925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16675-2C71-7030-42B8-079B56193564}"/>
              </a:ext>
            </a:extLst>
          </p:cNvPr>
          <p:cNvSpPr txBox="1"/>
          <p:nvPr/>
        </p:nvSpPr>
        <p:spPr>
          <a:xfrm>
            <a:off x="409433" y="147844"/>
            <a:ext cx="9239534" cy="587596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99. What is the purpose of servlets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Servlets</a:t>
            </a:r>
            <a:r>
              <a:rPr lang="en-US" b="0" i="0" dirty="0">
                <a:solidFill>
                  <a:srgbClr val="3A3A3A"/>
                </a:solidFill>
                <a:effectLst/>
                <a:latin typeface="Roboto" panose="02000000000000000000" pitchFamily="2" charset="0"/>
              </a:rPr>
              <a:t> are server-side Java programs used to create </a:t>
            </a:r>
            <a:r>
              <a:rPr lang="en-US" b="0" i="0" u="none" strike="noStrike" dirty="0">
                <a:solidFill>
                  <a:srgbClr val="0F5A9E"/>
                </a:solidFill>
                <a:effectLst/>
                <a:latin typeface="Roboto" panose="02000000000000000000" pitchFamily="2" charset="0"/>
                <a:hlinkClick r:id="rId3"/>
              </a:rPr>
              <a:t>web servers</a:t>
            </a:r>
            <a:r>
              <a:rPr lang="en-US" b="0" i="0" dirty="0">
                <a:solidFill>
                  <a:srgbClr val="3A3A3A"/>
                </a:solidFill>
                <a:effectLst/>
                <a:latin typeface="Roboto" panose="02000000000000000000" pitchFamily="2" charset="0"/>
              </a:rPr>
              <a:t> and application servers. They can handle the incoming requests from the web clients, process them and send back responses through the web server.</a:t>
            </a:r>
          </a:p>
          <a:p>
            <a:pPr algn="just">
              <a:lnSpc>
                <a:spcPts val="2100"/>
              </a:lnSpc>
              <a:spcBef>
                <a:spcPts val="750"/>
              </a:spcBef>
              <a:buNone/>
            </a:pPr>
            <a:r>
              <a:rPr lang="en-US" b="0" i="0" dirty="0">
                <a:solidFill>
                  <a:srgbClr val="3A3A3A"/>
                </a:solidFill>
                <a:effectLst/>
                <a:latin typeface="Roboto" panose="02000000000000000000" pitchFamily="2" charset="0"/>
              </a:rPr>
              <a:t>Several packages like </a:t>
            </a:r>
            <a:r>
              <a:rPr lang="en-US" b="0" i="0" dirty="0" err="1">
                <a:solidFill>
                  <a:srgbClr val="3A3A3A"/>
                </a:solidFill>
                <a:effectLst/>
                <a:latin typeface="Roboto" panose="02000000000000000000" pitchFamily="2" charset="0"/>
              </a:rPr>
              <a:t>javax.servlet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javax.servlet.http</a:t>
            </a:r>
            <a:r>
              <a:rPr lang="en-US" b="0" i="0" dirty="0">
                <a:solidFill>
                  <a:srgbClr val="3A3A3A"/>
                </a:solidFill>
                <a:effectLst/>
                <a:latin typeface="Roboto" panose="02000000000000000000" pitchFamily="2" charset="0"/>
              </a:rPr>
              <a:t> provide the appropriate interfaces and classes for creating servlets. All the servlets should implement the </a:t>
            </a:r>
            <a:r>
              <a:rPr lang="en-US" b="0" i="0" dirty="0" err="1">
                <a:solidFill>
                  <a:srgbClr val="3A3A3A"/>
                </a:solidFill>
                <a:effectLst/>
                <a:latin typeface="Roboto" panose="02000000000000000000" pitchFamily="2" charset="0"/>
              </a:rPr>
              <a:t>javax.servlet.Servlet</a:t>
            </a:r>
            <a:r>
              <a:rPr lang="en-US" b="0" i="0" dirty="0">
                <a:solidFill>
                  <a:srgbClr val="3A3A3A"/>
                </a:solidFill>
                <a:effectLst/>
                <a:latin typeface="Roboto" panose="02000000000000000000" pitchFamily="2" charset="0"/>
              </a:rPr>
              <a:t> interface, often by extending the </a:t>
            </a:r>
            <a:r>
              <a:rPr lang="en-US" b="0" i="0" dirty="0" err="1">
                <a:solidFill>
                  <a:srgbClr val="3A3A3A"/>
                </a:solidFill>
                <a:effectLst/>
                <a:latin typeface="Roboto" panose="02000000000000000000" pitchFamily="2" charset="0"/>
              </a:rPr>
              <a:t>HttpServlet</a:t>
            </a:r>
            <a:r>
              <a:rPr lang="en-US" b="0" i="0" dirty="0">
                <a:solidFill>
                  <a:srgbClr val="3A3A3A"/>
                </a:solidFill>
                <a:effectLst/>
                <a:latin typeface="Roboto" panose="02000000000000000000" pitchFamily="2" charset="0"/>
              </a:rPr>
              <a:t> class, which is part of the Java Servlet API.</a:t>
            </a:r>
          </a:p>
          <a:p>
            <a:pPr algn="just">
              <a:lnSpc>
                <a:spcPts val="2100"/>
              </a:lnSpc>
              <a:spcBef>
                <a:spcPts val="750"/>
              </a:spcBef>
              <a:buNone/>
            </a:pPr>
            <a:r>
              <a:rPr lang="en-US" b="0" i="0" dirty="0">
                <a:solidFill>
                  <a:srgbClr val="3A3A3A"/>
                </a:solidFill>
                <a:effectLst/>
                <a:latin typeface="Roboto" panose="02000000000000000000" pitchFamily="2" charset="0"/>
              </a:rPr>
              <a:t>The execution of a servlet involves five distinct steps: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clients initiate the request by sending it to the web server or application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web server receives the request from the clients.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servlet processes the request, carrying out the necessary computations, and generates the corresponding output.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Subsequently, the servlet sends the processed request back to the web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web server dispatches the request to the clients, and the resulting output is displayed on the client’s screen or any other designated device.</a:t>
            </a:r>
          </a:p>
        </p:txBody>
      </p:sp>
    </p:spTree>
    <p:extLst>
      <p:ext uri="{BB962C8B-B14F-4D97-AF65-F5344CB8AC3E}">
        <p14:creationId xmlns:p14="http://schemas.microsoft.com/office/powerpoint/2010/main" val="29450562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DE2FD-B547-F1DC-14E2-6ED772772D4E}"/>
              </a:ext>
            </a:extLst>
          </p:cNvPr>
          <p:cNvSpPr txBox="1"/>
          <p:nvPr/>
        </p:nvSpPr>
        <p:spPr>
          <a:xfrm>
            <a:off x="436728" y="90472"/>
            <a:ext cx="9198591" cy="39908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100. Explain the use of a Request Dispatcher in Java.</a:t>
            </a:r>
          </a:p>
          <a:p>
            <a:pPr algn="just">
              <a:lnSpc>
                <a:spcPts val="2100"/>
              </a:lnSpc>
              <a:spcBef>
                <a:spcPts val="1650"/>
              </a:spcBef>
              <a:buNone/>
            </a:pPr>
            <a:r>
              <a:rPr lang="en-US" b="0" i="0" dirty="0">
                <a:solidFill>
                  <a:srgbClr val="3A3A3A"/>
                </a:solidFill>
                <a:effectLst/>
                <a:latin typeface="Roboto" panose="02000000000000000000" pitchFamily="2" charset="0"/>
              </a:rPr>
              <a:t>The request dispatcher serves as an interface utilized to effectively redirect requests to various resources within the application itself. These resources may include Java Server Pages (JSP), images, HTML files, or other servlets.</a:t>
            </a:r>
          </a:p>
          <a:p>
            <a:pPr algn="just">
              <a:lnSpc>
                <a:spcPts val="2100"/>
              </a:lnSpc>
              <a:spcBef>
                <a:spcPts val="750"/>
              </a:spcBef>
              <a:buNone/>
            </a:pPr>
            <a:r>
              <a:rPr lang="en-US" b="0" i="0" dirty="0">
                <a:solidFill>
                  <a:srgbClr val="3A3A3A"/>
                </a:solidFill>
                <a:effectLst/>
                <a:latin typeface="Roboto" panose="02000000000000000000" pitchFamily="2" charset="0"/>
              </a:rPr>
              <a:t>Moreover, it facilitates the integration of responses from one servlet into another, guaranteeing that the client receives output from both servlets. Additionally, it allows for the seamless forwarding of client requests to the next servlet in the specified sequence.</a:t>
            </a:r>
          </a:p>
          <a:p>
            <a:pPr algn="just">
              <a:lnSpc>
                <a:spcPts val="2100"/>
              </a:lnSpc>
              <a:spcBef>
                <a:spcPts val="750"/>
              </a:spcBef>
              <a:buNone/>
            </a:pPr>
            <a:r>
              <a:rPr lang="en-US" b="0" i="0" dirty="0">
                <a:solidFill>
                  <a:srgbClr val="3A3A3A"/>
                </a:solidFill>
                <a:effectLst/>
                <a:latin typeface="Roboto" panose="02000000000000000000" pitchFamily="2" charset="0"/>
              </a:rPr>
              <a:t>There are two methods defined in a </a:t>
            </a:r>
            <a:r>
              <a:rPr lang="en-US" b="0" i="0" dirty="0" err="1">
                <a:solidFill>
                  <a:srgbClr val="3A3A3A"/>
                </a:solidFill>
                <a:effectLst/>
                <a:latin typeface="Roboto" panose="02000000000000000000" pitchFamily="2" charset="0"/>
              </a:rPr>
              <a:t>Requestdispatcher</a:t>
            </a:r>
            <a:r>
              <a:rPr lang="en-US" b="0" i="0" dirty="0">
                <a:solidFill>
                  <a:srgbClr val="3A3A3A"/>
                </a:solidFill>
                <a:effectLst/>
                <a:latin typeface="Roboto" panose="02000000000000000000" pitchFamily="2" charset="0"/>
              </a:rPr>
              <a:t> interface: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include(): It includes the content of the resource before sending the response.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forward(): the method forwards the request from one servlet to another resource like the JSP, image,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on the server.</a:t>
            </a:r>
          </a:p>
        </p:txBody>
      </p:sp>
    </p:spTree>
    <p:extLst>
      <p:ext uri="{BB962C8B-B14F-4D97-AF65-F5344CB8AC3E}">
        <p14:creationId xmlns:p14="http://schemas.microsoft.com/office/powerpoint/2010/main" val="9688610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79CD4B-B504-8AD4-0EA2-FDB65C4E1069}"/>
              </a:ext>
            </a:extLst>
          </p:cNvPr>
          <p:cNvSpPr txBox="1"/>
          <p:nvPr/>
        </p:nvSpPr>
        <p:spPr>
          <a:xfrm>
            <a:off x="259308" y="249105"/>
            <a:ext cx="6489509" cy="27982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101. What are cookies in Servlets?</a:t>
            </a:r>
          </a:p>
          <a:p>
            <a:pPr algn="just">
              <a:lnSpc>
                <a:spcPts val="2100"/>
              </a:lnSpc>
              <a:spcBef>
                <a:spcPts val="1650"/>
              </a:spcBef>
              <a:buNone/>
            </a:pPr>
            <a:r>
              <a:rPr lang="en-US" b="0" i="0" dirty="0">
                <a:solidFill>
                  <a:srgbClr val="3A3A3A"/>
                </a:solidFill>
                <a:effectLst/>
                <a:latin typeface="Roboto" panose="02000000000000000000" pitchFamily="2" charset="0"/>
              </a:rPr>
              <a:t>Cookies are text files which are stored on the client side (web browser) and maintain information about the state or session. They are required by servers, since HTTP protocols are stateless in nature. They help the server to know the user preferences, session information, etc.</a:t>
            </a:r>
          </a:p>
          <a:p>
            <a:pPr algn="just">
              <a:lnSpc>
                <a:spcPts val="2100"/>
              </a:lnSpc>
              <a:spcBef>
                <a:spcPts val="750"/>
              </a:spcBef>
              <a:buNone/>
            </a:pPr>
            <a:r>
              <a:rPr lang="en-US" b="0" i="0" dirty="0">
                <a:solidFill>
                  <a:srgbClr val="3A3A3A"/>
                </a:solidFill>
                <a:effectLst/>
                <a:latin typeface="Roboto" panose="02000000000000000000" pitchFamily="2" charset="0"/>
              </a:rPr>
              <a:t>Cookies have a size limitation of 4KB. They can be cleared or disabled by the user.</a:t>
            </a:r>
          </a:p>
        </p:txBody>
      </p:sp>
    </p:spTree>
    <p:extLst>
      <p:ext uri="{BB962C8B-B14F-4D97-AF65-F5344CB8AC3E}">
        <p14:creationId xmlns:p14="http://schemas.microsoft.com/office/powerpoint/2010/main" val="121007572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1A8418-E7E5-A848-4B3F-B7A05FED4978}"/>
              </a:ext>
            </a:extLst>
          </p:cNvPr>
          <p:cNvSpPr txBox="1"/>
          <p:nvPr/>
        </p:nvSpPr>
        <p:spPr>
          <a:xfrm>
            <a:off x="211539" y="0"/>
            <a:ext cx="9587553"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102. List the differences between </a:t>
            </a:r>
            <a:r>
              <a:rPr lang="en-US" b="0" i="0" dirty="0" err="1">
                <a:solidFill>
                  <a:srgbClr val="272C37"/>
                </a:solidFill>
                <a:effectLst/>
                <a:latin typeface="Roboto" panose="02000000000000000000" pitchFamily="2" charset="0"/>
              </a:rPr>
              <a:t>ServletContext</a:t>
            </a:r>
            <a:r>
              <a:rPr lang="en-US" b="0" i="0" dirty="0">
                <a:solidFill>
                  <a:srgbClr val="272C37"/>
                </a:solidFill>
                <a:effectLst/>
                <a:latin typeface="Roboto" panose="02000000000000000000" pitchFamily="2" charset="0"/>
              </a:rPr>
              <a:t> vs. </a:t>
            </a:r>
            <a:r>
              <a:rPr lang="en-US" b="0" i="0" dirty="0" err="1">
                <a:solidFill>
                  <a:srgbClr val="272C37"/>
                </a:solidFill>
                <a:effectLst/>
                <a:latin typeface="Roboto" panose="02000000000000000000" pitchFamily="2" charset="0"/>
              </a:rPr>
              <a:t>ServletConfig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differences between </a:t>
            </a:r>
            <a:r>
              <a:rPr lang="en-US" b="0" i="0" dirty="0" err="1">
                <a:solidFill>
                  <a:srgbClr val="3A3A3A"/>
                </a:solidFill>
                <a:effectLst/>
                <a:latin typeface="Roboto" panose="02000000000000000000" pitchFamily="2" charset="0"/>
              </a:rPr>
              <a:t>ServletContext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ServletConfig</a:t>
            </a:r>
            <a:r>
              <a:rPr lang="en-US" b="0" i="0" dirty="0">
                <a:solidFill>
                  <a:srgbClr val="3A3A3A"/>
                </a:solidFill>
                <a:effectLst/>
                <a:latin typeface="Roboto" panose="02000000000000000000" pitchFamily="2" charset="0"/>
              </a:rPr>
              <a:t> are as follows:</a:t>
            </a:r>
          </a:p>
        </p:txBody>
      </p:sp>
      <p:graphicFrame>
        <p:nvGraphicFramePr>
          <p:cNvPr id="4" name="Table 3">
            <a:extLst>
              <a:ext uri="{FF2B5EF4-FFF2-40B4-BE49-F238E27FC236}">
                <a16:creationId xmlns:a16="http://schemas.microsoft.com/office/drawing/2014/main" id="{E7B89604-2E7A-9DCE-619E-AC79180A563A}"/>
              </a:ext>
            </a:extLst>
          </p:cNvPr>
          <p:cNvGraphicFramePr>
            <a:graphicFrameLocks noGrp="1"/>
          </p:cNvGraphicFramePr>
          <p:nvPr>
            <p:extLst>
              <p:ext uri="{D42A27DB-BD31-4B8C-83A1-F6EECF244321}">
                <p14:modId xmlns:p14="http://schemas.microsoft.com/office/powerpoint/2010/main" val="2924930760"/>
              </p:ext>
            </p:extLst>
          </p:nvPr>
        </p:nvGraphicFramePr>
        <p:xfrm>
          <a:off x="353492" y="1281978"/>
          <a:ext cx="8543924" cy="3200400"/>
        </p:xfrm>
        <a:graphic>
          <a:graphicData uri="http://schemas.openxmlformats.org/drawingml/2006/table">
            <a:tbl>
              <a:tblPr/>
              <a:tblGrid>
                <a:gridCol w="4271962">
                  <a:extLst>
                    <a:ext uri="{9D8B030D-6E8A-4147-A177-3AD203B41FA5}">
                      <a16:colId xmlns:a16="http://schemas.microsoft.com/office/drawing/2014/main" val="1659321218"/>
                    </a:ext>
                  </a:extLst>
                </a:gridCol>
                <a:gridCol w="4271962">
                  <a:extLst>
                    <a:ext uri="{9D8B030D-6E8A-4147-A177-3AD203B41FA5}">
                      <a16:colId xmlns:a16="http://schemas.microsoft.com/office/drawing/2014/main" val="4075199782"/>
                    </a:ext>
                  </a:extLst>
                </a:gridCol>
              </a:tblGrid>
              <a:tr h="365760">
                <a:tc>
                  <a:txBody>
                    <a:bodyPr/>
                    <a:lstStyle/>
                    <a:p>
                      <a:pPr algn="ctr" fontAlgn="t">
                        <a:buNone/>
                      </a:pPr>
                      <a:r>
                        <a:rPr lang="en-US" sz="1800" b="0">
                          <a:solidFill>
                            <a:srgbClr val="FFFFFF"/>
                          </a:solidFill>
                          <a:effectLst/>
                        </a:rPr>
                        <a:t>ServletContext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ServletConfig</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85665097"/>
                  </a:ext>
                </a:extLst>
              </a:tr>
              <a:tr h="914400">
                <a:tc>
                  <a:txBody>
                    <a:bodyPr/>
                    <a:lstStyle/>
                    <a:p>
                      <a:pPr fontAlgn="t">
                        <a:buNone/>
                      </a:pPr>
                      <a:r>
                        <a:rPr lang="en-US" sz="1800">
                          <a:effectLst/>
                        </a:rPr>
                        <a:t>It is a global object, which helps get information/configuration for the entire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It is not global, and only valid per servlet. It is used to pass initialisation parameters valid for only a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79302754"/>
                  </a:ext>
                </a:extLst>
              </a:tr>
              <a:tr h="365760">
                <a:tc>
                  <a:txBody>
                    <a:bodyPr/>
                    <a:lstStyle/>
                    <a:p>
                      <a:pPr fontAlgn="t">
                        <a:buNone/>
                      </a:pPr>
                      <a:r>
                        <a:rPr lang="en-US" sz="1800">
                          <a:effectLst/>
                        </a:rPr>
                        <a:t>Shared across all Servlets.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Limited to a single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38975065"/>
                  </a:ext>
                </a:extLst>
              </a:tr>
              <a:tr h="640080">
                <a:tc>
                  <a:txBody>
                    <a:bodyPr/>
                    <a:lstStyle/>
                    <a:p>
                      <a:pPr fontAlgn="t">
                        <a:buNone/>
                      </a:pPr>
                      <a:r>
                        <a:rPr lang="en-US" sz="1800">
                          <a:effectLst/>
                        </a:rPr>
                        <a:t>Typically only one ServletContext per web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Only one ServletConfig per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53095703"/>
                  </a:ext>
                </a:extLst>
              </a:tr>
              <a:tr h="914400">
                <a:tc>
                  <a:txBody>
                    <a:bodyPr/>
                    <a:lstStyle/>
                    <a:p>
                      <a:pPr fontAlgn="t">
                        <a:buNone/>
                      </a:pPr>
                      <a:r>
                        <a:rPr lang="en-US" sz="1800">
                          <a:effectLst/>
                        </a:rPr>
                        <a:t>It is used for global level parameters such as database config or global settings which many servlets want to share.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for servlet level parameters, which has to be used on that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92316025"/>
                  </a:ext>
                </a:extLst>
              </a:tr>
            </a:tbl>
          </a:graphicData>
        </a:graphic>
      </p:graphicFrame>
    </p:spTree>
    <p:extLst>
      <p:ext uri="{BB962C8B-B14F-4D97-AF65-F5344CB8AC3E}">
        <p14:creationId xmlns:p14="http://schemas.microsoft.com/office/powerpoint/2010/main" val="39268473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F1FDF6-B025-16A0-9E32-2D7BE98B7E3E}"/>
              </a:ext>
            </a:extLst>
          </p:cNvPr>
          <p:cNvSpPr txBox="1"/>
          <p:nvPr/>
        </p:nvSpPr>
        <p:spPr>
          <a:xfrm>
            <a:off x="409432" y="331367"/>
            <a:ext cx="9307773" cy="459356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103. What is a thread lifecycle in Java?</a:t>
            </a:r>
          </a:p>
          <a:p>
            <a:pPr algn="just">
              <a:lnSpc>
                <a:spcPts val="2100"/>
              </a:lnSpc>
              <a:spcBef>
                <a:spcPts val="1650"/>
              </a:spcBef>
              <a:buNone/>
            </a:pPr>
            <a:r>
              <a:rPr lang="en-US" b="0" i="0" dirty="0">
                <a:solidFill>
                  <a:srgbClr val="3A3A3A"/>
                </a:solidFill>
                <a:effectLst/>
                <a:latin typeface="Roboto" panose="02000000000000000000" pitchFamily="2" charset="0"/>
              </a:rPr>
              <a:t>There are 5 states in a </a:t>
            </a:r>
            <a:r>
              <a:rPr lang="en-US" b="0" i="0" u="none" strike="noStrike" dirty="0">
                <a:solidFill>
                  <a:srgbClr val="0F5A9E"/>
                </a:solidFill>
                <a:effectLst/>
                <a:latin typeface="Roboto" panose="02000000000000000000" pitchFamily="2" charset="0"/>
                <a:hlinkClick r:id="rId2"/>
              </a:rPr>
              <a:t>thread lifecycle</a:t>
            </a:r>
            <a:r>
              <a:rPr lang="en-US" b="0" i="0" dirty="0">
                <a:solidFill>
                  <a:srgbClr val="3A3A3A"/>
                </a:solidFill>
                <a:effectLst/>
                <a:latin typeface="Roboto" panose="02000000000000000000" pitchFamily="2" charset="0"/>
              </a:rPr>
              <a:t>, let’s understand each one of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New: The </a:t>
            </a:r>
            <a:r>
              <a:rPr lang="en-US" b="0" i="0" u="none" strike="noStrike" dirty="0">
                <a:solidFill>
                  <a:srgbClr val="0F5A9E"/>
                </a:solidFill>
                <a:effectLst/>
                <a:latin typeface="Roboto" panose="02000000000000000000" pitchFamily="2" charset="0"/>
                <a:hlinkClick r:id="rId3"/>
              </a:rPr>
              <a:t>thread</a:t>
            </a:r>
            <a:r>
              <a:rPr lang="en-US" b="0" i="0" dirty="0">
                <a:solidFill>
                  <a:srgbClr val="3A3A3A"/>
                </a:solidFill>
                <a:effectLst/>
                <a:latin typeface="Roboto" panose="02000000000000000000" pitchFamily="2" charset="0"/>
              </a:rPr>
              <a:t> lies in the new state after it has been created. It remains in the new state until you start the execution process.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Runnable: At runnable state, the thread is ready to run at any point in time or it might have started running already.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Running: The scheduler picks up the thread and changes its state to running, the CPU starts executing the thread in the running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Waiting: While being ready to execute, another thread might be running in the system. So, the thread goes to the waiting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Dead: Once the execution of the thread is finished, its state is changed to the dead state, which means it’s not considered active anymore.</a:t>
            </a:r>
          </a:p>
        </p:txBody>
      </p:sp>
    </p:spTree>
    <p:extLst>
      <p:ext uri="{BB962C8B-B14F-4D97-AF65-F5344CB8AC3E}">
        <p14:creationId xmlns:p14="http://schemas.microsoft.com/office/powerpoint/2010/main" val="197770600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655678-1A25-CD94-F0FB-9DCDBF28003B}"/>
              </a:ext>
            </a:extLst>
          </p:cNvPr>
          <p:cNvSpPr txBox="1"/>
          <p:nvPr/>
        </p:nvSpPr>
        <p:spPr>
          <a:xfrm>
            <a:off x="177421" y="0"/>
            <a:ext cx="9551158" cy="75943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104. What are the different types of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There are two types of Exceptions in Java Programming: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Exception: These exceptions are the exceptions available in the standard package of java lang. They are used for certain errors with specific exceptions as mentioned below:</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ArithmeticException</a:t>
            </a:r>
            <a:r>
              <a:rPr lang="en-US" b="0" i="0" dirty="0">
                <a:solidFill>
                  <a:srgbClr val="3A3A3A"/>
                </a:solidFill>
                <a:effectLst/>
                <a:latin typeface="Roboto" panose="02000000000000000000" pitchFamily="2" charset="0"/>
              </a:rPr>
              <a:t>: thrown for the errors related to the arithmetic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IOException</a:t>
            </a:r>
            <a:r>
              <a:rPr lang="en-US" b="0" i="0" dirty="0">
                <a:solidFill>
                  <a:srgbClr val="3A3A3A"/>
                </a:solidFill>
                <a:effectLst/>
                <a:latin typeface="Roboto" panose="02000000000000000000" pitchFamily="2" charset="0"/>
              </a:rPr>
              <a:t>: thrown for failed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FileNotFoundException</a:t>
            </a:r>
            <a:r>
              <a:rPr lang="en-US" b="0" i="0" dirty="0">
                <a:solidFill>
                  <a:srgbClr val="3A3A3A"/>
                </a:solidFill>
                <a:effectLst/>
                <a:latin typeface="Roboto" panose="02000000000000000000" pitchFamily="2" charset="0"/>
              </a:rPr>
              <a:t>: raised when the file is not accessible or does not exist.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exception is raised when the compiler is unable to find the class definition.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InterruptedException</a:t>
            </a:r>
            <a:r>
              <a:rPr lang="en-US" b="0" i="0" dirty="0">
                <a:solidFill>
                  <a:srgbClr val="3A3A3A"/>
                </a:solidFill>
                <a:effectLst/>
                <a:latin typeface="Roboto" panose="02000000000000000000" pitchFamily="2" charset="0"/>
              </a:rPr>
              <a:t>: raised when a thread is interrupted.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NoSuchFieldException</a:t>
            </a:r>
            <a:r>
              <a:rPr lang="en-US" b="0" i="0" dirty="0">
                <a:solidFill>
                  <a:srgbClr val="3A3A3A"/>
                </a:solidFill>
                <a:effectLst/>
                <a:latin typeface="Roboto" panose="02000000000000000000" pitchFamily="2" charset="0"/>
              </a:rPr>
              <a:t>: raised when a class or method doesn’t have a variable specified.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thrown while referring to the variable or values of a null object.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RuntimeException</a:t>
            </a:r>
            <a:r>
              <a:rPr lang="en-US" b="0" i="0" dirty="0">
                <a:solidFill>
                  <a:srgbClr val="3A3A3A"/>
                </a:solidFill>
                <a:effectLst/>
                <a:latin typeface="Roboto" panose="02000000000000000000" pitchFamily="2" charset="0"/>
              </a:rPr>
              <a:t>: raised for the errors occurring during the runtime. For example, performing invalid type conversion.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IndexOutOfBoundsException</a:t>
            </a:r>
            <a:r>
              <a:rPr lang="en-US" b="0" i="0" dirty="0">
                <a:solidFill>
                  <a:srgbClr val="3A3A3A"/>
                </a:solidFill>
                <a:effectLst/>
                <a:latin typeface="Roboto" panose="02000000000000000000" pitchFamily="2" charset="0"/>
              </a:rPr>
              <a:t>: raised when the index of the collection like an array, string, or vector is out of the range or invalid.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Exceptions: User-defined exceptions are the exceptions thrown by the user with custom messages. These are used for cases where the in-built Exception might not be able to define the error.</a:t>
            </a:r>
          </a:p>
        </p:txBody>
      </p:sp>
    </p:spTree>
    <p:extLst>
      <p:ext uri="{BB962C8B-B14F-4D97-AF65-F5344CB8AC3E}">
        <p14:creationId xmlns:p14="http://schemas.microsoft.com/office/powerpoint/2010/main" val="17367196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877E2-FD2E-5B4A-8357-859529CFCA16}"/>
              </a:ext>
            </a:extLst>
          </p:cNvPr>
          <p:cNvSpPr txBox="1"/>
          <p:nvPr/>
        </p:nvSpPr>
        <p:spPr>
          <a:xfrm>
            <a:off x="0" y="0"/>
            <a:ext cx="9730854"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105. Can we write multiple try-catch blocks in java? If yes, how?</a:t>
            </a:r>
          </a:p>
          <a:p>
            <a:pPr algn="just">
              <a:lnSpc>
                <a:spcPts val="2100"/>
              </a:lnSpc>
              <a:spcBef>
                <a:spcPts val="1650"/>
              </a:spcBef>
              <a:buNone/>
            </a:pPr>
            <a:r>
              <a:rPr lang="en-US" b="0" i="0" dirty="0">
                <a:solidFill>
                  <a:srgbClr val="3A3A3A"/>
                </a:solidFill>
                <a:effectLst/>
                <a:latin typeface="Roboto" panose="02000000000000000000" pitchFamily="2" charset="0"/>
              </a:rPr>
              <a:t>In Java, we can include multiple catch statements for a single try block. This approach allows multiple exceptions to be handled separately within a single try block.</a:t>
            </a:r>
          </a:p>
          <a:p>
            <a:pPr algn="just">
              <a:lnSpc>
                <a:spcPts val="2100"/>
              </a:lnSpc>
              <a:spcBef>
                <a:spcPts val="750"/>
              </a:spcBef>
              <a:buNone/>
            </a:pPr>
            <a:r>
              <a:rPr lang="en-US" b="0" i="0" dirty="0">
                <a:solidFill>
                  <a:srgbClr val="3A3A3A"/>
                </a:solidFill>
                <a:effectLst/>
                <a:latin typeface="Roboto" panose="02000000000000000000" pitchFamily="2" charset="0"/>
              </a:rPr>
              <a:t>Below is the program for multiple catch statements:</a:t>
            </a:r>
          </a:p>
        </p:txBody>
      </p:sp>
      <p:sp>
        <p:nvSpPr>
          <p:cNvPr id="5" name="TextBox 4">
            <a:extLst>
              <a:ext uri="{FF2B5EF4-FFF2-40B4-BE49-F238E27FC236}">
                <a16:creationId xmlns:a16="http://schemas.microsoft.com/office/drawing/2014/main" id="{F25E04AB-F393-6ABC-2459-4254956809D0}"/>
              </a:ext>
            </a:extLst>
          </p:cNvPr>
          <p:cNvSpPr txBox="1"/>
          <p:nvPr/>
        </p:nvSpPr>
        <p:spPr>
          <a:xfrm>
            <a:off x="0" y="1919113"/>
            <a:ext cx="4981432" cy="7571303"/>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multiple_catch</a:t>
            </a:r>
            <a:r>
              <a:rPr lang="en-US" dirty="0"/>
              <a:t> {</a:t>
            </a:r>
          </a:p>
          <a:p>
            <a:r>
              <a:rPr lang="en-US" dirty="0"/>
              <a:t>    public static void main(String </a:t>
            </a:r>
            <a:r>
              <a:rPr lang="en-US" dirty="0" err="1"/>
              <a:t>args</a:t>
            </a:r>
            <a:r>
              <a:rPr lang="en-US" dirty="0"/>
              <a:t>[]) {</a:t>
            </a:r>
          </a:p>
          <a:p>
            <a:r>
              <a:rPr lang="en-US" dirty="0"/>
              <a:t>        int x, y, z;</a:t>
            </a:r>
          </a:p>
          <a:p>
            <a:r>
              <a:rPr lang="en-US" dirty="0"/>
              <a:t>        try {</a:t>
            </a:r>
          </a:p>
          <a:p>
            <a:r>
              <a:rPr lang="en-US" dirty="0"/>
              <a:t>            x = 30;</a:t>
            </a:r>
          </a:p>
          <a:p>
            <a:r>
              <a:rPr lang="en-US" dirty="0"/>
              <a:t>            y = 0;</a:t>
            </a:r>
          </a:p>
          <a:p>
            <a:r>
              <a:rPr lang="en-US" dirty="0"/>
              <a:t>            // Division operation that may cause </a:t>
            </a:r>
            <a:r>
              <a:rPr lang="en-US" dirty="0" err="1"/>
              <a:t>ArithmeticException</a:t>
            </a:r>
            <a:endParaRPr lang="en-US" dirty="0"/>
          </a:p>
          <a:p>
            <a:r>
              <a:rPr lang="en-US" dirty="0"/>
              <a:t>            z = x / y;</a:t>
            </a:r>
          </a:p>
          <a:p>
            <a:r>
              <a:rPr lang="en-US" dirty="0"/>
              <a:t>            </a:t>
            </a:r>
            <a:r>
              <a:rPr lang="en-US" dirty="0" err="1"/>
              <a:t>System.out.println</a:t>
            </a:r>
            <a:r>
              <a:rPr lang="en-US" dirty="0"/>
              <a:t>("Value of z: " + z);</a:t>
            </a:r>
          </a:p>
          <a:p>
            <a:r>
              <a:rPr lang="en-US" dirty="0"/>
              <a:t>        } catch (</a:t>
            </a:r>
            <a:r>
              <a:rPr lang="en-US" dirty="0" err="1"/>
              <a:t>ArithmeticException</a:t>
            </a:r>
            <a:r>
              <a:rPr lang="en-US" dirty="0"/>
              <a:t> e) {</a:t>
            </a:r>
          </a:p>
          <a:p>
            <a:r>
              <a:rPr lang="en-US" dirty="0"/>
              <a:t>            // Handles division by zero error</a:t>
            </a:r>
          </a:p>
          <a:p>
            <a:r>
              <a:rPr lang="en-US" dirty="0"/>
              <a:t>            </a:t>
            </a:r>
            <a:r>
              <a:rPr lang="en-US" dirty="0" err="1"/>
              <a:t>System.out.println</a:t>
            </a:r>
            <a:r>
              <a:rPr lang="en-US" dirty="0"/>
              <a:t>("Arithmetic Exception occurred");</a:t>
            </a:r>
          </a:p>
          <a:p>
            <a:r>
              <a:rPr lang="en-US" dirty="0"/>
              <a:t>        } catch (</a:t>
            </a:r>
            <a:r>
              <a:rPr lang="en-US" dirty="0" err="1"/>
              <a:t>IllegalArgumentException</a:t>
            </a:r>
            <a:r>
              <a:rPr lang="en-US" dirty="0"/>
              <a:t> e) {</a:t>
            </a:r>
          </a:p>
          <a:p>
            <a:r>
              <a:rPr lang="en-US" dirty="0"/>
              <a:t>            // Handles any illegal argument usage</a:t>
            </a:r>
          </a:p>
          <a:p>
            <a:r>
              <a:rPr lang="en-US" dirty="0"/>
              <a:t>            </a:t>
            </a:r>
            <a:r>
              <a:rPr lang="en-US" dirty="0" err="1"/>
              <a:t>System.out.println</a:t>
            </a:r>
            <a:r>
              <a:rPr lang="en-US" dirty="0"/>
              <a:t>("Illegal argument");</a:t>
            </a:r>
          </a:p>
          <a:p>
            <a:r>
              <a:rPr lang="en-US" dirty="0"/>
              <a:t>        } catch (Exception e) {</a:t>
            </a:r>
          </a:p>
          <a:p>
            <a:r>
              <a:rPr lang="en-US" dirty="0"/>
              <a:t>            // Catches any other type of exception</a:t>
            </a:r>
          </a:p>
          <a:p>
            <a:r>
              <a:rPr lang="en-US" dirty="0"/>
              <a:t>            </a:t>
            </a:r>
            <a:r>
              <a:rPr lang="en-US" dirty="0" err="1"/>
              <a:t>System.out.println</a:t>
            </a:r>
            <a:r>
              <a:rPr lang="en-US" dirty="0"/>
              <a:t>("An Exception in the try block");</a:t>
            </a:r>
          </a:p>
          <a:p>
            <a:r>
              <a:rPr lang="en-US" dirty="0"/>
              <a:t>        }</a:t>
            </a:r>
          </a:p>
          <a:p>
            <a:r>
              <a:rPr lang="en-US" dirty="0"/>
              <a:t>        </a:t>
            </a:r>
            <a:r>
              <a:rPr lang="en-US" dirty="0" err="1"/>
              <a:t>System.out.println</a:t>
            </a:r>
            <a:r>
              <a:rPr lang="en-US" dirty="0"/>
              <a:t>("End of the program");</a:t>
            </a:r>
          </a:p>
          <a:p>
            <a:r>
              <a:rPr lang="en-US" dirty="0"/>
              <a:t>    }</a:t>
            </a:r>
          </a:p>
          <a:p>
            <a:r>
              <a:rPr lang="en-US" dirty="0"/>
              <a:t>}</a:t>
            </a:r>
          </a:p>
        </p:txBody>
      </p:sp>
    </p:spTree>
    <p:extLst>
      <p:ext uri="{BB962C8B-B14F-4D97-AF65-F5344CB8AC3E}">
        <p14:creationId xmlns:p14="http://schemas.microsoft.com/office/powerpoint/2010/main" val="38732128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6B3AE0-F157-6009-2F6C-309E98ABA07D}"/>
              </a:ext>
            </a:extLst>
          </p:cNvPr>
          <p:cNvSpPr txBox="1"/>
          <p:nvPr/>
        </p:nvSpPr>
        <p:spPr>
          <a:xfrm>
            <a:off x="150125" y="239998"/>
            <a:ext cx="9635320" cy="3618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106. What is HTTP Tunneling?</a:t>
            </a:r>
          </a:p>
          <a:p>
            <a:pPr algn="just">
              <a:lnSpc>
                <a:spcPts val="2100"/>
              </a:lnSpc>
              <a:spcBef>
                <a:spcPts val="1650"/>
              </a:spcBef>
              <a:buNone/>
            </a:pPr>
            <a:r>
              <a:rPr lang="en-US" b="0" i="0" dirty="0">
                <a:solidFill>
                  <a:srgbClr val="3A3A3A"/>
                </a:solidFill>
                <a:effectLst/>
                <a:latin typeface="Roboto" panose="02000000000000000000" pitchFamily="2" charset="0"/>
              </a:rPr>
              <a:t>HTTP tunneling refers to encapsulating non HTTP data into HTTP/HTTPS. This is generally done to bypass firewalls, network restrictions or proxies where only HTTP or HTTPS traffic is allowed.</a:t>
            </a:r>
          </a:p>
          <a:p>
            <a:pPr algn="just">
              <a:lnSpc>
                <a:spcPts val="2100"/>
              </a:lnSpc>
              <a:spcBef>
                <a:spcPts val="750"/>
              </a:spcBef>
              <a:buNone/>
            </a:pPr>
            <a:r>
              <a:rPr lang="en-US" b="0" i="0" dirty="0">
                <a:solidFill>
                  <a:srgbClr val="3A3A3A"/>
                </a:solidFill>
                <a:effectLst/>
                <a:latin typeface="Roboto" panose="02000000000000000000" pitchFamily="2" charset="0"/>
              </a:rPr>
              <a:t>It works in a client-server setup like this: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client encapsulates the non-HTTP data into HTTP/HTTPS data and sends it through the firewall to the server.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server decrypts the encapsulated data, and forwards it to the destination. Once the response is received from the destination, the server again packs the data into HTTP/HTTPS and sends it to the client.</a:t>
            </a:r>
          </a:p>
        </p:txBody>
      </p:sp>
    </p:spTree>
    <p:extLst>
      <p:ext uri="{BB962C8B-B14F-4D97-AF65-F5344CB8AC3E}">
        <p14:creationId xmlns:p14="http://schemas.microsoft.com/office/powerpoint/2010/main" val="23131665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D40A5A0-7730-805D-4021-A07C2744483A}"/>
              </a:ext>
            </a:extLst>
          </p:cNvPr>
          <p:cNvSpPr txBox="1"/>
          <p:nvPr/>
        </p:nvSpPr>
        <p:spPr>
          <a:xfrm>
            <a:off x="170597" y="135046"/>
            <a:ext cx="9478369"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107. Explain the use of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A collection is a framework that provides a set of classes and interfaces, which are used to manage, store and manipulate data for a group of objects in Java.</a:t>
            </a:r>
          </a:p>
          <a:p>
            <a:pPr algn="just">
              <a:lnSpc>
                <a:spcPts val="2100"/>
              </a:lnSpc>
              <a:spcBef>
                <a:spcPts val="750"/>
              </a:spcBef>
              <a:buNone/>
            </a:pPr>
            <a:r>
              <a:rPr lang="en-US" b="0" i="0" dirty="0">
                <a:solidFill>
                  <a:srgbClr val="3A3A3A"/>
                </a:solidFill>
                <a:effectLst/>
                <a:latin typeface="Roboto" panose="02000000000000000000" pitchFamily="2" charset="0"/>
              </a:rPr>
              <a:t>Java Collections can be used for performing a variety of operations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Search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Sort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Manipulate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p:txBody>
      </p:sp>
    </p:spTree>
    <p:extLst>
      <p:ext uri="{BB962C8B-B14F-4D97-AF65-F5344CB8AC3E}">
        <p14:creationId xmlns:p14="http://schemas.microsoft.com/office/powerpoint/2010/main" val="155795131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C0AAF-5D25-027D-FACD-B41031A787D1}"/>
              </a:ext>
            </a:extLst>
          </p:cNvPr>
          <p:cNvSpPr txBox="1"/>
          <p:nvPr/>
        </p:nvSpPr>
        <p:spPr>
          <a:xfrm>
            <a:off x="225188" y="209988"/>
            <a:ext cx="9492018"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108. How would you implement a custom collector?</a:t>
            </a:r>
          </a:p>
          <a:p>
            <a:pPr algn="just">
              <a:lnSpc>
                <a:spcPts val="2100"/>
              </a:lnSpc>
              <a:spcBef>
                <a:spcPts val="1650"/>
              </a:spcBef>
              <a:buNone/>
            </a:pPr>
            <a:r>
              <a:rPr lang="en-US" b="0" i="0" dirty="0">
                <a:solidFill>
                  <a:srgbClr val="3A3A3A"/>
                </a:solidFill>
                <a:effectLst/>
                <a:latin typeface="Roboto" panose="02000000000000000000" pitchFamily="2" charset="0"/>
              </a:rPr>
              <a:t>One can write a custom collector in Java by using the </a:t>
            </a:r>
            <a:r>
              <a:rPr lang="en-US" b="0" i="0" dirty="0" err="1">
                <a:solidFill>
                  <a:srgbClr val="3A3A3A"/>
                </a:solidFill>
                <a:effectLst/>
                <a:latin typeface="Roboto" panose="02000000000000000000" pitchFamily="2" charset="0"/>
              </a:rPr>
              <a:t>Collector.of</a:t>
            </a:r>
            <a:r>
              <a:rPr lang="en-US" b="0" i="0" dirty="0">
                <a:solidFill>
                  <a:srgbClr val="3A3A3A"/>
                </a:solidFill>
                <a:effectLst/>
                <a:latin typeface="Roboto" panose="02000000000000000000" pitchFamily="2" charset="0"/>
              </a:rPr>
              <a:t>() factory method or by implementing the Collector interface. This is especially helpful when the built-in collectors are not enough to satisfy particular transformation or aggregation requirements.</a:t>
            </a:r>
          </a:p>
          <a:p>
            <a:pPr algn="just">
              <a:lnSpc>
                <a:spcPts val="2100"/>
              </a:lnSpc>
              <a:spcBef>
                <a:spcPts val="750"/>
              </a:spcBef>
              <a:buNone/>
            </a:pPr>
            <a:r>
              <a:rPr lang="en-US" b="0" i="0" dirty="0">
                <a:solidFill>
                  <a:srgbClr val="3A3A3A"/>
                </a:solidFill>
                <a:effectLst/>
                <a:latin typeface="Roboto" panose="02000000000000000000" pitchFamily="2" charset="0"/>
              </a:rPr>
              <a:t>Example: Let us say you want to implement a collector that concatenates uppercase strings separated by commas.</a:t>
            </a:r>
          </a:p>
        </p:txBody>
      </p:sp>
      <p:sp>
        <p:nvSpPr>
          <p:cNvPr id="5" name="TextBox 4">
            <a:extLst>
              <a:ext uri="{FF2B5EF4-FFF2-40B4-BE49-F238E27FC236}">
                <a16:creationId xmlns:a16="http://schemas.microsoft.com/office/drawing/2014/main" id="{410DDB60-6B4B-D599-C4AE-7350E6A04C58}"/>
              </a:ext>
            </a:extLst>
          </p:cNvPr>
          <p:cNvSpPr txBox="1"/>
          <p:nvPr/>
        </p:nvSpPr>
        <p:spPr>
          <a:xfrm>
            <a:off x="225188" y="2610683"/>
            <a:ext cx="4954136" cy="4247317"/>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java.util.stream.Collector;import</a:t>
            </a:r>
            <a:r>
              <a:rPr lang="en-US" dirty="0"/>
              <a:t> </a:t>
            </a:r>
            <a:r>
              <a:rPr lang="en-US" dirty="0" err="1"/>
              <a:t>java.util.stream.Collectors;import</a:t>
            </a:r>
            <a:r>
              <a:rPr lang="en-US" dirty="0"/>
              <a:t> </a:t>
            </a:r>
            <a:r>
              <a:rPr lang="en-US" dirty="0" err="1"/>
              <a:t>java.util.stream.Stream;public</a:t>
            </a:r>
            <a:r>
              <a:rPr lang="en-US" dirty="0"/>
              <a:t> class </a:t>
            </a:r>
            <a:r>
              <a:rPr lang="en-US" dirty="0" err="1"/>
              <a:t>CustomCollectorExample</a:t>
            </a:r>
            <a:r>
              <a:rPr lang="en-US" dirty="0"/>
              <a:t> {    public static void main(String[] </a:t>
            </a:r>
            <a:r>
              <a:rPr lang="en-US" dirty="0" err="1"/>
              <a:t>args</a:t>
            </a:r>
            <a:r>
              <a:rPr lang="en-US" dirty="0"/>
              <a:t>) {        List&lt;String&gt; names = </a:t>
            </a:r>
            <a:r>
              <a:rPr lang="en-US" dirty="0" err="1"/>
              <a:t>Arrays.asList</a:t>
            </a:r>
            <a:r>
              <a:rPr lang="en-US" dirty="0"/>
              <a:t>("</a:t>
            </a:r>
            <a:r>
              <a:rPr lang="en-US" dirty="0" err="1"/>
              <a:t>ayaan</a:t>
            </a:r>
            <a:r>
              <a:rPr lang="en-US" dirty="0"/>
              <a:t>", "</a:t>
            </a:r>
            <a:r>
              <a:rPr lang="en-US" dirty="0" err="1"/>
              <a:t>alam</a:t>
            </a:r>
            <a:r>
              <a:rPr lang="en-US" dirty="0"/>
              <a:t>", "</a:t>
            </a:r>
            <a:r>
              <a:rPr lang="en-US" dirty="0" err="1"/>
              <a:t>intellipaat</a:t>
            </a:r>
            <a:r>
              <a:rPr lang="en-US" dirty="0"/>
              <a:t>");        Collector&lt;String, </a:t>
            </a:r>
            <a:r>
              <a:rPr lang="en-US" dirty="0" err="1"/>
              <a:t>StringJoiner</a:t>
            </a:r>
            <a:r>
              <a:rPr lang="en-US" dirty="0"/>
              <a:t>, String&gt; </a:t>
            </a:r>
            <a:r>
              <a:rPr lang="en-US" dirty="0" err="1"/>
              <a:t>customCollector</a:t>
            </a:r>
            <a:r>
              <a:rPr lang="en-US" dirty="0"/>
              <a:t> = </a:t>
            </a:r>
            <a:r>
              <a:rPr lang="en-US" dirty="0" err="1"/>
              <a:t>Collector.of</a:t>
            </a:r>
            <a:r>
              <a:rPr lang="en-US" dirty="0"/>
              <a:t>(            () -&gt; new </a:t>
            </a:r>
            <a:r>
              <a:rPr lang="en-US" dirty="0" err="1"/>
              <a:t>StringJoiner</a:t>
            </a:r>
            <a:r>
              <a:rPr lang="en-US" dirty="0"/>
              <a:t>(", "),            (joiner, str) -&gt; </a:t>
            </a:r>
            <a:r>
              <a:rPr lang="en-US" dirty="0" err="1"/>
              <a:t>joiner.add</a:t>
            </a:r>
            <a:r>
              <a:rPr lang="en-US" dirty="0"/>
              <a:t>(</a:t>
            </a:r>
            <a:r>
              <a:rPr lang="en-US" dirty="0" err="1"/>
              <a:t>str.toUpperCase</a:t>
            </a:r>
            <a:r>
              <a:rPr lang="en-US" dirty="0"/>
              <a:t>()),            </a:t>
            </a:r>
            <a:r>
              <a:rPr lang="en-US" dirty="0" err="1"/>
              <a:t>StringJoiner</a:t>
            </a:r>
            <a:r>
              <a:rPr lang="en-US" dirty="0"/>
              <a:t>::merge,            </a:t>
            </a:r>
            <a:r>
              <a:rPr lang="en-US" dirty="0" err="1"/>
              <a:t>StringJoiner</a:t>
            </a:r>
            <a:r>
              <a:rPr lang="en-US" dirty="0"/>
              <a:t>::</a:t>
            </a:r>
            <a:r>
              <a:rPr lang="en-US" dirty="0" err="1"/>
              <a:t>toString</a:t>
            </a:r>
            <a:r>
              <a:rPr lang="en-US" dirty="0"/>
              <a:t>        );        String result = </a:t>
            </a:r>
            <a:r>
              <a:rPr lang="en-US" dirty="0" err="1"/>
              <a:t>names.stream</a:t>
            </a:r>
            <a:r>
              <a:rPr lang="en-US" dirty="0"/>
              <a:t>().collect(</a:t>
            </a:r>
            <a:r>
              <a:rPr lang="en-US" dirty="0" err="1"/>
              <a:t>customCollector</a:t>
            </a:r>
            <a:r>
              <a:rPr lang="en-US" dirty="0"/>
              <a:t>);        </a:t>
            </a:r>
            <a:r>
              <a:rPr lang="en-US" dirty="0" err="1"/>
              <a:t>System.out.println</a:t>
            </a:r>
            <a:r>
              <a:rPr lang="en-US" dirty="0"/>
              <a:t>(result);    }}</a:t>
            </a:r>
          </a:p>
        </p:txBody>
      </p:sp>
      <p:sp>
        <p:nvSpPr>
          <p:cNvPr id="7" name="TextBox 6">
            <a:extLst>
              <a:ext uri="{FF2B5EF4-FFF2-40B4-BE49-F238E27FC236}">
                <a16:creationId xmlns:a16="http://schemas.microsoft.com/office/drawing/2014/main" id="{09D5270E-1003-88DE-0C2D-1B5EAB57E3E5}"/>
              </a:ext>
            </a:extLst>
          </p:cNvPr>
          <p:cNvSpPr txBox="1"/>
          <p:nvPr/>
        </p:nvSpPr>
        <p:spPr>
          <a:xfrm>
            <a:off x="5179324" y="2662306"/>
            <a:ext cx="4305870" cy="345222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This collector: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Creates a </a:t>
            </a:r>
            <a:r>
              <a:rPr lang="en-US" b="0" i="0" dirty="0" err="1">
                <a:solidFill>
                  <a:srgbClr val="3A3A3A"/>
                </a:solidFill>
                <a:effectLst/>
                <a:latin typeface="Roboto" panose="02000000000000000000" pitchFamily="2" charset="0"/>
              </a:rPr>
              <a:t>StringJoiner</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Inserts uppercase strings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Combines results from parallel streams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Turns the result into a String</a:t>
            </a:r>
          </a:p>
          <a:p>
            <a:pPr algn="just">
              <a:lnSpc>
                <a:spcPts val="2100"/>
              </a:lnSpc>
              <a:spcBef>
                <a:spcPts val="1650"/>
              </a:spcBef>
              <a:buNone/>
            </a:pPr>
            <a:r>
              <a:rPr lang="en-US" b="0" i="0" dirty="0">
                <a:solidFill>
                  <a:srgbClr val="3A3A3A"/>
                </a:solidFill>
                <a:effectLst/>
                <a:latin typeface="Roboto" panose="02000000000000000000" pitchFamily="2" charset="0"/>
              </a:rPr>
              <a:t>Use cases: Custom collectors can be used when dealing with formatting, summarizing, or reducing complicated objects in stream pipelines.</a:t>
            </a:r>
          </a:p>
        </p:txBody>
      </p:sp>
    </p:spTree>
    <p:extLst>
      <p:ext uri="{BB962C8B-B14F-4D97-AF65-F5344CB8AC3E}">
        <p14:creationId xmlns:p14="http://schemas.microsoft.com/office/powerpoint/2010/main" val="403088747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067286-4690-EEC4-DCCE-EB7C7AD20535}"/>
              </a:ext>
            </a:extLst>
          </p:cNvPr>
          <p:cNvSpPr txBox="1"/>
          <p:nvPr/>
        </p:nvSpPr>
        <p:spPr>
          <a:xfrm>
            <a:off x="116006" y="0"/>
            <a:ext cx="4954136"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109. How to write the string reversal program in Java without using the in-built function?</a:t>
            </a:r>
          </a:p>
          <a:p>
            <a:pPr algn="just">
              <a:lnSpc>
                <a:spcPts val="2100"/>
              </a:lnSpc>
              <a:spcBef>
                <a:spcPts val="1650"/>
              </a:spcBef>
              <a:buNone/>
            </a:pPr>
            <a:r>
              <a:rPr lang="en-US" b="0" i="0" dirty="0">
                <a:solidFill>
                  <a:srgbClr val="3A3A3A"/>
                </a:solidFill>
                <a:effectLst/>
                <a:latin typeface="Roboto" panose="02000000000000000000" pitchFamily="2" charset="0"/>
              </a:rPr>
              <a:t>There are two ways we can reverse a string in java without using the in-built function: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loop by printing string backward, one character each time.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recursive function and printing the string backward.</a:t>
            </a:r>
          </a:p>
          <a:p>
            <a:pPr algn="just">
              <a:lnSpc>
                <a:spcPts val="2100"/>
              </a:lnSpc>
              <a:spcBef>
                <a:spcPts val="1650"/>
              </a:spcBef>
              <a:buNone/>
            </a:pPr>
            <a:r>
              <a:rPr lang="en-US" b="0" i="0" dirty="0">
                <a:solidFill>
                  <a:srgbClr val="3A3A3A"/>
                </a:solidFill>
                <a:effectLst/>
                <a:latin typeface="Roboto" panose="02000000000000000000" pitchFamily="2" charset="0"/>
              </a:rPr>
              <a:t>In the following program, you can see both ways to print the string in reverse order:</a:t>
            </a:r>
          </a:p>
        </p:txBody>
      </p:sp>
      <p:sp>
        <p:nvSpPr>
          <p:cNvPr id="5" name="TextBox 4">
            <a:extLst>
              <a:ext uri="{FF2B5EF4-FFF2-40B4-BE49-F238E27FC236}">
                <a16:creationId xmlns:a16="http://schemas.microsoft.com/office/drawing/2014/main" id="{6165EED3-CC85-7AA8-F194-AE0E5BD6EA84}"/>
              </a:ext>
            </a:extLst>
          </p:cNvPr>
          <p:cNvSpPr txBox="1"/>
          <p:nvPr/>
        </p:nvSpPr>
        <p:spPr>
          <a:xfrm>
            <a:off x="5274860" y="0"/>
            <a:ext cx="4954136" cy="10895290"/>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string_reversal</a:t>
            </a:r>
            <a:r>
              <a:rPr lang="en-US" dirty="0"/>
              <a:t> {</a:t>
            </a:r>
          </a:p>
          <a:p>
            <a:r>
              <a:rPr lang="en-US" dirty="0"/>
              <a:t>    // Method 1: Reverse string using a for-loop</a:t>
            </a:r>
          </a:p>
          <a:p>
            <a:r>
              <a:rPr lang="en-US" dirty="0"/>
              <a:t>    public void method1(String str) {</a:t>
            </a:r>
          </a:p>
          <a:p>
            <a:r>
              <a:rPr lang="en-US" dirty="0"/>
              <a:t>        for (int </a:t>
            </a:r>
            <a:r>
              <a:rPr lang="en-US" dirty="0" err="1"/>
              <a:t>i</a:t>
            </a:r>
            <a:r>
              <a:rPr lang="en-US" dirty="0"/>
              <a:t> = </a:t>
            </a:r>
            <a:r>
              <a:rPr lang="en-US" dirty="0" err="1"/>
              <a:t>str.length</a:t>
            </a:r>
            <a:r>
              <a:rPr lang="en-US" dirty="0"/>
              <a:t>() - 1; </a:t>
            </a:r>
            <a:r>
              <a:rPr lang="en-US" dirty="0" err="1"/>
              <a:t>i</a:t>
            </a:r>
            <a:r>
              <a:rPr lang="en-US" dirty="0"/>
              <a:t> &gt;= 0; </a:t>
            </a:r>
            <a:r>
              <a:rPr lang="en-US" dirty="0" err="1"/>
              <a:t>i</a:t>
            </a:r>
            <a:r>
              <a:rPr lang="en-US" dirty="0"/>
              <a:t>--) {</a:t>
            </a:r>
          </a:p>
          <a:p>
            <a:r>
              <a:rPr lang="en-US" dirty="0"/>
              <a:t>            </a:t>
            </a:r>
            <a:r>
              <a:rPr lang="en-US" dirty="0" err="1"/>
              <a:t>System.out.print</a:t>
            </a:r>
            <a:r>
              <a:rPr lang="en-US" dirty="0"/>
              <a:t>(</a:t>
            </a:r>
            <a:r>
              <a:rPr lang="en-US" dirty="0" err="1"/>
              <a:t>str.charAt</a:t>
            </a:r>
            <a:r>
              <a:rPr lang="en-US" dirty="0"/>
              <a:t>(</a:t>
            </a:r>
            <a:r>
              <a:rPr lang="en-US" dirty="0" err="1"/>
              <a:t>i</a:t>
            </a:r>
            <a:r>
              <a:rPr lang="en-US" dirty="0"/>
              <a:t>));</a:t>
            </a:r>
          </a:p>
          <a:p>
            <a:r>
              <a:rPr lang="en-US" dirty="0"/>
              <a:t>        }</a:t>
            </a:r>
          </a:p>
          <a:p>
            <a:r>
              <a:rPr lang="en-US" dirty="0"/>
              <a:t>        </a:t>
            </a:r>
            <a:r>
              <a:rPr lang="en-US" dirty="0" err="1"/>
              <a:t>System.out.println</a:t>
            </a:r>
            <a:r>
              <a:rPr lang="en-US" dirty="0"/>
              <a:t>();</a:t>
            </a:r>
          </a:p>
          <a:p>
            <a:r>
              <a:rPr lang="en-US" dirty="0"/>
              <a:t>    }</a:t>
            </a:r>
          </a:p>
          <a:p>
            <a:endParaRPr lang="en-US" dirty="0"/>
          </a:p>
          <a:p>
            <a:r>
              <a:rPr lang="en-US" dirty="0"/>
              <a:t>    // Method to reverse a string using recursion</a:t>
            </a:r>
          </a:p>
          <a:p>
            <a:r>
              <a:rPr lang="en-US" dirty="0"/>
              <a:t>    public void reverse(String str) {</a:t>
            </a:r>
          </a:p>
          <a:p>
            <a:r>
              <a:rPr lang="en-US" dirty="0"/>
              <a:t>        if (</a:t>
            </a:r>
            <a:r>
              <a:rPr lang="en-US" dirty="0" err="1"/>
              <a:t>str.isEmpty</a:t>
            </a:r>
            <a:r>
              <a:rPr lang="en-US" dirty="0"/>
              <a:t>()) {</a:t>
            </a:r>
          </a:p>
          <a:p>
            <a:r>
              <a:rPr lang="en-US" dirty="0"/>
              <a:t>            return; // Base condition: stop recursion when string is empty</a:t>
            </a:r>
          </a:p>
          <a:p>
            <a:r>
              <a:rPr lang="en-US" dirty="0"/>
              <a:t>        } else {</a:t>
            </a:r>
          </a:p>
          <a:p>
            <a:r>
              <a:rPr lang="en-US" dirty="0"/>
              <a:t>            reverse(</a:t>
            </a:r>
            <a:r>
              <a:rPr lang="en-US" dirty="0" err="1"/>
              <a:t>str.substring</a:t>
            </a:r>
            <a:r>
              <a:rPr lang="en-US" dirty="0"/>
              <a:t>(1)); // Recursive call with substring excluding the first character</a:t>
            </a:r>
          </a:p>
          <a:p>
            <a:r>
              <a:rPr lang="en-US" dirty="0"/>
              <a:t>            </a:t>
            </a:r>
            <a:r>
              <a:rPr lang="en-US" dirty="0" err="1"/>
              <a:t>System.out.print</a:t>
            </a:r>
            <a:r>
              <a:rPr lang="en-US" dirty="0"/>
              <a:t>(</a:t>
            </a:r>
            <a:r>
              <a:rPr lang="en-US" dirty="0" err="1"/>
              <a:t>str.charAt</a:t>
            </a:r>
            <a:r>
              <a:rPr lang="en-US" dirty="0"/>
              <a:t>(0)); // Print the first character after recursive calls</a:t>
            </a:r>
          </a:p>
          <a:p>
            <a:r>
              <a:rPr lang="en-US" dirty="0"/>
              <a:t>        }</a:t>
            </a:r>
          </a:p>
          <a:p>
            <a:r>
              <a:rPr lang="en-US" dirty="0"/>
              <a:t>    }</a:t>
            </a:r>
          </a:p>
          <a:p>
            <a:endParaRPr lang="en-US" dirty="0"/>
          </a:p>
          <a:p>
            <a:r>
              <a:rPr lang="en-US" dirty="0"/>
              <a:t>    public static void main(String </a:t>
            </a:r>
            <a:r>
              <a:rPr lang="en-US" dirty="0" err="1"/>
              <a:t>args</a:t>
            </a:r>
            <a:r>
              <a:rPr lang="en-US" dirty="0"/>
              <a:t>[]) {</a:t>
            </a:r>
          </a:p>
          <a:p>
            <a:r>
              <a:rPr lang="en-US" dirty="0"/>
              <a:t>        String str = "</a:t>
            </a:r>
            <a:r>
              <a:rPr lang="en-US" dirty="0" err="1"/>
              <a:t>Intellipaat</a:t>
            </a:r>
            <a:r>
              <a:rPr lang="en-US" dirty="0"/>
              <a:t>";</a:t>
            </a:r>
          </a:p>
          <a:p>
            <a:r>
              <a:rPr lang="en-US" dirty="0"/>
              <a:t>        </a:t>
            </a:r>
            <a:r>
              <a:rPr lang="en-US" dirty="0" err="1"/>
              <a:t>System.out.println</a:t>
            </a:r>
            <a:r>
              <a:rPr lang="en-US" dirty="0"/>
              <a:t>("The original string is " + str);</a:t>
            </a:r>
          </a:p>
          <a:p>
            <a:endParaRPr lang="en-US" dirty="0"/>
          </a:p>
          <a:p>
            <a:r>
              <a:rPr lang="en-US" dirty="0"/>
              <a:t>        </a:t>
            </a:r>
            <a:r>
              <a:rPr lang="en-US" dirty="0" err="1"/>
              <a:t>System.out.println</a:t>
            </a:r>
            <a:r>
              <a:rPr lang="en-US" dirty="0"/>
              <a:t>("String reversal using the loop: ");</a:t>
            </a:r>
          </a:p>
          <a:p>
            <a:r>
              <a:rPr lang="en-US" dirty="0"/>
              <a:t>        </a:t>
            </a:r>
            <a:r>
              <a:rPr lang="en-US" dirty="0" err="1"/>
              <a:t>string_reversal</a:t>
            </a:r>
            <a:r>
              <a:rPr lang="en-US" dirty="0"/>
              <a:t> obj = new </a:t>
            </a:r>
            <a:r>
              <a:rPr lang="en-US" dirty="0" err="1"/>
              <a:t>string_reversal</a:t>
            </a:r>
            <a:r>
              <a:rPr lang="en-US" dirty="0"/>
              <a:t>();</a:t>
            </a:r>
          </a:p>
          <a:p>
            <a:r>
              <a:rPr lang="en-US" dirty="0"/>
              <a:t>        obj.method1(str);</a:t>
            </a:r>
          </a:p>
          <a:p>
            <a:endParaRPr lang="en-US" dirty="0"/>
          </a:p>
          <a:p>
            <a:r>
              <a:rPr lang="en-US" dirty="0"/>
              <a:t>        </a:t>
            </a:r>
            <a:r>
              <a:rPr lang="en-US" dirty="0" err="1"/>
              <a:t>System.out.println</a:t>
            </a:r>
            <a:r>
              <a:rPr lang="en-US" dirty="0"/>
              <a:t>("String reversal using recursion: ");</a:t>
            </a:r>
          </a:p>
          <a:p>
            <a:r>
              <a:rPr lang="en-US" dirty="0"/>
              <a:t>        </a:t>
            </a:r>
            <a:r>
              <a:rPr lang="en-US" dirty="0" err="1"/>
              <a:t>obj.reverse</a:t>
            </a:r>
            <a:r>
              <a:rPr lang="en-US" dirty="0"/>
              <a:t>(str);</a:t>
            </a:r>
          </a:p>
          <a:p>
            <a:r>
              <a:rPr lang="en-US" dirty="0"/>
              <a:t>    }</a:t>
            </a:r>
          </a:p>
          <a:p>
            <a:r>
              <a:rPr lang="en-US" dirty="0"/>
              <a:t>}</a:t>
            </a:r>
          </a:p>
        </p:txBody>
      </p:sp>
    </p:spTree>
    <p:extLst>
      <p:ext uri="{BB962C8B-B14F-4D97-AF65-F5344CB8AC3E}">
        <p14:creationId xmlns:p14="http://schemas.microsoft.com/office/powerpoint/2010/main" val="3116626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0200C-F6F6-9221-4F04-6461AB6EE7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16D116-8A9E-57CA-D3B9-B03DDFE5AA02}"/>
              </a:ext>
            </a:extLst>
          </p:cNvPr>
          <p:cNvSpPr txBox="1"/>
          <p:nvPr/>
        </p:nvSpPr>
        <p:spPr>
          <a:xfrm>
            <a:off x="156950" y="14480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110. What is a </a:t>
            </a:r>
            <a:r>
              <a:rPr lang="en-US" b="0" i="0" dirty="0" err="1">
                <a:solidFill>
                  <a:srgbClr val="272C37"/>
                </a:solidFill>
                <a:effectLst/>
                <a:latin typeface="Roboto" panose="02000000000000000000" pitchFamily="2" charset="0"/>
              </a:rPr>
              <a:t>StringJoiner</a:t>
            </a:r>
            <a:r>
              <a:rPr lang="en-US" b="0" i="0" dirty="0">
                <a:solidFill>
                  <a:srgbClr val="272C37"/>
                </a:solidFill>
                <a:effectLst/>
                <a:latin typeface="Roboto" panose="02000000000000000000" pitchFamily="2" charset="0"/>
              </a:rPr>
              <a:t> in java? Explain with a sample code.</a:t>
            </a:r>
          </a:p>
          <a:p>
            <a:pPr algn="just">
              <a:lnSpc>
                <a:spcPts val="2100"/>
              </a:lnSpc>
              <a:spcBef>
                <a:spcPts val="1650"/>
              </a:spcBef>
              <a:buNone/>
            </a:pP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 is a class in Java that is used to join multiple strings together, optionally adding a delimiter between them. Here’s an example code that demonstrates the usage of </a:t>
            </a: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9F70D00B-684B-24EA-8DD5-A35155C6E631}"/>
              </a:ext>
            </a:extLst>
          </p:cNvPr>
          <p:cNvSpPr txBox="1"/>
          <p:nvPr/>
        </p:nvSpPr>
        <p:spPr>
          <a:xfrm>
            <a:off x="334371" y="2796865"/>
            <a:ext cx="4954136" cy="2308324"/>
          </a:xfrm>
          <a:prstGeom prst="rect">
            <a:avLst/>
          </a:prstGeom>
          <a:noFill/>
        </p:spPr>
        <p:txBody>
          <a:bodyPr wrap="square">
            <a:spAutoFit/>
          </a:bodyPr>
          <a:lstStyle/>
          <a:p>
            <a:r>
              <a:rPr lang="en-US" dirty="0"/>
              <a:t>import </a:t>
            </a:r>
            <a:r>
              <a:rPr lang="en-US" dirty="0" err="1"/>
              <a:t>java.util.StringJoiner;class</a:t>
            </a:r>
            <a:r>
              <a:rPr lang="en-US" dirty="0"/>
              <a:t> Main {    public static void main(String[] </a:t>
            </a:r>
            <a:r>
              <a:rPr lang="en-US" dirty="0" err="1"/>
              <a:t>args</a:t>
            </a:r>
            <a:r>
              <a:rPr lang="en-US" dirty="0"/>
              <a:t>) {        // Create a </a:t>
            </a:r>
            <a:r>
              <a:rPr lang="en-US" dirty="0" err="1"/>
              <a:t>StringJoiner</a:t>
            </a:r>
            <a:r>
              <a:rPr lang="en-US" dirty="0"/>
              <a:t> with a delimiter "."        </a:t>
            </a:r>
            <a:r>
              <a:rPr lang="en-US" dirty="0" err="1"/>
              <a:t>StringJoiner</a:t>
            </a:r>
            <a:r>
              <a:rPr lang="en-US" dirty="0"/>
              <a:t> </a:t>
            </a:r>
            <a:r>
              <a:rPr lang="en-US" dirty="0" err="1"/>
              <a:t>strJoiner</a:t>
            </a:r>
            <a:r>
              <a:rPr lang="en-US" dirty="0"/>
              <a:t> = new </a:t>
            </a:r>
            <a:r>
              <a:rPr lang="en-US" dirty="0" err="1"/>
              <a:t>StringJoiner</a:t>
            </a:r>
            <a:r>
              <a:rPr lang="en-US" dirty="0"/>
              <a:t>(".");                // Add strings to the </a:t>
            </a:r>
            <a:r>
              <a:rPr lang="en-US" dirty="0" err="1"/>
              <a:t>StringJoiner</a:t>
            </a:r>
            <a:r>
              <a:rPr lang="en-US" dirty="0"/>
              <a:t>        </a:t>
            </a:r>
            <a:r>
              <a:rPr lang="en-US" dirty="0" err="1"/>
              <a:t>strJoiner.add</a:t>
            </a:r>
            <a:r>
              <a:rPr lang="en-US" dirty="0"/>
              <a:t>("AAA").add("BBB");                // Print the joined string        </a:t>
            </a:r>
            <a:r>
              <a:rPr lang="en-US" dirty="0" err="1"/>
              <a:t>System.out.println</a:t>
            </a:r>
            <a:r>
              <a:rPr lang="en-US" dirty="0"/>
              <a:t>(</a:t>
            </a:r>
            <a:r>
              <a:rPr lang="en-US" dirty="0" err="1"/>
              <a:t>strJoiner</a:t>
            </a:r>
            <a:r>
              <a:rPr lang="en-US" dirty="0"/>
              <a:t>);    }}</a:t>
            </a:r>
          </a:p>
        </p:txBody>
      </p:sp>
    </p:spTree>
    <p:extLst>
      <p:ext uri="{BB962C8B-B14F-4D97-AF65-F5344CB8AC3E}">
        <p14:creationId xmlns:p14="http://schemas.microsoft.com/office/powerpoint/2010/main" val="167242814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E8BD-CE1A-EBEF-E4FD-F793D38095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8B68F0-210B-CE41-6FAB-8D67BB0F5FFF}"/>
              </a:ext>
            </a:extLst>
          </p:cNvPr>
          <p:cNvSpPr txBox="1"/>
          <p:nvPr/>
        </p:nvSpPr>
        <p:spPr>
          <a:xfrm>
            <a:off x="2477069" y="-1544591"/>
            <a:ext cx="4954136" cy="995400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111. How do you read and write files using </a:t>
            </a:r>
            <a:r>
              <a:rPr lang="en-US" b="0" i="0" dirty="0" err="1">
                <a:solidFill>
                  <a:srgbClr val="272C37"/>
                </a:solidFill>
                <a:effectLst/>
                <a:latin typeface="Roboto" panose="02000000000000000000" pitchFamily="2" charset="0"/>
              </a:rPr>
              <a:t>java.nio.file</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in Java 7 and later is the preferred method of dealing with file I/O because of its simplicity and efficiency. It is part of the New I/O (NIO) API and supports non-blocking, memory-efficient I/O.</a:t>
            </a:r>
          </a:p>
          <a:p>
            <a:pPr algn="just">
              <a:lnSpc>
                <a:spcPts val="2100"/>
              </a:lnSpc>
              <a:spcBef>
                <a:spcPts val="750"/>
              </a:spcBef>
              <a:buNone/>
            </a:pPr>
            <a:r>
              <a:rPr lang="en-US" b="0" i="0" dirty="0">
                <a:solidFill>
                  <a:srgbClr val="3A3A3A"/>
                </a:solidFill>
                <a:effectLst/>
                <a:latin typeface="Roboto" panose="02000000000000000000" pitchFamily="2" charset="0"/>
              </a:rPr>
              <a:t>To read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("sample.txt");</a:t>
            </a:r>
          </a:p>
          <a:p>
            <a:pPr algn="l">
              <a:spcBef>
                <a:spcPts val="1125"/>
              </a:spcBef>
              <a:spcAft>
                <a:spcPts val="375"/>
              </a:spcAft>
              <a:buNone/>
            </a:pPr>
            <a:r>
              <a:rPr lang="en-US" b="0" i="0" dirty="0">
                <a:solidFill>
                  <a:srgbClr val="212529"/>
                </a:solidFill>
                <a:effectLst/>
                <a:latin typeface="Courier New" panose="02070309020205020404" pitchFamily="49" charset="0"/>
              </a:rPr>
              <a:t>List lines = </a:t>
            </a:r>
            <a:r>
              <a:rPr lang="en-US" b="0" i="0" dirty="0" err="1">
                <a:solidFill>
                  <a:srgbClr val="212529"/>
                </a:solidFill>
                <a:effectLst/>
                <a:latin typeface="Courier New" panose="02070309020205020404" pitchFamily="49" charset="0"/>
              </a:rPr>
              <a:t>Files.readAllLines</a:t>
            </a:r>
            <a:r>
              <a:rPr lang="en-US" b="0" i="0" dirty="0">
                <a:solidFill>
                  <a:srgbClr val="212529"/>
                </a:solidFill>
                <a:effectLst/>
                <a:latin typeface="Courier New" panose="02070309020205020404" pitchFamily="49" charset="0"/>
              </a:rPr>
              <a:t>(path,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To write to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("output.txt");</a:t>
            </a:r>
          </a:p>
          <a:p>
            <a:pPr algn="l">
              <a:spcBef>
                <a:spcPts val="1125"/>
              </a:spcBef>
              <a:spcAft>
                <a:spcPts val="375"/>
              </a:spcAft>
              <a:buNone/>
            </a:pPr>
            <a:r>
              <a:rPr lang="en-US" b="0" i="0" dirty="0" err="1">
                <a:solidFill>
                  <a:srgbClr val="212529"/>
                </a:solidFill>
                <a:effectLst/>
                <a:latin typeface="Courier New" panose="02070309020205020404" pitchFamily="49" charset="0"/>
              </a:rPr>
              <a:t>Files.write</a:t>
            </a: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Arrays.asList</a:t>
            </a:r>
            <a:r>
              <a:rPr lang="en-US" b="0" i="0" dirty="0">
                <a:solidFill>
                  <a:srgbClr val="212529"/>
                </a:solidFill>
                <a:effectLst/>
                <a:latin typeface="Courier New" panose="02070309020205020404" pitchFamily="49" charset="0"/>
              </a:rPr>
              <a:t>("Line 1", "Line 2"),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package also supports: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File attributes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Stream-based I/O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Directory traversal</a:t>
            </a:r>
          </a:p>
          <a:p>
            <a:pPr algn="just">
              <a:lnSpc>
                <a:spcPts val="2100"/>
              </a:lnSpc>
              <a:spcBef>
                <a:spcPts val="1650"/>
              </a:spcBef>
              <a:buNone/>
            </a:pPr>
            <a:r>
              <a:rPr lang="en-US" b="0" i="0" dirty="0">
                <a:solidFill>
                  <a:srgbClr val="3A3A3A"/>
                </a:solidFill>
                <a:effectLst/>
                <a:latin typeface="Roboto" panose="02000000000000000000" pitchFamily="2" charset="0"/>
              </a:rPr>
              <a:t>These methods are widely used in modern Java development, especially for building file processing systems or working with large data sets.</a:t>
            </a:r>
          </a:p>
        </p:txBody>
      </p:sp>
    </p:spTree>
    <p:extLst>
      <p:ext uri="{BB962C8B-B14F-4D97-AF65-F5344CB8AC3E}">
        <p14:creationId xmlns:p14="http://schemas.microsoft.com/office/powerpoint/2010/main" val="34774461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98897-B5B8-35AE-2ED1-0029E46A79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E37EE-59D3-DBF2-2114-43071208323C}"/>
              </a:ext>
            </a:extLst>
          </p:cNvPr>
          <p:cNvSpPr txBox="1"/>
          <p:nvPr/>
        </p:nvSpPr>
        <p:spPr>
          <a:xfrm>
            <a:off x="327546" y="414808"/>
            <a:ext cx="8884693" cy="471154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112. What is a lambda expression, and how is it used in Java?</a:t>
            </a:r>
          </a:p>
          <a:p>
            <a:pPr algn="just">
              <a:lnSpc>
                <a:spcPts val="2100"/>
              </a:lnSpc>
              <a:spcBef>
                <a:spcPts val="1650"/>
              </a:spcBef>
              <a:buNone/>
            </a:pPr>
            <a:r>
              <a:rPr lang="en-US" b="0" i="0" dirty="0">
                <a:solidFill>
                  <a:srgbClr val="3A3A3A"/>
                </a:solidFill>
                <a:effectLst/>
                <a:latin typeface="Roboto" panose="02000000000000000000" pitchFamily="2" charset="0"/>
              </a:rPr>
              <a:t>A Java lambda expression is a concise block of code that can be passed around and executed. Introduced in Java 8, it is mainly used to implement  functional interfaces, interfaces with a single abstract method.</a:t>
            </a:r>
          </a:p>
          <a:p>
            <a:pPr algn="just">
              <a:lnSpc>
                <a:spcPts val="2100"/>
              </a:lnSpc>
              <a:spcBef>
                <a:spcPts val="750"/>
              </a:spcBef>
              <a:buNone/>
            </a:pPr>
            <a:r>
              <a:rPr lang="en-US" b="0" i="0" dirty="0">
                <a:solidFill>
                  <a:srgbClr val="3A3A3A"/>
                </a:solidFill>
                <a:effectLst/>
                <a:latin typeface="Roboto" panose="02000000000000000000" pitchFamily="2" charset="0"/>
              </a:rPr>
              <a:t>The syntax:</a:t>
            </a:r>
          </a:p>
          <a:p>
            <a:pPr algn="l">
              <a:spcBef>
                <a:spcPts val="1125"/>
              </a:spcBef>
              <a:spcAft>
                <a:spcPts val="375"/>
              </a:spcAft>
              <a:buNone/>
            </a:pPr>
            <a:r>
              <a:rPr lang="en-US" b="0" i="0" dirty="0">
                <a:solidFill>
                  <a:srgbClr val="212529"/>
                </a:solidFill>
                <a:effectLst/>
                <a:latin typeface="Courier New" panose="02070309020205020404" pitchFamily="49" charset="0"/>
              </a:rPr>
              <a:t>(parameter) -&gt; { body }</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Runnable r = () -&gt;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 from Lambda!");</a:t>
            </a:r>
          </a:p>
          <a:p>
            <a:pPr algn="just">
              <a:lnSpc>
                <a:spcPts val="2100"/>
              </a:lnSpc>
              <a:spcBef>
                <a:spcPts val="1650"/>
              </a:spcBef>
              <a:buNone/>
            </a:pPr>
            <a:r>
              <a:rPr lang="en-US" b="0" i="0" dirty="0">
                <a:solidFill>
                  <a:srgbClr val="3A3A3A"/>
                </a:solidFill>
                <a:effectLst/>
                <a:latin typeface="Roboto" panose="02000000000000000000" pitchFamily="2" charset="0"/>
              </a:rPr>
              <a:t>Lambda expressions are widely employed in functional programming, particularly with Java Stream API, to perform operations such as filtering, mapping, and iterating. They make the code more readable, concise, and highly expressive, particularly when dealing with collections and concurrency APIs.</a:t>
            </a:r>
          </a:p>
        </p:txBody>
      </p:sp>
    </p:spTree>
    <p:extLst>
      <p:ext uri="{BB962C8B-B14F-4D97-AF65-F5344CB8AC3E}">
        <p14:creationId xmlns:p14="http://schemas.microsoft.com/office/powerpoint/2010/main" val="22911877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6B79-6866-B0DC-7F69-A4622BF3F9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26A7E-661A-F930-79B5-173BCE980285}"/>
              </a:ext>
            </a:extLst>
          </p:cNvPr>
          <p:cNvSpPr txBox="1"/>
          <p:nvPr/>
        </p:nvSpPr>
        <p:spPr>
          <a:xfrm>
            <a:off x="0" y="0"/>
            <a:ext cx="990600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113. What are streams in Java, and how are they used?</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Streams</a:t>
            </a:r>
            <a:r>
              <a:rPr lang="en-US" b="0" i="0" dirty="0">
                <a:solidFill>
                  <a:srgbClr val="3A3A3A"/>
                </a:solidFill>
                <a:effectLst/>
                <a:latin typeface="Roboto" panose="02000000000000000000" pitchFamily="2" charset="0"/>
              </a:rPr>
              <a:t> are a sequence of elements that can support functional-style operations like filter, map, reduce, and collect. The Java Stream API improves collection processing by enabling declarative, pipelined operations on data structures like  List and Set.</a:t>
            </a:r>
          </a:p>
          <a:p>
            <a:pPr algn="just">
              <a:lnSpc>
                <a:spcPts val="2100"/>
              </a:lnSpc>
              <a:spcBef>
                <a:spcPts val="750"/>
              </a:spcBef>
              <a:buNone/>
            </a:pPr>
            <a:r>
              <a:rPr lang="en-US" b="0" i="0" dirty="0">
                <a:solidFill>
                  <a:srgbClr val="3A3A3A"/>
                </a:solidFill>
                <a:effectLst/>
                <a:latin typeface="Roboto" panose="02000000000000000000" pitchFamily="2" charset="0"/>
              </a:rPr>
              <a:t>Here is a sample code:</a:t>
            </a:r>
          </a:p>
        </p:txBody>
      </p:sp>
      <p:sp>
        <p:nvSpPr>
          <p:cNvPr id="5" name="TextBox 4">
            <a:extLst>
              <a:ext uri="{FF2B5EF4-FFF2-40B4-BE49-F238E27FC236}">
                <a16:creationId xmlns:a16="http://schemas.microsoft.com/office/drawing/2014/main" id="{F1490A27-BF3D-8E46-9B3E-57DC524E3988}"/>
              </a:ext>
            </a:extLst>
          </p:cNvPr>
          <p:cNvSpPr txBox="1"/>
          <p:nvPr/>
        </p:nvSpPr>
        <p:spPr>
          <a:xfrm>
            <a:off x="116005" y="1990288"/>
            <a:ext cx="5008728" cy="4247317"/>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StreamExample</a:t>
            </a:r>
            <a:r>
              <a:rPr lang="en-US" dirty="0"/>
              <a:t> {</a:t>
            </a:r>
          </a:p>
          <a:p>
            <a:r>
              <a:rPr lang="en-US" dirty="0"/>
              <a:t>    public static void main(String[] </a:t>
            </a:r>
            <a:r>
              <a:rPr lang="en-US" dirty="0" err="1"/>
              <a:t>args</a:t>
            </a:r>
            <a:r>
              <a:rPr lang="en-US" dirty="0"/>
              <a:t>) {</a:t>
            </a:r>
          </a:p>
          <a:p>
            <a:r>
              <a:rPr lang="en-US" dirty="0"/>
              <a:t>        List&lt;String&gt; names = </a:t>
            </a:r>
            <a:r>
              <a:rPr lang="en-US" dirty="0" err="1"/>
              <a:t>Arrays.asList</a:t>
            </a:r>
            <a:r>
              <a:rPr lang="en-US" dirty="0"/>
              <a:t>("Ayaan", "Alam", "Abhinav", "Ravi");</a:t>
            </a:r>
          </a:p>
          <a:p>
            <a:endParaRPr lang="en-US" dirty="0"/>
          </a:p>
          <a:p>
            <a:r>
              <a:rPr lang="en-US" dirty="0"/>
              <a:t>        </a:t>
            </a:r>
            <a:r>
              <a:rPr lang="en-US" dirty="0" err="1"/>
              <a:t>names.stream</a:t>
            </a:r>
            <a:r>
              <a:rPr lang="en-US" dirty="0"/>
              <a:t>()</a:t>
            </a:r>
          </a:p>
          <a:p>
            <a:r>
              <a:rPr lang="en-US" dirty="0"/>
              <a:t>             .filter(name -&gt; </a:t>
            </a:r>
            <a:r>
              <a:rPr lang="en-US" dirty="0" err="1"/>
              <a:t>name.startsWith</a:t>
            </a:r>
            <a:r>
              <a:rPr lang="en-US" dirty="0"/>
              <a:t>("A")) // Keep names starting with "A"</a:t>
            </a:r>
          </a:p>
          <a:p>
            <a:r>
              <a:rPr lang="en-US" dirty="0"/>
              <a:t>             .</a:t>
            </a:r>
            <a:r>
              <a:rPr lang="en-US" dirty="0" err="1"/>
              <a:t>forEach</a:t>
            </a:r>
            <a:r>
              <a:rPr lang="en-US" dirty="0"/>
              <a:t>(</a:t>
            </a:r>
            <a:r>
              <a:rPr lang="en-US" dirty="0" err="1"/>
              <a:t>System.out</a:t>
            </a:r>
            <a:r>
              <a:rPr lang="en-US" dirty="0"/>
              <a:t>::</a:t>
            </a:r>
            <a:r>
              <a:rPr lang="en-US" dirty="0" err="1"/>
              <a:t>println</a:t>
            </a:r>
            <a:r>
              <a:rPr lang="en-US" dirty="0"/>
              <a:t>);        // Print each filtered name</a:t>
            </a:r>
          </a:p>
          <a:p>
            <a:r>
              <a:rPr lang="en-US" dirty="0"/>
              <a:t>    }</a:t>
            </a:r>
          </a:p>
          <a:p>
            <a:r>
              <a:rPr lang="en-US" dirty="0"/>
              <a:t>}</a:t>
            </a:r>
          </a:p>
        </p:txBody>
      </p:sp>
      <p:sp>
        <p:nvSpPr>
          <p:cNvPr id="7" name="TextBox 6">
            <a:extLst>
              <a:ext uri="{FF2B5EF4-FFF2-40B4-BE49-F238E27FC236}">
                <a16:creationId xmlns:a16="http://schemas.microsoft.com/office/drawing/2014/main" id="{A3D1936E-947A-3D4A-304A-B02E88E16FCA}"/>
              </a:ext>
            </a:extLst>
          </p:cNvPr>
          <p:cNvSpPr txBox="1"/>
          <p:nvPr/>
        </p:nvSpPr>
        <p:spPr>
          <a:xfrm>
            <a:off x="5732060" y="2152639"/>
            <a:ext cx="3888474"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streams are either parallel or sequential and enable parallel processing to optimize the execution. Both are extremely useful when combined with method references and lambda expressions and encourage clean, functional style programming in Java.</a:t>
            </a:r>
            <a:endParaRPr lang="en-US" dirty="0"/>
          </a:p>
        </p:txBody>
      </p:sp>
    </p:spTree>
    <p:extLst>
      <p:ext uri="{BB962C8B-B14F-4D97-AF65-F5344CB8AC3E}">
        <p14:creationId xmlns:p14="http://schemas.microsoft.com/office/powerpoint/2010/main" val="102494627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1CAAE-967C-07FA-D948-877FDD34F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358EA7-2EE4-32CA-01F5-FA129A0B7E0A}"/>
              </a:ext>
            </a:extLst>
          </p:cNvPr>
          <p:cNvSpPr txBox="1"/>
          <p:nvPr/>
        </p:nvSpPr>
        <p:spPr>
          <a:xfrm>
            <a:off x="586854" y="323383"/>
            <a:ext cx="6803408" cy="57759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114. Explain the concept of autoboxing and unboxing.</a:t>
            </a:r>
          </a:p>
          <a:p>
            <a:pPr algn="just">
              <a:lnSpc>
                <a:spcPts val="2100"/>
              </a:lnSpc>
              <a:spcBef>
                <a:spcPts val="1650"/>
              </a:spcBef>
              <a:buNone/>
            </a:pPr>
            <a:r>
              <a:rPr lang="en-US" b="0" i="0" dirty="0">
                <a:solidFill>
                  <a:srgbClr val="3A3A3A"/>
                </a:solidFill>
                <a:effectLst/>
                <a:latin typeface="Roboto" panose="02000000000000000000" pitchFamily="2" charset="0"/>
              </a:rPr>
              <a:t>Autoboxing and unboxing are significant additions made to Java 5 to connect primitive data types and their corresponding wrapper 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Autoboxing is the process where a primitive type like int is automatically converted to its equivalent wrapper class such as Integer.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Unboxing is converting an Integer back to an int.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Integer x = 10;  // autoboxing</a:t>
            </a:r>
          </a:p>
          <a:p>
            <a:pPr algn="l">
              <a:spcBef>
                <a:spcPts val="1125"/>
              </a:spcBef>
              <a:spcAft>
                <a:spcPts val="375"/>
              </a:spcAft>
              <a:buNone/>
            </a:pPr>
            <a:r>
              <a:rPr lang="en-US" b="0" i="0" dirty="0">
                <a:solidFill>
                  <a:srgbClr val="212529"/>
                </a:solidFill>
                <a:effectLst/>
                <a:latin typeface="Courier New" panose="02070309020205020404" pitchFamily="49" charset="0"/>
              </a:rPr>
              <a:t>int y = x;       // unboxing</a:t>
            </a:r>
          </a:p>
          <a:p>
            <a:pPr algn="just">
              <a:lnSpc>
                <a:spcPts val="2100"/>
              </a:lnSpc>
              <a:spcBef>
                <a:spcPts val="1650"/>
              </a:spcBef>
              <a:buNone/>
            </a:pPr>
            <a:r>
              <a:rPr lang="en-US" b="0" i="0" dirty="0">
                <a:solidFill>
                  <a:srgbClr val="3A3A3A"/>
                </a:solidFill>
                <a:effectLst/>
                <a:latin typeface="Roboto" panose="02000000000000000000" pitchFamily="2" charset="0"/>
              </a:rPr>
              <a:t>These conversions are useful with collections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where objects are needed instead of primitives. They make your code more readable and less cluttered with boilerplate, although be mindful of the performance ramifications when in a tight loop.</a:t>
            </a:r>
          </a:p>
        </p:txBody>
      </p:sp>
    </p:spTree>
    <p:extLst>
      <p:ext uri="{BB962C8B-B14F-4D97-AF65-F5344CB8AC3E}">
        <p14:creationId xmlns:p14="http://schemas.microsoft.com/office/powerpoint/2010/main" val="90313890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E648-BB2E-41C3-5C64-C5189A9B4EE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34E13E3-1105-CD81-D445-C767C551B4A9}"/>
              </a:ext>
            </a:extLst>
          </p:cNvPr>
          <p:cNvSpPr txBox="1"/>
          <p:nvPr/>
        </p:nvSpPr>
        <p:spPr>
          <a:xfrm>
            <a:off x="2477069" y="287962"/>
            <a:ext cx="4954136" cy="62889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115. What is the purpose of the transient keyword in serialization?</a:t>
            </a:r>
          </a:p>
          <a:p>
            <a:pPr algn="just">
              <a:lnSpc>
                <a:spcPts val="2100"/>
              </a:lnSpc>
              <a:spcBef>
                <a:spcPts val="1650"/>
              </a:spcBef>
              <a:buNone/>
            </a:pPr>
            <a:r>
              <a:rPr lang="en-US" b="0" i="0" dirty="0">
                <a:solidFill>
                  <a:srgbClr val="3A3A3A"/>
                </a:solidFill>
                <a:effectLst/>
                <a:latin typeface="Roboto" panose="02000000000000000000" pitchFamily="2" charset="0"/>
              </a:rPr>
              <a:t>In Java, if a class implements Serializable, all of its fields are eligible to be serialized by default. However, if you want to prevent a particular field from getting serialized, you make that field transient.</a:t>
            </a:r>
          </a:p>
          <a:p>
            <a:pPr algn="just">
              <a:lnSpc>
                <a:spcPts val="2100"/>
              </a:lnSpc>
              <a:spcBef>
                <a:spcPts val="750"/>
              </a:spcBef>
              <a:buNone/>
            </a:pPr>
            <a:r>
              <a:rPr lang="en-US" b="0" i="0" dirty="0">
                <a:solidFill>
                  <a:srgbClr val="3A3A3A"/>
                </a:solidFill>
                <a:effectLst/>
                <a:latin typeface="Roboto" panose="02000000000000000000" pitchFamily="2" charset="0"/>
              </a:rPr>
              <a:t>For instance:</a:t>
            </a:r>
          </a:p>
          <a:p>
            <a:pPr algn="l">
              <a:spcBef>
                <a:spcPts val="1125"/>
              </a:spcBef>
              <a:spcAft>
                <a:spcPts val="375"/>
              </a:spcAft>
              <a:buNone/>
            </a:pPr>
            <a:r>
              <a:rPr lang="en-US" b="0" i="0" dirty="0">
                <a:solidFill>
                  <a:srgbClr val="212529"/>
                </a:solidFill>
                <a:effectLst/>
                <a:latin typeface="Courier New" panose="02070309020205020404" pitchFamily="49" charset="0"/>
              </a:rPr>
              <a:t> private transient String password;</a:t>
            </a:r>
          </a:p>
          <a:p>
            <a:pPr algn="just">
              <a:lnSpc>
                <a:spcPts val="2100"/>
              </a:lnSpc>
              <a:spcBef>
                <a:spcPts val="1650"/>
              </a:spcBef>
              <a:buNone/>
            </a:pPr>
            <a:r>
              <a:rPr lang="en-US" b="0" i="0" dirty="0">
                <a:solidFill>
                  <a:srgbClr val="3A3A3A"/>
                </a:solidFill>
                <a:effectLst/>
                <a:latin typeface="Roboto" panose="02000000000000000000" pitchFamily="2" charset="0"/>
              </a:rPr>
              <a:t>This instructs the Java Serialization API to skip this field while converting the object to a byte stream. It is usually employed to shield sensitive information (like a password, a session token) or to skip non-serializable objects like Thread, Socket, etc.</a:t>
            </a:r>
          </a:p>
          <a:p>
            <a:pPr algn="just">
              <a:lnSpc>
                <a:spcPts val="2100"/>
              </a:lnSpc>
              <a:spcBef>
                <a:spcPts val="750"/>
              </a:spcBef>
              <a:buNone/>
            </a:pPr>
            <a:r>
              <a:rPr lang="en-US" b="0" i="0" dirty="0">
                <a:solidFill>
                  <a:srgbClr val="3A3A3A"/>
                </a:solidFill>
                <a:effectLst/>
                <a:latin typeface="Roboto" panose="02000000000000000000" pitchFamily="2" charset="0"/>
              </a:rPr>
              <a:t>In summary, transient is a tool of optimization and security for use when dealing with serialization in Java.</a:t>
            </a:r>
          </a:p>
        </p:txBody>
      </p:sp>
    </p:spTree>
    <p:extLst>
      <p:ext uri="{BB962C8B-B14F-4D97-AF65-F5344CB8AC3E}">
        <p14:creationId xmlns:p14="http://schemas.microsoft.com/office/powerpoint/2010/main" val="13686099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AFBA7-E1B2-98F6-1B13-97B6AB0AE5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366B01-BA8F-93A3-DC85-1F550786D8D3}"/>
              </a:ext>
            </a:extLst>
          </p:cNvPr>
          <p:cNvSpPr txBox="1"/>
          <p:nvPr/>
        </p:nvSpPr>
        <p:spPr>
          <a:xfrm>
            <a:off x="116007" y="112872"/>
            <a:ext cx="4954136" cy="46192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116. What is the difference between a String and a StringBuilder?</a:t>
            </a:r>
          </a:p>
          <a:p>
            <a:pPr algn="just">
              <a:lnSpc>
                <a:spcPts val="2100"/>
              </a:lnSpc>
              <a:spcBef>
                <a:spcPts val="1650"/>
              </a:spcBef>
              <a:buNone/>
            </a:pPr>
            <a:r>
              <a:rPr lang="en-US" b="0" i="0" dirty="0">
                <a:solidFill>
                  <a:srgbClr val="3A3A3A"/>
                </a:solidFill>
                <a:effectLst/>
                <a:latin typeface="Roboto" panose="02000000000000000000" pitchFamily="2" charset="0"/>
              </a:rPr>
              <a:t>The main distinction between String and StringBuilder in Java is related to immutability and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 is immutable, meaning its value cannot be altered once it is created. Operations like concatenation produce a new String object, which can be memory-inefficient.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StringBuilder is mutable, or able to change its value without the creation of a new object. It is much more efficient to use in loops.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0ADAFD2-3680-EE04-2054-B9188C2B4017}"/>
              </a:ext>
            </a:extLst>
          </p:cNvPr>
          <p:cNvSpPr txBox="1"/>
          <p:nvPr/>
        </p:nvSpPr>
        <p:spPr>
          <a:xfrm>
            <a:off x="5070143" y="469163"/>
            <a:ext cx="4954136" cy="1477328"/>
          </a:xfrm>
          <a:prstGeom prst="rect">
            <a:avLst/>
          </a:prstGeom>
          <a:noFill/>
        </p:spPr>
        <p:txBody>
          <a:bodyPr wrap="square">
            <a:spAutoFit/>
          </a:bodyPr>
          <a:lstStyle/>
          <a:p>
            <a:r>
              <a:rPr lang="en-US" dirty="0"/>
              <a:t>// Inefficient</a:t>
            </a:r>
          </a:p>
          <a:p>
            <a:r>
              <a:rPr lang="en-US" dirty="0"/>
              <a:t>String result = "";</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result += </a:t>
            </a:r>
            <a:r>
              <a:rPr lang="en-US" dirty="0" err="1"/>
              <a:t>i</a:t>
            </a:r>
            <a:r>
              <a:rPr lang="en-US" dirty="0"/>
              <a:t>; // creates 1000 new String objects</a:t>
            </a:r>
          </a:p>
          <a:p>
            <a:r>
              <a:rPr lang="en-US" dirty="0"/>
              <a:t>}</a:t>
            </a:r>
          </a:p>
        </p:txBody>
      </p:sp>
      <p:sp>
        <p:nvSpPr>
          <p:cNvPr id="7" name="TextBox 6">
            <a:extLst>
              <a:ext uri="{FF2B5EF4-FFF2-40B4-BE49-F238E27FC236}">
                <a16:creationId xmlns:a16="http://schemas.microsoft.com/office/drawing/2014/main" id="{5A1B6A9A-0572-7567-1F96-14993DF4B6E3}"/>
              </a:ext>
            </a:extLst>
          </p:cNvPr>
          <p:cNvSpPr txBox="1"/>
          <p:nvPr/>
        </p:nvSpPr>
        <p:spPr>
          <a:xfrm>
            <a:off x="5070143" y="2302782"/>
            <a:ext cx="5008728" cy="1477328"/>
          </a:xfrm>
          <a:prstGeom prst="rect">
            <a:avLst/>
          </a:prstGeom>
          <a:noFill/>
        </p:spPr>
        <p:txBody>
          <a:bodyPr wrap="square">
            <a:spAutoFit/>
          </a:bodyPr>
          <a:lstStyle/>
          <a:p>
            <a:r>
              <a:rPr lang="en-US" dirty="0"/>
              <a:t>// Efficient</a:t>
            </a:r>
          </a:p>
          <a:p>
            <a:r>
              <a:rPr lang="en-US" dirty="0"/>
              <a:t>StringBuilder sb = new StringBuilder();</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a:t>
            </a:r>
            <a:r>
              <a:rPr lang="en-US" dirty="0" err="1"/>
              <a:t>sb.append</a:t>
            </a:r>
            <a:r>
              <a:rPr lang="en-US" dirty="0"/>
              <a:t>(</a:t>
            </a:r>
            <a:r>
              <a:rPr lang="en-US" dirty="0" err="1"/>
              <a:t>i</a:t>
            </a:r>
            <a:r>
              <a:rPr lang="en-US" dirty="0"/>
              <a:t>); // modifies the same object</a:t>
            </a:r>
          </a:p>
          <a:p>
            <a:r>
              <a:rPr lang="en-US" dirty="0"/>
              <a:t>}</a:t>
            </a:r>
          </a:p>
        </p:txBody>
      </p:sp>
      <p:sp>
        <p:nvSpPr>
          <p:cNvPr id="9" name="TextBox 8">
            <a:extLst>
              <a:ext uri="{FF2B5EF4-FFF2-40B4-BE49-F238E27FC236}">
                <a16:creationId xmlns:a16="http://schemas.microsoft.com/office/drawing/2014/main" id="{9CE848F2-3476-E7BE-4CEA-3486647D48A8}"/>
              </a:ext>
            </a:extLst>
          </p:cNvPr>
          <p:cNvSpPr txBox="1"/>
          <p:nvPr/>
        </p:nvSpPr>
        <p:spPr>
          <a:xfrm>
            <a:off x="4592472" y="4911509"/>
            <a:ext cx="5036024"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Therefore, whenever you are performing heavy string manipulations, always use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instead of a regular String to improve performance and reduce memory overhead.</a:t>
            </a:r>
            <a:endParaRPr lang="en-US" dirty="0"/>
          </a:p>
        </p:txBody>
      </p:sp>
    </p:spTree>
    <p:extLst>
      <p:ext uri="{BB962C8B-B14F-4D97-AF65-F5344CB8AC3E}">
        <p14:creationId xmlns:p14="http://schemas.microsoft.com/office/powerpoint/2010/main" val="378068998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333A6-3181-E1F9-B453-7FE754AB85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986BE5A-3361-B809-8D6F-10CD6B2ADE9F}"/>
              </a:ext>
            </a:extLst>
          </p:cNvPr>
          <p:cNvSpPr txBox="1"/>
          <p:nvPr/>
        </p:nvSpPr>
        <p:spPr>
          <a:xfrm>
            <a:off x="-1137" y="0"/>
            <a:ext cx="8640169"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117. What is the Difference Between List and Set in Java?</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List and Set in Java is ordering and duplicates.</a:t>
            </a:r>
          </a:p>
        </p:txBody>
      </p:sp>
      <p:graphicFrame>
        <p:nvGraphicFramePr>
          <p:cNvPr id="4" name="Table 3">
            <a:extLst>
              <a:ext uri="{FF2B5EF4-FFF2-40B4-BE49-F238E27FC236}">
                <a16:creationId xmlns:a16="http://schemas.microsoft.com/office/drawing/2014/main" id="{FAAE9231-5FDB-BE17-6493-CB38F28448F5}"/>
              </a:ext>
            </a:extLst>
          </p:cNvPr>
          <p:cNvGraphicFramePr>
            <a:graphicFrameLocks noGrp="1"/>
          </p:cNvGraphicFramePr>
          <p:nvPr>
            <p:extLst>
              <p:ext uri="{D42A27DB-BD31-4B8C-83A1-F6EECF244321}">
                <p14:modId xmlns:p14="http://schemas.microsoft.com/office/powerpoint/2010/main" val="1552453725"/>
              </p:ext>
            </p:extLst>
          </p:nvPr>
        </p:nvGraphicFramePr>
        <p:xfrm>
          <a:off x="449026" y="1215103"/>
          <a:ext cx="8543925" cy="2651760"/>
        </p:xfrm>
        <a:graphic>
          <a:graphicData uri="http://schemas.openxmlformats.org/drawingml/2006/table">
            <a:tbl>
              <a:tblPr/>
              <a:tblGrid>
                <a:gridCol w="2847975">
                  <a:extLst>
                    <a:ext uri="{9D8B030D-6E8A-4147-A177-3AD203B41FA5}">
                      <a16:colId xmlns:a16="http://schemas.microsoft.com/office/drawing/2014/main" val="1199120770"/>
                    </a:ext>
                  </a:extLst>
                </a:gridCol>
                <a:gridCol w="2847975">
                  <a:extLst>
                    <a:ext uri="{9D8B030D-6E8A-4147-A177-3AD203B41FA5}">
                      <a16:colId xmlns:a16="http://schemas.microsoft.com/office/drawing/2014/main" val="972507522"/>
                    </a:ext>
                  </a:extLst>
                </a:gridCol>
                <a:gridCol w="2847975">
                  <a:extLst>
                    <a:ext uri="{9D8B030D-6E8A-4147-A177-3AD203B41FA5}">
                      <a16:colId xmlns:a16="http://schemas.microsoft.com/office/drawing/2014/main" val="20796141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dirty="0">
                          <a:solidFill>
                            <a:srgbClr val="FFFFFF"/>
                          </a:solidFill>
                          <a:effectLst/>
                        </a:rPr>
                        <a:t>List</a:t>
                      </a:r>
                      <a:endParaRPr lang="en-US"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770162459"/>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4655127"/>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Maintains insertion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May not maintain order (depends on implementation)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39527584"/>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Indexed access via get(int)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index-based access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64983163"/>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 Vector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HashSet, </a:t>
                      </a:r>
                      <a:r>
                        <a:rPr lang="en-US" dirty="0" err="1">
                          <a:effectLst/>
                        </a:rPr>
                        <a:t>LinkedHashSet</a:t>
                      </a:r>
                      <a:r>
                        <a:rPr lang="en-US" dirty="0">
                          <a:effectLst/>
                        </a:rPr>
                        <a:t>, </a:t>
                      </a:r>
                      <a:r>
                        <a:rPr lang="en-US" dirty="0" err="1">
                          <a:effectLst/>
                        </a:rPr>
                        <a:t>TreeSet</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35982382"/>
                  </a:ext>
                </a:extLst>
              </a:tr>
            </a:tbl>
          </a:graphicData>
        </a:graphic>
      </p:graphicFrame>
      <p:sp>
        <p:nvSpPr>
          <p:cNvPr id="6" name="TextBox 5">
            <a:extLst>
              <a:ext uri="{FF2B5EF4-FFF2-40B4-BE49-F238E27FC236}">
                <a16:creationId xmlns:a16="http://schemas.microsoft.com/office/drawing/2014/main" id="{4EF3C0E9-33E9-8467-2892-A8ECE4178C8F}"/>
              </a:ext>
            </a:extLst>
          </p:cNvPr>
          <p:cNvSpPr txBox="1"/>
          <p:nvPr/>
        </p:nvSpPr>
        <p:spPr>
          <a:xfrm>
            <a:off x="449026" y="4283712"/>
            <a:ext cx="904981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List is employed when there is a need to maintain order and permit duplicates. A Set is preferable when there is a need for distinct elements and no order (or sorted order by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is desired.</a:t>
            </a:r>
            <a:endParaRPr lang="en-US" dirty="0"/>
          </a:p>
        </p:txBody>
      </p:sp>
    </p:spTree>
    <p:extLst>
      <p:ext uri="{BB962C8B-B14F-4D97-AF65-F5344CB8AC3E}">
        <p14:creationId xmlns:p14="http://schemas.microsoft.com/office/powerpoint/2010/main" val="158999768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8406C-AE1B-8A91-7A82-99D8789054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86F912-0F1E-8DAD-CDA8-72F2E3C226D9}"/>
              </a:ext>
            </a:extLst>
          </p:cNvPr>
          <p:cNvSpPr txBox="1"/>
          <p:nvPr/>
        </p:nvSpPr>
        <p:spPr>
          <a:xfrm>
            <a:off x="0" y="192090"/>
            <a:ext cx="9376012"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118. How Does List Differ from Map in Java?</a:t>
            </a:r>
          </a:p>
          <a:p>
            <a:pPr algn="just">
              <a:lnSpc>
                <a:spcPts val="2100"/>
              </a:lnSpc>
              <a:spcBef>
                <a:spcPts val="1650"/>
              </a:spcBef>
              <a:buNone/>
            </a:pPr>
            <a:r>
              <a:rPr lang="en-US" b="0" i="0" dirty="0">
                <a:solidFill>
                  <a:srgbClr val="3A3A3A"/>
                </a:solidFill>
                <a:effectLst/>
                <a:latin typeface="Roboto" panose="02000000000000000000" pitchFamily="2" charset="0"/>
              </a:rPr>
              <a:t>List and Map serve entirely different purposes in Java Collections Framework.</a:t>
            </a:r>
          </a:p>
        </p:txBody>
      </p:sp>
      <p:graphicFrame>
        <p:nvGraphicFramePr>
          <p:cNvPr id="4" name="Table 3">
            <a:extLst>
              <a:ext uri="{FF2B5EF4-FFF2-40B4-BE49-F238E27FC236}">
                <a16:creationId xmlns:a16="http://schemas.microsoft.com/office/drawing/2014/main" id="{36A02B53-3967-94CB-79DA-F1246DB6D86B}"/>
              </a:ext>
            </a:extLst>
          </p:cNvPr>
          <p:cNvGraphicFramePr>
            <a:graphicFrameLocks noGrp="1"/>
          </p:cNvGraphicFramePr>
          <p:nvPr>
            <p:extLst>
              <p:ext uri="{D42A27DB-BD31-4B8C-83A1-F6EECF244321}">
                <p14:modId xmlns:p14="http://schemas.microsoft.com/office/powerpoint/2010/main" val="3711889463"/>
              </p:ext>
            </p:extLst>
          </p:nvPr>
        </p:nvGraphicFramePr>
        <p:xfrm>
          <a:off x="681037" y="1460764"/>
          <a:ext cx="8543925" cy="2651760"/>
        </p:xfrm>
        <a:graphic>
          <a:graphicData uri="http://schemas.openxmlformats.org/drawingml/2006/table">
            <a:tbl>
              <a:tblPr/>
              <a:tblGrid>
                <a:gridCol w="2847975">
                  <a:extLst>
                    <a:ext uri="{9D8B030D-6E8A-4147-A177-3AD203B41FA5}">
                      <a16:colId xmlns:a16="http://schemas.microsoft.com/office/drawing/2014/main" val="1654201292"/>
                    </a:ext>
                  </a:extLst>
                </a:gridCol>
                <a:gridCol w="2847975">
                  <a:extLst>
                    <a:ext uri="{9D8B030D-6E8A-4147-A177-3AD203B41FA5}">
                      <a16:colId xmlns:a16="http://schemas.microsoft.com/office/drawing/2014/main" val="1900424742"/>
                    </a:ext>
                  </a:extLst>
                </a:gridCol>
                <a:gridCol w="2847975">
                  <a:extLst>
                    <a:ext uri="{9D8B030D-6E8A-4147-A177-3AD203B41FA5}">
                      <a16:colId xmlns:a16="http://schemas.microsoft.com/office/drawing/2014/main" val="53457161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158290005"/>
                  </a:ext>
                </a:extLst>
              </a:tr>
              <a:tr h="0">
                <a:tc>
                  <a:txBody>
                    <a:bodyPr/>
                    <a:lstStyle/>
                    <a:p>
                      <a:pPr fontAlgn="t">
                        <a:buNone/>
                      </a:pPr>
                      <a:r>
                        <a:rPr lang="en-US" b="0">
                          <a:effectLst/>
                        </a:rPr>
                        <a:t>Data Type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key-value pairs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99398955"/>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index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219343"/>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Keys must be unique; values can duplicate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9098465"/>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HashMap, </a:t>
                      </a:r>
                      <a:r>
                        <a:rPr lang="en-US" dirty="0" err="1">
                          <a:effectLst/>
                        </a:rPr>
                        <a:t>LinkedHashMap</a:t>
                      </a:r>
                      <a:r>
                        <a:rPr lang="en-US" dirty="0">
                          <a:effectLst/>
                        </a:rPr>
                        <a:t>, </a:t>
                      </a:r>
                      <a:r>
                        <a:rPr lang="en-US" dirty="0" err="1">
                          <a:effectLst/>
                        </a:rPr>
                        <a:t>TreeMap</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815445"/>
                  </a:ext>
                </a:extLst>
              </a:tr>
            </a:tbl>
          </a:graphicData>
        </a:graphic>
      </p:graphicFrame>
      <p:sp>
        <p:nvSpPr>
          <p:cNvPr id="6" name="TextBox 5">
            <a:extLst>
              <a:ext uri="{FF2B5EF4-FFF2-40B4-BE49-F238E27FC236}">
                <a16:creationId xmlns:a16="http://schemas.microsoft.com/office/drawing/2014/main" id="{D3687808-8889-1F63-83F5-789F7E0DDC74}"/>
              </a:ext>
            </a:extLst>
          </p:cNvPr>
          <p:cNvSpPr txBox="1"/>
          <p:nvPr/>
        </p:nvSpPr>
        <p:spPr>
          <a:xfrm>
            <a:off x="681036" y="4797071"/>
            <a:ext cx="8326485"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List is a linear data collection, and Map is a key-value mapping. Use a Map whenever data lookup by a distinct key is needed, like in caching or lookup applications.</a:t>
            </a:r>
            <a:endParaRPr lang="en-US" dirty="0"/>
          </a:p>
        </p:txBody>
      </p:sp>
    </p:spTree>
    <p:extLst>
      <p:ext uri="{BB962C8B-B14F-4D97-AF65-F5344CB8AC3E}">
        <p14:creationId xmlns:p14="http://schemas.microsoft.com/office/powerpoint/2010/main" val="327166043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95A1-D5CA-E837-4269-D949EA0A32F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E7C80B-BA2E-50F5-0A0F-C078E00CCD71}"/>
              </a:ext>
            </a:extLst>
          </p:cNvPr>
          <p:cNvSpPr txBox="1"/>
          <p:nvPr/>
        </p:nvSpPr>
        <p:spPr>
          <a:xfrm>
            <a:off x="-1" y="0"/>
            <a:ext cx="966261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119. Compare Queue and Stack in Java</a:t>
            </a:r>
          </a:p>
          <a:p>
            <a:pPr algn="just">
              <a:lnSpc>
                <a:spcPts val="2100"/>
              </a:lnSpc>
              <a:spcBef>
                <a:spcPts val="1650"/>
              </a:spcBef>
              <a:buNone/>
            </a:pPr>
            <a:r>
              <a:rPr lang="en-US" b="0" i="0" dirty="0">
                <a:solidFill>
                  <a:srgbClr val="3A3A3A"/>
                </a:solidFill>
                <a:effectLst/>
                <a:latin typeface="Roboto" panose="02000000000000000000" pitchFamily="2" charset="0"/>
              </a:rPr>
              <a:t>Queue and Stack are both linear data structures but follow different ordering principles.</a:t>
            </a:r>
          </a:p>
        </p:txBody>
      </p:sp>
      <p:graphicFrame>
        <p:nvGraphicFramePr>
          <p:cNvPr id="4" name="Table 3">
            <a:extLst>
              <a:ext uri="{FF2B5EF4-FFF2-40B4-BE49-F238E27FC236}">
                <a16:creationId xmlns:a16="http://schemas.microsoft.com/office/drawing/2014/main" id="{BE032910-3C9E-EF6A-4619-9A99F433470F}"/>
              </a:ext>
            </a:extLst>
          </p:cNvPr>
          <p:cNvGraphicFramePr>
            <a:graphicFrameLocks noGrp="1"/>
          </p:cNvGraphicFramePr>
          <p:nvPr>
            <p:extLst>
              <p:ext uri="{D42A27DB-BD31-4B8C-83A1-F6EECF244321}">
                <p14:modId xmlns:p14="http://schemas.microsoft.com/office/powerpoint/2010/main" val="4122100143"/>
              </p:ext>
            </p:extLst>
          </p:nvPr>
        </p:nvGraphicFramePr>
        <p:xfrm>
          <a:off x="244310" y="1297672"/>
          <a:ext cx="8543925" cy="2377440"/>
        </p:xfrm>
        <a:graphic>
          <a:graphicData uri="http://schemas.openxmlformats.org/drawingml/2006/table">
            <a:tbl>
              <a:tblPr/>
              <a:tblGrid>
                <a:gridCol w="2847975">
                  <a:extLst>
                    <a:ext uri="{9D8B030D-6E8A-4147-A177-3AD203B41FA5}">
                      <a16:colId xmlns:a16="http://schemas.microsoft.com/office/drawing/2014/main" val="3311366730"/>
                    </a:ext>
                  </a:extLst>
                </a:gridCol>
                <a:gridCol w="2847975">
                  <a:extLst>
                    <a:ext uri="{9D8B030D-6E8A-4147-A177-3AD203B41FA5}">
                      <a16:colId xmlns:a16="http://schemas.microsoft.com/office/drawing/2014/main" val="1570703705"/>
                    </a:ext>
                  </a:extLst>
                </a:gridCol>
                <a:gridCol w="2847975">
                  <a:extLst>
                    <a:ext uri="{9D8B030D-6E8A-4147-A177-3AD203B41FA5}">
                      <a16:colId xmlns:a16="http://schemas.microsoft.com/office/drawing/2014/main" val="84072641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Stack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53181662"/>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LIFO (Last-In-First-Out)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1822084"/>
                  </a:ext>
                </a:extLst>
              </a:tr>
              <a:tr h="0">
                <a:tc>
                  <a:txBody>
                    <a:bodyPr/>
                    <a:lstStyle/>
                    <a:p>
                      <a:pPr fontAlgn="t">
                        <a:buNone/>
                      </a:pPr>
                      <a:r>
                        <a:rPr lang="en-US" b="0">
                          <a:effectLst/>
                        </a:rPr>
                        <a:t>Insertion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add() or offer() at tail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push()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89014234"/>
                  </a:ext>
                </a:extLst>
              </a:tr>
              <a:tr h="0">
                <a:tc>
                  <a:txBody>
                    <a:bodyPr/>
                    <a:lstStyle/>
                    <a:p>
                      <a:pPr fontAlgn="t">
                        <a:buNone/>
                      </a:pPr>
                      <a:r>
                        <a:rPr lang="en-US" b="0">
                          <a:effectLst/>
                        </a:rPr>
                        <a:t>Removal</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poll() or remove() at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61797906"/>
                  </a:ext>
                </a:extLst>
              </a:tr>
              <a:tr h="0">
                <a:tc>
                  <a:txBody>
                    <a:bodyPr/>
                    <a:lstStyle/>
                    <a:p>
                      <a:pPr fontAlgn="t">
                        <a:buNone/>
                      </a:pPr>
                      <a:r>
                        <a:rPr lang="en-US" b="0">
                          <a:effectLst/>
                        </a:rPr>
                        <a:t>Use Cases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Task scheduling, resource sharing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Recursion, backtracking, parsing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81420938"/>
                  </a:ext>
                </a:extLst>
              </a:tr>
            </a:tbl>
          </a:graphicData>
        </a:graphic>
      </p:graphicFrame>
      <p:sp>
        <p:nvSpPr>
          <p:cNvPr id="6" name="TextBox 5">
            <a:extLst>
              <a:ext uri="{FF2B5EF4-FFF2-40B4-BE49-F238E27FC236}">
                <a16:creationId xmlns:a16="http://schemas.microsoft.com/office/drawing/2014/main" id="{ED5F83F3-E8EB-349B-4213-39E8C4A0C53E}"/>
              </a:ext>
            </a:extLst>
          </p:cNvPr>
          <p:cNvSpPr txBox="1"/>
          <p:nvPr/>
        </p:nvSpPr>
        <p:spPr>
          <a:xfrm>
            <a:off x="484496" y="4036031"/>
            <a:ext cx="4981432"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In Java, Queue is denoted by interfaces such as Queue and classes such as LinkedList or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Stack is a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class, although Deque should be used instead of Stack since it offers improved performance and thread-safety.</a:t>
            </a:r>
            <a:endParaRPr lang="en-US" dirty="0"/>
          </a:p>
        </p:txBody>
      </p:sp>
    </p:spTree>
    <p:extLst>
      <p:ext uri="{BB962C8B-B14F-4D97-AF65-F5344CB8AC3E}">
        <p14:creationId xmlns:p14="http://schemas.microsoft.com/office/powerpoint/2010/main" val="140704274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97269-71E8-D49E-92FD-9E03F4A2C4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0F5642B-0DCA-37B8-EEF2-8961B2EFCF16}"/>
              </a:ext>
            </a:extLst>
          </p:cNvPr>
          <p:cNvSpPr txBox="1"/>
          <p:nvPr/>
        </p:nvSpPr>
        <p:spPr>
          <a:xfrm>
            <a:off x="170598" y="223036"/>
            <a:ext cx="909623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120. What distinguishes </a:t>
            </a:r>
            <a:r>
              <a:rPr lang="en-US" b="0" i="0" dirty="0" err="1">
                <a:solidFill>
                  <a:srgbClr val="272C37"/>
                </a:solidFill>
                <a:effectLst/>
                <a:latin typeface="Roboto" panose="02000000000000000000" pitchFamily="2" charset="0"/>
              </a:rPr>
              <a:t>PriorityQueue</a:t>
            </a:r>
            <a:r>
              <a:rPr lang="en-US" b="0" i="0" dirty="0">
                <a:solidFill>
                  <a:srgbClr val="272C37"/>
                </a:solidFill>
                <a:effectLst/>
                <a:latin typeface="Roboto" panose="02000000000000000000" pitchFamily="2" charset="0"/>
              </a:rPr>
              <a:t> from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While both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maintain sorted elements, they differ in structure, usage, and uniqueness constraints.</a:t>
            </a:r>
          </a:p>
        </p:txBody>
      </p:sp>
      <p:graphicFrame>
        <p:nvGraphicFramePr>
          <p:cNvPr id="4" name="Table 3">
            <a:extLst>
              <a:ext uri="{FF2B5EF4-FFF2-40B4-BE49-F238E27FC236}">
                <a16:creationId xmlns:a16="http://schemas.microsoft.com/office/drawing/2014/main" id="{4F30FA2D-0559-B2D8-2A8B-2E2A6AB386DC}"/>
              </a:ext>
            </a:extLst>
          </p:cNvPr>
          <p:cNvGraphicFramePr>
            <a:graphicFrameLocks noGrp="1"/>
          </p:cNvGraphicFramePr>
          <p:nvPr>
            <p:extLst>
              <p:ext uri="{D42A27DB-BD31-4B8C-83A1-F6EECF244321}">
                <p14:modId xmlns:p14="http://schemas.microsoft.com/office/powerpoint/2010/main" val="2723345542"/>
              </p:ext>
            </p:extLst>
          </p:nvPr>
        </p:nvGraphicFramePr>
        <p:xfrm>
          <a:off x="681037" y="1842901"/>
          <a:ext cx="8543925" cy="2651760"/>
        </p:xfrm>
        <a:graphic>
          <a:graphicData uri="http://schemas.openxmlformats.org/drawingml/2006/table">
            <a:tbl>
              <a:tblPr/>
              <a:tblGrid>
                <a:gridCol w="2847975">
                  <a:extLst>
                    <a:ext uri="{9D8B030D-6E8A-4147-A177-3AD203B41FA5}">
                      <a16:colId xmlns:a16="http://schemas.microsoft.com/office/drawing/2014/main" val="3995534831"/>
                    </a:ext>
                  </a:extLst>
                </a:gridCol>
                <a:gridCol w="2847975">
                  <a:extLst>
                    <a:ext uri="{9D8B030D-6E8A-4147-A177-3AD203B41FA5}">
                      <a16:colId xmlns:a16="http://schemas.microsoft.com/office/drawing/2014/main" val="3077861511"/>
                    </a:ext>
                  </a:extLst>
                </a:gridCol>
                <a:gridCol w="2847975">
                  <a:extLst>
                    <a:ext uri="{9D8B030D-6E8A-4147-A177-3AD203B41FA5}">
                      <a16:colId xmlns:a16="http://schemas.microsoft.com/office/drawing/2014/main" val="184321472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PriorityQueue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610970"/>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0651454"/>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comparator-based priority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custom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2119368"/>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random access; only peek/poll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navigate using methods like first(), last()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3837269"/>
                  </a:ext>
                </a:extLst>
              </a:tr>
              <a:tr h="0">
                <a:tc>
                  <a:txBody>
                    <a:bodyPr/>
                    <a:lstStyle/>
                    <a:p>
                      <a:pPr fontAlgn="t">
                        <a:buNone/>
                      </a:pPr>
                      <a:r>
                        <a:rPr lang="en-US" b="0">
                          <a:effectLst/>
                        </a:rPr>
                        <a:t>Underlying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heap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Red-Black tree (self-balancing BST)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5670215"/>
                  </a:ext>
                </a:extLst>
              </a:tr>
            </a:tbl>
          </a:graphicData>
        </a:graphic>
      </p:graphicFrame>
      <p:sp>
        <p:nvSpPr>
          <p:cNvPr id="6" name="TextBox 5">
            <a:extLst>
              <a:ext uri="{FF2B5EF4-FFF2-40B4-BE49-F238E27FC236}">
                <a16:creationId xmlns:a16="http://schemas.microsoft.com/office/drawing/2014/main" id="{B714EA93-F123-3826-8803-9A51CBE58D79}"/>
              </a:ext>
            </a:extLst>
          </p:cNvPr>
          <p:cNvSpPr txBox="1"/>
          <p:nvPr/>
        </p:nvSpPr>
        <p:spPr>
          <a:xfrm>
            <a:off x="580030" y="4494661"/>
            <a:ext cx="868679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whenever efficient access to the smallest or largest element is desired, or especially when scheduling or prioritization of tasks is involved.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when sorted distinct elements are desired with quick lookup and range queries.</a:t>
            </a:r>
            <a:endParaRPr lang="en-US" dirty="0"/>
          </a:p>
        </p:txBody>
      </p:sp>
    </p:spTree>
    <p:extLst>
      <p:ext uri="{BB962C8B-B14F-4D97-AF65-F5344CB8AC3E}">
        <p14:creationId xmlns:p14="http://schemas.microsoft.com/office/powerpoint/2010/main" val="394902552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02EC7-62D4-D202-C7AD-473A738D35B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C7E294-AC71-A643-5FA1-47FDD4C9406B}"/>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121. Differentiate Between Singly Linked List and Doubly Linked List</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a singly linked list and a doubly linked list lies in how nodes reference each other.</a:t>
            </a:r>
          </a:p>
        </p:txBody>
      </p:sp>
      <p:graphicFrame>
        <p:nvGraphicFramePr>
          <p:cNvPr id="4" name="Table 3">
            <a:extLst>
              <a:ext uri="{FF2B5EF4-FFF2-40B4-BE49-F238E27FC236}">
                <a16:creationId xmlns:a16="http://schemas.microsoft.com/office/drawing/2014/main" id="{18A207FC-9552-B991-5807-0300B84526A6}"/>
              </a:ext>
            </a:extLst>
          </p:cNvPr>
          <p:cNvGraphicFramePr>
            <a:graphicFrameLocks noGrp="1"/>
          </p:cNvGraphicFramePr>
          <p:nvPr>
            <p:extLst>
              <p:ext uri="{D42A27DB-BD31-4B8C-83A1-F6EECF244321}">
                <p14:modId xmlns:p14="http://schemas.microsoft.com/office/powerpoint/2010/main" val="3098506107"/>
              </p:ext>
            </p:extLst>
          </p:nvPr>
        </p:nvGraphicFramePr>
        <p:xfrm>
          <a:off x="558209" y="1469635"/>
          <a:ext cx="8543925" cy="2743200"/>
        </p:xfrm>
        <a:graphic>
          <a:graphicData uri="http://schemas.openxmlformats.org/drawingml/2006/table">
            <a:tbl>
              <a:tblPr/>
              <a:tblGrid>
                <a:gridCol w="2847975">
                  <a:extLst>
                    <a:ext uri="{9D8B030D-6E8A-4147-A177-3AD203B41FA5}">
                      <a16:colId xmlns:a16="http://schemas.microsoft.com/office/drawing/2014/main" val="1688598640"/>
                    </a:ext>
                  </a:extLst>
                </a:gridCol>
                <a:gridCol w="2847975">
                  <a:extLst>
                    <a:ext uri="{9D8B030D-6E8A-4147-A177-3AD203B41FA5}">
                      <a16:colId xmlns:a16="http://schemas.microsoft.com/office/drawing/2014/main" val="2625223246"/>
                    </a:ext>
                  </a:extLst>
                </a:gridCol>
                <a:gridCol w="2847975">
                  <a:extLst>
                    <a:ext uri="{9D8B030D-6E8A-4147-A177-3AD203B41FA5}">
                      <a16:colId xmlns:a16="http://schemas.microsoft.com/office/drawing/2014/main" val="3246257404"/>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Singly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Doubly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694093600"/>
                  </a:ext>
                </a:extLst>
              </a:tr>
              <a:tr h="0">
                <a:tc>
                  <a:txBody>
                    <a:bodyPr/>
                    <a:lstStyle/>
                    <a:p>
                      <a:pPr fontAlgn="t">
                        <a:buNone/>
                      </a:pPr>
                      <a:r>
                        <a:rPr lang="en-US" b="0">
                          <a:effectLst/>
                        </a:rPr>
                        <a:t>Node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 previous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1864414"/>
                  </a:ext>
                </a:extLst>
              </a:tr>
              <a:tr h="0">
                <a:tc>
                  <a:txBody>
                    <a:bodyPr/>
                    <a:lstStyle/>
                    <a:p>
                      <a:pPr fontAlgn="t">
                        <a:buNone/>
                      </a:pPr>
                      <a:r>
                        <a:rPr lang="en-US" b="0">
                          <a:effectLst/>
                        </a:rPr>
                        <a:t>Traversal 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Only forward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Forward and backward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8905301"/>
                  </a:ext>
                </a:extLst>
              </a:tr>
              <a:tr h="0">
                <a:tc>
                  <a:txBody>
                    <a:bodyPr/>
                    <a:lstStyle/>
                    <a:p>
                      <a:pPr fontAlgn="t">
                        <a:buNone/>
                      </a:pPr>
                      <a:r>
                        <a:rPr lang="en-US" b="0">
                          <a:effectLst/>
                        </a:rPr>
                        <a:t>Memory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memory (one pointer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memory (two pointers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61898275"/>
                  </a:ext>
                </a:extLst>
              </a:tr>
              <a:tr h="0">
                <a:tc>
                  <a:txBody>
                    <a:bodyPr/>
                    <a:lstStyle/>
                    <a:p>
                      <a:pPr fontAlgn="t">
                        <a:buNone/>
                      </a:pPr>
                      <a:r>
                        <a:rPr lang="en-US" b="0">
                          <a:effectLst/>
                        </a:rPr>
                        <a:t>Insertion/Deletion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 for reverse ops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 for both directions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34633654"/>
                  </a:ext>
                </a:extLst>
              </a:tr>
              <a:tr h="0">
                <a:tc>
                  <a:txBody>
                    <a:bodyPr/>
                    <a:lstStyle/>
                    <a:p>
                      <a:pPr fontAlgn="t">
                        <a:buNone/>
                      </a:pPr>
                      <a:r>
                        <a:rPr lang="en-US" b="0">
                          <a:effectLst/>
                        </a:rPr>
                        <a:t>Implementation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Simpler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More complex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211693"/>
                  </a:ext>
                </a:extLst>
              </a:tr>
            </a:tbl>
          </a:graphicData>
        </a:graphic>
      </p:graphicFrame>
      <p:sp>
        <p:nvSpPr>
          <p:cNvPr id="6" name="TextBox 5">
            <a:extLst>
              <a:ext uri="{FF2B5EF4-FFF2-40B4-BE49-F238E27FC236}">
                <a16:creationId xmlns:a16="http://schemas.microsoft.com/office/drawing/2014/main" id="{2CEF70E5-24D3-CC81-9325-BD35D8A982BB}"/>
              </a:ext>
            </a:extLst>
          </p:cNvPr>
          <p:cNvSpPr txBox="1"/>
          <p:nvPr/>
        </p:nvSpPr>
        <p:spPr>
          <a:xfrm>
            <a:off x="558209" y="4376827"/>
            <a:ext cx="898157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singly linked list is light and suitable for data that will be viewed in only one direction. A doubly linked list is more versatile when bi-directional traversal or removals are needed.</a:t>
            </a:r>
            <a:endParaRPr lang="en-US" dirty="0"/>
          </a:p>
        </p:txBody>
      </p:sp>
    </p:spTree>
    <p:extLst>
      <p:ext uri="{BB962C8B-B14F-4D97-AF65-F5344CB8AC3E}">
        <p14:creationId xmlns:p14="http://schemas.microsoft.com/office/powerpoint/2010/main" val="329945137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61572-CA5F-2F55-2159-0BAD4E2F2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FF4B3C-58CB-153F-5554-195F6342E43C}"/>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122. What is the difference between Fail-Fast and Fail-Safe iterators in Java?</a:t>
            </a:r>
          </a:p>
          <a:p>
            <a:pPr algn="just">
              <a:lnSpc>
                <a:spcPts val="2100"/>
              </a:lnSpc>
              <a:spcBef>
                <a:spcPts val="1650"/>
              </a:spcBef>
              <a:buNone/>
            </a:pPr>
            <a:r>
              <a:rPr lang="en-US" b="0" i="0" dirty="0">
                <a:solidFill>
                  <a:srgbClr val="3A3A3A"/>
                </a:solidFill>
                <a:effectLst/>
                <a:latin typeface="Roboto" panose="02000000000000000000" pitchFamily="2" charset="0"/>
              </a:rPr>
              <a:t>Fail-Fast and Fail-Safe are terms that describe how iterators will react if the collection is structurally changed while iterating.</a:t>
            </a:r>
          </a:p>
        </p:txBody>
      </p:sp>
      <p:graphicFrame>
        <p:nvGraphicFramePr>
          <p:cNvPr id="4" name="Table 3">
            <a:extLst>
              <a:ext uri="{FF2B5EF4-FFF2-40B4-BE49-F238E27FC236}">
                <a16:creationId xmlns:a16="http://schemas.microsoft.com/office/drawing/2014/main" id="{6F3BE229-3248-C7C8-4931-E2A812236C0E}"/>
              </a:ext>
            </a:extLst>
          </p:cNvPr>
          <p:cNvGraphicFramePr>
            <a:graphicFrameLocks noGrp="1"/>
          </p:cNvGraphicFramePr>
          <p:nvPr>
            <p:extLst>
              <p:ext uri="{D42A27DB-BD31-4B8C-83A1-F6EECF244321}">
                <p14:modId xmlns:p14="http://schemas.microsoft.com/office/powerpoint/2010/main" val="1095455191"/>
              </p:ext>
            </p:extLst>
          </p:nvPr>
        </p:nvGraphicFramePr>
        <p:xfrm>
          <a:off x="571856" y="1541285"/>
          <a:ext cx="8543925" cy="3200400"/>
        </p:xfrm>
        <a:graphic>
          <a:graphicData uri="http://schemas.openxmlformats.org/drawingml/2006/table">
            <a:tbl>
              <a:tblPr/>
              <a:tblGrid>
                <a:gridCol w="2847975">
                  <a:extLst>
                    <a:ext uri="{9D8B030D-6E8A-4147-A177-3AD203B41FA5}">
                      <a16:colId xmlns:a16="http://schemas.microsoft.com/office/drawing/2014/main" val="1559302969"/>
                    </a:ext>
                  </a:extLst>
                </a:gridCol>
                <a:gridCol w="2847975">
                  <a:extLst>
                    <a:ext uri="{9D8B030D-6E8A-4147-A177-3AD203B41FA5}">
                      <a16:colId xmlns:a16="http://schemas.microsoft.com/office/drawing/2014/main" val="1001794789"/>
                    </a:ext>
                  </a:extLst>
                </a:gridCol>
                <a:gridCol w="2847975">
                  <a:extLst>
                    <a:ext uri="{9D8B030D-6E8A-4147-A177-3AD203B41FA5}">
                      <a16:colId xmlns:a16="http://schemas.microsoft.com/office/drawing/2014/main" val="3033304146"/>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Fail-Fast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Fail-Safe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0775615"/>
                  </a:ext>
                </a:extLst>
              </a:tr>
              <a:tr h="0">
                <a:tc>
                  <a:txBody>
                    <a:bodyPr/>
                    <a:lstStyle/>
                    <a:p>
                      <a:pPr fontAlgn="t">
                        <a:buNone/>
                      </a:pPr>
                      <a:r>
                        <a:rPr lang="en-US" b="0">
                          <a:effectLst/>
                        </a:rPr>
                        <a:t>Behavior on Modification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Throws ConcurrentModificationException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safely without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69679345"/>
                  </a:ext>
                </a:extLst>
              </a:tr>
              <a:tr h="0">
                <a:tc>
                  <a:txBody>
                    <a:bodyPr/>
                    <a:lstStyle/>
                    <a:p>
                      <a:pPr fontAlgn="t">
                        <a:buNone/>
                      </a:pPr>
                      <a:r>
                        <a:rPr lang="en-US" b="0">
                          <a:effectLst/>
                        </a:rPr>
                        <a:t>Examples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HashSet, HashMap (normal)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CopyOnWriteArrayList, ConcurrentHashMap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1262474"/>
                  </a:ext>
                </a:extLst>
              </a:tr>
              <a:tr h="0">
                <a:tc>
                  <a:txBody>
                    <a:bodyPr/>
                    <a:lstStyle/>
                    <a:p>
                      <a:pPr fontAlgn="t">
                        <a:buNone/>
                      </a:pPr>
                      <a:r>
                        <a:rPr lang="en-US" b="0">
                          <a:effectLst/>
                        </a:rPr>
                        <a:t>Underlying Copy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the same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a cloned copy of the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72113119"/>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Slightly slower due to cloning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8146032"/>
                  </a:ext>
                </a:extLst>
              </a:tr>
            </a:tbl>
          </a:graphicData>
        </a:graphic>
      </p:graphicFrame>
      <p:sp>
        <p:nvSpPr>
          <p:cNvPr id="6" name="TextBox 5">
            <a:extLst>
              <a:ext uri="{FF2B5EF4-FFF2-40B4-BE49-F238E27FC236}">
                <a16:creationId xmlns:a16="http://schemas.microsoft.com/office/drawing/2014/main" id="{B36E751C-F79A-1B01-D043-7619382A6ADF}"/>
              </a:ext>
            </a:extLst>
          </p:cNvPr>
          <p:cNvSpPr txBox="1"/>
          <p:nvPr/>
        </p:nvSpPr>
        <p:spPr>
          <a:xfrm>
            <a:off x="361665" y="5174860"/>
            <a:ext cx="8946107"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Fail-Safe iterators in multithreaded environments. Fail-Fast is useful to catch issues early at development time.</a:t>
            </a:r>
            <a:endParaRPr lang="en-US" dirty="0"/>
          </a:p>
        </p:txBody>
      </p:sp>
    </p:spTree>
    <p:extLst>
      <p:ext uri="{BB962C8B-B14F-4D97-AF65-F5344CB8AC3E}">
        <p14:creationId xmlns:p14="http://schemas.microsoft.com/office/powerpoint/2010/main" val="39261552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D8DE0-1A93-E60F-2D21-C467CE4576F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A146EB-A0DE-FF6C-FE9A-7363F13BE1E4}"/>
              </a:ext>
            </a:extLst>
          </p:cNvPr>
          <p:cNvSpPr txBox="1"/>
          <p:nvPr/>
        </p:nvSpPr>
        <p:spPr>
          <a:xfrm>
            <a:off x="375313" y="224861"/>
            <a:ext cx="9178119"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123. How Does HashMap Differ from </a:t>
            </a:r>
            <a:r>
              <a:rPr lang="en-US" b="0" i="0" dirty="0" err="1">
                <a:solidFill>
                  <a:srgbClr val="272C37"/>
                </a:solidFill>
                <a:effectLst/>
                <a:latin typeface="Roboto" panose="02000000000000000000" pitchFamily="2" charset="0"/>
              </a:rPr>
              <a:t>TreeMap</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HashMap and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are both implementations of the Map interface but are very different in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performance and ordering.</a:t>
            </a:r>
          </a:p>
        </p:txBody>
      </p:sp>
      <p:graphicFrame>
        <p:nvGraphicFramePr>
          <p:cNvPr id="4" name="Table 3">
            <a:extLst>
              <a:ext uri="{FF2B5EF4-FFF2-40B4-BE49-F238E27FC236}">
                <a16:creationId xmlns:a16="http://schemas.microsoft.com/office/drawing/2014/main" id="{878B350D-59B5-52A9-B5CD-BF929962AE69}"/>
              </a:ext>
            </a:extLst>
          </p:cNvPr>
          <p:cNvGraphicFramePr>
            <a:graphicFrameLocks noGrp="1"/>
          </p:cNvGraphicFramePr>
          <p:nvPr>
            <p:extLst>
              <p:ext uri="{D42A27DB-BD31-4B8C-83A1-F6EECF244321}">
                <p14:modId xmlns:p14="http://schemas.microsoft.com/office/powerpoint/2010/main" val="728736053"/>
              </p:ext>
            </p:extLst>
          </p:nvPr>
        </p:nvGraphicFramePr>
        <p:xfrm>
          <a:off x="681037" y="1720071"/>
          <a:ext cx="8543925" cy="2651760"/>
        </p:xfrm>
        <a:graphic>
          <a:graphicData uri="http://schemas.openxmlformats.org/drawingml/2006/table">
            <a:tbl>
              <a:tblPr/>
              <a:tblGrid>
                <a:gridCol w="2847975">
                  <a:extLst>
                    <a:ext uri="{9D8B030D-6E8A-4147-A177-3AD203B41FA5}">
                      <a16:colId xmlns:a16="http://schemas.microsoft.com/office/drawing/2014/main" val="1527016091"/>
                    </a:ext>
                  </a:extLst>
                </a:gridCol>
                <a:gridCol w="2847975">
                  <a:extLst>
                    <a:ext uri="{9D8B030D-6E8A-4147-A177-3AD203B41FA5}">
                      <a16:colId xmlns:a16="http://schemas.microsoft.com/office/drawing/2014/main" val="3824303369"/>
                    </a:ext>
                  </a:extLst>
                </a:gridCol>
                <a:gridCol w="2847975">
                  <a:extLst>
                    <a:ext uri="{9D8B030D-6E8A-4147-A177-3AD203B41FA5}">
                      <a16:colId xmlns:a16="http://schemas.microsoft.com/office/drawing/2014/main" val="22451157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4239659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guaranteed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based on keys (natural/comparator)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8648101"/>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average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26256866"/>
                  </a:ext>
                </a:extLst>
              </a:tr>
              <a:tr h="0">
                <a:tc>
                  <a:txBody>
                    <a:bodyPr/>
                    <a:lstStyle/>
                    <a:p>
                      <a:pPr fontAlgn="t">
                        <a:buNone/>
                      </a:pPr>
                      <a:r>
                        <a:rPr lang="en-US" b="0">
                          <a:effectLst/>
                        </a:rPr>
                        <a:t>Null Keys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keys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42746108"/>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lookup, unordered data</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map for range queries or ordered traversal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67648991"/>
                  </a:ext>
                </a:extLst>
              </a:tr>
            </a:tbl>
          </a:graphicData>
        </a:graphic>
      </p:graphicFrame>
      <p:sp>
        <p:nvSpPr>
          <p:cNvPr id="6" name="TextBox 5">
            <a:extLst>
              <a:ext uri="{FF2B5EF4-FFF2-40B4-BE49-F238E27FC236}">
                <a16:creationId xmlns:a16="http://schemas.microsoft.com/office/drawing/2014/main" id="{44B93413-41C8-A4CD-979B-4A8188391A2C}"/>
              </a:ext>
            </a:extLst>
          </p:cNvPr>
          <p:cNvSpPr txBox="1"/>
          <p:nvPr/>
        </p:nvSpPr>
        <p:spPr>
          <a:xfrm>
            <a:off x="470849" y="4774274"/>
            <a:ext cx="8959754"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HashMap for better performance. Use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if a sorted key-value map is desired.</a:t>
            </a:r>
            <a:endParaRPr lang="en-US" dirty="0"/>
          </a:p>
        </p:txBody>
      </p:sp>
    </p:spTree>
    <p:extLst>
      <p:ext uri="{BB962C8B-B14F-4D97-AF65-F5344CB8AC3E}">
        <p14:creationId xmlns:p14="http://schemas.microsoft.com/office/powerpoint/2010/main" val="260330089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6399F-F7F4-5BDA-1ECA-BEE7CB641D1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BD04A50-E795-B3F6-20EE-D0166BF592CC}"/>
              </a:ext>
            </a:extLst>
          </p:cNvPr>
          <p:cNvSpPr txBox="1"/>
          <p:nvPr/>
        </p:nvSpPr>
        <p:spPr>
          <a:xfrm>
            <a:off x="498144" y="342216"/>
            <a:ext cx="4954136"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124. Compare Queue and Deque in Java.</a:t>
            </a:r>
          </a:p>
          <a:p>
            <a:pPr algn="just">
              <a:lnSpc>
                <a:spcPts val="2100"/>
              </a:lnSpc>
              <a:spcBef>
                <a:spcPts val="1650"/>
              </a:spcBef>
              <a:buNone/>
            </a:pPr>
            <a:r>
              <a:rPr lang="en-US" b="0" i="0" dirty="0">
                <a:solidFill>
                  <a:srgbClr val="3A3A3A"/>
                </a:solidFill>
                <a:effectLst/>
                <a:latin typeface="Roboto" panose="02000000000000000000" pitchFamily="2" charset="0"/>
              </a:rPr>
              <a:t>Queue and Deque both belong to the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package but Deque is more versatile.</a:t>
            </a:r>
          </a:p>
        </p:txBody>
      </p:sp>
      <p:graphicFrame>
        <p:nvGraphicFramePr>
          <p:cNvPr id="6" name="Table 5">
            <a:extLst>
              <a:ext uri="{FF2B5EF4-FFF2-40B4-BE49-F238E27FC236}">
                <a16:creationId xmlns:a16="http://schemas.microsoft.com/office/drawing/2014/main" id="{76B39D9C-47F5-30C4-FD7C-DE76A5825AD2}"/>
              </a:ext>
            </a:extLst>
          </p:cNvPr>
          <p:cNvGraphicFramePr>
            <a:graphicFrameLocks noGrp="1"/>
          </p:cNvGraphicFramePr>
          <p:nvPr>
            <p:extLst>
              <p:ext uri="{D42A27DB-BD31-4B8C-83A1-F6EECF244321}">
                <p14:modId xmlns:p14="http://schemas.microsoft.com/office/powerpoint/2010/main" val="1964317149"/>
              </p:ext>
            </p:extLst>
          </p:nvPr>
        </p:nvGraphicFramePr>
        <p:xfrm>
          <a:off x="498144" y="1828800"/>
          <a:ext cx="8543925" cy="3200400"/>
        </p:xfrm>
        <a:graphic>
          <a:graphicData uri="http://schemas.openxmlformats.org/drawingml/2006/table">
            <a:tbl>
              <a:tblPr/>
              <a:tblGrid>
                <a:gridCol w="2847975">
                  <a:extLst>
                    <a:ext uri="{9D8B030D-6E8A-4147-A177-3AD203B41FA5}">
                      <a16:colId xmlns:a16="http://schemas.microsoft.com/office/drawing/2014/main" val="3869087791"/>
                    </a:ext>
                  </a:extLst>
                </a:gridCol>
                <a:gridCol w="2847975">
                  <a:extLst>
                    <a:ext uri="{9D8B030D-6E8A-4147-A177-3AD203B41FA5}">
                      <a16:colId xmlns:a16="http://schemas.microsoft.com/office/drawing/2014/main" val="612519956"/>
                    </a:ext>
                  </a:extLst>
                </a:gridCol>
                <a:gridCol w="2847975">
                  <a:extLst>
                    <a:ext uri="{9D8B030D-6E8A-4147-A177-3AD203B41FA5}">
                      <a16:colId xmlns:a16="http://schemas.microsoft.com/office/drawing/2014/main" val="35875429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Deque (Double-Ended 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62603399"/>
                  </a:ext>
                </a:extLst>
              </a:tr>
              <a:tr h="0">
                <a:tc>
                  <a:txBody>
                    <a:bodyPr/>
                    <a:lstStyle/>
                    <a:p>
                      <a:pPr fontAlgn="t">
                        <a:buNone/>
                      </a:pPr>
                      <a:r>
                        <a:rPr lang="en-US" b="0">
                          <a:effectLst/>
                        </a:rPr>
                        <a:t>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added at rear, removed from front.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can be added/removed from both ends.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76323677"/>
                  </a:ext>
                </a:extLst>
              </a:tr>
              <a:tr h="0">
                <a:tc>
                  <a:txBody>
                    <a:bodyPr/>
                    <a:lstStyle/>
                    <a:p>
                      <a:pPr fontAlgn="t">
                        <a:buNone/>
                      </a:pPr>
                      <a:r>
                        <a:rPr lang="en-US" b="0">
                          <a:effectLst/>
                        </a:rPr>
                        <a:t>Typical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and LIFO (supports both)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89274"/>
                  </a:ext>
                </a:extLst>
              </a:tr>
              <a:tr h="0">
                <a:tc>
                  <a:txBody>
                    <a:bodyPr/>
                    <a:lstStyle/>
                    <a:p>
                      <a:pPr fontAlgn="t">
                        <a:buNone/>
                      </a:pPr>
                      <a:r>
                        <a:rPr lang="en-US" b="0">
                          <a:effectLst/>
                        </a:rPr>
                        <a:t>Methods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 poll(), peek()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addFirst(), addLast(), removeFirst()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437246"/>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LinkedList, PriorityQueue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err="1">
                          <a:effectLst/>
                        </a:rPr>
                        <a:t>ArrayDeque</a:t>
                      </a:r>
                      <a:r>
                        <a:rPr lang="en-US" dirty="0">
                          <a:effectLst/>
                        </a:rPr>
                        <a: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16866747"/>
                  </a:ext>
                </a:extLst>
              </a:tr>
            </a:tbl>
          </a:graphicData>
        </a:graphic>
      </p:graphicFrame>
      <p:sp>
        <p:nvSpPr>
          <p:cNvPr id="8" name="TextBox 7">
            <a:extLst>
              <a:ext uri="{FF2B5EF4-FFF2-40B4-BE49-F238E27FC236}">
                <a16:creationId xmlns:a16="http://schemas.microsoft.com/office/drawing/2014/main" id="{F9A93AE9-AC3A-856D-8ABD-8254B2FA7522}"/>
              </a:ext>
            </a:extLst>
          </p:cNvPr>
          <p:cNvSpPr txBox="1"/>
          <p:nvPr/>
        </p:nvSpPr>
        <p:spPr>
          <a:xfrm>
            <a:off x="498144" y="5166697"/>
            <a:ext cx="875503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Queue when performing simple FIFO operations. Use Deque if you need both ends to be flexible, like when implementing a stack or a sliding window.</a:t>
            </a:r>
            <a:endParaRPr lang="en-US" dirty="0"/>
          </a:p>
        </p:txBody>
      </p:sp>
    </p:spTree>
    <p:extLst>
      <p:ext uri="{BB962C8B-B14F-4D97-AF65-F5344CB8AC3E}">
        <p14:creationId xmlns:p14="http://schemas.microsoft.com/office/powerpoint/2010/main" val="31839323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6AD6-6F09-2441-660F-85216899D2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3D3DCB-69DE-5333-87B9-7BD2C79ACEFF}"/>
              </a:ext>
            </a:extLst>
          </p:cNvPr>
          <p:cNvSpPr txBox="1"/>
          <p:nvPr/>
        </p:nvSpPr>
        <p:spPr>
          <a:xfrm>
            <a:off x="225189" y="182093"/>
            <a:ext cx="934189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125. What are the differences between HashSet and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and HashSet are implementations of the Set interface but vary based upon ordering and efficiency.</a:t>
            </a:r>
          </a:p>
        </p:txBody>
      </p:sp>
      <p:graphicFrame>
        <p:nvGraphicFramePr>
          <p:cNvPr id="4" name="Table 3">
            <a:extLst>
              <a:ext uri="{FF2B5EF4-FFF2-40B4-BE49-F238E27FC236}">
                <a16:creationId xmlns:a16="http://schemas.microsoft.com/office/drawing/2014/main" id="{E5F8AA67-11E7-56DF-380E-4D7B7AF7617E}"/>
              </a:ext>
            </a:extLst>
          </p:cNvPr>
          <p:cNvGraphicFramePr>
            <a:graphicFrameLocks noGrp="1"/>
          </p:cNvGraphicFramePr>
          <p:nvPr>
            <p:extLst>
              <p:ext uri="{D42A27DB-BD31-4B8C-83A1-F6EECF244321}">
                <p14:modId xmlns:p14="http://schemas.microsoft.com/office/powerpoint/2010/main" val="186495313"/>
              </p:ext>
            </p:extLst>
          </p:nvPr>
        </p:nvGraphicFramePr>
        <p:xfrm>
          <a:off x="624172" y="1531180"/>
          <a:ext cx="8543925" cy="3200400"/>
        </p:xfrm>
        <a:graphic>
          <a:graphicData uri="http://schemas.openxmlformats.org/drawingml/2006/table">
            <a:tbl>
              <a:tblPr/>
              <a:tblGrid>
                <a:gridCol w="2847975">
                  <a:extLst>
                    <a:ext uri="{9D8B030D-6E8A-4147-A177-3AD203B41FA5}">
                      <a16:colId xmlns:a16="http://schemas.microsoft.com/office/drawing/2014/main" val="1890496844"/>
                    </a:ext>
                  </a:extLst>
                </a:gridCol>
                <a:gridCol w="2847975">
                  <a:extLst>
                    <a:ext uri="{9D8B030D-6E8A-4147-A177-3AD203B41FA5}">
                      <a16:colId xmlns:a16="http://schemas.microsoft.com/office/drawing/2014/main" val="1370502561"/>
                    </a:ext>
                  </a:extLst>
                </a:gridCol>
                <a:gridCol w="2847975">
                  <a:extLst>
                    <a:ext uri="{9D8B030D-6E8A-4147-A177-3AD203B41FA5}">
                      <a16:colId xmlns:a16="http://schemas.microsoft.com/office/drawing/2014/main" val="692319853"/>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82449824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specific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order based on natural or custom 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0591384"/>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for basic operations (average)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all operations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0573387"/>
                  </a:ext>
                </a:extLst>
              </a:tr>
              <a:tr h="0">
                <a:tc>
                  <a:txBody>
                    <a:bodyPr/>
                    <a:lstStyle/>
                    <a:p>
                      <a:pPr fontAlgn="t">
                        <a:buNone/>
                      </a:pPr>
                      <a:r>
                        <a:rPr lang="en-US" b="0">
                          <a:effectLst/>
                        </a:rPr>
                        <a:t>Null Elements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39059757"/>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access, unordered set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set with range query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38274"/>
                  </a:ext>
                </a:extLst>
              </a:tr>
            </a:tbl>
          </a:graphicData>
        </a:graphic>
      </p:graphicFrame>
      <p:sp>
        <p:nvSpPr>
          <p:cNvPr id="6" name="TextBox 5">
            <a:extLst>
              <a:ext uri="{FF2B5EF4-FFF2-40B4-BE49-F238E27FC236}">
                <a16:creationId xmlns:a16="http://schemas.microsoft.com/office/drawing/2014/main" id="{42BC74C6-C8E2-3575-A86D-3C71C4D5471D}"/>
              </a:ext>
            </a:extLst>
          </p:cNvPr>
          <p:cNvSpPr txBox="1"/>
          <p:nvPr/>
        </p:nvSpPr>
        <p:spPr>
          <a:xfrm>
            <a:off x="624171" y="4880338"/>
            <a:ext cx="8669953"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 HashSet where there are requirements of performance and no ordering.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for sorted entries and navigation methods such as </a:t>
            </a:r>
            <a:r>
              <a:rPr lang="en-US" b="0" i="0" dirty="0" err="1">
                <a:solidFill>
                  <a:srgbClr val="3A3A3A"/>
                </a:solidFill>
                <a:effectLst/>
                <a:latin typeface="Roboto" panose="02000000000000000000" pitchFamily="2" charset="0"/>
              </a:rPr>
              <a:t>headSet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tailSet</a:t>
            </a:r>
            <a:r>
              <a:rPr lang="en-US" b="0" i="0"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61110134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AFB2A-06B2-2F66-159D-886AAA6470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EC94-E794-181C-4C22-1244D6991FA3}"/>
              </a:ext>
            </a:extLst>
          </p:cNvPr>
          <p:cNvSpPr txBox="1"/>
          <p:nvPr/>
        </p:nvSpPr>
        <p:spPr>
          <a:xfrm>
            <a:off x="2477069" y="30848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126. What are the different thread priorities in Java, and what is the default priority assigned by the JVM?</a:t>
            </a:r>
          </a:p>
          <a:p>
            <a:pPr algn="just">
              <a:lnSpc>
                <a:spcPts val="2100"/>
              </a:lnSpc>
              <a:spcBef>
                <a:spcPts val="1650"/>
              </a:spcBef>
              <a:buNone/>
            </a:pPr>
            <a:r>
              <a:rPr lang="en-US" b="0" i="0" dirty="0">
                <a:solidFill>
                  <a:srgbClr val="3A3A3A"/>
                </a:solidFill>
                <a:effectLst/>
                <a:latin typeface="Roboto" panose="02000000000000000000" pitchFamily="2" charset="0"/>
              </a:rPr>
              <a:t>In Java, every thread has a priority value ranging from 1 (MIN_PRIORITY) to 10 (MAX_PRIORITY). The default priority that the JVM gives to every thread is 5 (NORM_PRIORITY).</a:t>
            </a:r>
          </a:p>
          <a:p>
            <a:pPr algn="just">
              <a:lnSpc>
                <a:spcPts val="2100"/>
              </a:lnSpc>
              <a:spcBef>
                <a:spcPts val="750"/>
              </a:spcBef>
              <a:buNone/>
            </a:pPr>
            <a:r>
              <a:rPr lang="en-US" b="0" i="0" dirty="0">
                <a:solidFill>
                  <a:srgbClr val="3A3A3A"/>
                </a:solidFill>
                <a:effectLst/>
                <a:latin typeface="Roboto" panose="02000000000000000000" pitchFamily="2" charset="0"/>
              </a:rPr>
              <a:t>Thread Priority Constants: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MIN_PRIORITY = 1</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NORM_PRIORITY = 5 </a:t>
            </a:r>
            <a:r>
              <a:rPr lang="en-US" b="0" i="1" dirty="0">
                <a:solidFill>
                  <a:srgbClr val="3A3A3A"/>
                </a:solidFill>
                <a:effectLst/>
                <a:latin typeface="Roboto" panose="02000000000000000000" pitchFamily="2" charset="0"/>
              </a:rPr>
              <a:t>(default)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MAX_PRIORITY = 10</a:t>
            </a:r>
          </a:p>
          <a:p>
            <a:pPr algn="just">
              <a:lnSpc>
                <a:spcPts val="2100"/>
              </a:lnSpc>
              <a:spcBef>
                <a:spcPts val="1650"/>
              </a:spcBef>
              <a:buNone/>
            </a:pPr>
            <a:r>
              <a:rPr lang="en-US" b="0" i="0" dirty="0">
                <a:solidFill>
                  <a:srgbClr val="3A3A3A"/>
                </a:solidFill>
                <a:effectLst/>
                <a:latin typeface="Roboto" panose="02000000000000000000" pitchFamily="2" charset="0"/>
              </a:rPr>
              <a:t>Significance: Priority of the thread will affect the thread scheduler to select the thread to be executed, but not necessarily-governed by the JVM’s underlying operating system level thread scheduling mechanism. It is a suggestion, not a requirement.</a:t>
            </a:r>
          </a:p>
        </p:txBody>
      </p:sp>
    </p:spTree>
    <p:extLst>
      <p:ext uri="{BB962C8B-B14F-4D97-AF65-F5344CB8AC3E}">
        <p14:creationId xmlns:p14="http://schemas.microsoft.com/office/powerpoint/2010/main" val="381157872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365-1369-C1A6-1DB1-0693BA7DF8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261BE-86B4-A2BF-3743-4DEAAF3AF772}"/>
              </a:ext>
            </a:extLst>
          </p:cNvPr>
          <p:cNvSpPr txBox="1"/>
          <p:nvPr/>
        </p:nvSpPr>
        <p:spPr>
          <a:xfrm>
            <a:off x="2477069" y="577785"/>
            <a:ext cx="4954136" cy="57092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127. Why is garbage collection necessary in Java?</a:t>
            </a:r>
          </a:p>
          <a:p>
            <a:pPr algn="just">
              <a:lnSpc>
                <a:spcPts val="2100"/>
              </a:lnSpc>
              <a:spcBef>
                <a:spcPts val="1650"/>
              </a:spcBef>
              <a:buNone/>
            </a:pPr>
            <a:r>
              <a:rPr lang="en-US" b="0" i="0" dirty="0">
                <a:solidFill>
                  <a:srgbClr val="3A3A3A"/>
                </a:solidFill>
                <a:effectLst/>
                <a:latin typeface="Roboto" panose="02000000000000000000" pitchFamily="2" charset="0"/>
              </a:rPr>
              <a:t>Java garbage collection (GC) plays a crucial role in automatic memory management. It releases memory by deleting objects that are not accessible to any running thread or static reference.</a:t>
            </a:r>
          </a:p>
          <a:p>
            <a:pPr algn="just">
              <a:lnSpc>
                <a:spcPts val="2100"/>
              </a:lnSpc>
              <a:spcBef>
                <a:spcPts val="750"/>
              </a:spcBef>
              <a:buNone/>
            </a:pPr>
            <a:r>
              <a:rPr lang="en-US" b="0" i="0" dirty="0">
                <a:solidFill>
                  <a:srgbClr val="3A3A3A"/>
                </a:solidFill>
                <a:effectLst/>
                <a:latin typeface="Roboto" panose="02000000000000000000" pitchFamily="2" charset="0"/>
              </a:rPr>
              <a:t>Why it’s important: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leaks.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manual memory deallocation needs (such as in C/C++).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Helps to ensure runtime performance and avoid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makes Java programs less prone to errors with respect to memory management.</a:t>
            </a:r>
          </a:p>
        </p:txBody>
      </p:sp>
    </p:spTree>
    <p:extLst>
      <p:ext uri="{BB962C8B-B14F-4D97-AF65-F5344CB8AC3E}">
        <p14:creationId xmlns:p14="http://schemas.microsoft.com/office/powerpoint/2010/main" val="262191276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B8C59-7287-5970-FAE8-D6DC8C183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D7F496-0CE2-0D71-D909-549BC67DA054}"/>
              </a:ext>
            </a:extLst>
          </p:cNvPr>
          <p:cNvSpPr txBox="1"/>
          <p:nvPr/>
        </p:nvSpPr>
        <p:spPr>
          <a:xfrm>
            <a:off x="2477069" y="-923909"/>
            <a:ext cx="4954136" cy="87126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128. What classes are available in the </a:t>
            </a:r>
            <a:r>
              <a:rPr lang="en-US" b="0" i="0" dirty="0" err="1">
                <a:solidFill>
                  <a:srgbClr val="272C37"/>
                </a:solidFill>
                <a:effectLst/>
                <a:latin typeface="Roboto" panose="02000000000000000000" pitchFamily="2" charset="0"/>
              </a:rPr>
              <a:t>java.util.regex</a:t>
            </a:r>
            <a:r>
              <a:rPr lang="en-US" b="0" i="0" dirty="0">
                <a:solidFill>
                  <a:srgbClr val="272C37"/>
                </a:solidFill>
                <a:effectLst/>
                <a:latin typeface="Roboto" panose="02000000000000000000" pitchFamily="2" charset="0"/>
              </a:rPr>
              <a:t> package?</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java.util.regex</a:t>
            </a:r>
            <a:r>
              <a:rPr lang="en-US" b="0" i="0" dirty="0">
                <a:solidFill>
                  <a:srgbClr val="3A3A3A"/>
                </a:solidFill>
                <a:effectLst/>
                <a:latin typeface="Roboto" panose="02000000000000000000" pitchFamily="2" charset="0"/>
              </a:rPr>
              <a:t> package offers classes to match patterns by means of </a:t>
            </a:r>
            <a:r>
              <a:rPr lang="en-US" b="0" i="0" u="none" strike="noStrike" dirty="0">
                <a:solidFill>
                  <a:srgbClr val="0F5A9E"/>
                </a:solidFill>
                <a:effectLst/>
                <a:latin typeface="Roboto" panose="02000000000000000000" pitchFamily="2" charset="0"/>
                <a:hlinkClick r:id="rId2"/>
              </a:rPr>
              <a:t>regular expressions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Primary classes: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Pattern: The compiled form of a regular expression.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Matcher: Used to conduct match operations on input strings against a Pattern.</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PatternSyntaxException</a:t>
            </a:r>
            <a:r>
              <a:rPr lang="en-US" b="0" i="0" dirty="0">
                <a:solidFill>
                  <a:srgbClr val="3A3A3A"/>
                </a:solidFill>
                <a:effectLst/>
                <a:latin typeface="Roboto" panose="02000000000000000000" pitchFamily="2" charset="0"/>
              </a:rPr>
              <a:t>: Unchecked exception that occurs when a pattern syntax is incorrect.</a:t>
            </a:r>
          </a:p>
          <a:p>
            <a:pPr algn="just">
              <a:lnSpc>
                <a:spcPts val="2100"/>
              </a:lnSpc>
              <a:spcBef>
                <a:spcPts val="1650"/>
              </a:spcBef>
              <a:buNone/>
            </a:pPr>
            <a:r>
              <a:rPr lang="en-US" b="0" i="0" dirty="0">
                <a:solidFill>
                  <a:srgbClr val="3A3A3A"/>
                </a:solidFill>
                <a:effectLst/>
                <a:latin typeface="Roboto" panose="02000000000000000000" pitchFamily="2" charset="0"/>
              </a:rPr>
              <a:t>Usage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("\\d+");</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("There are 123 apples");</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matcher.find</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These classes are powerful tools for text processing, validation, and data extraction in Java.</a:t>
            </a:r>
          </a:p>
        </p:txBody>
      </p:sp>
    </p:spTree>
    <p:extLst>
      <p:ext uri="{BB962C8B-B14F-4D97-AF65-F5344CB8AC3E}">
        <p14:creationId xmlns:p14="http://schemas.microsoft.com/office/powerpoint/2010/main" val="4626317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061A3-1499-8EED-1D2A-532E50D677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79AA71-6B31-C7AC-55C9-614CAE3A59A7}"/>
              </a:ext>
            </a:extLst>
          </p:cNvPr>
          <p:cNvSpPr txBox="1"/>
          <p:nvPr/>
        </p:nvSpPr>
        <p:spPr>
          <a:xfrm>
            <a:off x="2477069" y="-1858780"/>
            <a:ext cx="4954136" cy="105823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129. How do you write a regular expression to validate a password in Java?</a:t>
            </a:r>
          </a:p>
          <a:p>
            <a:pPr algn="just">
              <a:lnSpc>
                <a:spcPts val="2100"/>
              </a:lnSpc>
              <a:spcBef>
                <a:spcPts val="1650"/>
              </a:spcBef>
              <a:buNone/>
            </a:pPr>
            <a:r>
              <a:rPr lang="en-US" b="0" i="0" dirty="0">
                <a:solidFill>
                  <a:srgbClr val="3A3A3A"/>
                </a:solidFill>
                <a:effectLst/>
                <a:latin typeface="Roboto" panose="02000000000000000000" pitchFamily="2" charset="0"/>
              </a:rPr>
              <a:t>A good password should have at least an uppercase character, a lowercase character, a digit, a special character, and a minimum length. Below is a regex pattern that meets that requirement:</a:t>
            </a:r>
          </a:p>
          <a:p>
            <a:pPr algn="just">
              <a:lnSpc>
                <a:spcPts val="2100"/>
              </a:lnSpc>
              <a:spcBef>
                <a:spcPts val="750"/>
              </a:spcBef>
              <a:buNone/>
            </a:pPr>
            <a:r>
              <a:rPr lang="en-US" b="0" i="0" dirty="0">
                <a:solidFill>
                  <a:srgbClr val="3A3A3A"/>
                </a:solidFill>
                <a:effectLst/>
                <a:latin typeface="Roboto" panose="02000000000000000000" pitchFamily="2" charset="0"/>
              </a:rPr>
              <a:t>Regex for Password Validation:</a:t>
            </a:r>
          </a:p>
          <a:p>
            <a:pPr algn="l">
              <a:spcBef>
                <a:spcPts val="1125"/>
              </a:spcBef>
              <a:spcAft>
                <a:spcPts val="375"/>
              </a:spcAft>
              <a:buNone/>
            </a:pPr>
            <a:r>
              <a:rPr lang="en-US" b="0" i="0" dirty="0">
                <a:solidFill>
                  <a:srgbClr val="212529"/>
                </a:solidFill>
                <a:effectLst/>
                <a:latin typeface="Courier New" panose="02070309020205020404" pitchFamily="49" charset="0"/>
              </a:rPr>
              <a:t>String regex = "^(?=.*[a-z])(?=.*[A-Z])(?=.*\\d)(?=.*[@#$%^&amp;+=!]).{8,}$";</a:t>
            </a:r>
          </a:p>
          <a:p>
            <a:pPr algn="just">
              <a:lnSpc>
                <a:spcPts val="2100"/>
              </a:lnSpc>
              <a:spcBef>
                <a:spcPts val="1650"/>
              </a:spcBef>
              <a:buNone/>
            </a:pPr>
            <a:r>
              <a:rPr lang="en-US" b="0" i="0" dirty="0">
                <a:solidFill>
                  <a:srgbClr val="3A3A3A"/>
                </a:solidFill>
                <a:effectLst/>
                <a:latin typeface="Roboto" panose="02000000000000000000" pitchFamily="2" charset="0"/>
              </a:rPr>
              <a:t>Explanation: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lowercase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uppercase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 – at least one digit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(?=.*[@#$%^&amp;+=!]) – at least one special character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.{8,} – minimum length of 8 characters</a:t>
            </a:r>
          </a:p>
          <a:p>
            <a:pPr algn="just">
              <a:lnSpc>
                <a:spcPts val="2100"/>
              </a:lnSpc>
              <a:spcBef>
                <a:spcPts val="1650"/>
              </a:spcBef>
              <a:buNone/>
            </a:pPr>
            <a:r>
              <a:rPr lang="en-US" b="0" i="0" dirty="0">
                <a:solidFill>
                  <a:srgbClr val="3A3A3A"/>
                </a:solidFill>
                <a:effectLst/>
                <a:latin typeface="Roboto" panose="02000000000000000000" pitchFamily="2" charset="0"/>
              </a:rPr>
              <a:t>Validation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(regex);</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("Secure@123");</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matcher.matches</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This ensures the password is secure and meets common complexity standards.</a:t>
            </a:r>
          </a:p>
        </p:txBody>
      </p:sp>
    </p:spTree>
    <p:extLst>
      <p:ext uri="{BB962C8B-B14F-4D97-AF65-F5344CB8AC3E}">
        <p14:creationId xmlns:p14="http://schemas.microsoft.com/office/powerpoint/2010/main" val="185773134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BA2E7-BF07-06FB-3D7C-111BE7C950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1D1A42-8AA3-72FF-76B0-096A8884D4C3}"/>
              </a:ext>
            </a:extLst>
          </p:cNvPr>
          <p:cNvSpPr txBox="1"/>
          <p:nvPr/>
        </p:nvSpPr>
        <p:spPr>
          <a:xfrm>
            <a:off x="2477069" y="-460961"/>
            <a:ext cx="4954136" cy="7786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130. What is JDBC in Java?</a:t>
            </a:r>
          </a:p>
          <a:p>
            <a:pPr algn="just">
              <a:lnSpc>
                <a:spcPts val="2100"/>
              </a:lnSpc>
              <a:spcBef>
                <a:spcPts val="1650"/>
              </a:spcBef>
              <a:buNone/>
            </a:pPr>
            <a:r>
              <a:rPr lang="en-US" b="0" i="0" dirty="0">
                <a:solidFill>
                  <a:srgbClr val="3A3A3A"/>
                </a:solidFill>
                <a:effectLst/>
                <a:latin typeface="Roboto" panose="02000000000000000000" pitchFamily="2" charset="0"/>
              </a:rPr>
              <a:t>JDBC (Java Database Connectivity) is an API that allows Java programs to communicate with a database using SQL queries. It offers a common interface to connect to relational databases such as MySQL, PostgreSQL, Oracle, etc.</a:t>
            </a:r>
          </a:p>
          <a:p>
            <a:pPr algn="just">
              <a:lnSpc>
                <a:spcPts val="2100"/>
              </a:lnSpc>
              <a:spcBef>
                <a:spcPts val="750"/>
              </a:spcBef>
              <a:buNone/>
            </a:pPr>
            <a:r>
              <a:rPr lang="en-US" b="0" i="0" dirty="0">
                <a:solidFill>
                  <a:srgbClr val="3A3A3A"/>
                </a:solidFill>
                <a:effectLst/>
                <a:latin typeface="Roboto" panose="02000000000000000000" pitchFamily="2" charset="0"/>
              </a:rPr>
              <a:t>Key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SQL queries (SELECT, INSERT, UPDATE, DELETE)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Retrieve results through </a:t>
            </a: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 transactions.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Utilize prepared and callable statements to help ensure security and stored procedures.</a:t>
            </a:r>
          </a:p>
          <a:p>
            <a:pPr algn="just">
              <a:lnSpc>
                <a:spcPts val="2100"/>
              </a:lnSpc>
              <a:spcBef>
                <a:spcPts val="1650"/>
              </a:spcBef>
              <a:buNone/>
            </a:pPr>
            <a:r>
              <a:rPr lang="en-US" b="0" i="0" dirty="0">
                <a:solidFill>
                  <a:srgbClr val="3A3A3A"/>
                </a:solidFill>
                <a:effectLst/>
                <a:latin typeface="Roboto" panose="02000000000000000000" pitchFamily="2" charset="0"/>
              </a:rPr>
              <a:t>Typical JDBC Workflow: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Load the JDBC driver.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connection by using </a:t>
            </a: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Statement or </a:t>
            </a:r>
            <a:r>
              <a:rPr lang="en-US" b="0" i="0" dirty="0" err="1">
                <a:solidFill>
                  <a:srgbClr val="3A3A3A"/>
                </a:solidFill>
                <a:effectLst/>
                <a:latin typeface="Roboto" panose="02000000000000000000" pitchFamily="2" charset="0"/>
              </a:rPr>
              <a:t>PreparedStatement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Run queries and process the result set.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Close all windows.</a:t>
            </a:r>
          </a:p>
        </p:txBody>
      </p:sp>
    </p:spTree>
    <p:extLst>
      <p:ext uri="{BB962C8B-B14F-4D97-AF65-F5344CB8AC3E}">
        <p14:creationId xmlns:p14="http://schemas.microsoft.com/office/powerpoint/2010/main" val="26241365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20771-52F0-3B23-B574-B63C4CB35C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C8B7EA-7DF2-33E0-FA6A-6971B6B56131}"/>
              </a:ext>
            </a:extLst>
          </p:cNvPr>
          <p:cNvSpPr txBox="1"/>
          <p:nvPr/>
        </p:nvSpPr>
        <p:spPr>
          <a:xfrm>
            <a:off x="2477069" y="-1048302"/>
            <a:ext cx="4954136" cy="896142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131. What is a JDBC Driver?</a:t>
            </a:r>
          </a:p>
          <a:p>
            <a:pPr algn="just">
              <a:lnSpc>
                <a:spcPts val="2100"/>
              </a:lnSpc>
              <a:spcBef>
                <a:spcPts val="1650"/>
              </a:spcBef>
              <a:buNone/>
            </a:pPr>
            <a:r>
              <a:rPr lang="en-US" b="0" i="0" dirty="0">
                <a:solidFill>
                  <a:srgbClr val="3A3A3A"/>
                </a:solidFill>
                <a:effectLst/>
                <a:latin typeface="Roboto" panose="02000000000000000000" pitchFamily="2" charset="0"/>
              </a:rPr>
              <a:t>A JDBC driver is a program component that enables Java applications to interface with a targeted database. It is a bridge between the database server and the Java application.</a:t>
            </a:r>
          </a:p>
          <a:p>
            <a:pPr algn="just">
              <a:lnSpc>
                <a:spcPts val="2100"/>
              </a:lnSpc>
              <a:spcBef>
                <a:spcPts val="750"/>
              </a:spcBef>
              <a:buNone/>
            </a:pPr>
            <a:r>
              <a:rPr lang="en-US" b="0" i="0" dirty="0">
                <a:solidFill>
                  <a:srgbClr val="3A3A3A"/>
                </a:solidFill>
                <a:effectLst/>
                <a:latin typeface="Roboto" panose="02000000000000000000" pitchFamily="2" charset="0"/>
              </a:rPr>
              <a:t>Types of JDBC Drivers: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1: JDBC-ODBC bridge (deprecated).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2: Native-API driver (requires native DB libraries).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3: Network Protocol driver (middleware-based).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4: Thin driver (pure Java, platform-independent, most common).</a:t>
            </a:r>
          </a:p>
          <a:p>
            <a:pPr algn="just">
              <a:lnSpc>
                <a:spcPts val="2100"/>
              </a:lnSpc>
              <a:spcBef>
                <a:spcPts val="1650"/>
              </a:spcBef>
              <a:buNone/>
            </a:pPr>
            <a:r>
              <a:rPr lang="en-US" b="0" i="0" dirty="0">
                <a:solidFill>
                  <a:srgbClr val="3A3A3A"/>
                </a:solidFill>
                <a:effectLst/>
                <a:latin typeface="Roboto" panose="02000000000000000000" pitchFamily="2" charset="0"/>
              </a:rPr>
              <a:t>Example: For MySQL, you use the MySQL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Today, type 4 drivers are extensively employed since they are independent of external dependencies and provide improved performance.</a:t>
            </a:r>
          </a:p>
        </p:txBody>
      </p:sp>
    </p:spTree>
    <p:extLst>
      <p:ext uri="{BB962C8B-B14F-4D97-AF65-F5344CB8AC3E}">
        <p14:creationId xmlns:p14="http://schemas.microsoft.com/office/powerpoint/2010/main" val="429039388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292A-8C96-5065-6F14-B34498F41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F02477C-3FE8-03AC-30F4-5E0FF8295A47}"/>
              </a:ext>
            </a:extLst>
          </p:cNvPr>
          <p:cNvSpPr txBox="1"/>
          <p:nvPr/>
        </p:nvSpPr>
        <p:spPr>
          <a:xfrm>
            <a:off x="0" y="-299659"/>
            <a:ext cx="4954136" cy="77098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132. What are the steps to connect to a database using JDBC in Java?</a:t>
            </a:r>
          </a:p>
          <a:p>
            <a:pPr algn="just">
              <a:lnSpc>
                <a:spcPts val="2100"/>
              </a:lnSpc>
              <a:spcBef>
                <a:spcPts val="1650"/>
              </a:spcBef>
              <a:buNone/>
            </a:pPr>
            <a:r>
              <a:rPr lang="en-US" b="0" i="0" dirty="0">
                <a:solidFill>
                  <a:srgbClr val="3A3A3A"/>
                </a:solidFill>
                <a:effectLst/>
                <a:latin typeface="Roboto" panose="02000000000000000000" pitchFamily="2" charset="0"/>
              </a:rPr>
              <a:t>To connect a Java application to a database using JDBC (Java Database Connectivity), the following steps are typically followed: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Import JDBC Packages:</a:t>
            </a:r>
          </a:p>
          <a:p>
            <a:pPr algn="l">
              <a:spcBef>
                <a:spcPts val="1125"/>
              </a:spcBef>
              <a:spcAft>
                <a:spcPts val="375"/>
              </a:spcAft>
              <a:buNone/>
            </a:pPr>
            <a:r>
              <a:rPr lang="en-US" b="0" i="0" dirty="0">
                <a:solidFill>
                  <a:srgbClr val="212529"/>
                </a:solidFill>
                <a:effectLst/>
                <a:latin typeface="Courier New" panose="02070309020205020404" pitchFamily="49" charset="0"/>
              </a:rPr>
              <a:t>import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Load and Register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 // MySQL driver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Establish the Connection:</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dbname</a:t>
            </a:r>
            <a:r>
              <a:rPr lang="en-US" b="0" i="0" dirty="0">
                <a:solidFill>
                  <a:srgbClr val="212529"/>
                </a:solidFill>
                <a:effectLst/>
                <a:latin typeface="Courier New" panose="02070309020205020404" pitchFamily="49" charset="0"/>
              </a:rPr>
              <a:t>", "username", "password");</a:t>
            </a:r>
          </a:p>
          <a:p>
            <a:pPr algn="just">
              <a:lnSpc>
                <a:spcPts val="2100"/>
              </a:lnSpc>
              <a:spcBef>
                <a:spcPts val="1650"/>
              </a:spcBef>
              <a:spcAft>
                <a:spcPts val="600"/>
              </a:spcAft>
              <a:buFont typeface="+mj-lt"/>
              <a:buAutoNum type="arabicPeriod" startAt="4"/>
            </a:pPr>
            <a:r>
              <a:rPr lang="en-US" b="0" i="0" dirty="0">
                <a:solidFill>
                  <a:srgbClr val="3A3A3A"/>
                </a:solidFill>
                <a:effectLst/>
                <a:latin typeface="Roboto" panose="02000000000000000000" pitchFamily="2" charset="0"/>
              </a:rPr>
              <a:t>Create a Statement:</a:t>
            </a:r>
          </a:p>
          <a:p>
            <a:pPr algn="l">
              <a:spcBef>
                <a:spcPts val="1125"/>
              </a:spcBef>
              <a:spcAft>
                <a:spcPts val="375"/>
              </a:spcAft>
              <a:buNone/>
            </a:pPr>
            <a:r>
              <a:rPr lang="en-US" b="0" i="0" dirty="0">
                <a:solidFill>
                  <a:srgbClr val="212529"/>
                </a:solidFill>
                <a:effectLst/>
                <a:latin typeface="Courier New" panose="02070309020205020404" pitchFamily="49" charset="0"/>
              </a:rPr>
              <a:t>Statement </a:t>
            </a:r>
            <a:r>
              <a:rPr lang="en-US" b="0" i="0" dirty="0" err="1">
                <a:solidFill>
                  <a:srgbClr val="212529"/>
                </a:solidFill>
                <a:effectLst/>
                <a:latin typeface="Courier New" panose="02070309020205020404" pitchFamily="49" charset="0"/>
              </a:rPr>
              <a:t>stmt</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conn.createStatement</a:t>
            </a: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0400B604-6A5F-C973-0FD5-C8016C12AE23}"/>
              </a:ext>
            </a:extLst>
          </p:cNvPr>
          <p:cNvSpPr txBox="1"/>
          <p:nvPr/>
        </p:nvSpPr>
        <p:spPr>
          <a:xfrm>
            <a:off x="4953000" y="-272363"/>
            <a:ext cx="4981432" cy="6986528"/>
          </a:xfrm>
          <a:prstGeom prst="rect">
            <a:avLst/>
          </a:prstGeom>
          <a:noFill/>
        </p:spPr>
        <p:txBody>
          <a:bodyPr wrap="square">
            <a:spAutoFit/>
          </a:bodyPr>
          <a:lstStyle/>
          <a:p>
            <a:pPr algn="just">
              <a:lnSpc>
                <a:spcPts val="2100"/>
              </a:lnSpc>
              <a:spcBef>
                <a:spcPts val="1650"/>
              </a:spcBef>
              <a:spcAft>
                <a:spcPts val="600"/>
              </a:spcAft>
              <a:buFont typeface="+mj-lt"/>
              <a:buAutoNum type="arabicPeriod" startAt="5"/>
            </a:pPr>
            <a:r>
              <a:rPr lang="en-US" b="0" i="0" dirty="0">
                <a:solidFill>
                  <a:srgbClr val="3A3A3A"/>
                </a:solidFill>
                <a:effectLst/>
                <a:latin typeface="Roboto" panose="02000000000000000000" pitchFamily="2" charset="0"/>
              </a:rPr>
              <a:t>Execute SQL Queries:</a:t>
            </a:r>
          </a:p>
          <a:p>
            <a:pPr algn="l">
              <a:spcBef>
                <a:spcPts val="1125"/>
              </a:spcBef>
              <a:spcAft>
                <a:spcPts val="375"/>
              </a:spcAft>
              <a:buNone/>
            </a:pPr>
            <a:r>
              <a:rPr lang="en-US" b="0" i="0" dirty="0" err="1">
                <a:solidFill>
                  <a:srgbClr val="212529"/>
                </a:solidFill>
                <a:effectLst/>
                <a:latin typeface="Courier New" panose="02070309020205020404" pitchFamily="49" charset="0"/>
              </a:rPr>
              <a:t>ResultSet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rs</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stmt.executeQuery</a:t>
            </a:r>
            <a:r>
              <a:rPr lang="en-US" b="0" i="0" dirty="0">
                <a:solidFill>
                  <a:srgbClr val="212529"/>
                </a:solidFill>
                <a:effectLst/>
                <a:latin typeface="Courier New" panose="02070309020205020404" pitchFamily="49" charset="0"/>
              </a:rPr>
              <a:t>("SELECT * FROM users");</a:t>
            </a:r>
          </a:p>
          <a:p>
            <a:pPr algn="just">
              <a:lnSpc>
                <a:spcPts val="2100"/>
              </a:lnSpc>
              <a:spcBef>
                <a:spcPts val="1650"/>
              </a:spcBef>
              <a:spcAft>
                <a:spcPts val="600"/>
              </a:spcAft>
              <a:buFont typeface="+mj-lt"/>
              <a:buAutoNum type="arabicPeriod" startAt="6"/>
            </a:pPr>
            <a:r>
              <a:rPr lang="en-US" b="0" i="0" dirty="0">
                <a:solidFill>
                  <a:srgbClr val="3A3A3A"/>
                </a:solidFill>
                <a:effectLst/>
                <a:latin typeface="Roboto" panose="02000000000000000000" pitchFamily="2" charset="0"/>
              </a:rPr>
              <a:t>Process the Results:</a:t>
            </a:r>
          </a:p>
          <a:p>
            <a:pPr algn="l">
              <a:spcBef>
                <a:spcPts val="1125"/>
              </a:spcBef>
              <a:spcAft>
                <a:spcPts val="375"/>
              </a:spcAft>
              <a:buNone/>
            </a:pPr>
            <a:r>
              <a:rPr lang="en-US" b="0" i="0" dirty="0">
                <a:solidFill>
                  <a:srgbClr val="212529"/>
                </a:solidFill>
                <a:effectLst/>
                <a:latin typeface="Courier New" panose="02070309020205020404" pitchFamily="49" charset="0"/>
              </a:rPr>
              <a:t>while(</a:t>
            </a:r>
            <a:r>
              <a:rPr lang="en-US" b="0" i="0" dirty="0" err="1">
                <a:solidFill>
                  <a:srgbClr val="212529"/>
                </a:solidFill>
                <a:effectLst/>
                <a:latin typeface="Courier New" panose="02070309020205020404" pitchFamily="49" charset="0"/>
              </a:rPr>
              <a:t>rs.next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rs.getString</a:t>
            </a:r>
            <a:r>
              <a:rPr lang="en-US" b="0" i="0" dirty="0">
                <a:solidFill>
                  <a:srgbClr val="212529"/>
                </a:solidFill>
                <a:effectLst/>
                <a:latin typeface="Courier New" panose="02070309020205020404" pitchFamily="49" charset="0"/>
              </a:rPr>
              <a:t>("username"));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7"/>
            </a:pPr>
            <a:r>
              <a:rPr lang="en-US" b="0" i="0" dirty="0">
                <a:solidFill>
                  <a:srgbClr val="3A3A3A"/>
                </a:solidFill>
                <a:effectLst/>
                <a:latin typeface="Roboto" panose="02000000000000000000" pitchFamily="2" charset="0"/>
              </a:rPr>
              <a:t>Close the Connection:</a:t>
            </a:r>
          </a:p>
          <a:p>
            <a:pPr algn="l">
              <a:spcBef>
                <a:spcPts val="1125"/>
              </a:spcBef>
              <a:spcAft>
                <a:spcPts val="375"/>
              </a:spcAft>
              <a:buNone/>
            </a:pPr>
            <a:r>
              <a:rPr lang="en-US" b="0" i="0" dirty="0" err="1">
                <a:solidFill>
                  <a:srgbClr val="212529"/>
                </a:solidFill>
                <a:effectLst/>
                <a:latin typeface="Courier New" panose="02070309020205020404" pitchFamily="49" charset="0"/>
              </a:rPr>
              <a:t>rs.close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stmt.close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conn.close</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These steps form the standard flow for database connectivity and query execution in Java.</a:t>
            </a:r>
          </a:p>
        </p:txBody>
      </p:sp>
    </p:spTree>
    <p:extLst>
      <p:ext uri="{BB962C8B-B14F-4D97-AF65-F5344CB8AC3E}">
        <p14:creationId xmlns:p14="http://schemas.microsoft.com/office/powerpoint/2010/main" val="101496159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BF057-D203-3C1D-90C0-0ED26F3AB54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004111-FB5E-C7B5-0B44-441263FF04A6}"/>
              </a:ext>
            </a:extLst>
          </p:cNvPr>
          <p:cNvSpPr txBox="1"/>
          <p:nvPr/>
        </p:nvSpPr>
        <p:spPr>
          <a:xfrm>
            <a:off x="334371" y="168127"/>
            <a:ext cx="4954136" cy="740202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133. What are the components of the JDBC API?</a:t>
            </a:r>
          </a:p>
          <a:p>
            <a:pPr algn="just">
              <a:lnSpc>
                <a:spcPts val="2100"/>
              </a:lnSpc>
              <a:spcBef>
                <a:spcPts val="1650"/>
              </a:spcBef>
              <a:buNone/>
            </a:pPr>
            <a:r>
              <a:rPr lang="en-US" b="0" i="0" dirty="0">
                <a:solidFill>
                  <a:srgbClr val="3A3A3A"/>
                </a:solidFill>
                <a:effectLst/>
                <a:latin typeface="Roboto" panose="02000000000000000000" pitchFamily="2" charset="0"/>
              </a:rPr>
              <a:t>The JDBC API offers a collection of interfaces and classes that Java applications can use to connect and interact with relational databases. The main components are:</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 Handles the collection of JDBC drivers and creates a connection.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Connection: A connection to a database.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Statement: Used to run static SQL queries.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Used to execute parameterized SQL statements.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Callable Statement: Used to call stored procedures.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 The result of a query.</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handles database access exceptions.</a:t>
            </a:r>
          </a:p>
          <a:p>
            <a:pPr algn="just">
              <a:lnSpc>
                <a:spcPts val="2100"/>
              </a:lnSpc>
              <a:spcBef>
                <a:spcPts val="1650"/>
              </a:spcBef>
              <a:buNone/>
            </a:pPr>
            <a:r>
              <a:rPr lang="en-US" b="0" i="0" dirty="0">
                <a:solidFill>
                  <a:srgbClr val="3A3A3A"/>
                </a:solidFill>
                <a:effectLst/>
                <a:latin typeface="Roboto" panose="02000000000000000000" pitchFamily="2" charset="0"/>
              </a:rPr>
              <a:t>They enable you to execute CRUD operations, maintain transactions, and work with result sets effectively.</a:t>
            </a:r>
          </a:p>
        </p:txBody>
      </p:sp>
    </p:spTree>
    <p:extLst>
      <p:ext uri="{BB962C8B-B14F-4D97-AF65-F5344CB8AC3E}">
        <p14:creationId xmlns:p14="http://schemas.microsoft.com/office/powerpoint/2010/main" val="26680700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1A4BA-C276-9A22-EF31-679B1A1009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2C1765-AA20-08F1-9478-48256AC2C73D}"/>
              </a:ext>
            </a:extLst>
          </p:cNvPr>
          <p:cNvSpPr txBox="1"/>
          <p:nvPr/>
        </p:nvSpPr>
        <p:spPr>
          <a:xfrm>
            <a:off x="2477069" y="-536623"/>
            <a:ext cx="4954136" cy="79380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134. What is the purpose of the JDBC Connection interface?</a:t>
            </a:r>
          </a:p>
          <a:p>
            <a:pPr algn="just">
              <a:lnSpc>
                <a:spcPts val="2100"/>
              </a:lnSpc>
              <a:spcBef>
                <a:spcPts val="1650"/>
              </a:spcBef>
              <a:buNone/>
            </a:pPr>
            <a:r>
              <a:rPr lang="en-US" b="0" i="0" dirty="0">
                <a:solidFill>
                  <a:srgbClr val="3A3A3A"/>
                </a:solidFill>
                <a:effectLst/>
                <a:latin typeface="Roboto" panose="02000000000000000000" pitchFamily="2" charset="0"/>
              </a:rPr>
              <a:t>The JDBC Connection interface signifies an established connection between a Java program and a database.</a:t>
            </a:r>
          </a:p>
          <a:p>
            <a:pPr algn="just">
              <a:lnSpc>
                <a:spcPts val="2100"/>
              </a:lnSpc>
              <a:spcBef>
                <a:spcPts val="750"/>
              </a:spcBef>
              <a:buNone/>
            </a:pPr>
            <a:r>
              <a:rPr lang="en-US" b="0" i="0" dirty="0">
                <a:solidFill>
                  <a:srgbClr val="3A3A3A"/>
                </a:solidFill>
                <a:effectLst/>
                <a:latin typeface="Roboto" panose="02000000000000000000" pitchFamily="2" charset="0"/>
              </a:rPr>
              <a:t>Key Purposes: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Enables communication with the database.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Permits execution of SQL statements via Statement, </a:t>
            </a: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CallableStatement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transactional management with commit(), rollback(), and </a:t>
            </a:r>
            <a:r>
              <a:rPr lang="en-US" b="0" i="0" dirty="0" err="1">
                <a:solidFill>
                  <a:srgbClr val="3A3A3A"/>
                </a:solidFill>
                <a:effectLst/>
                <a:latin typeface="Roboto" panose="02000000000000000000" pitchFamily="2" charset="0"/>
              </a:rPr>
              <a:t>setAutoCommit</a:t>
            </a:r>
            <a:r>
              <a:rPr lang="en-US" b="0" i="0" dirty="0">
                <a:solidFill>
                  <a:srgbClr val="3A3A3A"/>
                </a:solidFill>
                <a:effectLst/>
                <a:latin typeface="Roboto" panose="02000000000000000000" pitchFamily="2" charset="0"/>
              </a:rPr>
              <a:t>(false).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Provides metadata access through </a:t>
            </a:r>
            <a:r>
              <a:rPr lang="en-US" b="0" i="0" dirty="0" err="1">
                <a:solidFill>
                  <a:srgbClr val="3A3A3A"/>
                </a:solidFill>
                <a:effectLst/>
                <a:latin typeface="Roboto" panose="02000000000000000000" pitchFamily="2" charset="0"/>
              </a:rPr>
              <a:t>getMetaData</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url</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Once created, the Connection object serves as the basis of all database operations in a JDBC program.</a:t>
            </a:r>
          </a:p>
        </p:txBody>
      </p:sp>
    </p:spTree>
    <p:extLst>
      <p:ext uri="{BB962C8B-B14F-4D97-AF65-F5344CB8AC3E}">
        <p14:creationId xmlns:p14="http://schemas.microsoft.com/office/powerpoint/2010/main" val="14711450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F7C14-7482-9DC8-815D-C1C28EB085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8C5764-68A2-C456-83E1-88DD34FEEA73}"/>
              </a:ext>
            </a:extLst>
          </p:cNvPr>
          <p:cNvSpPr txBox="1"/>
          <p:nvPr/>
        </p:nvSpPr>
        <p:spPr>
          <a:xfrm>
            <a:off x="2477069" y="-35204"/>
            <a:ext cx="4954136" cy="693523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135. What is the purpose of the </a:t>
            </a:r>
            <a:r>
              <a:rPr lang="en-US" b="0" i="0" dirty="0" err="1">
                <a:solidFill>
                  <a:srgbClr val="272C37"/>
                </a:solidFill>
                <a:effectLst/>
                <a:latin typeface="Roboto" panose="02000000000000000000" pitchFamily="2" charset="0"/>
              </a:rPr>
              <a:t>toString</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 method in Java returns a string describing an object. It is part of the Object class and is usually overridden to provide a more meaningful result.</a:t>
            </a:r>
          </a:p>
          <a:p>
            <a:pPr algn="just">
              <a:lnSpc>
                <a:spcPts val="2100"/>
              </a:lnSpc>
              <a:spcBef>
                <a:spcPts val="750"/>
              </a:spcBef>
              <a:buNone/>
            </a:pPr>
            <a:r>
              <a:rPr lang="en-US" b="0" i="0" dirty="0">
                <a:solidFill>
                  <a:srgbClr val="3A3A3A"/>
                </a:solidFill>
                <a:effectLst/>
                <a:latin typeface="Roboto" panose="02000000000000000000" pitchFamily="2" charset="0"/>
              </a:rPr>
              <a:t>By default, it returns the class name of the object and the hash code, such as:</a:t>
            </a:r>
          </a:p>
          <a:p>
            <a:pPr algn="l">
              <a:spcBef>
                <a:spcPts val="1125"/>
              </a:spcBef>
              <a:spcAft>
                <a:spcPts val="375"/>
              </a:spcAft>
              <a:buNone/>
            </a:pPr>
            <a:r>
              <a:rPr lang="en-US" b="0" i="0" dirty="0">
                <a:solidFill>
                  <a:srgbClr val="212529"/>
                </a:solidFill>
                <a:effectLst/>
                <a:latin typeface="Courier New" panose="02070309020205020404" pitchFamily="49" charset="0"/>
              </a:rPr>
              <a:t>Car@1a2b3c</a:t>
            </a:r>
          </a:p>
          <a:p>
            <a:pPr algn="just">
              <a:lnSpc>
                <a:spcPts val="2100"/>
              </a:lnSpc>
              <a:spcBef>
                <a:spcPts val="1650"/>
              </a:spcBef>
              <a:buNone/>
            </a:pPr>
            <a:r>
              <a:rPr lang="en-US" b="0" i="0" dirty="0">
                <a:solidFill>
                  <a:srgbClr val="3A3A3A"/>
                </a:solidFill>
                <a:effectLst/>
                <a:latin typeface="Roboto" panose="02000000000000000000" pitchFamily="2" charset="0"/>
              </a:rPr>
              <a:t>But when overridden:</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String </a:t>
            </a:r>
            <a:r>
              <a:rPr lang="en-US" b="0" i="0" dirty="0" err="1">
                <a:solidFill>
                  <a:srgbClr val="212529"/>
                </a:solidFill>
                <a:effectLst/>
                <a:latin typeface="Courier New" panose="02070309020205020404" pitchFamily="49" charset="0"/>
              </a:rPr>
              <a:t>toString</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"Car model: " + </a:t>
            </a:r>
            <a:r>
              <a:rPr lang="en-US" b="0" i="0" dirty="0" err="1">
                <a:solidFill>
                  <a:srgbClr val="212529"/>
                </a:solidFill>
                <a:effectLst/>
                <a:latin typeface="Courier New" panose="02070309020205020404" pitchFamily="49" charset="0"/>
              </a:rPr>
              <a:t>this.model</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method is generally very helpful in debugging, logging, and object printouts. This enhances maintainability and readability.</a:t>
            </a:r>
          </a:p>
        </p:txBody>
      </p:sp>
    </p:spTree>
    <p:extLst>
      <p:ext uri="{BB962C8B-B14F-4D97-AF65-F5344CB8AC3E}">
        <p14:creationId xmlns:p14="http://schemas.microsoft.com/office/powerpoint/2010/main" val="95181589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B6400-B615-4893-F96E-BB21B4644F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6D2D39-1501-344F-AEE3-899EA5352A72}"/>
              </a:ext>
            </a:extLst>
          </p:cNvPr>
          <p:cNvSpPr txBox="1"/>
          <p:nvPr/>
        </p:nvSpPr>
        <p:spPr>
          <a:xfrm>
            <a:off x="2477069" y="-544317"/>
            <a:ext cx="4954136" cy="79534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136. What considerations should be made when implementing the equals() method in Java?</a:t>
            </a:r>
          </a:p>
          <a:p>
            <a:pPr algn="just">
              <a:lnSpc>
                <a:spcPts val="2100"/>
              </a:lnSpc>
              <a:spcBef>
                <a:spcPts val="1650"/>
              </a:spcBef>
              <a:buNone/>
            </a:pPr>
            <a:r>
              <a:rPr lang="en-US" b="0" i="0" dirty="0">
                <a:solidFill>
                  <a:srgbClr val="3A3A3A"/>
                </a:solidFill>
                <a:effectLst/>
                <a:latin typeface="Roboto" panose="02000000000000000000" pitchFamily="2" charset="0"/>
              </a:rPr>
              <a:t>When overriding the equals() method in Java, a few key rules have to be followed to make it function appropriately and consistently: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Reflexive: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(a) must return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Symmetric: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(a) should be true if and only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is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Transitive: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and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(c), then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(c) must be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Consistent: Identical calls should give the same response unless there are object property updates.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Non-nullity: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(null) must return false.</a:t>
            </a:r>
          </a:p>
          <a:p>
            <a:pPr algn="just">
              <a:lnSpc>
                <a:spcPts val="2100"/>
              </a:lnSpc>
              <a:spcBef>
                <a:spcPts val="1650"/>
              </a:spcBef>
              <a:buNone/>
            </a:pPr>
            <a:r>
              <a:rPr lang="en-US" b="0" i="0" dirty="0">
                <a:solidFill>
                  <a:srgbClr val="3A3A3A"/>
                </a:solidFill>
                <a:effectLst/>
                <a:latin typeface="Roboto" panose="02000000000000000000" pitchFamily="2" charset="0"/>
              </a:rPr>
              <a:t>Also, whenever overriding equals(), you should override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to ensure the contracts are consistent, particularly if the object is employed in hash-based collections such as HashMap or HashSet.</a:t>
            </a:r>
          </a:p>
          <a:p>
            <a:pPr algn="just">
              <a:lnSpc>
                <a:spcPts val="2100"/>
              </a:lnSpc>
              <a:spcBef>
                <a:spcPts val="750"/>
              </a:spcBef>
              <a:buNone/>
            </a:pPr>
            <a:r>
              <a:rPr lang="en-US" b="0" i="0" dirty="0">
                <a:solidFill>
                  <a:srgbClr val="3A3A3A"/>
                </a:solidFill>
                <a:effectLst/>
                <a:latin typeface="Roboto" panose="02000000000000000000" pitchFamily="2" charset="0"/>
              </a:rPr>
              <a:t>Explore the </a:t>
            </a:r>
            <a:r>
              <a:rPr lang="en-US" b="0" i="0" u="none" strike="noStrike" dirty="0">
                <a:solidFill>
                  <a:srgbClr val="0F5A9E"/>
                </a:solidFill>
                <a:effectLst/>
                <a:latin typeface="Roboto" panose="02000000000000000000" pitchFamily="2" charset="0"/>
                <a:hlinkClick r:id="rId2"/>
              </a:rPr>
              <a:t>key issues to consider when overriding equals and </a:t>
            </a:r>
            <a:r>
              <a:rPr lang="en-US" b="0" i="0" u="none" strike="noStrike" dirty="0" err="1">
                <a:solidFill>
                  <a:srgbClr val="0F5A9E"/>
                </a:solidFill>
                <a:effectLst/>
                <a:latin typeface="Roboto" panose="02000000000000000000" pitchFamily="2" charset="0"/>
                <a:hlinkClick r:id="rId2"/>
              </a:rPr>
              <a:t>hashCode</a:t>
            </a:r>
            <a:r>
              <a:rPr lang="en-US" b="0" i="0" u="none" strike="noStrike" dirty="0">
                <a:solidFill>
                  <a:srgbClr val="0F5A9E"/>
                </a:solidFill>
                <a:effectLst/>
                <a:latin typeface="Roboto" panose="02000000000000000000" pitchFamily="2" charset="0"/>
                <a:hlinkClick r:id="rId2"/>
              </a:rPr>
              <a:t> in Java</a:t>
            </a:r>
            <a:r>
              <a:rPr lang="en-US" b="0" i="0" dirty="0">
                <a:solidFill>
                  <a:srgbClr val="3A3A3A"/>
                </a:solidFill>
                <a:effectLst/>
                <a:latin typeface="Roboto" panose="02000000000000000000" pitchFamily="2" charset="0"/>
              </a:rPr>
              <a:t> through this blog.</a:t>
            </a:r>
          </a:p>
        </p:txBody>
      </p:sp>
    </p:spTree>
    <p:extLst>
      <p:ext uri="{BB962C8B-B14F-4D97-AF65-F5344CB8AC3E}">
        <p14:creationId xmlns:p14="http://schemas.microsoft.com/office/powerpoint/2010/main" val="213539716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CB91-DF39-2A05-CB3E-2A4E49D1A74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1ECAAC9-A5B9-0677-8CEA-ECB1CFAEB666}"/>
              </a:ext>
            </a:extLst>
          </p:cNvPr>
          <p:cNvSpPr txBox="1"/>
          <p:nvPr/>
        </p:nvSpPr>
        <p:spPr>
          <a:xfrm>
            <a:off x="2477069" y="-1111139"/>
            <a:ext cx="4954136" cy="90871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137. What is the purpose of the </a:t>
            </a:r>
            <a:r>
              <a:rPr lang="en-US" b="0" i="0" dirty="0" err="1">
                <a:solidFill>
                  <a:srgbClr val="272C37"/>
                </a:solidFill>
                <a:effectLst/>
                <a:latin typeface="Roboto" panose="02000000000000000000" pitchFamily="2" charset="0"/>
              </a:rPr>
              <a:t>hashCode</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Java’s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method returns an integer hash code that denotes the object’s memory location or, more practically, its location within a hash-based collection.</a:t>
            </a:r>
          </a:p>
          <a:p>
            <a:pPr algn="just">
              <a:lnSpc>
                <a:spcPts val="2100"/>
              </a:lnSpc>
              <a:spcBef>
                <a:spcPts val="750"/>
              </a:spcBef>
              <a:buNone/>
            </a:pPr>
            <a:r>
              <a:rPr lang="en-US" b="0" i="0" dirty="0">
                <a:solidFill>
                  <a:srgbClr val="3A3A3A"/>
                </a:solidFill>
                <a:effectLst/>
                <a:latin typeface="Roboto" panose="02000000000000000000" pitchFamily="2" charset="0"/>
              </a:rPr>
              <a:t>It is essential for both performance and accuracy in data structures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HashSet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Hashtable</a:t>
            </a:r>
            <a:endParaRPr lang="en-US" b="0" i="0" dirty="0">
              <a:solidFill>
                <a:srgbClr val="3A3A3A"/>
              </a:solidFill>
              <a:effectLst/>
              <a:latin typeface="Roboto" panose="02000000000000000000" pitchFamily="2" charset="0"/>
            </a:endParaRPr>
          </a:p>
          <a:p>
            <a:pPr algn="just">
              <a:lnSpc>
                <a:spcPts val="2100"/>
              </a:lnSpc>
              <a:spcBef>
                <a:spcPts val="1650"/>
              </a:spcBef>
              <a:buNone/>
            </a:pPr>
            <a:r>
              <a:rPr lang="en-US" b="0" i="0" dirty="0">
                <a:solidFill>
                  <a:srgbClr val="3A3A3A"/>
                </a:solidFill>
                <a:effectLst/>
                <a:latin typeface="Roboto" panose="02000000000000000000" pitchFamily="2" charset="0"/>
              </a:rPr>
              <a:t>Key Rule: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just">
              <a:lnSpc>
                <a:spcPts val="2100"/>
              </a:lnSpc>
              <a:spcBef>
                <a:spcPts val="750"/>
              </a:spcBef>
              <a:buNone/>
            </a:pPr>
            <a:r>
              <a:rPr lang="en-US" b="0" i="0" dirty="0">
                <a:solidFill>
                  <a:srgbClr val="3A3A3A"/>
                </a:solidFill>
                <a:effectLst/>
                <a:latin typeface="Roboto" panose="02000000000000000000" pitchFamily="2" charset="0"/>
              </a:rPr>
              <a:t>If two objects are equal to each other based on equals(), they should have the same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Example override:</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int </a:t>
            </a:r>
            <a:r>
              <a:rPr lang="en-US" b="0" i="0" dirty="0" err="1">
                <a:solidFill>
                  <a:srgbClr val="212529"/>
                </a:solidFill>
                <a:effectLst/>
                <a:latin typeface="Courier New" panose="02070309020205020404" pitchFamily="49" charset="0"/>
              </a:rPr>
              <a:t>hashCode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a:t>
            </a:r>
            <a:r>
              <a:rPr lang="en-US" b="0" i="0" dirty="0" err="1">
                <a:solidFill>
                  <a:srgbClr val="212529"/>
                </a:solidFill>
                <a:effectLst/>
                <a:latin typeface="Courier New" panose="02070309020205020404" pitchFamily="49" charset="0"/>
              </a:rPr>
              <a:t>Objects.hash</a:t>
            </a:r>
            <a:r>
              <a:rPr lang="en-US" b="0" i="0" dirty="0">
                <a:solidFill>
                  <a:srgbClr val="212529"/>
                </a:solidFill>
                <a:effectLst/>
                <a:latin typeface="Courier New" panose="02070309020205020404" pitchFamily="49" charset="0"/>
              </a:rPr>
              <a:t>(id, 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Incorrect implementation of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will cause unexpected effects in hash collections, such as missing or duplicated entries.</a:t>
            </a:r>
          </a:p>
        </p:txBody>
      </p:sp>
    </p:spTree>
    <p:extLst>
      <p:ext uri="{BB962C8B-B14F-4D97-AF65-F5344CB8AC3E}">
        <p14:creationId xmlns:p14="http://schemas.microsoft.com/office/powerpoint/2010/main" val="255154506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1BC2-905D-468B-7F39-84251F31E9E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A5B4B33-E9EF-97A5-0D61-9FC12C720E73}"/>
              </a:ext>
            </a:extLst>
          </p:cNvPr>
          <p:cNvSpPr txBox="1"/>
          <p:nvPr/>
        </p:nvSpPr>
        <p:spPr>
          <a:xfrm>
            <a:off x="184245" y="211213"/>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138. Can a superclass reference variable hold an object of a subclass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a reference variable of a superclass can point to a subclass object. This is known as polymorphism, and dynamic method dispatch occurs at runtime.</a:t>
            </a:r>
          </a:p>
        </p:txBody>
      </p:sp>
      <p:sp>
        <p:nvSpPr>
          <p:cNvPr id="5" name="TextBox 4">
            <a:extLst>
              <a:ext uri="{FF2B5EF4-FFF2-40B4-BE49-F238E27FC236}">
                <a16:creationId xmlns:a16="http://schemas.microsoft.com/office/drawing/2014/main" id="{2346A01B-8D12-FEA4-793B-46BCB0BB5B29}"/>
              </a:ext>
            </a:extLst>
          </p:cNvPr>
          <p:cNvSpPr txBox="1"/>
          <p:nvPr/>
        </p:nvSpPr>
        <p:spPr>
          <a:xfrm>
            <a:off x="443553" y="2368214"/>
            <a:ext cx="4954136" cy="590931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 // Superclass reference to subclass object</a:t>
            </a:r>
          </a:p>
          <a:p>
            <a:r>
              <a:rPr lang="en-US" dirty="0"/>
              <a:t>        </a:t>
            </a:r>
            <a:r>
              <a:rPr lang="en-US" dirty="0" err="1"/>
              <a:t>a.makeSound</a:t>
            </a:r>
            <a:r>
              <a:rPr lang="en-US" dirty="0"/>
              <a:t>(); // Output: Bark (resolved at runtime)</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("Some sound");</a:t>
            </a:r>
          </a:p>
          <a:p>
            <a:r>
              <a:rPr lang="en-US" dirty="0"/>
              <a:t>    }</a:t>
            </a:r>
          </a:p>
          <a:p>
            <a:r>
              <a:rPr lang="en-US" dirty="0"/>
              <a:t>}</a:t>
            </a:r>
          </a:p>
          <a:p>
            <a:endParaRPr lang="en-US" dirty="0"/>
          </a:p>
          <a:p>
            <a:r>
              <a:rPr lang="en-US" dirty="0"/>
              <a:t>class Dog extends Animal {</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226991B6-9F8D-11F9-52EC-F40E6009E12A}"/>
              </a:ext>
            </a:extLst>
          </p:cNvPr>
          <p:cNvSpPr txBox="1"/>
          <p:nvPr/>
        </p:nvSpPr>
        <p:spPr>
          <a:xfrm>
            <a:off x="4953000" y="5322869"/>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Java supports calling overridden methods at runtime, enabling runtime polymorphism, which promotes flexible and scalable program design.</a:t>
            </a:r>
            <a:endParaRPr lang="en-US" dirty="0"/>
          </a:p>
        </p:txBody>
      </p:sp>
    </p:spTree>
    <p:extLst>
      <p:ext uri="{BB962C8B-B14F-4D97-AF65-F5344CB8AC3E}">
        <p14:creationId xmlns:p14="http://schemas.microsoft.com/office/powerpoint/2010/main" val="29799345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ADC6-5C55-C73C-ABC8-43CF608DAE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3EBAA6-5AD5-7688-337A-679AAFDC11D8}"/>
              </a:ext>
            </a:extLst>
          </p:cNvPr>
          <p:cNvSpPr txBox="1"/>
          <p:nvPr/>
        </p:nvSpPr>
        <p:spPr>
          <a:xfrm>
            <a:off x="518614" y="879636"/>
            <a:ext cx="9184943" cy="470898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139. What are some complexities associated with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Interfaces provide flexibility but introduce a couple of complexities in Java programming:</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Diamond Problem with Default Methods: If two interfaces have a common default method, the default method in the class should be overridden to avoid 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Refactoring Challenges: Introducing a new method to an interface breaks all the implementation classes (except for a default method).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Lack of State: Interfaces cannot store state (except constants), and that makes the design less intuitive in certain cases.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Overuse Leads to Complexity: Excessive use of interfaces tends to complicate the code unnecessarily, particularly if applied to plain structures.</a:t>
            </a:r>
          </a:p>
          <a:p>
            <a:pPr algn="just">
              <a:lnSpc>
                <a:spcPts val="2100"/>
              </a:lnSpc>
              <a:spcBef>
                <a:spcPts val="1650"/>
              </a:spcBef>
              <a:buNone/>
            </a:pPr>
            <a:r>
              <a:rPr lang="en-US" b="0" i="0" dirty="0">
                <a:solidFill>
                  <a:srgbClr val="3A3A3A"/>
                </a:solidFill>
                <a:effectLst/>
                <a:latin typeface="Roboto" panose="02000000000000000000" pitchFamily="2" charset="0"/>
              </a:rPr>
              <a:t>Despite all this, interfaces continue to be a foundation of Java’s abstraction and decoupling strategies, especially within frameworks and complex systems.</a:t>
            </a:r>
          </a:p>
        </p:txBody>
      </p:sp>
    </p:spTree>
    <p:extLst>
      <p:ext uri="{BB962C8B-B14F-4D97-AF65-F5344CB8AC3E}">
        <p14:creationId xmlns:p14="http://schemas.microsoft.com/office/powerpoint/2010/main" val="146143143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2CA4D-10C3-550B-D837-B415C261B5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EA7F89-18BE-236F-3258-B3EAB8EB2DBF}"/>
              </a:ext>
            </a:extLst>
          </p:cNvPr>
          <p:cNvSpPr txBox="1"/>
          <p:nvPr/>
        </p:nvSpPr>
        <p:spPr>
          <a:xfrm>
            <a:off x="320723" y="183918"/>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140. Can you extend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inherit one or more interfaces with the extends keyword. This is a way Java supports interface inheritance so that different interface types are combined under a common abstraction.</a:t>
            </a:r>
          </a:p>
        </p:txBody>
      </p:sp>
      <p:sp>
        <p:nvSpPr>
          <p:cNvPr id="5" name="TextBox 4">
            <a:extLst>
              <a:ext uri="{FF2B5EF4-FFF2-40B4-BE49-F238E27FC236}">
                <a16:creationId xmlns:a16="http://schemas.microsoft.com/office/drawing/2014/main" id="{F79B7902-E9E1-DA6C-4CE1-FBF17F2BAB25}"/>
              </a:ext>
            </a:extLst>
          </p:cNvPr>
          <p:cNvSpPr txBox="1"/>
          <p:nvPr/>
        </p:nvSpPr>
        <p:spPr>
          <a:xfrm>
            <a:off x="320723" y="2670422"/>
            <a:ext cx="4954136" cy="3693319"/>
          </a:xfrm>
          <a:prstGeom prst="rect">
            <a:avLst/>
          </a:prstGeom>
          <a:noFill/>
        </p:spPr>
        <p:txBody>
          <a:bodyPr wrap="square">
            <a:spAutoFit/>
          </a:bodyPr>
          <a:lstStyle/>
          <a:p>
            <a:r>
              <a:rPr lang="en-US" dirty="0"/>
              <a:t>public class </a:t>
            </a:r>
            <a:r>
              <a:rPr lang="en-US" dirty="0" err="1"/>
              <a:t>MyClass</a:t>
            </a:r>
            <a:r>
              <a:rPr lang="en-US" dirty="0"/>
              <a:t> implements C {    public void </a:t>
            </a:r>
            <a:r>
              <a:rPr lang="en-US" dirty="0" err="1"/>
              <a:t>methodA</a:t>
            </a:r>
            <a:r>
              <a:rPr lang="en-US" dirty="0"/>
              <a:t>() {        </a:t>
            </a:r>
            <a:r>
              <a:rPr lang="en-US" dirty="0" err="1"/>
              <a:t>System.out.println</a:t>
            </a:r>
            <a:r>
              <a:rPr lang="en-US" dirty="0"/>
              <a:t>("</a:t>
            </a:r>
            <a:r>
              <a:rPr lang="en-US" dirty="0" err="1"/>
              <a:t>methodA</a:t>
            </a:r>
            <a:r>
              <a:rPr lang="en-US" dirty="0"/>
              <a:t> from A");    }    public void </a:t>
            </a:r>
            <a:r>
              <a:rPr lang="en-US" dirty="0" err="1"/>
              <a:t>methodB</a:t>
            </a:r>
            <a:r>
              <a:rPr lang="en-US" dirty="0"/>
              <a:t>() {        </a:t>
            </a:r>
            <a:r>
              <a:rPr lang="en-US" dirty="0" err="1"/>
              <a:t>System.out.println</a:t>
            </a:r>
            <a:r>
              <a:rPr lang="en-US" dirty="0"/>
              <a:t>("</a:t>
            </a:r>
            <a:r>
              <a:rPr lang="en-US" dirty="0" err="1"/>
              <a:t>methodB</a:t>
            </a:r>
            <a:r>
              <a:rPr lang="en-US" dirty="0"/>
              <a:t> from B");    }    public void </a:t>
            </a:r>
            <a:r>
              <a:rPr lang="en-US" dirty="0" err="1"/>
              <a:t>methodC</a:t>
            </a:r>
            <a:r>
              <a:rPr lang="en-US" dirty="0"/>
              <a:t>() {        </a:t>
            </a:r>
            <a:r>
              <a:rPr lang="en-US" dirty="0" err="1"/>
              <a:t>System.out.println</a:t>
            </a:r>
            <a:r>
              <a:rPr lang="en-US" dirty="0"/>
              <a:t>("</a:t>
            </a:r>
            <a:r>
              <a:rPr lang="en-US" dirty="0" err="1"/>
              <a:t>methodC</a:t>
            </a:r>
            <a:r>
              <a:rPr lang="en-US" dirty="0"/>
              <a:t> from C");    }    public static void main(String[] </a:t>
            </a:r>
            <a:r>
              <a:rPr lang="en-US" dirty="0" err="1"/>
              <a:t>args</a:t>
            </a:r>
            <a:r>
              <a:rPr lang="en-US" dirty="0"/>
              <a:t>) {        </a:t>
            </a:r>
            <a:r>
              <a:rPr lang="en-US" dirty="0" err="1"/>
              <a:t>MyClass</a:t>
            </a:r>
            <a:r>
              <a:rPr lang="en-US" dirty="0"/>
              <a:t> obj = new </a:t>
            </a:r>
            <a:r>
              <a:rPr lang="en-US" dirty="0" err="1"/>
              <a:t>MyClass</a:t>
            </a:r>
            <a:r>
              <a:rPr lang="en-US" dirty="0"/>
              <a:t>();        </a:t>
            </a:r>
            <a:r>
              <a:rPr lang="en-US" dirty="0" err="1"/>
              <a:t>obj.methodA</a:t>
            </a:r>
            <a:r>
              <a:rPr lang="en-US" dirty="0"/>
              <a:t>();        </a:t>
            </a:r>
            <a:r>
              <a:rPr lang="en-US" dirty="0" err="1"/>
              <a:t>obj.methodB</a:t>
            </a:r>
            <a:r>
              <a:rPr lang="en-US" dirty="0"/>
              <a:t>();        </a:t>
            </a:r>
            <a:r>
              <a:rPr lang="en-US" dirty="0" err="1"/>
              <a:t>obj.methodC</a:t>
            </a:r>
            <a:r>
              <a:rPr lang="en-US" dirty="0"/>
              <a:t>();    }}interface A {    void </a:t>
            </a:r>
            <a:r>
              <a:rPr lang="en-US" dirty="0" err="1"/>
              <a:t>methodA</a:t>
            </a:r>
            <a:r>
              <a:rPr lang="en-US" dirty="0"/>
              <a:t>();}interface B {    void </a:t>
            </a:r>
            <a:r>
              <a:rPr lang="en-US" dirty="0" err="1"/>
              <a:t>methodB</a:t>
            </a:r>
            <a:r>
              <a:rPr lang="en-US" dirty="0"/>
              <a:t>();}interface C extends A, B {    void </a:t>
            </a:r>
            <a:r>
              <a:rPr lang="en-US" dirty="0" err="1"/>
              <a:t>methodC</a:t>
            </a:r>
            <a:r>
              <a:rPr lang="en-US" dirty="0"/>
              <a:t>();}</a:t>
            </a:r>
          </a:p>
        </p:txBody>
      </p:sp>
      <p:sp>
        <p:nvSpPr>
          <p:cNvPr id="7" name="TextBox 6">
            <a:extLst>
              <a:ext uri="{FF2B5EF4-FFF2-40B4-BE49-F238E27FC236}">
                <a16:creationId xmlns:a16="http://schemas.microsoft.com/office/drawing/2014/main" id="{C3D58B43-E157-3CDC-3126-F597164B4777}"/>
              </a:ext>
            </a:extLst>
          </p:cNvPr>
          <p:cNvSpPr txBox="1"/>
          <p:nvPr/>
        </p:nvSpPr>
        <p:spPr>
          <a:xfrm>
            <a:off x="5274859"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Any class that extends C will have to supply all methods of A, B, and C. This encourages modular programming and permits interface hierarchies to change gracefully.</a:t>
            </a:r>
            <a:endParaRPr lang="en-US" dirty="0"/>
          </a:p>
        </p:txBody>
      </p:sp>
    </p:spTree>
    <p:extLst>
      <p:ext uri="{BB962C8B-B14F-4D97-AF65-F5344CB8AC3E}">
        <p14:creationId xmlns:p14="http://schemas.microsoft.com/office/powerpoint/2010/main" val="51146494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C2C3C-C6CF-56F9-03EC-CC154D7768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F19A0A-230C-08E9-328A-C3130761CE8F}"/>
              </a:ext>
            </a:extLst>
          </p:cNvPr>
          <p:cNvSpPr txBox="1"/>
          <p:nvPr/>
        </p:nvSpPr>
        <p:spPr>
          <a:xfrm>
            <a:off x="-1136" y="12080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141. Can a class implement multiple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Java allows a class to inherit multiple interfaces, providing a form of  multiple inheritance without complexity and ambiguity with inheriting from multiple classes.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B68EB8-1BE1-24A3-8098-FF149999FF71}"/>
              </a:ext>
            </a:extLst>
          </p:cNvPr>
          <p:cNvSpPr txBox="1"/>
          <p:nvPr/>
        </p:nvSpPr>
        <p:spPr>
          <a:xfrm>
            <a:off x="102359" y="2871675"/>
            <a:ext cx="4981432" cy="7017306"/>
          </a:xfrm>
          <a:prstGeom prst="rect">
            <a:avLst/>
          </a:prstGeom>
          <a:noFill/>
        </p:spPr>
        <p:txBody>
          <a:bodyPr wrap="square">
            <a:spAutoFit/>
          </a:bodyPr>
          <a:lstStyle/>
          <a:p>
            <a:r>
              <a:rPr lang="en-US" dirty="0"/>
              <a:t>public class </a:t>
            </a:r>
            <a:r>
              <a:rPr lang="en-US" dirty="0" err="1"/>
              <a:t>MultiFunctionPrinter</a:t>
            </a:r>
            <a:r>
              <a:rPr lang="en-US" dirty="0"/>
              <a:t> implements Printable, Scannable {</a:t>
            </a:r>
          </a:p>
          <a:p>
            <a:r>
              <a:rPr lang="en-US" dirty="0"/>
              <a:t>    public void print() {</a:t>
            </a:r>
          </a:p>
          <a:p>
            <a:r>
              <a:rPr lang="en-US" dirty="0"/>
              <a:t>        </a:t>
            </a:r>
            <a:r>
              <a:rPr lang="en-US" dirty="0" err="1"/>
              <a:t>System.out.println</a:t>
            </a:r>
            <a:r>
              <a:rPr lang="en-US" dirty="0"/>
              <a:t>("Printing...");</a:t>
            </a:r>
          </a:p>
          <a:p>
            <a:r>
              <a:rPr lang="en-US" dirty="0"/>
              <a:t>    }</a:t>
            </a:r>
          </a:p>
          <a:p>
            <a:endParaRPr lang="en-US" dirty="0"/>
          </a:p>
          <a:p>
            <a:r>
              <a:rPr lang="en-US" dirty="0"/>
              <a:t>    public void scan() {</a:t>
            </a:r>
          </a:p>
          <a:p>
            <a:r>
              <a:rPr lang="en-US" dirty="0"/>
              <a:t>        </a:t>
            </a:r>
            <a:r>
              <a:rPr lang="en-US" dirty="0" err="1"/>
              <a:t>System.out.println</a:t>
            </a:r>
            <a:r>
              <a:rPr lang="en-US" dirty="0"/>
              <a:t>("Scanning...");</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MultiFunctionPrinter</a:t>
            </a:r>
            <a:r>
              <a:rPr lang="en-US" dirty="0"/>
              <a:t> </a:t>
            </a:r>
            <a:r>
              <a:rPr lang="en-US" dirty="0" err="1"/>
              <a:t>mfp</a:t>
            </a:r>
            <a:r>
              <a:rPr lang="en-US" dirty="0"/>
              <a:t> = new </a:t>
            </a:r>
            <a:r>
              <a:rPr lang="en-US" dirty="0" err="1"/>
              <a:t>MultiFunctionPrinter</a:t>
            </a:r>
            <a:r>
              <a:rPr lang="en-US" dirty="0"/>
              <a:t>();</a:t>
            </a:r>
          </a:p>
          <a:p>
            <a:r>
              <a:rPr lang="en-US" dirty="0"/>
              <a:t>        </a:t>
            </a:r>
            <a:r>
              <a:rPr lang="en-US" dirty="0" err="1"/>
              <a:t>mfp.print</a:t>
            </a:r>
            <a:r>
              <a:rPr lang="en-US" dirty="0"/>
              <a:t>();</a:t>
            </a:r>
          </a:p>
          <a:p>
            <a:r>
              <a:rPr lang="en-US" dirty="0"/>
              <a:t>        </a:t>
            </a:r>
            <a:r>
              <a:rPr lang="en-US" dirty="0" err="1"/>
              <a:t>mfp.scan</a:t>
            </a:r>
            <a:r>
              <a:rPr lang="en-US" dirty="0"/>
              <a:t>();</a:t>
            </a:r>
          </a:p>
          <a:p>
            <a:r>
              <a:rPr lang="en-US" dirty="0"/>
              <a:t>    }</a:t>
            </a:r>
          </a:p>
          <a:p>
            <a:r>
              <a:rPr lang="en-US" dirty="0"/>
              <a:t>}</a:t>
            </a:r>
          </a:p>
          <a:p>
            <a:endParaRPr lang="en-US" dirty="0"/>
          </a:p>
          <a:p>
            <a:r>
              <a:rPr lang="en-US" dirty="0"/>
              <a:t>interface Printable {</a:t>
            </a:r>
          </a:p>
          <a:p>
            <a:r>
              <a:rPr lang="en-US" dirty="0"/>
              <a:t>    void print();</a:t>
            </a:r>
          </a:p>
          <a:p>
            <a:r>
              <a:rPr lang="en-US" dirty="0"/>
              <a:t>}</a:t>
            </a:r>
          </a:p>
          <a:p>
            <a:endParaRPr lang="en-US" dirty="0"/>
          </a:p>
          <a:p>
            <a:r>
              <a:rPr lang="en-US" dirty="0"/>
              <a:t>interface Scannable {</a:t>
            </a:r>
          </a:p>
          <a:p>
            <a:r>
              <a:rPr lang="en-US" dirty="0"/>
              <a:t>    void scan();</a:t>
            </a:r>
          </a:p>
          <a:p>
            <a:r>
              <a:rPr lang="en-US" dirty="0"/>
              <a:t>}</a:t>
            </a:r>
          </a:p>
        </p:txBody>
      </p:sp>
      <p:sp>
        <p:nvSpPr>
          <p:cNvPr id="7" name="TextBox 6">
            <a:extLst>
              <a:ext uri="{FF2B5EF4-FFF2-40B4-BE49-F238E27FC236}">
                <a16:creationId xmlns:a16="http://schemas.microsoft.com/office/drawing/2014/main" id="{1558C58B-E463-3097-8F61-1084225E8A94}"/>
              </a:ext>
            </a:extLst>
          </p:cNvPr>
          <p:cNvSpPr txBox="1"/>
          <p:nvPr/>
        </p:nvSpPr>
        <p:spPr>
          <a:xfrm>
            <a:off x="4455995" y="3134520"/>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is a key benefit of Java interfaces, allowing decoupled and scalable architectures and supporting the separation of concerns.</a:t>
            </a:r>
            <a:endParaRPr lang="en-US" dirty="0"/>
          </a:p>
        </p:txBody>
      </p:sp>
    </p:spTree>
    <p:extLst>
      <p:ext uri="{BB962C8B-B14F-4D97-AF65-F5344CB8AC3E}">
        <p14:creationId xmlns:p14="http://schemas.microsoft.com/office/powerpoint/2010/main" val="5221378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9B74-606C-B0F6-9A5E-2E3DB8DA9B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850AA1-9C0A-11A5-A42B-7F2ADBC2E6F9}"/>
              </a:ext>
            </a:extLst>
          </p:cNvPr>
          <p:cNvSpPr txBox="1"/>
          <p:nvPr/>
        </p:nvSpPr>
        <p:spPr>
          <a:xfrm>
            <a:off x="2477069" y="673965"/>
            <a:ext cx="4954136" cy="55168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142. When should you use an abstract class in Java?</a:t>
            </a:r>
          </a:p>
          <a:p>
            <a:pPr algn="just">
              <a:lnSpc>
                <a:spcPts val="2100"/>
              </a:lnSpc>
              <a:spcBef>
                <a:spcPts val="1650"/>
              </a:spcBef>
              <a:buNone/>
            </a:pPr>
            <a:r>
              <a:rPr lang="en-US" b="0" i="0" dirty="0">
                <a:solidFill>
                  <a:srgbClr val="3A3A3A"/>
                </a:solidFill>
                <a:effectLst/>
                <a:latin typeface="Roboto" panose="02000000000000000000" pitchFamily="2" charset="0"/>
              </a:rPr>
              <a:t>Use an abstract class in Java when: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would like to have default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(method implementations) that your child classes will inherit.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Your class hierarchy has shared state (fields).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must define the constructors.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expect subclasses to follow a template pattern.</a:t>
            </a:r>
          </a:p>
          <a:p>
            <a:pPr algn="just">
              <a:lnSpc>
                <a:spcPts val="2100"/>
              </a:lnSpc>
              <a:spcBef>
                <a:spcPts val="1650"/>
              </a:spcBef>
              <a:buNone/>
            </a:pPr>
            <a:r>
              <a:rPr lang="en-US" b="0" i="0" dirty="0">
                <a:solidFill>
                  <a:srgbClr val="3A3A3A"/>
                </a:solidFill>
                <a:effectLst/>
                <a:latin typeface="Roboto" panose="02000000000000000000" pitchFamily="2" charset="0"/>
              </a:rPr>
              <a:t>Abstract classes are suitable when constructing a base class with partial implementation. Abstract classes have both concrete and abstract methods, in contrast to interfaces.</a:t>
            </a:r>
          </a:p>
        </p:txBody>
      </p:sp>
    </p:spTree>
    <p:extLst>
      <p:ext uri="{BB962C8B-B14F-4D97-AF65-F5344CB8AC3E}">
        <p14:creationId xmlns:p14="http://schemas.microsoft.com/office/powerpoint/2010/main" val="64663511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7B71F-4D11-6C18-8A4C-3B7744C741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D1CE-18F9-94C9-18BA-D9F860DF3E13}"/>
              </a:ext>
            </a:extLst>
          </p:cNvPr>
          <p:cNvSpPr txBox="1"/>
          <p:nvPr/>
        </p:nvSpPr>
        <p:spPr>
          <a:xfrm>
            <a:off x="2477069" y="677812"/>
            <a:ext cx="4954136" cy="55092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143. How do you define an abstract method in Java?</a:t>
            </a:r>
          </a:p>
          <a:p>
            <a:pPr algn="just">
              <a:lnSpc>
                <a:spcPts val="2100"/>
              </a:lnSpc>
              <a:spcBef>
                <a:spcPts val="1650"/>
              </a:spcBef>
              <a:buNone/>
            </a:pPr>
            <a:r>
              <a:rPr lang="en-US" b="0" i="0" dirty="0">
                <a:solidFill>
                  <a:srgbClr val="3A3A3A"/>
                </a:solidFill>
                <a:effectLst/>
                <a:latin typeface="Roboto" panose="02000000000000000000" pitchFamily="2" charset="0"/>
              </a:rPr>
              <a:t>An abstract method is a method with no body. It has to be declared within an interface or an abstract class and has to be overridden by the subclasses.</a:t>
            </a:r>
          </a:p>
          <a:p>
            <a:pPr algn="just">
              <a:lnSpc>
                <a:spcPts val="2100"/>
              </a:lnSpc>
              <a:spcBef>
                <a:spcPts val="7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abstract class Shape {</a:t>
            </a:r>
          </a:p>
          <a:p>
            <a:pPr algn="l">
              <a:spcBef>
                <a:spcPts val="1125"/>
              </a:spcBef>
              <a:spcAft>
                <a:spcPts val="375"/>
              </a:spcAft>
              <a:buNone/>
            </a:pPr>
            <a:r>
              <a:rPr lang="en-US" b="0" i="0" dirty="0">
                <a:solidFill>
                  <a:srgbClr val="212529"/>
                </a:solidFill>
                <a:effectLst/>
                <a:latin typeface="Courier New" panose="02070309020205020404" pitchFamily="49" charset="0"/>
              </a:rPr>
              <a:t>    abstract void draw();  // No body</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Any subclass of Shape will have to have an implementation of draw(), or be declared abstract. This will impose a behavioral contract on the subclass</a:t>
            </a:r>
          </a:p>
        </p:txBody>
      </p:sp>
    </p:spTree>
    <p:extLst>
      <p:ext uri="{BB962C8B-B14F-4D97-AF65-F5344CB8AC3E}">
        <p14:creationId xmlns:p14="http://schemas.microsoft.com/office/powerpoint/2010/main" val="356392388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AC01C-5F01-4B3F-D65E-2829D3BE56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2F39E1C-8419-39CA-3A69-098E4E4E9457}"/>
              </a:ext>
            </a:extLst>
          </p:cNvPr>
          <p:cNvSpPr txBox="1"/>
          <p:nvPr/>
        </p:nvSpPr>
        <p:spPr>
          <a:xfrm>
            <a:off x="129654" y="0"/>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144. Is a superclass constructor called even when there is no explicit call from a subclass constructor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the superclass constructor is always invoked, even if not directly stated. The Java compiler will insert a call to the default no-argument constructor of the superclass if a subclass constructor does not include a super() call.</a:t>
            </a:r>
          </a:p>
        </p:txBody>
      </p:sp>
      <p:sp>
        <p:nvSpPr>
          <p:cNvPr id="5" name="TextBox 4">
            <a:extLst>
              <a:ext uri="{FF2B5EF4-FFF2-40B4-BE49-F238E27FC236}">
                <a16:creationId xmlns:a16="http://schemas.microsoft.com/office/drawing/2014/main" id="{9A4257FA-BF23-0AEE-F691-B54C9BD9066A}"/>
              </a:ext>
            </a:extLst>
          </p:cNvPr>
          <p:cNvSpPr txBox="1"/>
          <p:nvPr/>
        </p:nvSpPr>
        <p:spPr>
          <a:xfrm>
            <a:off x="225188" y="3101413"/>
            <a:ext cx="4954136" cy="4524315"/>
          </a:xfrm>
          <a:prstGeom prst="rect">
            <a:avLst/>
          </a:prstGeom>
          <a:noFill/>
        </p:spPr>
        <p:txBody>
          <a:bodyPr wrap="square">
            <a:spAutoFit/>
          </a:bodyPr>
          <a:lstStyle/>
          <a:p>
            <a:r>
              <a:rPr lang="en-US" dirty="0"/>
              <a:t>public class Child extends Parent {</a:t>
            </a:r>
          </a:p>
          <a:p>
            <a:r>
              <a:rPr lang="en-US" dirty="0"/>
              <a:t>    Child() {</a:t>
            </a:r>
          </a:p>
          <a:p>
            <a:r>
              <a:rPr lang="en-US" dirty="0"/>
              <a:t>        // Implicit call to super()</a:t>
            </a:r>
          </a:p>
          <a:p>
            <a:r>
              <a:rPr lang="en-US" dirty="0"/>
              <a:t>        </a:t>
            </a:r>
            <a:r>
              <a:rPr lang="en-US" dirty="0" err="1"/>
              <a:t>System.out.println</a:t>
            </a:r>
            <a:r>
              <a:rPr lang="en-US" dirty="0"/>
              <a:t>("Child constructor");</a:t>
            </a:r>
          </a:p>
          <a:p>
            <a:r>
              <a:rPr lang="en-US" dirty="0"/>
              <a:t>    }</a:t>
            </a:r>
          </a:p>
          <a:p>
            <a:endParaRPr lang="en-US" dirty="0"/>
          </a:p>
          <a:p>
            <a:r>
              <a:rPr lang="en-US" dirty="0"/>
              <a:t>    public static void main(String[] </a:t>
            </a:r>
            <a:r>
              <a:rPr lang="en-US" dirty="0" err="1"/>
              <a:t>args</a:t>
            </a:r>
            <a:r>
              <a:rPr lang="en-US" dirty="0"/>
              <a:t>) {</a:t>
            </a:r>
          </a:p>
          <a:p>
            <a:r>
              <a:rPr lang="en-US" dirty="0"/>
              <a:t>        Child </a:t>
            </a:r>
            <a:r>
              <a:rPr lang="en-US" dirty="0" err="1"/>
              <a:t>child</a:t>
            </a:r>
            <a:r>
              <a:rPr lang="en-US" dirty="0"/>
              <a:t> = new Child();</a:t>
            </a:r>
          </a:p>
          <a:p>
            <a:r>
              <a:rPr lang="en-US" dirty="0"/>
              <a:t>    }</a:t>
            </a:r>
          </a:p>
          <a:p>
            <a:r>
              <a:rPr lang="en-US" dirty="0"/>
              <a:t>}</a:t>
            </a:r>
          </a:p>
          <a:p>
            <a:endParaRPr lang="en-US" dirty="0"/>
          </a:p>
          <a:p>
            <a:r>
              <a:rPr lang="en-US" dirty="0"/>
              <a:t>class Parent {</a:t>
            </a:r>
          </a:p>
          <a:p>
            <a:r>
              <a:rPr lang="en-US" dirty="0"/>
              <a:t>    Parent() {</a:t>
            </a:r>
          </a:p>
          <a:p>
            <a:r>
              <a:rPr lang="en-US" dirty="0"/>
              <a:t>        </a:t>
            </a:r>
            <a:r>
              <a:rPr lang="en-US" dirty="0" err="1"/>
              <a:t>System.out.println</a:t>
            </a:r>
            <a:r>
              <a:rPr lang="en-US" dirty="0"/>
              <a:t>("Parent constructor");</a:t>
            </a:r>
          </a:p>
          <a:p>
            <a:r>
              <a:rPr lang="en-US" dirty="0"/>
              <a:t>    }</a:t>
            </a:r>
          </a:p>
          <a:p>
            <a:r>
              <a:rPr lang="en-US" dirty="0"/>
              <a:t>}</a:t>
            </a:r>
          </a:p>
        </p:txBody>
      </p:sp>
      <p:sp>
        <p:nvSpPr>
          <p:cNvPr id="7" name="TextBox 6">
            <a:extLst>
              <a:ext uri="{FF2B5EF4-FFF2-40B4-BE49-F238E27FC236}">
                <a16:creationId xmlns:a16="http://schemas.microsoft.com/office/drawing/2014/main" id="{30B00D04-DA1C-03DD-58DF-A165C96E73E4}"/>
              </a:ext>
            </a:extLst>
          </p:cNvPr>
          <p:cNvSpPr txBox="1"/>
          <p:nvPr/>
        </p:nvSpPr>
        <p:spPr>
          <a:xfrm>
            <a:off x="4953000"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ensures that the object hierarchy is initialized top to bottom. In case of no no-</a:t>
            </a:r>
            <a:r>
              <a:rPr lang="en-US" b="0" i="0" dirty="0" err="1">
                <a:solidFill>
                  <a:srgbClr val="3A3A3A"/>
                </a:solidFill>
                <a:effectLst/>
                <a:latin typeface="Roboto" panose="02000000000000000000" pitchFamily="2" charset="0"/>
              </a:rPr>
              <a:t>arg</a:t>
            </a:r>
            <a:r>
              <a:rPr lang="en-US" b="0" i="0" dirty="0">
                <a:solidFill>
                  <a:srgbClr val="3A3A3A"/>
                </a:solidFill>
                <a:effectLst/>
                <a:latin typeface="Roboto" panose="02000000000000000000" pitchFamily="2" charset="0"/>
              </a:rPr>
              <a:t> constructor in the superclass, the subclass will have to call a parameterized super(…).</a:t>
            </a:r>
            <a:endParaRPr lang="en-US" dirty="0"/>
          </a:p>
        </p:txBody>
      </p:sp>
    </p:spTree>
    <p:extLst>
      <p:ext uri="{BB962C8B-B14F-4D97-AF65-F5344CB8AC3E}">
        <p14:creationId xmlns:p14="http://schemas.microsoft.com/office/powerpoint/2010/main" val="297849642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BA526-328B-68DD-63E1-889CFBFB2D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63F068-D7F1-2D99-E1DC-7396CB1CC4CB}"/>
              </a:ext>
            </a:extLst>
          </p:cNvPr>
          <p:cNvSpPr txBox="1"/>
          <p:nvPr/>
        </p:nvSpPr>
        <p:spPr>
          <a:xfrm>
            <a:off x="170598" y="215299"/>
            <a:ext cx="4954136" cy="64274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145. Why is exception handling important in Java?</a:t>
            </a:r>
          </a:p>
          <a:p>
            <a:pPr algn="just">
              <a:lnSpc>
                <a:spcPts val="2100"/>
              </a:lnSpc>
              <a:spcBef>
                <a:spcPts val="1650"/>
              </a:spcBef>
              <a:buNone/>
            </a:pPr>
            <a:r>
              <a:rPr lang="en-US" b="0" i="0" dirty="0">
                <a:solidFill>
                  <a:srgbClr val="3A3A3A"/>
                </a:solidFill>
                <a:effectLst/>
                <a:latin typeface="Roboto" panose="02000000000000000000" pitchFamily="2" charset="0"/>
              </a:rPr>
              <a:t>Exception handling in Java is essential in developing robust and fault-tolerant programs. It helps to catch and process unexpected runtime exceptions without crashing the program.</a:t>
            </a:r>
          </a:p>
          <a:p>
            <a:pPr algn="just">
              <a:lnSpc>
                <a:spcPts val="2100"/>
              </a:lnSpc>
              <a:spcBef>
                <a:spcPts val="750"/>
              </a:spcBef>
              <a:buNone/>
            </a:pPr>
            <a:r>
              <a:rPr lang="en-US" b="0" i="0" dirty="0">
                <a:solidFill>
                  <a:srgbClr val="3A3A3A"/>
                </a:solidFill>
                <a:effectLst/>
                <a:latin typeface="Roboto" panose="02000000000000000000" pitchFamily="2" charset="0"/>
              </a:rPr>
              <a:t>Some key reasons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Decoupling error-handling logic from regular logic.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Failure grace, enhancing user experience.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resource cleanup with finally or try-with-resources.</a:t>
            </a:r>
          </a:p>
          <a:p>
            <a:pPr algn="just">
              <a:lnSpc>
                <a:spcPts val="2100"/>
              </a:lnSpc>
              <a:spcBef>
                <a:spcPts val="1650"/>
              </a:spcBef>
              <a:buNone/>
            </a:pPr>
            <a:r>
              <a:rPr lang="en-US" b="0" i="0" dirty="0">
                <a:solidFill>
                  <a:srgbClr val="3A3A3A"/>
                </a:solidFill>
                <a:effectLst/>
                <a:latin typeface="Roboto" panose="02000000000000000000" pitchFamily="2" charset="0"/>
              </a:rPr>
              <a:t>Java offers a disciplined approach to managing both checked and unchecked exceptions by means of try, catch, finally, and throw.</a:t>
            </a:r>
          </a:p>
        </p:txBody>
      </p:sp>
    </p:spTree>
    <p:extLst>
      <p:ext uri="{BB962C8B-B14F-4D97-AF65-F5344CB8AC3E}">
        <p14:creationId xmlns:p14="http://schemas.microsoft.com/office/powerpoint/2010/main" val="68548405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45F00-3618-B2DC-E566-D9A25663BA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B04BD8-88A0-73A5-40A4-40FE4287AD42}"/>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146. What is the purpose of the finally block in Java?</a:t>
            </a:r>
          </a:p>
          <a:p>
            <a:pPr algn="just">
              <a:lnSpc>
                <a:spcPts val="2100"/>
              </a:lnSpc>
              <a:spcBef>
                <a:spcPts val="1650"/>
              </a:spcBef>
              <a:buNone/>
            </a:pPr>
            <a:r>
              <a:rPr lang="en-US" b="0" i="0" dirty="0">
                <a:solidFill>
                  <a:srgbClr val="3A3A3A"/>
                </a:solidFill>
                <a:effectLst/>
                <a:latin typeface="Roboto" panose="02000000000000000000" pitchFamily="2" charset="0"/>
              </a:rPr>
              <a:t>The Java finally block serves to ensure execution of cleanup code whether or not an exception was thrown and caught. It is usually applied in order to close resources such as files, sockets, or database connections.</a:t>
            </a:r>
          </a:p>
        </p:txBody>
      </p:sp>
      <p:sp>
        <p:nvSpPr>
          <p:cNvPr id="5" name="TextBox 4">
            <a:extLst>
              <a:ext uri="{FF2B5EF4-FFF2-40B4-BE49-F238E27FC236}">
                <a16:creationId xmlns:a16="http://schemas.microsoft.com/office/drawing/2014/main" id="{0F2C38EE-FA93-6FC8-B4E7-1F3FBC6CFD89}"/>
              </a:ext>
            </a:extLst>
          </p:cNvPr>
          <p:cNvSpPr txBox="1"/>
          <p:nvPr/>
        </p:nvSpPr>
        <p:spPr>
          <a:xfrm>
            <a:off x="361667" y="2426305"/>
            <a:ext cx="4981432" cy="4247317"/>
          </a:xfrm>
          <a:prstGeom prst="rect">
            <a:avLst/>
          </a:prstGeom>
          <a:noFill/>
        </p:spPr>
        <p:txBody>
          <a:bodyPr wrap="square">
            <a:spAutoFit/>
          </a:bodyPr>
          <a:lstStyle/>
          <a:p>
            <a:r>
              <a:rPr lang="en-US" dirty="0"/>
              <a:t>public class </a:t>
            </a:r>
            <a:r>
              <a:rPr lang="en-US" dirty="0" err="1"/>
              <a:t>FinallyExample</a:t>
            </a:r>
            <a:r>
              <a:rPr lang="en-US" dirty="0"/>
              <a:t> {</a:t>
            </a:r>
          </a:p>
          <a:p>
            <a:r>
              <a:rPr lang="en-US" dirty="0"/>
              <a:t>    public static void main(String[] </a:t>
            </a:r>
            <a:r>
              <a:rPr lang="en-US" dirty="0" err="1"/>
              <a:t>args</a:t>
            </a:r>
            <a:r>
              <a:rPr lang="en-US" dirty="0"/>
              <a:t>) {</a:t>
            </a:r>
          </a:p>
          <a:p>
            <a:r>
              <a:rPr lang="en-US" dirty="0"/>
              <a:t>        try {</a:t>
            </a:r>
          </a:p>
          <a:p>
            <a:r>
              <a:rPr lang="en-US" dirty="0"/>
              <a:t>            </a:t>
            </a:r>
            <a:r>
              <a:rPr lang="en-US" dirty="0" err="1"/>
              <a:t>System.out.println</a:t>
            </a:r>
            <a:r>
              <a:rPr lang="en-US" dirty="0"/>
              <a:t>("Inside try block");</a:t>
            </a:r>
          </a:p>
          <a:p>
            <a:r>
              <a:rPr lang="en-US" dirty="0"/>
              <a:t>            int result = 10 / 0; // This will throw </a:t>
            </a:r>
            <a:r>
              <a:rPr lang="en-US" dirty="0" err="1"/>
              <a:t>ArithmeticException</a:t>
            </a:r>
            <a:endParaRPr lang="en-US" dirty="0"/>
          </a:p>
          <a:p>
            <a:r>
              <a:rPr lang="en-US" dirty="0"/>
              <a:t>        } catch (</a:t>
            </a:r>
            <a:r>
              <a:rPr lang="en-US" dirty="0" err="1"/>
              <a:t>ArithmeticException</a:t>
            </a:r>
            <a:r>
              <a:rPr lang="en-US" dirty="0"/>
              <a:t> e) {</a:t>
            </a:r>
          </a:p>
          <a:p>
            <a:r>
              <a:rPr lang="en-US" dirty="0"/>
              <a:t>            </a:t>
            </a:r>
            <a:r>
              <a:rPr lang="en-US" dirty="0" err="1"/>
              <a:t>System.out.println</a:t>
            </a:r>
            <a:r>
              <a:rPr lang="en-US" dirty="0"/>
              <a:t>("Caught exception: " + </a:t>
            </a:r>
            <a:r>
              <a:rPr lang="en-US" dirty="0" err="1"/>
              <a:t>e.getMessage</a:t>
            </a:r>
            <a:r>
              <a:rPr lang="en-US" dirty="0"/>
              <a:t>());</a:t>
            </a:r>
          </a:p>
          <a:p>
            <a:r>
              <a:rPr lang="en-US" dirty="0"/>
              <a:t>        } finally {</a:t>
            </a:r>
          </a:p>
          <a:p>
            <a:r>
              <a:rPr lang="en-US" dirty="0"/>
              <a:t>            </a:t>
            </a:r>
            <a:r>
              <a:rPr lang="en-US" dirty="0" err="1"/>
              <a:t>System.out.println</a:t>
            </a:r>
            <a:r>
              <a:rPr lang="en-US" dirty="0"/>
              <a:t>("Finally block executed: cleanup code here");</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39F562D9-E94E-E313-9030-4B96A342DC3B}"/>
              </a:ext>
            </a:extLst>
          </p:cNvPr>
          <p:cNvSpPr txBox="1"/>
          <p:nvPr/>
        </p:nvSpPr>
        <p:spPr>
          <a:xfrm>
            <a:off x="5138383" y="184378"/>
            <a:ext cx="4981432"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Even in case a program reaches a return statement or throws a new exception, a finally block will be executed-making it crucial for resource management in actual applications.</a:t>
            </a:r>
            <a:endParaRPr lang="en-US" dirty="0"/>
          </a:p>
        </p:txBody>
      </p:sp>
    </p:spTree>
    <p:extLst>
      <p:ext uri="{BB962C8B-B14F-4D97-AF65-F5344CB8AC3E}">
        <p14:creationId xmlns:p14="http://schemas.microsoft.com/office/powerpoint/2010/main" val="289198068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72EF7-B43D-C41B-439C-A607AE2504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7062A1-0C18-9CD9-01CF-1D7EFF39BA86}"/>
              </a:ext>
            </a:extLst>
          </p:cNvPr>
          <p:cNvSpPr txBox="1"/>
          <p:nvPr/>
        </p:nvSpPr>
        <p:spPr>
          <a:xfrm>
            <a:off x="197893" y="170514"/>
            <a:ext cx="4954136"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147. What are Generics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generics</a:t>
            </a:r>
            <a:r>
              <a:rPr lang="en-US" b="0" i="0" dirty="0">
                <a:solidFill>
                  <a:srgbClr val="3A3A3A"/>
                </a:solidFill>
                <a:effectLst/>
                <a:latin typeface="Roboto" panose="02000000000000000000" pitchFamily="2" charset="0"/>
              </a:rPr>
              <a:t> are a very useful feature that permits you to write reusable, type-safe code. Generics help classes, interfaces, and methods perform operations on objects of different types without knowing at compile time.</a:t>
            </a:r>
          </a:p>
          <a:p>
            <a:pPr algn="just">
              <a:lnSpc>
                <a:spcPts val="2100"/>
              </a:lnSpc>
              <a:spcBef>
                <a:spcPts val="750"/>
              </a:spcBef>
              <a:buNone/>
            </a:pPr>
            <a:r>
              <a:rPr lang="en-US" b="0" i="0" dirty="0">
                <a:solidFill>
                  <a:srgbClr val="3A3A3A"/>
                </a:solidFill>
                <a:effectLst/>
                <a:latin typeface="Roboto" panose="02000000000000000000" pitchFamily="2" charset="0"/>
              </a:rPr>
              <a:t>Java 5 introduced generics to avoid explicit type casting and to minimize the possibility of </a:t>
            </a:r>
            <a:r>
              <a:rPr lang="en-US" b="0" i="0" dirty="0" err="1">
                <a:solidFill>
                  <a:srgbClr val="3A3A3A"/>
                </a:solidFill>
                <a:effectLst/>
                <a:latin typeface="Roboto" panose="02000000000000000000" pitchFamily="2" charset="0"/>
              </a:rPr>
              <a:t>ClassCastException</a:t>
            </a:r>
            <a:r>
              <a:rPr lang="en-US" b="0" i="0" dirty="0">
                <a:solidFill>
                  <a:srgbClr val="3A3A3A"/>
                </a:solidFill>
                <a:effectLst/>
                <a:latin typeface="Roboto" panose="02000000000000000000" pitchFamily="2" charset="0"/>
              </a:rPr>
              <a:t> at runtime.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47B1D154-85BD-1605-303C-34F3E259A3E3}"/>
              </a:ext>
            </a:extLst>
          </p:cNvPr>
          <p:cNvSpPr txBox="1"/>
          <p:nvPr/>
        </p:nvSpPr>
        <p:spPr>
          <a:xfrm>
            <a:off x="443553" y="3609917"/>
            <a:ext cx="4954136" cy="646331"/>
          </a:xfrm>
          <a:prstGeom prst="rect">
            <a:avLst/>
          </a:prstGeom>
          <a:noFill/>
        </p:spPr>
        <p:txBody>
          <a:bodyPr wrap="square">
            <a:spAutoFit/>
          </a:bodyPr>
          <a:lstStyle/>
          <a:p>
            <a:r>
              <a:rPr lang="en-US" dirty="0"/>
              <a:t>List&lt;String&gt; names = new </a:t>
            </a:r>
            <a:r>
              <a:rPr lang="en-US" dirty="0" err="1"/>
              <a:t>ArrayList</a:t>
            </a:r>
            <a:r>
              <a:rPr lang="en-US" dirty="0"/>
              <a:t>&lt;&gt;();</a:t>
            </a:r>
          </a:p>
          <a:p>
            <a:r>
              <a:rPr lang="en-US" dirty="0" err="1"/>
              <a:t>names.add</a:t>
            </a:r>
            <a:r>
              <a:rPr lang="en-US" dirty="0"/>
              <a:t>("Ayaan"); // Type-safe</a:t>
            </a:r>
          </a:p>
        </p:txBody>
      </p:sp>
      <p:sp>
        <p:nvSpPr>
          <p:cNvPr id="7" name="TextBox 6">
            <a:extLst>
              <a:ext uri="{FF2B5EF4-FFF2-40B4-BE49-F238E27FC236}">
                <a16:creationId xmlns:a16="http://schemas.microsoft.com/office/drawing/2014/main" id="{7734F7B5-77F1-135B-1604-489A281B51FC}"/>
              </a:ext>
            </a:extLst>
          </p:cNvPr>
          <p:cNvSpPr txBox="1"/>
          <p:nvPr/>
        </p:nvSpPr>
        <p:spPr>
          <a:xfrm>
            <a:off x="197893" y="4444706"/>
            <a:ext cx="495413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Without generics, objects would need to be cast by hand, raising the threat of runtime errors</a:t>
            </a:r>
            <a:endParaRPr lang="en-US" dirty="0"/>
          </a:p>
        </p:txBody>
      </p:sp>
    </p:spTree>
    <p:extLst>
      <p:ext uri="{BB962C8B-B14F-4D97-AF65-F5344CB8AC3E}">
        <p14:creationId xmlns:p14="http://schemas.microsoft.com/office/powerpoint/2010/main" val="201436756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400A-2A04-3E2C-C1ED-0ED60B26E4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002A8F-AD22-7401-549D-EE803A63893F}"/>
              </a:ext>
            </a:extLst>
          </p:cNvPr>
          <p:cNvSpPr txBox="1"/>
          <p:nvPr/>
        </p:nvSpPr>
        <p:spPr>
          <a:xfrm>
            <a:off x="-1136"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148. Why do we need Generics in Java? Can you provide an example of how Generics make a program more flexible?</a:t>
            </a:r>
          </a:p>
          <a:p>
            <a:pPr algn="just">
              <a:lnSpc>
                <a:spcPts val="2100"/>
              </a:lnSpc>
              <a:spcBef>
                <a:spcPts val="1650"/>
              </a:spcBef>
              <a:buNone/>
            </a:pPr>
            <a:r>
              <a:rPr lang="en-US" b="0" i="0" dirty="0">
                <a:solidFill>
                  <a:srgbClr val="3A3A3A"/>
                </a:solidFill>
                <a:effectLst/>
                <a:latin typeface="Roboto" panose="02000000000000000000" pitchFamily="2" charset="0"/>
              </a:rPr>
              <a:t>In Java, we use Generics to provide strong type safety, code reusability, and cleaner code. Generics enable the same class or method to be used with various data types without repetition of code.</a:t>
            </a:r>
          </a:p>
          <a:p>
            <a:pPr algn="just">
              <a:lnSpc>
                <a:spcPts val="2100"/>
              </a:lnSpc>
              <a:spcBef>
                <a:spcPts val="750"/>
              </a:spcBef>
              <a:buNone/>
            </a:pPr>
            <a:r>
              <a:rPr lang="en-US" b="0" i="0" dirty="0">
                <a:solidFill>
                  <a:srgbClr val="3A3A3A"/>
                </a:solidFill>
                <a:effectLst/>
                <a:latin typeface="Roboto" panose="02000000000000000000" pitchFamily="2" charset="0"/>
              </a:rPr>
              <a:t>Here’s how they promote flexibility:</a:t>
            </a:r>
          </a:p>
        </p:txBody>
      </p:sp>
      <p:sp>
        <p:nvSpPr>
          <p:cNvPr id="5" name="TextBox 4">
            <a:extLst>
              <a:ext uri="{FF2B5EF4-FFF2-40B4-BE49-F238E27FC236}">
                <a16:creationId xmlns:a16="http://schemas.microsoft.com/office/drawing/2014/main" id="{1F7BB64C-04C6-1220-CEC3-91DB94C83C31}"/>
              </a:ext>
            </a:extLst>
          </p:cNvPr>
          <p:cNvSpPr txBox="1"/>
          <p:nvPr/>
        </p:nvSpPr>
        <p:spPr>
          <a:xfrm>
            <a:off x="0" y="3260130"/>
            <a:ext cx="4981432" cy="1477328"/>
          </a:xfrm>
          <a:prstGeom prst="rect">
            <a:avLst/>
          </a:prstGeom>
          <a:noFill/>
        </p:spPr>
        <p:txBody>
          <a:bodyPr wrap="square">
            <a:spAutoFit/>
          </a:bodyPr>
          <a:lstStyle/>
          <a:p>
            <a:r>
              <a:rPr lang="en-US" dirty="0"/>
              <a:t>public class Box&lt;T&gt; {    private T value;    public void set(T value) { </a:t>
            </a:r>
            <a:r>
              <a:rPr lang="en-US" dirty="0" err="1"/>
              <a:t>this.value</a:t>
            </a:r>
            <a:r>
              <a:rPr lang="en-US" dirty="0"/>
              <a:t> = value; }    public T get() { return value; }}// Now, Box can hold any </a:t>
            </a:r>
            <a:r>
              <a:rPr lang="en-US" dirty="0" err="1"/>
              <a:t>type:Box</a:t>
            </a:r>
            <a:r>
              <a:rPr lang="en-US" dirty="0"/>
              <a:t>&lt;Integer&gt; </a:t>
            </a:r>
            <a:r>
              <a:rPr lang="en-US" dirty="0" err="1"/>
              <a:t>intBox</a:t>
            </a:r>
            <a:r>
              <a:rPr lang="en-US" dirty="0"/>
              <a:t> = new Box&lt;&gt;();Box&lt;String&gt; </a:t>
            </a:r>
            <a:r>
              <a:rPr lang="en-US" dirty="0" err="1"/>
              <a:t>strBox</a:t>
            </a:r>
            <a:r>
              <a:rPr lang="en-US" dirty="0"/>
              <a:t> = new Box&lt;&gt;();</a:t>
            </a:r>
          </a:p>
        </p:txBody>
      </p:sp>
      <p:sp>
        <p:nvSpPr>
          <p:cNvPr id="7" name="TextBox 6">
            <a:extLst>
              <a:ext uri="{FF2B5EF4-FFF2-40B4-BE49-F238E27FC236}">
                <a16:creationId xmlns:a16="http://schemas.microsoft.com/office/drawing/2014/main" id="{422B4F9F-E106-F74C-DD50-ADBB5D188BA3}"/>
              </a:ext>
            </a:extLst>
          </p:cNvPr>
          <p:cNvSpPr txBox="1"/>
          <p:nvPr/>
        </p:nvSpPr>
        <p:spPr>
          <a:xfrm>
            <a:off x="129655" y="4913194"/>
            <a:ext cx="4981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It avoids casting and errors and maintains code modularity and maintainability.</a:t>
            </a:r>
            <a:endParaRPr lang="en-US" dirty="0"/>
          </a:p>
        </p:txBody>
      </p:sp>
    </p:spTree>
    <p:extLst>
      <p:ext uri="{BB962C8B-B14F-4D97-AF65-F5344CB8AC3E}">
        <p14:creationId xmlns:p14="http://schemas.microsoft.com/office/powerpoint/2010/main" val="282164727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5058-CD17-BE6E-D309-47851312FFA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08DF27-7BFC-60BE-1C0F-A96020D89718}"/>
              </a:ext>
            </a:extLst>
          </p:cNvPr>
          <p:cNvSpPr txBox="1"/>
          <p:nvPr/>
        </p:nvSpPr>
        <p:spPr>
          <a:xfrm>
            <a:off x="0" y="175391"/>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149. How do you declare a generic class in Java?</a:t>
            </a:r>
          </a:p>
          <a:p>
            <a:pPr algn="just">
              <a:lnSpc>
                <a:spcPts val="2100"/>
              </a:lnSpc>
              <a:spcBef>
                <a:spcPts val="1650"/>
              </a:spcBef>
              <a:buNone/>
            </a:pPr>
            <a:r>
              <a:rPr lang="en-US" b="0" i="0" dirty="0">
                <a:solidFill>
                  <a:srgbClr val="3A3A3A"/>
                </a:solidFill>
                <a:effectLst/>
                <a:latin typeface="Roboto" panose="02000000000000000000" pitchFamily="2" charset="0"/>
              </a:rPr>
              <a:t>You declare a generic class in Java by using angle brackets (&lt;&gt;) with a type parameter. It informs the compiler that the class is able to work with objects of any type.</a:t>
            </a:r>
          </a:p>
          <a:p>
            <a:pPr algn="just">
              <a:lnSpc>
                <a:spcPts val="2100"/>
              </a:lnSpc>
              <a:spcBef>
                <a:spcPts val="750"/>
              </a:spcBef>
              <a:buNone/>
            </a:pPr>
            <a:r>
              <a:rPr lang="en-US" b="0" i="0" dirty="0">
                <a:solidFill>
                  <a:srgbClr val="3A3A3A"/>
                </a:solidFill>
                <a:effectLst/>
                <a:latin typeface="Roboto" panose="02000000000000000000" pitchFamily="2" charset="0"/>
              </a:rPr>
              <a:t>Example with Syntax:</a:t>
            </a:r>
          </a:p>
        </p:txBody>
      </p:sp>
      <p:sp>
        <p:nvSpPr>
          <p:cNvPr id="5" name="TextBox 4">
            <a:extLst>
              <a:ext uri="{FF2B5EF4-FFF2-40B4-BE49-F238E27FC236}">
                <a16:creationId xmlns:a16="http://schemas.microsoft.com/office/drawing/2014/main" id="{5830D98C-AB73-77CA-5FD3-9F5E246B1263}"/>
              </a:ext>
            </a:extLst>
          </p:cNvPr>
          <p:cNvSpPr txBox="1"/>
          <p:nvPr/>
        </p:nvSpPr>
        <p:spPr>
          <a:xfrm>
            <a:off x="0" y="2704288"/>
            <a:ext cx="4981432" cy="2308324"/>
          </a:xfrm>
          <a:prstGeom prst="rect">
            <a:avLst/>
          </a:prstGeom>
          <a:noFill/>
        </p:spPr>
        <p:txBody>
          <a:bodyPr wrap="square">
            <a:spAutoFit/>
          </a:bodyPr>
          <a:lstStyle/>
          <a:p>
            <a:r>
              <a:rPr lang="en-US" dirty="0"/>
              <a:t>public class </a:t>
            </a:r>
            <a:r>
              <a:rPr lang="en-US" dirty="0" err="1"/>
              <a:t>GenericExample</a:t>
            </a:r>
            <a:r>
              <a:rPr lang="en-US" dirty="0"/>
              <a:t> {    public static void main(String[] </a:t>
            </a:r>
            <a:r>
              <a:rPr lang="en-US" dirty="0" err="1"/>
              <a:t>args</a:t>
            </a:r>
            <a:r>
              <a:rPr lang="en-US" dirty="0"/>
              <a:t>) {        </a:t>
            </a:r>
            <a:r>
              <a:rPr lang="en-US" dirty="0" err="1"/>
              <a:t>GenericClass</a:t>
            </a:r>
            <a:r>
              <a:rPr lang="en-US" dirty="0"/>
              <a:t>&lt;String&gt; obj = new </a:t>
            </a:r>
            <a:r>
              <a:rPr lang="en-US" dirty="0" err="1"/>
              <a:t>GenericClass</a:t>
            </a:r>
            <a:r>
              <a:rPr lang="en-US" dirty="0"/>
              <a:t>&lt;&gt;();        </a:t>
            </a:r>
            <a:r>
              <a:rPr lang="en-US" dirty="0" err="1"/>
              <a:t>obj.setData</a:t>
            </a:r>
            <a:r>
              <a:rPr lang="en-US" dirty="0"/>
              <a:t>("Hello Generics");        </a:t>
            </a:r>
            <a:r>
              <a:rPr lang="en-US" dirty="0" err="1"/>
              <a:t>System.out.println</a:t>
            </a:r>
            <a:r>
              <a:rPr lang="en-US" dirty="0"/>
              <a:t>(</a:t>
            </a:r>
            <a:r>
              <a:rPr lang="en-US" dirty="0" err="1"/>
              <a:t>obj.getData</a:t>
            </a:r>
            <a:r>
              <a:rPr lang="en-US" dirty="0"/>
              <a:t>());    }}class </a:t>
            </a:r>
            <a:r>
              <a:rPr lang="en-US" dirty="0" err="1"/>
              <a:t>GenericClass</a:t>
            </a:r>
            <a:r>
              <a:rPr lang="en-US" dirty="0"/>
              <a:t>&lt;T&gt; {    private T data;    public void </a:t>
            </a:r>
            <a:r>
              <a:rPr lang="en-US" dirty="0" err="1"/>
              <a:t>setData</a:t>
            </a:r>
            <a:r>
              <a:rPr lang="en-US" dirty="0"/>
              <a:t>(T data) {        </a:t>
            </a:r>
            <a:r>
              <a:rPr lang="en-US" dirty="0" err="1"/>
              <a:t>this.data</a:t>
            </a:r>
            <a:r>
              <a:rPr lang="en-US" dirty="0"/>
              <a:t> = data;    }    public T </a:t>
            </a:r>
            <a:r>
              <a:rPr lang="en-US" dirty="0" err="1"/>
              <a:t>getData</a:t>
            </a:r>
            <a:r>
              <a:rPr lang="en-US" dirty="0"/>
              <a:t>() {        return data;    }}</a:t>
            </a:r>
          </a:p>
        </p:txBody>
      </p:sp>
      <p:sp>
        <p:nvSpPr>
          <p:cNvPr id="7" name="TextBox 6">
            <a:extLst>
              <a:ext uri="{FF2B5EF4-FFF2-40B4-BE49-F238E27FC236}">
                <a16:creationId xmlns:a16="http://schemas.microsoft.com/office/drawing/2014/main" id="{3AE77D17-91CC-89C7-045A-34D396F66144}"/>
              </a:ext>
            </a:extLst>
          </p:cNvPr>
          <p:cNvSpPr txBox="1"/>
          <p:nvPr/>
        </p:nvSpPr>
        <p:spPr>
          <a:xfrm>
            <a:off x="4924568" y="4189302"/>
            <a:ext cx="4981432" cy="236218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Here, T is a type parameter that is replaced with an actual data type upon object creation.</a:t>
            </a:r>
          </a:p>
          <a:p>
            <a:pPr algn="just">
              <a:lnSpc>
                <a:spcPts val="2100"/>
              </a:lnSpc>
              <a:spcBef>
                <a:spcPts val="750"/>
              </a:spcBef>
              <a:buNone/>
            </a:pPr>
            <a:r>
              <a:rPr lang="en-US" b="0" i="0" dirty="0">
                <a:solidFill>
                  <a:srgbClr val="3A3A3A"/>
                </a:solidFill>
                <a:effectLst/>
                <a:latin typeface="Roboto" panose="02000000000000000000" pitchFamily="2" charset="0"/>
              </a:rPr>
              <a:t>Key Points: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 is a type parameter, allowing the class to be type-safe and reusable.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reduces the need for casting and improves code clarity and safety.</a:t>
            </a:r>
          </a:p>
        </p:txBody>
      </p:sp>
    </p:spTree>
    <p:extLst>
      <p:ext uri="{BB962C8B-B14F-4D97-AF65-F5344CB8AC3E}">
        <p14:creationId xmlns:p14="http://schemas.microsoft.com/office/powerpoint/2010/main" val="284185408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435B1-344B-9044-203B-6D3E065FC9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0B1BE1-6516-B29C-08CC-AB14FC204ED8}"/>
              </a:ext>
            </a:extLst>
          </p:cNvPr>
          <p:cNvSpPr txBox="1"/>
          <p:nvPr/>
        </p:nvSpPr>
        <p:spPr>
          <a:xfrm>
            <a:off x="2477069" y="48152"/>
            <a:ext cx="4954136" cy="67685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150. What are the restrictions when using generic types declared in a class in Java?</a:t>
            </a:r>
          </a:p>
          <a:p>
            <a:pPr algn="just">
              <a:lnSpc>
                <a:spcPts val="2100"/>
              </a:lnSpc>
              <a:spcBef>
                <a:spcPts val="1650"/>
              </a:spcBef>
              <a:buNone/>
            </a:pPr>
            <a:r>
              <a:rPr lang="en-US" b="0" i="0" dirty="0">
                <a:solidFill>
                  <a:srgbClr val="3A3A3A"/>
                </a:solidFill>
                <a:effectLst/>
                <a:latin typeface="Roboto" panose="02000000000000000000" pitchFamily="2" charset="0"/>
              </a:rPr>
              <a:t>Generics enhance type safety but carry some key limitations because of </a:t>
            </a:r>
            <a:r>
              <a:rPr lang="en-US" b="0" i="0" u="none" strike="noStrike" dirty="0">
                <a:solidFill>
                  <a:srgbClr val="0F5A9E"/>
                </a:solidFill>
                <a:effectLst/>
                <a:latin typeface="Roboto" panose="02000000000000000000" pitchFamily="2" charset="0"/>
                <a:hlinkClick r:id="rId2"/>
              </a:rPr>
              <a:t>type erasure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a. Cannot instantiate a generic type:</a:t>
            </a:r>
          </a:p>
          <a:p>
            <a:pPr algn="l">
              <a:spcBef>
                <a:spcPts val="1125"/>
              </a:spcBef>
              <a:spcAft>
                <a:spcPts val="375"/>
              </a:spcAft>
              <a:buNone/>
            </a:pPr>
            <a:r>
              <a:rPr lang="en-US" b="0" i="0" dirty="0">
                <a:solidFill>
                  <a:srgbClr val="212529"/>
                </a:solidFill>
                <a:effectLst/>
                <a:latin typeface="Courier New" panose="02070309020205020404" pitchFamily="49" charset="0"/>
              </a:rPr>
              <a:t>T obj = new T(); // Compile-time error</a:t>
            </a:r>
          </a:p>
          <a:p>
            <a:pPr algn="just">
              <a:lnSpc>
                <a:spcPts val="2100"/>
              </a:lnSpc>
              <a:spcBef>
                <a:spcPts val="1650"/>
              </a:spcBef>
              <a:buNone/>
            </a:pPr>
            <a:r>
              <a:rPr lang="en-US" b="0" i="0" dirty="0">
                <a:solidFill>
                  <a:srgbClr val="3A3A3A"/>
                </a:solidFill>
                <a:effectLst/>
                <a:latin typeface="Roboto" panose="02000000000000000000" pitchFamily="2" charset="0"/>
              </a:rPr>
              <a:t>b. Cannot create arrays of generic types:</a:t>
            </a:r>
          </a:p>
          <a:p>
            <a:pPr algn="l">
              <a:spcBef>
                <a:spcPts val="1125"/>
              </a:spcBef>
              <a:spcAft>
                <a:spcPts val="375"/>
              </a:spcAft>
              <a:buNone/>
            </a:pPr>
            <a:r>
              <a:rPr lang="en-US" b="0" i="0" dirty="0">
                <a:solidFill>
                  <a:srgbClr val="212529"/>
                </a:solidFill>
                <a:effectLst/>
                <a:latin typeface="Courier New" panose="02070309020205020404" pitchFamily="49" charset="0"/>
              </a:rPr>
              <a:t>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new T[10]; // Not allowed</a:t>
            </a:r>
          </a:p>
          <a:p>
            <a:pPr algn="just">
              <a:lnSpc>
                <a:spcPts val="2100"/>
              </a:lnSpc>
              <a:spcBef>
                <a:spcPts val="1650"/>
              </a:spcBef>
              <a:buNone/>
            </a:pPr>
            <a:r>
              <a:rPr lang="en-US" b="0" i="0" dirty="0">
                <a:solidFill>
                  <a:srgbClr val="3A3A3A"/>
                </a:solidFill>
                <a:effectLst/>
                <a:latin typeface="Roboto" panose="02000000000000000000" pitchFamily="2" charset="0"/>
              </a:rPr>
              <a:t>c. Cannot use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with generic types::</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T) { } // Invalid</a:t>
            </a:r>
          </a:p>
          <a:p>
            <a:pPr algn="just">
              <a:lnSpc>
                <a:spcPts val="2100"/>
              </a:lnSpc>
              <a:spcBef>
                <a:spcPts val="1650"/>
              </a:spcBef>
              <a:buNone/>
            </a:pPr>
            <a:r>
              <a:rPr lang="en-US" b="0" i="0" dirty="0">
                <a:solidFill>
                  <a:srgbClr val="3A3A3A"/>
                </a:solidFill>
                <a:effectLst/>
                <a:latin typeface="Roboto" panose="02000000000000000000" pitchFamily="2" charset="0"/>
              </a:rPr>
              <a:t>Cannot create static fields of generic type: Static members are shared by all instances and therefore cannot reference type parameters that are instance-dependent.</a:t>
            </a:r>
          </a:p>
        </p:txBody>
      </p:sp>
    </p:spTree>
    <p:extLst>
      <p:ext uri="{BB962C8B-B14F-4D97-AF65-F5344CB8AC3E}">
        <p14:creationId xmlns:p14="http://schemas.microsoft.com/office/powerpoint/2010/main" val="306802684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8D435-C8AE-C71E-159E-1315E43D30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2EC2A10-2845-7322-3683-FFB21756C9C1}"/>
              </a:ext>
            </a:extLst>
          </p:cNvPr>
          <p:cNvSpPr txBox="1"/>
          <p:nvPr/>
        </p:nvSpPr>
        <p:spPr>
          <a:xfrm>
            <a:off x="-1137" y="0"/>
            <a:ext cx="9759285"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151. Can you provide an example of a generic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a generic method enables the creation of a method that can be applied to any data type, ensuring increased reusability and type safety.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60CC1E-4BC5-4B3D-2D16-E9EFB82DB8CF}"/>
              </a:ext>
            </a:extLst>
          </p:cNvPr>
          <p:cNvSpPr txBox="1"/>
          <p:nvPr/>
        </p:nvSpPr>
        <p:spPr>
          <a:xfrm>
            <a:off x="170598" y="1901422"/>
            <a:ext cx="4981432" cy="8125301"/>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Integer[] </a:t>
            </a:r>
            <a:r>
              <a:rPr lang="en-US" dirty="0" err="1"/>
              <a:t>intArr</a:t>
            </a:r>
            <a:r>
              <a:rPr lang="en-US" dirty="0"/>
              <a:t> = {1, 2, 3};</a:t>
            </a:r>
          </a:p>
          <a:p>
            <a:r>
              <a:rPr lang="en-US" dirty="0"/>
              <a:t>        String[] </a:t>
            </a:r>
            <a:r>
              <a:rPr lang="en-US" dirty="0" err="1"/>
              <a:t>strArr</a:t>
            </a:r>
            <a:r>
              <a:rPr lang="en-US" dirty="0"/>
              <a:t> = {"A", "B", "C"};</a:t>
            </a:r>
          </a:p>
          <a:p>
            <a:r>
              <a:rPr lang="en-US" dirty="0"/>
              <a:t>        </a:t>
            </a:r>
          </a:p>
          <a:p>
            <a:r>
              <a:rPr lang="en-US" dirty="0"/>
              <a:t>        // Print header and call generic method for Integer array</a:t>
            </a:r>
          </a:p>
          <a:p>
            <a:r>
              <a:rPr lang="en-US" dirty="0"/>
              <a:t>        </a:t>
            </a:r>
            <a:r>
              <a:rPr lang="en-US" dirty="0" err="1"/>
              <a:t>System.out.println</a:t>
            </a:r>
            <a:r>
              <a:rPr lang="en-US" dirty="0"/>
              <a:t>("Printing Integer array:");</a:t>
            </a:r>
          </a:p>
          <a:p>
            <a:r>
              <a:rPr lang="en-US" dirty="0"/>
              <a:t>        </a:t>
            </a:r>
            <a:r>
              <a:rPr lang="en-US" dirty="0" err="1"/>
              <a:t>GenericUtils.printArray</a:t>
            </a:r>
            <a:r>
              <a:rPr lang="en-US" dirty="0"/>
              <a:t>(</a:t>
            </a:r>
            <a:r>
              <a:rPr lang="en-US" dirty="0" err="1"/>
              <a:t>intArr</a:t>
            </a:r>
            <a:r>
              <a:rPr lang="en-US" dirty="0"/>
              <a:t>);</a:t>
            </a:r>
          </a:p>
          <a:p>
            <a:r>
              <a:rPr lang="en-US" dirty="0"/>
              <a:t>        </a:t>
            </a:r>
          </a:p>
          <a:p>
            <a:r>
              <a:rPr lang="en-US" dirty="0"/>
              <a:t>        // Print header and call generic method for String array</a:t>
            </a:r>
          </a:p>
          <a:p>
            <a:r>
              <a:rPr lang="en-US" dirty="0"/>
              <a:t>        </a:t>
            </a:r>
            <a:r>
              <a:rPr lang="en-US" dirty="0" err="1"/>
              <a:t>System.out.println</a:t>
            </a:r>
            <a:r>
              <a:rPr lang="en-US" dirty="0"/>
              <a:t>("Printing String array:");</a:t>
            </a:r>
          </a:p>
          <a:p>
            <a:r>
              <a:rPr lang="en-US" dirty="0"/>
              <a:t>        </a:t>
            </a:r>
            <a:r>
              <a:rPr lang="en-US" dirty="0" err="1"/>
              <a:t>GenericUtils.printArray</a:t>
            </a:r>
            <a:r>
              <a:rPr lang="en-US" dirty="0"/>
              <a:t>(</a:t>
            </a:r>
            <a:r>
              <a:rPr lang="en-US" dirty="0" err="1"/>
              <a:t>strArr</a:t>
            </a:r>
            <a:r>
              <a:rPr lang="en-US" dirty="0"/>
              <a:t>);</a:t>
            </a:r>
          </a:p>
          <a:p>
            <a:r>
              <a:rPr lang="en-US" dirty="0"/>
              <a:t>    }</a:t>
            </a:r>
          </a:p>
          <a:p>
            <a:r>
              <a:rPr lang="en-US" dirty="0"/>
              <a:t>}</a:t>
            </a:r>
          </a:p>
          <a:p>
            <a:endParaRPr lang="en-US" dirty="0"/>
          </a:p>
          <a:p>
            <a:r>
              <a:rPr lang="en-US" dirty="0"/>
              <a:t>// Utility class containing a generic method to print any type of array</a:t>
            </a:r>
          </a:p>
          <a:p>
            <a:r>
              <a:rPr lang="en-US" dirty="0"/>
              <a:t>class </a:t>
            </a:r>
            <a:r>
              <a:rPr lang="en-US" dirty="0" err="1"/>
              <a:t>GenericUtils</a:t>
            </a:r>
            <a:r>
              <a:rPr lang="en-US" dirty="0"/>
              <a:t> {</a:t>
            </a:r>
          </a:p>
          <a:p>
            <a:r>
              <a:rPr lang="en-US" dirty="0"/>
              <a:t>    // Generic method that can handle arrays of any reference type (T)</a:t>
            </a:r>
          </a:p>
          <a:p>
            <a:r>
              <a:rPr lang="en-US" dirty="0"/>
              <a:t>    public static &lt;T&gt; void </a:t>
            </a:r>
            <a:r>
              <a:rPr lang="en-US" dirty="0" err="1"/>
              <a:t>printArray</a:t>
            </a:r>
            <a:r>
              <a:rPr lang="en-US" dirty="0"/>
              <a:t>(T[] array) {</a:t>
            </a:r>
          </a:p>
          <a:p>
            <a:r>
              <a:rPr lang="en-US" dirty="0"/>
              <a:t>        for (T element : array) {</a:t>
            </a:r>
          </a:p>
          <a:p>
            <a:r>
              <a:rPr lang="en-US" dirty="0"/>
              <a:t>            </a:t>
            </a:r>
            <a:r>
              <a:rPr lang="en-US" dirty="0" err="1"/>
              <a:t>System.out.print</a:t>
            </a:r>
            <a:r>
              <a:rPr lang="en-US" dirty="0"/>
              <a:t>(element + " ");</a:t>
            </a:r>
          </a:p>
          <a:p>
            <a:r>
              <a:rPr lang="en-US" dirty="0"/>
              <a:t>        }</a:t>
            </a:r>
          </a:p>
          <a:p>
            <a:r>
              <a:rPr lang="en-US" dirty="0"/>
              <a:t>        </a:t>
            </a:r>
            <a:r>
              <a:rPr lang="en-US" dirty="0" err="1"/>
              <a:t>System.out.println</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20F7FCF7-F5F9-861A-CA96-509DC207631B}"/>
              </a:ext>
            </a:extLst>
          </p:cNvPr>
          <p:cNvSpPr txBox="1"/>
          <p:nvPr/>
        </p:nvSpPr>
        <p:spPr>
          <a:xfrm>
            <a:off x="5329451" y="2967335"/>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declares the data type prior to the return type, allowing the method to be versatile to operate with different data types.</a:t>
            </a:r>
            <a:endParaRPr lang="en-US" dirty="0"/>
          </a:p>
        </p:txBody>
      </p:sp>
    </p:spTree>
    <p:extLst>
      <p:ext uri="{BB962C8B-B14F-4D97-AF65-F5344CB8AC3E}">
        <p14:creationId xmlns:p14="http://schemas.microsoft.com/office/powerpoint/2010/main" val="378104937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4E50-511C-BF3A-4355-E2F12C96B7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C62F73-7C7A-B07C-9811-897C6CFD1B7C}"/>
              </a:ext>
            </a:extLst>
          </p:cNvPr>
          <p:cNvSpPr txBox="1"/>
          <p:nvPr/>
        </p:nvSpPr>
        <p:spPr>
          <a:xfrm>
            <a:off x="2477069" y="2033311"/>
            <a:ext cx="4954136" cy="2798202"/>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Advanced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In this section, master advanced Java interview questions to gain expertise in core Java and various important topics. These Java interview questions designed for experienced candidates so that they can enhance their problem solving skills for senior roles. Prepare these Java Developer interview questions and land a job in Top MNCs</a:t>
            </a:r>
          </a:p>
        </p:txBody>
      </p:sp>
    </p:spTree>
    <p:extLst>
      <p:ext uri="{BB962C8B-B14F-4D97-AF65-F5344CB8AC3E}">
        <p14:creationId xmlns:p14="http://schemas.microsoft.com/office/powerpoint/2010/main" val="35677475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D3B70-3B58-42D9-94C0-7C60D729DD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FBD0D5A-FD3C-19EE-2329-2CBA905F6960}"/>
              </a:ext>
            </a:extLst>
          </p:cNvPr>
          <p:cNvSpPr txBox="1"/>
          <p:nvPr/>
        </p:nvSpPr>
        <p:spPr>
          <a:xfrm>
            <a:off x="0" y="116166"/>
            <a:ext cx="4954136" cy="47218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152. Is it possible to execute Java code, even before the main method? Explain.</a:t>
            </a:r>
          </a:p>
          <a:p>
            <a:pPr algn="just">
              <a:lnSpc>
                <a:spcPts val="2100"/>
              </a:lnSpc>
              <a:spcBef>
                <a:spcPts val="1650"/>
              </a:spcBef>
              <a:buNone/>
            </a:pPr>
            <a:r>
              <a:rPr lang="en-US" b="0" i="0" dirty="0">
                <a:solidFill>
                  <a:srgbClr val="3A3A3A"/>
                </a:solidFill>
                <a:effectLst/>
                <a:latin typeface="Roboto" panose="02000000000000000000" pitchFamily="2" charset="0"/>
              </a:rPr>
              <a:t>Yes, we can execute code even before the main method. It can be done using two ways: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a:t>
            </a:r>
            <a:r>
              <a:rPr lang="en-US" b="0" i="0" dirty="0" err="1">
                <a:solidFill>
                  <a:srgbClr val="3A3A3A"/>
                </a:solidFill>
                <a:effectLst/>
                <a:latin typeface="Roboto" panose="02000000000000000000" pitchFamily="2" charset="0"/>
              </a:rPr>
              <a:t>Initialisers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Variable Initialization</a:t>
            </a:r>
          </a:p>
          <a:p>
            <a:pPr algn="just">
              <a:lnSpc>
                <a:spcPts val="2100"/>
              </a:lnSpc>
              <a:spcBef>
                <a:spcPts val="1650"/>
              </a:spcBef>
              <a:buNone/>
            </a:pPr>
            <a:r>
              <a:rPr lang="en-US" b="0" i="0" dirty="0">
                <a:solidFill>
                  <a:srgbClr val="3A3A3A"/>
                </a:solidFill>
                <a:effectLst/>
                <a:latin typeface="Roboto" panose="02000000000000000000" pitchFamily="2" charset="0"/>
              </a:rPr>
              <a:t>Let’s understand static </a:t>
            </a:r>
            <a:r>
              <a:rPr lang="en-US" b="0" i="0" dirty="0" err="1">
                <a:solidFill>
                  <a:srgbClr val="3A3A3A"/>
                </a:solidFill>
                <a:effectLst/>
                <a:latin typeface="Roboto" panose="02000000000000000000" pitchFamily="2" charset="0"/>
              </a:rPr>
              <a:t>initialisers</a:t>
            </a:r>
            <a:r>
              <a:rPr lang="en-US" b="0" i="0" dirty="0">
                <a:solidFill>
                  <a:srgbClr val="3A3A3A"/>
                </a:solidFill>
                <a:effectLst/>
                <a:latin typeface="Roboto" panose="02000000000000000000" pitchFamily="2" charset="0"/>
              </a:rPr>
              <a:t> first. We can create a static block of code, with the code which we want to execute before the main method. Any statements within this static block of code will get executed before the main method.</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79EC4DF-4223-E79B-2D19-48CE9DD49B3A}"/>
              </a:ext>
            </a:extLst>
          </p:cNvPr>
          <p:cNvSpPr txBox="1"/>
          <p:nvPr/>
        </p:nvSpPr>
        <p:spPr>
          <a:xfrm>
            <a:off x="0" y="4837971"/>
            <a:ext cx="4981432" cy="3139321"/>
          </a:xfrm>
          <a:prstGeom prst="rect">
            <a:avLst/>
          </a:prstGeom>
          <a:noFill/>
        </p:spPr>
        <p:txBody>
          <a:bodyPr wrap="square">
            <a:spAutoFit/>
          </a:bodyPr>
          <a:lstStyle/>
          <a:p>
            <a:r>
              <a:rPr lang="en-US" dirty="0"/>
              <a:t>class </a:t>
            </a:r>
            <a:r>
              <a:rPr lang="en-US" dirty="0" err="1"/>
              <a:t>Intellipaat</a:t>
            </a:r>
            <a:r>
              <a:rPr lang="en-US" dirty="0"/>
              <a:t> {</a:t>
            </a:r>
          </a:p>
          <a:p>
            <a:r>
              <a:rPr lang="en-US" dirty="0"/>
              <a:t>    // Static block</a:t>
            </a:r>
          </a:p>
          <a:p>
            <a:r>
              <a:rPr lang="en-US" dirty="0"/>
              <a:t>    static {</a:t>
            </a:r>
          </a:p>
          <a:p>
            <a:r>
              <a:rPr lang="en-US" dirty="0"/>
              <a:t>        </a:t>
            </a:r>
            <a:r>
              <a:rPr lang="en-US" dirty="0" err="1"/>
              <a:t>System.out.println</a:t>
            </a:r>
            <a:r>
              <a:rPr lang="en-US" dirty="0"/>
              <a:t>("Static block executed!");</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7" name="TextBox 6">
            <a:extLst>
              <a:ext uri="{FF2B5EF4-FFF2-40B4-BE49-F238E27FC236}">
                <a16:creationId xmlns:a16="http://schemas.microsoft.com/office/drawing/2014/main" id="{81B54611-E3FF-CEB5-DE83-FFB8B51C2E89}"/>
              </a:ext>
            </a:extLst>
          </p:cNvPr>
          <p:cNvSpPr txBox="1"/>
          <p:nvPr/>
        </p:nvSpPr>
        <p:spPr>
          <a:xfrm>
            <a:off x="4824485" y="27455"/>
            <a:ext cx="4981432" cy="2887970"/>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when the JVM loads the class, it executes the static block of code first by design, even before the main method. One can have multiple static blocks, they will execute in the sequence you define them in.</a:t>
            </a:r>
          </a:p>
          <a:p>
            <a:pPr algn="just">
              <a:lnSpc>
                <a:spcPts val="2100"/>
              </a:lnSpc>
              <a:spcBef>
                <a:spcPts val="750"/>
              </a:spcBef>
              <a:buNone/>
            </a:pPr>
            <a:r>
              <a:rPr lang="en-US" b="0" i="0" dirty="0">
                <a:solidFill>
                  <a:srgbClr val="3A3A3A"/>
                </a:solidFill>
                <a:effectLst/>
                <a:latin typeface="Roboto" panose="02000000000000000000" pitchFamily="2" charset="0"/>
              </a:rPr>
              <a:t>Next, let’s understand Static Variable Initialization. Static variables can initialize another static method, thus making the code run before the main method, let’s understand using an example.</a:t>
            </a:r>
          </a:p>
        </p:txBody>
      </p:sp>
      <p:sp>
        <p:nvSpPr>
          <p:cNvPr id="9" name="TextBox 8">
            <a:extLst>
              <a:ext uri="{FF2B5EF4-FFF2-40B4-BE49-F238E27FC236}">
                <a16:creationId xmlns:a16="http://schemas.microsoft.com/office/drawing/2014/main" id="{CC2A80B1-64D8-4A50-F125-AB10B320D85F}"/>
              </a:ext>
            </a:extLst>
          </p:cNvPr>
          <p:cNvSpPr txBox="1"/>
          <p:nvPr/>
        </p:nvSpPr>
        <p:spPr>
          <a:xfrm>
            <a:off x="4981432" y="2816830"/>
            <a:ext cx="4981432" cy="4247317"/>
          </a:xfrm>
          <a:prstGeom prst="rect">
            <a:avLst/>
          </a:prstGeom>
          <a:noFill/>
        </p:spPr>
        <p:txBody>
          <a:bodyPr wrap="square">
            <a:spAutoFit/>
          </a:bodyPr>
          <a:lstStyle/>
          <a:p>
            <a:r>
              <a:rPr lang="en-US" dirty="0"/>
              <a:t>public class Demo {</a:t>
            </a:r>
          </a:p>
          <a:p>
            <a:r>
              <a:rPr lang="en-US" dirty="0"/>
              <a:t>    static int x = </a:t>
            </a:r>
            <a:r>
              <a:rPr lang="en-US" dirty="0" err="1"/>
              <a:t>intellipaat</a:t>
            </a:r>
            <a:r>
              <a:rPr lang="en-US" dirty="0"/>
              <a:t>(); // Static variable initialization</a:t>
            </a:r>
          </a:p>
          <a:p>
            <a:endParaRPr lang="en-US" dirty="0"/>
          </a:p>
          <a:p>
            <a:r>
              <a:rPr lang="en-US" dirty="0"/>
              <a:t>    static int </a:t>
            </a:r>
            <a:r>
              <a:rPr lang="en-US" dirty="0" err="1"/>
              <a:t>intellipaat</a:t>
            </a:r>
            <a:r>
              <a:rPr lang="en-US" dirty="0"/>
              <a:t>() {</a:t>
            </a:r>
          </a:p>
          <a:p>
            <a:r>
              <a:rPr lang="en-US" dirty="0"/>
              <a:t>        </a:t>
            </a:r>
            <a:r>
              <a:rPr lang="en-US" dirty="0" err="1"/>
              <a:t>System.out.println</a:t>
            </a:r>
            <a:r>
              <a:rPr lang="en-US" dirty="0"/>
              <a:t>("Static variable initialization.");</a:t>
            </a:r>
          </a:p>
          <a:p>
            <a:r>
              <a:rPr lang="en-US" dirty="0"/>
              <a:t>        return 10;</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11" name="TextBox 10">
            <a:extLst>
              <a:ext uri="{FF2B5EF4-FFF2-40B4-BE49-F238E27FC236}">
                <a16:creationId xmlns:a16="http://schemas.microsoft.com/office/drawing/2014/main" id="{4E4E8A14-3280-30A9-F797-1FC75E1DE4F4}"/>
              </a:ext>
            </a:extLst>
          </p:cNvPr>
          <p:cNvSpPr txBox="1"/>
          <p:nvPr/>
        </p:nvSpPr>
        <p:spPr>
          <a:xfrm>
            <a:off x="4897272" y="7064147"/>
            <a:ext cx="500872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the method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is </a:t>
            </a:r>
            <a:r>
              <a:rPr lang="en-US" b="0" i="0" dirty="0" err="1">
                <a:solidFill>
                  <a:srgbClr val="3A3A3A"/>
                </a:solidFill>
                <a:effectLst/>
                <a:latin typeface="Roboto" panose="02000000000000000000" pitchFamily="2" charset="0"/>
              </a:rPr>
              <a:t>initialised</a:t>
            </a:r>
            <a:r>
              <a:rPr lang="en-US" b="0" i="0" dirty="0">
                <a:solidFill>
                  <a:srgbClr val="3A3A3A"/>
                </a:solidFill>
                <a:effectLst/>
                <a:latin typeface="Roboto" panose="02000000000000000000" pitchFamily="2" charset="0"/>
              </a:rPr>
              <a:t> by the static variable x.</a:t>
            </a:r>
            <a:endParaRPr lang="en-US" dirty="0"/>
          </a:p>
        </p:txBody>
      </p:sp>
    </p:spTree>
    <p:extLst>
      <p:ext uri="{BB962C8B-B14F-4D97-AF65-F5344CB8AC3E}">
        <p14:creationId xmlns:p14="http://schemas.microsoft.com/office/powerpoint/2010/main" val="41501155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5D3E7-BB4C-D00C-CECE-19A1FDEF23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209B73-1A5E-A628-B9E5-1A1F0222F545}"/>
              </a:ext>
            </a:extLst>
          </p:cNvPr>
          <p:cNvSpPr txBox="1"/>
          <p:nvPr/>
        </p:nvSpPr>
        <p:spPr>
          <a:xfrm>
            <a:off x="-1136" y="0"/>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153. Can you save a .java file without a name?</a:t>
            </a:r>
          </a:p>
          <a:p>
            <a:pPr algn="just">
              <a:lnSpc>
                <a:spcPts val="2100"/>
              </a:lnSpc>
              <a:spcBef>
                <a:spcPts val="1650"/>
              </a:spcBef>
              <a:buNone/>
            </a:pPr>
            <a:r>
              <a:rPr lang="en-US" b="0" i="0" dirty="0">
                <a:solidFill>
                  <a:srgbClr val="3A3A3A"/>
                </a:solidFill>
                <a:effectLst/>
                <a:latin typeface="Roboto" panose="02000000000000000000" pitchFamily="2" charset="0"/>
              </a:rPr>
              <a:t>Yes, we can save a java file with an empty .java file name. You can compile it in the command prompt by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and run it by typing ‘java </a:t>
            </a:r>
            <a:r>
              <a:rPr lang="en-US" b="0" i="0" dirty="0" err="1">
                <a:solidFill>
                  <a:srgbClr val="3A3A3A"/>
                </a:solidFill>
                <a:effectLst/>
                <a:latin typeface="Roboto" panose="02000000000000000000" pitchFamily="2" charset="0"/>
              </a:rPr>
              <a:t>classname</a:t>
            </a:r>
            <a:r>
              <a:rPr lang="en-US" b="0" i="0" dirty="0">
                <a:solidFill>
                  <a:srgbClr val="3A3A3A"/>
                </a:solidFill>
                <a:effectLst/>
                <a:latin typeface="Roboto" panose="02000000000000000000" pitchFamily="2" charset="0"/>
              </a:rPr>
              <a:t>’. Here is an example of such a program:</a:t>
            </a:r>
          </a:p>
        </p:txBody>
      </p:sp>
      <p:sp>
        <p:nvSpPr>
          <p:cNvPr id="5" name="TextBox 4">
            <a:extLst>
              <a:ext uri="{FF2B5EF4-FFF2-40B4-BE49-F238E27FC236}">
                <a16:creationId xmlns:a16="http://schemas.microsoft.com/office/drawing/2014/main" id="{72665F35-5762-015B-0FAA-296134EBEAE7}"/>
              </a:ext>
            </a:extLst>
          </p:cNvPr>
          <p:cNvSpPr txBox="1"/>
          <p:nvPr/>
        </p:nvSpPr>
        <p:spPr>
          <a:xfrm>
            <a:off x="0" y="2157001"/>
            <a:ext cx="4981432" cy="2031325"/>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 {</a:t>
            </a:r>
          </a:p>
          <a:p>
            <a:r>
              <a:rPr lang="en-US" dirty="0"/>
              <a:t>    public static void main(String </a:t>
            </a:r>
            <a:r>
              <a:rPr lang="en-US" dirty="0" err="1"/>
              <a:t>args</a:t>
            </a:r>
            <a:r>
              <a:rPr lang="en-US" dirty="0"/>
              <a:t>[]) {</a:t>
            </a:r>
          </a:p>
          <a:p>
            <a:r>
              <a:rPr lang="en-US" dirty="0"/>
              <a:t>        </a:t>
            </a:r>
            <a:r>
              <a:rPr lang="en-US" dirty="0" err="1"/>
              <a:t>System.out.println</a:t>
            </a:r>
            <a:r>
              <a:rPr lang="en-US" dirty="0"/>
              <a:t>("Hello World");</a:t>
            </a:r>
          </a:p>
          <a:p>
            <a:r>
              <a:rPr lang="en-US" dirty="0"/>
              <a:t>    }</a:t>
            </a:r>
          </a:p>
          <a:p>
            <a:r>
              <a:rPr lang="en-US" dirty="0"/>
              <a:t>}</a:t>
            </a:r>
          </a:p>
        </p:txBody>
      </p:sp>
      <p:sp>
        <p:nvSpPr>
          <p:cNvPr id="7" name="TextBox 6">
            <a:extLst>
              <a:ext uri="{FF2B5EF4-FFF2-40B4-BE49-F238E27FC236}">
                <a16:creationId xmlns:a16="http://schemas.microsoft.com/office/drawing/2014/main" id="{6F205C8D-AADE-4E02-22E7-128070B2DACF}"/>
              </a:ext>
            </a:extLst>
          </p:cNvPr>
          <p:cNvSpPr txBox="1"/>
          <p:nvPr/>
        </p:nvSpPr>
        <p:spPr>
          <a:xfrm>
            <a:off x="-68240" y="4314002"/>
            <a:ext cx="4981432"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Once the code has been saved, you need to launch the command prompt and navigate to the file’s directory. After that, you need to write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to compile the program and “java A” to execute it.</a:t>
            </a:r>
            <a:endParaRPr lang="en-US" dirty="0"/>
          </a:p>
        </p:txBody>
      </p:sp>
    </p:spTree>
    <p:extLst>
      <p:ext uri="{BB962C8B-B14F-4D97-AF65-F5344CB8AC3E}">
        <p14:creationId xmlns:p14="http://schemas.microsoft.com/office/powerpoint/2010/main" val="166791453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37AA3-8F29-686B-6A54-D4673704E3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DC8020-762A-5E7D-B5F3-E9EF71070074}"/>
              </a:ext>
            </a:extLst>
          </p:cNvPr>
          <p:cNvSpPr txBox="1"/>
          <p:nvPr/>
        </p:nvSpPr>
        <p:spPr>
          <a:xfrm>
            <a:off x="0"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154. Can you define static methods inside a java interface?</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have static methods, but we cannot override them as they’re static. So, we have to define the static methods in the interface and only perform the calling party in the class.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static method in Java interface:</a:t>
            </a:r>
          </a:p>
        </p:txBody>
      </p:sp>
      <p:sp>
        <p:nvSpPr>
          <p:cNvPr id="5" name="TextBox 4">
            <a:extLst>
              <a:ext uri="{FF2B5EF4-FFF2-40B4-BE49-F238E27FC236}">
                <a16:creationId xmlns:a16="http://schemas.microsoft.com/office/drawing/2014/main" id="{3ED4FC9F-E998-DD3B-8113-D8170F59A24E}"/>
              </a:ext>
            </a:extLst>
          </p:cNvPr>
          <p:cNvSpPr txBox="1"/>
          <p:nvPr/>
        </p:nvSpPr>
        <p:spPr>
          <a:xfrm>
            <a:off x="116007" y="3164681"/>
            <a:ext cx="4981432" cy="3693319"/>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interface A {</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p:txBody>
      </p:sp>
      <p:sp>
        <p:nvSpPr>
          <p:cNvPr id="7" name="TextBox 6">
            <a:extLst>
              <a:ext uri="{FF2B5EF4-FFF2-40B4-BE49-F238E27FC236}">
                <a16:creationId xmlns:a16="http://schemas.microsoft.com/office/drawing/2014/main" id="{4AAE0385-6BAA-729A-131C-6DA0F8DBBE97}"/>
              </a:ext>
            </a:extLst>
          </p:cNvPr>
          <p:cNvSpPr txBox="1"/>
          <p:nvPr/>
        </p:nvSpPr>
        <p:spPr>
          <a:xfrm>
            <a:off x="4924568" y="-97175"/>
            <a:ext cx="4981432"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above interface has a static method and a default method that can be executed without affecting the class that implements it. However, there is no use in creating the static methods in the Java interface as we cannot override the function by redefining it in the main() method.</a:t>
            </a:r>
            <a:endParaRPr lang="en-US" dirty="0"/>
          </a:p>
        </p:txBody>
      </p:sp>
      <p:sp>
        <p:nvSpPr>
          <p:cNvPr id="9" name="TextBox 8">
            <a:extLst>
              <a:ext uri="{FF2B5EF4-FFF2-40B4-BE49-F238E27FC236}">
                <a16:creationId xmlns:a16="http://schemas.microsoft.com/office/drawing/2014/main" id="{48599E72-E6A5-3916-D14D-1295D8DD66D6}"/>
              </a:ext>
            </a:extLst>
          </p:cNvPr>
          <p:cNvSpPr txBox="1"/>
          <p:nvPr/>
        </p:nvSpPr>
        <p:spPr>
          <a:xfrm>
            <a:off x="4953000" y="2031325"/>
            <a:ext cx="4981432"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 Main class to run the program</a:t>
            </a:r>
          </a:p>
          <a:p>
            <a:r>
              <a:rPr lang="en-US" dirty="0"/>
              <a:t>class Main {</a:t>
            </a:r>
          </a:p>
          <a:p>
            <a:r>
              <a:rPr lang="en-US" dirty="0"/>
              <a:t>    public static void main(String[] </a:t>
            </a:r>
            <a:r>
              <a:rPr lang="en-US" dirty="0" err="1"/>
              <a:t>args</a:t>
            </a:r>
            <a:r>
              <a:rPr lang="en-US" dirty="0"/>
              <a:t>) {</a:t>
            </a:r>
          </a:p>
          <a:p>
            <a:r>
              <a:rPr lang="en-US" dirty="0"/>
              <a:t>        // Calling the static method of interface A</a:t>
            </a:r>
          </a:p>
          <a:p>
            <a:r>
              <a:rPr lang="en-US" dirty="0"/>
              <a:t>        </a:t>
            </a:r>
            <a:r>
              <a:rPr lang="en-US" dirty="0" err="1"/>
              <a:t>A.staticMethod</a:t>
            </a:r>
            <a:r>
              <a:rPr lang="en-US" dirty="0"/>
              <a:t>();</a:t>
            </a:r>
          </a:p>
          <a:p>
            <a:endParaRPr lang="en-US" dirty="0"/>
          </a:p>
          <a:p>
            <a:r>
              <a:rPr lang="en-US" dirty="0"/>
              <a:t>        // Creating an object of class B</a:t>
            </a:r>
          </a:p>
          <a:p>
            <a:r>
              <a:rPr lang="en-US" dirty="0"/>
              <a:t>        B obj = new B();</a:t>
            </a:r>
          </a:p>
          <a:p>
            <a:endParaRPr lang="en-US" dirty="0"/>
          </a:p>
          <a:p>
            <a:r>
              <a:rPr lang="en-US" dirty="0"/>
              <a:t>        // Calling the overridden default method</a:t>
            </a:r>
          </a:p>
          <a:p>
            <a:r>
              <a:rPr lang="en-US" dirty="0"/>
              <a:t>        </a:t>
            </a:r>
            <a:r>
              <a:rPr lang="en-US" dirty="0" err="1"/>
              <a:t>obj.display</a:t>
            </a:r>
            <a:r>
              <a:rPr lang="en-US" dirty="0"/>
              <a:t>();</a:t>
            </a:r>
          </a:p>
          <a:p>
            <a:r>
              <a:rPr lang="en-US" dirty="0"/>
              <a:t>    }</a:t>
            </a:r>
          </a:p>
          <a:p>
            <a:r>
              <a:rPr lang="en-US" dirty="0"/>
              <a:t>}</a:t>
            </a:r>
          </a:p>
          <a:p>
            <a:endParaRPr lang="en-US" dirty="0"/>
          </a:p>
          <a:p>
            <a:r>
              <a:rPr lang="en-US" dirty="0"/>
              <a:t>// Defining the interface A with a static and a default method</a:t>
            </a:r>
          </a:p>
          <a:p>
            <a:r>
              <a:rPr lang="en-US" dirty="0"/>
              <a:t>interface A {</a:t>
            </a:r>
          </a:p>
          <a:p>
            <a:r>
              <a:rPr lang="en-US" dirty="0"/>
              <a:t>    // Static method in the interface</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 Default method in the interface</a:t>
            </a:r>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a:p>
            <a:endParaRPr lang="en-US" dirty="0"/>
          </a:p>
          <a:p>
            <a:r>
              <a:rPr lang="en-US" dirty="0"/>
              <a:t>// Class B implementing the interface A</a:t>
            </a:r>
          </a:p>
          <a:p>
            <a:r>
              <a:rPr lang="en-US" dirty="0"/>
              <a:t>class B implements A {</a:t>
            </a:r>
          </a:p>
          <a:p>
            <a:r>
              <a:rPr lang="en-US" dirty="0"/>
              <a:t>    // Overriding the default method</a:t>
            </a:r>
          </a:p>
          <a:p>
            <a:r>
              <a:rPr lang="en-US" dirty="0"/>
              <a:t>    @Override</a:t>
            </a:r>
          </a:p>
          <a:p>
            <a:r>
              <a:rPr lang="en-US" dirty="0"/>
              <a:t>    public void display() {</a:t>
            </a:r>
          </a:p>
          <a:p>
            <a:r>
              <a:rPr lang="en-US" dirty="0"/>
              <a:t>        </a:t>
            </a:r>
            <a:r>
              <a:rPr lang="en-US" dirty="0" err="1"/>
              <a:t>System.out.println</a:t>
            </a:r>
            <a:r>
              <a:rPr lang="en-US" dirty="0"/>
              <a:t>("Default function overridden in class B");</a:t>
            </a:r>
          </a:p>
          <a:p>
            <a:r>
              <a:rPr lang="en-US" dirty="0"/>
              <a:t>    }</a:t>
            </a:r>
          </a:p>
          <a:p>
            <a:r>
              <a:rPr lang="en-US" dirty="0"/>
              <a:t>}</a:t>
            </a:r>
          </a:p>
          <a:p>
            <a:endParaRPr lang="en-US" dirty="0"/>
          </a:p>
        </p:txBody>
      </p:sp>
    </p:spTree>
    <p:extLst>
      <p:ext uri="{BB962C8B-B14F-4D97-AF65-F5344CB8AC3E}">
        <p14:creationId xmlns:p14="http://schemas.microsoft.com/office/powerpoint/2010/main" val="378582952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B632A-E426-0634-59FF-C10A31ABA4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B65C26-71DC-DB4E-B041-922FBEA89C24}"/>
              </a:ext>
            </a:extLst>
          </p:cNvPr>
          <p:cNvSpPr txBox="1"/>
          <p:nvPr/>
        </p:nvSpPr>
        <p:spPr>
          <a:xfrm>
            <a:off x="340056" y="107790"/>
            <a:ext cx="9225887" cy="72353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155. What are annotations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annotation is a tag that symbolizes the metadata associated with class, interface, methods, fields,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Annotations do not directly influence operations.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additional information carried by annotations is utilized by Java compiler and JVM.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156. Explain the difference between Struts 1 classes and Struts 2 classes.</a:t>
            </a:r>
          </a:p>
          <a:p>
            <a:pPr algn="just">
              <a:lnSpc>
                <a:spcPts val="2100"/>
              </a:lnSpc>
              <a:spcBef>
                <a:spcPts val="1650"/>
              </a:spcBef>
              <a:buNone/>
            </a:pPr>
            <a:r>
              <a:rPr lang="en-US" b="0" i="0" dirty="0">
                <a:solidFill>
                  <a:srgbClr val="3A3A3A"/>
                </a:solidFill>
                <a:effectLst/>
                <a:latin typeface="Roboto" panose="02000000000000000000" pitchFamily="2" charset="0"/>
              </a:rPr>
              <a:t>Struts 1 actions are singleton. So, all threads operate on the single action object, which makes it thread-unsafe.</a:t>
            </a:r>
          </a:p>
          <a:p>
            <a:pPr algn="just">
              <a:lnSpc>
                <a:spcPts val="2100"/>
              </a:lnSpc>
              <a:spcBef>
                <a:spcPts val="750"/>
              </a:spcBef>
              <a:buNone/>
            </a:pPr>
            <a:r>
              <a:rPr lang="en-US" b="0" i="0" dirty="0">
                <a:solidFill>
                  <a:srgbClr val="3A3A3A"/>
                </a:solidFill>
                <a:effectLst/>
                <a:latin typeface="Roboto" panose="02000000000000000000" pitchFamily="2" charset="0"/>
              </a:rPr>
              <a:t>Struts 2 actions are not singleton, and a new action object copy is created each time a new action request is made, making it thread-safe.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157. What is JAXP and JAXB?</a:t>
            </a:r>
          </a:p>
          <a:p>
            <a:pPr algn="just">
              <a:lnSpc>
                <a:spcPts val="2100"/>
              </a:lnSpc>
              <a:spcBef>
                <a:spcPts val="1650"/>
              </a:spcBef>
              <a:buNone/>
            </a:pPr>
            <a:r>
              <a:rPr lang="en-US" b="0" i="0" dirty="0">
                <a:solidFill>
                  <a:srgbClr val="3A3A3A"/>
                </a:solidFill>
                <a:effectLst/>
                <a:latin typeface="Roboto" panose="02000000000000000000" pitchFamily="2" charset="0"/>
              </a:rPr>
              <a:t>JAXP: It stands for Java API for XML Processing. This provides a common interface for creating and using </a:t>
            </a:r>
            <a:r>
              <a:rPr lang="en-US" b="0" i="0" u="none" strike="noStrike" dirty="0">
                <a:solidFill>
                  <a:srgbClr val="0F5A9E"/>
                </a:solidFill>
                <a:effectLst/>
                <a:latin typeface="Roboto" panose="02000000000000000000" pitchFamily="2" charset="0"/>
                <a:hlinkClick r:id="rId2"/>
              </a:rPr>
              <a:t>DOM</a:t>
            </a:r>
            <a:r>
              <a:rPr lang="en-US" b="0" i="0" dirty="0">
                <a:solidFill>
                  <a:srgbClr val="3A3A3A"/>
                </a:solidFill>
                <a:effectLst/>
                <a:latin typeface="Roboto" panose="02000000000000000000" pitchFamily="2" charset="0"/>
              </a:rPr>
              <a:t>, SAX, and XSLT APIs in Java regardless of which vendor’s implementation is actually being used.</a:t>
            </a:r>
          </a:p>
          <a:p>
            <a:pPr algn="just">
              <a:lnSpc>
                <a:spcPts val="2100"/>
              </a:lnSpc>
              <a:spcBef>
                <a:spcPts val="750"/>
              </a:spcBef>
              <a:buNone/>
            </a:pPr>
            <a:r>
              <a:rPr lang="en-US" b="0" i="0" dirty="0">
                <a:solidFill>
                  <a:srgbClr val="3A3A3A"/>
                </a:solidFill>
                <a:effectLst/>
                <a:latin typeface="Roboto" panose="02000000000000000000" pitchFamily="2" charset="0"/>
              </a:rPr>
              <a:t>JAXB: It stands for Java API for XML Binding. This standard defines a system for a script out of Java objects as XML and for creating Java objects from XML structures.</a:t>
            </a:r>
          </a:p>
        </p:txBody>
      </p:sp>
    </p:spTree>
    <p:extLst>
      <p:ext uri="{BB962C8B-B14F-4D97-AF65-F5344CB8AC3E}">
        <p14:creationId xmlns:p14="http://schemas.microsoft.com/office/powerpoint/2010/main" val="74837814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4E2DA-8324-99A2-1E0A-FCC67DB1966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8C7285-A59B-C05A-189F-374CEC6082DD}"/>
              </a:ext>
            </a:extLst>
          </p:cNvPr>
          <p:cNvSpPr txBox="1"/>
          <p:nvPr/>
        </p:nvSpPr>
        <p:spPr>
          <a:xfrm>
            <a:off x="2477069" y="116120"/>
            <a:ext cx="4954136" cy="66325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158. What is enumeration?</a:t>
            </a:r>
          </a:p>
          <a:p>
            <a:pPr algn="just">
              <a:lnSpc>
                <a:spcPts val="2100"/>
              </a:lnSpc>
              <a:spcBef>
                <a:spcPts val="1650"/>
              </a:spcBef>
              <a:buNone/>
            </a:pPr>
            <a:r>
              <a:rPr lang="en-US" b="0" i="0" dirty="0">
                <a:solidFill>
                  <a:srgbClr val="3A3A3A"/>
                </a:solidFill>
                <a:effectLst/>
                <a:latin typeface="Roboto" panose="02000000000000000000" pitchFamily="2" charset="0"/>
              </a:rPr>
              <a:t>It is a special data type used to define a fixed set of constants for a variable. This is typically used when the values being represented are known in advance and do not change over time.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159. What’s the base class of all exception classes?</a:t>
            </a:r>
          </a:p>
          <a:p>
            <a:pPr algn="just">
              <a:lnSpc>
                <a:spcPts val="2100"/>
              </a:lnSpc>
              <a:spcBef>
                <a:spcPts val="1650"/>
              </a:spcBef>
              <a:buNone/>
            </a:pPr>
            <a:r>
              <a:rPr lang="en-US" b="0" i="0" dirty="0" err="1">
                <a:solidFill>
                  <a:srgbClr val="3A3A3A"/>
                </a:solidFill>
                <a:effectLst/>
                <a:latin typeface="Roboto" panose="02000000000000000000" pitchFamily="2" charset="0"/>
              </a:rPr>
              <a:t>Java.Lang.throwable</a:t>
            </a:r>
            <a:r>
              <a:rPr lang="en-US" b="0" i="0" dirty="0">
                <a:solidFill>
                  <a:srgbClr val="3A3A3A"/>
                </a:solidFill>
                <a:effectLst/>
                <a:latin typeface="Roboto" panose="02000000000000000000" pitchFamily="2" charset="0"/>
              </a:rPr>
              <a:t>: It is the superclass of all exception classes, and all exception classes are derived from this base 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160. What is the use of a vector class?</a:t>
            </a:r>
          </a:p>
          <a:p>
            <a:pPr algn="just">
              <a:lnSpc>
                <a:spcPts val="2100"/>
              </a:lnSpc>
              <a:spcBef>
                <a:spcPts val="1650"/>
              </a:spcBef>
              <a:buNone/>
            </a:pPr>
            <a:r>
              <a:rPr lang="en-US" b="0" i="0" dirty="0">
                <a:solidFill>
                  <a:srgbClr val="3A3A3A"/>
                </a:solidFill>
                <a:effectLst/>
                <a:latin typeface="Roboto" panose="02000000000000000000" pitchFamily="2" charset="0"/>
              </a:rPr>
              <a:t>A vector class provides the ability to execute a growable array of objects. A vector proves to be very useful if you don’t know the size of the array in advance or if we need one that can change the size over the lifetime of a program.</a:t>
            </a:r>
          </a:p>
        </p:txBody>
      </p:sp>
    </p:spTree>
    <p:extLst>
      <p:ext uri="{BB962C8B-B14F-4D97-AF65-F5344CB8AC3E}">
        <p14:creationId xmlns:p14="http://schemas.microsoft.com/office/powerpoint/2010/main" val="177871441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72C2B-B55D-D78D-878D-87D8710983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2CC227-FECE-E3F1-4EA1-EDE0E88EB465}"/>
              </a:ext>
            </a:extLst>
          </p:cNvPr>
          <p:cNvSpPr txBox="1"/>
          <p:nvPr/>
        </p:nvSpPr>
        <p:spPr>
          <a:xfrm>
            <a:off x="2477069" y="-1616406"/>
            <a:ext cx="4954136" cy="10097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161. How does HashMap handle collisions, and what changes were introduced in Java 8 regarding this?</a:t>
            </a:r>
          </a:p>
          <a:p>
            <a:pPr algn="just">
              <a:lnSpc>
                <a:spcPts val="2100"/>
              </a:lnSpc>
              <a:spcBef>
                <a:spcPts val="1650"/>
              </a:spcBef>
              <a:buNone/>
            </a:pPr>
            <a:r>
              <a:rPr lang="en-US" b="0" i="0" dirty="0">
                <a:solidFill>
                  <a:srgbClr val="3A3A3A"/>
                </a:solidFill>
                <a:effectLst/>
                <a:latin typeface="Roboto" panose="02000000000000000000" pitchFamily="2" charset="0"/>
              </a:rPr>
              <a:t>In Java, a </a:t>
            </a: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stores key-value pairs in buckets. Each key hashes to a bucket based upon applying the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followed by a modulo operation against the array length.</a:t>
            </a:r>
          </a:p>
          <a:p>
            <a:pPr algn="l">
              <a:spcBef>
                <a:spcPts val="1650"/>
              </a:spcBef>
              <a:buNone/>
            </a:pPr>
            <a:r>
              <a:rPr lang="en-US" b="0" i="0" dirty="0">
                <a:solidFill>
                  <a:srgbClr val="3A3A3A"/>
                </a:solidFill>
                <a:effectLst/>
                <a:latin typeface="Roboto" panose="02000000000000000000" pitchFamily="2" charset="0"/>
              </a:rPr>
              <a:t>Collision Handling (Pre-Java 8):</a:t>
            </a:r>
          </a:p>
          <a:p>
            <a:pPr algn="just">
              <a:lnSpc>
                <a:spcPts val="2100"/>
              </a:lnSpc>
              <a:spcBef>
                <a:spcPts val="1650"/>
              </a:spcBef>
              <a:buNone/>
            </a:pPr>
            <a:r>
              <a:rPr lang="en-US" b="0" i="0" dirty="0">
                <a:solidFill>
                  <a:srgbClr val="3A3A3A"/>
                </a:solidFill>
                <a:effectLst/>
                <a:latin typeface="Roboto" panose="02000000000000000000" pitchFamily="2" charset="0"/>
              </a:rPr>
              <a:t>When several keys produce the same hash bucket index (a collision), Java stores entries in a singly </a:t>
            </a:r>
            <a:r>
              <a:rPr lang="en-US" b="0" i="0" u="none" strike="noStrike" dirty="0">
                <a:solidFill>
                  <a:srgbClr val="0F5A9E"/>
                </a:solidFill>
                <a:effectLst/>
                <a:latin typeface="Roboto" panose="02000000000000000000" pitchFamily="2" charset="0"/>
                <a:hlinkClick r:id="rId3"/>
              </a:rPr>
              <a:t>linked list</a:t>
            </a:r>
            <a:r>
              <a:rPr lang="en-US" b="0" i="0" dirty="0">
                <a:solidFill>
                  <a:srgbClr val="3A3A3A"/>
                </a:solidFill>
                <a:effectLst/>
                <a:latin typeface="Roboto" panose="02000000000000000000" pitchFamily="2" charset="0"/>
              </a:rPr>
              <a:t> at the index. In the worst-case lookup, if there are too many collisions, the performance slows to O(n).</a:t>
            </a:r>
          </a:p>
          <a:p>
            <a:pPr algn="l">
              <a:spcBef>
                <a:spcPts val="1650"/>
              </a:spcBef>
              <a:buNone/>
            </a:pPr>
            <a:r>
              <a:rPr lang="en-US" b="0" i="0" dirty="0">
                <a:solidFill>
                  <a:srgbClr val="3A3A3A"/>
                </a:solidFill>
                <a:effectLst/>
                <a:latin typeface="Roboto" panose="02000000000000000000" pitchFamily="2" charset="0"/>
              </a:rPr>
              <a:t>Java 8 Enhancement:</a:t>
            </a:r>
          </a:p>
          <a:p>
            <a:pPr algn="just">
              <a:lnSpc>
                <a:spcPts val="2100"/>
              </a:lnSpc>
              <a:spcBef>
                <a:spcPts val="1650"/>
              </a:spcBef>
              <a:buNone/>
            </a:pPr>
            <a:r>
              <a:rPr lang="en-US" b="0" i="0" dirty="0">
                <a:solidFill>
                  <a:srgbClr val="3A3A3A"/>
                </a:solidFill>
                <a:effectLst/>
                <a:latin typeface="Roboto" panose="02000000000000000000" pitchFamily="2" charset="0"/>
              </a:rPr>
              <a:t>Java 8 added a Tree-based data structure (Red-Black Tree) to solve performance problems in cases of frequent collisions.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a bucket’s linked list expands to a size larger than a certain limit (TREEIFY_THRESHOLD, typically 8), it is transformed to a tree, reducing lookup time from O(n) to O(log 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only happens if the array length (bucket array) is &gt;= 64; resizing is better than </a:t>
            </a:r>
            <a:r>
              <a:rPr lang="en-US" b="0" i="0" dirty="0" err="1">
                <a:solidFill>
                  <a:srgbClr val="3A3A3A"/>
                </a:solidFill>
                <a:effectLst/>
                <a:latin typeface="Roboto" panose="02000000000000000000" pitchFamily="2" charset="0"/>
              </a:rPr>
              <a:t>treeification</a:t>
            </a:r>
            <a:r>
              <a:rPr lang="en-US" b="0" i="0" dirty="0">
                <a:solidFill>
                  <a:srgbClr val="3A3A3A"/>
                </a:solidFill>
                <a:effectLst/>
                <a:latin typeface="Roboto" panose="02000000000000000000" pitchFamily="2" charset="0"/>
              </a:rPr>
              <a:t> in all other cases.</a:t>
            </a:r>
          </a:p>
          <a:p>
            <a:pPr algn="just">
              <a:lnSpc>
                <a:spcPts val="2100"/>
              </a:lnSpc>
              <a:spcBef>
                <a:spcPts val="1650"/>
              </a:spcBef>
              <a:buNone/>
            </a:pPr>
            <a:r>
              <a:rPr lang="en-US" b="0" i="0" dirty="0">
                <a:solidFill>
                  <a:srgbClr val="3A3A3A"/>
                </a:solidFill>
                <a:effectLst/>
                <a:latin typeface="Roboto" panose="02000000000000000000" pitchFamily="2" charset="0"/>
              </a:rPr>
              <a:t>Summary: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Before Java 8: Collision -&gt; Linked List -&gt; 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8+: Collision -&gt; Tree after threshold -&gt; O(log n)</a:t>
            </a:r>
          </a:p>
        </p:txBody>
      </p:sp>
    </p:spTree>
    <p:extLst>
      <p:ext uri="{BB962C8B-B14F-4D97-AF65-F5344CB8AC3E}">
        <p14:creationId xmlns:p14="http://schemas.microsoft.com/office/powerpoint/2010/main" val="321577138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ECF0-83BE-1C98-8F22-655A7184C3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23A91E-E08B-1BFA-E3A6-D984FD3C5ED4}"/>
              </a:ext>
            </a:extLst>
          </p:cNvPr>
          <p:cNvSpPr txBox="1"/>
          <p:nvPr/>
        </p:nvSpPr>
        <p:spPr>
          <a:xfrm>
            <a:off x="2477069" y="-1223991"/>
            <a:ext cx="4954136" cy="93128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162. Can Map interface extend the Collection interface in the Java Collections Framework?</a:t>
            </a:r>
          </a:p>
          <a:p>
            <a:pPr algn="just">
              <a:lnSpc>
                <a:spcPts val="2100"/>
              </a:lnSpc>
              <a:spcBef>
                <a:spcPts val="1650"/>
              </a:spcBef>
              <a:buNone/>
            </a:pPr>
            <a:r>
              <a:rPr lang="en-US" b="0" i="0" dirty="0">
                <a:solidFill>
                  <a:srgbClr val="3A3A3A"/>
                </a:solidFill>
                <a:effectLst/>
                <a:latin typeface="Roboto" panose="02000000000000000000" pitchFamily="2" charset="0"/>
              </a:rPr>
              <a:t>No, The Map interface is not compatible with the Collection interface, because Map requires a key as well as a value, for example, if we want to add a key–value pair, we will use put(Object key, Object value).</a:t>
            </a:r>
          </a:p>
          <a:p>
            <a:pPr algn="just">
              <a:lnSpc>
                <a:spcPts val="2100"/>
              </a:lnSpc>
              <a:spcBef>
                <a:spcPts val="750"/>
              </a:spcBef>
              <a:buNone/>
            </a:pPr>
            <a:r>
              <a:rPr lang="en-US" b="0" i="0" dirty="0">
                <a:solidFill>
                  <a:srgbClr val="3A3A3A"/>
                </a:solidFill>
                <a:effectLst/>
                <a:latin typeface="Roboto" panose="02000000000000000000" pitchFamily="2" charset="0"/>
              </a:rPr>
              <a:t>There are two parameters required to add an element to a HashMap object. In the Collection interface, add (Object o) has only one parameter.</a:t>
            </a:r>
          </a:p>
          <a:p>
            <a:pPr algn="just">
              <a:lnSpc>
                <a:spcPts val="2100"/>
              </a:lnSpc>
              <a:spcBef>
                <a:spcPts val="750"/>
              </a:spcBef>
              <a:buNone/>
            </a:pPr>
            <a:r>
              <a:rPr lang="en-US" b="0" i="0" dirty="0">
                <a:solidFill>
                  <a:srgbClr val="3A3A3A"/>
                </a:solidFill>
                <a:effectLst/>
                <a:latin typeface="Roboto" panose="02000000000000000000" pitchFamily="2" charset="0"/>
              </a:rPr>
              <a:t>The other reasons are: Map supports </a:t>
            </a:r>
            <a:r>
              <a:rPr lang="en-US" b="0" i="0" dirty="0" err="1">
                <a:solidFill>
                  <a:srgbClr val="3A3A3A"/>
                </a:solidFill>
                <a:effectLst/>
                <a:latin typeface="Roboto" panose="02000000000000000000" pitchFamily="2" charset="0"/>
              </a:rPr>
              <a:t>valueSet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keySet</a:t>
            </a:r>
            <a:r>
              <a:rPr lang="en-US" b="0" i="0" dirty="0">
                <a:solidFill>
                  <a:srgbClr val="3A3A3A"/>
                </a:solidFill>
                <a:effectLst/>
                <a:latin typeface="Roboto" panose="02000000000000000000" pitchFamily="2" charset="0"/>
              </a:rPr>
              <a:t>, and other suitable methods that have just different views from the Collection interface.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163. Explain memory management and garbage collection in Java.</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Java’s automatic </a:t>
            </a:r>
            <a:r>
              <a:rPr lang="en-US" b="0" i="0" u="none" strike="noStrike" dirty="0">
                <a:solidFill>
                  <a:srgbClr val="0F5A9E"/>
                </a:solidFill>
                <a:effectLst/>
                <a:latin typeface="Roboto" panose="02000000000000000000" pitchFamily="2" charset="0"/>
                <a:hlinkClick r:id="rId2"/>
              </a:rPr>
              <a:t>memory management system</a:t>
            </a:r>
            <a:r>
              <a:rPr lang="en-US" b="0" i="0" dirty="0">
                <a:solidFill>
                  <a:srgbClr val="3A3A3A"/>
                </a:solidFill>
                <a:effectLst/>
                <a:latin typeface="Roboto" panose="02000000000000000000" pitchFamily="2" charset="0"/>
              </a:rPr>
              <a:t>. It runs as a process that recovers memory from objects that will never be used again. Garbage collection is done by JVM, and it does tasks like allocating memory for objects, garbage collecting unused objects, and optimizing memory usage for performance enhancement. Various types of memory areas are used by JVM such as heap, stack, method area, and native method stacks to manage memory efficiently.</a:t>
            </a:r>
          </a:p>
        </p:txBody>
      </p:sp>
    </p:spTree>
    <p:extLst>
      <p:ext uri="{BB962C8B-B14F-4D97-AF65-F5344CB8AC3E}">
        <p14:creationId xmlns:p14="http://schemas.microsoft.com/office/powerpoint/2010/main" val="305845052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AE25-3EC6-F7D5-FC24-AFF22B9D2A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BB3A4E-08ED-9BAA-6F83-8B8C976E8B28}"/>
              </a:ext>
            </a:extLst>
          </p:cNvPr>
          <p:cNvSpPr txBox="1"/>
          <p:nvPr/>
        </p:nvSpPr>
        <p:spPr>
          <a:xfrm>
            <a:off x="2477069" y="704"/>
            <a:ext cx="4954136" cy="686341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164. What are the drawbacks of Java’s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Although garbage collection makes memory management easier, it has a few disadvantages: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Irregular Pause Durations: GC can suspend application threads (Stop-the-world events) that affect latency-sensitive applications.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CPU Overhead: Garbage collection takes CPU time, notably full GC cycles.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Less Control: A developer cannot exactly control when or where an object gets deallocated.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Performance tuning is needed: JVM flags need to be carefully tuned to let GC behave appropriately by adjusting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-XX:+UseG1GC.</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very powerful but requires appropriate configuration in enterprise or real-time Java applications.</a:t>
            </a:r>
          </a:p>
        </p:txBody>
      </p:sp>
    </p:spTree>
    <p:extLst>
      <p:ext uri="{BB962C8B-B14F-4D97-AF65-F5344CB8AC3E}">
        <p14:creationId xmlns:p14="http://schemas.microsoft.com/office/powerpoint/2010/main" val="265524632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4DA4A-FA49-6407-BA40-294C615D8E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AABD23-2CE1-9841-558E-1503463CC7D4}"/>
              </a:ext>
            </a:extLst>
          </p:cNvPr>
          <p:cNvSpPr txBox="1"/>
          <p:nvPr/>
        </p:nvSpPr>
        <p:spPr>
          <a:xfrm>
            <a:off x="2477069" y="-948274"/>
            <a:ext cx="4954136" cy="8761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165. What is the Java Memory Model and how is memory allocated?</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specifies the semantics of cooperation between threads via memory and the acceptable behaviors in concurrent programming. It is a standard that specifies reading and writing of variables by different threads within a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In memory allocation, this is how it usually happens in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memory: Holds objects and class instances. It is shared by all threads.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Stack memory: Holds function calls and local variables. It is thread-local.</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Holds class metadata, static data, and method code.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(Program Counter) Register: Identifies the current JVM instruction being processed.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 Manages the native (non-Java) methods.</a:t>
            </a:r>
          </a:p>
          <a:p>
            <a:pPr algn="just">
              <a:lnSpc>
                <a:spcPts val="2100"/>
              </a:lnSpc>
              <a:spcBef>
                <a:spcPts val="1650"/>
              </a:spcBef>
              <a:buNone/>
            </a:pPr>
            <a:r>
              <a:rPr lang="en-US" b="0" i="0" dirty="0">
                <a:solidFill>
                  <a:srgbClr val="3A3A3A"/>
                </a:solidFill>
                <a:effectLst/>
                <a:latin typeface="Roboto" panose="02000000000000000000" pitchFamily="2" charset="0"/>
              </a:rPr>
              <a:t>JMM factors in visibility, atomicity, and ordering guarantees between threads. JMM is critical within synchronized blocks, volatile variables, and thread safety features such as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73453544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D9332-2B87-FD85-50D0-70D1E803A8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2C3C9C-DB54-CFFC-9607-E645C0CBC356}"/>
              </a:ext>
            </a:extLst>
          </p:cNvPr>
          <p:cNvSpPr txBox="1"/>
          <p:nvPr/>
        </p:nvSpPr>
        <p:spPr>
          <a:xfrm>
            <a:off x="-1" y="0"/>
            <a:ext cx="10235821"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166. Explain the differences between minor, major, and full garbage collections in Java.</a:t>
            </a:r>
          </a:p>
        </p:txBody>
      </p:sp>
      <p:graphicFrame>
        <p:nvGraphicFramePr>
          <p:cNvPr id="4" name="Table 3">
            <a:extLst>
              <a:ext uri="{FF2B5EF4-FFF2-40B4-BE49-F238E27FC236}">
                <a16:creationId xmlns:a16="http://schemas.microsoft.com/office/drawing/2014/main" id="{A73DF82B-F7A1-2FEE-457D-60C67BF23098}"/>
              </a:ext>
            </a:extLst>
          </p:cNvPr>
          <p:cNvGraphicFramePr>
            <a:graphicFrameLocks noGrp="1"/>
          </p:cNvGraphicFramePr>
          <p:nvPr>
            <p:extLst>
              <p:ext uri="{D42A27DB-BD31-4B8C-83A1-F6EECF244321}">
                <p14:modId xmlns:p14="http://schemas.microsoft.com/office/powerpoint/2010/main" val="4266524859"/>
              </p:ext>
            </p:extLst>
          </p:nvPr>
        </p:nvGraphicFramePr>
        <p:xfrm>
          <a:off x="574912" y="965816"/>
          <a:ext cx="5808260" cy="4351338"/>
        </p:xfrm>
        <a:graphic>
          <a:graphicData uri="http://schemas.openxmlformats.org/drawingml/2006/table">
            <a:tbl>
              <a:tblPr/>
              <a:tblGrid>
                <a:gridCol w="1161652">
                  <a:extLst>
                    <a:ext uri="{9D8B030D-6E8A-4147-A177-3AD203B41FA5}">
                      <a16:colId xmlns:a16="http://schemas.microsoft.com/office/drawing/2014/main" val="4102552139"/>
                    </a:ext>
                  </a:extLst>
                </a:gridCol>
                <a:gridCol w="1161652">
                  <a:extLst>
                    <a:ext uri="{9D8B030D-6E8A-4147-A177-3AD203B41FA5}">
                      <a16:colId xmlns:a16="http://schemas.microsoft.com/office/drawing/2014/main" val="3076637635"/>
                    </a:ext>
                  </a:extLst>
                </a:gridCol>
                <a:gridCol w="1161652">
                  <a:extLst>
                    <a:ext uri="{9D8B030D-6E8A-4147-A177-3AD203B41FA5}">
                      <a16:colId xmlns:a16="http://schemas.microsoft.com/office/drawing/2014/main" val="714539829"/>
                    </a:ext>
                  </a:extLst>
                </a:gridCol>
                <a:gridCol w="1161652">
                  <a:extLst>
                    <a:ext uri="{9D8B030D-6E8A-4147-A177-3AD203B41FA5}">
                      <a16:colId xmlns:a16="http://schemas.microsoft.com/office/drawing/2014/main" val="34251248"/>
                    </a:ext>
                  </a:extLst>
                </a:gridCol>
                <a:gridCol w="1161652">
                  <a:extLst>
                    <a:ext uri="{9D8B030D-6E8A-4147-A177-3AD203B41FA5}">
                      <a16:colId xmlns:a16="http://schemas.microsoft.com/office/drawing/2014/main" val="1637472422"/>
                    </a:ext>
                  </a:extLst>
                </a:gridCol>
              </a:tblGrid>
              <a:tr h="248648">
                <a:tc>
                  <a:txBody>
                    <a:bodyPr/>
                    <a:lstStyle/>
                    <a:p>
                      <a:pPr algn="ctr" fontAlgn="t">
                        <a:buNone/>
                      </a:pPr>
                      <a:r>
                        <a:rPr lang="en-US" sz="1200" b="0">
                          <a:solidFill>
                            <a:srgbClr val="FFFFFF"/>
                          </a:solidFill>
                          <a:effectLst/>
                        </a:rPr>
                        <a:t>Type of GC</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Affected Area</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Frequency</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Pause Duration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Description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28528490"/>
                  </a:ext>
                </a:extLst>
              </a:tr>
              <a:tr h="1554049">
                <a:tc>
                  <a:txBody>
                    <a:bodyPr/>
                    <a:lstStyle/>
                    <a:p>
                      <a:pPr fontAlgn="t">
                        <a:buNone/>
                      </a:pPr>
                      <a:r>
                        <a:rPr lang="en-US" sz="1200" b="0">
                          <a:effectLst/>
                        </a:rPr>
                        <a:t>Minor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Young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Short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Clears short-lived objects from the Eden space and moves survivors to Survivor/Old gen.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88840060"/>
                  </a:ext>
                </a:extLst>
              </a:tr>
              <a:tr h="994592">
                <a:tc>
                  <a:txBody>
                    <a:bodyPr/>
                    <a:lstStyle/>
                    <a:p>
                      <a:pPr fontAlgn="t">
                        <a:buNone/>
                      </a:pPr>
                      <a:r>
                        <a:rPr lang="en-US" sz="1200" b="0">
                          <a:effectLst/>
                        </a:rPr>
                        <a:t>Major GC (Old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Old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Less 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Longer</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Cleans up long-lived objects. May involve compaction.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55844050"/>
                  </a:ext>
                </a:extLst>
              </a:tr>
              <a:tr h="1554049">
                <a:tc>
                  <a:txBody>
                    <a:bodyPr/>
                    <a:lstStyle/>
                    <a:p>
                      <a:pPr fontAlgn="t">
                        <a:buNone/>
                      </a:pPr>
                      <a:r>
                        <a:rPr lang="en-US" sz="1200" b="0">
                          <a:effectLst/>
                        </a:rPr>
                        <a:t>Full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Entire Heap (Young + Old)</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Rare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Longest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dirty="0">
                          <a:effectLst/>
                        </a:rPr>
                        <a:t>Cleans all memory areas, including </a:t>
                      </a:r>
                      <a:r>
                        <a:rPr lang="en-US" sz="1200" b="0" dirty="0" err="1">
                          <a:effectLst/>
                        </a:rPr>
                        <a:t>PermGen</a:t>
                      </a:r>
                      <a:r>
                        <a:rPr lang="en-US" sz="1200" b="0" dirty="0">
                          <a:effectLst/>
                        </a:rPr>
                        <a:t> / </a:t>
                      </a:r>
                      <a:r>
                        <a:rPr lang="en-US" sz="1200" b="0" dirty="0" err="1">
                          <a:effectLst/>
                        </a:rPr>
                        <a:t>Metaspace</a:t>
                      </a:r>
                      <a:r>
                        <a:rPr lang="en-US" sz="1200" dirty="0">
                          <a:effectLst/>
                        </a:rPr>
                        <a:t>. Most disruptive to application performance.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344440"/>
                  </a:ext>
                </a:extLst>
              </a:tr>
            </a:tbl>
          </a:graphicData>
        </a:graphic>
      </p:graphicFrame>
      <p:sp>
        <p:nvSpPr>
          <p:cNvPr id="6" name="TextBox 5">
            <a:extLst>
              <a:ext uri="{FF2B5EF4-FFF2-40B4-BE49-F238E27FC236}">
                <a16:creationId xmlns:a16="http://schemas.microsoft.com/office/drawing/2014/main" id="{864E7CD3-8755-B689-E935-623FDDFDF32A}"/>
              </a:ext>
            </a:extLst>
          </p:cNvPr>
          <p:cNvSpPr txBox="1"/>
          <p:nvPr/>
        </p:nvSpPr>
        <p:spPr>
          <a:xfrm>
            <a:off x="320722" y="5500385"/>
            <a:ext cx="514520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 Full GC typically includes both Minor and Major GCs and is usually triggered when memory is critically low or by </a:t>
            </a:r>
            <a:r>
              <a:rPr lang="en-US" b="0" i="0" dirty="0" err="1">
                <a:solidFill>
                  <a:srgbClr val="3A3A3A"/>
                </a:solidFill>
                <a:effectLst/>
                <a:latin typeface="Roboto" panose="02000000000000000000" pitchFamily="2" charset="0"/>
              </a:rPr>
              <a:t>System.gc</a:t>
            </a:r>
            <a:r>
              <a:rPr lang="en-US" b="0" i="0" dirty="0">
                <a:solidFill>
                  <a:srgbClr val="3A3A3A"/>
                </a:solidFill>
                <a:effectLst/>
                <a:latin typeface="Roboto" panose="02000000000000000000" pitchFamily="2" charset="0"/>
              </a:rPr>
              <a:t>() (if not disabled).</a:t>
            </a:r>
            <a:endParaRPr lang="en-US" dirty="0"/>
          </a:p>
        </p:txBody>
      </p:sp>
    </p:spTree>
    <p:extLst>
      <p:ext uri="{BB962C8B-B14F-4D97-AF65-F5344CB8AC3E}">
        <p14:creationId xmlns:p14="http://schemas.microsoft.com/office/powerpoint/2010/main" val="123177829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82CF-C7C7-FB4D-1CFC-9392326EAA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D6F8CA-7D4D-3473-5964-A393B63DD5A5}"/>
              </a:ext>
            </a:extLst>
          </p:cNvPr>
          <p:cNvSpPr txBox="1"/>
          <p:nvPr/>
        </p:nvSpPr>
        <p:spPr>
          <a:xfrm>
            <a:off x="2477069" y="-2146038"/>
            <a:ext cx="4954136" cy="111569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167. How can you identify major and minor garbage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You can identify various garbage collection modes by simply applying JVM flags and garbage collection monitoring tools.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Enable GC Logs:</a:t>
            </a:r>
          </a:p>
          <a:p>
            <a:pPr algn="l">
              <a:spcBef>
                <a:spcPts val="1125"/>
              </a:spcBef>
              <a:spcAft>
                <a:spcPts val="375"/>
              </a:spcAft>
              <a:buNone/>
            </a:pP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PrintGCDetails</a:t>
            </a: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PrintGCDateStamps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Xloggc:gc.log</a:t>
            </a:r>
            <a:endParaRPr lang="en-US" b="0" i="0" dirty="0">
              <a:solidFill>
                <a:srgbClr val="212529"/>
              </a:solidFill>
              <a:effectLst/>
              <a:latin typeface="Courier New" panose="02070309020205020404" pitchFamily="49" charset="0"/>
            </a:endParaRPr>
          </a:p>
          <a:p>
            <a:pPr algn="just">
              <a:lnSpc>
                <a:spcPts val="2100"/>
              </a:lnSpc>
              <a:spcBef>
                <a:spcPts val="1650"/>
              </a:spcBef>
              <a:buNone/>
            </a:pPr>
            <a:r>
              <a:rPr lang="en-US" b="0" i="0" dirty="0">
                <a:solidFill>
                  <a:srgbClr val="3A3A3A"/>
                </a:solidFill>
                <a:effectLst/>
                <a:latin typeface="Roboto" panose="02000000000000000000" pitchFamily="2" charset="0"/>
              </a:rPr>
              <a:t>This will help log minor GC (e.g., “</a:t>
            </a:r>
            <a:r>
              <a:rPr lang="en-US" b="0" i="0" dirty="0" err="1">
                <a:solidFill>
                  <a:srgbClr val="3A3A3A"/>
                </a:solidFill>
                <a:effectLst/>
                <a:latin typeface="Roboto" panose="02000000000000000000" pitchFamily="2" charset="0"/>
              </a:rPr>
              <a:t>ParNew</a:t>
            </a:r>
            <a:r>
              <a:rPr lang="en-US" b="0" i="0" dirty="0">
                <a:solidFill>
                  <a:srgbClr val="3A3A3A"/>
                </a:solidFill>
                <a:effectLst/>
                <a:latin typeface="Roboto" panose="02000000000000000000" pitchFamily="2" charset="0"/>
              </a:rPr>
              <a:t>”) and major/full GC (e.g., “Tenured”, “Full GC”) events.</a:t>
            </a:r>
          </a:p>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Use Java Monitoring Tools: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JConsole</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GCViewer</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GCEasy.io (log analyzer)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Look at GC Log Patterns: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Minor GC: Identified by logs like GC (Allocation Failure), Young Gen, PS Scavenge,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Major/Full GC: Appears as Full GC, CMS, or G1 Old Generation.</a:t>
            </a:r>
          </a:p>
          <a:p>
            <a:pPr algn="just">
              <a:lnSpc>
                <a:spcPts val="2100"/>
              </a:lnSpc>
              <a:spcBef>
                <a:spcPts val="1650"/>
              </a:spcBef>
              <a:buNone/>
            </a:pPr>
            <a:r>
              <a:rPr lang="en-US" b="0" i="0" dirty="0">
                <a:solidFill>
                  <a:srgbClr val="3A3A3A"/>
                </a:solidFill>
                <a:effectLst/>
                <a:latin typeface="Roboto" panose="02000000000000000000" pitchFamily="2" charset="0"/>
              </a:rPr>
              <a:t>Real-World Tip: Getting a knowledge of GC logs is essential to performance tuning. Recurring full GCs are usually a sign that there are memory leaks and/or heap size misconfigurations.</a:t>
            </a:r>
          </a:p>
        </p:txBody>
      </p:sp>
    </p:spTree>
    <p:extLst>
      <p:ext uri="{BB962C8B-B14F-4D97-AF65-F5344CB8AC3E}">
        <p14:creationId xmlns:p14="http://schemas.microsoft.com/office/powerpoint/2010/main" val="16562938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0BE0-6045-2B8C-D84A-534719B9F3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11EF370-666A-736E-F697-C251D04ADDC6}"/>
              </a:ext>
            </a:extLst>
          </p:cNvPr>
          <p:cNvSpPr txBox="1"/>
          <p:nvPr/>
        </p:nvSpPr>
        <p:spPr>
          <a:xfrm>
            <a:off x="2477069" y="-2544865"/>
            <a:ext cx="4954136" cy="119545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168. What is a memory leak in Java, and how does it affect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In Java, a memory leak happens when objects that are no longer needed remain referenced and thus are not garbage collected. Even with automatic garbage collection in Java, memory leaks are possible if objects are kept accessible by virtue of poor programming practices.</a:t>
            </a:r>
          </a:p>
          <a:p>
            <a:pPr algn="just">
              <a:lnSpc>
                <a:spcPts val="2100"/>
              </a:lnSpc>
              <a:spcBef>
                <a:spcPts val="750"/>
              </a:spcBef>
              <a:buNone/>
            </a:pPr>
            <a:r>
              <a:rPr lang="en-US" b="0" i="0" dirty="0">
                <a:solidFill>
                  <a:srgbClr val="3A3A3A"/>
                </a:solidFill>
                <a:effectLst/>
                <a:latin typeface="Roboto" panose="02000000000000000000" pitchFamily="2" charset="0"/>
              </a:rPr>
              <a:t>Impact on Garbage Collection: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reclaiming by the GC.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Slowly increases usage of the heap, causing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Triggers degradation in performance, prolonged GC pauses, and system instability.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169. What design pattern is commonly used to implement exception handling in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Chain of Responsibility pattern is frequently employed when dealing with exception handling. In Java, this is seen in the propagation of exceptions upwards in the call stack such that one or more catch statements catch the error based upon its type.</a:t>
            </a:r>
          </a:p>
          <a:p>
            <a:pPr algn="just">
              <a:lnSpc>
                <a:spcPts val="2100"/>
              </a:lnSpc>
              <a:spcBef>
                <a:spcPts val="750"/>
              </a:spcBef>
              <a:buNone/>
            </a:pPr>
            <a:r>
              <a:rPr lang="en-US" b="0" i="0" dirty="0">
                <a:solidFill>
                  <a:srgbClr val="3A3A3A"/>
                </a:solidFill>
                <a:effectLst/>
                <a:latin typeface="Roboto" panose="02000000000000000000" pitchFamily="2" charset="0"/>
              </a:rPr>
              <a:t>In this pattern: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Employees are waiting in a line of handlers.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Every handler will determine whether to service the request or to pass 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exception handling mirrors this by searching every catch block for a corresponding exception.</a:t>
            </a:r>
          </a:p>
          <a:p>
            <a:pPr algn="just">
              <a:lnSpc>
                <a:spcPts val="2100"/>
              </a:lnSpc>
              <a:spcBef>
                <a:spcPts val="1650"/>
              </a:spcBef>
              <a:buNone/>
            </a:pPr>
            <a:r>
              <a:rPr lang="en-US" b="0" i="0" dirty="0">
                <a:solidFill>
                  <a:srgbClr val="3A3A3A"/>
                </a:solidFill>
                <a:effectLst/>
                <a:latin typeface="Roboto" panose="02000000000000000000" pitchFamily="2" charset="0"/>
              </a:rPr>
              <a:t>It encourages separation of concerns and makes error-handling more modular and maintainable.</a:t>
            </a:r>
          </a:p>
        </p:txBody>
      </p:sp>
    </p:spTree>
    <p:extLst>
      <p:ext uri="{BB962C8B-B14F-4D97-AF65-F5344CB8AC3E}">
        <p14:creationId xmlns:p14="http://schemas.microsoft.com/office/powerpoint/2010/main" val="284411986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8DB71-9468-BD98-0D7F-A5E3A73D56A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964340-2BBF-4A6A-C718-23B3B810412E}"/>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170. What is the difference between synchronized blocks and </a:t>
            </a:r>
            <a:r>
              <a:rPr lang="en-US" b="0" i="0" dirty="0" err="1">
                <a:solidFill>
                  <a:srgbClr val="272C37"/>
                </a:solidFill>
                <a:effectLst/>
                <a:latin typeface="Roboto" panose="02000000000000000000" pitchFamily="2" charset="0"/>
              </a:rPr>
              <a:t>ReentrantLock</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synchronized block and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in Java are employed in </a:t>
            </a:r>
            <a:r>
              <a:rPr lang="en-US" b="0" i="0" u="none" strike="noStrike" dirty="0">
                <a:solidFill>
                  <a:srgbClr val="0F5A9E"/>
                </a:solidFill>
                <a:effectLst/>
                <a:latin typeface="Roboto" panose="02000000000000000000" pitchFamily="2" charset="0"/>
                <a:hlinkClick r:id="rId2"/>
              </a:rPr>
              <a:t>thread synchronization</a:t>
            </a:r>
            <a:r>
              <a:rPr lang="en-US" b="0" i="0" dirty="0">
                <a:solidFill>
                  <a:srgbClr val="3A3A3A"/>
                </a:solidFill>
                <a:effectLst/>
                <a:latin typeface="Roboto" panose="02000000000000000000" pitchFamily="2" charset="0"/>
              </a:rPr>
              <a:t>, but vary in terms of flexibility, functionality, and control:</a:t>
            </a:r>
          </a:p>
        </p:txBody>
      </p:sp>
      <p:graphicFrame>
        <p:nvGraphicFramePr>
          <p:cNvPr id="4" name="Table 3">
            <a:extLst>
              <a:ext uri="{FF2B5EF4-FFF2-40B4-BE49-F238E27FC236}">
                <a16:creationId xmlns:a16="http://schemas.microsoft.com/office/drawing/2014/main" id="{507B7A58-CEC2-6F6E-F941-6D8EBF14ECEE}"/>
              </a:ext>
            </a:extLst>
          </p:cNvPr>
          <p:cNvGraphicFramePr>
            <a:graphicFrameLocks noGrp="1"/>
          </p:cNvGraphicFramePr>
          <p:nvPr/>
        </p:nvGraphicFramePr>
        <p:xfrm>
          <a:off x="681038" y="2172494"/>
          <a:ext cx="8543925" cy="3657600"/>
        </p:xfrm>
        <a:graphic>
          <a:graphicData uri="http://schemas.openxmlformats.org/drawingml/2006/table">
            <a:tbl>
              <a:tblPr/>
              <a:tblGrid>
                <a:gridCol w="2847975">
                  <a:extLst>
                    <a:ext uri="{9D8B030D-6E8A-4147-A177-3AD203B41FA5}">
                      <a16:colId xmlns:a16="http://schemas.microsoft.com/office/drawing/2014/main" val="3581219644"/>
                    </a:ext>
                  </a:extLst>
                </a:gridCol>
                <a:gridCol w="2847975">
                  <a:extLst>
                    <a:ext uri="{9D8B030D-6E8A-4147-A177-3AD203B41FA5}">
                      <a16:colId xmlns:a16="http://schemas.microsoft.com/office/drawing/2014/main" val="2611762786"/>
                    </a:ext>
                  </a:extLst>
                </a:gridCol>
                <a:gridCol w="2847975">
                  <a:extLst>
                    <a:ext uri="{9D8B030D-6E8A-4147-A177-3AD203B41FA5}">
                      <a16:colId xmlns:a16="http://schemas.microsoft.com/office/drawing/2014/main" val="93157886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synchronized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ReentrantLock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610235792"/>
                  </a:ext>
                </a:extLst>
              </a:tr>
              <a:tr h="0">
                <a:tc>
                  <a:txBody>
                    <a:bodyPr/>
                    <a:lstStyle/>
                    <a:p>
                      <a:pPr fontAlgn="t">
                        <a:buNone/>
                      </a:pPr>
                      <a:r>
                        <a:rPr lang="en-US">
                          <a:effectLst/>
                        </a:rPr>
                        <a:t>Syntax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Implicit monitor lock (synchronized(obj))</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Explicit lock acquisition (lock.lock())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88755065"/>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0644605"/>
                  </a:ext>
                </a:extLst>
              </a:tr>
              <a:tr h="0">
                <a:tc>
                  <a:txBody>
                    <a:bodyPr/>
                    <a:lstStyle/>
                    <a:p>
                      <a:pPr fontAlgn="t">
                        <a:buNone/>
                      </a:pPr>
                      <a:r>
                        <a:rPr lang="en-US">
                          <a:effectLst/>
                        </a:rPr>
                        <a:t>Try-Lock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available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tryLock() with timeout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0555940"/>
                  </a:ext>
                </a:extLst>
              </a:tr>
              <a:tr h="0">
                <a:tc>
                  <a:txBody>
                    <a:bodyPr/>
                    <a:lstStyle/>
                    <a:p>
                      <a:pPr fontAlgn="t">
                        <a:buNone/>
                      </a:pPr>
                      <a:r>
                        <a:rPr lang="en-US">
                          <a:effectLst/>
                        </a:rPr>
                        <a:t>Interruptibility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interruptible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interrupt a waiting thread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99743279"/>
                  </a:ext>
                </a:extLst>
              </a:tr>
              <a:tr h="0">
                <a:tc>
                  <a:txBody>
                    <a:bodyPr/>
                    <a:lstStyle/>
                    <a:p>
                      <a:pPr fontAlgn="t">
                        <a:buNone/>
                      </a:pPr>
                      <a:r>
                        <a:rPr lang="en-US">
                          <a:effectLst/>
                        </a:rPr>
                        <a:t>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fairness policy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enforce 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06729714"/>
                  </a:ext>
                </a:extLst>
              </a:tr>
              <a:tr h="0">
                <a:tc>
                  <a:txBody>
                    <a:bodyPr/>
                    <a:lstStyle/>
                    <a:p>
                      <a:pPr fontAlgn="t">
                        <a:buNone/>
                      </a:pPr>
                      <a:r>
                        <a:rPr lang="en-US">
                          <a:effectLst/>
                        </a:rPr>
                        <a:t>Condition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Uses wait() / notify()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Supports multiple Condition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23347975"/>
                  </a:ext>
                </a:extLst>
              </a:tr>
            </a:tbl>
          </a:graphicData>
        </a:graphic>
      </p:graphicFrame>
      <p:sp>
        <p:nvSpPr>
          <p:cNvPr id="6" name="TextBox 5">
            <a:extLst>
              <a:ext uri="{FF2B5EF4-FFF2-40B4-BE49-F238E27FC236}">
                <a16:creationId xmlns:a16="http://schemas.microsoft.com/office/drawing/2014/main" id="{55E4871B-1F3B-CA64-CA21-30D45C74E00E}"/>
              </a:ext>
            </a:extLst>
          </p:cNvPr>
          <p:cNvSpPr txBox="1"/>
          <p:nvPr/>
        </p:nvSpPr>
        <p:spPr>
          <a:xfrm>
            <a:off x="170598" y="5830094"/>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synchronized in simple cases. Use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if more control is desired, e.g. in deadlock detection, try-locking, or fairness.</a:t>
            </a:r>
            <a:endParaRPr lang="en-US" dirty="0"/>
          </a:p>
        </p:txBody>
      </p:sp>
    </p:spTree>
    <p:extLst>
      <p:ext uri="{BB962C8B-B14F-4D97-AF65-F5344CB8AC3E}">
        <p14:creationId xmlns:p14="http://schemas.microsoft.com/office/powerpoint/2010/main" val="363375306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83A2-68F3-96CE-6D6B-D31014AD32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53CCFF-FBED-4A13-E38D-7693C9D82DF1}"/>
              </a:ext>
            </a:extLst>
          </p:cNvPr>
          <p:cNvSpPr txBox="1"/>
          <p:nvPr/>
        </p:nvSpPr>
        <p:spPr>
          <a:xfrm>
            <a:off x="2477069" y="-1281699"/>
            <a:ext cx="4954136" cy="942822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171. How does the Java Memory Model (JMM) ensure visibility and ordering of variables in multithreaded environments?</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provides ordering, atomicity, and visibility guarantees between threads by describing the memory interaction between threads (in the sense of shared variables). JMM addresses typical problems such as reordering and stale reads by compilers or processors.</a:t>
            </a:r>
          </a:p>
          <a:p>
            <a:pPr algn="just">
              <a:lnSpc>
                <a:spcPts val="2100"/>
              </a:lnSpc>
              <a:spcBef>
                <a:spcPts val="750"/>
              </a:spcBef>
              <a:buNone/>
            </a:pPr>
            <a:r>
              <a:rPr lang="en-US" b="0" i="0" dirty="0">
                <a:solidFill>
                  <a:srgbClr val="3A3A3A"/>
                </a:solidFill>
                <a:effectLst/>
                <a:latin typeface="Roboto" panose="02000000000000000000" pitchFamily="2" charset="0"/>
              </a:rPr>
              <a:t>Important concepts: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Visibility: Modifications done by a single thread to shared variables are not visible to others until appropriate synchronization.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Happens-before relationship: Guarantees memory operations to be viewed in the appropriate order.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start() occurs before the thread’s run.</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Synchronized and volatile fields define happens-before relationships.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Volatile variables: Provide visibility without locking but not atomicity.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Locks: Both mutual exclusion and visibility guarantees are enforced.</a:t>
            </a:r>
          </a:p>
          <a:p>
            <a:pPr algn="just">
              <a:lnSpc>
                <a:spcPts val="2100"/>
              </a:lnSpc>
              <a:spcBef>
                <a:spcPts val="1650"/>
              </a:spcBef>
              <a:buNone/>
            </a:pPr>
            <a:r>
              <a:rPr lang="en-US" b="0" i="0" dirty="0">
                <a:solidFill>
                  <a:srgbClr val="3A3A3A"/>
                </a:solidFill>
                <a:effectLst/>
                <a:latin typeface="Roboto" panose="02000000000000000000" pitchFamily="2" charset="0"/>
              </a:rPr>
              <a:t>The JMM renders concurrent program execution predictable and thread-safe by controlling instruction reordering and caching effects.</a:t>
            </a:r>
          </a:p>
        </p:txBody>
      </p:sp>
    </p:spTree>
    <p:extLst>
      <p:ext uri="{BB962C8B-B14F-4D97-AF65-F5344CB8AC3E}">
        <p14:creationId xmlns:p14="http://schemas.microsoft.com/office/powerpoint/2010/main" val="315191079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8FEE5-DE70-44AD-71CC-56F84C2652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B5442A-4475-C80B-D5F0-9FEC038F0B3D}"/>
              </a:ext>
            </a:extLst>
          </p:cNvPr>
          <p:cNvSpPr txBox="1"/>
          <p:nvPr/>
        </p:nvSpPr>
        <p:spPr>
          <a:xfrm>
            <a:off x="-1136" y="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172. How to properly benchmark Java code using JMH?</a:t>
            </a:r>
          </a:p>
          <a:p>
            <a:pPr algn="just">
              <a:lnSpc>
                <a:spcPts val="2100"/>
              </a:lnSpc>
              <a:spcBef>
                <a:spcPts val="1650"/>
              </a:spcBef>
              <a:buNone/>
            </a:pPr>
            <a:r>
              <a:rPr lang="en-US" b="0" i="0" dirty="0">
                <a:solidFill>
                  <a:srgbClr val="3A3A3A"/>
                </a:solidFill>
                <a:effectLst/>
                <a:latin typeface="Roboto" panose="02000000000000000000" pitchFamily="2" charset="0"/>
              </a:rPr>
              <a:t>To benchmark Java code reliably, use </a:t>
            </a:r>
            <a:r>
              <a:rPr lang="en-US" b="0" i="0" u="none" strike="noStrike" dirty="0">
                <a:solidFill>
                  <a:srgbClr val="0F5A9E"/>
                </a:solidFill>
                <a:effectLst/>
                <a:latin typeface="Roboto" panose="02000000000000000000" pitchFamily="2" charset="0"/>
                <a:hlinkClick r:id="rId2"/>
              </a:rPr>
              <a:t>JMH (Java Microbenchmark Harness)</a:t>
            </a:r>
            <a:r>
              <a:rPr lang="en-US" b="0" i="0" dirty="0">
                <a:solidFill>
                  <a:srgbClr val="3A3A3A"/>
                </a:solidFill>
                <a:effectLst/>
                <a:latin typeface="Roboto" panose="02000000000000000000" pitchFamily="2" charset="0"/>
              </a:rPr>
              <a:t>, a toolkit developed by the same team that maintains the JVM. JMH is generally created to prevent typical benchmarking issues such as loop unrolling, JVM warm-up effects, and dead-code elimination.</a:t>
            </a:r>
          </a:p>
          <a:p>
            <a:pPr algn="just">
              <a:lnSpc>
                <a:spcPts val="2100"/>
              </a:lnSpc>
              <a:spcBef>
                <a:spcPts val="750"/>
              </a:spcBef>
              <a:buNone/>
            </a:pPr>
            <a:r>
              <a:rPr lang="en-US" b="0" i="0" dirty="0">
                <a:solidFill>
                  <a:srgbClr val="3A3A3A"/>
                </a:solidFill>
                <a:effectLst/>
                <a:latin typeface="Roboto" panose="02000000000000000000" pitchFamily="2" charset="0"/>
              </a:rPr>
              <a:t>Steps to benchmark code using JMH: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Annotate the method to be benchmarked with @Benchmark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@Warmup, @Measurement, and @BenchmarkMode for configuration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the benchmark via a main() method or Maven plugin</a:t>
            </a:r>
          </a:p>
          <a:p>
            <a:pPr algn="just">
              <a:lnSpc>
                <a:spcPts val="2100"/>
              </a:lnSpc>
              <a:spcBef>
                <a:spcPts val="1650"/>
              </a:spcBef>
              <a:buNone/>
            </a:pPr>
            <a:r>
              <a:rPr lang="en-US" b="0" i="0" dirty="0">
                <a:solidFill>
                  <a:srgbClr val="3A3A3A"/>
                </a:solidFill>
                <a:effectLst/>
                <a:latin typeface="Roboto" panose="02000000000000000000" pitchFamily="2" charset="0"/>
              </a:rPr>
              <a:t>Example (JMH requires setup via Maven or Gradle):</a:t>
            </a:r>
          </a:p>
        </p:txBody>
      </p:sp>
      <p:sp>
        <p:nvSpPr>
          <p:cNvPr id="5" name="TextBox 4">
            <a:extLst>
              <a:ext uri="{FF2B5EF4-FFF2-40B4-BE49-F238E27FC236}">
                <a16:creationId xmlns:a16="http://schemas.microsoft.com/office/drawing/2014/main" id="{6873CC4B-E3B0-75CC-D963-14F863C6F6C1}"/>
              </a:ext>
            </a:extLst>
          </p:cNvPr>
          <p:cNvSpPr txBox="1"/>
          <p:nvPr/>
        </p:nvSpPr>
        <p:spPr>
          <a:xfrm>
            <a:off x="4756246" y="169277"/>
            <a:ext cx="4981432" cy="5909310"/>
          </a:xfrm>
          <a:prstGeom prst="rect">
            <a:avLst/>
          </a:prstGeom>
          <a:noFill/>
        </p:spPr>
        <p:txBody>
          <a:bodyPr wrap="square">
            <a:spAutoFit/>
          </a:bodyPr>
          <a:lstStyle/>
          <a:p>
            <a:r>
              <a:rPr lang="en-US" dirty="0"/>
              <a:t>import </a:t>
            </a:r>
            <a:r>
              <a:rPr lang="en-US" dirty="0" err="1"/>
              <a:t>org.openjdk.jmh.annotations</a:t>
            </a:r>
            <a:r>
              <a:rPr lang="en-US" dirty="0"/>
              <a:t>.*;</a:t>
            </a:r>
          </a:p>
          <a:p>
            <a:r>
              <a:rPr lang="en-US" dirty="0"/>
              <a:t>import </a:t>
            </a:r>
            <a:r>
              <a:rPr lang="en-US" dirty="0" err="1"/>
              <a:t>java.util.concurrent.TimeUnit</a:t>
            </a:r>
            <a:r>
              <a:rPr lang="en-US" dirty="0"/>
              <a:t>;</a:t>
            </a:r>
          </a:p>
          <a:p>
            <a:r>
              <a:rPr lang="en-US" dirty="0"/>
              <a:t>import </a:t>
            </a:r>
            <a:r>
              <a:rPr lang="en-US" dirty="0" err="1"/>
              <a:t>java.util.ArrayList</a:t>
            </a:r>
            <a:r>
              <a:rPr lang="en-US" dirty="0"/>
              <a:t>;</a:t>
            </a:r>
          </a:p>
          <a:p>
            <a:r>
              <a:rPr lang="en-US" dirty="0"/>
              <a:t>import </a:t>
            </a:r>
            <a:r>
              <a:rPr lang="en-US" dirty="0" err="1"/>
              <a:t>java.util.List</a:t>
            </a:r>
            <a:r>
              <a:rPr lang="en-US" dirty="0"/>
              <a:t>;</a:t>
            </a:r>
          </a:p>
          <a:p>
            <a:endParaRPr lang="en-US" dirty="0"/>
          </a:p>
          <a:p>
            <a:r>
              <a:rPr lang="en-US" dirty="0"/>
              <a:t>@BenchmarkMode(Mode.Throughput)</a:t>
            </a:r>
          </a:p>
          <a:p>
            <a:r>
              <a:rPr lang="en-US" dirty="0"/>
              <a:t>@OutputTimeUnit(TimeUnit.MILLISECONDS)</a:t>
            </a:r>
          </a:p>
          <a:p>
            <a:r>
              <a:rPr lang="en-US" dirty="0"/>
              <a:t>@State(Scope.Thread)</a:t>
            </a:r>
          </a:p>
          <a:p>
            <a:r>
              <a:rPr lang="en-US" dirty="0"/>
              <a:t>public class </a:t>
            </a:r>
            <a:r>
              <a:rPr lang="en-US" dirty="0" err="1"/>
              <a:t>MyBenchmark</a:t>
            </a:r>
            <a:r>
              <a:rPr lang="en-US" dirty="0"/>
              <a:t> {</a:t>
            </a:r>
          </a:p>
          <a:p>
            <a:r>
              <a:rPr lang="en-US" dirty="0"/>
              <a:t>    private List&lt;String&gt; list;</a:t>
            </a:r>
          </a:p>
          <a:p>
            <a:endParaRPr lang="en-US" dirty="0"/>
          </a:p>
          <a:p>
            <a:r>
              <a:rPr lang="en-US" dirty="0"/>
              <a:t>    @Setup(Level.Invocation)</a:t>
            </a:r>
          </a:p>
          <a:p>
            <a:r>
              <a:rPr lang="en-US" dirty="0"/>
              <a:t>    public void setup() {</a:t>
            </a:r>
          </a:p>
          <a:p>
            <a:r>
              <a:rPr lang="en-US" dirty="0"/>
              <a:t>        list = new </a:t>
            </a:r>
            <a:r>
              <a:rPr lang="en-US" dirty="0" err="1"/>
              <a:t>ArrayList</a:t>
            </a:r>
            <a:r>
              <a:rPr lang="en-US" dirty="0"/>
              <a:t>&lt;&gt;();</a:t>
            </a:r>
          </a:p>
          <a:p>
            <a:r>
              <a:rPr lang="en-US" dirty="0"/>
              <a:t>    }</a:t>
            </a:r>
          </a:p>
          <a:p>
            <a:endParaRPr lang="en-US" dirty="0"/>
          </a:p>
          <a:p>
            <a:r>
              <a:rPr lang="en-US" dirty="0"/>
              <a:t>    @Benchmark</a:t>
            </a:r>
          </a:p>
          <a:p>
            <a:r>
              <a:rPr lang="en-US" dirty="0"/>
              <a:t>    public void </a:t>
            </a:r>
            <a:r>
              <a:rPr lang="en-US" dirty="0" err="1"/>
              <a:t>testAdd</a:t>
            </a:r>
            <a:r>
              <a:rPr lang="en-US" dirty="0"/>
              <a:t>() {</a:t>
            </a:r>
          </a:p>
          <a:p>
            <a:r>
              <a:rPr lang="en-US" dirty="0"/>
              <a:t>        </a:t>
            </a:r>
            <a:r>
              <a:rPr lang="en-US" dirty="0" err="1"/>
              <a:t>list.add</a:t>
            </a:r>
            <a:r>
              <a:rPr lang="en-US" dirty="0"/>
              <a:t>("item");</a:t>
            </a:r>
          </a:p>
          <a:p>
            <a:r>
              <a:rPr lang="en-US" dirty="0"/>
              <a:t>    }</a:t>
            </a:r>
          </a:p>
          <a:p>
            <a:r>
              <a:rPr lang="en-US" dirty="0"/>
              <a:t>}</a:t>
            </a:r>
          </a:p>
        </p:txBody>
      </p:sp>
      <p:sp>
        <p:nvSpPr>
          <p:cNvPr id="7" name="TextBox 6">
            <a:extLst>
              <a:ext uri="{FF2B5EF4-FFF2-40B4-BE49-F238E27FC236}">
                <a16:creationId xmlns:a16="http://schemas.microsoft.com/office/drawing/2014/main" id="{AF49AB4C-EA8B-E405-A2D5-77C9DFC82AB5}"/>
              </a:ext>
            </a:extLst>
          </p:cNvPr>
          <p:cNvSpPr txBox="1"/>
          <p:nvPr/>
        </p:nvSpPr>
        <p:spPr>
          <a:xfrm>
            <a:off x="5192973" y="5370701"/>
            <a:ext cx="5042847"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JMH-based code is only </a:t>
            </a:r>
            <a:r>
              <a:rPr lang="en-US" b="0" i="0" dirty="0" err="1">
                <a:solidFill>
                  <a:srgbClr val="3A3A3A"/>
                </a:solidFill>
                <a:effectLst/>
                <a:latin typeface="Roboto" panose="02000000000000000000" pitchFamily="2" charset="0"/>
              </a:rPr>
              <a:t>executabe</a:t>
            </a:r>
            <a:r>
              <a:rPr lang="en-US" b="0" i="0" dirty="0">
                <a:solidFill>
                  <a:srgbClr val="3A3A3A"/>
                </a:solidFill>
                <a:effectLst/>
                <a:latin typeface="Roboto" panose="02000000000000000000" pitchFamily="2" charset="0"/>
              </a:rPr>
              <a:t> with the help of the JMH plugin (</a:t>
            </a:r>
            <a:r>
              <a:rPr lang="en-US" b="0" i="0" dirty="0" err="1">
                <a:solidFill>
                  <a:srgbClr val="3A3A3A"/>
                </a:solidFill>
                <a:effectLst/>
                <a:latin typeface="Roboto" panose="02000000000000000000" pitchFamily="2" charset="0"/>
              </a:rPr>
              <a:t>mvn</a:t>
            </a:r>
            <a:r>
              <a:rPr lang="en-US" b="0" i="0" dirty="0">
                <a:solidFill>
                  <a:srgbClr val="3A3A3A"/>
                </a:solidFill>
                <a:effectLst/>
                <a:latin typeface="Roboto" panose="02000000000000000000" pitchFamily="2" charset="0"/>
              </a:rPr>
              <a:t> clean install; java -jar target/benchmarks.jar). They cannot be run in online IDEs such as </a:t>
            </a:r>
            <a:r>
              <a:rPr lang="en-US" b="0" i="0" dirty="0" err="1">
                <a:solidFill>
                  <a:srgbClr val="3A3A3A"/>
                </a:solidFill>
                <a:effectLst/>
                <a:latin typeface="Roboto" panose="02000000000000000000" pitchFamily="2" charset="0"/>
              </a:rPr>
              <a:t>JDoodle</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Replit</a:t>
            </a:r>
            <a:r>
              <a:rPr lang="en-US" b="0" i="0" dirty="0">
                <a:solidFill>
                  <a:srgbClr val="3A3A3A"/>
                </a:solidFill>
                <a:effectLst/>
                <a:latin typeface="Roboto" panose="02000000000000000000" pitchFamily="2" charset="0"/>
              </a:rPr>
              <a:t> because of the requirements of annotation processing and build tool dependencies.</a:t>
            </a:r>
            <a:endParaRPr lang="en-US" dirty="0"/>
          </a:p>
        </p:txBody>
      </p:sp>
    </p:spTree>
    <p:extLst>
      <p:ext uri="{BB962C8B-B14F-4D97-AF65-F5344CB8AC3E}">
        <p14:creationId xmlns:p14="http://schemas.microsoft.com/office/powerpoint/2010/main" val="231575641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F1E76-B0DB-8BA8-24F9-54B0E4713B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ED49B6-C717-A9EA-0301-FC53F3EF0A7B}"/>
              </a:ext>
            </a:extLst>
          </p:cNvPr>
          <p:cNvSpPr txBox="1"/>
          <p:nvPr/>
        </p:nvSpPr>
        <p:spPr>
          <a:xfrm>
            <a:off x="2477069" y="-2930868"/>
            <a:ext cx="4954136" cy="1272656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173. What are the advantages and potential pitfalls of using thread pools in Java?</a:t>
            </a:r>
          </a:p>
          <a:p>
            <a:pPr algn="just">
              <a:lnSpc>
                <a:spcPts val="2100"/>
              </a:lnSpc>
              <a:spcBef>
                <a:spcPts val="1650"/>
              </a:spcBef>
              <a:buNone/>
            </a:pPr>
            <a:r>
              <a:rPr lang="en-US" b="0" i="0" dirty="0">
                <a:solidFill>
                  <a:srgbClr val="3A3A3A"/>
                </a:solidFill>
                <a:effectLst/>
                <a:latin typeface="Roboto" panose="02000000000000000000" pitchFamily="2" charset="0"/>
              </a:rPr>
              <a:t>Thread pools, usually established with the help of Executors, maintain a pool of reusable threads to carry out work. They enhance execution efficiency and resource usage, but if misconfigured, have hidden dangers.</a:t>
            </a:r>
          </a:p>
          <a:p>
            <a:pPr algn="l">
              <a:spcBef>
                <a:spcPts val="1650"/>
              </a:spcBef>
              <a:buNone/>
            </a:pPr>
            <a:r>
              <a:rPr lang="en-US" b="0" i="0" dirty="0">
                <a:solidFill>
                  <a:srgbClr val="3A3A3A"/>
                </a:solidFill>
                <a:effectLst/>
                <a:latin typeface="Roboto" panose="02000000000000000000" pitchFamily="2" charset="0"/>
              </a:rPr>
              <a:t>Advantages: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Efficient use of resources: The threads are reused, minimizing thread creation cost.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scalability: Supports many concurrent activities without overloading system resources.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Queuing of tasks and efficient execution of them.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Improved control: You can adjust thread limits, keep-alive intervals, and rejection policies.</a:t>
            </a:r>
          </a:p>
          <a:p>
            <a:pPr algn="l">
              <a:spcBef>
                <a:spcPts val="1650"/>
              </a:spcBef>
              <a:buNone/>
            </a:pPr>
            <a:r>
              <a:rPr lang="en-US" b="0" i="0" dirty="0">
                <a:solidFill>
                  <a:srgbClr val="3A3A3A"/>
                </a:solidFill>
                <a:effectLst/>
                <a:latin typeface="Roboto" panose="02000000000000000000" pitchFamily="2" charset="0"/>
              </a:rPr>
              <a:t>Drawbacks: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Improper sizing: Too few threads -&gt; underutilization; too many -&gt; CPU thrashing or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Unbounded queues: Have the potential to cause memory issues if tasks accumulate faster than they can be processed.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 leakage: When threads block forever, threads are held busy, impacting system responsiveness.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Complex error handling: Demands explicit exception handling within tasks to prevent silent failures.</a:t>
            </a:r>
          </a:p>
          <a:p>
            <a:pPr algn="just">
              <a:lnSpc>
                <a:spcPts val="2100"/>
              </a:lnSpc>
              <a:spcBef>
                <a:spcPts val="1650"/>
              </a:spcBef>
              <a:buNone/>
            </a:pPr>
            <a:r>
              <a:rPr lang="en-US" b="0" i="0" dirty="0">
                <a:solidFill>
                  <a:srgbClr val="3A3A3A"/>
                </a:solidFill>
                <a:effectLst/>
                <a:latin typeface="Roboto" panose="02000000000000000000" pitchFamily="2" charset="0"/>
              </a:rPr>
              <a:t>Use thread pools with optimal usage by configuring them using </a:t>
            </a:r>
            <a:r>
              <a:rPr lang="en-US" b="0" i="0" dirty="0" err="1">
                <a:solidFill>
                  <a:srgbClr val="3A3A3A"/>
                </a:solidFill>
                <a:effectLst/>
                <a:latin typeface="Roboto" panose="02000000000000000000" pitchFamily="2" charset="0"/>
              </a:rPr>
              <a:t>ThreadPoolExecutor</a:t>
            </a:r>
            <a:r>
              <a:rPr lang="en-US" b="0" i="0" dirty="0">
                <a:solidFill>
                  <a:srgbClr val="3A3A3A"/>
                </a:solidFill>
                <a:effectLst/>
                <a:latin typeface="Roboto" panose="02000000000000000000" pitchFamily="2" charset="0"/>
              </a:rPr>
              <a:t> and measuring the metrics in production.</a:t>
            </a:r>
          </a:p>
        </p:txBody>
      </p:sp>
    </p:spTree>
    <p:extLst>
      <p:ext uri="{BB962C8B-B14F-4D97-AF65-F5344CB8AC3E}">
        <p14:creationId xmlns:p14="http://schemas.microsoft.com/office/powerpoint/2010/main" val="117877139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DCA2E-EF59-6392-B731-0B1F598650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506F97-E273-F13A-7DA2-A70E35A21F7F}"/>
              </a:ext>
            </a:extLst>
          </p:cNvPr>
          <p:cNvSpPr txBox="1"/>
          <p:nvPr/>
        </p:nvSpPr>
        <p:spPr>
          <a:xfrm>
            <a:off x="0" y="0"/>
            <a:ext cx="4954136" cy="6435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174. Explain the concept of false sharing in multithreaded applications and how it affects performance.</a:t>
            </a:r>
          </a:p>
          <a:p>
            <a:pPr algn="just">
              <a:lnSpc>
                <a:spcPts val="2100"/>
              </a:lnSpc>
              <a:spcBef>
                <a:spcPts val="1650"/>
              </a:spcBef>
              <a:buNone/>
            </a:pPr>
            <a:r>
              <a:rPr lang="en-US" b="0" i="0" dirty="0">
                <a:solidFill>
                  <a:srgbClr val="3A3A3A"/>
                </a:solidFill>
                <a:effectLst/>
                <a:latin typeface="Roboto" panose="02000000000000000000" pitchFamily="2" charset="0"/>
              </a:rPr>
              <a:t>False sharing is a performance-degrading occurrence where several threads write to variables that happen to be stored near together in memory (on the same CPU cache line) even if the threads are operating on entirely different variables.</a:t>
            </a:r>
          </a:p>
          <a:p>
            <a:pPr algn="just">
              <a:lnSpc>
                <a:spcPts val="2100"/>
              </a:lnSpc>
              <a:spcBef>
                <a:spcPts val="750"/>
              </a:spcBef>
              <a:buNone/>
            </a:pPr>
            <a:r>
              <a:rPr lang="en-US" b="0" i="0" dirty="0">
                <a:solidFill>
                  <a:srgbClr val="3A3A3A"/>
                </a:solidFill>
                <a:effectLst/>
                <a:latin typeface="Roboto" panose="02000000000000000000" pitchFamily="2" charset="0"/>
              </a:rPr>
              <a:t>Although logically unrelated, all the variables are allocated in a cache line, and when a thread updates a variable, the entire cache line is invalidated with: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Constant cache invalidation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Excessive memory traffic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Decreased CPU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Increased contention</a:t>
            </a:r>
          </a:p>
          <a:p>
            <a:pPr algn="l">
              <a:spcBef>
                <a:spcPts val="1650"/>
              </a:spcBef>
              <a:buNone/>
            </a:pPr>
            <a:r>
              <a:rPr lang="en-US" b="0" i="0" dirty="0">
                <a:solidFill>
                  <a:srgbClr val="3A3A3A"/>
                </a:solidFill>
                <a:effectLst/>
                <a:latin typeface="Roboto" panose="02000000000000000000" pitchFamily="2" charset="0"/>
              </a:rPr>
              <a:t>Example Scenario:</a:t>
            </a:r>
          </a:p>
        </p:txBody>
      </p:sp>
      <p:sp>
        <p:nvSpPr>
          <p:cNvPr id="5" name="TextBox 4">
            <a:extLst>
              <a:ext uri="{FF2B5EF4-FFF2-40B4-BE49-F238E27FC236}">
                <a16:creationId xmlns:a16="http://schemas.microsoft.com/office/drawing/2014/main" id="{965DE275-3DF2-3A26-0449-EA562ED18AAA}"/>
              </a:ext>
            </a:extLst>
          </p:cNvPr>
          <p:cNvSpPr txBox="1"/>
          <p:nvPr/>
        </p:nvSpPr>
        <p:spPr>
          <a:xfrm>
            <a:off x="5220270" y="286940"/>
            <a:ext cx="4981432" cy="1200329"/>
          </a:xfrm>
          <a:prstGeom prst="rect">
            <a:avLst/>
          </a:prstGeom>
          <a:noFill/>
        </p:spPr>
        <p:txBody>
          <a:bodyPr wrap="square">
            <a:spAutoFit/>
          </a:bodyPr>
          <a:lstStyle/>
          <a:p>
            <a:r>
              <a:rPr lang="en-US" dirty="0"/>
              <a:t>class Data {</a:t>
            </a:r>
          </a:p>
          <a:p>
            <a:r>
              <a:rPr lang="en-US" dirty="0"/>
              <a:t>    public volatile long x = 0; // Thread 1</a:t>
            </a:r>
          </a:p>
          <a:p>
            <a:r>
              <a:rPr lang="en-US" dirty="0"/>
              <a:t>    public volatile long y = 0; // Thread 2</a:t>
            </a:r>
          </a:p>
          <a:p>
            <a:r>
              <a:rPr lang="en-US" dirty="0"/>
              <a:t>}</a:t>
            </a:r>
          </a:p>
        </p:txBody>
      </p:sp>
      <p:sp>
        <p:nvSpPr>
          <p:cNvPr id="9" name="TextBox 8">
            <a:extLst>
              <a:ext uri="{FF2B5EF4-FFF2-40B4-BE49-F238E27FC236}">
                <a16:creationId xmlns:a16="http://schemas.microsoft.com/office/drawing/2014/main" id="{D6098395-8134-C552-046A-EB7AB0B9FF48}"/>
              </a:ext>
            </a:extLst>
          </p:cNvPr>
          <p:cNvSpPr txBox="1"/>
          <p:nvPr/>
        </p:nvSpPr>
        <p:spPr>
          <a:xfrm>
            <a:off x="5390866" y="1808187"/>
            <a:ext cx="3800902" cy="4626908"/>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If x and y are in the same cache line, updates by both threads cause false sharing.</a:t>
            </a:r>
          </a:p>
          <a:p>
            <a:pPr algn="l">
              <a:spcBef>
                <a:spcPts val="1650"/>
              </a:spcBef>
              <a:buNone/>
            </a:pPr>
            <a:r>
              <a:rPr lang="en-US" b="0" i="0" dirty="0">
                <a:solidFill>
                  <a:srgbClr val="3A3A3A"/>
                </a:solidFill>
                <a:effectLst/>
                <a:latin typeface="Roboto" panose="02000000000000000000" pitchFamily="2" charset="0"/>
              </a:rPr>
              <a:t>Solution: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Padding variables: Insert dummy fields to distinguish variables.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the @Contended annotation (Java 8+ with -XX:-</a:t>
            </a:r>
            <a:r>
              <a:rPr lang="en-US" b="0" i="0" dirty="0" err="1">
                <a:solidFill>
                  <a:srgbClr val="3A3A3A"/>
                </a:solidFill>
                <a:effectLst/>
                <a:latin typeface="Roboto" panose="02000000000000000000" pitchFamily="2" charset="0"/>
              </a:rPr>
              <a:t>RestrictContended</a:t>
            </a:r>
            <a:r>
              <a:rPr lang="en-US" b="0" i="0" dirty="0">
                <a:solidFill>
                  <a:srgbClr val="3A3A3A"/>
                </a:solidFill>
                <a:effectLst/>
                <a:latin typeface="Roboto" panose="02000000000000000000" pitchFamily="2" charset="0"/>
              </a:rPr>
              <a:t> flag) to avoid false.</a:t>
            </a:r>
          </a:p>
          <a:p>
            <a:pPr algn="just">
              <a:lnSpc>
                <a:spcPts val="2100"/>
              </a:lnSpc>
              <a:spcBef>
                <a:spcPts val="1650"/>
              </a:spcBef>
              <a:buNone/>
            </a:pPr>
            <a:r>
              <a:rPr lang="en-US" b="0" i="0" dirty="0">
                <a:solidFill>
                  <a:srgbClr val="3A3A3A"/>
                </a:solidFill>
                <a:effectLst/>
                <a:latin typeface="Roboto" panose="02000000000000000000" pitchFamily="2" charset="0"/>
              </a:rPr>
              <a:t>Avoiding false sharing can greatly enhance multithreaded program throughput and cache efficiency</a:t>
            </a:r>
          </a:p>
        </p:txBody>
      </p:sp>
    </p:spTree>
    <p:extLst>
      <p:ext uri="{BB962C8B-B14F-4D97-AF65-F5344CB8AC3E}">
        <p14:creationId xmlns:p14="http://schemas.microsoft.com/office/powerpoint/2010/main" val="75679557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D8EB-11E8-8B5C-0E63-539D4C8387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F37F25-1B3C-8F87-648C-107544E9F300}"/>
              </a:ext>
            </a:extLst>
          </p:cNvPr>
          <p:cNvSpPr txBox="1"/>
          <p:nvPr/>
        </p:nvSpPr>
        <p:spPr>
          <a:xfrm>
            <a:off x="129654" y="0"/>
            <a:ext cx="977634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175. What are the differences between Serial, Parallel, CMS, and G1 garbage collectors in Java?</a:t>
            </a:r>
          </a:p>
          <a:p>
            <a:pPr algn="just">
              <a:lnSpc>
                <a:spcPts val="2100"/>
              </a:lnSpc>
              <a:spcBef>
                <a:spcPts val="1650"/>
              </a:spcBef>
              <a:buNone/>
            </a:pPr>
            <a:r>
              <a:rPr lang="en-US" b="0" i="0" dirty="0">
                <a:solidFill>
                  <a:srgbClr val="3A3A3A"/>
                </a:solidFill>
                <a:effectLst/>
                <a:latin typeface="Roboto" panose="02000000000000000000" pitchFamily="2" charset="0"/>
              </a:rPr>
              <a:t>In Java, Garbage Collectors, or GCs, are tasked with automatic memory management. Each is optimized to serve particular cases like minimal pause times or maximal throughput.</a:t>
            </a:r>
          </a:p>
        </p:txBody>
      </p:sp>
      <p:graphicFrame>
        <p:nvGraphicFramePr>
          <p:cNvPr id="4" name="Table 3">
            <a:extLst>
              <a:ext uri="{FF2B5EF4-FFF2-40B4-BE49-F238E27FC236}">
                <a16:creationId xmlns:a16="http://schemas.microsoft.com/office/drawing/2014/main" id="{4D77B0CD-733D-D2FE-E3B2-C1CCB23CB0A8}"/>
              </a:ext>
            </a:extLst>
          </p:cNvPr>
          <p:cNvGraphicFramePr>
            <a:graphicFrameLocks noGrp="1"/>
          </p:cNvGraphicFramePr>
          <p:nvPr>
            <p:extLst>
              <p:ext uri="{D42A27DB-BD31-4B8C-83A1-F6EECF244321}">
                <p14:modId xmlns:p14="http://schemas.microsoft.com/office/powerpoint/2010/main" val="1117578008"/>
              </p:ext>
            </p:extLst>
          </p:nvPr>
        </p:nvGraphicFramePr>
        <p:xfrm>
          <a:off x="285608" y="1618392"/>
          <a:ext cx="7260324" cy="4351338"/>
        </p:xfrm>
        <a:graphic>
          <a:graphicData uri="http://schemas.openxmlformats.org/drawingml/2006/table">
            <a:tbl>
              <a:tblPr/>
              <a:tblGrid>
                <a:gridCol w="2420108">
                  <a:extLst>
                    <a:ext uri="{9D8B030D-6E8A-4147-A177-3AD203B41FA5}">
                      <a16:colId xmlns:a16="http://schemas.microsoft.com/office/drawing/2014/main" val="3373788726"/>
                    </a:ext>
                  </a:extLst>
                </a:gridCol>
                <a:gridCol w="2420108">
                  <a:extLst>
                    <a:ext uri="{9D8B030D-6E8A-4147-A177-3AD203B41FA5}">
                      <a16:colId xmlns:a16="http://schemas.microsoft.com/office/drawing/2014/main" val="2060277110"/>
                    </a:ext>
                  </a:extLst>
                </a:gridCol>
                <a:gridCol w="2420108">
                  <a:extLst>
                    <a:ext uri="{9D8B030D-6E8A-4147-A177-3AD203B41FA5}">
                      <a16:colId xmlns:a16="http://schemas.microsoft.com/office/drawing/2014/main" val="3401806978"/>
                    </a:ext>
                  </a:extLst>
                </a:gridCol>
              </a:tblGrid>
              <a:tr h="310810">
                <a:tc>
                  <a:txBody>
                    <a:bodyPr/>
                    <a:lstStyle/>
                    <a:p>
                      <a:pPr algn="ctr" fontAlgn="t">
                        <a:buNone/>
                      </a:pPr>
                      <a:r>
                        <a:rPr lang="en-US" sz="1500" b="0">
                          <a:solidFill>
                            <a:srgbClr val="FFFFFF"/>
                          </a:solidFill>
                          <a:effectLst/>
                        </a:rPr>
                        <a:t>Garbage Collector</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Characteristics</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Best Use Case</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74242158"/>
                  </a:ext>
                </a:extLst>
              </a:tr>
              <a:tr h="777025">
                <a:tc>
                  <a:txBody>
                    <a:bodyPr/>
                    <a:lstStyle/>
                    <a:p>
                      <a:pPr fontAlgn="t">
                        <a:buNone/>
                      </a:pPr>
                      <a:r>
                        <a:rPr lang="en-US" sz="1500" b="0">
                          <a:effectLst/>
                        </a:rPr>
                        <a:t>Serial GC</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Single-threaded; stops all application threads during GC (Stop-the-World).</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Small applications or environments with single CPUs.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951485"/>
                  </a:ext>
                </a:extLst>
              </a:tr>
              <a:tr h="1010132">
                <a:tc>
                  <a:txBody>
                    <a:bodyPr/>
                    <a:lstStyle/>
                    <a:p>
                      <a:pPr fontAlgn="t">
                        <a:buNone/>
                      </a:pPr>
                      <a:r>
                        <a:rPr lang="en-US" sz="1500" b="0">
                          <a:effectLst/>
                        </a:rPr>
                        <a:t>Parallel GC (Throughput Collector)</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Multi-threaded GC; focuses on maximizing throughput.</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Applications where high throughput is more important than low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97237361"/>
                  </a:ext>
                </a:extLst>
              </a:tr>
              <a:tr h="1010132">
                <a:tc>
                  <a:txBody>
                    <a:bodyPr/>
                    <a:lstStyle/>
                    <a:p>
                      <a:pPr fontAlgn="t">
                        <a:buNone/>
                      </a:pPr>
                      <a:r>
                        <a:rPr lang="en-US" sz="1500" b="0">
                          <a:effectLst/>
                        </a:rPr>
                        <a:t>CMS (Concurrent Mark-Sweep)</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Minimizes pause times by doing most of the work concurrently with the application.</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Low-latency applications requiring shorter GC pauses.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3854318"/>
                  </a:ext>
                </a:extLst>
              </a:tr>
              <a:tr h="1243239">
                <a:tc>
                  <a:txBody>
                    <a:bodyPr/>
                    <a:lstStyle/>
                    <a:p>
                      <a:pPr fontAlgn="t">
                        <a:buNone/>
                      </a:pPr>
                      <a:r>
                        <a:rPr lang="en-US" sz="1500" b="0">
                          <a:effectLst/>
                        </a:rPr>
                        <a:t>G1 (Garbage First)</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Region-based, concurrent collector; balances throughput and pause time with predictable performance.</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Large heap, server-side applications needing predictable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980006"/>
                  </a:ext>
                </a:extLst>
              </a:tr>
            </a:tbl>
          </a:graphicData>
        </a:graphic>
      </p:graphicFrame>
      <p:sp>
        <p:nvSpPr>
          <p:cNvPr id="6" name="TextBox 5">
            <a:extLst>
              <a:ext uri="{FF2B5EF4-FFF2-40B4-BE49-F238E27FC236}">
                <a16:creationId xmlns:a16="http://schemas.microsoft.com/office/drawing/2014/main" id="{8FD8A39A-52BF-07C0-3ACE-82534E7671B7}"/>
              </a:ext>
            </a:extLst>
          </p:cNvPr>
          <p:cNvSpPr txBox="1"/>
          <p:nvPr/>
        </p:nvSpPr>
        <p:spPr>
          <a:xfrm>
            <a:off x="285608" y="5969730"/>
            <a:ext cx="9334784"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G1 GC has become the default collector in more recent versions of Java (Java 9+) and replaced CMS in this role, and ZGC and Shenandoah are recent low-pause collectors in subsequent releases of Java.</a:t>
            </a:r>
            <a:endParaRPr lang="en-US" dirty="0"/>
          </a:p>
        </p:txBody>
      </p:sp>
    </p:spTree>
    <p:extLst>
      <p:ext uri="{BB962C8B-B14F-4D97-AF65-F5344CB8AC3E}">
        <p14:creationId xmlns:p14="http://schemas.microsoft.com/office/powerpoint/2010/main" val="370875504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C23B-96E1-4850-7B52-9BC591774C1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6F8032-1F2A-A9C4-7E31-98E8090062AA}"/>
              </a:ext>
            </a:extLst>
          </p:cNvPr>
          <p:cNvSpPr txBox="1"/>
          <p:nvPr/>
        </p:nvSpPr>
        <p:spPr>
          <a:xfrm>
            <a:off x="0" y="110776"/>
            <a:ext cx="9906000" cy="499111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176. How can memory leaks occur in Java applications despite automatic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Java’s Garbage Collector recovers memory that’s not accessible. But memory leaks are still possible where references to unused objects are held unintentionally, precluding GC to recover memory.</a:t>
            </a:r>
          </a:p>
          <a:p>
            <a:pPr algn="just">
              <a:lnSpc>
                <a:spcPts val="2100"/>
              </a:lnSpc>
              <a:spcBef>
                <a:spcPts val="750"/>
              </a:spcBef>
              <a:buNone/>
            </a:pPr>
            <a:r>
              <a:rPr lang="en-US" b="0" i="0" dirty="0">
                <a:solidFill>
                  <a:srgbClr val="3A3A3A"/>
                </a:solidFill>
                <a:effectLst/>
                <a:latin typeface="Roboto" panose="02000000000000000000" pitchFamily="2" charset="0"/>
              </a:rPr>
              <a:t>Common Causes: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references: Static fields retaining objects outside their lifespan.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Listeners &amp; callbacks: Failing to deregister event listeners will retain objects alive.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Incorrect caching: Caches that are not properly managed (such as Map without eviction) cause leaks.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ThreadLocal</a:t>
            </a:r>
            <a:r>
              <a:rPr lang="en-US" b="0" i="0" dirty="0">
                <a:solidFill>
                  <a:srgbClr val="3A3A3A"/>
                </a:solidFill>
                <a:effectLst/>
                <a:latin typeface="Roboto" panose="02000000000000000000" pitchFamily="2" charset="0"/>
              </a:rPr>
              <a:t> misuse: Not removing values can cause leaks, especially in thread pools.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Inner class references: Non-static inner classes have implicit outer class instance references.</a:t>
            </a:r>
          </a:p>
          <a:p>
            <a:pPr algn="just">
              <a:lnSpc>
                <a:spcPts val="2100"/>
              </a:lnSpc>
              <a:spcBef>
                <a:spcPts val="1650"/>
              </a:spcBef>
              <a:buNone/>
            </a:pPr>
            <a:r>
              <a:rPr lang="en-US" b="0" i="0" dirty="0">
                <a:solidFill>
                  <a:srgbClr val="3A3A3A"/>
                </a:solidFill>
                <a:effectLst/>
                <a:latin typeface="Roboto" panose="02000000000000000000" pitchFamily="2" charset="0"/>
              </a:rPr>
              <a:t>Result: Leaked objects cause heap space consumption, leading to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253713728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E75BA-44C9-9654-B34D-6AB9038F87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F7BFA7-029C-6066-1840-5B74CA7BB84C}"/>
              </a:ext>
            </a:extLst>
          </p:cNvPr>
          <p:cNvSpPr txBox="1"/>
          <p:nvPr/>
        </p:nvSpPr>
        <p:spPr>
          <a:xfrm>
            <a:off x="0" y="-3089062"/>
            <a:ext cx="9906000" cy="90306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177. What tools and techniques can be used to diagnose and resolve </a:t>
            </a:r>
            <a:r>
              <a:rPr lang="en-US" b="0" i="0" dirty="0" err="1">
                <a:solidFill>
                  <a:srgbClr val="272C37"/>
                </a:solidFill>
                <a:effectLst/>
                <a:latin typeface="Roboto" panose="02000000000000000000" pitchFamily="2" charset="0"/>
              </a:rPr>
              <a:t>OutOfMemoryError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application experiences memory depletion, the JVM throws an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 It takes a mixture of monitoring, profiling, and analysis tools to correct this.</a:t>
            </a:r>
          </a:p>
          <a:p>
            <a:pPr algn="just">
              <a:lnSpc>
                <a:spcPts val="2100"/>
              </a:lnSpc>
              <a:spcBef>
                <a:spcPts val="750"/>
              </a:spcBef>
              <a:buNone/>
            </a:pPr>
            <a:r>
              <a:rPr lang="en-US" b="0" i="0" dirty="0">
                <a:solidFill>
                  <a:srgbClr val="3A3A3A"/>
                </a:solidFill>
                <a:effectLst/>
                <a:latin typeface="Roboto" panose="02000000000000000000" pitchFamily="2" charset="0"/>
              </a:rPr>
              <a:t>Common Tools: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Heap Dumps: Examine memory snapshots with tools such as: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Eclipse MAT (Memory Analyzer Tool)</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YourKit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Logs: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Enable with -XX:+</a:t>
            </a:r>
            <a:r>
              <a:rPr lang="en-US" b="0" i="0" dirty="0" err="1">
                <a:solidFill>
                  <a:srgbClr val="3A3A3A"/>
                </a:solidFill>
                <a:effectLst/>
                <a:latin typeface="Roboto" panose="02000000000000000000" pitchFamily="2" charset="0"/>
              </a:rPr>
              <a:t>PrintGCDetails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Xlog:gc</a:t>
            </a:r>
            <a:r>
              <a:rPr lang="en-US" b="0" i="0" dirty="0">
                <a:solidFill>
                  <a:srgbClr val="3A3A3A"/>
                </a:solidFill>
                <a:effectLst/>
                <a:latin typeface="Roboto" panose="02000000000000000000" pitchFamily="2" charset="0"/>
              </a:rPr>
              <a:t> (Java 9+)</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GCViewer</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GCEasy</a:t>
            </a:r>
            <a:r>
              <a:rPr lang="en-US" b="0" i="0" dirty="0">
                <a:solidFill>
                  <a:srgbClr val="3A3A3A"/>
                </a:solidFill>
                <a:effectLst/>
                <a:latin typeface="Roboto" panose="02000000000000000000" pitchFamily="2" charset="0"/>
              </a:rPr>
              <a:t> to analyze logs.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Profiling Tools: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JProfiler</a:t>
            </a:r>
            <a:r>
              <a:rPr lang="en-US" b="0" i="0" dirty="0">
                <a:solidFill>
                  <a:srgbClr val="3A3A3A"/>
                </a:solidFill>
                <a:effectLst/>
                <a:latin typeface="Roboto" panose="02000000000000000000" pitchFamily="2" charset="0"/>
              </a:rPr>
              <a:t>, Flight Recorder,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JConsole</a:t>
            </a:r>
            <a:r>
              <a:rPr lang="en-US" b="0" i="0" dirty="0">
                <a:solidFill>
                  <a:srgbClr val="3A3A3A"/>
                </a:solidFill>
                <a:effectLst/>
                <a:latin typeface="Roboto" panose="02000000000000000000" pitchFamily="2" charset="0"/>
              </a:rPr>
              <a:t> to monitor memory trends and object allocations.</a:t>
            </a:r>
          </a:p>
          <a:p>
            <a:pPr algn="just">
              <a:lnSpc>
                <a:spcPts val="2100"/>
              </a:lnSpc>
              <a:spcBef>
                <a:spcPts val="1650"/>
              </a:spcBef>
              <a:buNone/>
            </a:pPr>
            <a:r>
              <a:rPr lang="en-US" b="0" i="0" dirty="0">
                <a:solidFill>
                  <a:srgbClr val="3A3A3A"/>
                </a:solidFill>
                <a:effectLst/>
                <a:latin typeface="Roboto" panose="02000000000000000000" pitchFamily="2" charset="0"/>
              </a:rPr>
              <a:t>Techniques: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Identify memory leaks: Find objects with a long retention in heap dumps.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Tune GC: Tune the heap size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GC algorithm depending upon the application.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soft/weak references: Assists in the development of memory-sensitive caches.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Fix code issues: Remove unused references, clean up static fields, close resources.</a:t>
            </a:r>
          </a:p>
          <a:p>
            <a:pPr algn="just">
              <a:lnSpc>
                <a:spcPts val="2100"/>
              </a:lnSpc>
              <a:spcBef>
                <a:spcPts val="1650"/>
              </a:spcBef>
              <a:buNone/>
            </a:pPr>
            <a:r>
              <a:rPr lang="en-US" b="0" i="0" dirty="0">
                <a:solidFill>
                  <a:srgbClr val="3A3A3A"/>
                </a:solidFill>
                <a:effectLst/>
                <a:latin typeface="Roboto" panose="02000000000000000000" pitchFamily="2" charset="0"/>
              </a:rPr>
              <a:t>With the integration of these tools and methods, developers are able to identify patterns of memory use, identify leaks, and make Java applications more memory-efficient.</a:t>
            </a:r>
          </a:p>
        </p:txBody>
      </p:sp>
    </p:spTree>
    <p:extLst>
      <p:ext uri="{BB962C8B-B14F-4D97-AF65-F5344CB8AC3E}">
        <p14:creationId xmlns:p14="http://schemas.microsoft.com/office/powerpoint/2010/main" val="341911025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5F323-3C4F-6BB9-F6F7-528A1C6A05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754515-0912-9095-E703-FEE1AE428570}"/>
              </a:ext>
            </a:extLst>
          </p:cNvPr>
          <p:cNvSpPr txBox="1"/>
          <p:nvPr/>
        </p:nvSpPr>
        <p:spPr>
          <a:xfrm>
            <a:off x="0" y="0"/>
            <a:ext cx="9717206"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178. How do </a:t>
            </a:r>
            <a:r>
              <a:rPr lang="en-US" b="0" i="0" dirty="0" err="1">
                <a:solidFill>
                  <a:srgbClr val="272C37"/>
                </a:solidFill>
                <a:effectLst/>
                <a:latin typeface="Roboto" panose="02000000000000000000" pitchFamily="2" charset="0"/>
              </a:rPr>
              <a:t>CompletableFuture</a:t>
            </a:r>
            <a:r>
              <a:rPr lang="en-US" b="0" i="0" dirty="0">
                <a:solidFill>
                  <a:srgbClr val="272C37"/>
                </a:solidFill>
                <a:effectLst/>
                <a:latin typeface="Roboto" panose="02000000000000000000" pitchFamily="2" charset="0"/>
              </a:rPr>
              <a:t> and Future differ in handling asynchronous computations?</a:t>
            </a:r>
          </a:p>
          <a:p>
            <a:pPr algn="just">
              <a:lnSpc>
                <a:spcPts val="2100"/>
              </a:lnSpc>
              <a:spcBef>
                <a:spcPts val="1650"/>
              </a:spcBef>
              <a:buNone/>
            </a:pPr>
            <a:r>
              <a:rPr lang="en-US" b="0" i="0" dirty="0">
                <a:solidFill>
                  <a:srgbClr val="3A3A3A"/>
                </a:solidFill>
                <a:effectLst/>
                <a:latin typeface="Roboto" panose="02000000000000000000" pitchFamily="2" charset="0"/>
              </a:rPr>
              <a:t>The Future and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both describe the result of a computation that happens asynchronously, but in terms of features and versatility, both are very different.</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23343CF4-0E7F-2252-8511-60ED75BC62B7}"/>
              </a:ext>
            </a:extLst>
          </p:cNvPr>
          <p:cNvGraphicFramePr>
            <a:graphicFrameLocks noGrp="1"/>
          </p:cNvGraphicFramePr>
          <p:nvPr/>
        </p:nvGraphicFramePr>
        <p:xfrm>
          <a:off x="966941" y="1672694"/>
          <a:ext cx="7972119" cy="4657200"/>
        </p:xfrm>
        <a:graphic>
          <a:graphicData uri="http://schemas.openxmlformats.org/drawingml/2006/table">
            <a:tbl>
              <a:tblPr/>
              <a:tblGrid>
                <a:gridCol w="2657373">
                  <a:extLst>
                    <a:ext uri="{9D8B030D-6E8A-4147-A177-3AD203B41FA5}">
                      <a16:colId xmlns:a16="http://schemas.microsoft.com/office/drawing/2014/main" val="1882747216"/>
                    </a:ext>
                  </a:extLst>
                </a:gridCol>
                <a:gridCol w="2657373">
                  <a:extLst>
                    <a:ext uri="{9D8B030D-6E8A-4147-A177-3AD203B41FA5}">
                      <a16:colId xmlns:a16="http://schemas.microsoft.com/office/drawing/2014/main" val="2542657009"/>
                    </a:ext>
                  </a:extLst>
                </a:gridCol>
                <a:gridCol w="2657373">
                  <a:extLst>
                    <a:ext uri="{9D8B030D-6E8A-4147-A177-3AD203B41FA5}">
                      <a16:colId xmlns:a16="http://schemas.microsoft.com/office/drawing/2014/main" val="1957613837"/>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CompletableFuture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668166321"/>
                  </a:ext>
                </a:extLst>
              </a:tr>
              <a:tr h="1109165">
                <a:tc>
                  <a:txBody>
                    <a:bodyPr/>
                    <a:lstStyle/>
                    <a:p>
                      <a:pPr fontAlgn="t">
                        <a:buNone/>
                      </a:pPr>
                      <a:r>
                        <a:rPr lang="en-US" sz="1700" b="0">
                          <a:effectLst/>
                        </a:rPr>
                        <a:t>Non-blocking API</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(requires .get() which blocks)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Yes (supports non-blocking callbacks with .thenApply(), .thenAccept() etc.)</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389525"/>
                  </a:ext>
                </a:extLst>
              </a:tr>
              <a:tr h="597242">
                <a:tc>
                  <a:txBody>
                    <a:bodyPr/>
                    <a:lstStyle/>
                    <a:p>
                      <a:pPr fontAlgn="t">
                        <a:buNone/>
                      </a:pPr>
                      <a:r>
                        <a:rPr lang="en-US" sz="1700" b="0">
                          <a:effectLst/>
                        </a:rPr>
                        <a:t>Chaining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possible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functional-style chaining of tasks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424184"/>
                  </a:ext>
                </a:extLst>
              </a:tr>
              <a:tr h="853203">
                <a:tc>
                  <a:txBody>
                    <a:bodyPr/>
                    <a:lstStyle/>
                    <a:p>
                      <a:pPr fontAlgn="t">
                        <a:buNone/>
                      </a:pPr>
                      <a:r>
                        <a:rPr lang="en-US" sz="1700" b="0">
                          <a:effectLst/>
                        </a:rPr>
                        <a:t>Exception Handling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Limited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Built-in exception handling with .exceptionally(), .handle()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86427860"/>
                  </a:ext>
                </a:extLst>
              </a:tr>
              <a:tr h="597242">
                <a:tc>
                  <a:txBody>
                    <a:bodyPr/>
                    <a:lstStyle/>
                    <a:p>
                      <a:pPr fontAlgn="t">
                        <a:buNone/>
                      </a:pPr>
                      <a:r>
                        <a:rPr lang="en-US" sz="1700" b="0">
                          <a:effectLst/>
                        </a:rPr>
                        <a:t>Manual Completion</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manual completion via .complete()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2832495"/>
                  </a:ext>
                </a:extLst>
              </a:tr>
              <a:tr h="853203">
                <a:tc>
                  <a:txBody>
                    <a:bodyPr/>
                    <a:lstStyle/>
                    <a:p>
                      <a:pPr fontAlgn="t">
                        <a:buNone/>
                      </a:pPr>
                      <a:r>
                        <a:rPr lang="en-US" sz="1700" b="0">
                          <a:effectLst/>
                        </a:rPr>
                        <a:t>Combining Futures</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Combine multiple async results with .</a:t>
                      </a:r>
                      <a:r>
                        <a:rPr lang="en-US" sz="1700" dirty="0" err="1">
                          <a:effectLst/>
                        </a:rPr>
                        <a:t>thenCombine</a:t>
                      </a:r>
                      <a:r>
                        <a:rPr lang="en-US" sz="1700" dirty="0">
                          <a:effectLst/>
                        </a:rPr>
                        <a:t>(), .</a:t>
                      </a:r>
                      <a:r>
                        <a:rPr lang="en-US" sz="1700" dirty="0" err="1">
                          <a:effectLst/>
                        </a:rPr>
                        <a:t>allOf</a:t>
                      </a:r>
                      <a:r>
                        <a:rPr lang="en-US" sz="1700" dirty="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95587179"/>
                  </a:ext>
                </a:extLst>
              </a:tr>
            </a:tbl>
          </a:graphicData>
        </a:graphic>
      </p:graphicFrame>
      <p:sp>
        <p:nvSpPr>
          <p:cNvPr id="6" name="TextBox 5">
            <a:extLst>
              <a:ext uri="{FF2B5EF4-FFF2-40B4-BE49-F238E27FC236}">
                <a16:creationId xmlns:a16="http://schemas.microsoft.com/office/drawing/2014/main" id="{3D92797B-306E-8DD5-692A-A7A2805959C5}"/>
              </a:ext>
            </a:extLst>
          </p:cNvPr>
          <p:cNvSpPr txBox="1"/>
          <p:nvPr/>
        </p:nvSpPr>
        <p:spPr>
          <a:xfrm>
            <a:off x="-28432" y="6329894"/>
            <a:ext cx="9934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In short, apply Future to simple asynchronous operations where blocking is fine. Apply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to complex workflows, non-blocking sequences, and reactive programming.</a:t>
            </a:r>
            <a:endParaRPr lang="en-US" dirty="0"/>
          </a:p>
        </p:txBody>
      </p:sp>
    </p:spTree>
    <p:extLst>
      <p:ext uri="{BB962C8B-B14F-4D97-AF65-F5344CB8AC3E}">
        <p14:creationId xmlns:p14="http://schemas.microsoft.com/office/powerpoint/2010/main" val="427512044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391F9-06F0-2945-D615-E39CB3346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5406F6-E17F-F1F7-9A94-91A44052B1EF}"/>
              </a:ext>
            </a:extLst>
          </p:cNvPr>
          <p:cNvSpPr txBox="1"/>
          <p:nvPr/>
        </p:nvSpPr>
        <p:spPr>
          <a:xfrm>
            <a:off x="0" y="0"/>
            <a:ext cx="9906000"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179. What are method references in Java, and how do they enhance code readability?</a:t>
            </a:r>
          </a:p>
          <a:p>
            <a:pPr algn="just">
              <a:lnSpc>
                <a:spcPts val="2100"/>
              </a:lnSpc>
              <a:spcBef>
                <a:spcPts val="1650"/>
              </a:spcBef>
              <a:buNone/>
            </a:pPr>
            <a:r>
              <a:rPr lang="en-US" b="0" i="0" dirty="0">
                <a:solidFill>
                  <a:srgbClr val="3A3A3A"/>
                </a:solidFill>
                <a:effectLst/>
                <a:latin typeface="Roboto" panose="02000000000000000000" pitchFamily="2" charset="0"/>
              </a:rPr>
              <a:t>Java method references are a concise syntax for lambda expressions that call a pre-existing method. They make the code more readable and concise.</a:t>
            </a:r>
          </a:p>
          <a:p>
            <a:pPr algn="l">
              <a:spcBef>
                <a:spcPts val="1650"/>
              </a:spcBef>
              <a:buNone/>
            </a:pPr>
            <a:r>
              <a:rPr lang="en-US" b="0" i="0" dirty="0">
                <a:solidFill>
                  <a:srgbClr val="3A3A3A"/>
                </a:solidFill>
                <a:effectLst/>
                <a:latin typeface="Roboto" panose="02000000000000000000" pitchFamily="2" charset="0"/>
              </a:rPr>
              <a:t>Syntax Types:</a:t>
            </a:r>
          </a:p>
        </p:txBody>
      </p:sp>
      <p:sp>
        <p:nvSpPr>
          <p:cNvPr id="5" name="TextBox 4">
            <a:extLst>
              <a:ext uri="{FF2B5EF4-FFF2-40B4-BE49-F238E27FC236}">
                <a16:creationId xmlns:a16="http://schemas.microsoft.com/office/drawing/2014/main" id="{05B35DD5-7F25-E562-E33B-1849BFE8D2D0}"/>
              </a:ext>
            </a:extLst>
          </p:cNvPr>
          <p:cNvSpPr txBox="1"/>
          <p:nvPr/>
        </p:nvSpPr>
        <p:spPr>
          <a:xfrm>
            <a:off x="0" y="1844095"/>
            <a:ext cx="5008728" cy="1477328"/>
          </a:xfrm>
          <a:prstGeom prst="rect">
            <a:avLst/>
          </a:prstGeom>
          <a:noFill/>
        </p:spPr>
        <p:txBody>
          <a:bodyPr wrap="square">
            <a:spAutoFit/>
          </a:bodyPr>
          <a:lstStyle/>
          <a:p>
            <a:r>
              <a:rPr lang="en-US" dirty="0" err="1"/>
              <a:t>ClassName</a:t>
            </a:r>
            <a:r>
              <a:rPr lang="en-US" dirty="0"/>
              <a:t>::</a:t>
            </a:r>
            <a:r>
              <a:rPr lang="en-US" dirty="0" err="1"/>
              <a:t>staticMethod</a:t>
            </a:r>
            <a:r>
              <a:rPr lang="en-US" dirty="0"/>
              <a:t> // Static method reference</a:t>
            </a:r>
          </a:p>
          <a:p>
            <a:r>
              <a:rPr lang="en-US" dirty="0" err="1"/>
              <a:t>objectRef</a:t>
            </a:r>
            <a:r>
              <a:rPr lang="en-US" dirty="0"/>
              <a:t>::</a:t>
            </a:r>
            <a:r>
              <a:rPr lang="en-US" dirty="0" err="1"/>
              <a:t>instanceMethod</a:t>
            </a:r>
            <a:r>
              <a:rPr lang="en-US" dirty="0"/>
              <a:t> // Instance method reference</a:t>
            </a:r>
          </a:p>
          <a:p>
            <a:r>
              <a:rPr lang="en-US" dirty="0" err="1"/>
              <a:t>ClassName</a:t>
            </a:r>
            <a:r>
              <a:rPr lang="en-US" dirty="0"/>
              <a:t>::new // Constructor reference</a:t>
            </a:r>
          </a:p>
        </p:txBody>
      </p:sp>
      <p:sp>
        <p:nvSpPr>
          <p:cNvPr id="7" name="TextBox 6">
            <a:extLst>
              <a:ext uri="{FF2B5EF4-FFF2-40B4-BE49-F238E27FC236}">
                <a16:creationId xmlns:a16="http://schemas.microsoft.com/office/drawing/2014/main" id="{582562C6-D448-0FD0-5ADF-72A90B815600}"/>
              </a:ext>
            </a:extLst>
          </p:cNvPr>
          <p:cNvSpPr txBox="1"/>
          <p:nvPr/>
        </p:nvSpPr>
        <p:spPr>
          <a:xfrm>
            <a:off x="2449773" y="3227274"/>
            <a:ext cx="5008728"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a:t>
            </a:r>
            <a:endParaRPr lang="en-US" dirty="0"/>
          </a:p>
        </p:txBody>
      </p:sp>
      <p:sp>
        <p:nvSpPr>
          <p:cNvPr id="9" name="TextBox 8">
            <a:extLst>
              <a:ext uri="{FF2B5EF4-FFF2-40B4-BE49-F238E27FC236}">
                <a16:creationId xmlns:a16="http://schemas.microsoft.com/office/drawing/2014/main" id="{DB230B39-FA27-32D9-EC0D-0B0930F20E15}"/>
              </a:ext>
            </a:extLst>
          </p:cNvPr>
          <p:cNvSpPr txBox="1"/>
          <p:nvPr/>
        </p:nvSpPr>
        <p:spPr>
          <a:xfrm>
            <a:off x="83917" y="3596606"/>
            <a:ext cx="5006050" cy="4524315"/>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MethodReferenceExample</a:t>
            </a:r>
            <a:r>
              <a:rPr lang="en-US" dirty="0"/>
              <a:t> {</a:t>
            </a:r>
          </a:p>
          <a:p>
            <a:r>
              <a:rPr lang="en-US" dirty="0"/>
              <a:t>    public static void main(String[] </a:t>
            </a:r>
            <a:r>
              <a:rPr lang="en-US" dirty="0" err="1"/>
              <a:t>args</a:t>
            </a:r>
            <a:r>
              <a:rPr lang="en-US" dirty="0"/>
              <a:t>) {</a:t>
            </a:r>
          </a:p>
          <a:p>
            <a:r>
              <a:rPr lang="en-US" dirty="0"/>
              <a:t>        List </a:t>
            </a:r>
            <a:r>
              <a:rPr lang="en-US" dirty="0" err="1"/>
              <a:t>list</a:t>
            </a:r>
            <a:r>
              <a:rPr lang="en-US" dirty="0"/>
              <a:t> = </a:t>
            </a:r>
            <a:r>
              <a:rPr lang="en-US" dirty="0" err="1"/>
              <a:t>Arrays.asList</a:t>
            </a:r>
            <a:r>
              <a:rPr lang="en-US" dirty="0"/>
              <a:t>("Apple", "Banana", "Cherry");</a:t>
            </a:r>
          </a:p>
          <a:p>
            <a:endParaRPr lang="en-US" dirty="0"/>
          </a:p>
          <a:p>
            <a:r>
              <a:rPr lang="en-US" dirty="0"/>
              <a:t>        // Using lambda expression</a:t>
            </a:r>
          </a:p>
          <a:p>
            <a:r>
              <a:rPr lang="en-US" dirty="0"/>
              <a:t>        </a:t>
            </a:r>
            <a:r>
              <a:rPr lang="en-US" dirty="0" err="1"/>
              <a:t>list.forEach</a:t>
            </a:r>
            <a:r>
              <a:rPr lang="en-US" dirty="0"/>
              <a:t>(str -&gt; </a:t>
            </a:r>
            <a:r>
              <a:rPr lang="en-US" dirty="0" err="1"/>
              <a:t>System.out.println</a:t>
            </a:r>
            <a:r>
              <a:rPr lang="en-US" dirty="0"/>
              <a:t>("Lambda: " + str));</a:t>
            </a:r>
          </a:p>
          <a:p>
            <a:endParaRPr lang="en-US" dirty="0"/>
          </a:p>
          <a:p>
            <a:r>
              <a:rPr lang="en-US" dirty="0"/>
              <a:t>        // Using method reference</a:t>
            </a:r>
          </a:p>
          <a:p>
            <a:r>
              <a:rPr lang="en-US" dirty="0"/>
              <a:t>        </a:t>
            </a:r>
            <a:r>
              <a:rPr lang="en-US" dirty="0" err="1"/>
              <a:t>list.forEach</a:t>
            </a:r>
            <a:r>
              <a:rPr lang="en-US" dirty="0"/>
              <a:t>(</a:t>
            </a:r>
            <a:r>
              <a:rPr lang="en-US" dirty="0" err="1"/>
              <a:t>System.out</a:t>
            </a:r>
            <a:r>
              <a:rPr lang="en-US" dirty="0"/>
              <a:t>::</a:t>
            </a:r>
            <a:r>
              <a:rPr lang="en-US" dirty="0" err="1"/>
              <a:t>println</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31F47216-E1E1-2A40-963E-BCCD4B43C36E}"/>
              </a:ext>
            </a:extLst>
          </p:cNvPr>
          <p:cNvSpPr txBox="1"/>
          <p:nvPr/>
        </p:nvSpPr>
        <p:spPr>
          <a:xfrm>
            <a:off x="4816033" y="1696086"/>
            <a:ext cx="5006050" cy="19005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boilerplate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suitable in functional programming applications like streams and collectors.</a:t>
            </a:r>
          </a:p>
        </p:txBody>
      </p:sp>
    </p:spTree>
    <p:extLst>
      <p:ext uri="{BB962C8B-B14F-4D97-AF65-F5344CB8AC3E}">
        <p14:creationId xmlns:p14="http://schemas.microsoft.com/office/powerpoint/2010/main" val="718592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D482D-7610-785B-4736-9CA2ED9C6B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FF9514-A11C-A3F5-3730-C0839BF5EF8E}"/>
              </a:ext>
            </a:extLst>
          </p:cNvPr>
          <p:cNvSpPr txBox="1"/>
          <p:nvPr/>
        </p:nvSpPr>
        <p:spPr>
          <a:xfrm>
            <a:off x="358815" y="0"/>
            <a:ext cx="4953964" cy="3677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180. How does the Optional class help in avoiding null checks, and what are its best practices?</a:t>
            </a:r>
          </a:p>
          <a:p>
            <a:pPr algn="just">
              <a:lnSpc>
                <a:spcPts val="2100"/>
              </a:lnSpc>
              <a:spcBef>
                <a:spcPts val="1650"/>
              </a:spcBef>
              <a:buNone/>
            </a:pPr>
            <a:r>
              <a:rPr lang="en-US" b="0" i="0" dirty="0">
                <a:solidFill>
                  <a:srgbClr val="3A3A3A"/>
                </a:solidFill>
                <a:effectLst/>
                <a:latin typeface="Roboto" panose="02000000000000000000" pitchFamily="2" charset="0"/>
              </a:rPr>
              <a:t>The Optional&lt;T&gt; class in Java is a container object to prevent explicit null checks and avoid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How It Helps:</a:t>
            </a:r>
          </a:p>
          <a:p>
            <a:pPr algn="just">
              <a:lnSpc>
                <a:spcPts val="2100"/>
              </a:lnSpc>
              <a:spcBef>
                <a:spcPts val="1650"/>
              </a:spcBef>
              <a:buNone/>
            </a:pPr>
            <a:r>
              <a:rPr lang="en-US" b="0" i="0" dirty="0">
                <a:solidFill>
                  <a:srgbClr val="3A3A3A"/>
                </a:solidFill>
                <a:effectLst/>
                <a:latin typeface="Roboto" panose="02000000000000000000" pitchFamily="2" charset="0"/>
              </a:rPr>
              <a:t>Methods now return Optional&lt;T&gt; rather than null to indicate that a value could be present or not.</a:t>
            </a:r>
          </a:p>
        </p:txBody>
      </p:sp>
      <p:sp>
        <p:nvSpPr>
          <p:cNvPr id="5" name="TextBox 4">
            <a:extLst>
              <a:ext uri="{FF2B5EF4-FFF2-40B4-BE49-F238E27FC236}">
                <a16:creationId xmlns:a16="http://schemas.microsoft.com/office/drawing/2014/main" id="{9794B7DF-44FF-17EB-ABF0-CF00A499B2D8}"/>
              </a:ext>
            </a:extLst>
          </p:cNvPr>
          <p:cNvSpPr txBox="1"/>
          <p:nvPr/>
        </p:nvSpPr>
        <p:spPr>
          <a:xfrm>
            <a:off x="358815" y="3677930"/>
            <a:ext cx="4953964" cy="9787295"/>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 Simulate a method that might return null</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Safely handle the value</a:t>
            </a:r>
          </a:p>
          <a:p>
            <a:r>
              <a:rPr lang="en-US" dirty="0"/>
              <a:t>        </a:t>
            </a:r>
            <a:r>
              <a:rPr lang="en-US" dirty="0" err="1"/>
              <a:t>name.ifPresent</a:t>
            </a:r>
            <a:r>
              <a:rPr lang="en-US" dirty="0"/>
              <a:t>(</a:t>
            </a:r>
            <a:r>
              <a:rPr lang="en-US" dirty="0" err="1"/>
              <a:t>System.out</a:t>
            </a:r>
            <a:r>
              <a:rPr lang="en-US" dirty="0"/>
              <a:t>::</a:t>
            </a:r>
            <a:r>
              <a:rPr lang="en-US" dirty="0" err="1"/>
              <a:t>println</a:t>
            </a:r>
            <a:r>
              <a:rPr lang="en-US" dirty="0"/>
              <a:t>); // Prints name if present</a:t>
            </a:r>
          </a:p>
          <a:p>
            <a:endParaRPr lang="en-US" dirty="0"/>
          </a:p>
          <a:p>
            <a:r>
              <a:rPr lang="en-US" dirty="0"/>
              <a:t>        // Provide default if not present</a:t>
            </a:r>
          </a:p>
          <a:p>
            <a:r>
              <a:rPr lang="en-US" dirty="0"/>
              <a:t>        String result = </a:t>
            </a:r>
            <a:r>
              <a:rPr lang="en-US" dirty="0" err="1"/>
              <a:t>name.orElse</a:t>
            </a:r>
            <a:r>
              <a:rPr lang="en-US" dirty="0"/>
              <a:t>("Default Name");</a:t>
            </a:r>
          </a:p>
          <a:p>
            <a:r>
              <a:rPr lang="en-US" dirty="0"/>
              <a:t>        </a:t>
            </a:r>
            <a:r>
              <a:rPr lang="en-US" dirty="0" err="1"/>
              <a:t>System.out.println</a:t>
            </a:r>
            <a:r>
              <a:rPr lang="en-US" dirty="0"/>
              <a:t>("Name: " + result);</a:t>
            </a:r>
          </a:p>
          <a:p>
            <a:endParaRPr lang="en-US" dirty="0"/>
          </a:p>
          <a:p>
            <a:r>
              <a:rPr lang="en-US" dirty="0"/>
              <a:t>        // Throw exception if not present</a:t>
            </a:r>
          </a:p>
          <a:p>
            <a:r>
              <a:rPr lang="en-US" dirty="0"/>
              <a:t>        try {</a:t>
            </a:r>
          </a:p>
          <a:p>
            <a:r>
              <a:rPr lang="en-US" dirty="0"/>
              <a:t>            String </a:t>
            </a:r>
            <a:r>
              <a:rPr lang="en-US" dirty="0" err="1"/>
              <a:t>mustExist</a:t>
            </a:r>
            <a:r>
              <a:rPr lang="en-US" dirty="0"/>
              <a:t> = </a:t>
            </a:r>
            <a:r>
              <a:rPr lang="en-US" dirty="0" err="1"/>
              <a:t>name.orElseThrow</a:t>
            </a:r>
            <a:r>
              <a:rPr lang="en-US" dirty="0"/>
              <a:t>(() -&gt; new </a:t>
            </a:r>
            <a:r>
              <a:rPr lang="en-US" dirty="0" err="1"/>
              <a:t>RuntimeException</a:t>
            </a:r>
            <a:r>
              <a:rPr lang="en-US" dirty="0"/>
              <a:t>("Name is required!"));</a:t>
            </a:r>
          </a:p>
          <a:p>
            <a:r>
              <a:rPr lang="en-US" dirty="0"/>
              <a:t>            </a:t>
            </a:r>
            <a:r>
              <a:rPr lang="en-US" dirty="0" err="1"/>
              <a:t>System.out.println</a:t>
            </a:r>
            <a:r>
              <a:rPr lang="en-US" dirty="0"/>
              <a:t>("Must exist: " + </a:t>
            </a:r>
            <a:r>
              <a:rPr lang="en-US" dirty="0" err="1"/>
              <a:t>mustExist</a:t>
            </a:r>
            <a:r>
              <a:rPr lang="en-US" dirty="0"/>
              <a:t>);</a:t>
            </a:r>
          </a:p>
          <a:p>
            <a:r>
              <a:rPr lang="en-US" dirty="0"/>
              <a:t>        } catch (Exception e) {</a:t>
            </a:r>
          </a:p>
          <a:p>
            <a:r>
              <a:rPr lang="en-US" dirty="0"/>
              <a:t>            </a:t>
            </a:r>
            <a:r>
              <a:rPr lang="en-US" dirty="0" err="1"/>
              <a:t>System.out.println</a:t>
            </a:r>
            <a:r>
              <a:rPr lang="en-US" dirty="0"/>
              <a:t>("Caught: " + </a:t>
            </a:r>
            <a:r>
              <a:rPr lang="en-US" dirty="0" err="1"/>
              <a:t>e.getMessage</a:t>
            </a:r>
            <a:r>
              <a:rPr lang="en-US" dirty="0"/>
              <a:t>());</a:t>
            </a:r>
          </a:p>
          <a:p>
            <a:r>
              <a:rPr lang="en-US" dirty="0"/>
              <a:t>        }</a:t>
            </a:r>
          </a:p>
          <a:p>
            <a:r>
              <a:rPr lang="en-US" dirty="0"/>
              <a:t>    }</a:t>
            </a:r>
          </a:p>
          <a:p>
            <a:endParaRPr lang="en-US" dirty="0"/>
          </a:p>
          <a:p>
            <a:r>
              <a:rPr lang="en-US" dirty="0"/>
              <a:t>    static String </a:t>
            </a:r>
            <a:r>
              <a:rPr lang="en-US" dirty="0" err="1"/>
              <a:t>getName</a:t>
            </a:r>
            <a:r>
              <a:rPr lang="en-US" dirty="0"/>
              <a:t>() {</a:t>
            </a:r>
          </a:p>
          <a:p>
            <a:r>
              <a:rPr lang="en-US" dirty="0"/>
              <a:t>        // return "John Doe"; // Uncomment to simulate presence</a:t>
            </a:r>
          </a:p>
          <a:p>
            <a:r>
              <a:rPr lang="en-US" dirty="0"/>
              <a:t>        return null; // Simulate missing value</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9829D94A-23F5-416B-A0E7-5FE4EC8F114D}"/>
              </a:ext>
            </a:extLst>
          </p:cNvPr>
          <p:cNvSpPr txBox="1"/>
          <p:nvPr/>
        </p:nvSpPr>
        <p:spPr>
          <a:xfrm>
            <a:off x="5532698" y="584876"/>
            <a:ext cx="4953964" cy="7430239"/>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as return types, in particular where a method may not yield a value.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the use of Optional as a field or parameter type (according to Oracle recommendations).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orElseGet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orElseThrow</a:t>
            </a:r>
            <a:r>
              <a:rPr lang="en-US" b="0" i="0" dirty="0">
                <a:solidFill>
                  <a:srgbClr val="3A3A3A"/>
                </a:solidFill>
                <a:effectLst/>
                <a:latin typeface="Roboto" panose="02000000000000000000" pitchFamily="2" charset="0"/>
              </a:rPr>
              <a:t>() to gracefully deal with empty values.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Chain operations securely with .map() or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Anti-Patterns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use Optional in performance-critical code (has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call </a:t>
            </a:r>
            <a:r>
              <a:rPr lang="en-US" b="0" i="0" dirty="0" err="1">
                <a:solidFill>
                  <a:srgbClr val="3A3A3A"/>
                </a:solidFill>
                <a:effectLst/>
                <a:latin typeface="Roboto" panose="02000000000000000000" pitchFamily="2" charset="0"/>
              </a:rPr>
              <a:t>Optional.get</a:t>
            </a:r>
            <a:r>
              <a:rPr lang="en-US" b="0" i="0" dirty="0">
                <a:solidFill>
                  <a:srgbClr val="3A3A3A"/>
                </a:solidFill>
                <a:effectLst/>
                <a:latin typeface="Roboto" panose="02000000000000000000" pitchFamily="2" charset="0"/>
              </a:rPr>
              <a:t>() without first doing </a:t>
            </a:r>
            <a:r>
              <a:rPr lang="en-US" b="0" i="0" dirty="0" err="1">
                <a:solidFill>
                  <a:srgbClr val="3A3A3A"/>
                </a:solidFill>
                <a:effectLst/>
                <a:latin typeface="Roboto" panose="02000000000000000000" pitchFamily="2" charset="0"/>
              </a:rPr>
              <a:t>Optional.isPresent</a:t>
            </a:r>
            <a:r>
              <a:rPr lang="en-US" b="0" i="0" dirty="0">
                <a:solidFill>
                  <a:srgbClr val="3A3A3A"/>
                </a:solidFill>
                <a:effectLst/>
                <a:latin typeface="Roboto" panose="02000000000000000000" pitchFamily="2" charset="0"/>
              </a:rPr>
              <a:t>() – that misses the point.</a:t>
            </a:r>
          </a:p>
          <a:p>
            <a:pPr algn="just">
              <a:lnSpc>
                <a:spcPts val="2100"/>
              </a:lnSpc>
              <a:spcBef>
                <a:spcPts val="1650"/>
              </a:spcBef>
              <a:buNone/>
            </a:pPr>
            <a:r>
              <a:rPr lang="en-US" b="0" i="0" dirty="0">
                <a:solidFill>
                  <a:srgbClr val="3A3A3A"/>
                </a:solidFill>
                <a:effectLst/>
                <a:latin typeface="Roboto" panose="02000000000000000000" pitchFamily="2" charset="0"/>
              </a:rPr>
              <a:t>In short, Optional supports a more explicit, safer approach to dealing with missing values without relying on explicit null tests, enhancing code readability and reliability.</a:t>
            </a:r>
          </a:p>
        </p:txBody>
      </p:sp>
    </p:spTree>
    <p:extLst>
      <p:ext uri="{BB962C8B-B14F-4D97-AF65-F5344CB8AC3E}">
        <p14:creationId xmlns:p14="http://schemas.microsoft.com/office/powerpoint/2010/main" val="145518929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9EEC-F4B9-590F-1B07-D13DFAAC5B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2C9052-8237-39F4-C392-7C006443F605}"/>
              </a:ext>
            </a:extLst>
          </p:cNvPr>
          <p:cNvSpPr txBox="1"/>
          <p:nvPr/>
        </p:nvSpPr>
        <p:spPr>
          <a:xfrm>
            <a:off x="324091" y="0"/>
            <a:ext cx="8900932" cy="238270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181. Can you implement the Singleton pattern in a thread-safe manner without using synchronization?</a:t>
            </a:r>
          </a:p>
          <a:p>
            <a:pPr algn="just">
              <a:lnSpc>
                <a:spcPts val="2100"/>
              </a:lnSpc>
              <a:spcBef>
                <a:spcPts val="1650"/>
              </a:spcBef>
              <a:buNone/>
            </a:pPr>
            <a:r>
              <a:rPr lang="en-US" b="0" i="0" dirty="0">
                <a:solidFill>
                  <a:srgbClr val="3A3A3A"/>
                </a:solidFill>
                <a:effectLst/>
                <a:latin typeface="Roboto" panose="02000000000000000000" pitchFamily="2" charset="0"/>
              </a:rPr>
              <a:t>Yes, a thread-safe Java Singleton without explicit synchronization can be created with the Bill Pugh Singleton Design Pattern that utilizes Java Memory Model’s guarantees around class loading to ensure safe and efficient lazy initialization.</a:t>
            </a:r>
          </a:p>
          <a:p>
            <a:pPr algn="l">
              <a:spcBef>
                <a:spcPts val="1650"/>
              </a:spcBef>
              <a:buNone/>
            </a:pPr>
            <a:r>
              <a:rPr lang="en-US" b="0" i="0" dirty="0">
                <a:solidFill>
                  <a:srgbClr val="3A3A3A"/>
                </a:solidFill>
                <a:effectLst/>
                <a:latin typeface="Roboto" panose="02000000000000000000" pitchFamily="2" charset="0"/>
              </a:rPr>
              <a:t>Implementation Using Static Inner Class:</a:t>
            </a:r>
          </a:p>
        </p:txBody>
      </p:sp>
      <p:sp>
        <p:nvSpPr>
          <p:cNvPr id="5" name="TextBox 4">
            <a:extLst>
              <a:ext uri="{FF2B5EF4-FFF2-40B4-BE49-F238E27FC236}">
                <a16:creationId xmlns:a16="http://schemas.microsoft.com/office/drawing/2014/main" id="{C4A26B8E-E035-4020-D849-BE9C1017A5E6}"/>
              </a:ext>
            </a:extLst>
          </p:cNvPr>
          <p:cNvSpPr txBox="1"/>
          <p:nvPr/>
        </p:nvSpPr>
        <p:spPr>
          <a:xfrm>
            <a:off x="115747" y="2464444"/>
            <a:ext cx="4953964" cy="11449288"/>
          </a:xfrm>
          <a:prstGeom prst="rect">
            <a:avLst/>
          </a:prstGeom>
          <a:noFill/>
        </p:spPr>
        <p:txBody>
          <a:bodyPr wrap="square">
            <a:spAutoFit/>
          </a:bodyPr>
          <a:lstStyle/>
          <a:p>
            <a:r>
              <a:rPr lang="en-US" dirty="0"/>
              <a:t>public class </a:t>
            </a:r>
            <a:r>
              <a:rPr lang="en-US" dirty="0" err="1"/>
              <a:t>SingletonDemo</a:t>
            </a:r>
            <a:r>
              <a:rPr lang="en-US" dirty="0"/>
              <a:t> {</a:t>
            </a:r>
          </a:p>
          <a:p>
            <a:r>
              <a:rPr lang="en-US" dirty="0"/>
              <a:t>    // Singleton class using static inner class</a:t>
            </a:r>
          </a:p>
          <a:p>
            <a:r>
              <a:rPr lang="en-US" dirty="0"/>
              <a:t>    static class Singleton {</a:t>
            </a:r>
          </a:p>
          <a:p>
            <a:r>
              <a:rPr lang="en-US" dirty="0"/>
              <a:t>        // Private constructor prevents instantiation</a:t>
            </a:r>
          </a:p>
          <a:p>
            <a:r>
              <a:rPr lang="en-US" dirty="0"/>
              <a:t>        private Singleton() {</a:t>
            </a:r>
          </a:p>
          <a:p>
            <a:r>
              <a:rPr lang="en-US" dirty="0"/>
              <a:t>            </a:t>
            </a:r>
            <a:r>
              <a:rPr lang="en-US" dirty="0" err="1"/>
              <a:t>System.out.println</a:t>
            </a:r>
            <a:r>
              <a:rPr lang="en-US" dirty="0"/>
              <a:t>("Singleton instance created");</a:t>
            </a:r>
          </a:p>
          <a:p>
            <a:r>
              <a:rPr lang="en-US" dirty="0"/>
              <a:t>        }</a:t>
            </a:r>
          </a:p>
          <a:p>
            <a:endParaRPr lang="en-US" dirty="0"/>
          </a:p>
          <a:p>
            <a:r>
              <a:rPr lang="en-US" dirty="0"/>
              <a:t>        // Static inner class - loaded only when </a:t>
            </a:r>
            <a:r>
              <a:rPr lang="en-US" dirty="0" err="1"/>
              <a:t>getInstance</a:t>
            </a:r>
            <a:r>
              <a:rPr lang="en-US" dirty="0"/>
              <a:t>() is called</a:t>
            </a:r>
          </a:p>
          <a:p>
            <a:r>
              <a:rPr lang="en-US" dirty="0"/>
              <a:t>        private static class Holder {</a:t>
            </a:r>
          </a:p>
          <a:p>
            <a:r>
              <a:rPr lang="en-US" dirty="0"/>
              <a:t>            private static final Singleton INSTANCE = new Singleton();</a:t>
            </a:r>
          </a:p>
          <a:p>
            <a:r>
              <a:rPr lang="en-US" dirty="0"/>
              <a:t>        }</a:t>
            </a:r>
          </a:p>
          <a:p>
            <a:endParaRPr lang="en-US" dirty="0"/>
          </a:p>
          <a:p>
            <a:r>
              <a:rPr lang="en-US" dirty="0"/>
              <a:t>        // Public accessor</a:t>
            </a:r>
          </a:p>
          <a:p>
            <a:r>
              <a:rPr lang="en-US" dirty="0"/>
              <a:t>        public static Singleton </a:t>
            </a:r>
            <a:r>
              <a:rPr lang="en-US" dirty="0" err="1"/>
              <a:t>getInstance</a:t>
            </a:r>
            <a:r>
              <a:rPr lang="en-US" dirty="0"/>
              <a:t>() {</a:t>
            </a:r>
          </a:p>
          <a:p>
            <a:r>
              <a:rPr lang="en-US" dirty="0"/>
              <a:t>            return </a:t>
            </a:r>
            <a:r>
              <a:rPr lang="en-US" dirty="0" err="1"/>
              <a:t>Holder.INSTANCE</a:t>
            </a:r>
            <a:r>
              <a:rPr lang="en-US" dirty="0"/>
              <a:t>;</a:t>
            </a:r>
          </a:p>
          <a:p>
            <a:r>
              <a:rPr lang="en-US" dirty="0"/>
              <a:t>        }</a:t>
            </a:r>
          </a:p>
          <a:p>
            <a:endParaRPr lang="en-US" dirty="0"/>
          </a:p>
          <a:p>
            <a:r>
              <a:rPr lang="en-US" dirty="0"/>
              <a:t>        // Example method</a:t>
            </a:r>
          </a:p>
          <a:p>
            <a:r>
              <a:rPr lang="en-US" dirty="0"/>
              <a:t>        public void </a:t>
            </a:r>
            <a:r>
              <a:rPr lang="en-US" dirty="0" err="1"/>
              <a:t>showMessage</a:t>
            </a:r>
            <a:r>
              <a:rPr lang="en-US" dirty="0"/>
              <a:t>() {</a:t>
            </a:r>
          </a:p>
          <a:p>
            <a:r>
              <a:rPr lang="en-US" dirty="0"/>
              <a:t>            </a:t>
            </a:r>
            <a:r>
              <a:rPr lang="en-US" dirty="0" err="1"/>
              <a:t>System.out.println</a:t>
            </a:r>
            <a:r>
              <a:rPr lang="en-US" dirty="0"/>
              <a:t>("Hello from Singleton!");</a:t>
            </a:r>
          </a:p>
          <a:p>
            <a:r>
              <a:rPr lang="en-US" dirty="0"/>
              <a:t>        }</a:t>
            </a:r>
          </a:p>
          <a:p>
            <a:r>
              <a:rPr lang="en-US" dirty="0"/>
              <a:t>    }</a:t>
            </a:r>
          </a:p>
          <a:p>
            <a:endParaRPr lang="en-US" dirty="0"/>
          </a:p>
          <a:p>
            <a:r>
              <a:rPr lang="en-US" dirty="0"/>
              <a:t>    // Main method to test Singleton</a:t>
            </a:r>
          </a:p>
          <a:p>
            <a:r>
              <a:rPr lang="en-US" dirty="0"/>
              <a:t>    public static void main(String[] </a:t>
            </a:r>
            <a:r>
              <a:rPr lang="en-US" dirty="0" err="1"/>
              <a:t>args</a:t>
            </a:r>
            <a:r>
              <a:rPr lang="en-US" dirty="0"/>
              <a:t>) {</a:t>
            </a:r>
          </a:p>
          <a:p>
            <a:r>
              <a:rPr lang="en-US" dirty="0"/>
              <a:t>        // Call </a:t>
            </a:r>
            <a:r>
              <a:rPr lang="en-US" dirty="0" err="1"/>
              <a:t>getInstance</a:t>
            </a:r>
            <a:r>
              <a:rPr lang="en-US" dirty="0"/>
              <a:t> multiple times</a:t>
            </a:r>
          </a:p>
          <a:p>
            <a:r>
              <a:rPr lang="en-US" dirty="0"/>
              <a:t>        Singleton s1 = </a:t>
            </a:r>
            <a:r>
              <a:rPr lang="en-US" dirty="0" err="1"/>
              <a:t>Singleton.getInstance</a:t>
            </a:r>
            <a:r>
              <a:rPr lang="en-US" dirty="0"/>
              <a:t>();</a:t>
            </a:r>
          </a:p>
          <a:p>
            <a:r>
              <a:rPr lang="en-US" dirty="0"/>
              <a:t>        Singleton s2 = </a:t>
            </a:r>
            <a:r>
              <a:rPr lang="en-US" dirty="0" err="1"/>
              <a:t>Singleton.getInstance</a:t>
            </a:r>
            <a:r>
              <a:rPr lang="en-US" dirty="0"/>
              <a:t>();</a:t>
            </a:r>
          </a:p>
          <a:p>
            <a:endParaRPr lang="en-US" dirty="0"/>
          </a:p>
          <a:p>
            <a:r>
              <a:rPr lang="en-US" dirty="0"/>
              <a:t>        // Both references should point to the same object</a:t>
            </a:r>
          </a:p>
          <a:p>
            <a:r>
              <a:rPr lang="en-US" dirty="0"/>
              <a:t>        </a:t>
            </a:r>
            <a:r>
              <a:rPr lang="en-US" dirty="0" err="1"/>
              <a:t>System.out.println</a:t>
            </a:r>
            <a:r>
              <a:rPr lang="en-US" dirty="0"/>
              <a:t>("Are both instances same? " + (s1 == s2));</a:t>
            </a:r>
          </a:p>
          <a:p>
            <a:r>
              <a:rPr lang="en-US" dirty="0"/>
              <a:t>        s1.showMessage();</a:t>
            </a:r>
          </a:p>
          <a:p>
            <a:r>
              <a:rPr lang="en-US" dirty="0"/>
              <a:t>    }</a:t>
            </a:r>
          </a:p>
          <a:p>
            <a:r>
              <a:rPr lang="en-US" dirty="0"/>
              <a:t>}</a:t>
            </a:r>
          </a:p>
        </p:txBody>
      </p:sp>
      <p:sp>
        <p:nvSpPr>
          <p:cNvPr id="7" name="TextBox 6">
            <a:extLst>
              <a:ext uri="{FF2B5EF4-FFF2-40B4-BE49-F238E27FC236}">
                <a16:creationId xmlns:a16="http://schemas.microsoft.com/office/drawing/2014/main" id="{E6B2F491-6CF7-C63B-C38E-22CF997FAECA}"/>
              </a:ext>
            </a:extLst>
          </p:cNvPr>
          <p:cNvSpPr txBox="1"/>
          <p:nvPr/>
        </p:nvSpPr>
        <p:spPr>
          <a:xfrm>
            <a:off x="4836289" y="2157064"/>
            <a:ext cx="4953964" cy="381130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inner class is only loaded when the call to </a:t>
            </a:r>
            <a:r>
              <a:rPr lang="en-US" b="0" i="0" dirty="0" err="1">
                <a:solidFill>
                  <a:srgbClr val="3A3A3A"/>
                </a:solidFill>
                <a:effectLst/>
                <a:latin typeface="Roboto" panose="02000000000000000000" pitchFamily="2" charset="0"/>
              </a:rPr>
              <a:t>getInstance</a:t>
            </a:r>
            <a:r>
              <a:rPr lang="en-US" b="0" i="0" dirty="0">
                <a:solidFill>
                  <a:srgbClr val="3A3A3A"/>
                </a:solidFill>
                <a:effectLst/>
                <a:latin typeface="Roboto" panose="02000000000000000000" pitchFamily="2" charset="0"/>
              </a:rPr>
              <a:t>() occurs.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Class loading is guaranteed to occur only once by the JVM and is thread-safe.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 synchronized or double-checked locking is necessary.</a:t>
            </a:r>
          </a:p>
          <a:p>
            <a:pPr algn="just">
              <a:lnSpc>
                <a:spcPts val="2100"/>
              </a:lnSpc>
              <a:spcBef>
                <a:spcPts val="1650"/>
              </a:spcBef>
              <a:buNone/>
            </a:pPr>
            <a:r>
              <a:rPr lang="en-US" b="0" i="0" dirty="0">
                <a:solidFill>
                  <a:srgbClr val="3A3A3A"/>
                </a:solidFill>
                <a:effectLst/>
                <a:latin typeface="Roboto" panose="02000000000000000000" pitchFamily="2" charset="0"/>
              </a:rPr>
              <a:t>This method is very efficient and guarantees lazy initialization, thread safety, and optimal performance, because that is the Singleton pattern of choice in contemporary Java.</a:t>
            </a:r>
          </a:p>
        </p:txBody>
      </p:sp>
    </p:spTree>
    <p:extLst>
      <p:ext uri="{BB962C8B-B14F-4D97-AF65-F5344CB8AC3E}">
        <p14:creationId xmlns:p14="http://schemas.microsoft.com/office/powerpoint/2010/main" val="396213430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969B-FE3D-652D-F542-72D0F7F3DE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BB7574-C13C-8F3B-33B3-056E6CDDDF0A}"/>
              </a:ext>
            </a:extLst>
          </p:cNvPr>
          <p:cNvSpPr txBox="1"/>
          <p:nvPr/>
        </p:nvSpPr>
        <p:spPr>
          <a:xfrm>
            <a:off x="219919" y="0"/>
            <a:ext cx="4953964" cy="72635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182. What is the Open/Closed Principle, and how does it apply to Java interfaces and abstract classes?</a:t>
            </a:r>
          </a:p>
          <a:p>
            <a:pPr algn="just">
              <a:lnSpc>
                <a:spcPts val="2100"/>
              </a:lnSpc>
              <a:spcBef>
                <a:spcPts val="1650"/>
              </a:spcBef>
              <a:buNone/>
            </a:pPr>
            <a:r>
              <a:rPr lang="en-US" b="0" i="0" dirty="0">
                <a:solidFill>
                  <a:srgbClr val="3A3A3A"/>
                </a:solidFill>
                <a:effectLst/>
                <a:latin typeface="Roboto" panose="02000000000000000000" pitchFamily="2" charset="0"/>
              </a:rPr>
              <a:t>The Open/Closed Principle (OCP) is a part of the SOLID design principles of object-oriented design. It states:</a:t>
            </a:r>
          </a:p>
          <a:p>
            <a:pPr algn="just">
              <a:lnSpc>
                <a:spcPts val="2100"/>
              </a:lnSpc>
              <a:spcBef>
                <a:spcPts val="750"/>
              </a:spcBef>
              <a:buNone/>
            </a:pPr>
            <a:r>
              <a:rPr lang="en-US" b="0" i="0" dirty="0">
                <a:solidFill>
                  <a:srgbClr val="3A3A3A"/>
                </a:solidFill>
                <a:effectLst/>
                <a:latin typeface="Roboto" panose="02000000000000000000" pitchFamily="2" charset="0"/>
              </a:rPr>
              <a:t>“Software entities should be open for extension but closed for modification.”</a:t>
            </a:r>
          </a:p>
          <a:p>
            <a:pPr algn="just">
              <a:lnSpc>
                <a:spcPts val="2100"/>
              </a:lnSpc>
              <a:spcBef>
                <a:spcPts val="750"/>
              </a:spcBef>
              <a:buNone/>
            </a:pPr>
            <a:r>
              <a:rPr lang="en-US" b="0" i="0" dirty="0">
                <a:solidFill>
                  <a:srgbClr val="3A3A3A"/>
                </a:solidFill>
                <a:effectLst/>
                <a:latin typeface="Roboto" panose="02000000000000000000" pitchFamily="2" charset="0"/>
              </a:rPr>
              <a:t>In Java, this means: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can extend a class or interface without having to change its source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and abstractions provide this by means of polymorphism.</a:t>
            </a:r>
          </a:p>
          <a:p>
            <a:pPr algn="l">
              <a:spcBef>
                <a:spcPts val="1650"/>
              </a:spcBef>
              <a:buNone/>
            </a:pPr>
            <a:r>
              <a:rPr lang="en-US" b="0" i="0" dirty="0">
                <a:solidFill>
                  <a:srgbClr val="3A3A3A"/>
                </a:solidFill>
                <a:effectLst/>
                <a:latin typeface="Roboto" panose="02000000000000000000" pitchFamily="2" charset="0"/>
              </a:rPr>
              <a:t>Application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permit various implementations without a change in the interface itself.</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Abstract classes can specify a general framework yet let subclasses extend function.</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7F819944-442A-DB94-0930-0F3AB4C5AAAE}"/>
              </a:ext>
            </a:extLst>
          </p:cNvPr>
          <p:cNvSpPr txBox="1"/>
          <p:nvPr/>
        </p:nvSpPr>
        <p:spPr>
          <a:xfrm>
            <a:off x="2476982" y="-439774"/>
            <a:ext cx="4953964" cy="8125301"/>
          </a:xfrm>
          <a:prstGeom prst="rect">
            <a:avLst/>
          </a:prstGeom>
          <a:noFill/>
        </p:spPr>
        <p:txBody>
          <a:bodyPr wrap="square">
            <a:spAutoFit/>
          </a:bodyPr>
          <a:lstStyle/>
          <a:p>
            <a:r>
              <a:rPr lang="en-US" dirty="0"/>
              <a:t>interface </a:t>
            </a:r>
            <a:r>
              <a:rPr lang="en-US" dirty="0" err="1"/>
              <a:t>PaymentStrategy</a:t>
            </a:r>
            <a:r>
              <a:rPr lang="en-US" dirty="0"/>
              <a:t> {</a:t>
            </a:r>
          </a:p>
          <a:p>
            <a:r>
              <a:rPr lang="en-US" dirty="0"/>
              <a:t>    // Abstract method to implement payment logic</a:t>
            </a:r>
          </a:p>
          <a:p>
            <a:r>
              <a:rPr lang="en-US" dirty="0"/>
              <a:t>    void pay(double amount);</a:t>
            </a:r>
          </a:p>
          <a:p>
            <a:r>
              <a:rPr lang="en-US" dirty="0"/>
              <a:t>}</a:t>
            </a:r>
          </a:p>
          <a:p>
            <a:endParaRPr lang="en-US" dirty="0"/>
          </a:p>
          <a:p>
            <a:r>
              <a:rPr lang="en-US" dirty="0"/>
              <a:t>// Implementation of </a:t>
            </a:r>
            <a:r>
              <a:rPr lang="en-US" dirty="0" err="1"/>
              <a:t>PaymentStrategy</a:t>
            </a:r>
            <a:r>
              <a:rPr lang="en-US" dirty="0"/>
              <a:t> for credit card payment</a:t>
            </a:r>
          </a:p>
          <a:p>
            <a:r>
              <a:rPr lang="en-US" dirty="0"/>
              <a:t>class </a:t>
            </a:r>
            <a:r>
              <a:rPr lang="en-US" dirty="0" err="1"/>
              <a:t>CreditCardPayment</a:t>
            </a:r>
            <a:r>
              <a:rPr lang="en-US" dirty="0"/>
              <a:t> implements </a:t>
            </a:r>
            <a:r>
              <a:rPr lang="en-US" dirty="0" err="1"/>
              <a:t>PaymentStrategy</a:t>
            </a:r>
            <a:r>
              <a:rPr lang="en-US" dirty="0"/>
              <a:t> {</a:t>
            </a:r>
          </a:p>
          <a:p>
            <a:r>
              <a:rPr lang="en-US" dirty="0"/>
              <a:t>    // Override the pay method to simulate credit card payment</a:t>
            </a:r>
          </a:p>
          <a:p>
            <a:r>
              <a:rPr lang="en-US" dirty="0"/>
              <a:t>    public void pay(double amount) {</a:t>
            </a:r>
          </a:p>
          <a:p>
            <a:r>
              <a:rPr lang="en-US" dirty="0"/>
              <a:t>        </a:t>
            </a:r>
            <a:r>
              <a:rPr lang="en-US" dirty="0" err="1"/>
              <a:t>System.out.println</a:t>
            </a:r>
            <a:r>
              <a:rPr lang="en-US" dirty="0"/>
              <a:t>("Paid with credit card: " + amount);</a:t>
            </a:r>
          </a:p>
          <a:p>
            <a:r>
              <a:rPr lang="en-US" dirty="0"/>
              <a:t>    }</a:t>
            </a:r>
          </a:p>
          <a:p>
            <a:r>
              <a:rPr lang="en-US" dirty="0"/>
              <a:t>}</a:t>
            </a:r>
          </a:p>
          <a:p>
            <a:endParaRPr lang="en-US" dirty="0"/>
          </a:p>
          <a:p>
            <a:r>
              <a:rPr lang="en-US" dirty="0"/>
              <a:t>// Implementation of </a:t>
            </a:r>
            <a:r>
              <a:rPr lang="en-US" dirty="0" err="1"/>
              <a:t>PaymentStrategy</a:t>
            </a:r>
            <a:r>
              <a:rPr lang="en-US" dirty="0"/>
              <a:t> for PayPal payment</a:t>
            </a:r>
          </a:p>
          <a:p>
            <a:r>
              <a:rPr lang="en-US" dirty="0"/>
              <a:t>class </a:t>
            </a:r>
            <a:r>
              <a:rPr lang="en-US" dirty="0" err="1"/>
              <a:t>PayPalPayment</a:t>
            </a:r>
            <a:r>
              <a:rPr lang="en-US" dirty="0"/>
              <a:t> implements </a:t>
            </a:r>
            <a:r>
              <a:rPr lang="en-US" dirty="0" err="1"/>
              <a:t>PaymentStrategy</a:t>
            </a:r>
            <a:r>
              <a:rPr lang="en-US" dirty="0"/>
              <a:t> {</a:t>
            </a:r>
          </a:p>
          <a:p>
            <a:r>
              <a:rPr lang="en-US" dirty="0"/>
              <a:t>    // Override the pay method to simulate PayPal payment</a:t>
            </a:r>
          </a:p>
          <a:p>
            <a:r>
              <a:rPr lang="en-US" dirty="0"/>
              <a:t>    public void pay(double amount) {</a:t>
            </a:r>
          </a:p>
          <a:p>
            <a:r>
              <a:rPr lang="en-US" dirty="0"/>
              <a:t>        </a:t>
            </a:r>
            <a:r>
              <a:rPr lang="en-US" dirty="0" err="1"/>
              <a:t>System.out.println</a:t>
            </a:r>
            <a:r>
              <a:rPr lang="en-US" dirty="0"/>
              <a:t>("Paid with PayPal: " + amount);</a:t>
            </a:r>
          </a:p>
          <a:p>
            <a:r>
              <a:rPr lang="en-US" dirty="0"/>
              <a:t>    }</a:t>
            </a:r>
          </a:p>
          <a:p>
            <a:r>
              <a:rPr lang="en-US" dirty="0"/>
              <a:t>}</a:t>
            </a:r>
          </a:p>
        </p:txBody>
      </p:sp>
      <p:sp>
        <p:nvSpPr>
          <p:cNvPr id="7" name="TextBox 6">
            <a:extLst>
              <a:ext uri="{FF2B5EF4-FFF2-40B4-BE49-F238E27FC236}">
                <a16:creationId xmlns:a16="http://schemas.microsoft.com/office/drawing/2014/main" id="{9B7DF660-5E14-A7BF-2629-CD211C5FDF39}"/>
              </a:ext>
            </a:extLst>
          </p:cNvPr>
          <p:cNvSpPr txBox="1"/>
          <p:nvPr/>
        </p:nvSpPr>
        <p:spPr>
          <a:xfrm>
            <a:off x="4166886" y="3022711"/>
            <a:ext cx="4953964"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introducing a new payment method doesn’t require modifying current code. You simply create a new class that implements the </a:t>
            </a:r>
            <a:r>
              <a:rPr lang="en-US" b="0" i="0" dirty="0" err="1">
                <a:solidFill>
                  <a:srgbClr val="3A3A3A"/>
                </a:solidFill>
                <a:effectLst/>
                <a:latin typeface="Roboto" panose="02000000000000000000" pitchFamily="2" charset="0"/>
              </a:rPr>
              <a:t>PaymentStrategy</a:t>
            </a:r>
            <a:r>
              <a:rPr lang="en-US" b="0" i="0" dirty="0">
                <a:solidFill>
                  <a:srgbClr val="3A3A3A"/>
                </a:solidFill>
                <a:effectLst/>
                <a:latin typeface="Roboto" panose="02000000000000000000" pitchFamily="2" charset="0"/>
              </a:rPr>
              <a:t> interface.</a:t>
            </a:r>
            <a:endParaRPr lang="en-US" dirty="0"/>
          </a:p>
        </p:txBody>
      </p:sp>
    </p:spTree>
    <p:extLst>
      <p:ext uri="{BB962C8B-B14F-4D97-AF65-F5344CB8AC3E}">
        <p14:creationId xmlns:p14="http://schemas.microsoft.com/office/powerpoint/2010/main" val="250256137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F4A6C-57B1-4EA7-ED88-C47A648996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B1EB8F-60B0-CB1C-06CD-A15400F83E13}"/>
              </a:ext>
            </a:extLst>
          </p:cNvPr>
          <p:cNvSpPr txBox="1"/>
          <p:nvPr/>
        </p:nvSpPr>
        <p:spPr>
          <a:xfrm>
            <a:off x="0" y="226078"/>
            <a:ext cx="4953964"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183. How does the Strategy pattern promote flexibility in algorithm selection?</a:t>
            </a:r>
          </a:p>
          <a:p>
            <a:pPr algn="just">
              <a:lnSpc>
                <a:spcPts val="2100"/>
              </a:lnSpc>
              <a:spcBef>
                <a:spcPts val="1650"/>
              </a:spcBef>
              <a:buNone/>
            </a:pPr>
            <a:r>
              <a:rPr lang="en-US" b="0" i="0" dirty="0">
                <a:solidFill>
                  <a:srgbClr val="3A3A3A"/>
                </a:solidFill>
                <a:effectLst/>
                <a:latin typeface="Roboto" panose="02000000000000000000" pitchFamily="2" charset="0"/>
              </a:rPr>
              <a:t>The Strategy pattern encapsulates a family of algorithms, allowing them to be defined independently and made interchangeable at runtime. It permits a client to change an algorithm’s behavior at runtime without actually modifying the implementation.</a:t>
            </a:r>
          </a:p>
          <a:p>
            <a:pPr algn="l">
              <a:spcBef>
                <a:spcPts val="1650"/>
              </a:spcBef>
              <a:buNone/>
            </a:pPr>
            <a:r>
              <a:rPr lang="en-US" b="0" i="0" dirty="0">
                <a:solidFill>
                  <a:srgbClr val="3A3A3A"/>
                </a:solidFill>
                <a:effectLst/>
                <a:latin typeface="Roboto" panose="02000000000000000000" pitchFamily="2" charset="0"/>
              </a:rPr>
              <a:t>Structure: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Context: Uses a Strategy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Strategy interface: Specifies a contract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Concrete Strategies: Various implementations of the algorithm</a:t>
            </a:r>
          </a:p>
          <a:p>
            <a:pPr algn="l">
              <a:spcBef>
                <a:spcPts val="1650"/>
              </a:spcBef>
              <a:buNone/>
            </a:pPr>
            <a:r>
              <a:rPr lang="en-US" b="0" i="0" dirty="0">
                <a:solidFill>
                  <a:srgbClr val="3A3A3A"/>
                </a:solidFill>
                <a:effectLst/>
                <a:latin typeface="Roboto" panose="02000000000000000000" pitchFamily="2" charset="0"/>
              </a:rPr>
              <a:t>Example in Java:</a:t>
            </a:r>
          </a:p>
        </p:txBody>
      </p:sp>
      <p:sp>
        <p:nvSpPr>
          <p:cNvPr id="5" name="TextBox 4">
            <a:extLst>
              <a:ext uri="{FF2B5EF4-FFF2-40B4-BE49-F238E27FC236}">
                <a16:creationId xmlns:a16="http://schemas.microsoft.com/office/drawing/2014/main" id="{D7DBC544-AC8B-B251-ADE7-B8ED3D44BC35}"/>
              </a:ext>
            </a:extLst>
          </p:cNvPr>
          <p:cNvSpPr txBox="1"/>
          <p:nvPr/>
        </p:nvSpPr>
        <p:spPr>
          <a:xfrm>
            <a:off x="2676646" y="-5065633"/>
            <a:ext cx="4982900" cy="16989266"/>
          </a:xfrm>
          <a:prstGeom prst="rect">
            <a:avLst/>
          </a:prstGeom>
          <a:noFill/>
        </p:spPr>
        <p:txBody>
          <a:bodyPr wrap="square">
            <a:spAutoFit/>
          </a:bodyPr>
          <a:lstStyle/>
          <a:p>
            <a:r>
              <a:rPr lang="en-US" dirty="0"/>
              <a:t>import </a:t>
            </a:r>
            <a:r>
              <a:rPr lang="en-US" dirty="0" err="1"/>
              <a:t>java.util.Arrays</a:t>
            </a:r>
            <a:r>
              <a:rPr lang="en-US" dirty="0"/>
              <a:t>;</a:t>
            </a:r>
          </a:p>
          <a:p>
            <a:endParaRPr lang="en-US" dirty="0"/>
          </a:p>
          <a:p>
            <a:r>
              <a:rPr lang="en-US" dirty="0"/>
              <a:t>// Main class to demonstrate the Strategy pattern</a:t>
            </a:r>
          </a:p>
          <a:p>
            <a:r>
              <a:rPr lang="en-US" dirty="0"/>
              <a:t>public class </a:t>
            </a:r>
            <a:r>
              <a:rPr lang="en-US" dirty="0" err="1"/>
              <a:t>StrategyPatternDemo</a:t>
            </a:r>
            <a:r>
              <a:rPr lang="en-US" dirty="0"/>
              <a:t> {</a:t>
            </a:r>
          </a:p>
          <a:p>
            <a:r>
              <a:rPr lang="en-US" dirty="0"/>
              <a:t>    public static void main(String[] </a:t>
            </a:r>
            <a:r>
              <a:rPr lang="en-US" dirty="0" err="1"/>
              <a:t>args</a:t>
            </a:r>
            <a:r>
              <a:rPr lang="en-US" dirty="0"/>
              <a:t>) {</a:t>
            </a:r>
          </a:p>
          <a:p>
            <a:r>
              <a:rPr lang="en-US" dirty="0"/>
              <a:t>        int[] data = { 5, 3, 8, 2, 1 };</a:t>
            </a:r>
          </a:p>
          <a:p>
            <a:endParaRPr lang="en-US" dirty="0"/>
          </a:p>
          <a:p>
            <a:r>
              <a:rPr lang="en-US" dirty="0"/>
              <a:t>        </a:t>
            </a:r>
            <a:r>
              <a:rPr lang="en-US" dirty="0" err="1"/>
              <a:t>SortContext</a:t>
            </a:r>
            <a:r>
              <a:rPr lang="en-US" dirty="0"/>
              <a:t> context = new </a:t>
            </a:r>
            <a:r>
              <a:rPr lang="en-US" dirty="0" err="1"/>
              <a:t>SortContext</a:t>
            </a:r>
            <a:r>
              <a:rPr lang="en-US" dirty="0"/>
              <a:t>();</a:t>
            </a:r>
          </a:p>
          <a:p>
            <a:endParaRPr lang="en-US" dirty="0"/>
          </a:p>
          <a:p>
            <a:r>
              <a:rPr lang="en-US" dirty="0"/>
              <a:t>        // Use </a:t>
            </a:r>
            <a:r>
              <a:rPr lang="en-US" dirty="0" err="1"/>
              <a:t>QuickSort</a:t>
            </a:r>
            <a:endParaRPr lang="en-US" dirty="0"/>
          </a:p>
          <a:p>
            <a:r>
              <a:rPr lang="en-US" dirty="0"/>
              <a:t>        </a:t>
            </a:r>
            <a:r>
              <a:rPr lang="en-US" dirty="0" err="1"/>
              <a:t>context.setStrategy</a:t>
            </a:r>
            <a:r>
              <a:rPr lang="en-US" dirty="0"/>
              <a:t>(new </a:t>
            </a:r>
            <a:r>
              <a:rPr lang="en-US" dirty="0" err="1"/>
              <a:t>QuickSort</a:t>
            </a:r>
            <a:r>
              <a:rPr lang="en-US" dirty="0"/>
              <a:t>());</a:t>
            </a:r>
          </a:p>
          <a:p>
            <a:r>
              <a:rPr lang="en-US" dirty="0"/>
              <a:t>        </a:t>
            </a:r>
            <a:r>
              <a:rPr lang="en-US" dirty="0" err="1"/>
              <a:t>context.sortArray</a:t>
            </a:r>
            <a:r>
              <a:rPr lang="en-US" dirty="0"/>
              <a:t>(</a:t>
            </a:r>
            <a:r>
              <a:rPr lang="en-US" dirty="0" err="1"/>
              <a:t>data.clone</a:t>
            </a:r>
            <a:r>
              <a:rPr lang="en-US" dirty="0"/>
              <a:t>());</a:t>
            </a:r>
          </a:p>
          <a:p>
            <a:endParaRPr lang="en-US" dirty="0"/>
          </a:p>
          <a:p>
            <a:r>
              <a:rPr lang="en-US" dirty="0"/>
              <a:t>        // Use </a:t>
            </a:r>
            <a:r>
              <a:rPr lang="en-US" dirty="0" err="1"/>
              <a:t>MergeSort</a:t>
            </a:r>
            <a:endParaRPr lang="en-US" dirty="0"/>
          </a:p>
          <a:p>
            <a:r>
              <a:rPr lang="en-US" dirty="0"/>
              <a:t>        </a:t>
            </a:r>
            <a:r>
              <a:rPr lang="en-US" dirty="0" err="1"/>
              <a:t>context.setStrategy</a:t>
            </a:r>
            <a:r>
              <a:rPr lang="en-US" dirty="0"/>
              <a:t>(new </a:t>
            </a:r>
            <a:r>
              <a:rPr lang="en-US" dirty="0" err="1"/>
              <a:t>MergeSort</a:t>
            </a:r>
            <a:r>
              <a:rPr lang="en-US" dirty="0"/>
              <a:t>());</a:t>
            </a:r>
          </a:p>
          <a:p>
            <a:r>
              <a:rPr lang="en-US" dirty="0"/>
              <a:t>        </a:t>
            </a:r>
            <a:r>
              <a:rPr lang="en-US" dirty="0" err="1"/>
              <a:t>context.sortArray</a:t>
            </a:r>
            <a:r>
              <a:rPr lang="en-US" dirty="0"/>
              <a:t>(</a:t>
            </a:r>
            <a:r>
              <a:rPr lang="en-US" dirty="0" err="1"/>
              <a:t>data.clone</a:t>
            </a:r>
            <a:r>
              <a:rPr lang="en-US" dirty="0"/>
              <a:t>());</a:t>
            </a:r>
          </a:p>
          <a:p>
            <a:r>
              <a:rPr lang="en-US" dirty="0"/>
              <a:t>    }</a:t>
            </a:r>
          </a:p>
          <a:p>
            <a:r>
              <a:rPr lang="en-US" dirty="0"/>
              <a:t>}</a:t>
            </a:r>
          </a:p>
          <a:p>
            <a:endParaRPr lang="en-US" dirty="0"/>
          </a:p>
          <a:p>
            <a:r>
              <a:rPr lang="en-US" dirty="0"/>
              <a:t>// Strategy interface</a:t>
            </a:r>
          </a:p>
          <a:p>
            <a:r>
              <a:rPr lang="en-US" dirty="0"/>
              <a:t>interface </a:t>
            </a:r>
            <a:r>
              <a:rPr lang="en-US" dirty="0" err="1"/>
              <a:t>SortingStrategy</a:t>
            </a:r>
            <a:r>
              <a:rPr lang="en-US" dirty="0"/>
              <a:t> {</a:t>
            </a:r>
          </a:p>
          <a:p>
            <a:r>
              <a:rPr lang="en-US" dirty="0"/>
              <a:t>    void sort(int[] array);</a:t>
            </a:r>
          </a:p>
          <a:p>
            <a:r>
              <a:rPr lang="en-US" dirty="0"/>
              <a:t>}</a:t>
            </a:r>
          </a:p>
          <a:p>
            <a:endParaRPr lang="en-US" dirty="0"/>
          </a:p>
          <a:p>
            <a:r>
              <a:rPr lang="en-US" dirty="0"/>
              <a:t>// Concrete Strategy 1: </a:t>
            </a:r>
            <a:r>
              <a:rPr lang="en-US" dirty="0" err="1"/>
              <a:t>QuickSort</a:t>
            </a:r>
            <a:r>
              <a:rPr lang="en-US" dirty="0"/>
              <a:t> (stubbed)</a:t>
            </a:r>
          </a:p>
          <a:p>
            <a:r>
              <a:rPr lang="en-US" dirty="0"/>
              <a:t>class </a:t>
            </a:r>
            <a:r>
              <a:rPr lang="en-US" dirty="0" err="1"/>
              <a:t>QuickSort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QuickSort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Concrete Strategy 2: </a:t>
            </a:r>
            <a:r>
              <a:rPr lang="en-US" dirty="0" err="1"/>
              <a:t>MergeSort</a:t>
            </a:r>
            <a:r>
              <a:rPr lang="en-US" dirty="0"/>
              <a:t> (stubbed)</a:t>
            </a:r>
          </a:p>
          <a:p>
            <a:r>
              <a:rPr lang="en-US" dirty="0"/>
              <a:t>class </a:t>
            </a:r>
            <a:r>
              <a:rPr lang="en-US" dirty="0" err="1"/>
              <a:t>MergeSort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MergeSort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Context class</a:t>
            </a:r>
          </a:p>
          <a:p>
            <a:r>
              <a:rPr lang="en-US" dirty="0"/>
              <a:t>class </a:t>
            </a:r>
            <a:r>
              <a:rPr lang="en-US" dirty="0" err="1"/>
              <a:t>SortContext</a:t>
            </a:r>
            <a:r>
              <a:rPr lang="en-US" dirty="0"/>
              <a:t> {</a:t>
            </a:r>
          </a:p>
          <a:p>
            <a:r>
              <a:rPr lang="en-US" dirty="0"/>
              <a:t>    private </a:t>
            </a:r>
            <a:r>
              <a:rPr lang="en-US" dirty="0" err="1"/>
              <a:t>SortingStrategy</a:t>
            </a:r>
            <a:r>
              <a:rPr lang="en-US" dirty="0"/>
              <a:t> strategy;</a:t>
            </a:r>
          </a:p>
          <a:p>
            <a:endParaRPr lang="en-US" dirty="0"/>
          </a:p>
          <a:p>
            <a:r>
              <a:rPr lang="en-US" dirty="0"/>
              <a:t>    public void </a:t>
            </a:r>
            <a:r>
              <a:rPr lang="en-US" dirty="0" err="1"/>
              <a:t>setStrategy</a:t>
            </a:r>
            <a:r>
              <a:rPr lang="en-US" dirty="0"/>
              <a:t>(</a:t>
            </a:r>
            <a:r>
              <a:rPr lang="en-US" dirty="0" err="1"/>
              <a:t>SortingStrategy</a:t>
            </a:r>
            <a:r>
              <a:rPr lang="en-US" dirty="0"/>
              <a:t> strategy) {</a:t>
            </a:r>
          </a:p>
          <a:p>
            <a:r>
              <a:rPr lang="en-US" dirty="0"/>
              <a:t>        </a:t>
            </a:r>
            <a:r>
              <a:rPr lang="en-US" dirty="0" err="1"/>
              <a:t>this.strategy</a:t>
            </a:r>
            <a:r>
              <a:rPr lang="en-US" dirty="0"/>
              <a:t> = strategy;</a:t>
            </a:r>
          </a:p>
          <a:p>
            <a:r>
              <a:rPr lang="en-US" dirty="0"/>
              <a:t>    }</a:t>
            </a:r>
          </a:p>
          <a:p>
            <a:endParaRPr lang="en-US" dirty="0"/>
          </a:p>
          <a:p>
            <a:r>
              <a:rPr lang="en-US" dirty="0"/>
              <a:t>    public void </a:t>
            </a:r>
            <a:r>
              <a:rPr lang="en-US" dirty="0" err="1"/>
              <a:t>sortArray</a:t>
            </a:r>
            <a:r>
              <a:rPr lang="en-US" dirty="0"/>
              <a:t>(int[] array) {</a:t>
            </a:r>
          </a:p>
          <a:p>
            <a:r>
              <a:rPr lang="en-US" dirty="0"/>
              <a:t>        if (strategy == null) {</a:t>
            </a:r>
          </a:p>
          <a:p>
            <a:r>
              <a:rPr lang="en-US" dirty="0"/>
              <a:t>            </a:t>
            </a:r>
            <a:r>
              <a:rPr lang="en-US" dirty="0" err="1"/>
              <a:t>System.out.println</a:t>
            </a:r>
            <a:r>
              <a:rPr lang="en-US" dirty="0"/>
              <a:t>("No strategy set.");</a:t>
            </a:r>
          </a:p>
          <a:p>
            <a:r>
              <a:rPr lang="en-US" dirty="0"/>
              <a:t>            return;</a:t>
            </a:r>
          </a:p>
          <a:p>
            <a:r>
              <a:rPr lang="en-US" dirty="0"/>
              <a:t>        }</a:t>
            </a:r>
          </a:p>
          <a:p>
            <a:r>
              <a:rPr lang="en-US" dirty="0"/>
              <a:t>        </a:t>
            </a:r>
            <a:r>
              <a:rPr lang="en-US" dirty="0" err="1"/>
              <a:t>strategy.sort</a:t>
            </a:r>
            <a:r>
              <a:rPr lang="en-US" dirty="0"/>
              <a:t>(array);</a:t>
            </a:r>
          </a:p>
          <a:p>
            <a:r>
              <a:rPr lang="en-US" dirty="0"/>
              <a:t>        </a:t>
            </a:r>
            <a:r>
              <a:rPr lang="en-US" dirty="0" err="1"/>
              <a:t>System.out.println</a:t>
            </a:r>
            <a:r>
              <a:rPr lang="en-US" dirty="0"/>
              <a:t>("Sorted array: " + </a:t>
            </a:r>
            <a:r>
              <a:rPr lang="en-US" dirty="0" err="1"/>
              <a:t>Arrays.toString</a:t>
            </a:r>
            <a:r>
              <a:rPr lang="en-US" dirty="0"/>
              <a:t>(array));</a:t>
            </a:r>
          </a:p>
          <a:p>
            <a:r>
              <a:rPr lang="en-US" dirty="0"/>
              <a:t>    }</a:t>
            </a:r>
          </a:p>
          <a:p>
            <a:r>
              <a:rPr lang="en-US" dirty="0"/>
              <a:t>}</a:t>
            </a:r>
          </a:p>
        </p:txBody>
      </p:sp>
      <p:sp>
        <p:nvSpPr>
          <p:cNvPr id="7" name="TextBox 6">
            <a:extLst>
              <a:ext uri="{FF2B5EF4-FFF2-40B4-BE49-F238E27FC236}">
                <a16:creationId xmlns:a16="http://schemas.microsoft.com/office/drawing/2014/main" id="{8628DBC4-1FA6-2063-F39B-7D6133031161}"/>
              </a:ext>
            </a:extLst>
          </p:cNvPr>
          <p:cNvSpPr txBox="1"/>
          <p:nvPr/>
        </p:nvSpPr>
        <p:spPr>
          <a:xfrm>
            <a:off x="4123482" y="2433792"/>
            <a:ext cx="4982900" cy="2169825"/>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reusability and flexibility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Promotes separation of concerns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Ensures that new algorithms are easy to incorporate without modifying current code (compliant with Open/Closed Principle).</a:t>
            </a:r>
          </a:p>
        </p:txBody>
      </p:sp>
    </p:spTree>
    <p:extLst>
      <p:ext uri="{BB962C8B-B14F-4D97-AF65-F5344CB8AC3E}">
        <p14:creationId xmlns:p14="http://schemas.microsoft.com/office/powerpoint/2010/main" val="415588959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8DF0-70E1-15AF-C670-79DCC726AE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160C62-42A6-EF2D-28CA-4C29C72DCD9C}"/>
              </a:ext>
            </a:extLst>
          </p:cNvPr>
          <p:cNvSpPr txBox="1"/>
          <p:nvPr/>
        </p:nvSpPr>
        <p:spPr>
          <a:xfrm>
            <a:off x="0" y="123723"/>
            <a:ext cx="4953964"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184. What are the differences between </a:t>
            </a:r>
            <a:r>
              <a:rPr lang="en-US" b="0" i="0" dirty="0" err="1">
                <a:solidFill>
                  <a:srgbClr val="272C37"/>
                </a:solidFill>
                <a:effectLst/>
                <a:latin typeface="Roboto" panose="02000000000000000000" pitchFamily="2" charset="0"/>
              </a:rPr>
              <a:t>ConcurrentHashMap</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Collections.synchronizedMap</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Collections.synchronizedMap</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are employed to make a Map thread-safe, but with vastly different performance, granularity, and concurrency.</a:t>
            </a:r>
          </a:p>
        </p:txBody>
      </p:sp>
      <p:graphicFrame>
        <p:nvGraphicFramePr>
          <p:cNvPr id="4" name="Table 3">
            <a:extLst>
              <a:ext uri="{FF2B5EF4-FFF2-40B4-BE49-F238E27FC236}">
                <a16:creationId xmlns:a16="http://schemas.microsoft.com/office/drawing/2014/main" id="{8F56DC8E-0AC5-332B-1C36-667CD9911C01}"/>
              </a:ext>
            </a:extLst>
          </p:cNvPr>
          <p:cNvGraphicFramePr>
            <a:graphicFrameLocks noGrp="1"/>
          </p:cNvGraphicFramePr>
          <p:nvPr/>
        </p:nvGraphicFramePr>
        <p:xfrm>
          <a:off x="681038" y="1898174"/>
          <a:ext cx="8543925" cy="4206240"/>
        </p:xfrm>
        <a:graphic>
          <a:graphicData uri="http://schemas.openxmlformats.org/drawingml/2006/table">
            <a:tbl>
              <a:tblPr/>
              <a:tblGrid>
                <a:gridCol w="2847975">
                  <a:extLst>
                    <a:ext uri="{9D8B030D-6E8A-4147-A177-3AD203B41FA5}">
                      <a16:colId xmlns:a16="http://schemas.microsoft.com/office/drawing/2014/main" val="14799392"/>
                    </a:ext>
                  </a:extLst>
                </a:gridCol>
                <a:gridCol w="2847975">
                  <a:extLst>
                    <a:ext uri="{9D8B030D-6E8A-4147-A177-3AD203B41FA5}">
                      <a16:colId xmlns:a16="http://schemas.microsoft.com/office/drawing/2014/main" val="3326271901"/>
                    </a:ext>
                  </a:extLst>
                </a:gridCol>
                <a:gridCol w="2847975">
                  <a:extLst>
                    <a:ext uri="{9D8B030D-6E8A-4147-A177-3AD203B41FA5}">
                      <a16:colId xmlns:a16="http://schemas.microsoft.com/office/drawing/2014/main" val="298570629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ConcurrentHashMap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Collections.synchronizedMap()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500536105"/>
                  </a:ext>
                </a:extLst>
              </a:tr>
              <a:tr h="0">
                <a:tc>
                  <a:txBody>
                    <a:bodyPr/>
                    <a:lstStyle/>
                    <a:p>
                      <a:pPr fontAlgn="t">
                        <a:buNone/>
                      </a:pPr>
                      <a:r>
                        <a:rPr lang="en-US" b="0">
                          <a:effectLst/>
                        </a:rPr>
                        <a:t>Thread Safety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Fine-grained (segment-level locking)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Entire map is locked (coarse-grained)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59766761"/>
                  </a:ext>
                </a:extLst>
              </a:tr>
              <a:tr h="0">
                <a:tc>
                  <a:txBody>
                    <a:bodyPr/>
                    <a:lstStyle/>
                    <a:p>
                      <a:pPr fontAlgn="t">
                        <a:buNone/>
                      </a:pPr>
                      <a:r>
                        <a:rPr lang="en-US" b="0">
                          <a:effectLst/>
                        </a:rPr>
                        <a:t>Concurrency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High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Low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46106325"/>
                  </a:ext>
                </a:extLst>
              </a:tr>
              <a:tr h="0">
                <a:tc>
                  <a:txBody>
                    <a:bodyPr/>
                    <a:lstStyle/>
                    <a:p>
                      <a:pPr fontAlgn="t">
                        <a:buNone/>
                      </a:pPr>
                      <a:r>
                        <a:rPr lang="en-US" b="0">
                          <a:effectLst/>
                        </a:rPr>
                        <a:t>Null Keys/Values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 and multiple null 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29357557"/>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Better under high thread contention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Poor performance under load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6082278"/>
                  </a:ext>
                </a:extLst>
              </a:tr>
              <a:tr h="0">
                <a:tc>
                  <a:txBody>
                    <a:bodyPr/>
                    <a:lstStyle/>
                    <a:p>
                      <a:pPr fontAlgn="t">
                        <a:buNone/>
                      </a:pPr>
                      <a:r>
                        <a:rPr lang="en-US" b="0">
                          <a:effectLst/>
                        </a:rPr>
                        <a:t>Iteration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Weakly consistent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Must use external synchronization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03842799"/>
                  </a:ext>
                </a:extLst>
              </a:tr>
              <a:tr h="0">
                <a:tc>
                  <a:txBody>
                    <a:bodyPr/>
                    <a:lstStyle/>
                    <a:p>
                      <a:pPr fontAlgn="t">
                        <a:buNone/>
                      </a:pPr>
                      <a:r>
                        <a:rPr lang="en-US" b="0">
                          <a:effectLst/>
                        </a:rPr>
                        <a:t>Introduced In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Java 5 (java.util.concurrent)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Legacy approach using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3337866"/>
                  </a:ext>
                </a:extLst>
              </a:tr>
            </a:tbl>
          </a:graphicData>
        </a:graphic>
      </p:graphicFrame>
      <p:sp>
        <p:nvSpPr>
          <p:cNvPr id="6" name="TextBox 5">
            <a:extLst>
              <a:ext uri="{FF2B5EF4-FFF2-40B4-BE49-F238E27FC236}">
                <a16:creationId xmlns:a16="http://schemas.microsoft.com/office/drawing/2014/main" id="{BACF4FBA-1E4E-8491-4FC0-1ED4B54A1C5E}"/>
              </a:ext>
            </a:extLst>
          </p:cNvPr>
          <p:cNvSpPr txBox="1"/>
          <p:nvPr/>
        </p:nvSpPr>
        <p:spPr>
          <a:xfrm>
            <a:off x="5061032" y="153421"/>
            <a:ext cx="4982900"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in contemporary concurrent applications. It supports non-blocking reads, lock striping, and increased scalability.</a:t>
            </a:r>
            <a:endParaRPr lang="en-US" dirty="0"/>
          </a:p>
        </p:txBody>
      </p:sp>
    </p:spTree>
    <p:extLst>
      <p:ext uri="{BB962C8B-B14F-4D97-AF65-F5344CB8AC3E}">
        <p14:creationId xmlns:p14="http://schemas.microsoft.com/office/powerpoint/2010/main" val="10663279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F9857-6297-DEA5-9BC9-4A5B5D46BD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26D297-974B-2CC0-79EE-F1E4287CBC2F}"/>
              </a:ext>
            </a:extLst>
          </p:cNvPr>
          <p:cNvSpPr txBox="1"/>
          <p:nvPr/>
        </p:nvSpPr>
        <p:spPr>
          <a:xfrm>
            <a:off x="555585" y="0"/>
            <a:ext cx="4953964" cy="525785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185. Explain the internal workings of </a:t>
            </a:r>
            <a:r>
              <a:rPr lang="en-US" b="0" i="0" dirty="0" err="1">
                <a:solidFill>
                  <a:srgbClr val="272C37"/>
                </a:solidFill>
                <a:effectLst/>
                <a:latin typeface="Roboto" panose="02000000000000000000" pitchFamily="2" charset="0"/>
              </a:rPr>
              <a:t>LinkedHashMap</a:t>
            </a:r>
            <a:r>
              <a:rPr lang="en-US" b="0" i="0" dirty="0">
                <a:solidFill>
                  <a:srgbClr val="272C37"/>
                </a:solidFill>
                <a:effectLst/>
                <a:latin typeface="Roboto" panose="02000000000000000000" pitchFamily="2" charset="0"/>
              </a:rPr>
              <a:t> and its use cases.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a subclass of HashMap that has a doubly-linked list that goes through all of its entries. This feature causes it to retain insertion order or access order, depending upon the way it is set.</a:t>
            </a:r>
          </a:p>
          <a:p>
            <a:pPr algn="l">
              <a:spcBef>
                <a:spcPts val="1650"/>
              </a:spcBef>
              <a:buNone/>
            </a:pPr>
            <a:r>
              <a:rPr lang="en-US" b="0" i="0" dirty="0">
                <a:solidFill>
                  <a:srgbClr val="3A3A3A"/>
                </a:solidFill>
                <a:effectLst/>
                <a:latin typeface="Roboto" panose="02000000000000000000" pitchFamily="2" charset="0"/>
              </a:rPr>
              <a:t>Constructors:</a:t>
            </a:r>
          </a:p>
          <a:p>
            <a:pPr algn="l">
              <a:spcBef>
                <a:spcPts val="1125"/>
              </a:spcBef>
              <a:spcAft>
                <a:spcPts val="375"/>
              </a:spcAft>
              <a:buNone/>
            </a:pP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&lt;K, V&gt; map = new </a:t>
            </a: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&lt;&gt;(16, 0.75f,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third parameter,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controls whether iteration order is by insertion (false) or by access (true).</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with LRU Cache Example:</a:t>
            </a:r>
          </a:p>
        </p:txBody>
      </p:sp>
      <p:sp>
        <p:nvSpPr>
          <p:cNvPr id="5" name="TextBox 4">
            <a:extLst>
              <a:ext uri="{FF2B5EF4-FFF2-40B4-BE49-F238E27FC236}">
                <a16:creationId xmlns:a16="http://schemas.microsoft.com/office/drawing/2014/main" id="{95F2043A-9ADC-5579-FC58-42EA9AF4B9EE}"/>
              </a:ext>
            </a:extLst>
          </p:cNvPr>
          <p:cNvSpPr txBox="1"/>
          <p:nvPr/>
        </p:nvSpPr>
        <p:spPr>
          <a:xfrm>
            <a:off x="2476982" y="-1900401"/>
            <a:ext cx="4953964" cy="10618291"/>
          </a:xfrm>
          <a:prstGeom prst="rect">
            <a:avLst/>
          </a:prstGeom>
          <a:noFill/>
        </p:spPr>
        <p:txBody>
          <a:bodyPr wrap="square">
            <a:spAutoFit/>
          </a:bodyPr>
          <a:lstStyle/>
          <a:p>
            <a:r>
              <a:rPr lang="en-US" dirty="0"/>
              <a:t>import </a:t>
            </a:r>
            <a:r>
              <a:rPr lang="en-US" dirty="0" err="1"/>
              <a:t>java.util.LinkedHashMap</a:t>
            </a:r>
            <a:r>
              <a:rPr lang="en-US" dirty="0"/>
              <a:t>;</a:t>
            </a:r>
          </a:p>
          <a:p>
            <a:r>
              <a:rPr lang="en-US" dirty="0"/>
              <a:t>import </a:t>
            </a:r>
            <a:r>
              <a:rPr lang="en-US" dirty="0" err="1"/>
              <a:t>java.util.Map</a:t>
            </a:r>
            <a:r>
              <a:rPr lang="en-US" dirty="0"/>
              <a:t>;</a:t>
            </a:r>
          </a:p>
          <a:p>
            <a:endParaRPr lang="en-US" dirty="0"/>
          </a:p>
          <a:p>
            <a:r>
              <a:rPr lang="en-US" dirty="0"/>
              <a:t>public class </a:t>
            </a:r>
            <a:r>
              <a:rPr lang="en-US" dirty="0" err="1"/>
              <a:t>LinkedHashMapLRUExample</a:t>
            </a:r>
            <a:r>
              <a:rPr lang="en-US" dirty="0"/>
              <a:t> {</a:t>
            </a:r>
          </a:p>
          <a:p>
            <a:r>
              <a:rPr lang="en-US" dirty="0"/>
              <a:t>    public static void main(String[] </a:t>
            </a:r>
            <a:r>
              <a:rPr lang="en-US" dirty="0" err="1"/>
              <a:t>args</a:t>
            </a:r>
            <a:r>
              <a:rPr lang="en-US" dirty="0"/>
              <a:t>) {</a:t>
            </a:r>
          </a:p>
          <a:p>
            <a:r>
              <a:rPr lang="en-US" dirty="0"/>
              <a:t>        // Create an LRU Cache with max size 3</a:t>
            </a:r>
          </a:p>
          <a:p>
            <a:r>
              <a:rPr lang="en-US" dirty="0"/>
              <a:t>        </a:t>
            </a:r>
            <a:r>
              <a:rPr lang="en-US" dirty="0" err="1"/>
              <a:t>LinkedHashMap</a:t>
            </a:r>
            <a:r>
              <a:rPr lang="en-US" dirty="0"/>
              <a:t>&lt;Integer, String&gt; </a:t>
            </a:r>
            <a:r>
              <a:rPr lang="en-US" dirty="0" err="1"/>
              <a:t>lruCache</a:t>
            </a:r>
            <a:r>
              <a:rPr lang="en-US" dirty="0"/>
              <a:t> = new </a:t>
            </a:r>
            <a:r>
              <a:rPr lang="en-US" dirty="0" err="1"/>
              <a:t>LinkedHashMap</a:t>
            </a:r>
            <a:r>
              <a:rPr lang="en-US" dirty="0"/>
              <a:t>&lt;&gt;(3, 0.75f, true) {</a:t>
            </a:r>
          </a:p>
          <a:p>
            <a:r>
              <a:rPr lang="en-US" dirty="0"/>
              <a:t>            @Override</a:t>
            </a:r>
          </a:p>
          <a:p>
            <a:r>
              <a:rPr lang="en-US" dirty="0"/>
              <a:t>            protected </a:t>
            </a:r>
            <a:r>
              <a:rPr lang="en-US" dirty="0" err="1"/>
              <a:t>boolean</a:t>
            </a:r>
            <a:r>
              <a:rPr lang="en-US" dirty="0"/>
              <a:t> </a:t>
            </a:r>
            <a:r>
              <a:rPr lang="en-US" dirty="0" err="1"/>
              <a:t>removeEldestEntry</a:t>
            </a:r>
            <a:r>
              <a:rPr lang="en-US" dirty="0"/>
              <a:t>(</a:t>
            </a:r>
            <a:r>
              <a:rPr lang="en-US" dirty="0" err="1"/>
              <a:t>Map.Entry</a:t>
            </a:r>
            <a:r>
              <a:rPr lang="en-US" dirty="0"/>
              <a:t>&lt;Integer, String&gt; eldest) {</a:t>
            </a:r>
          </a:p>
          <a:p>
            <a:r>
              <a:rPr lang="en-US" dirty="0"/>
              <a:t>                return size() &gt; 3;</a:t>
            </a:r>
          </a:p>
          <a:p>
            <a:r>
              <a:rPr lang="en-US" dirty="0"/>
              <a:t>            }</a:t>
            </a:r>
          </a:p>
          <a:p>
            <a:r>
              <a:rPr lang="en-US" dirty="0"/>
              <a:t>        };</a:t>
            </a:r>
          </a:p>
          <a:p>
            <a:endParaRPr lang="en-US" dirty="0"/>
          </a:p>
          <a:p>
            <a:r>
              <a:rPr lang="en-US" dirty="0"/>
              <a:t>        // Populate the cache</a:t>
            </a:r>
          </a:p>
          <a:p>
            <a:r>
              <a:rPr lang="en-US" dirty="0"/>
              <a:t>        </a:t>
            </a:r>
            <a:r>
              <a:rPr lang="en-US" dirty="0" err="1"/>
              <a:t>lruCache.put</a:t>
            </a:r>
            <a:r>
              <a:rPr lang="en-US" dirty="0"/>
              <a:t>(1, "One");</a:t>
            </a:r>
          </a:p>
          <a:p>
            <a:r>
              <a:rPr lang="en-US" dirty="0"/>
              <a:t>        </a:t>
            </a:r>
            <a:r>
              <a:rPr lang="en-US" dirty="0" err="1"/>
              <a:t>lruCache.put</a:t>
            </a:r>
            <a:r>
              <a:rPr lang="en-US" dirty="0"/>
              <a:t>(2, "Two");</a:t>
            </a:r>
          </a:p>
          <a:p>
            <a:r>
              <a:rPr lang="en-US" dirty="0"/>
              <a:t>        </a:t>
            </a:r>
            <a:r>
              <a:rPr lang="en-US" dirty="0" err="1"/>
              <a:t>lruCache.put</a:t>
            </a:r>
            <a:r>
              <a:rPr lang="en-US" dirty="0"/>
              <a:t>(3, "Three");</a:t>
            </a:r>
          </a:p>
          <a:p>
            <a:r>
              <a:rPr lang="en-US" dirty="0"/>
              <a:t>        </a:t>
            </a:r>
            <a:r>
              <a:rPr lang="en-US" dirty="0" err="1"/>
              <a:t>System.out.println</a:t>
            </a:r>
            <a:r>
              <a:rPr lang="en-US" dirty="0"/>
              <a:t>("Initial Cache: " + </a:t>
            </a:r>
            <a:r>
              <a:rPr lang="en-US" dirty="0" err="1"/>
              <a:t>lruCache</a:t>
            </a:r>
            <a:r>
              <a:rPr lang="en-US" dirty="0"/>
              <a:t>);</a:t>
            </a:r>
          </a:p>
          <a:p>
            <a:endParaRPr lang="en-US" dirty="0"/>
          </a:p>
          <a:p>
            <a:r>
              <a:rPr lang="en-US" dirty="0"/>
              <a:t>        // Access key 1 to make it recently used</a:t>
            </a:r>
          </a:p>
          <a:p>
            <a:r>
              <a:rPr lang="en-US" dirty="0"/>
              <a:t>        </a:t>
            </a:r>
            <a:r>
              <a:rPr lang="en-US" dirty="0" err="1"/>
              <a:t>lruCache.get</a:t>
            </a:r>
            <a:r>
              <a:rPr lang="en-US" dirty="0"/>
              <a:t>(1);</a:t>
            </a:r>
          </a:p>
          <a:p>
            <a:endParaRPr lang="en-US" dirty="0"/>
          </a:p>
          <a:p>
            <a:r>
              <a:rPr lang="en-US" dirty="0"/>
              <a:t>        // Add a new entry, causing eviction of least recently used (key 2)</a:t>
            </a:r>
          </a:p>
          <a:p>
            <a:r>
              <a:rPr lang="en-US" dirty="0"/>
              <a:t>        </a:t>
            </a:r>
            <a:r>
              <a:rPr lang="en-US" dirty="0" err="1"/>
              <a:t>lruCache.put</a:t>
            </a:r>
            <a:r>
              <a:rPr lang="en-US" dirty="0"/>
              <a:t>(4, "Four");</a:t>
            </a:r>
          </a:p>
          <a:p>
            <a:r>
              <a:rPr lang="en-US" dirty="0"/>
              <a:t>        </a:t>
            </a:r>
            <a:r>
              <a:rPr lang="en-US" dirty="0" err="1"/>
              <a:t>System.out.println</a:t>
            </a:r>
            <a:r>
              <a:rPr lang="en-US" dirty="0"/>
              <a:t>("Cache after accessing key 1 and adding key 4: " + </a:t>
            </a:r>
            <a:r>
              <a:rPr lang="en-US" dirty="0" err="1"/>
              <a:t>lruCache</a:t>
            </a:r>
            <a:r>
              <a:rPr lang="en-US" dirty="0"/>
              <a:t>);</a:t>
            </a:r>
          </a:p>
          <a:p>
            <a:endParaRPr lang="en-US" dirty="0"/>
          </a:p>
          <a:p>
            <a:r>
              <a:rPr lang="en-US" dirty="0"/>
              <a:t>        // Add another new entry</a:t>
            </a:r>
          </a:p>
          <a:p>
            <a:r>
              <a:rPr lang="en-US" dirty="0"/>
              <a:t>        </a:t>
            </a:r>
            <a:r>
              <a:rPr lang="en-US" dirty="0" err="1"/>
              <a:t>lruCache.put</a:t>
            </a:r>
            <a:r>
              <a:rPr lang="en-US" dirty="0"/>
              <a:t>(5, "Five");</a:t>
            </a:r>
          </a:p>
          <a:p>
            <a:r>
              <a:rPr lang="en-US" dirty="0"/>
              <a:t>        </a:t>
            </a:r>
            <a:r>
              <a:rPr lang="en-US" dirty="0" err="1"/>
              <a:t>System.out.println</a:t>
            </a:r>
            <a:r>
              <a:rPr lang="en-US" dirty="0"/>
              <a:t>("Cache after adding key 5: " + </a:t>
            </a:r>
            <a:r>
              <a:rPr lang="en-US" dirty="0" err="1"/>
              <a:t>lruCache</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7B1A9C62-2F8B-E675-1861-69745E864849}"/>
              </a:ext>
            </a:extLst>
          </p:cNvPr>
          <p:cNvSpPr txBox="1"/>
          <p:nvPr/>
        </p:nvSpPr>
        <p:spPr>
          <a:xfrm>
            <a:off x="4502551" y="0"/>
            <a:ext cx="4953964" cy="826380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Internal Working of </a:t>
            </a:r>
            <a:r>
              <a:rPr lang="en-US" b="0" i="0" dirty="0" err="1">
                <a:solidFill>
                  <a:srgbClr val="3A3A3A"/>
                </a:solidFill>
                <a:effectLst/>
                <a:latin typeface="Roboto" panose="02000000000000000000" pitchFamily="2" charset="0"/>
              </a:rPr>
              <a:t>LinkedHashMap</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Internally extends HashMap.</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Maintains a doubly-linked list connecting all entries in insertion or access order.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 true, every access (get or put) moves the accessed entry to the end of the list.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 a customizable method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 that helps control eviction – ideal for implementing caches like Least Recently Used (LRU).</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LRU Cache Implementation – with access order and overridden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Order-sensitive operations – e.g. displaying items in the same order that they were added.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Readable caching layer – where the ordering is significant in UI or output.</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suitable where ordering is needed with predictable time for putting and getting, similar to that of HashMap.</a:t>
            </a:r>
          </a:p>
        </p:txBody>
      </p:sp>
    </p:spTree>
    <p:extLst>
      <p:ext uri="{BB962C8B-B14F-4D97-AF65-F5344CB8AC3E}">
        <p14:creationId xmlns:p14="http://schemas.microsoft.com/office/powerpoint/2010/main" val="147352679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0581-8C84-F63F-E04B-F75FA2A43C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C9BCA4-0C7A-28C8-339B-E1A5DE1E193F}"/>
              </a:ext>
            </a:extLst>
          </p:cNvPr>
          <p:cNvSpPr txBox="1"/>
          <p:nvPr/>
        </p:nvSpPr>
        <p:spPr>
          <a:xfrm>
            <a:off x="324090" y="278393"/>
            <a:ext cx="4953964" cy="53578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186. What is reflection in Java, and what are its potential security implications?</a:t>
            </a:r>
          </a:p>
          <a:p>
            <a:pPr algn="just">
              <a:lnSpc>
                <a:spcPts val="2100"/>
              </a:lnSpc>
              <a:spcBef>
                <a:spcPts val="1650"/>
              </a:spcBef>
              <a:buNone/>
            </a:pPr>
            <a:r>
              <a:rPr lang="en-US" b="0" i="0" dirty="0">
                <a:solidFill>
                  <a:srgbClr val="3A3A3A"/>
                </a:solidFill>
                <a:effectLst/>
                <a:latin typeface="Roboto" panose="02000000000000000000" pitchFamily="2" charset="0"/>
              </a:rPr>
              <a:t>Java Reflection is a very powerful feature that permits programs to examine and change the runtime characteristics of classes, methods, fields, and constructors, even private members.</a:t>
            </a:r>
          </a:p>
          <a:p>
            <a:pPr algn="just">
              <a:lnSpc>
                <a:spcPts val="2100"/>
              </a:lnSpc>
              <a:spcBef>
                <a:spcPts val="750"/>
              </a:spcBef>
              <a:buNone/>
            </a:pPr>
            <a:r>
              <a:rPr lang="en-US" b="0" i="0" dirty="0">
                <a:solidFill>
                  <a:srgbClr val="3A3A3A"/>
                </a:solidFill>
                <a:effectLst/>
                <a:latin typeface="Roboto" panose="02000000000000000000" pitchFamily="2" charset="0"/>
              </a:rPr>
              <a:t>It belongs to the </a:t>
            </a:r>
            <a:r>
              <a:rPr lang="en-US" b="0" i="0" dirty="0" err="1">
                <a:solidFill>
                  <a:srgbClr val="3A3A3A"/>
                </a:solidFill>
                <a:effectLst/>
                <a:latin typeface="Roboto" panose="02000000000000000000" pitchFamily="2" charset="0"/>
              </a:rPr>
              <a:t>java.lang.reflect</a:t>
            </a:r>
            <a:r>
              <a:rPr lang="en-US" b="0" i="0" dirty="0">
                <a:solidFill>
                  <a:srgbClr val="3A3A3A"/>
                </a:solidFill>
                <a:effectLst/>
                <a:latin typeface="Roboto" panose="02000000000000000000" pitchFamily="2" charset="0"/>
              </a:rPr>
              <a:t> package and is usually employed in:</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Frameworks</a:t>
            </a:r>
            <a:r>
              <a:rPr lang="en-US" b="0" i="0" dirty="0">
                <a:solidFill>
                  <a:srgbClr val="3A3A3A"/>
                </a:solidFill>
                <a:effectLst/>
                <a:latin typeface="Roboto" panose="02000000000000000000" pitchFamily="2" charset="0"/>
              </a:rPr>
              <a:t> such as Spring and Hibernate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Injection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 processing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proxies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AA2D4E3-94CB-B48F-8D59-83761F2E0491}"/>
              </a:ext>
            </a:extLst>
          </p:cNvPr>
          <p:cNvSpPr txBox="1"/>
          <p:nvPr/>
        </p:nvSpPr>
        <p:spPr>
          <a:xfrm>
            <a:off x="324090" y="5636270"/>
            <a:ext cx="4953964" cy="1754326"/>
          </a:xfrm>
          <a:prstGeom prst="rect">
            <a:avLst/>
          </a:prstGeom>
          <a:noFill/>
        </p:spPr>
        <p:txBody>
          <a:bodyPr wrap="square">
            <a:spAutoFit/>
          </a:bodyPr>
          <a:lstStyle/>
          <a:p>
            <a:r>
              <a:rPr lang="en-US" dirty="0"/>
              <a:t>Class&lt;?&gt; </a:t>
            </a:r>
            <a:r>
              <a:rPr lang="en-US" dirty="0" err="1"/>
              <a:t>cls</a:t>
            </a:r>
            <a:r>
              <a:rPr lang="en-US" dirty="0"/>
              <a:t> = </a:t>
            </a:r>
            <a:r>
              <a:rPr lang="en-US" dirty="0" err="1"/>
              <a:t>Class.forName</a:t>
            </a:r>
            <a:r>
              <a:rPr lang="en-US" dirty="0"/>
              <a:t>("</a:t>
            </a:r>
            <a:r>
              <a:rPr lang="en-US" dirty="0" err="1"/>
              <a:t>com.example.MyClass</a:t>
            </a:r>
            <a:r>
              <a:rPr lang="en-US" dirty="0"/>
              <a:t>");</a:t>
            </a:r>
          </a:p>
          <a:p>
            <a:r>
              <a:rPr lang="en-US" dirty="0"/>
              <a:t>Method </a:t>
            </a:r>
            <a:r>
              <a:rPr lang="en-US" dirty="0" err="1"/>
              <a:t>method</a:t>
            </a:r>
            <a:r>
              <a:rPr lang="en-US" dirty="0"/>
              <a:t> = </a:t>
            </a:r>
            <a:r>
              <a:rPr lang="en-US" dirty="0" err="1"/>
              <a:t>cls.getDeclaredMethod</a:t>
            </a:r>
            <a:r>
              <a:rPr lang="en-US" dirty="0"/>
              <a:t>("</a:t>
            </a:r>
            <a:r>
              <a:rPr lang="en-US" dirty="0" err="1"/>
              <a:t>myPrivateMethod</a:t>
            </a:r>
            <a:r>
              <a:rPr lang="en-US" dirty="0"/>
              <a:t>");</a:t>
            </a:r>
          </a:p>
          <a:p>
            <a:r>
              <a:rPr lang="en-US" dirty="0" err="1"/>
              <a:t>method.setAccessible</a:t>
            </a:r>
            <a:r>
              <a:rPr lang="en-US" dirty="0"/>
              <a:t>(true);</a:t>
            </a:r>
          </a:p>
          <a:p>
            <a:r>
              <a:rPr lang="en-US" dirty="0" err="1"/>
              <a:t>method.invoke</a:t>
            </a:r>
            <a:r>
              <a:rPr lang="en-US" dirty="0"/>
              <a:t>(obj);</a:t>
            </a:r>
          </a:p>
        </p:txBody>
      </p:sp>
      <p:sp>
        <p:nvSpPr>
          <p:cNvPr id="7" name="TextBox 6">
            <a:extLst>
              <a:ext uri="{FF2B5EF4-FFF2-40B4-BE49-F238E27FC236}">
                <a16:creationId xmlns:a16="http://schemas.microsoft.com/office/drawing/2014/main" id="{FBA475B3-B2EE-212F-412E-153832D59F99}"/>
              </a:ext>
            </a:extLst>
          </p:cNvPr>
          <p:cNvSpPr txBox="1"/>
          <p:nvPr/>
        </p:nvSpPr>
        <p:spPr>
          <a:xfrm>
            <a:off x="5370653" y="0"/>
            <a:ext cx="4953964" cy="501419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Security Implications: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Bypassing access control (private field/method access).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lead to data leaks or unauthorized operations .</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cause breaking encapsulation by breaching Java’s object-oriented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Slower and more error-prone is reflection.</a:t>
            </a:r>
          </a:p>
          <a:p>
            <a:pPr algn="just">
              <a:lnSpc>
                <a:spcPts val="2100"/>
              </a:lnSpc>
              <a:spcBef>
                <a:spcPts val="1650"/>
              </a:spcBef>
              <a:buNone/>
            </a:pPr>
            <a:r>
              <a:rPr lang="en-US" b="0" i="0" dirty="0">
                <a:solidFill>
                  <a:srgbClr val="3A3A3A"/>
                </a:solidFill>
                <a:effectLst/>
                <a:latin typeface="Roboto" panose="02000000000000000000" pitchFamily="2" charset="0"/>
              </a:rPr>
              <a:t>Best practice: Restrict reflection with a </a:t>
            </a:r>
            <a:r>
              <a:rPr lang="en-US" b="0" i="0" dirty="0" err="1">
                <a:solidFill>
                  <a:srgbClr val="3A3A3A"/>
                </a:solidFill>
                <a:effectLst/>
                <a:latin typeface="Roboto" panose="02000000000000000000" pitchFamily="2" charset="0"/>
              </a:rPr>
              <a:t>SecurityManager</a:t>
            </a:r>
            <a:r>
              <a:rPr lang="en-US" b="0" i="0" dirty="0">
                <a:solidFill>
                  <a:srgbClr val="3A3A3A"/>
                </a:solidFill>
                <a:effectLst/>
                <a:latin typeface="Roboto" panose="02000000000000000000" pitchFamily="2" charset="0"/>
              </a:rPr>
              <a:t> or with module boundaries (JPMS) in Java 9+.</a:t>
            </a:r>
          </a:p>
          <a:p>
            <a:pPr>
              <a:buNone/>
            </a:pPr>
            <a:br>
              <a:rPr lang="en-US" dirty="0"/>
            </a:br>
            <a:endParaRPr lang="en-US" dirty="0"/>
          </a:p>
        </p:txBody>
      </p:sp>
    </p:spTree>
    <p:extLst>
      <p:ext uri="{BB962C8B-B14F-4D97-AF65-F5344CB8AC3E}">
        <p14:creationId xmlns:p14="http://schemas.microsoft.com/office/powerpoint/2010/main" val="257512992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1B192-6C3E-0083-3682-A797A9054B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004C07-F94B-83E4-CEF8-97E81E24CA7E}"/>
              </a:ext>
            </a:extLst>
          </p:cNvPr>
          <p:cNvSpPr txBox="1"/>
          <p:nvPr/>
        </p:nvSpPr>
        <p:spPr>
          <a:xfrm>
            <a:off x="289367" y="0"/>
            <a:ext cx="4953964"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187. What are soft, weak, and phantom references in Java, and how do they differ?</a:t>
            </a:r>
          </a:p>
          <a:p>
            <a:pPr algn="just">
              <a:lnSpc>
                <a:spcPts val="2100"/>
              </a:lnSpc>
              <a:spcBef>
                <a:spcPts val="1650"/>
              </a:spcBef>
              <a:buNone/>
            </a:pPr>
            <a:r>
              <a:rPr lang="en-US" b="0" i="0" dirty="0">
                <a:solidFill>
                  <a:srgbClr val="3A3A3A"/>
                </a:solidFill>
                <a:effectLst/>
                <a:latin typeface="Roboto" panose="02000000000000000000" pitchFamily="2" charset="0"/>
              </a:rPr>
              <a:t>Java includes three categories of non-strong references in the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to facilitate flexible memory handling apart from null.</a:t>
            </a:r>
          </a:p>
        </p:txBody>
      </p:sp>
      <p:graphicFrame>
        <p:nvGraphicFramePr>
          <p:cNvPr id="4" name="Table 3">
            <a:extLst>
              <a:ext uri="{FF2B5EF4-FFF2-40B4-BE49-F238E27FC236}">
                <a16:creationId xmlns:a16="http://schemas.microsoft.com/office/drawing/2014/main" id="{DAD103A8-BA2F-A564-341A-64A400E13DBA}"/>
              </a:ext>
            </a:extLst>
          </p:cNvPr>
          <p:cNvGraphicFramePr>
            <a:graphicFrameLocks noGrp="1"/>
          </p:cNvGraphicFramePr>
          <p:nvPr/>
        </p:nvGraphicFramePr>
        <p:xfrm>
          <a:off x="681038" y="2721134"/>
          <a:ext cx="8543925" cy="2560320"/>
        </p:xfrm>
        <a:graphic>
          <a:graphicData uri="http://schemas.openxmlformats.org/drawingml/2006/table">
            <a:tbl>
              <a:tblPr/>
              <a:tblGrid>
                <a:gridCol w="2847975">
                  <a:extLst>
                    <a:ext uri="{9D8B030D-6E8A-4147-A177-3AD203B41FA5}">
                      <a16:colId xmlns:a16="http://schemas.microsoft.com/office/drawing/2014/main" val="1685449368"/>
                    </a:ext>
                  </a:extLst>
                </a:gridCol>
                <a:gridCol w="2847975">
                  <a:extLst>
                    <a:ext uri="{9D8B030D-6E8A-4147-A177-3AD203B41FA5}">
                      <a16:colId xmlns:a16="http://schemas.microsoft.com/office/drawing/2014/main" val="2763788600"/>
                    </a:ext>
                  </a:extLst>
                </a:gridCol>
                <a:gridCol w="2847975">
                  <a:extLst>
                    <a:ext uri="{9D8B030D-6E8A-4147-A177-3AD203B41FA5}">
                      <a16:colId xmlns:a16="http://schemas.microsoft.com/office/drawing/2014/main" val="221083850"/>
                    </a:ext>
                  </a:extLst>
                </a:gridCol>
              </a:tblGrid>
              <a:tr h="0">
                <a:tc>
                  <a:txBody>
                    <a:bodyPr/>
                    <a:lstStyle/>
                    <a:p>
                      <a:pPr algn="ctr" fontAlgn="t">
                        <a:buNone/>
                      </a:pPr>
                      <a:r>
                        <a:rPr lang="en-US" b="0">
                          <a:solidFill>
                            <a:srgbClr val="FFFFFF"/>
                          </a:solidFill>
                          <a:effectLst/>
                        </a:rPr>
                        <a:t>Reference Type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Collected When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Use Case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546115272"/>
                  </a:ext>
                </a:extLst>
              </a:tr>
              <a:tr h="0">
                <a:tc>
                  <a:txBody>
                    <a:bodyPr/>
                    <a:lstStyle/>
                    <a:p>
                      <a:pPr fontAlgn="t">
                        <a:buNone/>
                      </a:pPr>
                      <a:r>
                        <a:rPr lang="en-US" b="0">
                          <a:effectLst/>
                        </a:rPr>
                        <a:t>SoftReference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is 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Caching (removed only when JVM is low on memory)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90672151"/>
                  </a:ext>
                </a:extLst>
              </a:tr>
              <a:tr h="0">
                <a:tc>
                  <a:txBody>
                    <a:bodyPr/>
                    <a:lstStyle/>
                    <a:p>
                      <a:pPr fontAlgn="t">
                        <a:buNone/>
                      </a:pPr>
                      <a:r>
                        <a:rPr lang="en-US" b="0">
                          <a:effectLst/>
                        </a:rPr>
                        <a:t>WeakReference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 next GC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Mapping with weak keys (e.g., WeakHashMap)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05490658"/>
                  </a:ext>
                </a:extLst>
              </a:tr>
              <a:tr h="0">
                <a:tc>
                  <a:txBody>
                    <a:bodyPr/>
                    <a:lstStyle/>
                    <a:p>
                      <a:pPr fontAlgn="t">
                        <a:buNone/>
                      </a:pPr>
                      <a:r>
                        <a:rPr lang="en-US" b="0">
                          <a:effectLst/>
                        </a:rPr>
                        <a:t>PhantomReference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After finalization, before GC reclaim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Cleanup before memory deallocation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65354808"/>
                  </a:ext>
                </a:extLst>
              </a:tr>
            </a:tbl>
          </a:graphicData>
        </a:graphic>
      </p:graphicFrame>
    </p:spTree>
    <p:extLst>
      <p:ext uri="{BB962C8B-B14F-4D97-AF65-F5344CB8AC3E}">
        <p14:creationId xmlns:p14="http://schemas.microsoft.com/office/powerpoint/2010/main" val="365023053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72C2-368B-EF9F-DD5E-CC2163024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B2543C7-674C-E5F6-24E1-E7CBCADA7B29}"/>
              </a:ext>
            </a:extLst>
          </p:cNvPr>
          <p:cNvSpPr txBox="1"/>
          <p:nvPr/>
        </p:nvSpPr>
        <p:spPr>
          <a:xfrm>
            <a:off x="0" y="0"/>
            <a:ext cx="4953964" cy="313932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188. How can you prevent deadlocks in a multithreaded Java application?</a:t>
            </a:r>
          </a:p>
          <a:p>
            <a:pPr algn="just">
              <a:lnSpc>
                <a:spcPts val="2100"/>
              </a:lnSpc>
              <a:spcBef>
                <a:spcPts val="1650"/>
              </a:spcBef>
              <a:buNone/>
            </a:pPr>
            <a:r>
              <a:rPr lang="en-US" b="0" i="0" dirty="0">
                <a:solidFill>
                  <a:srgbClr val="3A3A3A"/>
                </a:solidFill>
                <a:effectLst/>
                <a:latin typeface="Roboto" panose="02000000000000000000" pitchFamily="2" charset="0"/>
              </a:rPr>
              <a:t>Deadlock happens when two or more threads await each other to free a lock, and neither moves.</a:t>
            </a:r>
          </a:p>
          <a:p>
            <a:pPr algn="l">
              <a:spcBef>
                <a:spcPts val="1650"/>
              </a:spcBef>
              <a:buNone/>
            </a:pPr>
            <a:r>
              <a:rPr lang="en-US" b="0" i="0" dirty="0">
                <a:solidFill>
                  <a:srgbClr val="3A3A3A"/>
                </a:solidFill>
                <a:effectLst/>
                <a:latin typeface="Roboto" panose="02000000000000000000" pitchFamily="2" charset="0"/>
              </a:rPr>
              <a:t>Strategies to Prevent Deadlock: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Consistent Lock Ordering: Always lock in the same order.</a:t>
            </a:r>
          </a:p>
        </p:txBody>
      </p:sp>
      <p:sp>
        <p:nvSpPr>
          <p:cNvPr id="5" name="TextBox 4">
            <a:extLst>
              <a:ext uri="{FF2B5EF4-FFF2-40B4-BE49-F238E27FC236}">
                <a16:creationId xmlns:a16="http://schemas.microsoft.com/office/drawing/2014/main" id="{2375F5E1-81A0-683D-5057-02F1E3A327F5}"/>
              </a:ext>
            </a:extLst>
          </p:cNvPr>
          <p:cNvSpPr txBox="1"/>
          <p:nvPr/>
        </p:nvSpPr>
        <p:spPr>
          <a:xfrm>
            <a:off x="95492" y="3139321"/>
            <a:ext cx="4982900" cy="1477328"/>
          </a:xfrm>
          <a:prstGeom prst="rect">
            <a:avLst/>
          </a:prstGeom>
          <a:noFill/>
        </p:spPr>
        <p:txBody>
          <a:bodyPr wrap="square">
            <a:spAutoFit/>
          </a:bodyPr>
          <a:lstStyle/>
          <a:p>
            <a:r>
              <a:rPr lang="en-US" dirty="0"/>
              <a:t>synchronized (lock1) {</a:t>
            </a:r>
          </a:p>
          <a:p>
            <a:r>
              <a:rPr lang="en-US" dirty="0"/>
              <a:t>    synchronized (lock2) {</a:t>
            </a:r>
          </a:p>
          <a:p>
            <a:r>
              <a:rPr lang="en-US" dirty="0"/>
              <a:t>        // do something</a:t>
            </a:r>
          </a:p>
          <a:p>
            <a:r>
              <a:rPr lang="en-US" dirty="0"/>
              <a:t>    }</a:t>
            </a:r>
          </a:p>
          <a:p>
            <a:r>
              <a:rPr lang="en-US" dirty="0"/>
              <a:t>}</a:t>
            </a:r>
          </a:p>
        </p:txBody>
      </p:sp>
      <p:sp>
        <p:nvSpPr>
          <p:cNvPr id="7" name="TextBox 6">
            <a:extLst>
              <a:ext uri="{FF2B5EF4-FFF2-40B4-BE49-F238E27FC236}">
                <a16:creationId xmlns:a16="http://schemas.microsoft.com/office/drawing/2014/main" id="{E8E422C1-0449-5848-575B-3ACF94AD284C}"/>
              </a:ext>
            </a:extLst>
          </p:cNvPr>
          <p:cNvSpPr txBox="1"/>
          <p:nvPr/>
        </p:nvSpPr>
        <p:spPr>
          <a:xfrm>
            <a:off x="-29900" y="4616649"/>
            <a:ext cx="4982900" cy="900246"/>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Try-Lock with Timeout: Use </a:t>
            </a:r>
            <a:r>
              <a:rPr lang="en-US" b="0" i="0" dirty="0" err="1">
                <a:solidFill>
                  <a:srgbClr val="3A3A3A"/>
                </a:solidFill>
                <a:effectLst/>
                <a:latin typeface="Roboto" panose="02000000000000000000" pitchFamily="2" charset="0"/>
              </a:rPr>
              <a:t>ReentrantLock.tryLock</a:t>
            </a:r>
            <a:r>
              <a:rPr lang="en-US" b="0" i="0" dirty="0">
                <a:solidFill>
                  <a:srgbClr val="3A3A3A"/>
                </a:solidFill>
                <a:effectLst/>
                <a:latin typeface="Roboto" panose="02000000000000000000" pitchFamily="2" charset="0"/>
              </a:rPr>
              <a:t>() with a timeout to prevent waiting indefinitely.</a:t>
            </a:r>
          </a:p>
        </p:txBody>
      </p:sp>
      <p:sp>
        <p:nvSpPr>
          <p:cNvPr id="9" name="TextBox 8">
            <a:extLst>
              <a:ext uri="{FF2B5EF4-FFF2-40B4-BE49-F238E27FC236}">
                <a16:creationId xmlns:a16="http://schemas.microsoft.com/office/drawing/2014/main" id="{5601C015-49BE-C0A2-E329-11EAF58CA3EB}"/>
              </a:ext>
            </a:extLst>
          </p:cNvPr>
          <p:cNvSpPr txBox="1"/>
          <p:nvPr/>
        </p:nvSpPr>
        <p:spPr>
          <a:xfrm>
            <a:off x="21220" y="5516895"/>
            <a:ext cx="4994476" cy="2031325"/>
          </a:xfrm>
          <a:prstGeom prst="rect">
            <a:avLst/>
          </a:prstGeom>
          <a:noFill/>
        </p:spPr>
        <p:txBody>
          <a:bodyPr wrap="square">
            <a:spAutoFit/>
          </a:bodyPr>
          <a:lstStyle/>
          <a:p>
            <a:r>
              <a:rPr lang="en-US" dirty="0"/>
              <a:t>if (</a:t>
            </a:r>
            <a:r>
              <a:rPr lang="en-US" dirty="0" err="1"/>
              <a:t>lock.tryLock</a:t>
            </a:r>
            <a:r>
              <a:rPr lang="en-US" dirty="0"/>
              <a:t>(100, </a:t>
            </a:r>
            <a:r>
              <a:rPr lang="en-US" dirty="0" err="1"/>
              <a:t>TimeUnit.MILLISECONDS</a:t>
            </a:r>
            <a:r>
              <a:rPr lang="en-US" dirty="0"/>
              <a:t>)) {</a:t>
            </a:r>
          </a:p>
          <a:p>
            <a:r>
              <a:rPr lang="en-US" dirty="0"/>
              <a:t>    try {</a:t>
            </a:r>
          </a:p>
          <a:p>
            <a:r>
              <a:rPr lang="en-US" dirty="0"/>
              <a:t>        // critical section</a:t>
            </a:r>
          </a:p>
          <a:p>
            <a:r>
              <a:rPr lang="en-US" dirty="0"/>
              <a:t>    } finally {</a:t>
            </a:r>
          </a:p>
          <a:p>
            <a:r>
              <a:rPr lang="en-US" dirty="0"/>
              <a:t>        </a:t>
            </a:r>
            <a:r>
              <a:rPr lang="en-US" dirty="0" err="1"/>
              <a:t>lock.unlock</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6E564A83-3D97-7B7A-2910-3A085A152E31}"/>
              </a:ext>
            </a:extLst>
          </p:cNvPr>
          <p:cNvSpPr txBox="1"/>
          <p:nvPr/>
        </p:nvSpPr>
        <p:spPr>
          <a:xfrm>
            <a:off x="4719577" y="1189925"/>
            <a:ext cx="4994476" cy="4478149"/>
          </a:xfrm>
          <a:prstGeom prst="rect">
            <a:avLst/>
          </a:prstGeom>
          <a:noFill/>
        </p:spPr>
        <p:txBody>
          <a:bodyPr wrap="square">
            <a:spAutoFit/>
          </a:bodyPr>
          <a:lstStyle/>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Use Lock Timeout or Deadlock Detection Tools: Deadlocks can be detected at runtime by monitoring tools such as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jstack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Minimize Lock Scope: Decrease the amount of code within synchronized regions to reduce lock contention..</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Avoid Nested Locks: Organize logic to prevent nested or cyclic lock acquisition.</a:t>
            </a:r>
          </a:p>
          <a:p>
            <a:pPr algn="just">
              <a:lnSpc>
                <a:spcPts val="2100"/>
              </a:lnSpc>
              <a:spcBef>
                <a:spcPts val="1650"/>
              </a:spcBef>
              <a:buNone/>
            </a:pPr>
            <a:r>
              <a:rPr lang="en-US" b="0" i="0" dirty="0">
                <a:solidFill>
                  <a:srgbClr val="3A3A3A"/>
                </a:solidFill>
                <a:effectLst/>
                <a:latin typeface="Roboto" panose="02000000000000000000" pitchFamily="2" charset="0"/>
              </a:rPr>
              <a:t>Deadlocks necessitate a focused design, disciplined lock strategy, and occasionally taking advantage of the higher-level concurrency utilities provided by the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package.</a:t>
            </a:r>
          </a:p>
        </p:txBody>
      </p:sp>
    </p:spTree>
    <p:extLst>
      <p:ext uri="{BB962C8B-B14F-4D97-AF65-F5344CB8AC3E}">
        <p14:creationId xmlns:p14="http://schemas.microsoft.com/office/powerpoint/2010/main" val="155766594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4251-9765-AFD0-91F7-CBDB5E6EBB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C5D7F7-DF43-62DC-798E-EA4CBBCE37DD}"/>
              </a:ext>
            </a:extLst>
          </p:cNvPr>
          <p:cNvSpPr txBox="1"/>
          <p:nvPr/>
        </p:nvSpPr>
        <p:spPr>
          <a:xfrm>
            <a:off x="-964" y="-302885"/>
            <a:ext cx="4953964" cy="80714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189. How does the </a:t>
            </a:r>
            <a:r>
              <a:rPr lang="en-US" b="0" i="0" dirty="0" err="1">
                <a:solidFill>
                  <a:srgbClr val="272C37"/>
                </a:solidFill>
                <a:effectLst/>
                <a:latin typeface="Roboto" panose="02000000000000000000" pitchFamily="2" charset="0"/>
              </a:rPr>
              <a:t>ForkJoinPool</a:t>
            </a:r>
            <a:r>
              <a:rPr lang="en-US" b="0" i="0" dirty="0">
                <a:solidFill>
                  <a:srgbClr val="272C37"/>
                </a:solidFill>
                <a:effectLst/>
                <a:latin typeface="Roboto" panose="02000000000000000000" pitchFamily="2" charset="0"/>
              </a:rPr>
              <a:t> work in Java’s concurrency framework?</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ForkJoinPool</a:t>
            </a:r>
            <a:r>
              <a:rPr lang="en-US" b="0" i="0" dirty="0">
                <a:solidFill>
                  <a:srgbClr val="3A3A3A"/>
                </a:solidFill>
                <a:effectLst/>
                <a:latin typeface="Roboto" panose="02000000000000000000" pitchFamily="2" charset="0"/>
              </a:rPr>
              <a:t> is an extended implementation of Java’s </a:t>
            </a:r>
            <a:r>
              <a:rPr lang="en-US" b="0" i="0" dirty="0" err="1">
                <a:solidFill>
                  <a:srgbClr val="3A3A3A"/>
                </a:solidFill>
                <a:effectLst/>
                <a:latin typeface="Roboto" panose="02000000000000000000" pitchFamily="2" charset="0"/>
              </a:rPr>
              <a:t>ExecutorService</a:t>
            </a:r>
            <a:r>
              <a:rPr lang="en-US" b="0" i="0" dirty="0">
                <a:solidFill>
                  <a:srgbClr val="3A3A3A"/>
                </a:solidFill>
                <a:effectLst/>
                <a:latin typeface="Roboto" panose="02000000000000000000" pitchFamily="2" charset="0"/>
              </a:rPr>
              <a:t> that is particularly suited for running tasks in parallel and for efficiently handling parallelizable, recursive tasks. It is part of the package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and is particularly tuned to operate with work-stealing algorithms, enhancing utilization in multi-processor environments.</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Work Stealing: The pool’s threads can “steal” a job from other threads when they are idle to provide load balance and increase performance.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Forking and Joining: The tasks are decomposed into smaller tasks recursively (forked) and then joined to yield results.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 has a return value and </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does not.</a:t>
            </a:r>
          </a:p>
          <a:p>
            <a:pPr algn="l">
              <a:spcBef>
                <a:spcPts val="1650"/>
              </a:spcBef>
              <a:buNone/>
            </a:pPr>
            <a:r>
              <a:rPr lang="en-US" b="0" i="0" dirty="0">
                <a:solidFill>
                  <a:srgbClr val="3A3A3A"/>
                </a:solidFill>
                <a:effectLst/>
                <a:latin typeface="Roboto" panose="02000000000000000000" pitchFamily="2" charset="0"/>
              </a:rPr>
              <a:t>Usage Example:</a:t>
            </a:r>
          </a:p>
        </p:txBody>
      </p:sp>
      <p:sp>
        <p:nvSpPr>
          <p:cNvPr id="5" name="TextBox 4">
            <a:extLst>
              <a:ext uri="{FF2B5EF4-FFF2-40B4-BE49-F238E27FC236}">
                <a16:creationId xmlns:a16="http://schemas.microsoft.com/office/drawing/2014/main" id="{FBF7E032-A15F-46AC-4186-0CE98FA59035}"/>
              </a:ext>
            </a:extLst>
          </p:cNvPr>
          <p:cNvSpPr txBox="1"/>
          <p:nvPr/>
        </p:nvSpPr>
        <p:spPr>
          <a:xfrm>
            <a:off x="4829537" y="452502"/>
            <a:ext cx="4982900" cy="4801314"/>
          </a:xfrm>
          <a:prstGeom prst="rect">
            <a:avLst/>
          </a:prstGeom>
          <a:noFill/>
        </p:spPr>
        <p:txBody>
          <a:bodyPr wrap="square">
            <a:spAutoFit/>
          </a:bodyPr>
          <a:lstStyle/>
          <a:p>
            <a:r>
              <a:rPr lang="en-US" dirty="0"/>
              <a:t>// Create a </a:t>
            </a:r>
            <a:r>
              <a:rPr lang="en-US" dirty="0" err="1"/>
              <a:t>ForkJoinPool</a:t>
            </a:r>
            <a:r>
              <a:rPr lang="en-US" dirty="0"/>
              <a:t> instance</a:t>
            </a:r>
          </a:p>
          <a:p>
            <a:r>
              <a:rPr lang="en-US" dirty="0"/>
              <a:t> </a:t>
            </a:r>
            <a:r>
              <a:rPr lang="en-US" dirty="0" err="1"/>
              <a:t>ForkJoinPool</a:t>
            </a:r>
            <a:r>
              <a:rPr lang="en-US" dirty="0"/>
              <a:t> pool = new </a:t>
            </a:r>
            <a:r>
              <a:rPr lang="en-US" dirty="0" err="1"/>
              <a:t>ForkJoinPool</a:t>
            </a:r>
            <a:r>
              <a:rPr lang="en-US" dirty="0"/>
              <a:t>();</a:t>
            </a:r>
          </a:p>
          <a:p>
            <a:endParaRPr lang="en-US" dirty="0"/>
          </a:p>
          <a:p>
            <a:r>
              <a:rPr lang="en-US" dirty="0"/>
              <a:t> // Define an anonymous </a:t>
            </a:r>
            <a:r>
              <a:rPr lang="en-US" dirty="0" err="1"/>
              <a:t>RecursiveTask</a:t>
            </a:r>
            <a:r>
              <a:rPr lang="en-US" dirty="0"/>
              <a:t> that returns an Integer</a:t>
            </a:r>
          </a:p>
          <a:p>
            <a:r>
              <a:rPr lang="en-US" dirty="0"/>
              <a:t> </a:t>
            </a:r>
            <a:r>
              <a:rPr lang="en-US" dirty="0" err="1"/>
              <a:t>ForkJoinTask</a:t>
            </a:r>
            <a:r>
              <a:rPr lang="en-US" dirty="0"/>
              <a:t>&lt;Integer&gt; task = new </a:t>
            </a:r>
            <a:r>
              <a:rPr lang="en-US" dirty="0" err="1"/>
              <a:t>RecursiveTask</a:t>
            </a:r>
            <a:r>
              <a:rPr lang="en-US" dirty="0"/>
              <a:t>&lt;Integer&gt;() {</a:t>
            </a:r>
          </a:p>
          <a:p>
            <a:r>
              <a:rPr lang="en-US" dirty="0"/>
              <a:t>     @Override</a:t>
            </a:r>
          </a:p>
          <a:p>
            <a:r>
              <a:rPr lang="en-US" dirty="0"/>
              <a:t>     protected Integer compute() {</a:t>
            </a:r>
          </a:p>
          <a:p>
            <a:r>
              <a:rPr lang="en-US" dirty="0"/>
              <a:t>         // Task logic (e.g., divide and conquer algorithm)</a:t>
            </a:r>
          </a:p>
          <a:p>
            <a:r>
              <a:rPr lang="en-US" dirty="0"/>
              <a:t>         return 42;</a:t>
            </a:r>
          </a:p>
          <a:p>
            <a:r>
              <a:rPr lang="en-US" dirty="0"/>
              <a:t>     }</a:t>
            </a:r>
          </a:p>
          <a:p>
            <a:r>
              <a:rPr lang="en-US" dirty="0"/>
              <a:t> };</a:t>
            </a:r>
          </a:p>
          <a:p>
            <a:endParaRPr lang="en-US" dirty="0"/>
          </a:p>
          <a:p>
            <a:r>
              <a:rPr lang="en-US" dirty="0"/>
              <a:t> int result = </a:t>
            </a:r>
            <a:r>
              <a:rPr lang="en-US" dirty="0" err="1"/>
              <a:t>pool.invoke</a:t>
            </a:r>
            <a:r>
              <a:rPr lang="en-US" dirty="0"/>
              <a:t>(task);</a:t>
            </a:r>
          </a:p>
          <a:p>
            <a:r>
              <a:rPr lang="en-US" dirty="0"/>
              <a:t> </a:t>
            </a:r>
            <a:r>
              <a:rPr lang="en-US" dirty="0" err="1"/>
              <a:t>System.out.println</a:t>
            </a:r>
            <a:r>
              <a:rPr lang="en-US" dirty="0"/>
              <a:t>(result);</a:t>
            </a:r>
          </a:p>
        </p:txBody>
      </p:sp>
    </p:spTree>
    <p:extLst>
      <p:ext uri="{BB962C8B-B14F-4D97-AF65-F5344CB8AC3E}">
        <p14:creationId xmlns:p14="http://schemas.microsoft.com/office/powerpoint/2010/main" val="41361427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975DF-04E6-3622-B085-BDD3A164864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18E5D-4E87-A7C5-E1A8-29F7B3D1EF45}"/>
              </a:ext>
            </a:extLst>
          </p:cNvPr>
          <p:cNvSpPr txBox="1"/>
          <p:nvPr/>
        </p:nvSpPr>
        <p:spPr>
          <a:xfrm>
            <a:off x="92597" y="0"/>
            <a:ext cx="4953964" cy="64556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190. Explain the double-check locking idiom for Singleton classes.</a:t>
            </a:r>
          </a:p>
          <a:p>
            <a:pPr algn="just">
              <a:lnSpc>
                <a:spcPts val="2100"/>
              </a:lnSpc>
              <a:spcBef>
                <a:spcPts val="1650"/>
              </a:spcBef>
              <a:buNone/>
            </a:pPr>
            <a:r>
              <a:rPr lang="en-US" b="0" i="0" dirty="0">
                <a:solidFill>
                  <a:srgbClr val="3A3A3A"/>
                </a:solidFill>
                <a:effectLst/>
                <a:latin typeface="Roboto" panose="02000000000000000000" pitchFamily="2" charset="0"/>
              </a:rPr>
              <a:t>Double-checked locking is a method utilized for safe lazy initialization of a </a:t>
            </a:r>
            <a:r>
              <a:rPr lang="en-US" b="0" i="0" u="none" strike="noStrike" dirty="0">
                <a:solidFill>
                  <a:srgbClr val="0F5A9E"/>
                </a:solidFill>
                <a:effectLst/>
                <a:latin typeface="Roboto" panose="02000000000000000000" pitchFamily="2" charset="0"/>
                <a:hlinkClick r:id="rId2"/>
              </a:rPr>
              <a:t>Singleton class</a:t>
            </a:r>
            <a:r>
              <a:rPr lang="en-US" b="0" i="0" dirty="0">
                <a:solidFill>
                  <a:srgbClr val="3A3A3A"/>
                </a:solidFill>
                <a:effectLst/>
                <a:latin typeface="Roboto" panose="02000000000000000000" pitchFamily="2" charset="0"/>
              </a:rPr>
              <a:t>, without synchronization overhead on every access to the Singleton.</a:t>
            </a:r>
          </a:p>
          <a:p>
            <a:pPr algn="l">
              <a:spcBef>
                <a:spcPts val="1650"/>
              </a:spcBef>
              <a:buNone/>
            </a:pPr>
            <a:r>
              <a:rPr lang="en-US" b="0" i="0" dirty="0">
                <a:solidFill>
                  <a:srgbClr val="3A3A3A"/>
                </a:solidFill>
                <a:effectLst/>
                <a:latin typeface="Roboto" panose="02000000000000000000" pitchFamily="2" charset="0"/>
              </a:rPr>
              <a:t>Steps: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Verify that the Singleton instance is already created (initial check).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Otherwise, synchronize only that block of code that instantiates an instance, once to prevent performance premiums.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Double-check that the instance is not null in the synchronized section (second check). This guarantees only a single thread may construct the instance.</a:t>
            </a:r>
          </a:p>
          <a:p>
            <a:pPr algn="l">
              <a:spcBef>
                <a:spcPts val="1650"/>
              </a:spcBef>
              <a:buNone/>
            </a:pPr>
            <a:r>
              <a:rPr lang="en-US" b="0" i="0" dirty="0">
                <a:solidFill>
                  <a:srgbClr val="3A3A3A"/>
                </a:solidFill>
                <a:effectLst/>
                <a:latin typeface="Roboto" panose="02000000000000000000" pitchFamily="2" charset="0"/>
              </a:rPr>
              <a:t>Code Example:</a:t>
            </a:r>
          </a:p>
        </p:txBody>
      </p:sp>
      <p:sp>
        <p:nvSpPr>
          <p:cNvPr id="5" name="TextBox 4">
            <a:extLst>
              <a:ext uri="{FF2B5EF4-FFF2-40B4-BE49-F238E27FC236}">
                <a16:creationId xmlns:a16="http://schemas.microsoft.com/office/drawing/2014/main" id="{8A0C41A7-8302-4DEB-7A5D-A6EAD21EA22C}"/>
              </a:ext>
            </a:extLst>
          </p:cNvPr>
          <p:cNvSpPr txBox="1"/>
          <p:nvPr/>
        </p:nvSpPr>
        <p:spPr>
          <a:xfrm>
            <a:off x="4859439" y="402387"/>
            <a:ext cx="4953964" cy="5632311"/>
          </a:xfrm>
          <a:prstGeom prst="rect">
            <a:avLst/>
          </a:prstGeom>
          <a:noFill/>
        </p:spPr>
        <p:txBody>
          <a:bodyPr wrap="square">
            <a:spAutoFit/>
          </a:bodyPr>
          <a:lstStyle/>
          <a:p>
            <a:r>
              <a:rPr lang="en-US" dirty="0"/>
              <a:t>public class Singleton {</a:t>
            </a:r>
          </a:p>
          <a:p>
            <a:r>
              <a:rPr lang="en-US" dirty="0"/>
              <a:t>    private static volatile Singleton instance;</a:t>
            </a:r>
          </a:p>
          <a:p>
            <a:endParaRPr lang="en-US" dirty="0"/>
          </a:p>
          <a:p>
            <a:r>
              <a:rPr lang="en-US" dirty="0"/>
              <a:t>    private Singleton() {</a:t>
            </a:r>
          </a:p>
          <a:p>
            <a:r>
              <a:rPr lang="en-US" dirty="0"/>
              <a:t>        // Private constructor to prevent instantiation</a:t>
            </a:r>
          </a:p>
          <a:p>
            <a:r>
              <a:rPr lang="en-US" dirty="0"/>
              <a:t>    }</a:t>
            </a:r>
          </a:p>
          <a:p>
            <a:endParaRPr lang="en-US" dirty="0"/>
          </a:p>
          <a:p>
            <a:r>
              <a:rPr lang="en-US" dirty="0"/>
              <a:t>    public static Singleton </a:t>
            </a:r>
            <a:r>
              <a:rPr lang="en-US" dirty="0" err="1"/>
              <a:t>getInstance</a:t>
            </a:r>
            <a:r>
              <a:rPr lang="en-US" dirty="0"/>
              <a:t>() {</a:t>
            </a:r>
          </a:p>
          <a:p>
            <a:r>
              <a:rPr lang="en-US" dirty="0"/>
              <a:t>        if (instance == null) { // First check (non-synchronized)</a:t>
            </a:r>
          </a:p>
          <a:p>
            <a:r>
              <a:rPr lang="en-US" dirty="0"/>
              <a:t>            synchronized (</a:t>
            </a:r>
            <a:r>
              <a:rPr lang="en-US" dirty="0" err="1"/>
              <a:t>Singleton.class</a:t>
            </a:r>
            <a:r>
              <a:rPr lang="en-US" dirty="0"/>
              <a:t>) {</a:t>
            </a:r>
          </a:p>
          <a:p>
            <a:r>
              <a:rPr lang="en-US" dirty="0"/>
              <a:t>                if (instance == null) { // Second check (synchronized)</a:t>
            </a:r>
          </a:p>
          <a:p>
            <a:r>
              <a:rPr lang="en-US" dirty="0"/>
              <a:t>                    instance = new Singleton();</a:t>
            </a:r>
          </a:p>
          <a:p>
            <a:r>
              <a:rPr lang="en-US" dirty="0"/>
              <a:t>                }</a:t>
            </a:r>
          </a:p>
          <a:p>
            <a:r>
              <a:rPr lang="en-US" dirty="0"/>
              <a:t>            }</a:t>
            </a:r>
          </a:p>
          <a:p>
            <a:r>
              <a:rPr lang="en-US" dirty="0"/>
              <a:t>        }</a:t>
            </a:r>
          </a:p>
          <a:p>
            <a:r>
              <a:rPr lang="en-US" dirty="0"/>
              <a:t>        return instance;</a:t>
            </a:r>
          </a:p>
          <a:p>
            <a:r>
              <a:rPr lang="en-US" dirty="0"/>
              <a:t>    }</a:t>
            </a:r>
          </a:p>
          <a:p>
            <a:r>
              <a:rPr lang="en-US" dirty="0"/>
              <a:t>}</a:t>
            </a:r>
          </a:p>
        </p:txBody>
      </p:sp>
      <p:sp>
        <p:nvSpPr>
          <p:cNvPr id="7" name="TextBox 6">
            <a:extLst>
              <a:ext uri="{FF2B5EF4-FFF2-40B4-BE49-F238E27FC236}">
                <a16:creationId xmlns:a16="http://schemas.microsoft.com/office/drawing/2014/main" id="{1355E402-3352-F7C9-672A-F5098CB29C82}"/>
              </a:ext>
            </a:extLst>
          </p:cNvPr>
          <p:cNvSpPr txBox="1"/>
          <p:nvPr/>
        </p:nvSpPr>
        <p:spPr>
          <a:xfrm>
            <a:off x="4143736" y="5863583"/>
            <a:ext cx="4953964"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Why Double-Check Locking?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Performance: Evades synchronization overhead once the instance has been initialized.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Thread-safety: Ensures only a single instance of the Singleton class is created within a multi-threading environment.</a:t>
            </a:r>
          </a:p>
        </p:txBody>
      </p:sp>
    </p:spTree>
    <p:extLst>
      <p:ext uri="{BB962C8B-B14F-4D97-AF65-F5344CB8AC3E}">
        <p14:creationId xmlns:p14="http://schemas.microsoft.com/office/powerpoint/2010/main" val="270556124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19AE4-AC9D-FB61-4F53-029E19BA16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25F90B-8A65-B18F-B078-3A3772B5D097}"/>
              </a:ext>
            </a:extLst>
          </p:cNvPr>
          <p:cNvSpPr txBox="1"/>
          <p:nvPr/>
        </p:nvSpPr>
        <p:spPr>
          <a:xfrm>
            <a:off x="-138897" y="-191581"/>
            <a:ext cx="4953964" cy="7663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191. What is the difference between phantom references and weak references?</a:t>
            </a:r>
          </a:p>
          <a:p>
            <a:pPr algn="just">
              <a:lnSpc>
                <a:spcPts val="2100"/>
              </a:lnSpc>
              <a:spcBef>
                <a:spcPts val="1650"/>
              </a:spcBef>
              <a:buNone/>
            </a:pPr>
            <a:r>
              <a:rPr lang="en-US" b="0" i="0" dirty="0">
                <a:solidFill>
                  <a:srgbClr val="3A3A3A"/>
                </a:solidFill>
                <a:effectLst/>
                <a:latin typeface="Roboto" panose="02000000000000000000" pitchFamily="2" charset="0"/>
              </a:rPr>
              <a:t>Weak references and phantom references are part of Java’s framework for dealing with references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enabling developers to use objects without keeping them out of the garbage collector.</a:t>
            </a:r>
          </a:p>
          <a:p>
            <a:pPr algn="l">
              <a:spcBef>
                <a:spcPts val="1650"/>
              </a:spcBef>
              <a:buNone/>
            </a:pPr>
            <a:r>
              <a:rPr lang="en-US" b="0" i="0" dirty="0">
                <a:solidFill>
                  <a:srgbClr val="3A3A3A"/>
                </a:solidFill>
                <a:effectLst/>
                <a:latin typeface="Roboto" panose="02000000000000000000" pitchFamily="2" charset="0"/>
              </a:rPr>
              <a:t>Weak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 permits an object to become eligible for garbage collection when it is weakly reachable (i.e., there are no strong references).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usually employed to cache or canonicalize objects for when we wish to have that object reclaimed when there is a need for memory.</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weakRef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When there are no strong references to an object, it will get collected even when there is a weak reference.</a:t>
            </a:r>
          </a:p>
        </p:txBody>
      </p:sp>
      <p:sp>
        <p:nvSpPr>
          <p:cNvPr id="5" name="TextBox 4">
            <a:extLst>
              <a:ext uri="{FF2B5EF4-FFF2-40B4-BE49-F238E27FC236}">
                <a16:creationId xmlns:a16="http://schemas.microsoft.com/office/drawing/2014/main" id="{9324DC63-D648-4813-F0BA-83AC19508ADA}"/>
              </a:ext>
            </a:extLst>
          </p:cNvPr>
          <p:cNvSpPr txBox="1"/>
          <p:nvPr/>
        </p:nvSpPr>
        <p:spPr>
          <a:xfrm>
            <a:off x="2329405" y="119385"/>
            <a:ext cx="5052348" cy="703013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Phantom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superior to weak references. Phantom references permit a program to receive notification when an object is going to get garbage collected.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cannot directly be dereferenced, and they are employed with a reference queue to execute cleanup operations before an object is reclaimed.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phantomRef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 new </a:t>
            </a:r>
            <a:r>
              <a:rPr lang="en-US" b="0" i="0" dirty="0" err="1">
                <a:solidFill>
                  <a:srgbClr val="212529"/>
                </a:solidFill>
                <a:effectLst/>
                <a:latin typeface="Courier New" panose="02070309020205020404" pitchFamily="49" charset="0"/>
              </a:rPr>
              <a:t>ReferenceQueue</a:t>
            </a:r>
            <a:r>
              <a:rPr lang="en-US" b="0" i="0" dirty="0">
                <a:solidFill>
                  <a:srgbClr val="212529"/>
                </a:solidFill>
                <a:effectLst/>
                <a:latin typeface="Courier New" panose="02070309020205020404" pitchFamily="49" charset="0"/>
              </a:rPr>
              <a:t>&lt;&gt;());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Access to this object cannot be made directly via this phantom reference. It will instead get included in the reference queue once ready for garbage collection.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Case: Usually utilized to finalize, tidy up resources, or manage memory use.</a:t>
            </a:r>
          </a:p>
        </p:txBody>
      </p:sp>
      <p:sp>
        <p:nvSpPr>
          <p:cNvPr id="7" name="TextBox 6">
            <a:extLst>
              <a:ext uri="{FF2B5EF4-FFF2-40B4-BE49-F238E27FC236}">
                <a16:creationId xmlns:a16="http://schemas.microsoft.com/office/drawing/2014/main" id="{BBDE203E-9A72-2686-DAA0-4CC9186203DD}"/>
              </a:ext>
            </a:extLst>
          </p:cNvPr>
          <p:cNvSpPr txBox="1"/>
          <p:nvPr/>
        </p:nvSpPr>
        <p:spPr>
          <a:xfrm>
            <a:off x="3973010" y="2412783"/>
            <a:ext cx="5052348" cy="276742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Differences: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references provide access to the object (if it has not been garbage collected), while phantom references do not.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utilized for pre-finalization cleanup, while weak references are typically utilized for caching or temporary storing.</a:t>
            </a:r>
          </a:p>
        </p:txBody>
      </p:sp>
    </p:spTree>
    <p:extLst>
      <p:ext uri="{BB962C8B-B14F-4D97-AF65-F5344CB8AC3E}">
        <p14:creationId xmlns:p14="http://schemas.microsoft.com/office/powerpoint/2010/main" val="350068361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A25E-0248-1FA1-516D-446CDEA5DE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A04E33-4787-E6BE-DDF0-3F6302D5CC6A}"/>
              </a:ext>
            </a:extLst>
          </p:cNvPr>
          <p:cNvSpPr txBox="1"/>
          <p:nvPr/>
        </p:nvSpPr>
        <p:spPr>
          <a:xfrm>
            <a:off x="0" y="-1722802"/>
            <a:ext cx="4953964" cy="10702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192. How does the Java module system (JPMS) improve encapsulation?</a:t>
            </a:r>
          </a:p>
          <a:p>
            <a:pPr algn="just">
              <a:lnSpc>
                <a:spcPts val="2100"/>
              </a:lnSpc>
              <a:spcBef>
                <a:spcPts val="1650"/>
              </a:spcBef>
              <a:buNone/>
            </a:pPr>
            <a:r>
              <a:rPr lang="en-US" b="0" i="0" dirty="0">
                <a:solidFill>
                  <a:srgbClr val="3A3A3A"/>
                </a:solidFill>
                <a:effectLst/>
                <a:latin typeface="Roboto" panose="02000000000000000000" pitchFamily="2" charset="0"/>
              </a:rPr>
              <a:t>The Java Platform Module System (JPMS), introduced in Java 9, permits developers to specify modules and regulate visibility and accessibility of code within modules. It aids in a better encapsulation compared to earlier versions of Java in that it restricts what classes and packages may be accessed by other modules.</a:t>
            </a:r>
          </a:p>
          <a:p>
            <a:pPr algn="l">
              <a:spcBef>
                <a:spcPts val="1650"/>
              </a:spcBef>
              <a:buNone/>
            </a:pPr>
            <a:r>
              <a:rPr lang="en-US" b="0" i="0" dirty="0">
                <a:solidFill>
                  <a:srgbClr val="3A3A3A"/>
                </a:solidFill>
                <a:effectLst/>
                <a:latin typeface="Roboto" panose="02000000000000000000" pitchFamily="2" charset="0"/>
              </a:rPr>
              <a:t>Example of a Module: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com.myapp</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requires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 Declares dependency on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module</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com.myapp.api</a:t>
            </a:r>
            <a:r>
              <a:rPr lang="en-US" b="0" i="0" dirty="0">
                <a:solidFill>
                  <a:srgbClr val="212529"/>
                </a:solidFill>
                <a:effectLst/>
                <a:latin typeface="Courier New" panose="02070309020205020404" pitchFamily="49" charset="0"/>
              </a:rPr>
              <a:t>; // Exports only the API package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Benefits of Encapsulation: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 implementation hiding: A module exports only certain packages, with other packages or modules having no way to directly access internal classes unless permitted explicitly.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control: You can avoid unwanted dependencies and have more robust separation of components.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security: By regulating access to critical packages, you can reduce risks related to code exposure.</a:t>
            </a:r>
          </a:p>
        </p:txBody>
      </p:sp>
      <p:sp>
        <p:nvSpPr>
          <p:cNvPr id="5" name="TextBox 4">
            <a:extLst>
              <a:ext uri="{FF2B5EF4-FFF2-40B4-BE49-F238E27FC236}">
                <a16:creationId xmlns:a16="http://schemas.microsoft.com/office/drawing/2014/main" id="{6365D6CE-C63A-F5F1-B61B-AD72367671FA}"/>
              </a:ext>
            </a:extLst>
          </p:cNvPr>
          <p:cNvSpPr txBox="1"/>
          <p:nvPr/>
        </p:nvSpPr>
        <p:spPr>
          <a:xfrm>
            <a:off x="4135057" y="1091068"/>
            <a:ext cx="4982900" cy="302647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my.module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com.example.publicAPI</a:t>
            </a:r>
            <a:r>
              <a:rPr lang="en-US" b="0" i="0" dirty="0">
                <a:solidFill>
                  <a:srgbClr val="212529"/>
                </a:solidFill>
                <a:effectLst/>
                <a:latin typeface="Courier New" panose="02070309020205020404" pitchFamily="49" charset="0"/>
              </a:rPr>
              <a:t>;  // Only this package is accessible externally</a:t>
            </a:r>
          </a:p>
          <a:p>
            <a:pPr algn="l">
              <a:spcBef>
                <a:spcPts val="1125"/>
              </a:spcBef>
              <a:spcAft>
                <a:spcPts val="375"/>
              </a:spcAft>
              <a:buNone/>
            </a:pPr>
            <a:r>
              <a:rPr lang="en-US" b="0" i="0" dirty="0">
                <a:solidFill>
                  <a:srgbClr val="212529"/>
                </a:solidFill>
                <a:effectLst/>
                <a:latin typeface="Courier New" panose="02070309020205020404" pitchFamily="49" charset="0"/>
              </a:rPr>
              <a:t>    // other internal packages remain hidden from external access</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6066308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6A686-BD72-9D43-B795-F790E248AC0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B2532E-DE9D-1141-4DA5-56AE5E9B65C0}"/>
              </a:ext>
            </a:extLst>
          </p:cNvPr>
          <p:cNvSpPr txBox="1"/>
          <p:nvPr/>
        </p:nvSpPr>
        <p:spPr>
          <a:xfrm>
            <a:off x="26158" y="153031"/>
            <a:ext cx="4953964" cy="102771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193. What is the Reactive Streams API in Java 9+?</a:t>
            </a:r>
          </a:p>
          <a:p>
            <a:pPr algn="just">
              <a:lnSpc>
                <a:spcPts val="2100"/>
              </a:lnSpc>
              <a:spcBef>
                <a:spcPts val="1650"/>
              </a:spcBef>
              <a:buNone/>
            </a:pPr>
            <a:r>
              <a:rPr lang="en-US" b="0" i="0" dirty="0">
                <a:solidFill>
                  <a:srgbClr val="3A3A3A"/>
                </a:solidFill>
                <a:effectLst/>
                <a:latin typeface="Roboto" panose="02000000000000000000" pitchFamily="2" charset="0"/>
              </a:rPr>
              <a:t>The Reactive Streams API was added to Java 9 as part of the package </a:t>
            </a:r>
            <a:r>
              <a:rPr lang="en-US" b="0" i="0" dirty="0" err="1">
                <a:solidFill>
                  <a:srgbClr val="3A3A3A"/>
                </a:solidFill>
                <a:effectLst/>
                <a:latin typeface="Roboto" panose="02000000000000000000" pitchFamily="2" charset="0"/>
              </a:rPr>
              <a:t>java.util.concurrent.Flow</a:t>
            </a:r>
            <a:r>
              <a:rPr lang="en-US" b="0" i="0" dirty="0">
                <a:solidFill>
                  <a:srgbClr val="3A3A3A"/>
                </a:solidFill>
                <a:effectLst/>
                <a:latin typeface="Roboto" panose="02000000000000000000" pitchFamily="2" charset="0"/>
              </a:rPr>
              <a:t>. The API defines a standardized means to process asynchronous streams with backpressure, making systems responsive and scalable, especially when processing high-volume data.</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Backpressure: Reactive Streams prevent the system from getting inundated with a high volume of data. The production rate is slowed down or stopped temporarily, depending on when and how much data the consumer is able to process.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Subscriber, Subscription, Processor: The four Reactive Streams API’s most fundamental interfaces.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Generates data items (i.e., data source).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Subscriber: Consumes data items (for example, data handler).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Subscription: Refers to the relationship between Subscriber and Publisher, controlling data flow.</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Processor: Acts as a combination of Subscriber and Publisher, it receives and forwards data.</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CECFC77-3ABE-6233-CF19-BFFB3014C548}"/>
              </a:ext>
            </a:extLst>
          </p:cNvPr>
          <p:cNvSpPr txBox="1"/>
          <p:nvPr/>
        </p:nvSpPr>
        <p:spPr>
          <a:xfrm>
            <a:off x="4896942" y="0"/>
            <a:ext cx="4982900" cy="11726287"/>
          </a:xfrm>
          <a:prstGeom prst="rect">
            <a:avLst/>
          </a:prstGeom>
          <a:noFill/>
        </p:spPr>
        <p:txBody>
          <a:bodyPr wrap="square">
            <a:spAutoFit/>
          </a:bodyPr>
          <a:lstStyle/>
          <a:p>
            <a:r>
              <a:rPr lang="en-US" dirty="0"/>
              <a:t>import </a:t>
            </a:r>
            <a:r>
              <a:rPr lang="en-US" dirty="0" err="1"/>
              <a:t>java.util.concurrent.Flow</a:t>
            </a:r>
            <a:r>
              <a:rPr lang="en-US" dirty="0"/>
              <a:t>;</a:t>
            </a:r>
          </a:p>
          <a:p>
            <a:r>
              <a:rPr lang="en-US" dirty="0"/>
              <a:t>import </a:t>
            </a:r>
            <a:r>
              <a:rPr lang="en-US" dirty="0" err="1"/>
              <a:t>java.util.List</a:t>
            </a:r>
            <a:r>
              <a:rPr lang="en-US" dirty="0"/>
              <a:t>;</a:t>
            </a:r>
          </a:p>
          <a:p>
            <a:endParaRPr lang="en-US" dirty="0"/>
          </a:p>
          <a:p>
            <a:r>
              <a:rPr lang="en-US" dirty="0"/>
              <a:t>class </a:t>
            </a:r>
            <a:r>
              <a:rPr lang="en-US" dirty="0" err="1"/>
              <a:t>MyPublisher</a:t>
            </a:r>
            <a:r>
              <a:rPr lang="en-US" dirty="0"/>
              <a:t> implements </a:t>
            </a:r>
            <a:r>
              <a:rPr lang="en-US" dirty="0" err="1"/>
              <a:t>Flow.Publisher</a:t>
            </a:r>
            <a:r>
              <a:rPr lang="en-US" dirty="0"/>
              <a:t>&lt;Integer&gt; {</a:t>
            </a:r>
          </a:p>
          <a:p>
            <a:r>
              <a:rPr lang="en-US" dirty="0"/>
              <a:t>    private final List&lt;Integer&gt; numbers;</a:t>
            </a:r>
          </a:p>
          <a:p>
            <a:endParaRPr lang="en-US" dirty="0"/>
          </a:p>
          <a:p>
            <a:r>
              <a:rPr lang="en-US" dirty="0"/>
              <a:t>    public </a:t>
            </a:r>
            <a:r>
              <a:rPr lang="en-US" dirty="0" err="1"/>
              <a:t>MyPublisher</a:t>
            </a:r>
            <a:r>
              <a:rPr lang="en-US" dirty="0"/>
              <a:t>(List&lt;Integer&gt; numbers) {</a:t>
            </a:r>
          </a:p>
          <a:p>
            <a:r>
              <a:rPr lang="en-US" dirty="0"/>
              <a:t>        </a:t>
            </a:r>
            <a:r>
              <a:rPr lang="en-US" dirty="0" err="1"/>
              <a:t>this.numbers</a:t>
            </a:r>
            <a:r>
              <a:rPr lang="en-US" dirty="0"/>
              <a:t> = numbers;</a:t>
            </a:r>
          </a:p>
          <a:p>
            <a:r>
              <a:rPr lang="en-US" dirty="0"/>
              <a:t>    }</a:t>
            </a:r>
          </a:p>
          <a:p>
            <a:endParaRPr lang="en-US" dirty="0"/>
          </a:p>
          <a:p>
            <a:r>
              <a:rPr lang="en-US" dirty="0"/>
              <a:t>    @Override</a:t>
            </a:r>
          </a:p>
          <a:p>
            <a:r>
              <a:rPr lang="en-US" dirty="0"/>
              <a:t>    public void subscribe(</a:t>
            </a:r>
            <a:r>
              <a:rPr lang="en-US" dirty="0" err="1"/>
              <a:t>Flow.Subscriber</a:t>
            </a:r>
            <a:r>
              <a:rPr lang="en-US" dirty="0"/>
              <a:t>&lt;? super Integer&gt; subscriber) {</a:t>
            </a:r>
          </a:p>
          <a:p>
            <a:r>
              <a:rPr lang="en-US" dirty="0"/>
              <a:t>        // Implementing the subscribe method to pass data to subscriber</a:t>
            </a:r>
          </a:p>
          <a:p>
            <a:r>
              <a:rPr lang="en-US" dirty="0"/>
              <a:t>    }</a:t>
            </a:r>
          </a:p>
          <a:p>
            <a:r>
              <a:rPr lang="en-US" dirty="0"/>
              <a:t>}</a:t>
            </a:r>
          </a:p>
          <a:p>
            <a:endParaRPr lang="en-US" dirty="0"/>
          </a:p>
          <a:p>
            <a:r>
              <a:rPr lang="en-US" dirty="0"/>
              <a:t>class </a:t>
            </a:r>
            <a:r>
              <a:rPr lang="en-US" dirty="0" err="1"/>
              <a:t>MySubscriber</a:t>
            </a:r>
            <a:r>
              <a:rPr lang="en-US" dirty="0"/>
              <a:t> implements </a:t>
            </a:r>
            <a:r>
              <a:rPr lang="en-US" dirty="0" err="1"/>
              <a:t>Flow.Subscriber</a:t>
            </a:r>
            <a:r>
              <a:rPr lang="en-US" dirty="0"/>
              <a:t>&lt;Integer&gt; {</a:t>
            </a:r>
          </a:p>
          <a:p>
            <a:r>
              <a:rPr lang="en-US" dirty="0"/>
              <a:t>    @Override</a:t>
            </a:r>
          </a:p>
          <a:p>
            <a:r>
              <a:rPr lang="en-US" dirty="0"/>
              <a:t>    public void </a:t>
            </a:r>
            <a:r>
              <a:rPr lang="en-US" dirty="0" err="1"/>
              <a:t>onSubscribe</a:t>
            </a:r>
            <a:r>
              <a:rPr lang="en-US" dirty="0"/>
              <a:t>(</a:t>
            </a:r>
            <a:r>
              <a:rPr lang="en-US" dirty="0" err="1"/>
              <a:t>Flow.Subscription</a:t>
            </a:r>
            <a:r>
              <a:rPr lang="en-US" dirty="0"/>
              <a:t> subscription) {</a:t>
            </a:r>
          </a:p>
          <a:p>
            <a:r>
              <a:rPr lang="en-US" dirty="0"/>
              <a:t>        // Handle subscription (request data)</a:t>
            </a:r>
          </a:p>
          <a:p>
            <a:r>
              <a:rPr lang="en-US" dirty="0"/>
              <a:t>    }</a:t>
            </a:r>
          </a:p>
          <a:p>
            <a:endParaRPr lang="en-US" dirty="0"/>
          </a:p>
          <a:p>
            <a:r>
              <a:rPr lang="en-US" dirty="0"/>
              <a:t>    @Override</a:t>
            </a:r>
          </a:p>
          <a:p>
            <a:r>
              <a:rPr lang="en-US" dirty="0"/>
              <a:t>    public void </a:t>
            </a:r>
            <a:r>
              <a:rPr lang="en-US" dirty="0" err="1"/>
              <a:t>onNext</a:t>
            </a:r>
            <a:r>
              <a:rPr lang="en-US" dirty="0"/>
              <a:t>(Integer item) {</a:t>
            </a:r>
          </a:p>
          <a:p>
            <a:r>
              <a:rPr lang="en-US" dirty="0"/>
              <a:t>        // Handle data item</a:t>
            </a:r>
          </a:p>
          <a:p>
            <a:r>
              <a:rPr lang="en-US" dirty="0"/>
              <a:t>    }</a:t>
            </a:r>
          </a:p>
          <a:p>
            <a:endParaRPr lang="en-US" dirty="0"/>
          </a:p>
          <a:p>
            <a:r>
              <a:rPr lang="en-US" dirty="0"/>
              <a:t>    @Override</a:t>
            </a:r>
          </a:p>
          <a:p>
            <a:r>
              <a:rPr lang="en-US" dirty="0"/>
              <a:t>    public void </a:t>
            </a:r>
            <a:r>
              <a:rPr lang="en-US" dirty="0" err="1"/>
              <a:t>onError</a:t>
            </a:r>
            <a:r>
              <a:rPr lang="en-US" dirty="0"/>
              <a:t>(Throwable throwable) {</a:t>
            </a:r>
          </a:p>
          <a:p>
            <a:r>
              <a:rPr lang="en-US" dirty="0"/>
              <a:t>        // Handle error</a:t>
            </a:r>
          </a:p>
          <a:p>
            <a:r>
              <a:rPr lang="en-US" dirty="0"/>
              <a:t>    }</a:t>
            </a:r>
          </a:p>
          <a:p>
            <a:endParaRPr lang="en-US" dirty="0"/>
          </a:p>
          <a:p>
            <a:r>
              <a:rPr lang="en-US" dirty="0"/>
              <a:t>    @Override</a:t>
            </a:r>
          </a:p>
          <a:p>
            <a:r>
              <a:rPr lang="en-US" dirty="0"/>
              <a:t>    public void </a:t>
            </a:r>
            <a:r>
              <a:rPr lang="en-US" dirty="0" err="1"/>
              <a:t>onComplete</a:t>
            </a:r>
            <a:r>
              <a:rPr lang="en-US" dirty="0"/>
              <a:t>() {</a:t>
            </a:r>
          </a:p>
          <a:p>
            <a:r>
              <a:rPr lang="en-US" dirty="0"/>
              <a:t>        // Handle completion</a:t>
            </a:r>
          </a:p>
          <a:p>
            <a:r>
              <a:rPr lang="en-US" dirty="0"/>
              <a:t>    }</a:t>
            </a:r>
          </a:p>
          <a:p>
            <a:r>
              <a:rPr lang="en-US" dirty="0"/>
              <a:t>}</a:t>
            </a:r>
          </a:p>
        </p:txBody>
      </p:sp>
    </p:spTree>
    <p:extLst>
      <p:ext uri="{BB962C8B-B14F-4D97-AF65-F5344CB8AC3E}">
        <p14:creationId xmlns:p14="http://schemas.microsoft.com/office/powerpoint/2010/main" val="98506750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3953-36E9-618B-2B19-247ADB46B9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FBB0E9-BF9F-DCB5-DB80-C860A5A3DDF2}"/>
              </a:ext>
            </a:extLst>
          </p:cNvPr>
          <p:cNvSpPr txBox="1"/>
          <p:nvPr/>
        </p:nvSpPr>
        <p:spPr>
          <a:xfrm>
            <a:off x="-964" y="0"/>
            <a:ext cx="9906964"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194. How do you use </a:t>
            </a:r>
            <a:r>
              <a:rPr lang="en-US" b="0" i="0" dirty="0" err="1">
                <a:solidFill>
                  <a:srgbClr val="272C37"/>
                </a:solidFill>
                <a:effectLst/>
                <a:latin typeface="Roboto" panose="02000000000000000000" pitchFamily="2" charset="0"/>
              </a:rPr>
              <a:t>MethodHandle</a:t>
            </a:r>
            <a:r>
              <a:rPr lang="en-US" b="0" i="0" dirty="0">
                <a:solidFill>
                  <a:srgbClr val="272C37"/>
                </a:solidFill>
                <a:effectLst/>
                <a:latin typeface="Roboto" panose="02000000000000000000" pitchFamily="2" charset="0"/>
              </a:rPr>
              <a:t> for dynamic method invocation?</a:t>
            </a:r>
          </a:p>
          <a:p>
            <a:pPr algn="just">
              <a:lnSpc>
                <a:spcPts val="2100"/>
              </a:lnSpc>
              <a:spcBef>
                <a:spcPts val="1650"/>
              </a:spcBef>
              <a:buNone/>
            </a:pP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 is a member of package </a:t>
            </a:r>
            <a:r>
              <a:rPr lang="en-US" b="0" i="0" dirty="0" err="1">
                <a:solidFill>
                  <a:srgbClr val="3A3A3A"/>
                </a:solidFill>
                <a:effectLst/>
                <a:latin typeface="Roboto" panose="02000000000000000000" pitchFamily="2" charset="0"/>
              </a:rPr>
              <a:t>java.lang.invoke</a:t>
            </a:r>
            <a:r>
              <a:rPr lang="en-US" b="0" i="0" dirty="0">
                <a:solidFill>
                  <a:srgbClr val="3A3A3A"/>
                </a:solidFill>
                <a:effectLst/>
                <a:latin typeface="Roboto" panose="02000000000000000000" pitchFamily="2" charset="0"/>
              </a:rPr>
              <a:t> and is a flexible, safe mechanism to invoke methods dynamically with no reflection overhead. It is more efficient than Java’s reflection when invoking methods and is utilized in high-performance applications such as dynamic proxies, language interpreters, and custom class loading..</a:t>
            </a:r>
          </a:p>
          <a:p>
            <a:pPr algn="just">
              <a:lnSpc>
                <a:spcPts val="2100"/>
              </a:lnSpc>
              <a:spcBef>
                <a:spcPts val="750"/>
              </a:spcBef>
              <a:buNone/>
            </a:pPr>
            <a:r>
              <a:rPr lang="en-US" b="0" i="0" dirty="0">
                <a:solidFill>
                  <a:srgbClr val="3A3A3A"/>
                </a:solidFill>
                <a:effectLst/>
                <a:latin typeface="Roboto" panose="02000000000000000000" pitchFamily="2" charset="0"/>
              </a:rPr>
              <a:t>Example of Using </a:t>
            </a: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5EDB5740-F62A-03D5-7573-8FC04E87A8A3}"/>
              </a:ext>
            </a:extLst>
          </p:cNvPr>
          <p:cNvSpPr txBox="1"/>
          <p:nvPr/>
        </p:nvSpPr>
        <p:spPr>
          <a:xfrm>
            <a:off x="134693" y="2259593"/>
            <a:ext cx="4982900" cy="4524315"/>
          </a:xfrm>
          <a:prstGeom prst="rect">
            <a:avLst/>
          </a:prstGeom>
          <a:noFill/>
        </p:spPr>
        <p:txBody>
          <a:bodyPr wrap="square">
            <a:spAutoFit/>
          </a:bodyPr>
          <a:lstStyle/>
          <a:p>
            <a:r>
              <a:rPr lang="en-US" dirty="0"/>
              <a:t>import </a:t>
            </a:r>
            <a:r>
              <a:rPr lang="en-US" dirty="0" err="1"/>
              <a:t>java.lang.invoke.MethodHandles</a:t>
            </a:r>
            <a:r>
              <a:rPr lang="en-US" dirty="0"/>
              <a:t>;</a:t>
            </a:r>
          </a:p>
          <a:p>
            <a:r>
              <a:rPr lang="en-US" dirty="0"/>
              <a:t>import </a:t>
            </a:r>
            <a:r>
              <a:rPr lang="en-US" dirty="0" err="1"/>
              <a:t>java.lang.invoke.MethodHandle</a:t>
            </a:r>
            <a:r>
              <a:rPr lang="en-US" dirty="0"/>
              <a:t>;</a:t>
            </a:r>
          </a:p>
          <a:p>
            <a:r>
              <a:rPr lang="en-US" dirty="0"/>
              <a:t>import </a:t>
            </a:r>
            <a:r>
              <a:rPr lang="en-US" dirty="0" err="1"/>
              <a:t>java.lang.invoke.MethodType</a:t>
            </a:r>
            <a:r>
              <a:rPr lang="en-US" dirty="0"/>
              <a:t>;</a:t>
            </a:r>
          </a:p>
          <a:p>
            <a:endParaRPr lang="en-US" dirty="0"/>
          </a:p>
          <a:p>
            <a:r>
              <a:rPr lang="en-US" dirty="0"/>
              <a:t>public class </a:t>
            </a:r>
            <a:r>
              <a:rPr lang="en-US" dirty="0" err="1"/>
              <a:t>MethodHandleExample</a:t>
            </a:r>
            <a:r>
              <a:rPr lang="en-US" dirty="0"/>
              <a:t> {</a:t>
            </a:r>
          </a:p>
          <a:p>
            <a:r>
              <a:rPr lang="en-US" dirty="0"/>
              <a:t>    public void </a:t>
            </a:r>
            <a:r>
              <a:rPr lang="en-US" dirty="0" err="1"/>
              <a:t>sayHello</a:t>
            </a:r>
            <a:r>
              <a:rPr lang="en-US" dirty="0"/>
              <a:t>(String name) {</a:t>
            </a:r>
          </a:p>
          <a:p>
            <a:r>
              <a:rPr lang="en-US" dirty="0"/>
              <a:t>        </a:t>
            </a:r>
            <a:r>
              <a:rPr lang="en-US" dirty="0" err="1"/>
              <a:t>System.out.println</a:t>
            </a:r>
            <a:r>
              <a:rPr lang="en-US" dirty="0"/>
              <a:t>("Hello, " + name);</a:t>
            </a:r>
          </a:p>
          <a:p>
            <a:r>
              <a:rPr lang="en-US" dirty="0"/>
              <a:t>    }</a:t>
            </a:r>
          </a:p>
          <a:p>
            <a:endParaRPr lang="en-US" dirty="0"/>
          </a:p>
          <a:p>
            <a:r>
              <a:rPr lang="en-US" dirty="0"/>
              <a:t>    public static void main(String[] </a:t>
            </a:r>
            <a:r>
              <a:rPr lang="en-US" dirty="0" err="1"/>
              <a:t>args</a:t>
            </a:r>
            <a:r>
              <a:rPr lang="en-US" dirty="0"/>
              <a:t>) throws Throwable {</a:t>
            </a:r>
          </a:p>
          <a:p>
            <a:r>
              <a:rPr lang="en-US" dirty="0"/>
              <a:t>        </a:t>
            </a:r>
            <a:r>
              <a:rPr lang="en-US" dirty="0" err="1"/>
              <a:t>MethodHandles.Lookup</a:t>
            </a:r>
            <a:r>
              <a:rPr lang="en-US" dirty="0"/>
              <a:t> lookup = </a:t>
            </a:r>
            <a:r>
              <a:rPr lang="en-US" dirty="0" err="1"/>
              <a:t>MethodHandles.lookup</a:t>
            </a:r>
            <a:r>
              <a:rPr lang="en-US" dirty="0"/>
              <a:t>();</a:t>
            </a:r>
          </a:p>
          <a:p>
            <a:r>
              <a:rPr lang="en-US" dirty="0"/>
              <a:t>        </a:t>
            </a:r>
            <a:r>
              <a:rPr lang="en-US" dirty="0" err="1"/>
              <a:t>MethodType</a:t>
            </a:r>
            <a:r>
              <a:rPr lang="en-US" dirty="0"/>
              <a:t> </a:t>
            </a:r>
            <a:r>
              <a:rPr lang="en-US" dirty="0" err="1"/>
              <a:t>methodType</a:t>
            </a:r>
            <a:r>
              <a:rPr lang="en-US" dirty="0"/>
              <a:t> = </a:t>
            </a:r>
            <a:r>
              <a:rPr lang="en-US" dirty="0" err="1"/>
              <a:t>MethodType.methodType</a:t>
            </a:r>
            <a:r>
              <a:rPr lang="en-US" dirty="0"/>
              <a:t>(</a:t>
            </a:r>
            <a:r>
              <a:rPr lang="en-US" dirty="0" err="1"/>
              <a:t>void.class</a:t>
            </a:r>
            <a:r>
              <a:rPr lang="en-US" dirty="0"/>
              <a:t>, </a:t>
            </a:r>
            <a:r>
              <a:rPr lang="en-US" dirty="0" err="1"/>
              <a:t>String.class</a:t>
            </a:r>
            <a:r>
              <a:rPr lang="en-US" dirty="0"/>
              <a:t>);</a:t>
            </a:r>
          </a:p>
        </p:txBody>
      </p:sp>
      <p:sp>
        <p:nvSpPr>
          <p:cNvPr id="4" name="TextBox 3">
            <a:extLst>
              <a:ext uri="{FF2B5EF4-FFF2-40B4-BE49-F238E27FC236}">
                <a16:creationId xmlns:a16="http://schemas.microsoft.com/office/drawing/2014/main" id="{A098D0BB-981D-745D-4C8C-C6475CB30BF6}"/>
              </a:ext>
            </a:extLst>
          </p:cNvPr>
          <p:cNvSpPr txBox="1"/>
          <p:nvPr/>
        </p:nvSpPr>
        <p:spPr>
          <a:xfrm>
            <a:off x="4633415" y="2259593"/>
            <a:ext cx="5008728" cy="3970318"/>
          </a:xfrm>
          <a:prstGeom prst="rect">
            <a:avLst/>
          </a:prstGeom>
          <a:noFill/>
        </p:spPr>
        <p:txBody>
          <a:bodyPr wrap="square">
            <a:spAutoFit/>
          </a:bodyPr>
          <a:lstStyle/>
          <a:p>
            <a:endParaRPr lang="en-US" dirty="0"/>
          </a:p>
          <a:p>
            <a:endParaRPr lang="en-US" dirty="0"/>
          </a:p>
          <a:p>
            <a:r>
              <a:rPr lang="en-US" dirty="0"/>
              <a:t>        // Get the method handle for the </a:t>
            </a:r>
            <a:r>
              <a:rPr lang="en-US" dirty="0" err="1"/>
              <a:t>sayHello</a:t>
            </a:r>
            <a:r>
              <a:rPr lang="en-US" dirty="0"/>
              <a:t> method</a:t>
            </a:r>
          </a:p>
          <a:p>
            <a:r>
              <a:rPr lang="en-US" dirty="0"/>
              <a:t>        </a:t>
            </a:r>
            <a:r>
              <a:rPr lang="en-US" dirty="0" err="1"/>
              <a:t>MethodHandle</a:t>
            </a:r>
            <a:r>
              <a:rPr lang="en-US" dirty="0"/>
              <a:t> </a:t>
            </a:r>
            <a:r>
              <a:rPr lang="en-US" dirty="0" err="1"/>
              <a:t>methodHandle</a:t>
            </a:r>
            <a:r>
              <a:rPr lang="en-US" dirty="0"/>
              <a:t> = </a:t>
            </a:r>
            <a:r>
              <a:rPr lang="en-US" dirty="0" err="1"/>
              <a:t>lookup.findVirtual</a:t>
            </a:r>
            <a:r>
              <a:rPr lang="en-US" dirty="0"/>
              <a:t>(</a:t>
            </a:r>
            <a:r>
              <a:rPr lang="en-US" dirty="0" err="1"/>
              <a:t>MethodHandleExample.class</a:t>
            </a:r>
            <a:r>
              <a:rPr lang="en-US" dirty="0"/>
              <a:t>, "</a:t>
            </a:r>
            <a:r>
              <a:rPr lang="en-US" dirty="0" err="1"/>
              <a:t>sayHello</a:t>
            </a:r>
            <a:r>
              <a:rPr lang="en-US" dirty="0"/>
              <a:t>", </a:t>
            </a:r>
            <a:r>
              <a:rPr lang="en-US" dirty="0" err="1"/>
              <a:t>methodType</a:t>
            </a:r>
            <a:r>
              <a:rPr lang="en-US" dirty="0"/>
              <a:t>);</a:t>
            </a:r>
          </a:p>
          <a:p>
            <a:endParaRPr lang="en-US" dirty="0"/>
          </a:p>
          <a:p>
            <a:r>
              <a:rPr lang="en-US" dirty="0"/>
              <a:t>        // Invoke the method dynamically</a:t>
            </a:r>
          </a:p>
          <a:p>
            <a:r>
              <a:rPr lang="en-US" dirty="0"/>
              <a:t>        </a:t>
            </a:r>
            <a:r>
              <a:rPr lang="en-US" dirty="0" err="1"/>
              <a:t>MethodHandleExample</a:t>
            </a:r>
            <a:r>
              <a:rPr lang="en-US" dirty="0"/>
              <a:t> example = new </a:t>
            </a:r>
            <a:r>
              <a:rPr lang="en-US" dirty="0" err="1"/>
              <a:t>MethodHandleExample</a:t>
            </a:r>
            <a:r>
              <a:rPr lang="en-US" dirty="0"/>
              <a:t>();</a:t>
            </a:r>
          </a:p>
          <a:p>
            <a:r>
              <a:rPr lang="en-US" dirty="0"/>
              <a:t>        </a:t>
            </a:r>
            <a:r>
              <a:rPr lang="en-US" dirty="0" err="1"/>
              <a:t>methodHandle.invoke</a:t>
            </a:r>
            <a:r>
              <a:rPr lang="en-US" dirty="0"/>
              <a:t>(example, "World");</a:t>
            </a:r>
          </a:p>
          <a:p>
            <a:r>
              <a:rPr lang="en-US" dirty="0"/>
              <a:t>    }</a:t>
            </a:r>
          </a:p>
          <a:p>
            <a:r>
              <a:rPr lang="en-US" dirty="0"/>
              <a:t>}</a:t>
            </a:r>
          </a:p>
        </p:txBody>
      </p:sp>
    </p:spTree>
    <p:extLst>
      <p:ext uri="{BB962C8B-B14F-4D97-AF65-F5344CB8AC3E}">
        <p14:creationId xmlns:p14="http://schemas.microsoft.com/office/powerpoint/2010/main" val="69317919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6F26-C8E7-9288-417B-874375A7E06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E660E-57BD-B751-4D7C-2D20FDB3B9CE}"/>
              </a:ext>
            </a:extLst>
          </p:cNvPr>
          <p:cNvSpPr txBox="1"/>
          <p:nvPr/>
        </p:nvSpPr>
        <p:spPr>
          <a:xfrm>
            <a:off x="0" y="0"/>
            <a:ext cx="4953964" cy="887935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195. Explain the escape analysis optimization in the JVM.</a:t>
            </a:r>
          </a:p>
          <a:p>
            <a:pPr algn="just">
              <a:lnSpc>
                <a:spcPts val="2100"/>
              </a:lnSpc>
              <a:spcBef>
                <a:spcPts val="1650"/>
              </a:spcBef>
              <a:buNone/>
            </a:pPr>
            <a:r>
              <a:rPr lang="en-US" b="0" i="0" dirty="0">
                <a:solidFill>
                  <a:srgbClr val="3A3A3A"/>
                </a:solidFill>
                <a:effectLst/>
                <a:latin typeface="Roboto" panose="02000000000000000000" pitchFamily="2" charset="0"/>
              </a:rPr>
              <a:t>Escape analysis is a JVM optimization technique that examines whether an object escapes its method or execution thread. In case an object does not escape (i.e., remains used within a method or thread), then JVM may use techniques such as stack allocation or scalar replacement, whose impact on eliminating memory overhead as well as improving performance can be very high.</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 object “escapes” when it is reachable outside the method or thread that produces it (e.g., in a field or as a parameter to a different thread).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Stack Allocation: When an object does not escape, it is possible for the JVM to allocate it on the stack rather than on the heap, thus eliminating garbage collection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Scalar Replacement: In case an object is made of primitive types and doesn’t escape, the JVM may replace the object with its fields as a means to bypass object creation altogether.</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9D500B9-7FB0-22D0-1D89-FF4373F09A6A}"/>
              </a:ext>
            </a:extLst>
          </p:cNvPr>
          <p:cNvSpPr txBox="1"/>
          <p:nvPr/>
        </p:nvSpPr>
        <p:spPr>
          <a:xfrm>
            <a:off x="5061031" y="431174"/>
            <a:ext cx="4982900" cy="2031325"/>
          </a:xfrm>
          <a:prstGeom prst="rect">
            <a:avLst/>
          </a:prstGeom>
          <a:noFill/>
        </p:spPr>
        <p:txBody>
          <a:bodyPr wrap="square">
            <a:spAutoFit/>
          </a:bodyPr>
          <a:lstStyle/>
          <a:p>
            <a:r>
              <a:rPr lang="en-US" dirty="0"/>
              <a:t>public class EscapeAnalysis {</a:t>
            </a:r>
          </a:p>
          <a:p>
            <a:r>
              <a:rPr lang="en-US" dirty="0"/>
              <a:t>    public static void main(String[] </a:t>
            </a:r>
            <a:r>
              <a:rPr lang="en-US" dirty="0" err="1"/>
              <a:t>args</a:t>
            </a:r>
            <a:r>
              <a:rPr lang="en-US" dirty="0"/>
              <a:t>) {</a:t>
            </a:r>
          </a:p>
          <a:p>
            <a:r>
              <a:rPr lang="en-US" dirty="0"/>
              <a:t>        // The object is local to the method, so it can be stack-allocated if it does not escape</a:t>
            </a:r>
          </a:p>
          <a:p>
            <a:r>
              <a:rPr lang="en-US" dirty="0"/>
              <a:t>        Point </a:t>
            </a:r>
            <a:r>
              <a:rPr lang="en-US" dirty="0" err="1"/>
              <a:t>point</a:t>
            </a:r>
            <a:r>
              <a:rPr lang="en-US" dirty="0"/>
              <a:t> = new Point(1, 2);</a:t>
            </a:r>
          </a:p>
          <a:p>
            <a:r>
              <a:rPr lang="en-US" dirty="0"/>
              <a:t>    }</a:t>
            </a:r>
          </a:p>
          <a:p>
            <a:r>
              <a:rPr lang="en-US" dirty="0"/>
              <a:t>}</a:t>
            </a:r>
          </a:p>
        </p:txBody>
      </p:sp>
      <p:sp>
        <p:nvSpPr>
          <p:cNvPr id="7" name="TextBox 6">
            <a:extLst>
              <a:ext uri="{FF2B5EF4-FFF2-40B4-BE49-F238E27FC236}">
                <a16:creationId xmlns:a16="http://schemas.microsoft.com/office/drawing/2014/main" id="{C45C53E2-8E16-4F03-1B84-DE344DE64442}"/>
              </a:ext>
            </a:extLst>
          </p:cNvPr>
          <p:cNvSpPr txBox="1"/>
          <p:nvPr/>
        </p:nvSpPr>
        <p:spPr>
          <a:xfrm>
            <a:off x="4953000" y="2731373"/>
            <a:ext cx="5052348" cy="139525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JVM Implementation: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analysis can be enabled or configured via JVM flags, such as -XX:+</a:t>
            </a:r>
            <a:r>
              <a:rPr lang="en-US" b="0" i="0" dirty="0" err="1">
                <a:solidFill>
                  <a:srgbClr val="3A3A3A"/>
                </a:solidFill>
                <a:effectLst/>
                <a:latin typeface="Roboto" panose="02000000000000000000" pitchFamily="2" charset="0"/>
              </a:rPr>
              <a:t>DoEscapeAnalysis</a:t>
            </a:r>
            <a:r>
              <a:rPr lang="en-US" b="0" i="0" dirty="0">
                <a:solidFill>
                  <a:srgbClr val="3A3A3A"/>
                </a:solidFill>
                <a:effectLst/>
                <a:latin typeface="Roboto" panose="02000000000000000000" pitchFamily="2" charset="0"/>
              </a:rPr>
              <a:t> and -XX:+</a:t>
            </a:r>
            <a:r>
              <a:rPr lang="en-US" b="0" i="0" dirty="0" err="1">
                <a:solidFill>
                  <a:srgbClr val="3A3A3A"/>
                </a:solidFill>
                <a:effectLst/>
                <a:latin typeface="Roboto" panose="02000000000000000000" pitchFamily="2" charset="0"/>
              </a:rPr>
              <a:t>EliminateAllocations</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16516910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29B96-ED01-7A30-5D90-A31868C1E8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16F68A-15DC-F3CD-0A2A-281123316DFF}"/>
              </a:ext>
            </a:extLst>
          </p:cNvPr>
          <p:cNvSpPr txBox="1"/>
          <p:nvPr/>
        </p:nvSpPr>
        <p:spPr>
          <a:xfrm>
            <a:off x="0" y="104986"/>
            <a:ext cx="9906000" cy="699422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196. What is biased locking in JVM thread synchronization?</a:t>
            </a:r>
          </a:p>
          <a:p>
            <a:pPr algn="just">
              <a:lnSpc>
                <a:spcPts val="2100"/>
              </a:lnSpc>
              <a:spcBef>
                <a:spcPts val="1650"/>
              </a:spcBef>
              <a:buNone/>
            </a:pPr>
            <a:r>
              <a:rPr lang="en-US" b="0" i="0" dirty="0">
                <a:solidFill>
                  <a:srgbClr val="3A3A3A"/>
                </a:solidFill>
                <a:effectLst/>
                <a:latin typeface="Roboto" panose="02000000000000000000" pitchFamily="2" charset="0"/>
              </a:rPr>
              <a:t>Biased locking is an optimization mechanism employed by the JVM to minimize the costs involved in acquiring and releasing locks in single-thread contexts. The optimization is made to synchronization mechanisms in order to prevent contention that would otherwise take place when several threads constantly acquire the same lock.</a:t>
            </a:r>
          </a:p>
          <a:p>
            <a:pPr algn="l">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thread obtains the 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JVM flags the lock as biased in favor of the acquiring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lock is acquired rapidly in later accesses with no synchronization overhead.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If some other thread attempts to obtain the lock, then this bias is removed and the lock reverts to normal synchronization.</a:t>
            </a:r>
          </a:p>
          <a:p>
            <a:pPr algn="l">
              <a:spcBef>
                <a:spcPts val="1650"/>
              </a:spcBef>
              <a:buNone/>
            </a:pPr>
            <a:r>
              <a:rPr lang="en-US" b="0" i="0" dirty="0">
                <a:solidFill>
                  <a:srgbClr val="3A3A3A"/>
                </a:solidFill>
                <a:effectLst/>
                <a:latin typeface="Roboto" panose="02000000000000000000" pitchFamily="2" charset="0"/>
              </a:rPr>
              <a:t>Example: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lock is biased to a thread when there is no competing thread for it, thus there is no need for the thread to keep checking for contention on a lock.</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contention is detected, the JVM cancels the bias, and the lock will need more classic synchronization.</a:t>
            </a:r>
          </a:p>
        </p:txBody>
      </p:sp>
    </p:spTree>
    <p:extLst>
      <p:ext uri="{BB962C8B-B14F-4D97-AF65-F5344CB8AC3E}">
        <p14:creationId xmlns:p14="http://schemas.microsoft.com/office/powerpoint/2010/main" val="179551590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CB25-17DC-E0AC-827B-34A4AE7B3F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7EDC8-3388-C210-A5BB-FFF79B0B61BC}"/>
              </a:ext>
            </a:extLst>
          </p:cNvPr>
          <p:cNvSpPr txBox="1"/>
          <p:nvPr/>
        </p:nvSpPr>
        <p:spPr>
          <a:xfrm>
            <a:off x="-964" y="158191"/>
            <a:ext cx="4953964" cy="76354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197. How do you implement a custom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a class that loads classes into the JVM. Class loading is by default implemented as a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hierarchy, but for certain situations, like when you implement custom dynamic loading of code, you may have to create a custom class loader.</a:t>
            </a:r>
          </a:p>
          <a:p>
            <a:pPr algn="just">
              <a:lnSpc>
                <a:spcPts val="2100"/>
              </a:lnSpc>
              <a:spcBef>
                <a:spcPts val="750"/>
              </a:spcBef>
              <a:buNone/>
            </a:pPr>
            <a:r>
              <a:rPr lang="en-US" b="0" i="0" dirty="0">
                <a:solidFill>
                  <a:srgbClr val="3A3A3A"/>
                </a:solidFill>
                <a:effectLst/>
                <a:latin typeface="Roboto" panose="02000000000000000000" pitchFamily="2" charset="0"/>
              </a:rPr>
              <a:t>In most Custom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is overridden to specify how a class is to be loaded.</a:t>
            </a:r>
          </a:p>
          <a:p>
            <a:pPr algn="l">
              <a:spcBef>
                <a:spcPts val="1650"/>
              </a:spcBef>
              <a:buNone/>
            </a:pPr>
            <a:r>
              <a:rPr lang="en-US" b="0" i="0" dirty="0">
                <a:solidFill>
                  <a:srgbClr val="3A3A3A"/>
                </a:solidFill>
                <a:effectLst/>
                <a:latin typeface="Roboto" panose="02000000000000000000" pitchFamily="2" charset="0"/>
              </a:rPr>
              <a:t>Steps to Implement 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Extend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Override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which loads the class by reading it from the file system, database, or over the network.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Optionally override </a:t>
            </a:r>
            <a:r>
              <a:rPr lang="en-US" b="0" i="0" dirty="0" err="1">
                <a:solidFill>
                  <a:srgbClr val="3A3A3A"/>
                </a:solidFill>
                <a:effectLst/>
                <a:latin typeface="Roboto" panose="02000000000000000000" pitchFamily="2" charset="0"/>
              </a:rPr>
              <a:t>loadClass</a:t>
            </a:r>
            <a:r>
              <a:rPr lang="en-US" b="0" i="0" dirty="0">
                <a:solidFill>
                  <a:srgbClr val="3A3A3A"/>
                </a:solidFill>
                <a:effectLst/>
                <a:latin typeface="Roboto" panose="02000000000000000000" pitchFamily="2" charset="0"/>
              </a:rPr>
              <a:t>() to alter the default class-loading behavior (e.g., delegate to some other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1EDD166-00A1-29D6-12E9-9E5C15E737E8}"/>
              </a:ext>
            </a:extLst>
          </p:cNvPr>
          <p:cNvSpPr txBox="1"/>
          <p:nvPr/>
        </p:nvSpPr>
        <p:spPr>
          <a:xfrm>
            <a:off x="4923100" y="0"/>
            <a:ext cx="4982900" cy="16712267"/>
          </a:xfrm>
          <a:prstGeom prst="rect">
            <a:avLst/>
          </a:prstGeom>
          <a:noFill/>
        </p:spPr>
        <p:txBody>
          <a:bodyPr wrap="square">
            <a:spAutoFit/>
          </a:bodyPr>
          <a:lstStyle/>
          <a:p>
            <a:r>
              <a:rPr lang="en-US" dirty="0"/>
              <a:t>import java.io.*;</a:t>
            </a:r>
          </a:p>
          <a:p>
            <a:r>
              <a:rPr lang="en-US" dirty="0"/>
              <a:t>import </a:t>
            </a:r>
            <a:r>
              <a:rPr lang="en-US" dirty="0" err="1"/>
              <a:t>java.nio.file</a:t>
            </a:r>
            <a:r>
              <a:rPr lang="en-US" dirty="0"/>
              <a:t>.*;</a:t>
            </a:r>
          </a:p>
          <a:p>
            <a:endParaRPr lang="en-US" dirty="0"/>
          </a:p>
          <a:p>
            <a:r>
              <a:rPr lang="en-US" dirty="0"/>
              <a:t>// Custom class loader that extends the built-in </a:t>
            </a:r>
            <a:r>
              <a:rPr lang="en-US" dirty="0" err="1"/>
              <a:t>ClassLoader</a:t>
            </a:r>
            <a:endParaRPr lang="en-US" dirty="0"/>
          </a:p>
          <a:p>
            <a:r>
              <a:rPr lang="en-US" dirty="0"/>
              <a:t>public class </a:t>
            </a:r>
            <a:r>
              <a:rPr lang="en-US" dirty="0" err="1"/>
              <a:t>CustomClassLoader</a:t>
            </a:r>
            <a:r>
              <a:rPr lang="en-US" dirty="0"/>
              <a:t> extends </a:t>
            </a:r>
            <a:r>
              <a:rPr lang="en-US" dirty="0" err="1"/>
              <a:t>ClassLoader</a:t>
            </a:r>
            <a:r>
              <a:rPr lang="en-US" dirty="0"/>
              <a:t> {</a:t>
            </a:r>
          </a:p>
          <a:p>
            <a:r>
              <a:rPr lang="en-US" dirty="0"/>
              <a:t>    // Base path to locate class files</a:t>
            </a:r>
          </a:p>
          <a:p>
            <a:r>
              <a:rPr lang="en-US" dirty="0"/>
              <a:t>    private String path;</a:t>
            </a:r>
          </a:p>
          <a:p>
            <a:endParaRPr lang="en-US" dirty="0"/>
          </a:p>
          <a:p>
            <a:r>
              <a:rPr lang="en-US" dirty="0"/>
              <a:t>    // Constructor accepts the path where .class files are stored</a:t>
            </a:r>
          </a:p>
          <a:p>
            <a:r>
              <a:rPr lang="en-US" dirty="0"/>
              <a:t>    public </a:t>
            </a:r>
            <a:r>
              <a:rPr lang="en-US" dirty="0" err="1"/>
              <a:t>CustomClassLoader</a:t>
            </a:r>
            <a:r>
              <a:rPr lang="en-US" dirty="0"/>
              <a:t>(String path) {</a:t>
            </a:r>
          </a:p>
          <a:p>
            <a:r>
              <a:rPr lang="en-US" dirty="0"/>
              <a:t>        </a:t>
            </a:r>
            <a:r>
              <a:rPr lang="en-US" dirty="0" err="1"/>
              <a:t>this.path</a:t>
            </a:r>
            <a:r>
              <a:rPr lang="en-US" dirty="0"/>
              <a:t> = path;</a:t>
            </a:r>
          </a:p>
          <a:p>
            <a:r>
              <a:rPr lang="en-US" dirty="0"/>
              <a:t>    }</a:t>
            </a:r>
          </a:p>
          <a:p>
            <a:endParaRPr lang="en-US" dirty="0"/>
          </a:p>
          <a:p>
            <a:r>
              <a:rPr lang="en-US" dirty="0"/>
              <a:t>    // Override </a:t>
            </a:r>
            <a:r>
              <a:rPr lang="en-US" dirty="0" err="1"/>
              <a:t>findClass</a:t>
            </a:r>
            <a:r>
              <a:rPr lang="en-US" dirty="0"/>
              <a:t>() method to define custom class-loading logic</a:t>
            </a:r>
          </a:p>
          <a:p>
            <a:r>
              <a:rPr lang="en-US" dirty="0"/>
              <a:t>    @Override</a:t>
            </a:r>
          </a:p>
          <a:p>
            <a:r>
              <a:rPr lang="en-US" dirty="0"/>
              <a:t>    public Class&lt;?&gt; </a:t>
            </a:r>
            <a:r>
              <a:rPr lang="en-US" dirty="0" err="1"/>
              <a:t>findClass</a:t>
            </a:r>
            <a:r>
              <a:rPr lang="en-US" dirty="0"/>
              <a:t>(String name) throws </a:t>
            </a:r>
            <a:r>
              <a:rPr lang="en-US" dirty="0" err="1"/>
              <a:t>ClassNotFoundException</a:t>
            </a:r>
            <a:r>
              <a:rPr lang="en-US" dirty="0"/>
              <a:t> {</a:t>
            </a:r>
          </a:p>
          <a:p>
            <a:r>
              <a:rPr lang="en-US" dirty="0"/>
              <a:t>        try {</a:t>
            </a:r>
          </a:p>
          <a:p>
            <a:r>
              <a:rPr lang="en-US" dirty="0"/>
              <a:t>            // Get the byte array of the class from the file system</a:t>
            </a:r>
          </a:p>
          <a:p>
            <a:r>
              <a:rPr lang="en-US" dirty="0"/>
              <a:t>            Path </a:t>
            </a:r>
            <a:r>
              <a:rPr lang="en-US" dirty="0" err="1"/>
              <a:t>pathToClass</a:t>
            </a:r>
            <a:r>
              <a:rPr lang="en-US" dirty="0"/>
              <a:t> = </a:t>
            </a:r>
            <a:r>
              <a:rPr lang="en-US" dirty="0" err="1"/>
              <a:t>Paths.get</a:t>
            </a:r>
            <a:r>
              <a:rPr lang="en-US" dirty="0"/>
              <a:t>(path, </a:t>
            </a:r>
            <a:r>
              <a:rPr lang="en-US" dirty="0" err="1"/>
              <a:t>name.replace</a:t>
            </a:r>
            <a:r>
              <a:rPr lang="en-US" dirty="0"/>
              <a:t>('.', '/') + ".class");</a:t>
            </a:r>
          </a:p>
          <a:p>
            <a:r>
              <a:rPr lang="en-US" dirty="0"/>
              <a:t>            byte[] bytes = </a:t>
            </a:r>
            <a:r>
              <a:rPr lang="en-US" dirty="0" err="1"/>
              <a:t>Files.readAllBytes</a:t>
            </a:r>
            <a:r>
              <a:rPr lang="en-US" dirty="0"/>
              <a:t>(</a:t>
            </a:r>
            <a:r>
              <a:rPr lang="en-US" dirty="0" err="1"/>
              <a:t>pathToClass</a:t>
            </a:r>
            <a:r>
              <a:rPr lang="en-US" dirty="0"/>
              <a:t>);</a:t>
            </a:r>
          </a:p>
          <a:p>
            <a:endParaRPr lang="en-US" dirty="0"/>
          </a:p>
          <a:p>
            <a:r>
              <a:rPr lang="en-US" dirty="0"/>
              <a:t>            // Define the class with the byte array</a:t>
            </a:r>
          </a:p>
          <a:p>
            <a:r>
              <a:rPr lang="en-US" dirty="0"/>
              <a:t>            return </a:t>
            </a:r>
            <a:r>
              <a:rPr lang="en-US" dirty="0" err="1"/>
              <a:t>defineClass</a:t>
            </a:r>
            <a:r>
              <a:rPr lang="en-US" dirty="0"/>
              <a:t>(name, bytes, 0, </a:t>
            </a:r>
            <a:r>
              <a:rPr lang="en-US" dirty="0" err="1"/>
              <a:t>bytes.length</a:t>
            </a:r>
            <a:r>
              <a:rPr lang="en-US" dirty="0"/>
              <a:t>);</a:t>
            </a:r>
          </a:p>
          <a:p>
            <a:r>
              <a:rPr lang="en-US" dirty="0"/>
              <a:t>        } catch (</a:t>
            </a:r>
            <a:r>
              <a:rPr lang="en-US" dirty="0" err="1"/>
              <a:t>IOException</a:t>
            </a:r>
            <a:r>
              <a:rPr lang="en-US" dirty="0"/>
              <a:t> e) {</a:t>
            </a:r>
          </a:p>
          <a:p>
            <a:r>
              <a:rPr lang="en-US" dirty="0"/>
              <a:t>            // Throw </a:t>
            </a:r>
            <a:r>
              <a:rPr lang="en-US" dirty="0" err="1"/>
              <a:t>ClassNotFoundException</a:t>
            </a:r>
            <a:r>
              <a:rPr lang="en-US" dirty="0"/>
              <a:t> if reading the class fails</a:t>
            </a:r>
          </a:p>
          <a:p>
            <a:r>
              <a:rPr lang="en-US" dirty="0"/>
              <a:t>            throw new </a:t>
            </a:r>
            <a:r>
              <a:rPr lang="en-US" dirty="0" err="1"/>
              <a:t>ClassNotFoundException</a:t>
            </a:r>
            <a:r>
              <a:rPr lang="en-US" dirty="0"/>
              <a:t>("Class not found: " + name, e);</a:t>
            </a:r>
          </a:p>
          <a:p>
            <a:r>
              <a:rPr lang="en-US" dirty="0"/>
              <a:t>        }</a:t>
            </a:r>
          </a:p>
          <a:p>
            <a:r>
              <a:rPr lang="en-US" dirty="0"/>
              <a:t>    }</a:t>
            </a:r>
          </a:p>
          <a:p>
            <a:endParaRPr lang="en-US" dirty="0"/>
          </a:p>
          <a:p>
            <a:r>
              <a:rPr lang="en-US" dirty="0"/>
              <a:t>    public static void main(String[] </a:t>
            </a:r>
            <a:r>
              <a:rPr lang="en-US" dirty="0" err="1"/>
              <a:t>args</a:t>
            </a:r>
            <a:r>
              <a:rPr lang="en-US" dirty="0"/>
              <a:t>) throws Exception {</a:t>
            </a:r>
          </a:p>
          <a:p>
            <a:r>
              <a:rPr lang="en-US" dirty="0"/>
              <a:t>        // Specify the directory where .class files are stored</a:t>
            </a:r>
          </a:p>
          <a:p>
            <a:r>
              <a:rPr lang="en-US" dirty="0"/>
              <a:t>        </a:t>
            </a:r>
            <a:r>
              <a:rPr lang="en-US" dirty="0" err="1"/>
              <a:t>CustomClassLoader</a:t>
            </a:r>
            <a:r>
              <a:rPr lang="en-US" dirty="0"/>
              <a:t> loader = new </a:t>
            </a:r>
            <a:r>
              <a:rPr lang="en-US" dirty="0" err="1"/>
              <a:t>CustomClassLoader</a:t>
            </a:r>
            <a:r>
              <a:rPr lang="en-US" dirty="0"/>
              <a:t>("/path/to/classes");</a:t>
            </a:r>
          </a:p>
          <a:p>
            <a:endParaRPr lang="en-US" dirty="0"/>
          </a:p>
          <a:p>
            <a:r>
              <a:rPr lang="en-US" dirty="0"/>
              <a:t>        // Load the class using the custom loader</a:t>
            </a:r>
          </a:p>
          <a:p>
            <a:r>
              <a:rPr lang="en-US" dirty="0"/>
              <a:t>        Class&lt;?&gt; </a:t>
            </a:r>
            <a:r>
              <a:rPr lang="en-US" dirty="0" err="1"/>
              <a:t>clazz</a:t>
            </a:r>
            <a:r>
              <a:rPr lang="en-US" dirty="0"/>
              <a:t> = </a:t>
            </a:r>
            <a:r>
              <a:rPr lang="en-US" dirty="0" err="1"/>
              <a:t>loader.loadClass</a:t>
            </a:r>
            <a:r>
              <a:rPr lang="en-US" dirty="0"/>
              <a:t>("</a:t>
            </a:r>
            <a:r>
              <a:rPr lang="en-US" dirty="0" err="1"/>
              <a:t>com.example.MyClass</a:t>
            </a:r>
            <a:r>
              <a:rPr lang="en-US" dirty="0"/>
              <a:t>");</a:t>
            </a:r>
          </a:p>
          <a:p>
            <a:endParaRPr lang="en-US" dirty="0"/>
          </a:p>
          <a:p>
            <a:r>
              <a:rPr lang="en-US" dirty="0"/>
              <a:t>        // Create an instance of the class and invoke a method</a:t>
            </a:r>
          </a:p>
          <a:p>
            <a:r>
              <a:rPr lang="en-US" dirty="0"/>
              <a:t>        Object obj = </a:t>
            </a:r>
            <a:r>
              <a:rPr lang="en-US" dirty="0" err="1"/>
              <a:t>clazz.getDeclaredConstructor</a:t>
            </a:r>
            <a:r>
              <a:rPr lang="en-US" dirty="0"/>
              <a:t>().</a:t>
            </a:r>
            <a:r>
              <a:rPr lang="en-US" dirty="0" err="1"/>
              <a:t>newInstance</a:t>
            </a:r>
            <a:r>
              <a:rPr lang="en-US" dirty="0"/>
              <a:t>();</a:t>
            </a:r>
          </a:p>
          <a:p>
            <a:r>
              <a:rPr lang="en-US" dirty="0"/>
              <a:t>        </a:t>
            </a:r>
            <a:r>
              <a:rPr lang="en-US" dirty="0" err="1"/>
              <a:t>System.out.println</a:t>
            </a:r>
            <a:r>
              <a:rPr lang="en-US" dirty="0"/>
              <a:t>("Class loaded: " + </a:t>
            </a:r>
            <a:r>
              <a:rPr lang="en-US" dirty="0" err="1"/>
              <a:t>clazz.getName</a:t>
            </a:r>
            <a:r>
              <a:rPr lang="en-US" dirty="0"/>
              <a:t>());</a:t>
            </a:r>
          </a:p>
          <a:p>
            <a:r>
              <a:rPr lang="en-US" dirty="0"/>
              <a:t>    }</a:t>
            </a:r>
          </a:p>
          <a:p>
            <a:r>
              <a:rPr lang="en-US" dirty="0"/>
              <a:t>}</a:t>
            </a:r>
          </a:p>
        </p:txBody>
      </p:sp>
    </p:spTree>
    <p:extLst>
      <p:ext uri="{BB962C8B-B14F-4D97-AF65-F5344CB8AC3E}">
        <p14:creationId xmlns:p14="http://schemas.microsoft.com/office/powerpoint/2010/main" val="405165302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CB8CD-558B-8817-309A-0820B6E4E46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C66AA5-9869-04E3-0BE3-81BA885DCEBC}"/>
              </a:ext>
            </a:extLst>
          </p:cNvPr>
          <p:cNvSpPr txBox="1"/>
          <p:nvPr/>
        </p:nvSpPr>
        <p:spPr>
          <a:xfrm>
            <a:off x="0" y="491579"/>
            <a:ext cx="9906000" cy="534505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198. What are Project Loom and virtual threads in Java?</a:t>
            </a:r>
          </a:p>
          <a:p>
            <a:pPr algn="just">
              <a:lnSpc>
                <a:spcPts val="2100"/>
              </a:lnSpc>
              <a:spcBef>
                <a:spcPts val="1650"/>
              </a:spcBef>
              <a:buNone/>
            </a:pPr>
            <a:r>
              <a:rPr lang="en-US" b="0" i="0" dirty="0">
                <a:solidFill>
                  <a:srgbClr val="3A3A3A"/>
                </a:solidFill>
                <a:effectLst/>
                <a:latin typeface="Roboto" panose="02000000000000000000" pitchFamily="2" charset="0"/>
              </a:rPr>
              <a:t>Project Loom is an active Java platform project whose objective is to make Java concurrency easier by adding support for virtual threads. Virtual threads provide better management of concurrency, particularly in use cases involving very concurrent applications that have a high need for many threads with low memory use.</a:t>
            </a:r>
          </a:p>
          <a:p>
            <a:pPr algn="l">
              <a:spcBef>
                <a:spcPts val="1650"/>
              </a:spcBef>
              <a:buNone/>
            </a:pPr>
            <a:r>
              <a:rPr lang="en-US" b="0" i="0" dirty="0">
                <a:solidFill>
                  <a:srgbClr val="3A3A3A"/>
                </a:solidFill>
                <a:effectLst/>
                <a:latin typeface="Roboto" panose="02000000000000000000" pitchFamily="2" charset="0"/>
              </a:rPr>
              <a:t>Key Concepts of Project Loom and Virtual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Virtual Threads are lightweight threads managed by the JVM instead of by the operating system. They are inexpensive to create and use much less memory than platform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Fiber-based Model: The idea behind virtual threads is rooted in a fiber-based concurrency model where multiple virtual threads are multiplexed over a lower number of OS threads. This means you are able to execute thousands or even millions of virtual threads simultaneously with little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Simplified concurrency: The addition of virtual threads simplifies concurrency because it eliminates having to manage a complicated thread pool or explicitly scheduling tasks.</a:t>
            </a:r>
          </a:p>
        </p:txBody>
      </p:sp>
    </p:spTree>
    <p:extLst>
      <p:ext uri="{BB962C8B-B14F-4D97-AF65-F5344CB8AC3E}">
        <p14:creationId xmlns:p14="http://schemas.microsoft.com/office/powerpoint/2010/main" val="13053016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0A3E-72B4-8B9E-F434-581095A5D5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E430AA-2D54-F33A-3AFA-378F927C000C}"/>
              </a:ext>
            </a:extLst>
          </p:cNvPr>
          <p:cNvSpPr txBox="1"/>
          <p:nvPr/>
        </p:nvSpPr>
        <p:spPr>
          <a:xfrm>
            <a:off x="204715" y="147942"/>
            <a:ext cx="9553433" cy="492955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 of Virtual Threads: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Scalability: Virtual threads enable a JVM to run thousands or millions of concurrent tasks because there is very little overhead with each virtual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Simpler Code: Virtual threads make it easier for developers to implement concurrent programming in a linear and sequential fashion, like with blocking I/O operations. This makes the code easier and less complicated than callbacks or asynchronous programming.</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Efficient use of resources: Because virtual threads are much lighter in weight than platform threads, they use much less CPU resources and memory.</a:t>
            </a:r>
          </a:p>
          <a:p>
            <a:pPr algn="l">
              <a:spcBef>
                <a:spcPts val="1650"/>
              </a:spcBef>
              <a:buNone/>
            </a:pPr>
            <a:r>
              <a:rPr lang="en-US" b="0" i="0" dirty="0">
                <a:solidFill>
                  <a:srgbClr val="3A3A3A"/>
                </a:solidFill>
                <a:effectLst/>
                <a:latin typeface="Roboto" panose="02000000000000000000" pitchFamily="2" charset="0"/>
              </a:rPr>
              <a:t>Example of Virtual Thread Usage (Preview in Java 19+):</a:t>
            </a:r>
          </a:p>
          <a:p>
            <a:pPr algn="just">
              <a:lnSpc>
                <a:spcPts val="2100"/>
              </a:lnSpc>
              <a:spcBef>
                <a:spcPts val="1650"/>
              </a:spcBef>
              <a:buNone/>
            </a:pPr>
            <a:r>
              <a:rPr lang="en-US" b="0" i="0" dirty="0">
                <a:solidFill>
                  <a:srgbClr val="3A3A3A"/>
                </a:solidFill>
                <a:effectLst/>
                <a:latin typeface="Roboto" panose="02000000000000000000" pitchFamily="2" charset="0"/>
              </a:rPr>
              <a:t>Java 19 and later versions provide virtual threads as a preview feature in Project Loom. Virtual threads may be created and manipulated with the use of the </a:t>
            </a:r>
            <a:r>
              <a:rPr lang="en-US" b="0" i="0" dirty="0" err="1">
                <a:solidFill>
                  <a:srgbClr val="3A3A3A"/>
                </a:solidFill>
                <a:effectLst/>
                <a:latin typeface="Roboto" panose="02000000000000000000" pitchFamily="2" charset="0"/>
              </a:rPr>
              <a:t>java.util.concurrent.Executors</a:t>
            </a:r>
            <a:r>
              <a:rPr lang="en-US" b="0" i="0" dirty="0">
                <a:solidFill>
                  <a:srgbClr val="3A3A3A"/>
                </a:solidFill>
                <a:effectLst/>
                <a:latin typeface="Roboto" panose="02000000000000000000" pitchFamily="2" charset="0"/>
              </a:rPr>
              <a:t> framework, just as you would manipulate platform threads with thread pools.</a:t>
            </a:r>
          </a:p>
        </p:txBody>
      </p:sp>
    </p:spTree>
    <p:extLst>
      <p:ext uri="{BB962C8B-B14F-4D97-AF65-F5344CB8AC3E}">
        <p14:creationId xmlns:p14="http://schemas.microsoft.com/office/powerpoint/2010/main" val="7163417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C6574-D3C8-3CE4-8D67-4CB0D2B57A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1B0135-FBC3-52FE-5A2E-2755B72C76D8}"/>
              </a:ext>
            </a:extLst>
          </p:cNvPr>
          <p:cNvSpPr txBox="1"/>
          <p:nvPr/>
        </p:nvSpPr>
        <p:spPr>
          <a:xfrm>
            <a:off x="2478024" y="474345"/>
            <a:ext cx="4956048" cy="5909310"/>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VirtualThreadExample</a:t>
            </a:r>
            <a:r>
              <a:rPr lang="en-US" dirty="0"/>
              <a:t> {</a:t>
            </a:r>
          </a:p>
          <a:p>
            <a:r>
              <a:rPr lang="en-US" dirty="0"/>
              <a:t>    public static void main(String[] </a:t>
            </a:r>
            <a:r>
              <a:rPr lang="en-US" dirty="0" err="1"/>
              <a:t>args</a:t>
            </a:r>
            <a:r>
              <a:rPr lang="en-US" dirty="0"/>
              <a:t>) throws </a:t>
            </a:r>
            <a:r>
              <a:rPr lang="en-US" dirty="0" err="1"/>
              <a:t>InterruptedException</a:t>
            </a:r>
            <a:r>
              <a:rPr lang="en-US" dirty="0"/>
              <a:t> {</a:t>
            </a:r>
          </a:p>
          <a:p>
            <a:r>
              <a:rPr lang="en-US" dirty="0"/>
              <a:t>        // Create a virtual thread using Executor</a:t>
            </a:r>
          </a:p>
          <a:p>
            <a:r>
              <a:rPr lang="en-US" dirty="0"/>
              <a:t>        </a:t>
            </a:r>
            <a:r>
              <a:rPr lang="en-US" dirty="0" err="1"/>
              <a:t>ExecutorService</a:t>
            </a:r>
            <a:r>
              <a:rPr lang="en-US" dirty="0"/>
              <a:t> executor = </a:t>
            </a:r>
            <a:r>
              <a:rPr lang="en-US" dirty="0" err="1"/>
              <a:t>Executors.newVirtualThreadPerTaskExecutor</a:t>
            </a:r>
            <a:r>
              <a:rPr lang="en-US" dirty="0"/>
              <a:t>();</a:t>
            </a:r>
          </a:p>
          <a:p>
            <a:endParaRPr lang="en-US" dirty="0"/>
          </a:p>
          <a:p>
            <a:r>
              <a:rPr lang="en-US" dirty="0"/>
              <a:t>        // Submit a task to the virtual thread pool</a:t>
            </a:r>
          </a:p>
          <a:p>
            <a:r>
              <a:rPr lang="en-US" dirty="0"/>
              <a:t>        </a:t>
            </a:r>
            <a:r>
              <a:rPr lang="en-US" dirty="0" err="1"/>
              <a:t>executor.submit</a:t>
            </a:r>
            <a:r>
              <a:rPr lang="en-US" dirty="0"/>
              <a:t>(() -&gt; {</a:t>
            </a:r>
          </a:p>
          <a:p>
            <a:r>
              <a:rPr lang="en-US" dirty="0"/>
              <a:t>            // This will run in a lightweight virtual thread</a:t>
            </a:r>
          </a:p>
          <a:p>
            <a:r>
              <a:rPr lang="en-US" dirty="0"/>
              <a:t>            </a:t>
            </a:r>
            <a:r>
              <a:rPr lang="en-US" dirty="0" err="1"/>
              <a:t>System.out.println</a:t>
            </a:r>
            <a:r>
              <a:rPr lang="en-US" dirty="0"/>
              <a:t>("Task running in virtual thread: " + </a:t>
            </a:r>
            <a:r>
              <a:rPr lang="en-US" dirty="0" err="1"/>
              <a:t>Thread.currentThread</a:t>
            </a:r>
            <a:r>
              <a:rPr lang="en-US" dirty="0"/>
              <a:t>().</a:t>
            </a:r>
            <a:r>
              <a:rPr lang="en-US" dirty="0" err="1"/>
              <a:t>getName</a:t>
            </a:r>
            <a:r>
              <a:rPr lang="en-US" dirty="0"/>
              <a:t>());</a:t>
            </a:r>
          </a:p>
          <a:p>
            <a:r>
              <a:rPr lang="en-US" dirty="0"/>
              <a:t>        });</a:t>
            </a:r>
          </a:p>
          <a:p>
            <a:endParaRPr lang="en-US" dirty="0"/>
          </a:p>
          <a:p>
            <a:r>
              <a:rPr lang="en-US" dirty="0"/>
              <a:t>        // Shutdown the executor</a:t>
            </a:r>
          </a:p>
          <a:p>
            <a:r>
              <a:rPr lang="en-US" dirty="0"/>
              <a:t>        </a:t>
            </a:r>
            <a:r>
              <a:rPr lang="en-US" dirty="0" err="1"/>
              <a:t>executor.shutdown</a:t>
            </a:r>
            <a:r>
              <a:rPr lang="en-US" dirty="0"/>
              <a:t>();</a:t>
            </a:r>
          </a:p>
          <a:p>
            <a:r>
              <a:rPr lang="en-US" dirty="0"/>
              <a:t>    }</a:t>
            </a:r>
          </a:p>
          <a:p>
            <a:r>
              <a:rPr lang="en-US" dirty="0"/>
              <a:t>}</a:t>
            </a:r>
          </a:p>
        </p:txBody>
      </p:sp>
    </p:spTree>
    <p:extLst>
      <p:ext uri="{BB962C8B-B14F-4D97-AF65-F5344CB8AC3E}">
        <p14:creationId xmlns:p14="http://schemas.microsoft.com/office/powerpoint/2010/main" val="120530566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BCFE-C8F2-5A8D-538A-E16D1D4ABB2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DB2B3EF-29D2-4A08-7266-996B5EF91DC1}"/>
              </a:ext>
            </a:extLst>
          </p:cNvPr>
          <p:cNvSpPr txBox="1"/>
          <p:nvPr/>
        </p:nvSpPr>
        <p:spPr>
          <a:xfrm>
            <a:off x="27296" y="106456"/>
            <a:ext cx="9906000" cy="67095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199. How to Crack a Java Interview?</a:t>
            </a:r>
            <a:br>
              <a:rPr lang="en-US" b="0" i="0" dirty="0">
                <a:solidFill>
                  <a:srgbClr val="272C37"/>
                </a:solidFill>
                <a:effectLst/>
                <a:latin typeface="Roboto" panose="02000000000000000000" pitchFamily="2" charset="0"/>
              </a:rPr>
            </a:br>
            <a:r>
              <a:rPr lang="en-US" b="0" i="0" dirty="0">
                <a:solidFill>
                  <a:srgbClr val="3A3A3A"/>
                </a:solidFill>
                <a:effectLst/>
                <a:latin typeface="Roboto" panose="02000000000000000000" pitchFamily="2" charset="0"/>
              </a:rPr>
              <a:t>You can crack the Java Interview by mastering core Java concepts, solving numbers of coding challenges and preparing not only for the technical round of interview but also for the </a:t>
            </a:r>
            <a:r>
              <a:rPr lang="en-US" b="0" i="0" dirty="0" err="1">
                <a:solidFill>
                  <a:srgbClr val="3A3A3A"/>
                </a:solidFill>
                <a:effectLst/>
                <a:latin typeface="Roboto" panose="02000000000000000000" pitchFamily="2" charset="0"/>
              </a:rPr>
              <a:t>behavioural</a:t>
            </a:r>
            <a:r>
              <a:rPr lang="en-US" b="0" i="0" dirty="0">
                <a:solidFill>
                  <a:srgbClr val="3A3A3A"/>
                </a:solidFill>
                <a:effectLst/>
                <a:latin typeface="Roboto" panose="02000000000000000000" pitchFamily="2" charset="0"/>
              </a:rPr>
              <a:t> round. Here are the few steps you can follow for succeeding in your next Java Interview:</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Core Java: Cover the important concepts like OOP, exception handling, collections, multithreading, and Java 8+ such as Streams and Lambdas.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Practice Coding: Solve different questions of Java Interview on different coding websites like </a:t>
            </a:r>
            <a:r>
              <a:rPr lang="en-US" b="0" i="0" dirty="0" err="1">
                <a:solidFill>
                  <a:srgbClr val="3A3A3A"/>
                </a:solidFill>
                <a:effectLst/>
                <a:latin typeface="Roboto" panose="02000000000000000000" pitchFamily="2" charset="0"/>
              </a:rPr>
              <a:t>Leetcode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codechef</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HackerRank</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Frameworks: If you are targeting any particular domain like backend development or full stack development, it is very important to learn frameworks like Spring, </a:t>
            </a:r>
            <a:r>
              <a:rPr lang="en-US" b="0" i="0" dirty="0" err="1">
                <a:solidFill>
                  <a:srgbClr val="3A3A3A"/>
                </a:solidFill>
                <a:effectLst/>
                <a:latin typeface="Roboto" panose="02000000000000000000" pitchFamily="2" charset="0"/>
              </a:rPr>
              <a:t>SpringBoot</a:t>
            </a:r>
            <a:r>
              <a:rPr lang="en-US" b="0" i="0" dirty="0">
                <a:solidFill>
                  <a:srgbClr val="3A3A3A"/>
                </a:solidFill>
                <a:effectLst/>
                <a:latin typeface="Roboto" panose="02000000000000000000" pitchFamily="2" charset="0"/>
              </a:rPr>
              <a:t>, Hibernate, JDBC.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and Patterns: You also need to know the design patterns like Singleton, Factory so that you are able to discuss low-level design and real-world architecture scenarios with the interviewers.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Mock Interviews and Resume: Participate as much as you can in mock interviews and focus on creating a good </a:t>
            </a:r>
            <a:r>
              <a:rPr lang="en-US" b="0" i="0" u="none" strike="noStrike" dirty="0">
                <a:solidFill>
                  <a:srgbClr val="0F5A9E"/>
                </a:solidFill>
                <a:effectLst/>
                <a:latin typeface="Roboto" panose="02000000000000000000" pitchFamily="2" charset="0"/>
                <a:hlinkClick r:id="rId2"/>
              </a:rPr>
              <a:t>resume</a:t>
            </a:r>
            <a:r>
              <a:rPr lang="en-US" b="0" i="0" dirty="0">
                <a:solidFill>
                  <a:srgbClr val="3A3A3A"/>
                </a:solidFill>
                <a:effectLst/>
                <a:latin typeface="Roboto" panose="02000000000000000000" pitchFamily="2" charset="0"/>
              </a:rPr>
              <a:t> to highlight Java projects, skills, and certifications.</a:t>
            </a:r>
          </a:p>
          <a:p>
            <a:pPr algn="just">
              <a:lnSpc>
                <a:spcPts val="2100"/>
              </a:lnSpc>
              <a:spcBef>
                <a:spcPts val="750"/>
              </a:spcBef>
              <a:spcAft>
                <a:spcPts val="600"/>
              </a:spcAft>
            </a:pPr>
            <a:r>
              <a:rPr lang="en-US" b="0" i="0" dirty="0">
                <a:solidFill>
                  <a:srgbClr val="3A3A3A"/>
                </a:solidFill>
                <a:effectLst/>
                <a:latin typeface="Roboto" panose="02000000000000000000" pitchFamily="2" charset="0"/>
              </a:rPr>
              <a:t>Always be consistent, practice these Java interview questions and answers and follow all the above mentioned steps so that you can crack any Java developer interview for fresher to senior level roles</a:t>
            </a:r>
          </a:p>
        </p:txBody>
      </p:sp>
    </p:spTree>
    <p:extLst>
      <p:ext uri="{BB962C8B-B14F-4D97-AF65-F5344CB8AC3E}">
        <p14:creationId xmlns:p14="http://schemas.microsoft.com/office/powerpoint/2010/main" val="43681366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FDB8-035C-9AD4-9C6A-F167E2C686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28434-2F28-AD5B-192B-8D2766648277}"/>
              </a:ext>
            </a:extLst>
          </p:cNvPr>
          <p:cNvSpPr txBox="1"/>
          <p:nvPr/>
        </p:nvSpPr>
        <p:spPr>
          <a:xfrm>
            <a:off x="0" y="798278"/>
            <a:ext cx="9785445" cy="4349909"/>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Conclusion</a:t>
            </a:r>
          </a:p>
          <a:p>
            <a:pPr algn="just">
              <a:lnSpc>
                <a:spcPts val="2100"/>
              </a:lnSpc>
              <a:spcBef>
                <a:spcPts val="1650"/>
              </a:spcBef>
              <a:buNone/>
            </a:pPr>
            <a:r>
              <a:rPr lang="en-US" b="0" i="0" dirty="0">
                <a:solidFill>
                  <a:srgbClr val="3A3A3A"/>
                </a:solidFill>
                <a:effectLst/>
                <a:latin typeface="Roboto" panose="02000000000000000000" pitchFamily="2" charset="0"/>
              </a:rPr>
              <a:t>We believe that this extensive list of Java interview questions and answers has aided your preparation in boosting your chances of cracking Java developer interviews in 2026. Whether a fresher trying to get your first job or a Java professional with years of experience targeting top notch tech firms, these fundamental Java questions, combined with topics such as multithreading, collections framework, exception handling, and various Java features, will make you stand apart.</a:t>
            </a:r>
          </a:p>
          <a:p>
            <a:pPr algn="just">
              <a:lnSpc>
                <a:spcPts val="2100"/>
              </a:lnSpc>
              <a:spcBef>
                <a:spcPts val="750"/>
              </a:spcBef>
              <a:buNone/>
            </a:pPr>
            <a:r>
              <a:rPr lang="en-US" b="0" i="0" dirty="0">
                <a:solidFill>
                  <a:srgbClr val="3A3A3A"/>
                </a:solidFill>
                <a:effectLst/>
                <a:latin typeface="Roboto" panose="02000000000000000000" pitchFamily="2" charset="0"/>
              </a:rPr>
              <a:t>By practicing these popular Java technical interview questions, you’ll be more confident in addressing both coding interviews and theory questions. Continue practicing the examples presented here, grasp the concepts entirely, and don’t miss to stay current with the new Java updates like Java 21, Java 22 and Java 23 and their new features.</a:t>
            </a:r>
          </a:p>
          <a:p>
            <a:pPr algn="just">
              <a:lnSpc>
                <a:spcPts val="2100"/>
              </a:lnSpc>
              <a:spcBef>
                <a:spcPts val="750"/>
              </a:spcBef>
              <a:buNone/>
            </a:pPr>
            <a:r>
              <a:rPr lang="en-US" b="0" i="0" dirty="0">
                <a:solidFill>
                  <a:srgbClr val="3A3A3A"/>
                </a:solidFill>
                <a:effectLst/>
                <a:latin typeface="Roboto" panose="02000000000000000000" pitchFamily="2" charset="0"/>
              </a:rPr>
              <a:t>If your intention is to crack your next Java interview, bookmark this guide, and practice writing code for every concept. You can also check out our Java Course so that your dream Java job can only be one well-prepared interview away!</a:t>
            </a:r>
          </a:p>
        </p:txBody>
      </p:sp>
    </p:spTree>
    <p:extLst>
      <p:ext uri="{BB962C8B-B14F-4D97-AF65-F5344CB8AC3E}">
        <p14:creationId xmlns:p14="http://schemas.microsoft.com/office/powerpoint/2010/main" val="405713008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C26B9-9643-8E20-47BC-D35A4A6C8B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847B39-DFC6-4A81-BE12-175D423ED867}"/>
              </a:ext>
            </a:extLst>
          </p:cNvPr>
          <p:cNvSpPr txBox="1"/>
          <p:nvPr/>
        </p:nvSpPr>
        <p:spPr>
          <a:xfrm>
            <a:off x="245660" y="161295"/>
            <a:ext cx="9485194" cy="642740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Java Interview Questions and Answers – FAQs</a:t>
            </a:r>
          </a:p>
          <a:p>
            <a:pPr algn="l">
              <a:lnSpc>
                <a:spcPts val="1800"/>
              </a:lnSpc>
              <a:spcBef>
                <a:spcPts val="2250"/>
              </a:spcBef>
              <a:spcAft>
                <a:spcPts val="1500"/>
              </a:spcAft>
              <a:buNone/>
            </a:pPr>
            <a:r>
              <a:rPr lang="en-US" b="0" i="0" dirty="0">
                <a:solidFill>
                  <a:srgbClr val="3A3A3A"/>
                </a:solidFill>
                <a:effectLst/>
                <a:latin typeface="Roboto" panose="02000000000000000000" pitchFamily="2" charset="0"/>
              </a:rPr>
              <a:t>Frequently Asked Questions</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1. What are the common job roles for a Java developer?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Java developers are generally hired for different job roles like Backend Developer, Full Stack Java Developer, Java Software Engineer, Android Developer (Java-based), and Java Microservices Developer. They are also hired for specialized roles like Java Architect and DevOps with Java expertise.</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2. How many rounds are there in a typical Java interview process?</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Most Java developer interviews involve 3–5 rounds, including: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Online coding assessment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Technical interview (Core Java, OOPs, Multithreading,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or architecture round (for experienced roles)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Managerial or HR round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Live project discussion or pair programming</a:t>
            </a:r>
          </a:p>
        </p:txBody>
      </p:sp>
    </p:spTree>
    <p:extLst>
      <p:ext uri="{BB962C8B-B14F-4D97-AF65-F5344CB8AC3E}">
        <p14:creationId xmlns:p14="http://schemas.microsoft.com/office/powerpoint/2010/main" val="235091362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DB34F-DA0A-EF76-0B1C-A9AB93CC12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AF1E5F6-F12E-6800-F529-1FCEDFEC45E1}"/>
              </a:ext>
            </a:extLst>
          </p:cNvPr>
          <p:cNvSpPr txBox="1"/>
          <p:nvPr/>
        </p:nvSpPr>
        <p:spPr>
          <a:xfrm>
            <a:off x="311624" y="335098"/>
            <a:ext cx="9594376" cy="8158644"/>
          </a:xfrm>
          <a:prstGeom prst="rect">
            <a:avLst/>
          </a:prstGeom>
          <a:noFill/>
        </p:spPr>
        <p:txBody>
          <a:bodyPr wrap="square">
            <a:spAutoFit/>
          </a:bodyPr>
          <a:lstStyle/>
          <a:p>
            <a:pPr algn="l">
              <a:lnSpc>
                <a:spcPts val="2100"/>
              </a:lnSpc>
              <a:spcAft>
                <a:spcPts val="750"/>
              </a:spcAft>
              <a:buNone/>
            </a:pPr>
            <a:r>
              <a:rPr lang="en-US" b="1" i="0" dirty="0">
                <a:solidFill>
                  <a:srgbClr val="3A3A3A"/>
                </a:solidFill>
                <a:effectLst/>
                <a:latin typeface="Roboto" panose="02000000000000000000" pitchFamily="2" charset="0"/>
              </a:rPr>
              <a:t>3. Which companies hire Java developers </a:t>
            </a:r>
            <a:r>
              <a:rPr lang="en-US" b="1" i="0" dirty="0" err="1">
                <a:solidFill>
                  <a:srgbClr val="3A3A3A"/>
                </a:solidFill>
                <a:effectLst/>
                <a:latin typeface="Roboto" panose="02000000000000000000" pitchFamily="2" charset="0"/>
              </a:rPr>
              <a:t>actively?ccc</a:t>
            </a:r>
            <a:endParaRPr lang="en-US" b="1" i="0" dirty="0">
              <a:solidFill>
                <a:srgbClr val="3A3A3A"/>
              </a:solidFill>
              <a:effectLst/>
              <a:latin typeface="Roboto" panose="02000000000000000000" pitchFamily="2" charset="0"/>
            </a:endParaRP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Companies like TCS, Infosys, Wipro, Accenture, Capgemini, Tech Mahindra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typically hire skilled Java Developers in India. Globally, companies like Amazon, Google, JPMorgan Chase, IBM, and Oracle also actively hire Java talent for scalable creating their backend and enterprise solutions.</a:t>
            </a:r>
          </a:p>
          <a:p>
            <a:pPr algn="l">
              <a:lnSpc>
                <a:spcPts val="2100"/>
              </a:lnSpc>
              <a:spcAft>
                <a:spcPts val="750"/>
              </a:spcAft>
              <a:buNone/>
            </a:pPr>
            <a:r>
              <a:rPr lang="en-US" b="1" i="0" dirty="0">
                <a:solidFill>
                  <a:srgbClr val="3A3A3A"/>
                </a:solidFill>
                <a:effectLst/>
                <a:latin typeface="Roboto" panose="02000000000000000000" pitchFamily="2" charset="0"/>
              </a:rPr>
              <a:t>4. What is the average salary of a Java developer in India and abroad?</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India, Java developer salaries range from ₹4 LPA to ₹20+ LPA depending on experience and tech stack.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Freshers: ₹3–6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Mid-level (3–6 yrs): ₹8–15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Senior roles (7+ yrs): ₹18–30+ LPA</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the US, the average salary ranges between $90,000 to $130,000+ annually.</a:t>
            </a:r>
          </a:p>
          <a:p>
            <a:pPr algn="l">
              <a:lnSpc>
                <a:spcPts val="2100"/>
              </a:lnSpc>
              <a:spcAft>
                <a:spcPts val="750"/>
              </a:spcAft>
              <a:buNone/>
            </a:pPr>
            <a:r>
              <a:rPr lang="en-US" b="1" i="0" dirty="0">
                <a:solidFill>
                  <a:srgbClr val="3A3A3A"/>
                </a:solidFill>
                <a:effectLst/>
                <a:latin typeface="Roboto" panose="02000000000000000000" pitchFamily="2" charset="0"/>
              </a:rPr>
              <a:t>5. What skills should I learn alongside Java to boost my career?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To increase your chances of getting hired and growing in your role, learn: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Spring Boot, Hibernate, REST APIs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Microservices Architecture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SQL &amp; NoSQL Databases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CI/CD tools, Docker, Kubernetes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Cloud platforms (AWS, GCP, Azure)</a:t>
            </a:r>
          </a:p>
        </p:txBody>
      </p:sp>
    </p:spTree>
    <p:extLst>
      <p:ext uri="{BB962C8B-B14F-4D97-AF65-F5344CB8AC3E}">
        <p14:creationId xmlns:p14="http://schemas.microsoft.com/office/powerpoint/2010/main" val="183836200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6E01-CE26-2680-E6C5-93113E6CA9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353D-DEA2-444E-1B8E-AAE60561C25B}"/>
              </a:ext>
            </a:extLst>
          </p:cNvPr>
          <p:cNvSpPr txBox="1"/>
          <p:nvPr/>
        </p:nvSpPr>
        <p:spPr>
          <a:xfrm>
            <a:off x="2478024" y="1419476"/>
            <a:ext cx="4956048" cy="4019049"/>
          </a:xfrm>
          <a:prstGeom prst="rect">
            <a:avLst/>
          </a:prstGeom>
          <a:noFill/>
        </p:spPr>
        <p:txBody>
          <a:bodyPr wrap="square">
            <a:spAutoFit/>
          </a:bodyPr>
          <a:lstStyle/>
          <a:p>
            <a:pPr algn="l">
              <a:lnSpc>
                <a:spcPts val="1800"/>
              </a:lnSpc>
              <a:spcBef>
                <a:spcPts val="2250"/>
              </a:spcBef>
              <a:buNone/>
            </a:pPr>
            <a:r>
              <a:rPr lang="en-US" b="0" i="0" u="none" strike="noStrike" dirty="0">
                <a:solidFill>
                  <a:srgbClr val="6459B2"/>
                </a:solidFill>
                <a:effectLst/>
                <a:latin typeface="Roboto" panose="02000000000000000000" pitchFamily="2" charset="0"/>
                <a:hlinkClick r:id="rId2"/>
              </a:rPr>
              <a:t>Ayaan Alam</a:t>
            </a:r>
            <a:endParaRPr lang="en-US" b="0" i="0" dirty="0">
              <a:solidFill>
                <a:srgbClr val="6459B2"/>
              </a:solidFill>
              <a:effectLst/>
              <a:latin typeface="Roboto" panose="02000000000000000000" pitchFamily="2" charset="0"/>
            </a:endParaRPr>
          </a:p>
          <a:p>
            <a:pPr algn="l">
              <a:lnSpc>
                <a:spcPts val="1500"/>
              </a:lnSpc>
              <a:spcBef>
                <a:spcPts val="2250"/>
              </a:spcBef>
              <a:buNone/>
            </a:pPr>
            <a:r>
              <a:rPr lang="en-US" b="0" i="0" dirty="0">
                <a:solidFill>
                  <a:srgbClr val="666666"/>
                </a:solidFill>
                <a:effectLst/>
                <a:latin typeface="Roboto" panose="02000000000000000000" pitchFamily="2" charset="0"/>
              </a:rPr>
              <a:t>Software Developer | Technical Research Analyst Lead | Full Stack &amp; Cloud Systems</a:t>
            </a:r>
          </a:p>
          <a:p>
            <a:pPr algn="l">
              <a:lnSpc>
                <a:spcPts val="1800"/>
              </a:lnSpc>
              <a:spcBef>
                <a:spcPts val="1200"/>
              </a:spcBef>
              <a:buNone/>
            </a:pPr>
            <a:r>
              <a:rPr lang="en-US" b="0" i="0" dirty="0">
                <a:solidFill>
                  <a:srgbClr val="3A3A3A"/>
                </a:solidFill>
                <a:effectLst/>
                <a:latin typeface="Roboto" panose="02000000000000000000" pitchFamily="2" charset="0"/>
              </a:rPr>
              <a:t>Ayaan Alam is a skilled Software Developer and Technical Research Analyst Lead with 2 years of professional experience in Java, Python, and C++. With expertise in full-stack development, system design, and cloud computing, he consistently delivers high-quality, scalable solutions. Known for producing accurate and insightful technical content, Ayaan contributes valuable knowledge to the developer community.</a:t>
            </a:r>
          </a:p>
          <a:p>
            <a:pPr>
              <a:buNone/>
            </a:pPr>
            <a:br>
              <a:rPr lang="en-US" dirty="0">
                <a:effectLst/>
              </a:rPr>
            </a:br>
            <a:endParaRPr lang="en-US" dirty="0"/>
          </a:p>
        </p:txBody>
      </p:sp>
    </p:spTree>
    <p:extLst>
      <p:ext uri="{BB962C8B-B14F-4D97-AF65-F5344CB8AC3E}">
        <p14:creationId xmlns:p14="http://schemas.microsoft.com/office/powerpoint/2010/main" val="278808115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E738-093A-2343-8A95-C7D798BD43B1}"/>
            </a:ext>
          </a:extLst>
        </p:cNvPr>
        <p:cNvGrpSpPr/>
        <p:nvPr/>
      </p:nvGrpSpPr>
      <p:grpSpPr>
        <a:xfrm>
          <a:off x="0" y="0"/>
          <a:ext cx="0" cy="0"/>
          <a:chOff x="0" y="0"/>
          <a:chExt cx="0" cy="0"/>
        </a:xfrm>
      </p:grpSpPr>
    </p:spTree>
    <p:extLst>
      <p:ext uri="{BB962C8B-B14F-4D97-AF65-F5344CB8AC3E}">
        <p14:creationId xmlns:p14="http://schemas.microsoft.com/office/powerpoint/2010/main" val="165589653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D88A3-2049-B720-0279-F6D1566B818E}"/>
            </a:ext>
          </a:extLst>
        </p:cNvPr>
        <p:cNvGrpSpPr/>
        <p:nvPr/>
      </p:nvGrpSpPr>
      <p:grpSpPr>
        <a:xfrm>
          <a:off x="0" y="0"/>
          <a:ext cx="0" cy="0"/>
          <a:chOff x="0" y="0"/>
          <a:chExt cx="0" cy="0"/>
        </a:xfrm>
      </p:grpSpPr>
    </p:spTree>
    <p:extLst>
      <p:ext uri="{BB962C8B-B14F-4D97-AF65-F5344CB8AC3E}">
        <p14:creationId xmlns:p14="http://schemas.microsoft.com/office/powerpoint/2010/main" val="213252684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78DE-BE84-B2B9-2738-2683157DB0BB}"/>
            </a:ext>
          </a:extLst>
        </p:cNvPr>
        <p:cNvGrpSpPr/>
        <p:nvPr/>
      </p:nvGrpSpPr>
      <p:grpSpPr>
        <a:xfrm>
          <a:off x="0" y="0"/>
          <a:ext cx="0" cy="0"/>
          <a:chOff x="0" y="0"/>
          <a:chExt cx="0" cy="0"/>
        </a:xfrm>
      </p:grpSpPr>
    </p:spTree>
    <p:extLst>
      <p:ext uri="{BB962C8B-B14F-4D97-AF65-F5344CB8AC3E}">
        <p14:creationId xmlns:p14="http://schemas.microsoft.com/office/powerpoint/2010/main" val="942761132"/>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C60CC-CF48-C1E3-C4E6-693E4572F762}"/>
            </a:ext>
          </a:extLst>
        </p:cNvPr>
        <p:cNvGrpSpPr/>
        <p:nvPr/>
      </p:nvGrpSpPr>
      <p:grpSpPr>
        <a:xfrm>
          <a:off x="0" y="0"/>
          <a:ext cx="0" cy="0"/>
          <a:chOff x="0" y="0"/>
          <a:chExt cx="0" cy="0"/>
        </a:xfrm>
      </p:grpSpPr>
    </p:spTree>
    <p:extLst>
      <p:ext uri="{BB962C8B-B14F-4D97-AF65-F5344CB8AC3E}">
        <p14:creationId xmlns:p14="http://schemas.microsoft.com/office/powerpoint/2010/main" val="35024958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5BE59-BD3A-1420-E955-4CB251E1A134}"/>
            </a:ext>
          </a:extLst>
        </p:cNvPr>
        <p:cNvGrpSpPr/>
        <p:nvPr/>
      </p:nvGrpSpPr>
      <p:grpSpPr>
        <a:xfrm>
          <a:off x="0" y="0"/>
          <a:ext cx="0" cy="0"/>
          <a:chOff x="0" y="0"/>
          <a:chExt cx="0" cy="0"/>
        </a:xfrm>
      </p:grpSpPr>
    </p:spTree>
    <p:extLst>
      <p:ext uri="{BB962C8B-B14F-4D97-AF65-F5344CB8AC3E}">
        <p14:creationId xmlns:p14="http://schemas.microsoft.com/office/powerpoint/2010/main" val="59300640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F3155-D935-8CC9-BDD6-58721E0A78C5}"/>
            </a:ext>
          </a:extLst>
        </p:cNvPr>
        <p:cNvGrpSpPr/>
        <p:nvPr/>
      </p:nvGrpSpPr>
      <p:grpSpPr>
        <a:xfrm>
          <a:off x="0" y="0"/>
          <a:ext cx="0" cy="0"/>
          <a:chOff x="0" y="0"/>
          <a:chExt cx="0" cy="0"/>
        </a:xfrm>
      </p:grpSpPr>
    </p:spTree>
    <p:extLst>
      <p:ext uri="{BB962C8B-B14F-4D97-AF65-F5344CB8AC3E}">
        <p14:creationId xmlns:p14="http://schemas.microsoft.com/office/powerpoint/2010/main" val="295995628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87725-EC64-5280-E7B8-1B56ED325E3C}"/>
            </a:ext>
          </a:extLst>
        </p:cNvPr>
        <p:cNvGrpSpPr/>
        <p:nvPr/>
      </p:nvGrpSpPr>
      <p:grpSpPr>
        <a:xfrm>
          <a:off x="0" y="0"/>
          <a:ext cx="0" cy="0"/>
          <a:chOff x="0" y="0"/>
          <a:chExt cx="0" cy="0"/>
        </a:xfrm>
      </p:grpSpPr>
    </p:spTree>
    <p:extLst>
      <p:ext uri="{BB962C8B-B14F-4D97-AF65-F5344CB8AC3E}">
        <p14:creationId xmlns:p14="http://schemas.microsoft.com/office/powerpoint/2010/main" val="316143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F3AF-5C12-A007-0867-EBE4E0E817DF}"/>
            </a:ext>
          </a:extLst>
        </p:cNvPr>
        <p:cNvGrpSpPr/>
        <p:nvPr/>
      </p:nvGrpSpPr>
      <p:grpSpPr>
        <a:xfrm>
          <a:off x="0" y="0"/>
          <a:ext cx="0" cy="0"/>
          <a:chOff x="0" y="0"/>
          <a:chExt cx="0" cy="0"/>
        </a:xfrm>
      </p:grpSpPr>
    </p:spTree>
    <p:extLst>
      <p:ext uri="{BB962C8B-B14F-4D97-AF65-F5344CB8AC3E}">
        <p14:creationId xmlns:p14="http://schemas.microsoft.com/office/powerpoint/2010/main" val="3191645014"/>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1AE0C-2875-8457-2266-90F7BFBDA619}"/>
            </a:ext>
          </a:extLst>
        </p:cNvPr>
        <p:cNvGrpSpPr/>
        <p:nvPr/>
      </p:nvGrpSpPr>
      <p:grpSpPr>
        <a:xfrm>
          <a:off x="0" y="0"/>
          <a:ext cx="0" cy="0"/>
          <a:chOff x="0" y="0"/>
          <a:chExt cx="0" cy="0"/>
        </a:xfrm>
      </p:grpSpPr>
    </p:spTree>
    <p:extLst>
      <p:ext uri="{BB962C8B-B14F-4D97-AF65-F5344CB8AC3E}">
        <p14:creationId xmlns:p14="http://schemas.microsoft.com/office/powerpoint/2010/main" val="924492795"/>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08F26-B856-505B-157C-528A486F1490}"/>
            </a:ext>
          </a:extLst>
        </p:cNvPr>
        <p:cNvGrpSpPr/>
        <p:nvPr/>
      </p:nvGrpSpPr>
      <p:grpSpPr>
        <a:xfrm>
          <a:off x="0" y="0"/>
          <a:ext cx="0" cy="0"/>
          <a:chOff x="0" y="0"/>
          <a:chExt cx="0" cy="0"/>
        </a:xfrm>
      </p:grpSpPr>
    </p:spTree>
    <p:extLst>
      <p:ext uri="{BB962C8B-B14F-4D97-AF65-F5344CB8AC3E}">
        <p14:creationId xmlns:p14="http://schemas.microsoft.com/office/powerpoint/2010/main" val="58861404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3E738-D76C-14E2-870E-486F323AF4E0}"/>
            </a:ext>
          </a:extLst>
        </p:cNvPr>
        <p:cNvGrpSpPr/>
        <p:nvPr/>
      </p:nvGrpSpPr>
      <p:grpSpPr>
        <a:xfrm>
          <a:off x="0" y="0"/>
          <a:ext cx="0" cy="0"/>
          <a:chOff x="0" y="0"/>
          <a:chExt cx="0" cy="0"/>
        </a:xfrm>
      </p:grpSpPr>
    </p:spTree>
    <p:extLst>
      <p:ext uri="{BB962C8B-B14F-4D97-AF65-F5344CB8AC3E}">
        <p14:creationId xmlns:p14="http://schemas.microsoft.com/office/powerpoint/2010/main" val="173968481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04B5-DE43-CAB0-9959-3546083D5D64}"/>
            </a:ext>
          </a:extLst>
        </p:cNvPr>
        <p:cNvGrpSpPr/>
        <p:nvPr/>
      </p:nvGrpSpPr>
      <p:grpSpPr>
        <a:xfrm>
          <a:off x="0" y="0"/>
          <a:ext cx="0" cy="0"/>
          <a:chOff x="0" y="0"/>
          <a:chExt cx="0" cy="0"/>
        </a:xfrm>
      </p:grpSpPr>
    </p:spTree>
    <p:extLst>
      <p:ext uri="{BB962C8B-B14F-4D97-AF65-F5344CB8AC3E}">
        <p14:creationId xmlns:p14="http://schemas.microsoft.com/office/powerpoint/2010/main" val="179121850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A77B0-31EC-48E7-6151-3E4E9515DD7C}"/>
            </a:ext>
          </a:extLst>
        </p:cNvPr>
        <p:cNvGrpSpPr/>
        <p:nvPr/>
      </p:nvGrpSpPr>
      <p:grpSpPr>
        <a:xfrm>
          <a:off x="0" y="0"/>
          <a:ext cx="0" cy="0"/>
          <a:chOff x="0" y="0"/>
          <a:chExt cx="0" cy="0"/>
        </a:xfrm>
      </p:grpSpPr>
    </p:spTree>
    <p:extLst>
      <p:ext uri="{BB962C8B-B14F-4D97-AF65-F5344CB8AC3E}">
        <p14:creationId xmlns:p14="http://schemas.microsoft.com/office/powerpoint/2010/main" val="252318580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73DF8-EB42-D088-A9A8-2A0BAA8A0A41}"/>
            </a:ext>
          </a:extLst>
        </p:cNvPr>
        <p:cNvGrpSpPr/>
        <p:nvPr/>
      </p:nvGrpSpPr>
      <p:grpSpPr>
        <a:xfrm>
          <a:off x="0" y="0"/>
          <a:ext cx="0" cy="0"/>
          <a:chOff x="0" y="0"/>
          <a:chExt cx="0" cy="0"/>
        </a:xfrm>
      </p:grpSpPr>
    </p:spTree>
    <p:extLst>
      <p:ext uri="{BB962C8B-B14F-4D97-AF65-F5344CB8AC3E}">
        <p14:creationId xmlns:p14="http://schemas.microsoft.com/office/powerpoint/2010/main" val="109835045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CEC3A-0999-7AF6-8269-981108D9BC7B}"/>
            </a:ext>
          </a:extLst>
        </p:cNvPr>
        <p:cNvGrpSpPr/>
        <p:nvPr/>
      </p:nvGrpSpPr>
      <p:grpSpPr>
        <a:xfrm>
          <a:off x="0" y="0"/>
          <a:ext cx="0" cy="0"/>
          <a:chOff x="0" y="0"/>
          <a:chExt cx="0" cy="0"/>
        </a:xfrm>
      </p:grpSpPr>
    </p:spTree>
    <p:extLst>
      <p:ext uri="{BB962C8B-B14F-4D97-AF65-F5344CB8AC3E}">
        <p14:creationId xmlns:p14="http://schemas.microsoft.com/office/powerpoint/2010/main" val="345084471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9A291-7EBE-DCCC-8F5C-DD03743DEC81}"/>
            </a:ext>
          </a:extLst>
        </p:cNvPr>
        <p:cNvGrpSpPr/>
        <p:nvPr/>
      </p:nvGrpSpPr>
      <p:grpSpPr>
        <a:xfrm>
          <a:off x="0" y="0"/>
          <a:ext cx="0" cy="0"/>
          <a:chOff x="0" y="0"/>
          <a:chExt cx="0" cy="0"/>
        </a:xfrm>
      </p:grpSpPr>
    </p:spTree>
    <p:extLst>
      <p:ext uri="{BB962C8B-B14F-4D97-AF65-F5344CB8AC3E}">
        <p14:creationId xmlns:p14="http://schemas.microsoft.com/office/powerpoint/2010/main" val="47424925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C6C2E-C76C-FD84-221A-B0B3B063F0AD}"/>
            </a:ext>
          </a:extLst>
        </p:cNvPr>
        <p:cNvGrpSpPr/>
        <p:nvPr/>
      </p:nvGrpSpPr>
      <p:grpSpPr>
        <a:xfrm>
          <a:off x="0" y="0"/>
          <a:ext cx="0" cy="0"/>
          <a:chOff x="0" y="0"/>
          <a:chExt cx="0" cy="0"/>
        </a:xfrm>
      </p:grpSpPr>
    </p:spTree>
    <p:extLst>
      <p:ext uri="{BB962C8B-B14F-4D97-AF65-F5344CB8AC3E}">
        <p14:creationId xmlns:p14="http://schemas.microsoft.com/office/powerpoint/2010/main" val="101398470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82712-79FF-4D59-86CB-04A51E46045C}"/>
            </a:ext>
          </a:extLst>
        </p:cNvPr>
        <p:cNvGrpSpPr/>
        <p:nvPr/>
      </p:nvGrpSpPr>
      <p:grpSpPr>
        <a:xfrm>
          <a:off x="0" y="0"/>
          <a:ext cx="0" cy="0"/>
          <a:chOff x="0" y="0"/>
          <a:chExt cx="0" cy="0"/>
        </a:xfrm>
      </p:grpSpPr>
    </p:spTree>
    <p:extLst>
      <p:ext uri="{BB962C8B-B14F-4D97-AF65-F5344CB8AC3E}">
        <p14:creationId xmlns:p14="http://schemas.microsoft.com/office/powerpoint/2010/main" val="348976431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4FD4-0CF8-077F-B3EE-4C0CDB608D71}"/>
            </a:ext>
          </a:extLst>
        </p:cNvPr>
        <p:cNvGrpSpPr/>
        <p:nvPr/>
      </p:nvGrpSpPr>
      <p:grpSpPr>
        <a:xfrm>
          <a:off x="0" y="0"/>
          <a:ext cx="0" cy="0"/>
          <a:chOff x="0" y="0"/>
          <a:chExt cx="0" cy="0"/>
        </a:xfrm>
      </p:grpSpPr>
    </p:spTree>
    <p:extLst>
      <p:ext uri="{BB962C8B-B14F-4D97-AF65-F5344CB8AC3E}">
        <p14:creationId xmlns:p14="http://schemas.microsoft.com/office/powerpoint/2010/main" val="40226828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F87C-FA60-DD19-314B-91A387870558}"/>
            </a:ext>
          </a:extLst>
        </p:cNvPr>
        <p:cNvGrpSpPr/>
        <p:nvPr/>
      </p:nvGrpSpPr>
      <p:grpSpPr>
        <a:xfrm>
          <a:off x="0" y="0"/>
          <a:ext cx="0" cy="0"/>
          <a:chOff x="0" y="0"/>
          <a:chExt cx="0" cy="0"/>
        </a:xfrm>
      </p:grpSpPr>
    </p:spTree>
    <p:extLst>
      <p:ext uri="{BB962C8B-B14F-4D97-AF65-F5344CB8AC3E}">
        <p14:creationId xmlns:p14="http://schemas.microsoft.com/office/powerpoint/2010/main" val="72817775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1167F-ADE8-871D-2BA6-03B646996B5A}"/>
            </a:ext>
          </a:extLst>
        </p:cNvPr>
        <p:cNvGrpSpPr/>
        <p:nvPr/>
      </p:nvGrpSpPr>
      <p:grpSpPr>
        <a:xfrm>
          <a:off x="0" y="0"/>
          <a:ext cx="0" cy="0"/>
          <a:chOff x="0" y="0"/>
          <a:chExt cx="0" cy="0"/>
        </a:xfrm>
      </p:grpSpPr>
    </p:spTree>
    <p:extLst>
      <p:ext uri="{BB962C8B-B14F-4D97-AF65-F5344CB8AC3E}">
        <p14:creationId xmlns:p14="http://schemas.microsoft.com/office/powerpoint/2010/main" val="3339615377"/>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8F1E-F68E-EB27-78D0-92B8E84F4A67}"/>
            </a:ext>
          </a:extLst>
        </p:cNvPr>
        <p:cNvGrpSpPr/>
        <p:nvPr/>
      </p:nvGrpSpPr>
      <p:grpSpPr>
        <a:xfrm>
          <a:off x="0" y="0"/>
          <a:ext cx="0" cy="0"/>
          <a:chOff x="0" y="0"/>
          <a:chExt cx="0" cy="0"/>
        </a:xfrm>
      </p:grpSpPr>
    </p:spTree>
    <p:extLst>
      <p:ext uri="{BB962C8B-B14F-4D97-AF65-F5344CB8AC3E}">
        <p14:creationId xmlns:p14="http://schemas.microsoft.com/office/powerpoint/2010/main" val="16660284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04EF-19C1-62E6-9E6C-4F11349F01F5}"/>
            </a:ext>
          </a:extLst>
        </p:cNvPr>
        <p:cNvGrpSpPr/>
        <p:nvPr/>
      </p:nvGrpSpPr>
      <p:grpSpPr>
        <a:xfrm>
          <a:off x="0" y="0"/>
          <a:ext cx="0" cy="0"/>
          <a:chOff x="0" y="0"/>
          <a:chExt cx="0" cy="0"/>
        </a:xfrm>
      </p:grpSpPr>
    </p:spTree>
    <p:extLst>
      <p:ext uri="{BB962C8B-B14F-4D97-AF65-F5344CB8AC3E}">
        <p14:creationId xmlns:p14="http://schemas.microsoft.com/office/powerpoint/2010/main" val="256643330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2B22-41EC-F97D-44FC-40026158EA69}"/>
            </a:ext>
          </a:extLst>
        </p:cNvPr>
        <p:cNvGrpSpPr/>
        <p:nvPr/>
      </p:nvGrpSpPr>
      <p:grpSpPr>
        <a:xfrm>
          <a:off x="0" y="0"/>
          <a:ext cx="0" cy="0"/>
          <a:chOff x="0" y="0"/>
          <a:chExt cx="0" cy="0"/>
        </a:xfrm>
      </p:grpSpPr>
    </p:spTree>
    <p:extLst>
      <p:ext uri="{BB962C8B-B14F-4D97-AF65-F5344CB8AC3E}">
        <p14:creationId xmlns:p14="http://schemas.microsoft.com/office/powerpoint/2010/main" val="3828179651"/>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25FBD-BC5E-ABF0-7078-FFCB938B6390}"/>
            </a:ext>
          </a:extLst>
        </p:cNvPr>
        <p:cNvGrpSpPr/>
        <p:nvPr/>
      </p:nvGrpSpPr>
      <p:grpSpPr>
        <a:xfrm>
          <a:off x="0" y="0"/>
          <a:ext cx="0" cy="0"/>
          <a:chOff x="0" y="0"/>
          <a:chExt cx="0" cy="0"/>
        </a:xfrm>
      </p:grpSpPr>
    </p:spTree>
    <p:extLst>
      <p:ext uri="{BB962C8B-B14F-4D97-AF65-F5344CB8AC3E}">
        <p14:creationId xmlns:p14="http://schemas.microsoft.com/office/powerpoint/2010/main" val="345798161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C4435-29F3-5900-B469-958CC45E692D}"/>
            </a:ext>
          </a:extLst>
        </p:cNvPr>
        <p:cNvGrpSpPr/>
        <p:nvPr/>
      </p:nvGrpSpPr>
      <p:grpSpPr>
        <a:xfrm>
          <a:off x="0" y="0"/>
          <a:ext cx="0" cy="0"/>
          <a:chOff x="0" y="0"/>
          <a:chExt cx="0" cy="0"/>
        </a:xfrm>
      </p:grpSpPr>
    </p:spTree>
    <p:extLst>
      <p:ext uri="{BB962C8B-B14F-4D97-AF65-F5344CB8AC3E}">
        <p14:creationId xmlns:p14="http://schemas.microsoft.com/office/powerpoint/2010/main" val="167737761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FDC-367C-FBC0-0AC1-6765853CBB07}"/>
            </a:ext>
          </a:extLst>
        </p:cNvPr>
        <p:cNvGrpSpPr/>
        <p:nvPr/>
      </p:nvGrpSpPr>
      <p:grpSpPr>
        <a:xfrm>
          <a:off x="0" y="0"/>
          <a:ext cx="0" cy="0"/>
          <a:chOff x="0" y="0"/>
          <a:chExt cx="0" cy="0"/>
        </a:xfrm>
      </p:grpSpPr>
    </p:spTree>
    <p:extLst>
      <p:ext uri="{BB962C8B-B14F-4D97-AF65-F5344CB8AC3E}">
        <p14:creationId xmlns:p14="http://schemas.microsoft.com/office/powerpoint/2010/main" val="223199521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ln>
          <a:solidFill>
            <a:schemeClr val="tx1"/>
          </a:solidFill>
        </a:ln>
      </a:spPr>
      <a:bodyPr wrap="square">
        <a:spAutoFit/>
      </a:bodyPr>
      <a:lstStyle>
        <a:defPPr algn="l">
          <a:buNone/>
          <a:defRPr sz="1200" b="1" dirty="0">
            <a:solidFill>
              <a:srgbClr val="0F1115"/>
            </a:solidFill>
            <a:effectLst/>
            <a:latin typeface="quote-cjk-patch"/>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1254</TotalTime>
  <Words>34916</Words>
  <Application>Microsoft Office PowerPoint</Application>
  <PresentationFormat>A4 Paper (210x297 mm)</PresentationFormat>
  <Paragraphs>3419</Paragraphs>
  <Slides>226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226</vt:i4>
      </vt:variant>
    </vt:vector>
  </HeadingPairs>
  <TitlesOfParts>
    <vt:vector size="234" baseType="lpstr">
      <vt:lpstr>Aptos</vt:lpstr>
      <vt:lpstr>Aptos Display</vt:lpstr>
      <vt:lpstr>Arial</vt:lpstr>
      <vt:lpstr>Courier New</vt:lpstr>
      <vt:lpstr>Menlo</vt:lpstr>
      <vt:lpstr>quote-cjk-patch</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110</cp:revision>
  <dcterms:created xsi:type="dcterms:W3CDTF">2026-02-06T21:19:28Z</dcterms:created>
  <dcterms:modified xsi:type="dcterms:W3CDTF">2026-02-26T03:28:23Z</dcterms:modified>
</cp:coreProperties>
</file>