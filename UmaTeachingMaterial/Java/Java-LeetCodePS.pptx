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bookmarkIdSeed="3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</p:sldIdLst>
  <p:sldSz cx="9906000" cy="6858000" type="A4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285" autoAdjust="0"/>
    <p:restoredTop sz="94660"/>
  </p:normalViewPr>
  <p:slideViewPr>
    <p:cSldViewPr snapToGrid="0">
      <p:cViewPr varScale="1">
        <p:scale>
          <a:sx n="56" d="100"/>
          <a:sy n="56" d="100"/>
        </p:scale>
        <p:origin x="58" y="34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6" Type="http://schemas.openxmlformats.org/officeDocument/2006/relationships/slide" Target="slides/slide15.xml"/><Relationship Id="rId107" Type="http://schemas.openxmlformats.org/officeDocument/2006/relationships/viewProps" Target="viewProps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theme" Target="theme/theme1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6" Type="http://schemas.openxmlformats.org/officeDocument/2006/relationships/presProps" Target="pres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tableStyles" Target="tableStyles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FB5FC-1629-4A0D-9573-785FAC7ED015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83C504-7F0E-4585-832D-B71C6D96FE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1057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FB5FC-1629-4A0D-9573-785FAC7ED015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83C504-7F0E-4585-832D-B71C6D96FE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74479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FB5FC-1629-4A0D-9573-785FAC7ED015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83C504-7F0E-4585-832D-B71C6D96FE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08332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FB5FC-1629-4A0D-9573-785FAC7ED015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83C504-7F0E-4585-832D-B71C6D96FE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66008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FB5FC-1629-4A0D-9573-785FAC7ED015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83C504-7F0E-4585-832D-B71C6D96FE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738116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FB5FC-1629-4A0D-9573-785FAC7ED015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83C504-7F0E-4585-832D-B71C6D96FE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20241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FB5FC-1629-4A0D-9573-785FAC7ED015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83C504-7F0E-4585-832D-B71C6D96FE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02246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FB5FC-1629-4A0D-9573-785FAC7ED015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83C504-7F0E-4585-832D-B71C6D96FE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91197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FB5FC-1629-4A0D-9573-785FAC7ED015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83C504-7F0E-4585-832D-B71C6D96FE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36138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FB5FC-1629-4A0D-9573-785FAC7ED015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83C504-7F0E-4585-832D-B71C6D96FE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36143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FB5FC-1629-4A0D-9573-785FAC7ED015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83C504-7F0E-4585-832D-B71C6D96FE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96502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D1FB5FC-1629-4A0D-9573-785FAC7ED015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483C504-7F0E-4585-832D-B71C6D96FE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04060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522CAB5-C6A8-5DD1-97B1-A74DA68AD23F}"/>
              </a:ext>
            </a:extLst>
          </p:cNvPr>
          <p:cNvSpPr txBox="1"/>
          <p:nvPr/>
        </p:nvSpPr>
        <p:spPr>
          <a:xfrm>
            <a:off x="225188" y="-4005718"/>
            <a:ext cx="4954136" cy="154221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spcBef>
                <a:spcPts val="2400"/>
              </a:spcBef>
              <a:spcAft>
                <a:spcPts val="1200"/>
              </a:spcAft>
              <a:buNone/>
            </a:pPr>
            <a:r>
              <a:rPr lang="en-US" b="1" dirty="0">
                <a:solidFill>
                  <a:srgbClr val="0F1115"/>
                </a:solidFill>
                <a:effectLst/>
                <a:latin typeface="quote-cjk-patch"/>
              </a:rPr>
              <a:t>Arrays &amp; Hashing</a:t>
            </a:r>
          </a:p>
          <a:p>
            <a:pPr algn="l">
              <a:lnSpc>
                <a:spcPts val="2250"/>
              </a:lnSpc>
              <a:spcBef>
                <a:spcPts val="2400"/>
              </a:spcBef>
              <a:spcAft>
                <a:spcPts val="1200"/>
              </a:spcAft>
              <a:buNone/>
            </a:pPr>
            <a:r>
              <a:rPr lang="en-US" b="1" dirty="0">
                <a:solidFill>
                  <a:srgbClr val="0F1115"/>
                </a:solidFill>
                <a:effectLst/>
                <a:latin typeface="quote-cjk-patch"/>
              </a:rPr>
              <a:t>1. Two Sum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Problem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: Given an array of integers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quote-cjk-patch"/>
              </a:rPr>
              <a:t>nums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 and an integer target, return indices of the two numbers that add up to target.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Solution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:</a:t>
            </a: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java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class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Solution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public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int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[]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twoSum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int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[]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nums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int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target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// HashMap to store number and its index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Map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&lt;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Integer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Integer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&gt;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map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new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HashMap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&lt;&gt;();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for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int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i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0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i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&lt;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nums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length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i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++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int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complement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target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-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nums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[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i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];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// If complement exists in map, we found our pair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if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map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containsKey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complement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return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new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int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[]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map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get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complement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i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// Store current number and its index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map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put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nums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[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i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],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i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return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new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int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[]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{};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// No solution found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Time Complexity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: O(n) | </a:t>
            </a: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Space Complexity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: O(n)</a:t>
            </a:r>
            <a:b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</a:b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Explanation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: We iterate through the array once. For each number, we calculate its complement (target - num) and check if we've seen it before using a HashMap.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4F7E75E-FE0E-7786-07F1-771B02515614}"/>
              </a:ext>
            </a:extLst>
          </p:cNvPr>
          <p:cNvSpPr txBox="1"/>
          <p:nvPr/>
        </p:nvSpPr>
        <p:spPr>
          <a:xfrm>
            <a:off x="4510585" y="-1760523"/>
            <a:ext cx="4954136" cy="9689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50"/>
              </a:lnSpc>
              <a:spcBef>
                <a:spcPts val="2400"/>
              </a:spcBef>
              <a:spcAft>
                <a:spcPts val="1200"/>
              </a:spcAft>
              <a:buNone/>
            </a:pPr>
            <a:r>
              <a:rPr lang="en-US" b="1" dirty="0">
                <a:solidFill>
                  <a:srgbClr val="0F1115"/>
                </a:solidFill>
                <a:effectLst/>
                <a:latin typeface="quote-cjk-patch"/>
              </a:rPr>
              <a:t>2. Contains Duplicate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Problem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: Given an integer array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quote-cjk-patch"/>
              </a:rPr>
              <a:t>nums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, return true if any value appears at least twice.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Solution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:</a:t>
            </a: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java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class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Solution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public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A626A4"/>
                </a:solidFill>
                <a:effectLst/>
                <a:latin typeface="Menlo"/>
              </a:rPr>
              <a:t>boolean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containsDuplicate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int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[]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nums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Set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&lt;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Integer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&gt;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seen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new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HashSet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&lt;&gt;();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for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int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num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: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nums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if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seen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contains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num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return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true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// Duplicate found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seen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add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num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return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false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// No duplicates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Time Complexity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: O(n) | </a:t>
            </a: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Space Complexity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: O(n)</a:t>
            </a:r>
          </a:p>
        </p:txBody>
      </p:sp>
    </p:spTree>
    <p:extLst>
      <p:ext uri="{BB962C8B-B14F-4D97-AF65-F5344CB8AC3E}">
        <p14:creationId xmlns:p14="http://schemas.microsoft.com/office/powerpoint/2010/main" val="6867814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D047F0-2EEC-3B96-C431-447C7F2D00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CEB192B-E307-EDD4-FB9D-7A16ED3E4573}"/>
              </a:ext>
            </a:extLst>
          </p:cNvPr>
          <p:cNvSpPr txBox="1"/>
          <p:nvPr/>
        </p:nvSpPr>
        <p:spPr>
          <a:xfrm>
            <a:off x="-1136" y="-2806026"/>
            <a:ext cx="4954136" cy="128317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50"/>
              </a:lnSpc>
              <a:spcBef>
                <a:spcPts val="2400"/>
              </a:spcBef>
              <a:spcAft>
                <a:spcPts val="1200"/>
              </a:spcAft>
              <a:buNone/>
            </a:pPr>
            <a:r>
              <a:rPr lang="en-US" b="1" dirty="0">
                <a:solidFill>
                  <a:srgbClr val="0F1115"/>
                </a:solidFill>
                <a:effectLst/>
                <a:latin typeface="quote-cjk-patch"/>
              </a:rPr>
              <a:t>3. Valid Anagram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Problem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: Given two strings s and t, return true if t is an anagram of s.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Solution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:</a:t>
            </a: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java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class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Solution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public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A626A4"/>
                </a:solidFill>
                <a:effectLst/>
                <a:latin typeface="Menlo"/>
              </a:rPr>
              <a:t>boolean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isAnagram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String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s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String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if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s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length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!=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t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length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())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return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false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int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[]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charCount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new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int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[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26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];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// For lowercase English letters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// Count characters in s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for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char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c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: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s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toCharArray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())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charCount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[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c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-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50A14F"/>
                </a:solidFill>
                <a:effectLst/>
                <a:latin typeface="Menlo"/>
              </a:rPr>
              <a:t>'a'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]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++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// Decrement for characters in t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for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char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c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: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t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toCharArray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())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charCount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[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c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-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50A14F"/>
                </a:solidFill>
                <a:effectLst/>
                <a:latin typeface="Menlo"/>
              </a:rPr>
              <a:t>'a'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]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--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if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charCount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[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c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-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50A14F"/>
                </a:solidFill>
                <a:effectLst/>
                <a:latin typeface="Menlo"/>
              </a:rPr>
              <a:t>'a'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]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&lt;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0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return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false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return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true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Time Complexity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: O(n) | </a:t>
            </a: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Space Complexity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: O(1)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BE27B67-6738-14D7-4791-7B995CB4F9CF}"/>
              </a:ext>
            </a:extLst>
          </p:cNvPr>
          <p:cNvSpPr txBox="1"/>
          <p:nvPr/>
        </p:nvSpPr>
        <p:spPr>
          <a:xfrm>
            <a:off x="4715302" y="-2612398"/>
            <a:ext cx="4981432" cy="120827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50"/>
              </a:lnSpc>
              <a:spcBef>
                <a:spcPts val="2400"/>
              </a:spcBef>
              <a:spcAft>
                <a:spcPts val="1200"/>
              </a:spcAft>
              <a:buNone/>
            </a:pPr>
            <a:r>
              <a:rPr lang="en-US" b="1" dirty="0">
                <a:solidFill>
                  <a:srgbClr val="0F1115"/>
                </a:solidFill>
                <a:effectLst/>
                <a:latin typeface="quote-cjk-patch"/>
              </a:rPr>
              <a:t>4. Group Anagrams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Problem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: Group strings that are anagrams of each other.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Solution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:</a:t>
            </a: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java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class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Solution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public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List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&lt;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List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&lt;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String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&gt;&gt;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groupAnagrams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String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[]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strs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Map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&lt;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String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List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&lt;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String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&gt;&gt;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map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new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HashMap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&lt;&gt;();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for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String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str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: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strs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// Sort characters to create key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char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[]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chars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str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toCharArray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();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  <a:r>
              <a:rPr lang="en-US" b="0" i="0" dirty="0" err="1">
                <a:solidFill>
                  <a:srgbClr val="B76B01"/>
                </a:solidFill>
                <a:effectLst/>
                <a:latin typeface="Menlo"/>
              </a:rPr>
              <a:t>Arrays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sort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chars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String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key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new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String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chars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// Add to appropriate group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map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computeIfAbsent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key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k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-&gt;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new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B76B01"/>
                </a:solidFill>
                <a:effectLst/>
                <a:latin typeface="Menlo"/>
              </a:rPr>
              <a:t>ArrayList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&lt;&gt;()).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add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str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return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new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B76B01"/>
                </a:solidFill>
                <a:effectLst/>
                <a:latin typeface="Menlo"/>
              </a:rPr>
              <a:t>ArrayList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&lt;&gt;(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map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values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());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Time Complexity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: O(n * k log k) where k is max string length | </a:t>
            </a: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Space Complexity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: O(n * k)</a:t>
            </a:r>
          </a:p>
        </p:txBody>
      </p:sp>
    </p:spTree>
    <p:extLst>
      <p:ext uri="{BB962C8B-B14F-4D97-AF65-F5344CB8AC3E}">
        <p14:creationId xmlns:p14="http://schemas.microsoft.com/office/powerpoint/2010/main" val="11573936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34D29A-B4F1-7845-01A9-9FC7E064E3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32BAA02-6667-A7E5-E9B3-4DBBF902BDD0}"/>
              </a:ext>
            </a:extLst>
          </p:cNvPr>
          <p:cNvSpPr txBox="1"/>
          <p:nvPr/>
        </p:nvSpPr>
        <p:spPr>
          <a:xfrm>
            <a:off x="0" y="-5005346"/>
            <a:ext cx="4954136" cy="172303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spcBef>
                <a:spcPts val="2400"/>
              </a:spcBef>
              <a:spcAft>
                <a:spcPts val="1200"/>
              </a:spcAft>
              <a:buNone/>
            </a:pPr>
            <a:r>
              <a:rPr lang="en-US" b="1" dirty="0">
                <a:solidFill>
                  <a:srgbClr val="0F1115"/>
                </a:solidFill>
                <a:effectLst/>
                <a:latin typeface="quote-cjk-patch"/>
              </a:rPr>
              <a:t>Two Pointers</a:t>
            </a:r>
          </a:p>
          <a:p>
            <a:pPr algn="l">
              <a:lnSpc>
                <a:spcPts val="2250"/>
              </a:lnSpc>
              <a:spcBef>
                <a:spcPts val="2400"/>
              </a:spcBef>
              <a:spcAft>
                <a:spcPts val="1200"/>
              </a:spcAft>
              <a:buNone/>
            </a:pPr>
            <a:r>
              <a:rPr lang="en-US" b="1" dirty="0">
                <a:solidFill>
                  <a:srgbClr val="0F1115"/>
                </a:solidFill>
                <a:effectLst/>
                <a:latin typeface="quote-cjk-patch"/>
              </a:rPr>
              <a:t>5. Valid Palindrome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Problem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: Check if a string is a palindrome, considering only alphanumeric characters.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Solution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:</a:t>
            </a: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java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class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Solution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public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A626A4"/>
                </a:solidFill>
                <a:effectLst/>
                <a:latin typeface="Menlo"/>
              </a:rPr>
              <a:t>boolean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isPalindrome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String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s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int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left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0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int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right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s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length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-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1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while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left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&lt;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right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// Skip non-alphanumeric characters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while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left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&lt;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right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&amp;&amp;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!</a:t>
            </a:r>
            <a:r>
              <a:rPr lang="en-US" b="0" i="0" dirty="0" err="1">
                <a:solidFill>
                  <a:srgbClr val="B76B01"/>
                </a:solidFill>
                <a:effectLst/>
                <a:latin typeface="Menlo"/>
              </a:rPr>
              <a:t>Character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isLetterOrDigit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s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charAt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left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)))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    left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++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while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left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&lt;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right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&amp;&amp;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!</a:t>
            </a:r>
            <a:r>
              <a:rPr lang="en-US" b="0" i="0" dirty="0" err="1">
                <a:solidFill>
                  <a:srgbClr val="B76B01"/>
                </a:solidFill>
                <a:effectLst/>
                <a:latin typeface="Menlo"/>
              </a:rPr>
              <a:t>Character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isLetterOrDigit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s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charAt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right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)))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    right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--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// Compare characters (case-insensitive)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if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 err="1">
                <a:solidFill>
                  <a:srgbClr val="B76B01"/>
                </a:solidFill>
                <a:effectLst/>
                <a:latin typeface="Menlo"/>
              </a:rPr>
              <a:t>Character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toLowerCase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s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charAt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left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!=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    </a:t>
            </a:r>
            <a:r>
              <a:rPr lang="en-US" b="0" i="0" dirty="0" err="1">
                <a:solidFill>
                  <a:srgbClr val="B76B01"/>
                </a:solidFill>
                <a:effectLst/>
                <a:latin typeface="Menlo"/>
              </a:rPr>
              <a:t>Character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toLowerCase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s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charAt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right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)))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return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false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left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++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right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--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return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true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Time Complexity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: O(n) | </a:t>
            </a: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Space Complexity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: O(1)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DE8AD62-7B72-0447-0F69-FE01FA6385C1}"/>
              </a:ext>
            </a:extLst>
          </p:cNvPr>
          <p:cNvSpPr txBox="1"/>
          <p:nvPr/>
        </p:nvSpPr>
        <p:spPr>
          <a:xfrm>
            <a:off x="4401403" y="-4699872"/>
            <a:ext cx="4981432" cy="152682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50"/>
              </a:lnSpc>
              <a:spcBef>
                <a:spcPts val="2400"/>
              </a:spcBef>
              <a:spcAft>
                <a:spcPts val="1200"/>
              </a:spcAft>
              <a:buNone/>
            </a:pPr>
            <a:r>
              <a:rPr lang="en-US" b="1" dirty="0">
                <a:solidFill>
                  <a:srgbClr val="0F1115"/>
                </a:solidFill>
                <a:effectLst/>
                <a:latin typeface="quote-cjk-patch"/>
              </a:rPr>
              <a:t>6. Container With Most Water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Problem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: Find two lines that together with x-axis form a container that holds the most water.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Solution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:</a:t>
            </a: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java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class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Solution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public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int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maxArea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int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[]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height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int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maxWater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0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int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left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0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int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right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height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length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-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1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while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left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&lt;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right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// Calculate area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int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width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right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-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left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int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currentHeight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B76B01"/>
                </a:solidFill>
                <a:effectLst/>
                <a:latin typeface="Menlo"/>
              </a:rPr>
              <a:t>Math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min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height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[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left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],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height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[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right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]);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int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area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width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*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currentHeight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maxWater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B76B01"/>
                </a:solidFill>
                <a:effectLst/>
                <a:latin typeface="Menlo"/>
              </a:rPr>
              <a:t>Math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max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maxWater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area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// Move the pointer with smaller height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if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height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[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left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]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&lt;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height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[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right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])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    left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++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else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    right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--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return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maxWater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Time Complexity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: O(n) | </a:t>
            </a: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Space Complexity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: O(1)</a:t>
            </a:r>
          </a:p>
        </p:txBody>
      </p:sp>
    </p:spTree>
    <p:extLst>
      <p:ext uri="{BB962C8B-B14F-4D97-AF65-F5344CB8AC3E}">
        <p14:creationId xmlns:p14="http://schemas.microsoft.com/office/powerpoint/2010/main" val="30037378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9FD1ED-AE24-6A7F-06AD-E8D52398C3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3440EB2-320B-9798-F5AC-65FFC25103BF}"/>
              </a:ext>
            </a:extLst>
          </p:cNvPr>
          <p:cNvSpPr txBox="1"/>
          <p:nvPr/>
        </p:nvSpPr>
        <p:spPr>
          <a:xfrm>
            <a:off x="0" y="-2407012"/>
            <a:ext cx="4954136" cy="11869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spcBef>
                <a:spcPts val="2400"/>
              </a:spcBef>
              <a:spcAft>
                <a:spcPts val="1200"/>
              </a:spcAft>
              <a:buNone/>
            </a:pPr>
            <a:r>
              <a:rPr lang="en-US" b="1" dirty="0">
                <a:solidFill>
                  <a:srgbClr val="0F1115"/>
                </a:solidFill>
                <a:effectLst/>
                <a:latin typeface="quote-cjk-patch"/>
              </a:rPr>
              <a:t>Sliding Window</a:t>
            </a:r>
          </a:p>
          <a:p>
            <a:pPr algn="l">
              <a:lnSpc>
                <a:spcPts val="2250"/>
              </a:lnSpc>
              <a:spcBef>
                <a:spcPts val="2400"/>
              </a:spcBef>
              <a:spcAft>
                <a:spcPts val="1200"/>
              </a:spcAft>
              <a:buNone/>
            </a:pPr>
            <a:r>
              <a:rPr lang="en-US" b="1" dirty="0">
                <a:solidFill>
                  <a:srgbClr val="0F1115"/>
                </a:solidFill>
                <a:effectLst/>
                <a:latin typeface="quote-cjk-patch"/>
              </a:rPr>
              <a:t>7. Best Time to Buy and Sell Stock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Problem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: Find maximum profit from one transaction.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Solution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:</a:t>
            </a: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java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class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Solution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public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int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maxProfit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int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[]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prices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int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minPrice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B76B01"/>
                </a:solidFill>
                <a:effectLst/>
                <a:latin typeface="Menlo"/>
              </a:rPr>
              <a:t>Integer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B76B01"/>
                </a:solidFill>
                <a:effectLst/>
                <a:latin typeface="Menlo"/>
              </a:rPr>
              <a:t>MAX_VALUE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int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maxProfit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0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for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int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price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: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prices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if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price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&lt;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minPrice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   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minPrice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price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// Update minimum price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else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   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maxProfit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B76B01"/>
                </a:solidFill>
                <a:effectLst/>
                <a:latin typeface="Menlo"/>
              </a:rPr>
              <a:t>Math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max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maxProfit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price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-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minPrice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return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maxProfit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Time Complexity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: O(n) | </a:t>
            </a: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Space Complexity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: O(1)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6E1D808-A48F-9B31-E3DB-432F59A2B92F}"/>
              </a:ext>
            </a:extLst>
          </p:cNvPr>
          <p:cNvSpPr txBox="1"/>
          <p:nvPr/>
        </p:nvSpPr>
        <p:spPr>
          <a:xfrm>
            <a:off x="4496938" y="-3731734"/>
            <a:ext cx="4981432" cy="145193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50"/>
              </a:lnSpc>
              <a:spcBef>
                <a:spcPts val="2400"/>
              </a:spcBef>
              <a:spcAft>
                <a:spcPts val="1200"/>
              </a:spcAft>
              <a:buNone/>
            </a:pPr>
            <a:r>
              <a:rPr lang="en-US" b="1" dirty="0">
                <a:solidFill>
                  <a:srgbClr val="0F1115"/>
                </a:solidFill>
                <a:effectLst/>
                <a:latin typeface="quote-cjk-patch"/>
              </a:rPr>
              <a:t>8. Longest Substring Without Repeating Characters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Problem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: Find length of longest substring without repeating characters.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Solution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:</a:t>
            </a: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java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class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Solution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public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int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lengthOfLongestSubstring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String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s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Map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&lt;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Character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Integer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&gt;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charIndex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new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HashMap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&lt;&gt;();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int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maxLength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0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int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left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0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for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int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right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0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right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&lt;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s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length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();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right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++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char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currentChar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s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charAt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right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// If character is seen and within current window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if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charIndex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containsKey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currentChar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&amp;&amp;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   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charIndex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get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currentChar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&gt;=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left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    left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charIndex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get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currentChar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+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1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charIndex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put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currentChar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right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maxLength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B76B01"/>
                </a:solidFill>
                <a:effectLst/>
                <a:latin typeface="Menlo"/>
              </a:rPr>
              <a:t>Math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max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maxLength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right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-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left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+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1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return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maxLength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Time Complexity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: O(n) | </a:t>
            </a: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Space Complexity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: O(min(n, alphabet size))</a:t>
            </a:r>
          </a:p>
        </p:txBody>
      </p:sp>
    </p:spTree>
    <p:extLst>
      <p:ext uri="{BB962C8B-B14F-4D97-AF65-F5344CB8AC3E}">
        <p14:creationId xmlns:p14="http://schemas.microsoft.com/office/powerpoint/2010/main" val="325845770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77EBBE-70C4-1F8D-8A27-CED0ABFBD1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4029A7B-0317-E926-D79C-02C51C9B353D}"/>
              </a:ext>
            </a:extLst>
          </p:cNvPr>
          <p:cNvSpPr txBox="1"/>
          <p:nvPr/>
        </p:nvSpPr>
        <p:spPr>
          <a:xfrm>
            <a:off x="184245" y="-4137898"/>
            <a:ext cx="4954136" cy="157684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spcBef>
                <a:spcPts val="2400"/>
              </a:spcBef>
              <a:spcAft>
                <a:spcPts val="1200"/>
              </a:spcAft>
              <a:buNone/>
            </a:pPr>
            <a:r>
              <a:rPr lang="en-US" b="1" dirty="0">
                <a:solidFill>
                  <a:srgbClr val="0F1115"/>
                </a:solidFill>
                <a:effectLst/>
                <a:latin typeface="quote-cjk-patch"/>
              </a:rPr>
              <a:t>Stack</a:t>
            </a:r>
          </a:p>
          <a:p>
            <a:pPr algn="l">
              <a:lnSpc>
                <a:spcPts val="2250"/>
              </a:lnSpc>
              <a:spcBef>
                <a:spcPts val="2400"/>
              </a:spcBef>
              <a:spcAft>
                <a:spcPts val="1200"/>
              </a:spcAft>
              <a:buNone/>
            </a:pPr>
            <a:r>
              <a:rPr lang="en-US" b="1" dirty="0">
                <a:solidFill>
                  <a:srgbClr val="0F1115"/>
                </a:solidFill>
                <a:effectLst/>
                <a:latin typeface="quote-cjk-patch"/>
              </a:rPr>
              <a:t>9. Valid Parentheses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Problem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: Check if string has valid parentheses ordering.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Solution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:</a:t>
            </a: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java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class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Solution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public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A626A4"/>
                </a:solidFill>
                <a:effectLst/>
                <a:latin typeface="Menlo"/>
              </a:rPr>
              <a:t>boolean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isValid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String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s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Stack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&lt;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Character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&gt;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stack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new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Stack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&lt;&gt;();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Map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&lt;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Character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Character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&gt;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mapping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new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HashMap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&lt;&gt;();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mapping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put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50A14F"/>
                </a:solidFill>
                <a:effectLst/>
                <a:latin typeface="Menlo"/>
              </a:rPr>
              <a:t>')'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50A14F"/>
                </a:solidFill>
                <a:effectLst/>
                <a:latin typeface="Menlo"/>
              </a:rPr>
              <a:t>'('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mapping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put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50A14F"/>
                </a:solidFill>
                <a:effectLst/>
                <a:latin typeface="Menlo"/>
              </a:rPr>
              <a:t>'}'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50A14F"/>
                </a:solidFill>
                <a:effectLst/>
                <a:latin typeface="Menlo"/>
              </a:rPr>
              <a:t>'{'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mapping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put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50A14F"/>
                </a:solidFill>
                <a:effectLst/>
                <a:latin typeface="Menlo"/>
              </a:rPr>
              <a:t>']'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50A14F"/>
                </a:solidFill>
                <a:effectLst/>
                <a:latin typeface="Menlo"/>
              </a:rPr>
              <a:t>'['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for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char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c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: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s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toCharArray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())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if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mapping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containsKey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c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    </a:t>
            </a: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// Closing bracket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char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top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stack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isEmpty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?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50A14F"/>
                </a:solidFill>
                <a:effectLst/>
                <a:latin typeface="Menlo"/>
              </a:rPr>
              <a:t>'#'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: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stack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pop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();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if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top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!=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mapping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get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c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return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false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   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else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    </a:t>
            </a: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// Opening bracket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   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stack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push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c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return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stack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isEmpty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();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Time Complexity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: O(n) | </a:t>
            </a: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Space Complexity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: O(n)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5E4D247-7AF1-D76C-C411-A56BCB4610F1}"/>
              </a:ext>
            </a:extLst>
          </p:cNvPr>
          <p:cNvSpPr txBox="1"/>
          <p:nvPr/>
        </p:nvSpPr>
        <p:spPr>
          <a:xfrm>
            <a:off x="4951864" y="-3129509"/>
            <a:ext cx="4954136" cy="133831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spcBef>
                <a:spcPts val="2400"/>
              </a:spcBef>
              <a:spcAft>
                <a:spcPts val="1200"/>
              </a:spcAft>
              <a:buNone/>
            </a:pPr>
            <a:r>
              <a:rPr lang="en-US" b="1" dirty="0">
                <a:solidFill>
                  <a:srgbClr val="0F1115"/>
                </a:solidFill>
                <a:effectLst/>
                <a:latin typeface="quote-cjk-patch"/>
              </a:rPr>
              <a:t>Binary Search</a:t>
            </a:r>
          </a:p>
          <a:p>
            <a:pPr algn="l">
              <a:lnSpc>
                <a:spcPts val="2250"/>
              </a:lnSpc>
              <a:spcBef>
                <a:spcPts val="2400"/>
              </a:spcBef>
              <a:spcAft>
                <a:spcPts val="1200"/>
              </a:spcAft>
              <a:buNone/>
            </a:pPr>
            <a:r>
              <a:rPr lang="en-US" b="1" dirty="0">
                <a:solidFill>
                  <a:srgbClr val="0F1115"/>
                </a:solidFill>
                <a:effectLst/>
                <a:latin typeface="quote-cjk-patch"/>
              </a:rPr>
              <a:t>10. Binary Search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Problem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: Implement binary search on sorted array.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Solution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:</a:t>
            </a: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java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class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Solution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public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int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search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int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[]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nums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int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target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int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left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0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int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right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nums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length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-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1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while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left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&lt;=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right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int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mid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left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+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right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-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left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/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2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if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nums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[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mid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]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target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return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mid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else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if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nums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[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mid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]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&lt;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target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    left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mid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+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1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else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    right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mid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-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1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return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-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1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Time Complexity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: O(log n) | </a:t>
            </a: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Space Complexity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: O(1)</a:t>
            </a:r>
          </a:p>
        </p:txBody>
      </p:sp>
    </p:spTree>
    <p:extLst>
      <p:ext uri="{BB962C8B-B14F-4D97-AF65-F5344CB8AC3E}">
        <p14:creationId xmlns:p14="http://schemas.microsoft.com/office/powerpoint/2010/main" val="292836560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ADA10F-2D85-0FDB-FDC3-AC4C4EFA20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19EE9A1-5A34-8F2B-D910-F28B02EE5161}"/>
              </a:ext>
            </a:extLst>
          </p:cNvPr>
          <p:cNvSpPr txBox="1"/>
          <p:nvPr/>
        </p:nvSpPr>
        <p:spPr>
          <a:xfrm>
            <a:off x="156949" y="-2960157"/>
            <a:ext cx="4954136" cy="118570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50"/>
              </a:lnSpc>
              <a:spcBef>
                <a:spcPts val="2400"/>
              </a:spcBef>
              <a:spcAft>
                <a:spcPts val="1200"/>
              </a:spcAft>
              <a:buNone/>
            </a:pPr>
            <a:r>
              <a:rPr lang="en-US" b="1" dirty="0">
                <a:solidFill>
                  <a:srgbClr val="0F1115"/>
                </a:solidFill>
                <a:effectLst/>
                <a:latin typeface="quote-cjk-patch"/>
              </a:rPr>
              <a:t>11. Find Minimum in Rotated Sorted Array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Problem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: Find minimum in rotated sorted array.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Solution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:</a:t>
            </a: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java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class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Solution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public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int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findMin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int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[]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nums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int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left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0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int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right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nums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length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-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1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while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left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&lt;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right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int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mid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left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+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right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-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left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/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2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if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nums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[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mid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]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&gt;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nums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[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right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])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    left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mid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+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1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// Minimum is in right half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else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    right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mid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// Minimum is in left half including mid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return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nums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[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left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];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Time Complexity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: O(log n) | </a:t>
            </a: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Space Complexity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: O(1)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25F75F9-884E-5D54-F2C3-446ACB9A6144}"/>
              </a:ext>
            </a:extLst>
          </p:cNvPr>
          <p:cNvSpPr txBox="1"/>
          <p:nvPr/>
        </p:nvSpPr>
        <p:spPr>
          <a:xfrm>
            <a:off x="4387756" y="-4436306"/>
            <a:ext cx="4954136" cy="152734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spcBef>
                <a:spcPts val="2400"/>
              </a:spcBef>
              <a:spcAft>
                <a:spcPts val="1200"/>
              </a:spcAft>
              <a:buNone/>
            </a:pPr>
            <a:r>
              <a:rPr lang="en-US" b="1" dirty="0">
                <a:solidFill>
                  <a:srgbClr val="0F1115"/>
                </a:solidFill>
                <a:effectLst/>
                <a:latin typeface="quote-cjk-patch"/>
              </a:rPr>
              <a:t>Linked List</a:t>
            </a:r>
          </a:p>
          <a:p>
            <a:pPr algn="l">
              <a:lnSpc>
                <a:spcPts val="2250"/>
              </a:lnSpc>
              <a:spcBef>
                <a:spcPts val="2400"/>
              </a:spcBef>
              <a:spcAft>
                <a:spcPts val="1200"/>
              </a:spcAft>
              <a:buNone/>
            </a:pPr>
            <a:r>
              <a:rPr lang="en-US" b="1" dirty="0">
                <a:solidFill>
                  <a:srgbClr val="0F1115"/>
                </a:solidFill>
                <a:effectLst/>
                <a:latin typeface="quote-cjk-patch"/>
              </a:rPr>
              <a:t>12. Reverse Linked List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Problem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: Reverse a singly linked list.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Solution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:</a:t>
            </a: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java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class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Solution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public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B76B01"/>
                </a:solidFill>
                <a:effectLst/>
                <a:latin typeface="Menlo"/>
              </a:rPr>
              <a:t>ListNode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reverseList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 err="1">
                <a:solidFill>
                  <a:srgbClr val="B76B01"/>
                </a:solidFill>
                <a:effectLst/>
                <a:latin typeface="Menlo"/>
              </a:rPr>
              <a:t>ListNode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head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 err="1">
                <a:solidFill>
                  <a:srgbClr val="B76B01"/>
                </a:solidFill>
                <a:effectLst/>
                <a:latin typeface="Menlo"/>
              </a:rPr>
              <a:t>ListNode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prev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null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 err="1">
                <a:solidFill>
                  <a:srgbClr val="B76B01"/>
                </a:solidFill>
                <a:effectLst/>
                <a:latin typeface="Menlo"/>
              </a:rPr>
              <a:t>ListNode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current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head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while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current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!=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null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  <a:r>
              <a:rPr lang="en-US" b="0" i="0" dirty="0" err="1">
                <a:solidFill>
                  <a:srgbClr val="B76B01"/>
                </a:solidFill>
                <a:effectLst/>
                <a:latin typeface="Menlo"/>
              </a:rPr>
              <a:t>ListNode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nextTemp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current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next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current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next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prev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prev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current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current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nextTemp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return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prev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// </a:t>
            </a:r>
            <a:r>
              <a:rPr lang="en-US" b="0" i="1" dirty="0" err="1">
                <a:solidFill>
                  <a:srgbClr val="A0A1A7"/>
                </a:solidFill>
                <a:effectLst/>
                <a:latin typeface="Menlo"/>
              </a:rPr>
              <a:t>ListNode</a:t>
            </a: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 class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class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B76B01"/>
                </a:solidFill>
                <a:effectLst/>
                <a:latin typeface="Menlo"/>
              </a:rPr>
              <a:t>ListNode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int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val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 err="1">
                <a:solidFill>
                  <a:srgbClr val="B76B01"/>
                </a:solidFill>
                <a:effectLst/>
                <a:latin typeface="Menlo"/>
              </a:rPr>
              <a:t>ListNode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next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 err="1">
                <a:solidFill>
                  <a:srgbClr val="B76B01"/>
                </a:solidFill>
                <a:effectLst/>
                <a:latin typeface="Menlo"/>
              </a:rPr>
              <a:t>ListNode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{}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 err="1">
                <a:solidFill>
                  <a:srgbClr val="B76B01"/>
                </a:solidFill>
                <a:effectLst/>
                <a:latin typeface="Menlo"/>
              </a:rPr>
              <a:t>ListNode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int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val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A626A4"/>
                </a:solidFill>
                <a:effectLst/>
                <a:latin typeface="Menlo"/>
              </a:rPr>
              <a:t>this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val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val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 err="1">
                <a:solidFill>
                  <a:srgbClr val="B76B01"/>
                </a:solidFill>
                <a:effectLst/>
                <a:latin typeface="Menlo"/>
              </a:rPr>
              <a:t>ListNode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int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val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B76B01"/>
                </a:solidFill>
                <a:effectLst/>
                <a:latin typeface="Menlo"/>
              </a:rPr>
              <a:t>ListNode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next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A626A4"/>
                </a:solidFill>
                <a:effectLst/>
                <a:latin typeface="Menlo"/>
              </a:rPr>
              <a:t>this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val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val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A626A4"/>
                </a:solidFill>
                <a:effectLst/>
                <a:latin typeface="Menlo"/>
              </a:rPr>
              <a:t>this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next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next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Time Complexity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: O(n) | </a:t>
            </a: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Space Complexity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: O(1)</a:t>
            </a:r>
          </a:p>
        </p:txBody>
      </p:sp>
    </p:spTree>
    <p:extLst>
      <p:ext uri="{BB962C8B-B14F-4D97-AF65-F5344CB8AC3E}">
        <p14:creationId xmlns:p14="http://schemas.microsoft.com/office/powerpoint/2010/main" val="132704671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6EF776-5122-9D9C-1832-6BA7A87257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8D603202-9BC6-61D2-7317-5C07B8001E8E}"/>
              </a:ext>
            </a:extLst>
          </p:cNvPr>
          <p:cNvSpPr txBox="1"/>
          <p:nvPr/>
        </p:nvSpPr>
        <p:spPr>
          <a:xfrm>
            <a:off x="-225188" y="-2437518"/>
            <a:ext cx="4954136" cy="120674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50"/>
              </a:lnSpc>
              <a:spcBef>
                <a:spcPts val="2400"/>
              </a:spcBef>
              <a:spcAft>
                <a:spcPts val="1200"/>
              </a:spcAft>
              <a:buNone/>
            </a:pPr>
            <a:r>
              <a:rPr lang="en-US" b="1" dirty="0">
                <a:solidFill>
                  <a:srgbClr val="0F1115"/>
                </a:solidFill>
                <a:effectLst/>
                <a:latin typeface="quote-cjk-patch"/>
              </a:rPr>
              <a:t>13. Linked List Cycle Detection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Problem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: Detect if linked list has a cycle.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Solution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:</a:t>
            </a: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java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public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class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Solution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public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A626A4"/>
                </a:solidFill>
                <a:effectLst/>
                <a:latin typeface="Menlo"/>
              </a:rPr>
              <a:t>boolean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hasCycle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 err="1">
                <a:solidFill>
                  <a:srgbClr val="B76B01"/>
                </a:solidFill>
                <a:effectLst/>
                <a:latin typeface="Menlo"/>
              </a:rPr>
              <a:t>ListNode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head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if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head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null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||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head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next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null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return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false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 err="1">
                <a:solidFill>
                  <a:srgbClr val="B76B01"/>
                </a:solidFill>
                <a:effectLst/>
                <a:latin typeface="Menlo"/>
              </a:rPr>
              <a:t>ListNode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slow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head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 err="1">
                <a:solidFill>
                  <a:srgbClr val="B76B01"/>
                </a:solidFill>
                <a:effectLst/>
                <a:latin typeface="Menlo"/>
              </a:rPr>
              <a:t>ListNode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fast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head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while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fast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!=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null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&amp;&amp;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fast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next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!=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null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slow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slow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next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fast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fast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next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next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if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slow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fast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return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true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// Cycle detected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return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false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Time Complexity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: O(n) | </a:t>
            </a: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Space Complexity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: O(1)</a:t>
            </a:r>
          </a:p>
        </p:txBody>
      </p:sp>
    </p:spTree>
    <p:extLst>
      <p:ext uri="{BB962C8B-B14F-4D97-AF65-F5344CB8AC3E}">
        <p14:creationId xmlns:p14="http://schemas.microsoft.com/office/powerpoint/2010/main" val="81685169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DA56DC-4F95-0F27-C495-4C63757B1A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D939A07-27CA-D107-8457-436E5DB257A5}"/>
              </a:ext>
            </a:extLst>
          </p:cNvPr>
          <p:cNvSpPr txBox="1"/>
          <p:nvPr/>
        </p:nvSpPr>
        <p:spPr>
          <a:xfrm>
            <a:off x="170597" y="-4221967"/>
            <a:ext cx="4954136" cy="150630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spcBef>
                <a:spcPts val="2400"/>
              </a:spcBef>
              <a:spcAft>
                <a:spcPts val="1200"/>
              </a:spcAft>
              <a:buNone/>
            </a:pPr>
            <a:r>
              <a:rPr lang="en-US" b="1" dirty="0">
                <a:solidFill>
                  <a:srgbClr val="0F1115"/>
                </a:solidFill>
                <a:effectLst/>
                <a:latin typeface="quote-cjk-patch"/>
              </a:rPr>
              <a:t>Trees</a:t>
            </a:r>
          </a:p>
          <a:p>
            <a:pPr algn="l">
              <a:lnSpc>
                <a:spcPts val="2250"/>
              </a:lnSpc>
              <a:spcBef>
                <a:spcPts val="2400"/>
              </a:spcBef>
              <a:spcAft>
                <a:spcPts val="1200"/>
              </a:spcAft>
              <a:buNone/>
            </a:pPr>
            <a:r>
              <a:rPr lang="en-US" b="1" dirty="0">
                <a:solidFill>
                  <a:srgbClr val="0F1115"/>
                </a:solidFill>
                <a:effectLst/>
                <a:latin typeface="quote-cjk-patch"/>
              </a:rPr>
              <a:t>14. Maximum Depth of Binary Tree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Problem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: Find maximum depth of binary tree.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Solution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:</a:t>
            </a: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java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class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Solution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public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int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maxDepth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 err="1">
                <a:solidFill>
                  <a:srgbClr val="B76B01"/>
                </a:solidFill>
                <a:effectLst/>
                <a:latin typeface="Menlo"/>
              </a:rPr>
              <a:t>TreeNode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root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if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root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null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return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0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int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leftDepth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maxDepth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root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left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int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rightDepth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maxDepth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root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right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return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B76B01"/>
                </a:solidFill>
                <a:effectLst/>
                <a:latin typeface="Menlo"/>
              </a:rPr>
              <a:t>Math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max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leftDepth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rightDepth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+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1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class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B76B01"/>
                </a:solidFill>
                <a:effectLst/>
                <a:latin typeface="Menlo"/>
              </a:rPr>
              <a:t>TreeNode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int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val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 err="1">
                <a:solidFill>
                  <a:srgbClr val="B76B01"/>
                </a:solidFill>
                <a:effectLst/>
                <a:latin typeface="Menlo"/>
              </a:rPr>
              <a:t>TreeNode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left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 err="1">
                <a:solidFill>
                  <a:srgbClr val="B76B01"/>
                </a:solidFill>
                <a:effectLst/>
                <a:latin typeface="Menlo"/>
              </a:rPr>
              <a:t>TreeNode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right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 err="1">
                <a:solidFill>
                  <a:srgbClr val="B76B01"/>
                </a:solidFill>
                <a:effectLst/>
                <a:latin typeface="Menlo"/>
              </a:rPr>
              <a:t>TreeNode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{}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 err="1">
                <a:solidFill>
                  <a:srgbClr val="B76B01"/>
                </a:solidFill>
                <a:effectLst/>
                <a:latin typeface="Menlo"/>
              </a:rPr>
              <a:t>TreeNode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int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val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A626A4"/>
                </a:solidFill>
                <a:effectLst/>
                <a:latin typeface="Menlo"/>
              </a:rPr>
              <a:t>this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val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val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 err="1">
                <a:solidFill>
                  <a:srgbClr val="B76B01"/>
                </a:solidFill>
                <a:effectLst/>
                <a:latin typeface="Menlo"/>
              </a:rPr>
              <a:t>TreeNode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int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val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B76B01"/>
                </a:solidFill>
                <a:effectLst/>
                <a:latin typeface="Menlo"/>
              </a:rPr>
              <a:t>TreeNode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left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B76B01"/>
                </a:solidFill>
                <a:effectLst/>
                <a:latin typeface="Menlo"/>
              </a:rPr>
              <a:t>TreeNode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right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 err="1">
                <a:solidFill>
                  <a:srgbClr val="A626A4"/>
                </a:solidFill>
                <a:effectLst/>
                <a:latin typeface="Menlo"/>
              </a:rPr>
              <a:t>this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val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val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 err="1">
                <a:solidFill>
                  <a:srgbClr val="A626A4"/>
                </a:solidFill>
                <a:effectLst/>
                <a:latin typeface="Menlo"/>
              </a:rPr>
              <a:t>this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left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left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 err="1">
                <a:solidFill>
                  <a:srgbClr val="A626A4"/>
                </a:solidFill>
                <a:effectLst/>
                <a:latin typeface="Menlo"/>
              </a:rPr>
              <a:t>this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right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right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Time Complexity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: O(n) | </a:t>
            </a: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Space Complexity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: O(h) where h is height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CBC4DBB-42F4-63E5-5DBA-D3FDCA948DF6}"/>
              </a:ext>
            </a:extLst>
          </p:cNvPr>
          <p:cNvSpPr txBox="1"/>
          <p:nvPr/>
        </p:nvSpPr>
        <p:spPr>
          <a:xfrm>
            <a:off x="2477069" y="-2359460"/>
            <a:ext cx="4954136" cy="113107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50"/>
              </a:lnSpc>
              <a:spcBef>
                <a:spcPts val="2400"/>
              </a:spcBef>
              <a:spcAft>
                <a:spcPts val="1200"/>
              </a:spcAft>
              <a:buNone/>
            </a:pPr>
            <a:r>
              <a:rPr lang="en-US" b="1" dirty="0">
                <a:solidFill>
                  <a:srgbClr val="0F1115"/>
                </a:solidFill>
                <a:effectLst/>
                <a:latin typeface="quote-cjk-patch"/>
              </a:rPr>
              <a:t>15. Validate Binary Search Tree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Problem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: Check if tree is valid BST.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Solution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:</a:t>
            </a: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java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class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Solution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public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A626A4"/>
                </a:solidFill>
                <a:effectLst/>
                <a:latin typeface="Menlo"/>
              </a:rPr>
              <a:t>boolean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isValidBST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 err="1">
                <a:solidFill>
                  <a:srgbClr val="B76B01"/>
                </a:solidFill>
                <a:effectLst/>
                <a:latin typeface="Menlo"/>
              </a:rPr>
              <a:t>TreeNode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root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return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validate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root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null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null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private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A626A4"/>
                </a:solidFill>
                <a:effectLst/>
                <a:latin typeface="Menlo"/>
              </a:rPr>
              <a:t>boolean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validate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 err="1">
                <a:solidFill>
                  <a:srgbClr val="B76B01"/>
                </a:solidFill>
                <a:effectLst/>
                <a:latin typeface="Menlo"/>
              </a:rPr>
              <a:t>TreeNode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node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Integer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low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Integer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high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if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node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null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return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true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// Check current node value constraints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if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low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!=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null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&amp;&amp;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node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val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&lt;=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low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return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false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if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high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!=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null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&amp;&amp;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node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val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&gt;=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high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return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false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// Validate left and right subtrees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return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validate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node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left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low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node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val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&amp;&amp;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  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validate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node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right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node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val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high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Time Complexity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: O(n) | </a:t>
            </a: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Space Complexity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: O(h)</a:t>
            </a:r>
          </a:p>
        </p:txBody>
      </p:sp>
    </p:spTree>
    <p:extLst>
      <p:ext uri="{BB962C8B-B14F-4D97-AF65-F5344CB8AC3E}">
        <p14:creationId xmlns:p14="http://schemas.microsoft.com/office/powerpoint/2010/main" val="214576156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77B41F-6114-4AA2-952A-6083A34CF3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6E75EFB-6857-A7C5-A31E-5A58ED2F6C42}"/>
              </a:ext>
            </a:extLst>
          </p:cNvPr>
          <p:cNvSpPr txBox="1"/>
          <p:nvPr/>
        </p:nvSpPr>
        <p:spPr>
          <a:xfrm>
            <a:off x="-1136" y="-2398237"/>
            <a:ext cx="4954136" cy="116544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spcBef>
                <a:spcPts val="2400"/>
              </a:spcBef>
              <a:spcAft>
                <a:spcPts val="1200"/>
              </a:spcAft>
              <a:buNone/>
            </a:pPr>
            <a:r>
              <a:rPr lang="en-US" b="1" dirty="0">
                <a:solidFill>
                  <a:srgbClr val="0F1115"/>
                </a:solidFill>
                <a:effectLst/>
                <a:latin typeface="quote-cjk-patch"/>
              </a:rPr>
              <a:t>Dynamic Programming</a:t>
            </a:r>
          </a:p>
          <a:p>
            <a:pPr algn="l">
              <a:lnSpc>
                <a:spcPts val="2250"/>
              </a:lnSpc>
              <a:spcBef>
                <a:spcPts val="2400"/>
              </a:spcBef>
              <a:spcAft>
                <a:spcPts val="1200"/>
              </a:spcAft>
              <a:buNone/>
            </a:pPr>
            <a:r>
              <a:rPr lang="en-US" b="1" dirty="0">
                <a:solidFill>
                  <a:srgbClr val="0F1115"/>
                </a:solidFill>
                <a:effectLst/>
                <a:latin typeface="quote-cjk-patch"/>
              </a:rPr>
              <a:t>16. Climbing Stairs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Problem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: Count ways to climb n stairs taking 1 or 2 steps.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Solution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:</a:t>
            </a: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java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class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Solution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public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int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climbStairs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int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n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if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n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&lt;=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2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return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n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int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[]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dp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new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int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[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n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+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1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];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dp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[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1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]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1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dp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[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2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]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2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for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int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i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3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i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&lt;=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n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i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++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dp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[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i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]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dp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[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i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-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1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]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+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dp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[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i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-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2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];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// Fibonacci relation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return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dp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[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n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];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Time Complexity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: O(n) | </a:t>
            </a: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Space Complexity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: O(n)</a:t>
            </a:r>
          </a:p>
          <a:p>
            <a:pPr>
              <a:buNone/>
            </a:pPr>
            <a:br>
              <a:rPr lang="en-US" dirty="0"/>
            </a:b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8492636-4CDC-01F6-74BA-3C0EC47DC02B}"/>
              </a:ext>
            </a:extLst>
          </p:cNvPr>
          <p:cNvSpPr txBox="1"/>
          <p:nvPr/>
        </p:nvSpPr>
        <p:spPr>
          <a:xfrm>
            <a:off x="3978323" y="-1640510"/>
            <a:ext cx="4981432" cy="106644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50"/>
              </a:lnSpc>
              <a:spcBef>
                <a:spcPts val="2400"/>
              </a:spcBef>
              <a:spcAft>
                <a:spcPts val="1200"/>
              </a:spcAft>
              <a:buNone/>
            </a:pPr>
            <a:r>
              <a:rPr lang="en-US" b="1" dirty="0">
                <a:solidFill>
                  <a:srgbClr val="0F1115"/>
                </a:solidFill>
                <a:effectLst/>
                <a:latin typeface="quote-cjk-patch"/>
              </a:rPr>
              <a:t>17. House Robber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Problem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: Maximum money without robbing adjacent houses.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Solution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:</a:t>
            </a: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java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class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Solution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public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int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rob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int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[]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nums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if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nums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length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0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return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0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if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nums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length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1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return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nums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[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0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];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int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[]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dp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new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int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[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nums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length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];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dp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[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0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]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nums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[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0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];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dp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[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1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]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B76B01"/>
                </a:solidFill>
                <a:effectLst/>
                <a:latin typeface="Menlo"/>
              </a:rPr>
              <a:t>Math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max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nums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[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0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],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nums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[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1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]);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for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int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i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2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i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&lt;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nums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length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i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++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dp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[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i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]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B76B01"/>
                </a:solidFill>
                <a:effectLst/>
                <a:latin typeface="Menlo"/>
              </a:rPr>
              <a:t>Math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max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dp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[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i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-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1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],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dp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[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i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-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2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]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+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nums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[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i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]);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return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dp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[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nums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length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-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1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];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Time Complexity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: O(n) | </a:t>
            </a: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Space Complexity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: O(n)</a:t>
            </a:r>
          </a:p>
        </p:txBody>
      </p:sp>
    </p:spTree>
    <p:extLst>
      <p:ext uri="{BB962C8B-B14F-4D97-AF65-F5344CB8AC3E}">
        <p14:creationId xmlns:p14="http://schemas.microsoft.com/office/powerpoint/2010/main" val="255503317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D5E068-DA3F-7C9A-61FF-2FCD6CDF20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F47643F-A5F8-56B9-2808-490ACDDC93EB}"/>
              </a:ext>
            </a:extLst>
          </p:cNvPr>
          <p:cNvSpPr txBox="1"/>
          <p:nvPr/>
        </p:nvSpPr>
        <p:spPr>
          <a:xfrm>
            <a:off x="-1136" y="-7496137"/>
            <a:ext cx="4954136" cy="221573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50"/>
              </a:lnSpc>
              <a:spcBef>
                <a:spcPts val="2400"/>
              </a:spcBef>
              <a:spcAft>
                <a:spcPts val="1200"/>
              </a:spcAft>
              <a:buNone/>
            </a:pPr>
            <a:r>
              <a:rPr lang="en-US" b="1" dirty="0">
                <a:solidFill>
                  <a:srgbClr val="0F1115"/>
                </a:solidFill>
                <a:effectLst/>
                <a:latin typeface="quote-cjk-patch"/>
              </a:rPr>
              <a:t>18. Number of Islands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Problem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: Count number of islands (connected 1's) in grid.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Solution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:</a:t>
            </a: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java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class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Solution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public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int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numIslands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char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[][]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grid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if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grid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null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||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grid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length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0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return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0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int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count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0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int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rows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grid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length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int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cols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grid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[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0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].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length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for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int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i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0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i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&lt;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rows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i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++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for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int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j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0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j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&lt;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cols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j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++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if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grid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[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i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][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j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]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50A14F"/>
                </a:solidFill>
                <a:effectLst/>
                <a:latin typeface="Menlo"/>
              </a:rPr>
              <a:t>'1'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        count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++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        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dfs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grid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i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j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   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return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count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private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void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dfs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char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[][]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grid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int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i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int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j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// Check boundaries and if cell is water or visited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if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i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&lt;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0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||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i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&gt;=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grid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length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||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j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&lt;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0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||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j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&gt;=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grid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[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0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].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length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||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grid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[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i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][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j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]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!=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50A14F"/>
                </a:solidFill>
                <a:effectLst/>
                <a:latin typeface="Menlo"/>
              </a:rPr>
              <a:t>'1'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return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// Mark as visited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grid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[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i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][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j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]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50A14F"/>
                </a:solidFill>
                <a:effectLst/>
                <a:latin typeface="Menlo"/>
              </a:rPr>
              <a:t>'0'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// Visit all adjacent cells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dfs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grid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i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+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1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j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dfs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grid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i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-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1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j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dfs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grid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i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j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+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1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dfs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grid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i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j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-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1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Time Complexity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: O(rows × cols) | </a:t>
            </a: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Space Complexity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: O(rows × cols) worst case for recursion stack</a:t>
            </a:r>
          </a:p>
        </p:txBody>
      </p:sp>
    </p:spTree>
    <p:extLst>
      <p:ext uri="{BB962C8B-B14F-4D97-AF65-F5344CB8AC3E}">
        <p14:creationId xmlns:p14="http://schemas.microsoft.com/office/powerpoint/2010/main" val="216884572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38208D-0985-00C8-9982-1D94173FEC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FBA148A-B638-4AEB-9C5D-D6F60A20E6F1}"/>
              </a:ext>
            </a:extLst>
          </p:cNvPr>
          <p:cNvSpPr txBox="1"/>
          <p:nvPr/>
        </p:nvSpPr>
        <p:spPr>
          <a:xfrm>
            <a:off x="0" y="0"/>
            <a:ext cx="4954136" cy="119289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spcBef>
                <a:spcPts val="2400"/>
              </a:spcBef>
              <a:spcAft>
                <a:spcPts val="1200"/>
              </a:spcAft>
              <a:buNone/>
            </a:pPr>
            <a:r>
              <a:rPr lang="en-US" b="1" dirty="0">
                <a:solidFill>
                  <a:srgbClr val="0F1115"/>
                </a:solidFill>
                <a:effectLst/>
                <a:latin typeface="quote-cjk-patch"/>
              </a:rPr>
              <a:t>Heap / Priority Queue</a:t>
            </a:r>
          </a:p>
          <a:p>
            <a:pPr algn="l">
              <a:lnSpc>
                <a:spcPts val="2250"/>
              </a:lnSpc>
              <a:spcBef>
                <a:spcPts val="2400"/>
              </a:spcBef>
              <a:spcAft>
                <a:spcPts val="1200"/>
              </a:spcAft>
              <a:buNone/>
            </a:pPr>
            <a:r>
              <a:rPr lang="en-US" b="1" dirty="0">
                <a:solidFill>
                  <a:srgbClr val="0F1115"/>
                </a:solidFill>
                <a:effectLst/>
                <a:latin typeface="quote-cjk-patch"/>
              </a:rPr>
              <a:t>19. Kth Largest Element in Array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Problem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: Find kth largest element in unsorted array.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Solution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:</a:t>
            </a: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java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class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Solution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public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int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findKthLargest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int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[]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nums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int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k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// Min-heap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 err="1">
                <a:solidFill>
                  <a:srgbClr val="B76B01"/>
                </a:solidFill>
                <a:effectLst/>
                <a:latin typeface="Menlo"/>
              </a:rPr>
              <a:t>PriorityQueue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&lt;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Integer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&gt;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heap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new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B76B01"/>
                </a:solidFill>
                <a:effectLst/>
                <a:latin typeface="Menlo"/>
              </a:rPr>
              <a:t>PriorityQueue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&lt;&gt;();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for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int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num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: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nums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heap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offer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num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if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heap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size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&gt;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k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   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heap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poll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();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// Remove smallest element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return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heap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peek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();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// kth largest element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Time Complexity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: O(n log k) | </a:t>
            </a: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Space Complexity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: O(k)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F77268C-7D4B-B678-ED12-C3BA63B90421}"/>
              </a:ext>
            </a:extLst>
          </p:cNvPr>
          <p:cNvSpPr txBox="1"/>
          <p:nvPr/>
        </p:nvSpPr>
        <p:spPr>
          <a:xfrm>
            <a:off x="2436126" y="-3138833"/>
            <a:ext cx="4981432" cy="18192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50"/>
              </a:lnSpc>
              <a:spcBef>
                <a:spcPts val="2400"/>
              </a:spcBef>
              <a:spcAft>
                <a:spcPts val="1200"/>
              </a:spcAft>
              <a:buNone/>
            </a:pPr>
            <a:r>
              <a:rPr lang="en-US" b="1" dirty="0">
                <a:solidFill>
                  <a:srgbClr val="0F1115"/>
                </a:solidFill>
                <a:effectLst/>
                <a:latin typeface="quote-cjk-patch"/>
              </a:rPr>
              <a:t>20. Merge k Sorted Lists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Problem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: Merge k sorted linked lists.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Solution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:</a:t>
            </a: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java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class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Solution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public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B76B01"/>
                </a:solidFill>
                <a:effectLst/>
                <a:latin typeface="Menlo"/>
              </a:rPr>
              <a:t>ListNode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mergeKLists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 err="1">
                <a:solidFill>
                  <a:srgbClr val="B76B01"/>
                </a:solidFill>
                <a:effectLst/>
                <a:latin typeface="Menlo"/>
              </a:rPr>
              <a:t>ListNode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[]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lists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if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lists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null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||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lists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length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0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return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null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 err="1">
                <a:solidFill>
                  <a:srgbClr val="B76B01"/>
                </a:solidFill>
                <a:effectLst/>
                <a:latin typeface="Menlo"/>
              </a:rPr>
              <a:t>PriorityQueue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&lt;</a:t>
            </a:r>
            <a:r>
              <a:rPr lang="en-US" b="0" i="0" dirty="0" err="1">
                <a:solidFill>
                  <a:srgbClr val="B76B01"/>
                </a:solidFill>
                <a:effectLst/>
                <a:latin typeface="Menlo"/>
              </a:rPr>
              <a:t>ListNode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&gt;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heap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new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B76B01"/>
                </a:solidFill>
                <a:effectLst/>
                <a:latin typeface="Menlo"/>
              </a:rPr>
              <a:t>PriorityQueue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&lt;&gt;(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a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b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-&gt;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a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val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-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b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val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// Add all list heads to heap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for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 err="1">
                <a:solidFill>
                  <a:srgbClr val="B76B01"/>
                </a:solidFill>
                <a:effectLst/>
                <a:latin typeface="Menlo"/>
              </a:rPr>
              <a:t>ListNode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list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: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lists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if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list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!=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null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   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heap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offer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list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 err="1">
                <a:solidFill>
                  <a:srgbClr val="B76B01"/>
                </a:solidFill>
                <a:effectLst/>
                <a:latin typeface="Menlo"/>
              </a:rPr>
              <a:t>ListNode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dummy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new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B76B01"/>
                </a:solidFill>
                <a:effectLst/>
                <a:latin typeface="Menlo"/>
              </a:rPr>
              <a:t>ListNode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0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 err="1">
                <a:solidFill>
                  <a:srgbClr val="B76B01"/>
                </a:solidFill>
                <a:effectLst/>
                <a:latin typeface="Menlo"/>
              </a:rPr>
              <a:t>ListNode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current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dummy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while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!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heap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isEmpty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())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  <a:r>
              <a:rPr lang="en-US" b="0" i="0" dirty="0" err="1">
                <a:solidFill>
                  <a:srgbClr val="B76B01"/>
                </a:solidFill>
                <a:effectLst/>
                <a:latin typeface="Menlo"/>
              </a:rPr>
              <a:t>ListNode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node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heap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poll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();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current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next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node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current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current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next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if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node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next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!=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null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   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heap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offer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node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next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return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dummy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next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Time Complexity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: O(n log k) where n is total nodes | </a:t>
            </a: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Space Complexity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: O(k)</a:t>
            </a:r>
          </a:p>
        </p:txBody>
      </p:sp>
    </p:spTree>
    <p:extLst>
      <p:ext uri="{BB962C8B-B14F-4D97-AF65-F5344CB8AC3E}">
        <p14:creationId xmlns:p14="http://schemas.microsoft.com/office/powerpoint/2010/main" val="202634301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AA536A-EED8-A427-E116-F5A6BD812F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4AD71AD-B094-BBA2-FFD4-64E57F84DFE0}"/>
              </a:ext>
            </a:extLst>
          </p:cNvPr>
          <p:cNvSpPr txBox="1"/>
          <p:nvPr/>
        </p:nvSpPr>
        <p:spPr>
          <a:xfrm>
            <a:off x="2477069" y="-1444564"/>
            <a:ext cx="4954136" cy="9753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spcBef>
                <a:spcPts val="2400"/>
              </a:spcBef>
              <a:spcAft>
                <a:spcPts val="1200"/>
              </a:spcAft>
              <a:buNone/>
            </a:pPr>
            <a:r>
              <a:rPr lang="en-US" b="1" dirty="0">
                <a:solidFill>
                  <a:srgbClr val="0F1115"/>
                </a:solidFill>
                <a:effectLst/>
                <a:latin typeface="quote-cjk-patch"/>
              </a:rPr>
              <a:t>📝 Tips for </a:t>
            </a:r>
            <a:r>
              <a:rPr lang="en-US" b="1" dirty="0" err="1">
                <a:solidFill>
                  <a:srgbClr val="0F1115"/>
                </a:solidFill>
                <a:effectLst/>
                <a:latin typeface="quote-cjk-patch"/>
              </a:rPr>
              <a:t>LeetCode</a:t>
            </a:r>
            <a:r>
              <a:rPr lang="en-US" b="1" dirty="0">
                <a:solidFill>
                  <a:srgbClr val="0F1115"/>
                </a:solidFill>
                <a:effectLst/>
                <a:latin typeface="quote-cjk-patch"/>
              </a:rPr>
              <a:t> Success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Font typeface="+mj-lt"/>
              <a:buAutoNum type="arabicPeriod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Understand the problem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before coding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+mj-lt"/>
              <a:buAutoNum type="arabicPeriod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Start with brute force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, then optimize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+mj-lt"/>
              <a:buAutoNum type="arabicPeriod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Draw examples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to visualize the problem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+mj-lt"/>
              <a:buAutoNum type="arabicPeriod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Think about edge cases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(empty input, single element, etc.)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+mj-lt"/>
              <a:buAutoNum type="arabicPeriod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Practice regularly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- consistency is key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+mj-lt"/>
              <a:buAutoNum type="arabicPeriod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Review solutions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even if you solved it - there might be better approaches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+mj-lt"/>
              <a:buAutoNum type="arabicPeriod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Time yourself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 to simulate interview conditions</a:t>
            </a:r>
          </a:p>
          <a:p>
            <a:pPr algn="l">
              <a:lnSpc>
                <a:spcPts val="2400"/>
              </a:lnSpc>
              <a:spcBef>
                <a:spcPts val="2400"/>
              </a:spcBef>
              <a:spcAft>
                <a:spcPts val="1200"/>
              </a:spcAft>
              <a:buNone/>
            </a:pPr>
            <a:r>
              <a:rPr lang="en-US" b="1" dirty="0">
                <a:solidFill>
                  <a:srgbClr val="0F1115"/>
                </a:solidFill>
                <a:effectLst/>
                <a:latin typeface="quote-cjk-patch"/>
              </a:rPr>
              <a:t>🎯 Recommended Study Plan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Week 1-2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: Arrays, Hashing, Two Pointers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Week 3-4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: Sliding Window, Stack, Binary Search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Week 5-6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: Linked List, Trees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Week 7-8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: Dynamic Programming, Graphs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Week 9-10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: Heap, Advanced Topics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Week 11-12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: Mixed problems and mock interviews</a:t>
            </a:r>
          </a:p>
          <a:p>
            <a:pPr algn="l">
              <a:spcBef>
                <a:spcPts val="1200"/>
              </a:spcBef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Remember: Quality over quantity. Understanding one problem deeply is better than superficially solving ten problems.</a:t>
            </a:r>
          </a:p>
        </p:txBody>
      </p:sp>
    </p:spTree>
    <p:extLst>
      <p:ext uri="{BB962C8B-B14F-4D97-AF65-F5344CB8AC3E}">
        <p14:creationId xmlns:p14="http://schemas.microsoft.com/office/powerpoint/2010/main" val="424937715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216295-F736-4541-E380-60D1680D59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54F8358-8A02-90A1-568E-60C82FAFFC8A}"/>
              </a:ext>
            </a:extLst>
          </p:cNvPr>
          <p:cNvSpPr txBox="1"/>
          <p:nvPr/>
        </p:nvSpPr>
        <p:spPr>
          <a:xfrm>
            <a:off x="0" y="-5681172"/>
            <a:ext cx="4954136" cy="185820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spcBef>
                <a:spcPts val="2400"/>
              </a:spcBef>
              <a:spcAft>
                <a:spcPts val="1200"/>
              </a:spcAft>
              <a:buNone/>
            </a:pPr>
            <a:r>
              <a:rPr lang="en-US" b="1" dirty="0">
                <a:solidFill>
                  <a:srgbClr val="0F1115"/>
                </a:solidFill>
                <a:effectLst/>
                <a:latin typeface="quote-cjk-patch"/>
              </a:rPr>
              <a:t>Advanced Arrays &amp; Hashing</a:t>
            </a:r>
          </a:p>
          <a:p>
            <a:pPr algn="l">
              <a:lnSpc>
                <a:spcPts val="2250"/>
              </a:lnSpc>
              <a:spcBef>
                <a:spcPts val="2400"/>
              </a:spcBef>
              <a:spcAft>
                <a:spcPts val="1200"/>
              </a:spcAft>
              <a:buNone/>
            </a:pPr>
            <a:r>
              <a:rPr lang="en-US" b="1" dirty="0">
                <a:solidFill>
                  <a:srgbClr val="0F1115"/>
                </a:solidFill>
                <a:effectLst/>
                <a:latin typeface="quote-cjk-patch"/>
              </a:rPr>
              <a:t>21. Top K Frequent Elements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Problem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: Return the k most frequent elements.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Solution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:</a:t>
            </a: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java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class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Solution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public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int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[]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topKFrequent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int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[]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nums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int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k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// Count frequencies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Map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&lt;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Integer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Integer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&gt;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frequencyMap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new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HashMap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&lt;&gt;();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for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int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num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: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nums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frequencyMap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put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num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frequencyMap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getOrDefault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num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0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+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1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// Bucket sort approach - index is frequency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List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&lt;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Integer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&gt;[]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buckets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new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List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[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nums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length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+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1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];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for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int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key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: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frequencyMap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keySet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())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int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frequency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frequencyMap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get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key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if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buckets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[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frequency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]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null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    buckets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[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frequency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]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new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B76B01"/>
                </a:solidFill>
                <a:effectLst/>
                <a:latin typeface="Menlo"/>
              </a:rPr>
              <a:t>ArrayList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&lt;&gt;();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buckets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[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frequency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].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add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key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// Collect top k frequent elements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List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&lt;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Integer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&gt;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result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new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B76B01"/>
                </a:solidFill>
                <a:effectLst/>
                <a:latin typeface="Menlo"/>
              </a:rPr>
              <a:t>ArrayList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&lt;&gt;();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for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int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i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buckets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length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-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1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i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&gt;=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0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&amp;&amp;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result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size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&lt;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k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i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--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if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buckets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[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i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]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!=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null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   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result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addAll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buckets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[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i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]);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return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result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stream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().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mapToInt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i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-&gt;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i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).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toArray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();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Time Complexity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: O(n) | </a:t>
            </a: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Space Complexity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: O(n)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D2FD81F-FA29-5A78-D480-3177ECDAAA28}"/>
              </a:ext>
            </a:extLst>
          </p:cNvPr>
          <p:cNvSpPr txBox="1"/>
          <p:nvPr/>
        </p:nvSpPr>
        <p:spPr>
          <a:xfrm>
            <a:off x="4810836" y="-4519016"/>
            <a:ext cx="4981432" cy="133780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50"/>
              </a:lnSpc>
              <a:spcBef>
                <a:spcPts val="2400"/>
              </a:spcBef>
              <a:spcAft>
                <a:spcPts val="1200"/>
              </a:spcAft>
              <a:buNone/>
            </a:pPr>
            <a:r>
              <a:rPr lang="en-US" b="1" dirty="0">
                <a:solidFill>
                  <a:srgbClr val="0F1115"/>
                </a:solidFill>
                <a:effectLst/>
                <a:latin typeface="quote-cjk-patch"/>
              </a:rPr>
              <a:t>22. Product of Array Except Self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Problem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: Return array where each element is product of all other elements without division.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Solution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:</a:t>
            </a: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java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class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Solution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public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int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[]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productExceptSelf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int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[]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nums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int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n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nums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length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int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[]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result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new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int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[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n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];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// Calculate left products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result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[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0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]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1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for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int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i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1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i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&lt;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n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i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++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result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[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i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]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result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[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i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-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1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]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*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nums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[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i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-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1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];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// Calculate right products and combine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int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rightProduct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1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for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int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i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n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-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1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i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&gt;=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0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i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--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result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[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i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]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*=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rightProduct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rightProduct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*=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nums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[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i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];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return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result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Time Complexity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: O(n) | </a:t>
            </a: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Space Complexity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: O(1) (excluding output array)</a:t>
            </a:r>
          </a:p>
        </p:txBody>
      </p:sp>
    </p:spTree>
    <p:extLst>
      <p:ext uri="{BB962C8B-B14F-4D97-AF65-F5344CB8AC3E}">
        <p14:creationId xmlns:p14="http://schemas.microsoft.com/office/powerpoint/2010/main" val="322793314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67C126-04A2-CF97-FE38-E47FAAC339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C282278-F098-48F2-AC72-0268B6267E59}"/>
              </a:ext>
            </a:extLst>
          </p:cNvPr>
          <p:cNvSpPr txBox="1"/>
          <p:nvPr/>
        </p:nvSpPr>
        <p:spPr>
          <a:xfrm>
            <a:off x="-116005" y="-5298829"/>
            <a:ext cx="4954136" cy="17653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50"/>
              </a:lnSpc>
              <a:spcBef>
                <a:spcPts val="2400"/>
              </a:spcBef>
              <a:spcAft>
                <a:spcPts val="1200"/>
              </a:spcAft>
              <a:buNone/>
            </a:pPr>
            <a:r>
              <a:rPr lang="en-US" b="1" dirty="0">
                <a:solidFill>
                  <a:srgbClr val="0F1115"/>
                </a:solidFill>
                <a:effectLst/>
                <a:latin typeface="quote-cjk-patch"/>
              </a:rPr>
              <a:t>23. Longest Consecutive Sequence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Problem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: Find length of longest consecutive sequence in unsorted array.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Solution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:</a:t>
            </a: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java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class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Solution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public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int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longestConsecutive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int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[]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nums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if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nums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length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0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return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0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Set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&lt;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Integer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&gt;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numSet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new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HashSet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&lt;&gt;();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for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int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num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: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nums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numSet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add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num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int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longestStreak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0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for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int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num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: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numSet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// Only start counting if this is the beginning of a sequence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if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!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numSet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contains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num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-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1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int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currentNum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num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int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currentStreak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1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   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while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numSet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contains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currentNum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+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1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       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currentNum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++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       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currentStreak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++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   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   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   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longestStreak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B76B01"/>
                </a:solidFill>
                <a:effectLst/>
                <a:latin typeface="Menlo"/>
              </a:rPr>
              <a:t>Math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max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longestStreak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currentStreak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return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longestStreak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Time Complexity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: O(n) | </a:t>
            </a: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Space Complexity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: O(n)</a:t>
            </a:r>
          </a:p>
        </p:txBody>
      </p:sp>
    </p:spTree>
    <p:extLst>
      <p:ext uri="{BB962C8B-B14F-4D97-AF65-F5344CB8AC3E}">
        <p14:creationId xmlns:p14="http://schemas.microsoft.com/office/powerpoint/2010/main" val="24822445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742B9A-8337-6E47-F8F4-F1FF3D6546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E4C2EBA-4805-1D33-7F4C-5EA51B93D8C7}"/>
              </a:ext>
            </a:extLst>
          </p:cNvPr>
          <p:cNvSpPr txBox="1"/>
          <p:nvPr/>
        </p:nvSpPr>
        <p:spPr>
          <a:xfrm>
            <a:off x="771099" y="-6968718"/>
            <a:ext cx="4954136" cy="207954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50"/>
              </a:lnSpc>
              <a:spcBef>
                <a:spcPts val="2400"/>
              </a:spcBef>
              <a:spcAft>
                <a:spcPts val="1200"/>
              </a:spcAft>
              <a:buNone/>
            </a:pPr>
            <a:r>
              <a:rPr lang="en-US" b="1" dirty="0">
                <a:solidFill>
                  <a:srgbClr val="0F1115"/>
                </a:solidFill>
                <a:effectLst/>
                <a:latin typeface="quote-cjk-patch"/>
              </a:rPr>
              <a:t>24. 3Sum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Problem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: Find all unique triplets that sum to zero.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Solution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:</a:t>
            </a: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java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class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Solution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public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List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&lt;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List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&lt;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Integer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&gt;&gt;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threeSum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int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[]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nums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List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&lt;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List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&lt;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Integer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&gt;&gt;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result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new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B76B01"/>
                </a:solidFill>
                <a:effectLst/>
                <a:latin typeface="Menlo"/>
              </a:rPr>
              <a:t>ArrayList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&lt;&gt;();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 err="1">
                <a:solidFill>
                  <a:srgbClr val="B76B01"/>
                </a:solidFill>
                <a:effectLst/>
                <a:latin typeface="Menlo"/>
              </a:rPr>
              <a:t>Arrays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sort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nums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for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int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i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0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i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&lt;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nums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length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-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2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i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++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// Skip duplicates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if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i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&gt;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0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&amp;&amp;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nums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[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i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]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nums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[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i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-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1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])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continue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int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left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i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+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1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int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right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nums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length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-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1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while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left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&lt;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right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int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sum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nums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[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i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]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+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nums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[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left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]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+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nums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[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right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];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   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if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sum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0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       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result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add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 err="1">
                <a:solidFill>
                  <a:srgbClr val="B76B01"/>
                </a:solidFill>
                <a:effectLst/>
                <a:latin typeface="Menlo"/>
              </a:rPr>
              <a:t>Arrays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asList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nums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[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i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],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nums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[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left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],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nums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[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right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]));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       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        </a:t>
            </a: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// Skip duplicates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while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left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&lt;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right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&amp;&amp;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nums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[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left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]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nums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[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left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+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1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])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left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++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while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left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&lt;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right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&amp;&amp;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nums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[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right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]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nums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[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right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-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1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])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right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--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       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        left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++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        right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--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   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else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if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sum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&lt;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0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        left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++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   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else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        right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--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   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return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result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Time Complexity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: O(n²) | </a:t>
            </a: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Space Complexity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: O(1) (excluding output)</a:t>
            </a:r>
          </a:p>
        </p:txBody>
      </p:sp>
    </p:spTree>
    <p:extLst>
      <p:ext uri="{BB962C8B-B14F-4D97-AF65-F5344CB8AC3E}">
        <p14:creationId xmlns:p14="http://schemas.microsoft.com/office/powerpoint/2010/main" val="398243423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8D39D9-771D-1A99-8C9D-AF905F4171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DFDF576-A6D7-9721-B621-F442577D1D21}"/>
              </a:ext>
            </a:extLst>
          </p:cNvPr>
          <p:cNvSpPr txBox="1"/>
          <p:nvPr/>
        </p:nvSpPr>
        <p:spPr>
          <a:xfrm>
            <a:off x="1057702" y="-4917224"/>
            <a:ext cx="4954136" cy="169995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50"/>
              </a:lnSpc>
              <a:spcBef>
                <a:spcPts val="2400"/>
              </a:spcBef>
              <a:spcAft>
                <a:spcPts val="1200"/>
              </a:spcAft>
              <a:buNone/>
            </a:pPr>
            <a:r>
              <a:rPr lang="en-US" b="1" dirty="0">
                <a:solidFill>
                  <a:srgbClr val="0F1115"/>
                </a:solidFill>
                <a:effectLst/>
                <a:latin typeface="quote-cjk-patch"/>
              </a:rPr>
              <a:t>25. Trapping Rain Water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Problem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: Calculate how much water can be trapped between bars.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Solution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:</a:t>
            </a: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java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class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Solution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public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int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trap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int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[]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height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if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height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length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&lt;=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2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return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0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int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left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0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right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height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length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-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1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int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leftMax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0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rightMax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0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int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water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0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while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left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&lt;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right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if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height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[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left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]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&lt;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height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[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right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])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if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height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[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left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]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&gt;=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leftMax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       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leftMax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height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[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left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];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   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else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        water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+=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leftMax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-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height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[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left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];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   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    left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++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else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if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height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[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right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]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&gt;=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rightMax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       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rightMax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height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[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right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];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   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else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        water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+=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rightMax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-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height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[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right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];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   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    right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--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return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water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Time Complexity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: O(n) | </a:t>
            </a: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Space Complexity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: O(1)</a:t>
            </a:r>
          </a:p>
        </p:txBody>
      </p:sp>
    </p:spTree>
    <p:extLst>
      <p:ext uri="{BB962C8B-B14F-4D97-AF65-F5344CB8AC3E}">
        <p14:creationId xmlns:p14="http://schemas.microsoft.com/office/powerpoint/2010/main" val="321149508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5F51D3-0345-00B0-8AB0-A45023E740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FCE38A8-BBDB-3DD0-741B-F978472473CF}"/>
              </a:ext>
            </a:extLst>
          </p:cNvPr>
          <p:cNvSpPr txBox="1"/>
          <p:nvPr/>
        </p:nvSpPr>
        <p:spPr>
          <a:xfrm>
            <a:off x="2477069" y="-10656060"/>
            <a:ext cx="4954136" cy="28176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spcBef>
                <a:spcPts val="2400"/>
              </a:spcBef>
              <a:spcAft>
                <a:spcPts val="1200"/>
              </a:spcAft>
              <a:buNone/>
            </a:pPr>
            <a:r>
              <a:rPr lang="en-US" b="1" dirty="0">
                <a:solidFill>
                  <a:srgbClr val="0F1115"/>
                </a:solidFill>
                <a:effectLst/>
                <a:latin typeface="quote-cjk-patch"/>
              </a:rPr>
              <a:t>Advanced Sliding Window</a:t>
            </a:r>
          </a:p>
          <a:p>
            <a:pPr algn="l">
              <a:lnSpc>
                <a:spcPts val="2250"/>
              </a:lnSpc>
              <a:spcBef>
                <a:spcPts val="2400"/>
              </a:spcBef>
              <a:spcAft>
                <a:spcPts val="1200"/>
              </a:spcAft>
              <a:buNone/>
            </a:pPr>
            <a:r>
              <a:rPr lang="en-US" b="1" dirty="0">
                <a:solidFill>
                  <a:srgbClr val="0F1115"/>
                </a:solidFill>
                <a:effectLst/>
                <a:latin typeface="quote-cjk-patch"/>
              </a:rPr>
              <a:t>26. Minimum Window Substring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Problem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: Find minimum window in s which contains all characters of t.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Solution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:</a:t>
            </a: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java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class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Solution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public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String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minWindow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String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s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String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if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s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length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&lt;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t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length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())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return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50A14F"/>
                </a:solidFill>
                <a:effectLst/>
                <a:latin typeface="Menlo"/>
              </a:rPr>
              <a:t>""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Map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&lt;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Character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Integer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&gt;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targetMap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new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HashMap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&lt;&gt;();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for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char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c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: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t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toCharArray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())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targetMap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put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c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targetMap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getOrDefault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c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0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+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1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int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left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0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right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0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int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minLeft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0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minLen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B76B01"/>
                </a:solidFill>
                <a:effectLst/>
                <a:latin typeface="Menlo"/>
              </a:rPr>
              <a:t>Integer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B76B01"/>
                </a:solidFill>
                <a:effectLst/>
                <a:latin typeface="Menlo"/>
              </a:rPr>
              <a:t>MAX_VALUE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int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count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t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length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();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while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right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&lt;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s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length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())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char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rightChar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s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charAt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right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// Expand window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if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targetMap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containsKey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rightChar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   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targetMap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put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rightChar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targetMap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get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rightChar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-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1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if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targetMap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get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rightChar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&gt;=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0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        count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--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   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// Contract window when valid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while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count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0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&amp;&amp;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left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&lt;=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right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if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right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-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left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+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1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&lt;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minLen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       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minLen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right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-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left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+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1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       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minLeft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left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   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   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char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leftChar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s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charAt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left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if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targetMap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containsKey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leftChar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       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targetMap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put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leftChar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targetMap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get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leftChar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+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1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if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targetMap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get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leftChar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&gt;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0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            count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++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       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   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    left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++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right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++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return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minLen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B76B01"/>
                </a:solidFill>
                <a:effectLst/>
                <a:latin typeface="Menlo"/>
              </a:rPr>
              <a:t>Integer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B76B01"/>
                </a:solidFill>
                <a:effectLst/>
                <a:latin typeface="Menlo"/>
              </a:rPr>
              <a:t>MAX_VALUE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?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50A14F"/>
                </a:solidFill>
                <a:effectLst/>
                <a:latin typeface="Menlo"/>
              </a:rPr>
              <a:t>""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: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  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s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substring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minLeft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minLeft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+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minLen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Time Complexity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: O(n) | </a:t>
            </a: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Space Complexity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: O(k) where k is alphabet size</a:t>
            </a:r>
          </a:p>
        </p:txBody>
      </p:sp>
    </p:spTree>
    <p:extLst>
      <p:ext uri="{BB962C8B-B14F-4D97-AF65-F5344CB8AC3E}">
        <p14:creationId xmlns:p14="http://schemas.microsoft.com/office/powerpoint/2010/main" val="329660146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85CCC6-E6E7-B7C6-6CCC-9091F85AE1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B2ACC76-E8EE-C371-1A26-B9DE865BBC61}"/>
              </a:ext>
            </a:extLst>
          </p:cNvPr>
          <p:cNvSpPr txBox="1"/>
          <p:nvPr/>
        </p:nvSpPr>
        <p:spPr>
          <a:xfrm>
            <a:off x="2477069" y="-3691333"/>
            <a:ext cx="4954136" cy="142474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spcBef>
                <a:spcPts val="2400"/>
              </a:spcBef>
              <a:spcAft>
                <a:spcPts val="1200"/>
              </a:spcAft>
              <a:buNone/>
            </a:pPr>
            <a:r>
              <a:rPr lang="en-US" b="1" dirty="0">
                <a:solidFill>
                  <a:srgbClr val="0F1115"/>
                </a:solidFill>
                <a:effectLst/>
                <a:latin typeface="quote-cjk-patch"/>
              </a:rPr>
              <a:t>Advanced Stack</a:t>
            </a:r>
          </a:p>
          <a:p>
            <a:pPr algn="l">
              <a:lnSpc>
                <a:spcPts val="2250"/>
              </a:lnSpc>
              <a:spcBef>
                <a:spcPts val="2400"/>
              </a:spcBef>
              <a:spcAft>
                <a:spcPts val="1200"/>
              </a:spcAft>
              <a:buNone/>
            </a:pPr>
            <a:r>
              <a:rPr lang="en-US" b="1" dirty="0">
                <a:solidFill>
                  <a:srgbClr val="0F1115"/>
                </a:solidFill>
                <a:effectLst/>
                <a:latin typeface="quote-cjk-patch"/>
              </a:rPr>
              <a:t>27. Largest Rectangle in Histogram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Problem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: Find largest rectangle area in histogram.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Solution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:</a:t>
            </a: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java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class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Solution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public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int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largestRectangleArea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int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[]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heights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Stack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&lt;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Integer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&gt;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stack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new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Stack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&lt;&gt;();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int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maxArea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0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int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n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heights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length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for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int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i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0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i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&lt;=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n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i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++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int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currentHeight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i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n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?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0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: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heights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[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i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];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while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!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stack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isEmpty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&amp;&amp;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currentHeight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&lt;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heights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[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stack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peek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()])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int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height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heights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[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stack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pop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()];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int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width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stack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isEmpty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?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i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: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i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-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stack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peek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-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1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   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maxArea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B76B01"/>
                </a:solidFill>
                <a:effectLst/>
                <a:latin typeface="Menlo"/>
              </a:rPr>
              <a:t>Math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max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maxArea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height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*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width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stack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push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i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return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maxArea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Time Complexity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: O(n) | </a:t>
            </a: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Space Complexity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: O(n)</a:t>
            </a:r>
          </a:p>
        </p:txBody>
      </p:sp>
    </p:spTree>
    <p:extLst>
      <p:ext uri="{BB962C8B-B14F-4D97-AF65-F5344CB8AC3E}">
        <p14:creationId xmlns:p14="http://schemas.microsoft.com/office/powerpoint/2010/main" val="18943406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498316-616B-E845-43AD-535703B176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0DA8B8D-E844-CEEC-B99F-990050C4E33E}"/>
              </a:ext>
            </a:extLst>
          </p:cNvPr>
          <p:cNvSpPr txBox="1"/>
          <p:nvPr/>
        </p:nvSpPr>
        <p:spPr>
          <a:xfrm>
            <a:off x="2477069" y="-5913736"/>
            <a:ext cx="4954136" cy="186922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spcBef>
                <a:spcPts val="2400"/>
              </a:spcBef>
              <a:spcAft>
                <a:spcPts val="1200"/>
              </a:spcAft>
              <a:buNone/>
            </a:pPr>
            <a:r>
              <a:rPr lang="en-US" b="1" dirty="0">
                <a:solidFill>
                  <a:srgbClr val="0F1115"/>
                </a:solidFill>
                <a:effectLst/>
                <a:latin typeface="quote-cjk-patch"/>
              </a:rPr>
              <a:t>Advanced Binary Search</a:t>
            </a:r>
          </a:p>
          <a:p>
            <a:pPr algn="l">
              <a:lnSpc>
                <a:spcPts val="2250"/>
              </a:lnSpc>
              <a:spcBef>
                <a:spcPts val="2400"/>
              </a:spcBef>
              <a:spcAft>
                <a:spcPts val="1200"/>
              </a:spcAft>
              <a:buNone/>
            </a:pPr>
            <a:r>
              <a:rPr lang="en-US" b="1" dirty="0">
                <a:solidFill>
                  <a:srgbClr val="0F1115"/>
                </a:solidFill>
                <a:effectLst/>
                <a:latin typeface="quote-cjk-patch"/>
              </a:rPr>
              <a:t>28. Search in Rotated Sorted Array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Problem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: Search for target in rotated sorted array.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Solution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:</a:t>
            </a: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java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class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Solution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public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int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search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int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[]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nums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int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target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int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left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0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right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nums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length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-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1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while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left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&lt;=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right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int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mid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left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+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right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-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left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/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2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if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nums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[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mid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]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target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return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mid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// Left half is sorted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if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nums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[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left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]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&lt;=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nums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[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mid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])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if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target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&gt;=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nums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[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left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]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&amp;&amp;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target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&lt;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nums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[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mid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])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        right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mid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-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1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   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else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        left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mid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+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1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   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// Right half is sorted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else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if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target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&gt;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nums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[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mid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]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&amp;&amp;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target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&lt;=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nums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[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right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])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        left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mid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+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1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   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else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        right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mid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-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1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   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return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-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1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Time Complexity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: O(log n) | </a:t>
            </a: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Space Complexity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: O(1)</a:t>
            </a:r>
          </a:p>
        </p:txBody>
      </p:sp>
    </p:spTree>
    <p:extLst>
      <p:ext uri="{BB962C8B-B14F-4D97-AF65-F5344CB8AC3E}">
        <p14:creationId xmlns:p14="http://schemas.microsoft.com/office/powerpoint/2010/main" val="416432425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4FC741-BE3B-1381-C1C3-531DD4C166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8240061-AE77-0309-EB2E-EE2ED3C81E5E}"/>
              </a:ext>
            </a:extLst>
          </p:cNvPr>
          <p:cNvSpPr txBox="1"/>
          <p:nvPr/>
        </p:nvSpPr>
        <p:spPr>
          <a:xfrm>
            <a:off x="2477069" y="-7373110"/>
            <a:ext cx="4954136" cy="216110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50"/>
              </a:lnSpc>
              <a:spcBef>
                <a:spcPts val="2400"/>
              </a:spcBef>
              <a:spcAft>
                <a:spcPts val="1200"/>
              </a:spcAft>
              <a:buNone/>
            </a:pPr>
            <a:r>
              <a:rPr lang="en-US" b="1" dirty="0">
                <a:solidFill>
                  <a:srgbClr val="0F1115"/>
                </a:solidFill>
                <a:effectLst/>
                <a:latin typeface="quote-cjk-patch"/>
              </a:rPr>
              <a:t>29. Merge K Sorted Lists (Alternative Solution)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Problem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: Merge k sorted linked lists using divide and conquer.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Solution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:</a:t>
            </a: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java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class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Solution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public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B76B01"/>
                </a:solidFill>
                <a:effectLst/>
                <a:latin typeface="Menlo"/>
              </a:rPr>
              <a:t>ListNode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mergeKLists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 err="1">
                <a:solidFill>
                  <a:srgbClr val="B76B01"/>
                </a:solidFill>
                <a:effectLst/>
                <a:latin typeface="Menlo"/>
              </a:rPr>
              <a:t>ListNode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[]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lists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if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lists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null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||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lists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length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0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return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null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return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mergeSort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lists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0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lists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length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-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1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private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B76B01"/>
                </a:solidFill>
                <a:effectLst/>
                <a:latin typeface="Menlo"/>
              </a:rPr>
              <a:t>ListNode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mergeSort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 err="1">
                <a:solidFill>
                  <a:srgbClr val="B76B01"/>
                </a:solidFill>
                <a:effectLst/>
                <a:latin typeface="Menlo"/>
              </a:rPr>
              <a:t>ListNode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[]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lists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int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start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int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end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if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start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end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return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lists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[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start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];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int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mid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start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+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end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-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start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/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2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 err="1">
                <a:solidFill>
                  <a:srgbClr val="B76B01"/>
                </a:solidFill>
                <a:effectLst/>
                <a:latin typeface="Menlo"/>
              </a:rPr>
              <a:t>ListNode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left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mergeSort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lists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start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mid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 err="1">
                <a:solidFill>
                  <a:srgbClr val="B76B01"/>
                </a:solidFill>
                <a:effectLst/>
                <a:latin typeface="Menlo"/>
              </a:rPr>
              <a:t>ListNode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right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mergeSort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lists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mid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+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1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end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return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mergeTwoLists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left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right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private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B76B01"/>
                </a:solidFill>
                <a:effectLst/>
                <a:latin typeface="Menlo"/>
              </a:rPr>
              <a:t>ListNode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mergeTwoLists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 err="1">
                <a:solidFill>
                  <a:srgbClr val="B76B01"/>
                </a:solidFill>
                <a:effectLst/>
                <a:latin typeface="Menlo"/>
              </a:rPr>
              <a:t>ListNode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l1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B76B01"/>
                </a:solidFill>
                <a:effectLst/>
                <a:latin typeface="Menlo"/>
              </a:rPr>
              <a:t>ListNode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l2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 err="1">
                <a:solidFill>
                  <a:srgbClr val="B76B01"/>
                </a:solidFill>
                <a:effectLst/>
                <a:latin typeface="Menlo"/>
              </a:rPr>
              <a:t>ListNode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dummy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new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B76B01"/>
                </a:solidFill>
                <a:effectLst/>
                <a:latin typeface="Menlo"/>
              </a:rPr>
              <a:t>ListNode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0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 err="1">
                <a:solidFill>
                  <a:srgbClr val="B76B01"/>
                </a:solidFill>
                <a:effectLst/>
                <a:latin typeface="Menlo"/>
              </a:rPr>
              <a:t>ListNode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current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dummy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while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l1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!=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null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&amp;&amp;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l2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!=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null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if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l1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val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&lt;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l2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val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   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current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next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l1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    l1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l1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next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else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   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current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next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l2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    l2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l2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next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current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current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next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if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l1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!=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null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current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next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l1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if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l2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!=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null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current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next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l2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return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dummy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next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Time Complexity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: O(n log k) | </a:t>
            </a: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Space Complexity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: O(log k) due to recursion</a:t>
            </a:r>
          </a:p>
        </p:txBody>
      </p:sp>
    </p:spTree>
    <p:extLst>
      <p:ext uri="{BB962C8B-B14F-4D97-AF65-F5344CB8AC3E}">
        <p14:creationId xmlns:p14="http://schemas.microsoft.com/office/powerpoint/2010/main" val="198090760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F1F3F0-8E3C-9EC2-08A0-4468CCE58E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2D428F6-DABB-9332-F940-BAEEF81F7F3D}"/>
              </a:ext>
            </a:extLst>
          </p:cNvPr>
          <p:cNvSpPr txBox="1"/>
          <p:nvPr/>
        </p:nvSpPr>
        <p:spPr>
          <a:xfrm>
            <a:off x="2477069" y="-13351670"/>
            <a:ext cx="4954136" cy="33568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50"/>
              </a:lnSpc>
              <a:spcBef>
                <a:spcPts val="2400"/>
              </a:spcBef>
              <a:spcAft>
                <a:spcPts val="1200"/>
              </a:spcAft>
              <a:buNone/>
            </a:pPr>
            <a:r>
              <a:rPr lang="en-US" b="1" dirty="0">
                <a:solidFill>
                  <a:srgbClr val="0F1115"/>
                </a:solidFill>
                <a:effectLst/>
                <a:latin typeface="quote-cjk-patch"/>
              </a:rPr>
              <a:t>30. LRU Cache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Problem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: Design Least Recently Used (LRU) cache.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Solution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:</a:t>
            </a: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java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class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B76B01"/>
                </a:solidFill>
                <a:effectLst/>
                <a:latin typeface="Menlo"/>
              </a:rPr>
              <a:t>LRUCache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class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Node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int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key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value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Node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prev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next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Node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int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key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int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value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  <a:r>
              <a:rPr lang="en-US" b="0" i="0" dirty="0" err="1">
                <a:solidFill>
                  <a:srgbClr val="A626A4"/>
                </a:solidFill>
                <a:effectLst/>
                <a:latin typeface="Menlo"/>
              </a:rPr>
              <a:t>this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key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key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  <a:r>
              <a:rPr lang="en-US" b="0" i="0" dirty="0" err="1">
                <a:solidFill>
                  <a:srgbClr val="A626A4"/>
                </a:solidFill>
                <a:effectLst/>
                <a:latin typeface="Menlo"/>
              </a:rPr>
              <a:t>this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value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value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private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Map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&lt;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Integer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Node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&gt;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map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private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Node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head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tail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private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int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capacity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public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B76B01"/>
                </a:solidFill>
                <a:effectLst/>
                <a:latin typeface="Menlo"/>
              </a:rPr>
              <a:t>LRUCache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int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capacity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 err="1">
                <a:solidFill>
                  <a:srgbClr val="A626A4"/>
                </a:solidFill>
                <a:effectLst/>
                <a:latin typeface="Menlo"/>
              </a:rPr>
              <a:t>this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capacity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capacity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map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new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HashMap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&lt;&gt;();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head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new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Node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0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0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tail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new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Node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0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0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head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next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tail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tail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prev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head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public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int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get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int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key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if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map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containsKey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key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Node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node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map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get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key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remove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node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insertToFront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node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return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node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value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return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-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1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public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void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put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int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key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int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value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if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map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containsKey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key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Node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node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map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get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key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node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value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value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remove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node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insertToFront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node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else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if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map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size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capacity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   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Node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lru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tail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prev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   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remove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lru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   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map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remove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lru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key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Node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newNode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new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Node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key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value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map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put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key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newNode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insertToFront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newNode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private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void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remove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Node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node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node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prev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next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node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next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node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next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prev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node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prev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private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void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insertToFront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Node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node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node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next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head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next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node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next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prev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node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head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next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node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node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prev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head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Time Complexity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: O(1) for both get and put | </a:t>
            </a: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Space Complexity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: O(capacity)</a:t>
            </a:r>
          </a:p>
        </p:txBody>
      </p:sp>
    </p:spTree>
    <p:extLst>
      <p:ext uri="{BB962C8B-B14F-4D97-AF65-F5344CB8AC3E}">
        <p14:creationId xmlns:p14="http://schemas.microsoft.com/office/powerpoint/2010/main" val="102982065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8392F3-1F7B-EAA1-D24C-5CD66DFD52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07E5AA2-D71D-913B-4AC8-BC647A416119}"/>
              </a:ext>
            </a:extLst>
          </p:cNvPr>
          <p:cNvSpPr txBox="1"/>
          <p:nvPr/>
        </p:nvSpPr>
        <p:spPr>
          <a:xfrm>
            <a:off x="2477069" y="-5266123"/>
            <a:ext cx="4954136" cy="173970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spcBef>
                <a:spcPts val="2400"/>
              </a:spcBef>
              <a:spcAft>
                <a:spcPts val="1200"/>
              </a:spcAft>
              <a:buNone/>
            </a:pPr>
            <a:r>
              <a:rPr lang="en-US" b="1" dirty="0">
                <a:solidFill>
                  <a:srgbClr val="0F1115"/>
                </a:solidFill>
                <a:effectLst/>
                <a:latin typeface="quote-cjk-patch"/>
              </a:rPr>
              <a:t>Advanced Trees</a:t>
            </a:r>
          </a:p>
          <a:p>
            <a:pPr algn="l">
              <a:lnSpc>
                <a:spcPts val="2250"/>
              </a:lnSpc>
              <a:spcBef>
                <a:spcPts val="2400"/>
              </a:spcBef>
              <a:spcAft>
                <a:spcPts val="1200"/>
              </a:spcAft>
              <a:buNone/>
            </a:pPr>
            <a:r>
              <a:rPr lang="en-US" b="1" dirty="0">
                <a:solidFill>
                  <a:srgbClr val="0F1115"/>
                </a:solidFill>
                <a:effectLst/>
                <a:latin typeface="quote-cjk-patch"/>
              </a:rPr>
              <a:t>31. Binary Tree Level Order Traversal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Problem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: Return level-by-level traversal of binary tree.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Solution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:</a:t>
            </a: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java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class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Solution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public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List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&lt;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List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&lt;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Integer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&gt;&gt;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levelOrder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 err="1">
                <a:solidFill>
                  <a:srgbClr val="B76B01"/>
                </a:solidFill>
                <a:effectLst/>
                <a:latin typeface="Menlo"/>
              </a:rPr>
              <a:t>TreeNode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root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List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&lt;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List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&lt;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Integer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&gt;&gt;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result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new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B76B01"/>
                </a:solidFill>
                <a:effectLst/>
                <a:latin typeface="Menlo"/>
              </a:rPr>
              <a:t>ArrayList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&lt;&gt;();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if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root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null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return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result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Queue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&lt;</a:t>
            </a:r>
            <a:r>
              <a:rPr lang="en-US" b="0" i="0" dirty="0" err="1">
                <a:solidFill>
                  <a:srgbClr val="B76B01"/>
                </a:solidFill>
                <a:effectLst/>
                <a:latin typeface="Menlo"/>
              </a:rPr>
              <a:t>TreeNode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&gt;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queue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new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LinkedList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&lt;&gt;();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queue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offer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root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while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!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queue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isEmpty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())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int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levelSize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queue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size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();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List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&lt;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Integer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&gt;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currentLevel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new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B76B01"/>
                </a:solidFill>
                <a:effectLst/>
                <a:latin typeface="Menlo"/>
              </a:rPr>
              <a:t>ArrayList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&lt;&gt;();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for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int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i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0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i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&lt;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levelSize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i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++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    </a:t>
            </a:r>
            <a:r>
              <a:rPr lang="en-US" b="0" i="0" dirty="0" err="1">
                <a:solidFill>
                  <a:srgbClr val="B76B01"/>
                </a:solidFill>
                <a:effectLst/>
                <a:latin typeface="Menlo"/>
              </a:rPr>
              <a:t>TreeNode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node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queue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poll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();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   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currentLevel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add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node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val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   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if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node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left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!=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null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queue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offer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node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left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if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node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right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!=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null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queue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offer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node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right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result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add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currentLevel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return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result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Time Complexity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: O(n) | </a:t>
            </a: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Space Complexity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: O(n)</a:t>
            </a:r>
          </a:p>
        </p:txBody>
      </p:sp>
    </p:spTree>
    <p:extLst>
      <p:ext uri="{BB962C8B-B14F-4D97-AF65-F5344CB8AC3E}">
        <p14:creationId xmlns:p14="http://schemas.microsoft.com/office/powerpoint/2010/main" val="5374457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7F4734-C1A0-211C-519C-3E66DD6585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0B24B15-2A83-4F54-1674-2C3AD90E44B2}"/>
              </a:ext>
            </a:extLst>
          </p:cNvPr>
          <p:cNvSpPr txBox="1"/>
          <p:nvPr/>
        </p:nvSpPr>
        <p:spPr>
          <a:xfrm>
            <a:off x="2477069" y="-5743177"/>
            <a:ext cx="4954136" cy="183511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50"/>
              </a:lnSpc>
              <a:spcBef>
                <a:spcPts val="2400"/>
              </a:spcBef>
              <a:spcAft>
                <a:spcPts val="1200"/>
              </a:spcAft>
              <a:buNone/>
            </a:pPr>
            <a:r>
              <a:rPr lang="en-US" b="1" dirty="0">
                <a:solidFill>
                  <a:srgbClr val="0F1115"/>
                </a:solidFill>
                <a:effectLst/>
                <a:latin typeface="quote-cjk-patch"/>
              </a:rPr>
              <a:t>32. Serialize and Deserialize Binary Tree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Problem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: Convert binary tree to string and back.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Solution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:</a:t>
            </a: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java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public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class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Codec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// Encodes a tree to a single string.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public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String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serialize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 err="1">
                <a:solidFill>
                  <a:srgbClr val="B76B01"/>
                </a:solidFill>
                <a:effectLst/>
                <a:latin typeface="Menlo"/>
              </a:rPr>
              <a:t>TreeNode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root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if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root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null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return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50A14F"/>
                </a:solidFill>
                <a:effectLst/>
                <a:latin typeface="Menlo"/>
              </a:rPr>
              <a:t>"null,"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StringBuilder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sb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new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StringBuilder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();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sb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append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root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val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).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append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50A14F"/>
                </a:solidFill>
                <a:effectLst/>
                <a:latin typeface="Menlo"/>
              </a:rPr>
              <a:t>","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sb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append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serialize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root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left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));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sb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append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serialize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root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right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));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return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sb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toString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();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// Decodes your encoded data to tree.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public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B76B01"/>
                </a:solidFill>
                <a:effectLst/>
                <a:latin typeface="Menlo"/>
              </a:rPr>
              <a:t>TreeNode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deserialize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String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data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Queue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&lt;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String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&gt;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nodes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new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LinkedList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&lt;&gt;(</a:t>
            </a:r>
            <a:r>
              <a:rPr lang="en-US" b="0" i="0" dirty="0" err="1">
                <a:solidFill>
                  <a:srgbClr val="B76B01"/>
                </a:solidFill>
                <a:effectLst/>
                <a:latin typeface="Menlo"/>
              </a:rPr>
              <a:t>Arrays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asList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data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split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50A14F"/>
                </a:solidFill>
                <a:effectLst/>
                <a:latin typeface="Menlo"/>
              </a:rPr>
              <a:t>","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)));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return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buildTree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nodes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private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B76B01"/>
                </a:solidFill>
                <a:effectLst/>
                <a:latin typeface="Menlo"/>
              </a:rPr>
              <a:t>TreeNode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buildTree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Queue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&lt;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String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&gt;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nodes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String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val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nodes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poll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();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if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val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equals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50A14F"/>
                </a:solidFill>
                <a:effectLst/>
                <a:latin typeface="Menlo"/>
              </a:rPr>
              <a:t>"null"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return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null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 err="1">
                <a:solidFill>
                  <a:srgbClr val="B76B01"/>
                </a:solidFill>
                <a:effectLst/>
                <a:latin typeface="Menlo"/>
              </a:rPr>
              <a:t>TreeNode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node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new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B76B01"/>
                </a:solidFill>
                <a:effectLst/>
                <a:latin typeface="Menlo"/>
              </a:rPr>
              <a:t>TreeNode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 err="1">
                <a:solidFill>
                  <a:srgbClr val="B76B01"/>
                </a:solidFill>
                <a:effectLst/>
                <a:latin typeface="Menlo"/>
              </a:rPr>
              <a:t>Integer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parseInt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val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));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node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left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buildTree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nodes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node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right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buildTree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nodes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return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node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Time Complexity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: O(n) | </a:t>
            </a: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Space Complexity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: O(n)</a:t>
            </a:r>
          </a:p>
        </p:txBody>
      </p:sp>
    </p:spTree>
    <p:extLst>
      <p:ext uri="{BB962C8B-B14F-4D97-AF65-F5344CB8AC3E}">
        <p14:creationId xmlns:p14="http://schemas.microsoft.com/office/powerpoint/2010/main" val="426840216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8A05F5-03AA-D92D-60A8-B08A3E4A0C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042DFE8-CBFC-DEB8-E479-AEBCBFA354C9}"/>
              </a:ext>
            </a:extLst>
          </p:cNvPr>
          <p:cNvSpPr txBox="1"/>
          <p:nvPr/>
        </p:nvSpPr>
        <p:spPr>
          <a:xfrm>
            <a:off x="2477069" y="-4615945"/>
            <a:ext cx="4954136" cy="160967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spcBef>
                <a:spcPts val="2400"/>
              </a:spcBef>
              <a:spcAft>
                <a:spcPts val="1200"/>
              </a:spcAft>
              <a:buNone/>
            </a:pPr>
            <a:r>
              <a:rPr lang="en-US" b="1" dirty="0">
                <a:solidFill>
                  <a:srgbClr val="0F1115"/>
                </a:solidFill>
                <a:effectLst/>
                <a:latin typeface="quote-cjk-patch"/>
              </a:rPr>
              <a:t>Advanced Dynamic Programming</a:t>
            </a:r>
          </a:p>
          <a:p>
            <a:pPr algn="l">
              <a:lnSpc>
                <a:spcPts val="2250"/>
              </a:lnSpc>
              <a:spcBef>
                <a:spcPts val="2400"/>
              </a:spcBef>
              <a:spcAft>
                <a:spcPts val="1200"/>
              </a:spcAft>
              <a:buNone/>
            </a:pPr>
            <a:r>
              <a:rPr lang="en-US" b="1" dirty="0">
                <a:solidFill>
                  <a:srgbClr val="0F1115"/>
                </a:solidFill>
                <a:effectLst/>
                <a:latin typeface="quote-cjk-patch"/>
              </a:rPr>
              <a:t>33. Longest Increasing Subsequence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Problem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: Find length of longest increasing subsequence.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Solution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:</a:t>
            </a: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java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class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Solution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public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int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lengthOfLIS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int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[]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nums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int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[]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tails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new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int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[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nums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length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];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int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size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0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for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int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num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: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nums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int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i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0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j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size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// Binary search for insertion point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while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i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&lt;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j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int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mid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i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+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j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-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i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/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2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if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tails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[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mid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]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&lt;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num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       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i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mid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+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1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   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else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        j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mid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   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tails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[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i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]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num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if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i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size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size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++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return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size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Time Complexity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: O(n log n) | </a:t>
            </a: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Space Complexity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: O(n)</a:t>
            </a:r>
          </a:p>
        </p:txBody>
      </p:sp>
    </p:spTree>
    <p:extLst>
      <p:ext uri="{BB962C8B-B14F-4D97-AF65-F5344CB8AC3E}">
        <p14:creationId xmlns:p14="http://schemas.microsoft.com/office/powerpoint/2010/main" val="407764586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89E505-40D9-4ED7-D016-8A821BFA10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9BF5857-48B5-2E27-FD24-07C6EC5F54AE}"/>
              </a:ext>
            </a:extLst>
          </p:cNvPr>
          <p:cNvSpPr txBox="1"/>
          <p:nvPr/>
        </p:nvSpPr>
        <p:spPr>
          <a:xfrm>
            <a:off x="2477069" y="-2390977"/>
            <a:ext cx="4954136" cy="116467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50"/>
              </a:lnSpc>
              <a:spcBef>
                <a:spcPts val="2400"/>
              </a:spcBef>
              <a:spcAft>
                <a:spcPts val="1200"/>
              </a:spcAft>
              <a:buNone/>
            </a:pPr>
            <a:r>
              <a:rPr lang="en-US" b="1" dirty="0">
                <a:solidFill>
                  <a:srgbClr val="0F1115"/>
                </a:solidFill>
                <a:effectLst/>
                <a:latin typeface="quote-cjk-patch"/>
              </a:rPr>
              <a:t>34. Coin Change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Problem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: Minimum number of coins to make amount.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Solution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:</a:t>
            </a: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java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class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Solution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public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int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coinChange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int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[]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coins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int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amount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int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[]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dp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new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int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[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amount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+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1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];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 err="1">
                <a:solidFill>
                  <a:srgbClr val="B76B01"/>
                </a:solidFill>
                <a:effectLst/>
                <a:latin typeface="Menlo"/>
              </a:rPr>
              <a:t>Arrays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fill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dp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amount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+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1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dp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[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0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]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0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for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int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i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1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i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&lt;=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amount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i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++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for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int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coin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: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coins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if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coin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&lt;=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i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       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dp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[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i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]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B76B01"/>
                </a:solidFill>
                <a:effectLst/>
                <a:latin typeface="Menlo"/>
              </a:rPr>
              <a:t>Math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min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dp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[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i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],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dp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[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i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-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coin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]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+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1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   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return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dp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[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amount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]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&gt;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amount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?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-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1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: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dp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[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amount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];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Time Complexity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: O(amount × coins) | </a:t>
            </a: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Space Complexity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: O(amount)</a:t>
            </a:r>
          </a:p>
        </p:txBody>
      </p:sp>
    </p:spTree>
    <p:extLst>
      <p:ext uri="{BB962C8B-B14F-4D97-AF65-F5344CB8AC3E}">
        <p14:creationId xmlns:p14="http://schemas.microsoft.com/office/powerpoint/2010/main" val="352822008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309C2D-F040-78E6-DD9B-00AC84CAA3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201AB5A-1549-7D11-B411-99D8F69BBD39}"/>
              </a:ext>
            </a:extLst>
          </p:cNvPr>
          <p:cNvSpPr txBox="1"/>
          <p:nvPr/>
        </p:nvSpPr>
        <p:spPr>
          <a:xfrm>
            <a:off x="2477069" y="-5180202"/>
            <a:ext cx="4954136" cy="172252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50"/>
              </a:lnSpc>
              <a:spcBef>
                <a:spcPts val="2400"/>
              </a:spcBef>
              <a:spcAft>
                <a:spcPts val="1200"/>
              </a:spcAft>
              <a:buNone/>
            </a:pPr>
            <a:r>
              <a:rPr lang="en-US" b="1" dirty="0">
                <a:solidFill>
                  <a:srgbClr val="0F1115"/>
                </a:solidFill>
                <a:effectLst/>
                <a:latin typeface="quote-cjk-patch"/>
              </a:rPr>
              <a:t>35. Edit Distance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Problem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: Minimum operations to convert word1 to word2.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Solution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:</a:t>
            </a: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java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class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Solution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public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int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minDistance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String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word1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String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word2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int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m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word1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length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(),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n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word2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length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();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int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[][]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dp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new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int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[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m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+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1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][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n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+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1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];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// Base cases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for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int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i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0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i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&lt;=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m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i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++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dp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[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i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][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0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]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i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for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int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j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0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j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&lt;=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n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j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++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dp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[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0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][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j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]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j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for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int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i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1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i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&lt;=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m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i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++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for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int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j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1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j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&lt;=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n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j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++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if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word1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charAt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i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-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1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word2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charAt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j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-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1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       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dp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[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i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][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j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]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dp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[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i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-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1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][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j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-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1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];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   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else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       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dp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[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i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][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j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]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1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+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B76B01"/>
                </a:solidFill>
                <a:effectLst/>
                <a:latin typeface="Menlo"/>
              </a:rPr>
              <a:t>Math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min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           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dp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[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i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-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1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][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j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],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</a:t>
            </a: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// delete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            </a:t>
            </a:r>
            <a:r>
              <a:rPr lang="en-US" b="0" i="0" dirty="0" err="1">
                <a:solidFill>
                  <a:srgbClr val="B76B01"/>
                </a:solidFill>
                <a:effectLst/>
                <a:latin typeface="Menlo"/>
              </a:rPr>
              <a:t>Math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min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               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dp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[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i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][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j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-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1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],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</a:t>
            </a: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// insert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               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dp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[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i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-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1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][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j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-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1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]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</a:t>
            </a: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// replace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           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       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   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return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dp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[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m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][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n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];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Time Complexity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: O(m × n) | </a:t>
            </a: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Space Complexity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: O(m × n)</a:t>
            </a:r>
          </a:p>
        </p:txBody>
      </p:sp>
    </p:spTree>
    <p:extLst>
      <p:ext uri="{BB962C8B-B14F-4D97-AF65-F5344CB8AC3E}">
        <p14:creationId xmlns:p14="http://schemas.microsoft.com/office/powerpoint/2010/main" val="12500789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5263D5-F352-EAA7-74F0-A6DE67CBD0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BA9C337-EDDD-4BF1-39B1-E2235B871B8E}"/>
              </a:ext>
            </a:extLst>
          </p:cNvPr>
          <p:cNvSpPr txBox="1"/>
          <p:nvPr/>
        </p:nvSpPr>
        <p:spPr>
          <a:xfrm>
            <a:off x="2477069" y="-8572156"/>
            <a:ext cx="4954136" cy="240091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spcBef>
                <a:spcPts val="2400"/>
              </a:spcBef>
              <a:spcAft>
                <a:spcPts val="1200"/>
              </a:spcAft>
              <a:buNone/>
            </a:pPr>
            <a:r>
              <a:rPr lang="en-US" b="1" dirty="0">
                <a:solidFill>
                  <a:srgbClr val="0F1115"/>
                </a:solidFill>
                <a:effectLst/>
                <a:latin typeface="quote-cjk-patch"/>
              </a:rPr>
              <a:t>Advanced Graphs</a:t>
            </a:r>
          </a:p>
          <a:p>
            <a:pPr algn="l">
              <a:lnSpc>
                <a:spcPts val="2250"/>
              </a:lnSpc>
              <a:spcBef>
                <a:spcPts val="2400"/>
              </a:spcBef>
              <a:spcAft>
                <a:spcPts val="1200"/>
              </a:spcAft>
              <a:buNone/>
            </a:pPr>
            <a:r>
              <a:rPr lang="en-US" b="1" dirty="0">
                <a:solidFill>
                  <a:srgbClr val="0F1115"/>
                </a:solidFill>
                <a:effectLst/>
                <a:latin typeface="quote-cjk-patch"/>
              </a:rPr>
              <a:t>36. Course Schedule (Cycle Detection)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Problem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: Determine if all courses can be finished given prerequisites.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Solution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:</a:t>
            </a: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java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class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Solution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public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A626A4"/>
                </a:solidFill>
                <a:effectLst/>
                <a:latin typeface="Menlo"/>
              </a:rPr>
              <a:t>boolean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canFinish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int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numCourses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int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[][]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prerequisites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List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&lt;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List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&lt;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Integer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&gt;&gt;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graph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new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B76B01"/>
                </a:solidFill>
                <a:effectLst/>
                <a:latin typeface="Menlo"/>
              </a:rPr>
              <a:t>ArrayList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&lt;&gt;();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for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int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i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0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i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&lt;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numCourses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i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++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graph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add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new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B76B01"/>
                </a:solidFill>
                <a:effectLst/>
                <a:latin typeface="Menlo"/>
              </a:rPr>
              <a:t>ArrayList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&lt;&gt;());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// Build graph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for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int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[]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prereq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: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prerequisites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graph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get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prereq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[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1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]).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add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prereq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[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0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]);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int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[]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visited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new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int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[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numCourses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];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// 0: unvisited, 1: visiting, 2: visited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for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int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i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0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i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&lt;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numCourses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i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++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if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hasCycle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graph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visited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i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return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false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return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true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private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A626A4"/>
                </a:solidFill>
                <a:effectLst/>
                <a:latin typeface="Menlo"/>
              </a:rPr>
              <a:t>boolean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hasCycle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List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&lt;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List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&lt;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Integer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&gt;&gt;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graph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int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[]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visited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int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course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if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visited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[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course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]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1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return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true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// Cycle detected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if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visited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[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course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]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2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return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false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// Already processed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visited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[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course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]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1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// Mark as visiting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for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int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neighbor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: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graph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get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course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if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hasCycle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graph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visited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neighbor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return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true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visited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[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course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]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2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// Mark as visited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return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false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Time Complexity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: O(V + E) | </a:t>
            </a: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Space Complexity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: O(V)</a:t>
            </a:r>
          </a:p>
        </p:txBody>
      </p:sp>
    </p:spTree>
    <p:extLst>
      <p:ext uri="{BB962C8B-B14F-4D97-AF65-F5344CB8AC3E}">
        <p14:creationId xmlns:p14="http://schemas.microsoft.com/office/powerpoint/2010/main" val="76306400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CB1E5E-CDE1-A6B0-BC87-662752729A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8C23509C-8BAC-60EE-1BC4-7ABFDA706523}"/>
              </a:ext>
            </a:extLst>
          </p:cNvPr>
          <p:cNvSpPr txBox="1"/>
          <p:nvPr/>
        </p:nvSpPr>
        <p:spPr>
          <a:xfrm>
            <a:off x="2477069" y="-9841734"/>
            <a:ext cx="4954136" cy="265482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250"/>
              </a:lnSpc>
              <a:spcBef>
                <a:spcPts val="2400"/>
              </a:spcBef>
              <a:spcAft>
                <a:spcPts val="1200"/>
              </a:spcAft>
              <a:buNone/>
            </a:pPr>
            <a:r>
              <a:rPr lang="en-US" b="1" dirty="0">
                <a:solidFill>
                  <a:srgbClr val="0F1115"/>
                </a:solidFill>
                <a:effectLst/>
                <a:latin typeface="quote-cjk-patch"/>
              </a:rPr>
              <a:t>37. Pacific Atlantic Water Flow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Problem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: Find cells from which water can flow to both oceans.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Solution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:</a:t>
            </a: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java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class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Solution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public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List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&lt;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List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&lt;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Integer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&gt;&gt;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pacificAtlantic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int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[][]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heights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int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rows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heights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length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cols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heights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[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0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].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length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 err="1">
                <a:solidFill>
                  <a:srgbClr val="A626A4"/>
                </a:solidFill>
                <a:effectLst/>
                <a:latin typeface="Menlo"/>
              </a:rPr>
              <a:t>boolean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[][]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pacific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new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A626A4"/>
                </a:solidFill>
                <a:effectLst/>
                <a:latin typeface="Menlo"/>
              </a:rPr>
              <a:t>boolean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[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rows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][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cols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];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 err="1">
                <a:solidFill>
                  <a:srgbClr val="A626A4"/>
                </a:solidFill>
                <a:effectLst/>
                <a:latin typeface="Menlo"/>
              </a:rPr>
              <a:t>boolean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[][]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atlantic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new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A626A4"/>
                </a:solidFill>
                <a:effectLst/>
                <a:latin typeface="Menlo"/>
              </a:rPr>
              <a:t>boolean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[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rows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][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cols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];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// DFS from edges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for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int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i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0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i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&lt;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rows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i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++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dfs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heights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i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0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pacific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B76B01"/>
                </a:solidFill>
                <a:effectLst/>
                <a:latin typeface="Menlo"/>
              </a:rPr>
              <a:t>Integer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B76B01"/>
                </a:solidFill>
                <a:effectLst/>
                <a:latin typeface="Menlo"/>
              </a:rPr>
              <a:t>MIN_VALUE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dfs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heights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i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cols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-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1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atlantic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B76B01"/>
                </a:solidFill>
                <a:effectLst/>
                <a:latin typeface="Menlo"/>
              </a:rPr>
              <a:t>Integer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B76B01"/>
                </a:solidFill>
                <a:effectLst/>
                <a:latin typeface="Menlo"/>
              </a:rPr>
              <a:t>MIN_VALUE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for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int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j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0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j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&lt;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cols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j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++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dfs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heights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0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j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pacific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B76B01"/>
                </a:solidFill>
                <a:effectLst/>
                <a:latin typeface="Menlo"/>
              </a:rPr>
              <a:t>Integer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B76B01"/>
                </a:solidFill>
                <a:effectLst/>
                <a:latin typeface="Menlo"/>
              </a:rPr>
              <a:t>MIN_VALUE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dfs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heights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rows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-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1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j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atlantic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B76B01"/>
                </a:solidFill>
                <a:effectLst/>
                <a:latin typeface="Menlo"/>
              </a:rPr>
              <a:t>Integer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B76B01"/>
                </a:solidFill>
                <a:effectLst/>
                <a:latin typeface="Menlo"/>
              </a:rPr>
              <a:t>MIN_VALUE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// Find cells reachable by both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List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&lt;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List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&lt;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Integer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&gt;&gt;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result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new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B76B01"/>
                </a:solidFill>
                <a:effectLst/>
                <a:latin typeface="Menlo"/>
              </a:rPr>
              <a:t>ArrayList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&lt;&gt;();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for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int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i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0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i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&lt;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rows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i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++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for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int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j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0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j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&lt;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cols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j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++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if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pacific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[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i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][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j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]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&amp;&amp;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atlantic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[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i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][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j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])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       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result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add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 err="1">
                <a:solidFill>
                  <a:srgbClr val="B76B01"/>
                </a:solidFill>
                <a:effectLst/>
                <a:latin typeface="Menlo"/>
              </a:rPr>
              <a:t>Arrays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asList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i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j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));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   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return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result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private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void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dfs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int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[][]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heights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int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i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int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j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A626A4"/>
                </a:solidFill>
                <a:effectLst/>
                <a:latin typeface="Menlo"/>
              </a:rPr>
              <a:t>boolean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[][]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visited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int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prevHeight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if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i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&lt;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0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||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i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&gt;=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heights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length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||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j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&lt;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0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||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j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&gt;=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heights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[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0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].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length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||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visited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[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i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][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j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]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||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heights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[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i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][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j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]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&lt;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prevHeight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return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visited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[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i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][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j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]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true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dfs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heights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i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+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1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j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visited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heights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[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i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][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j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]);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dfs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heights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i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-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1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j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visited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heights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[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i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][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j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]);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dfs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heights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i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j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+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1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visited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heights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[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i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][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j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]);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dfs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heights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i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j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-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1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visited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heights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[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i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][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j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]);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Time Complexity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: O(rows × cols) | </a:t>
            </a: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Space Complexity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: O(rows × cols)</a:t>
            </a:r>
          </a:p>
        </p:txBody>
      </p:sp>
    </p:spTree>
    <p:extLst>
      <p:ext uri="{BB962C8B-B14F-4D97-AF65-F5344CB8AC3E}">
        <p14:creationId xmlns:p14="http://schemas.microsoft.com/office/powerpoint/2010/main" val="2165103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BC157C-7E71-00DD-B11C-77BDBC4BF8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EFD1B6D-A7A3-1E66-EABC-ECBE231AE0B7}"/>
              </a:ext>
            </a:extLst>
          </p:cNvPr>
          <p:cNvSpPr txBox="1"/>
          <p:nvPr/>
        </p:nvSpPr>
        <p:spPr>
          <a:xfrm>
            <a:off x="2477069" y="-5539275"/>
            <a:ext cx="4954136" cy="179433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spcBef>
                <a:spcPts val="2400"/>
              </a:spcBef>
              <a:spcAft>
                <a:spcPts val="1200"/>
              </a:spcAft>
              <a:buNone/>
            </a:pPr>
            <a:r>
              <a:rPr lang="en-US" b="1" dirty="0">
                <a:solidFill>
                  <a:srgbClr val="0F1115"/>
                </a:solidFill>
                <a:effectLst/>
                <a:latin typeface="quote-cjk-patch"/>
              </a:rPr>
              <a:t>Advanced Heap</a:t>
            </a:r>
          </a:p>
          <a:p>
            <a:pPr algn="l">
              <a:lnSpc>
                <a:spcPts val="2250"/>
              </a:lnSpc>
              <a:spcBef>
                <a:spcPts val="2400"/>
              </a:spcBef>
              <a:spcAft>
                <a:spcPts val="1200"/>
              </a:spcAft>
              <a:buNone/>
            </a:pPr>
            <a:r>
              <a:rPr lang="en-US" b="1" dirty="0">
                <a:solidFill>
                  <a:srgbClr val="0F1115"/>
                </a:solidFill>
                <a:effectLst/>
                <a:latin typeface="quote-cjk-patch"/>
              </a:rPr>
              <a:t>38. Find Median from Data Stream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Problem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: Design data structure to find median from stream.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Solution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:</a:t>
            </a: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java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class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B76B01"/>
                </a:solidFill>
                <a:effectLst/>
                <a:latin typeface="Menlo"/>
              </a:rPr>
              <a:t>MedianFinder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private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B76B01"/>
                </a:solidFill>
                <a:effectLst/>
                <a:latin typeface="Menlo"/>
              </a:rPr>
              <a:t>PriorityQueue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&lt;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Integer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&gt;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maxHeap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// Left half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private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B76B01"/>
                </a:solidFill>
                <a:effectLst/>
                <a:latin typeface="Menlo"/>
              </a:rPr>
              <a:t>PriorityQueue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&lt;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Integer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&gt;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minHeap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// Right half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public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B76B01"/>
                </a:solidFill>
                <a:effectLst/>
                <a:latin typeface="Menlo"/>
              </a:rPr>
              <a:t>MedianFinder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maxHeap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new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B76B01"/>
                </a:solidFill>
                <a:effectLst/>
                <a:latin typeface="Menlo"/>
              </a:rPr>
              <a:t>PriorityQueue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&lt;&gt;(</a:t>
            </a:r>
            <a:r>
              <a:rPr lang="en-US" b="0" i="0" dirty="0" err="1">
                <a:solidFill>
                  <a:srgbClr val="B76B01"/>
                </a:solidFill>
                <a:effectLst/>
                <a:latin typeface="Menlo"/>
              </a:rPr>
              <a:t>Collections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reverseOrder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());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minHeap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new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B76B01"/>
                </a:solidFill>
                <a:effectLst/>
                <a:latin typeface="Menlo"/>
              </a:rPr>
              <a:t>PriorityQueue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&lt;&gt;();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public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void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addNum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int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num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maxHeap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offer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num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minHeap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offer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maxHeap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poll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());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// Balance heaps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if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maxHeap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size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&lt;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minHeap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size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())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maxHeap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offer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minHeap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poll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());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public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double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findMedian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if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maxHeap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size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&gt;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minHeap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size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())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return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maxHeap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peek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();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else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return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maxHeap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peek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+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minHeap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peek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())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/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2.0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Time Complexity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: O(log n) for add, O(1) for find | </a:t>
            </a: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Space Complexity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: O(n)</a:t>
            </a:r>
          </a:p>
        </p:txBody>
      </p:sp>
    </p:spTree>
    <p:extLst>
      <p:ext uri="{BB962C8B-B14F-4D97-AF65-F5344CB8AC3E}">
        <p14:creationId xmlns:p14="http://schemas.microsoft.com/office/powerpoint/2010/main" val="262361355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F93A60-7F4A-4075-E419-85EE761A0B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3C90E5D-8DB9-5CD2-D2A5-04E60AE900C8}"/>
              </a:ext>
            </a:extLst>
          </p:cNvPr>
          <p:cNvSpPr txBox="1"/>
          <p:nvPr/>
        </p:nvSpPr>
        <p:spPr>
          <a:xfrm>
            <a:off x="2477069" y="-12332160"/>
            <a:ext cx="4954136" cy="31529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spcBef>
                <a:spcPts val="2400"/>
              </a:spcBef>
              <a:spcAft>
                <a:spcPts val="1200"/>
              </a:spcAft>
              <a:buNone/>
            </a:pPr>
            <a:r>
              <a:rPr lang="en-US" b="1" dirty="0">
                <a:solidFill>
                  <a:srgbClr val="0F1115"/>
                </a:solidFill>
                <a:effectLst/>
                <a:latin typeface="quote-cjk-patch"/>
              </a:rPr>
              <a:t>Advanced Backtracking</a:t>
            </a:r>
          </a:p>
          <a:p>
            <a:pPr algn="l">
              <a:lnSpc>
                <a:spcPts val="2250"/>
              </a:lnSpc>
              <a:spcBef>
                <a:spcPts val="2400"/>
              </a:spcBef>
              <a:spcAft>
                <a:spcPts val="1200"/>
              </a:spcAft>
              <a:buNone/>
            </a:pPr>
            <a:r>
              <a:rPr lang="en-US" b="1" dirty="0">
                <a:solidFill>
                  <a:srgbClr val="0F1115"/>
                </a:solidFill>
                <a:effectLst/>
                <a:latin typeface="quote-cjk-patch"/>
              </a:rPr>
              <a:t>39. N-Queens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Problem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: Place N queens on N×N board without attacking each other.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Solution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:</a:t>
            </a: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java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class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Solution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public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List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&lt;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List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&lt;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String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&gt;&gt;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solveNQueens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int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n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List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&lt;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List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&lt;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String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&gt;&gt;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result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new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B76B01"/>
                </a:solidFill>
                <a:effectLst/>
                <a:latin typeface="Menlo"/>
              </a:rPr>
              <a:t>ArrayList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&lt;&gt;();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char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[][]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board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new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char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[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n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][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n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];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for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int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i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0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i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&lt;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n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i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++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  <a:r>
              <a:rPr lang="en-US" b="0" i="0" dirty="0" err="1">
                <a:solidFill>
                  <a:srgbClr val="B76B01"/>
                </a:solidFill>
                <a:effectLst/>
                <a:latin typeface="Menlo"/>
              </a:rPr>
              <a:t>Arrays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fill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board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[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i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],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50A14F"/>
                </a:solidFill>
                <a:effectLst/>
                <a:latin typeface="Menlo"/>
              </a:rPr>
              <a:t>'.'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backtrack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result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board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0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n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return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result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private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void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backtrack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List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&lt;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List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&lt;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String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&gt;&gt;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result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char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[][]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board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int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row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int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n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if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row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n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result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add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constructBoard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board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));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return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for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int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col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0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col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&lt;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n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col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++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if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isValid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board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row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col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n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    board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[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row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][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col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]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50A14F"/>
                </a:solidFill>
                <a:effectLst/>
                <a:latin typeface="Menlo"/>
              </a:rPr>
              <a:t>'Q'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   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backtrack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result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board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row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+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1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n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    board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[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row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][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col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]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50A14F"/>
                </a:solidFill>
                <a:effectLst/>
                <a:latin typeface="Menlo"/>
              </a:rPr>
              <a:t>'.'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private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A626A4"/>
                </a:solidFill>
                <a:effectLst/>
                <a:latin typeface="Menlo"/>
              </a:rPr>
              <a:t>boolean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isValid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char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[][]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board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int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row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int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col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int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n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// Check column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for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int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i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0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i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&lt;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row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i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++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if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board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[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i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][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col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]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50A14F"/>
                </a:solidFill>
                <a:effectLst/>
                <a:latin typeface="Menlo"/>
              </a:rPr>
              <a:t>'Q'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return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false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// Check diagonal (top-left to bottom-right)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for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int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i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row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-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1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j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col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-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1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i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&gt;=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0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&amp;&amp;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j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&gt;=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0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i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--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j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--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if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board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[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i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][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j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]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50A14F"/>
                </a:solidFill>
                <a:effectLst/>
                <a:latin typeface="Menlo"/>
              </a:rPr>
              <a:t>'Q'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return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false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// Check diagonal (top-right to bottom-left)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for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int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i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row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-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1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j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col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+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1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i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&gt;=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0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&amp;&amp;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j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&lt;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n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i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--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j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++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if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board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[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i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][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j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]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50A14F"/>
                </a:solidFill>
                <a:effectLst/>
                <a:latin typeface="Menlo"/>
              </a:rPr>
              <a:t>'Q'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return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false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return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true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private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List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&lt;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String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&gt;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constructBoard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char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[][]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board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List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&lt;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String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&gt;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result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new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B76B01"/>
                </a:solidFill>
                <a:effectLst/>
                <a:latin typeface="Menlo"/>
              </a:rPr>
              <a:t>ArrayList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&lt;&gt;();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for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char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[]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row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: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board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result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add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new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String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row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));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return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result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Time Complexity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: O(n!) | </a:t>
            </a: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Space Complexity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: O(n²)</a:t>
            </a:r>
          </a:p>
        </p:txBody>
      </p:sp>
    </p:spTree>
    <p:extLst>
      <p:ext uri="{BB962C8B-B14F-4D97-AF65-F5344CB8AC3E}">
        <p14:creationId xmlns:p14="http://schemas.microsoft.com/office/powerpoint/2010/main" val="100818833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D2FCAA-5208-4115-0033-78F3F505C6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20493BF-AA9B-02B2-F8E9-7202696881D2}"/>
              </a:ext>
            </a:extLst>
          </p:cNvPr>
          <p:cNvSpPr txBox="1"/>
          <p:nvPr/>
        </p:nvSpPr>
        <p:spPr>
          <a:xfrm>
            <a:off x="2477069" y="-15779257"/>
            <a:ext cx="4954136" cy="384233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spcBef>
                <a:spcPts val="2400"/>
              </a:spcBef>
              <a:spcAft>
                <a:spcPts val="1200"/>
              </a:spcAft>
              <a:buNone/>
            </a:pPr>
            <a:r>
              <a:rPr lang="en-US" b="1" dirty="0">
                <a:solidFill>
                  <a:srgbClr val="0F1115"/>
                </a:solidFill>
                <a:effectLst/>
                <a:latin typeface="quote-cjk-patch"/>
              </a:rPr>
              <a:t>Advanced String Problems</a:t>
            </a:r>
          </a:p>
          <a:p>
            <a:pPr algn="l">
              <a:lnSpc>
                <a:spcPts val="2250"/>
              </a:lnSpc>
              <a:spcBef>
                <a:spcPts val="2400"/>
              </a:spcBef>
              <a:spcAft>
                <a:spcPts val="1200"/>
              </a:spcAft>
              <a:buNone/>
            </a:pPr>
            <a:r>
              <a:rPr lang="en-US" b="1" dirty="0">
                <a:solidFill>
                  <a:srgbClr val="0F1115"/>
                </a:solidFill>
                <a:effectLst/>
                <a:latin typeface="quote-cjk-patch"/>
              </a:rPr>
              <a:t>40. Palindrome Pairs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Problem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: Find all pairs of words that form palindrome when concatenated.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Solution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:</a:t>
            </a: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java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class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Solution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public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List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&lt;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List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&lt;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Integer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&gt;&gt;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palindromePairs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String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[]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words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List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&lt;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List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&lt;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Integer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&gt;&gt;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result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new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B76B01"/>
                </a:solidFill>
                <a:effectLst/>
                <a:latin typeface="Menlo"/>
              </a:rPr>
              <a:t>ArrayList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&lt;&gt;();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Map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&lt;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String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Integer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&gt;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wordMap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new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HashMap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&lt;&gt;();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for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int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i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0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i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&lt;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words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length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i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++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wordMap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put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words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[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i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],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i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for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int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i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0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i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&lt;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words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length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i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++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String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word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words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[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i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];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// Case 1: Empty string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if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word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isEmpty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())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for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int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j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0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j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&lt;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words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length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j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++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if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i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!=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j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&amp;&amp;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isPalindrome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words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[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j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]))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           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result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add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 err="1">
                <a:solidFill>
                  <a:srgbClr val="B76B01"/>
                </a:solidFill>
                <a:effectLst/>
                <a:latin typeface="Menlo"/>
              </a:rPr>
              <a:t>Arrays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asList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i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j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));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           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result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add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 err="1">
                <a:solidFill>
                  <a:srgbClr val="B76B01"/>
                </a:solidFill>
                <a:effectLst/>
                <a:latin typeface="Menlo"/>
              </a:rPr>
              <a:t>Arrays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asList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j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i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));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       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   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continue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// Case 2: Reverse of word exists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String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reversed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new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StringBuilder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word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).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reverse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().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toString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();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if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wordMap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containsKey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reversed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&amp;&amp;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wordMap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get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reversed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!=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i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   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result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add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 err="1">
                <a:solidFill>
                  <a:srgbClr val="B76B01"/>
                </a:solidFill>
                <a:effectLst/>
                <a:latin typeface="Menlo"/>
              </a:rPr>
              <a:t>Arrays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asList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i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wordMap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get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reversed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)));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// Case 3: Word can be split into two parts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for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int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k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1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k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&lt;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word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length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();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k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++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   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String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left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word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substring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0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k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   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String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right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word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substring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k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   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    </a:t>
            </a: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// If left is palindrome, check if reverse of right exists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if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isPalindrome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left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       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String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reverseRight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new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StringBuilder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right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).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reverse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().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toString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();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if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wordMap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containsKey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reverseRight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&amp;&amp;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wordMap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get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reverseRight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!=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i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           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result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add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 err="1">
                <a:solidFill>
                  <a:srgbClr val="B76B01"/>
                </a:solidFill>
                <a:effectLst/>
                <a:latin typeface="Menlo"/>
              </a:rPr>
              <a:t>Arrays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asList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wordMap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get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reverseRight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i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));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       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   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   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    </a:t>
            </a: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// If right is palindrome, check if reverse of left exists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if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isPalindrome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right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       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String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reverseLeft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new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StringBuilder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left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).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reverse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().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toString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();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if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wordMap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containsKey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reverseLeft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&amp;&amp;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wordMap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get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reverseLeft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!=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i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           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result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add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 err="1">
                <a:solidFill>
                  <a:srgbClr val="B76B01"/>
                </a:solidFill>
                <a:effectLst/>
                <a:latin typeface="Menlo"/>
              </a:rPr>
              <a:t>Arrays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asList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i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wordMap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get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reverseLeft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)));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       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   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return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result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private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A626A4"/>
                </a:solidFill>
                <a:effectLst/>
                <a:latin typeface="Menlo"/>
              </a:rPr>
              <a:t>boolean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isPalindrome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String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s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int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left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0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right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s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length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-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1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while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left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&lt;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right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if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s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charAt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left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++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!=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s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charAt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right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--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return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false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return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true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Time Complexity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: O(n × k²) where k is average word length | </a:t>
            </a: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Space Complexity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: O(n)</a:t>
            </a:r>
          </a:p>
        </p:txBody>
      </p:sp>
    </p:spTree>
    <p:extLst>
      <p:ext uri="{BB962C8B-B14F-4D97-AF65-F5344CB8AC3E}">
        <p14:creationId xmlns:p14="http://schemas.microsoft.com/office/powerpoint/2010/main" val="233578140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3C0856-9563-310D-DEF0-85E9C971EA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0E1DE2B-7B59-656F-A047-D31A3FED35D3}"/>
              </a:ext>
            </a:extLst>
          </p:cNvPr>
          <p:cNvSpPr txBox="1"/>
          <p:nvPr/>
        </p:nvSpPr>
        <p:spPr>
          <a:xfrm>
            <a:off x="2477069" y="-8978678"/>
            <a:ext cx="4954136" cy="248221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spcBef>
                <a:spcPts val="2400"/>
              </a:spcBef>
              <a:spcAft>
                <a:spcPts val="1200"/>
              </a:spcAft>
              <a:buNone/>
            </a:pPr>
            <a:r>
              <a:rPr lang="en-US" b="1" dirty="0">
                <a:solidFill>
                  <a:srgbClr val="0F1115"/>
                </a:solidFill>
                <a:effectLst/>
                <a:latin typeface="quote-cjk-patch"/>
              </a:rPr>
              <a:t>Advanced Math Problems</a:t>
            </a:r>
          </a:p>
          <a:p>
            <a:pPr algn="l">
              <a:lnSpc>
                <a:spcPts val="2250"/>
              </a:lnSpc>
              <a:spcBef>
                <a:spcPts val="2400"/>
              </a:spcBef>
              <a:spcAft>
                <a:spcPts val="1200"/>
              </a:spcAft>
              <a:buNone/>
            </a:pPr>
            <a:r>
              <a:rPr lang="en-US" b="1" dirty="0">
                <a:solidFill>
                  <a:srgbClr val="0F1115"/>
                </a:solidFill>
                <a:effectLst/>
                <a:latin typeface="quote-cjk-patch"/>
              </a:rPr>
              <a:t>41. Integer to English Words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Problem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: Convert integer to English words.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Solution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:</a:t>
            </a: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java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class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Solution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private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final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String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[]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LESS_THAN_20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r>
              <a:rPr lang="en-US" b="0" i="0" dirty="0">
                <a:solidFill>
                  <a:srgbClr val="50A14F"/>
                </a:solidFill>
                <a:effectLst/>
                <a:latin typeface="Menlo"/>
              </a:rPr>
              <a:t>""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50A14F"/>
                </a:solidFill>
                <a:effectLst/>
                <a:latin typeface="Menlo"/>
              </a:rPr>
              <a:t>"One"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50A14F"/>
                </a:solidFill>
                <a:effectLst/>
                <a:latin typeface="Menlo"/>
              </a:rPr>
              <a:t>"Two"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50A14F"/>
                </a:solidFill>
                <a:effectLst/>
                <a:latin typeface="Menlo"/>
              </a:rPr>
              <a:t>"Three"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50A14F"/>
                </a:solidFill>
                <a:effectLst/>
                <a:latin typeface="Menlo"/>
              </a:rPr>
              <a:t>"Four"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50A14F"/>
                </a:solidFill>
                <a:effectLst/>
                <a:latin typeface="Menlo"/>
              </a:rPr>
              <a:t>"Five"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                               </a:t>
            </a:r>
            <a:r>
              <a:rPr lang="en-US" b="0" i="0" dirty="0">
                <a:solidFill>
                  <a:srgbClr val="50A14F"/>
                </a:solidFill>
                <a:effectLst/>
                <a:latin typeface="Menlo"/>
              </a:rPr>
              <a:t>"Six"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50A14F"/>
                </a:solidFill>
                <a:effectLst/>
                <a:latin typeface="Menlo"/>
              </a:rPr>
              <a:t>"Seven"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50A14F"/>
                </a:solidFill>
                <a:effectLst/>
                <a:latin typeface="Menlo"/>
              </a:rPr>
              <a:t>"Eight"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50A14F"/>
                </a:solidFill>
                <a:effectLst/>
                <a:latin typeface="Menlo"/>
              </a:rPr>
              <a:t>"Nine"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50A14F"/>
                </a:solidFill>
                <a:effectLst/>
                <a:latin typeface="Menlo"/>
              </a:rPr>
              <a:t>"Ten"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                               </a:t>
            </a:r>
            <a:r>
              <a:rPr lang="en-US" b="0" i="0" dirty="0">
                <a:solidFill>
                  <a:srgbClr val="50A14F"/>
                </a:solidFill>
                <a:effectLst/>
                <a:latin typeface="Menlo"/>
              </a:rPr>
              <a:t>"Eleven"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50A14F"/>
                </a:solidFill>
                <a:effectLst/>
                <a:latin typeface="Menlo"/>
              </a:rPr>
              <a:t>"Twelve"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50A14F"/>
                </a:solidFill>
                <a:effectLst/>
                <a:latin typeface="Menlo"/>
              </a:rPr>
              <a:t>"Thirteen"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50A14F"/>
                </a:solidFill>
                <a:effectLst/>
                <a:latin typeface="Menlo"/>
              </a:rPr>
              <a:t>"Fourteen"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                               </a:t>
            </a:r>
            <a:r>
              <a:rPr lang="en-US" b="0" i="0" dirty="0">
                <a:solidFill>
                  <a:srgbClr val="50A14F"/>
                </a:solidFill>
                <a:effectLst/>
                <a:latin typeface="Menlo"/>
              </a:rPr>
              <a:t>"Fifteen"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50A14F"/>
                </a:solidFill>
                <a:effectLst/>
                <a:latin typeface="Menlo"/>
              </a:rPr>
              <a:t>"Sixteen"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50A14F"/>
                </a:solidFill>
                <a:effectLst/>
                <a:latin typeface="Menlo"/>
              </a:rPr>
              <a:t>"Seventeen"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50A14F"/>
                </a:solidFill>
                <a:effectLst/>
                <a:latin typeface="Menlo"/>
              </a:rPr>
              <a:t>"Eighteen"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                               </a:t>
            </a:r>
            <a:r>
              <a:rPr lang="en-US" b="0" i="0" dirty="0">
                <a:solidFill>
                  <a:srgbClr val="50A14F"/>
                </a:solidFill>
                <a:effectLst/>
                <a:latin typeface="Menlo"/>
              </a:rPr>
              <a:t>"Nineteen"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private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final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String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[]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TENS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r>
              <a:rPr lang="en-US" b="0" i="0" dirty="0">
                <a:solidFill>
                  <a:srgbClr val="50A14F"/>
                </a:solidFill>
                <a:effectLst/>
                <a:latin typeface="Menlo"/>
              </a:rPr>
              <a:t>""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50A14F"/>
                </a:solidFill>
                <a:effectLst/>
                <a:latin typeface="Menlo"/>
              </a:rPr>
              <a:t>""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50A14F"/>
                </a:solidFill>
                <a:effectLst/>
                <a:latin typeface="Menlo"/>
              </a:rPr>
              <a:t>"Twenty"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50A14F"/>
                </a:solidFill>
                <a:effectLst/>
                <a:latin typeface="Menlo"/>
              </a:rPr>
              <a:t>"Thirty"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50A14F"/>
                </a:solidFill>
                <a:effectLst/>
                <a:latin typeface="Menlo"/>
              </a:rPr>
              <a:t>"Forty"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50A14F"/>
                </a:solidFill>
                <a:effectLst/>
                <a:latin typeface="Menlo"/>
              </a:rPr>
              <a:t>"Fifty"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                       </a:t>
            </a:r>
            <a:r>
              <a:rPr lang="en-US" b="0" i="0" dirty="0">
                <a:solidFill>
                  <a:srgbClr val="50A14F"/>
                </a:solidFill>
                <a:effectLst/>
                <a:latin typeface="Menlo"/>
              </a:rPr>
              <a:t>"Sixty"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50A14F"/>
                </a:solidFill>
                <a:effectLst/>
                <a:latin typeface="Menlo"/>
              </a:rPr>
              <a:t>"Seventy"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50A14F"/>
                </a:solidFill>
                <a:effectLst/>
                <a:latin typeface="Menlo"/>
              </a:rPr>
              <a:t>"Eighty"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50A14F"/>
                </a:solidFill>
                <a:effectLst/>
                <a:latin typeface="Menlo"/>
              </a:rPr>
              <a:t>"Ninety"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private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final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String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[]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THOUSANDS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r>
              <a:rPr lang="en-US" b="0" i="0" dirty="0">
                <a:solidFill>
                  <a:srgbClr val="50A14F"/>
                </a:solidFill>
                <a:effectLst/>
                <a:latin typeface="Menlo"/>
              </a:rPr>
              <a:t>""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50A14F"/>
                </a:solidFill>
                <a:effectLst/>
                <a:latin typeface="Menlo"/>
              </a:rPr>
              <a:t>"Thousand"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50A14F"/>
                </a:solidFill>
                <a:effectLst/>
                <a:latin typeface="Menlo"/>
              </a:rPr>
              <a:t>"Million"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50A14F"/>
                </a:solidFill>
                <a:effectLst/>
                <a:latin typeface="Menlo"/>
              </a:rPr>
              <a:t>"Billion"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public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String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numberToWords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int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num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if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num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0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return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50A14F"/>
                </a:solidFill>
                <a:effectLst/>
                <a:latin typeface="Menlo"/>
              </a:rPr>
              <a:t>"Zero"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String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words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50A14F"/>
                </a:solidFill>
                <a:effectLst/>
                <a:latin typeface="Menlo"/>
              </a:rPr>
              <a:t>""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int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i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0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while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num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&gt;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0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if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num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%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1000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!=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0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    words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helper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num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%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1000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+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THOUSANDS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[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i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]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+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50A14F"/>
                </a:solidFill>
                <a:effectLst/>
                <a:latin typeface="Menlo"/>
              </a:rPr>
              <a:t>" "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+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words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num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/=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1000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i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++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return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words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trim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();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private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String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helper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int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num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if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num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0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return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50A14F"/>
                </a:solidFill>
                <a:effectLst/>
                <a:latin typeface="Menlo"/>
              </a:rPr>
              <a:t>""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else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if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num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&lt;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20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return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LESS_THAN_20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[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num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]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+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50A14F"/>
                </a:solidFill>
                <a:effectLst/>
                <a:latin typeface="Menlo"/>
              </a:rPr>
              <a:t>" "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else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if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num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&lt;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100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return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TENS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[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num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/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10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]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+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50A14F"/>
                </a:solidFill>
                <a:effectLst/>
                <a:latin typeface="Menlo"/>
              </a:rPr>
              <a:t>" "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+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helper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num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%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10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else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return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LESS_THAN_20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[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num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/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100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]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+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50A14F"/>
                </a:solidFill>
                <a:effectLst/>
                <a:latin typeface="Menlo"/>
              </a:rPr>
              <a:t>" Hundred "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+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helper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num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%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100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Time Complexity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: O(log n) | </a:t>
            </a: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Space Complexity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: O(log n)</a:t>
            </a:r>
          </a:p>
        </p:txBody>
      </p:sp>
    </p:spTree>
    <p:extLst>
      <p:ext uri="{BB962C8B-B14F-4D97-AF65-F5344CB8AC3E}">
        <p14:creationId xmlns:p14="http://schemas.microsoft.com/office/powerpoint/2010/main" val="272648387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33E893-EB80-1190-5E28-1A084D7EEC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17C2A1A-09C5-5557-4481-D72E7A08111D}"/>
              </a:ext>
            </a:extLst>
          </p:cNvPr>
          <p:cNvSpPr txBox="1"/>
          <p:nvPr/>
        </p:nvSpPr>
        <p:spPr>
          <a:xfrm>
            <a:off x="2477069" y="-23931489"/>
            <a:ext cx="4954136" cy="547278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400"/>
              </a:lnSpc>
              <a:spcBef>
                <a:spcPts val="2400"/>
              </a:spcBef>
              <a:spcAft>
                <a:spcPts val="1200"/>
              </a:spcAft>
              <a:buNone/>
            </a:pPr>
            <a:r>
              <a:rPr lang="en-US" b="1" dirty="0">
                <a:solidFill>
                  <a:srgbClr val="0F1115"/>
                </a:solidFill>
                <a:effectLst/>
                <a:latin typeface="quote-cjk-patch"/>
              </a:rPr>
              <a:t>Design Problems</a:t>
            </a:r>
          </a:p>
          <a:p>
            <a:pPr algn="l">
              <a:lnSpc>
                <a:spcPts val="2250"/>
              </a:lnSpc>
              <a:spcBef>
                <a:spcPts val="2400"/>
              </a:spcBef>
              <a:spcAft>
                <a:spcPts val="1200"/>
              </a:spcAft>
              <a:buNone/>
            </a:pPr>
            <a:r>
              <a:rPr lang="en-US" b="1" dirty="0">
                <a:solidFill>
                  <a:srgbClr val="0F1115"/>
                </a:solidFill>
                <a:effectLst/>
                <a:latin typeface="quote-cjk-patch"/>
              </a:rPr>
              <a:t>42. Design Twitter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Problem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: Design a simplified Twitter with post tweets, follow/unfollow, and news feed.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Solution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:</a:t>
            </a:r>
          </a:p>
          <a:p>
            <a:pPr algn="l">
              <a:lnSpc>
                <a:spcPts val="13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java</a:t>
            </a:r>
            <a:endParaRPr lang="en-US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class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Twitter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private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static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int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timestamp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0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private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class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Tweet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int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id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int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time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Tweet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next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Tweet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int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id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this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id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id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  <a:r>
              <a:rPr lang="en-US" b="0" i="0" dirty="0" err="1">
                <a:solidFill>
                  <a:srgbClr val="A626A4"/>
                </a:solidFill>
                <a:effectLst/>
                <a:latin typeface="Menlo"/>
              </a:rPr>
              <a:t>this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time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timestamp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++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  <a:r>
              <a:rPr lang="en-US" b="0" i="0" dirty="0" err="1">
                <a:solidFill>
                  <a:srgbClr val="A626A4"/>
                </a:solidFill>
                <a:effectLst/>
                <a:latin typeface="Menlo"/>
              </a:rPr>
              <a:t>this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next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null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private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class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User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int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id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Set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&lt;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Integer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&gt;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followed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Tweet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tweetHead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User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int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id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this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id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id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  <a:r>
              <a:rPr lang="en-US" b="0" i="0" dirty="0" err="1">
                <a:solidFill>
                  <a:srgbClr val="A626A4"/>
                </a:solidFill>
                <a:effectLst/>
                <a:latin typeface="Menlo"/>
              </a:rPr>
              <a:t>this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followed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new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HashSet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&lt;&gt;();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follow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id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// Follow self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  <a:r>
              <a:rPr lang="en-US" b="0" i="0" dirty="0" err="1">
                <a:solidFill>
                  <a:srgbClr val="A626A4"/>
                </a:solidFill>
                <a:effectLst/>
                <a:latin typeface="Menlo"/>
              </a:rPr>
              <a:t>this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tweetHead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null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void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follow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int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userId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followed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add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userId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void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unfollow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int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userId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if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userId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!=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this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id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   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followed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remove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userId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void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post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int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tweetId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Tweet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tweet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new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Tweet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tweetId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tweet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next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tweetHead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tweetHead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tweet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private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Map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&lt;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Integer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User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&gt;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userMap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public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Twitter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userMap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new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HashMap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&lt;&gt;();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public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void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postTweet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int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userId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int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tweetId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userMap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putIfAbsent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userId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new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User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userId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));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userMap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get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userId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).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post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tweetId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public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List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&lt;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Integer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&gt;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getNewsFeed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int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userId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List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&lt;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Integer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&gt;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result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new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B76B01"/>
                </a:solidFill>
                <a:effectLst/>
                <a:latin typeface="Menlo"/>
              </a:rPr>
              <a:t>ArrayList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&lt;&gt;();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if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!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userMap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containsKey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userId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return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result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Set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&lt;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Integer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&gt;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users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userMap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get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userId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).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followed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 err="1">
                <a:solidFill>
                  <a:srgbClr val="B76B01"/>
                </a:solidFill>
                <a:effectLst/>
                <a:latin typeface="Menlo"/>
              </a:rPr>
              <a:t>PriorityQueue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&lt;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Tweet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&gt;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pq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new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B76B01"/>
                </a:solidFill>
                <a:effectLst/>
                <a:latin typeface="Menlo"/>
              </a:rPr>
              <a:t>PriorityQueue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&lt;&gt;((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a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b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-&gt;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b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time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-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a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time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// Add all tweets from followed users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for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int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user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: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users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Tweet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tweet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userMap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get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user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tweetHead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if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tweet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!=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null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   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pq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offer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tweet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1" dirty="0">
                <a:solidFill>
                  <a:srgbClr val="A0A1A7"/>
                </a:solidFill>
                <a:effectLst/>
                <a:latin typeface="Menlo"/>
              </a:rPr>
              <a:t>// Get top 10 tweets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int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count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0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while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!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pq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isEmpty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&amp;&amp;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count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&lt;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10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Tweet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tweet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pq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poll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();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result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add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tweet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id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if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tweet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next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!=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null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   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pq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offer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tweet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next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count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++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return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result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public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void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follow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int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followerId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int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followeeId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userMap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putIfAbsent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followerId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new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User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followerId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));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userMap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putIfAbsent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followeeId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new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B76B01"/>
                </a:solidFill>
                <a:effectLst/>
                <a:latin typeface="Menlo"/>
              </a:rPr>
              <a:t>User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followeeId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));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userMap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get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followerId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).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follow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followeeId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public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void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unfollow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int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followerId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,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int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followeeId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A626A4"/>
                </a:solidFill>
                <a:effectLst/>
                <a:latin typeface="Menlo"/>
              </a:rPr>
              <a:t>if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userMap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containsKey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followerId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&amp;&amp;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followerId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!=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followeeId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</a:t>
            </a: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{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   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userMap</a:t>
            </a:r>
            <a:r>
              <a:rPr lang="en-US" b="0" i="0" dirty="0" err="1">
                <a:solidFill>
                  <a:srgbClr val="383A42"/>
                </a:solidFill>
                <a:effectLst/>
                <a:latin typeface="Menlo"/>
              </a:rPr>
              <a:t>.</a:t>
            </a:r>
            <a:r>
              <a:rPr lang="en-US" b="0" i="0" dirty="0" err="1">
                <a:solidFill>
                  <a:srgbClr val="4078F2"/>
                </a:solidFill>
                <a:effectLst/>
                <a:latin typeface="Menlo"/>
              </a:rPr>
              <a:t>get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followerId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).</a:t>
            </a:r>
            <a:r>
              <a:rPr lang="en-US" b="0" i="0" dirty="0">
                <a:solidFill>
                  <a:srgbClr val="4078F2"/>
                </a:solidFill>
                <a:effectLst/>
                <a:latin typeface="Menlo"/>
              </a:rPr>
              <a:t>unfollow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(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Menlo"/>
              </a:rPr>
              <a:t>followeeId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);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   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0F1115"/>
                </a:solidFill>
                <a:effectLst/>
                <a:latin typeface="Menlo"/>
              </a:rPr>
              <a:t>    </a:t>
            </a: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 latinLnBrk="1">
              <a:lnSpc>
                <a:spcPts val="1650"/>
              </a:lnSpc>
              <a:spcBef>
                <a:spcPts val="1200"/>
              </a:spcBef>
              <a:spcAft>
                <a:spcPts val="857"/>
              </a:spcAft>
              <a:buNone/>
            </a:pPr>
            <a:r>
              <a:rPr lang="en-US" b="0" i="0" dirty="0">
                <a:solidFill>
                  <a:srgbClr val="383A42"/>
                </a:solidFill>
                <a:effectLst/>
                <a:latin typeface="Menlo"/>
              </a:rPr>
              <a:t>}</a:t>
            </a:r>
            <a:endParaRPr lang="en-US" b="0" i="0" dirty="0">
              <a:solidFill>
                <a:srgbClr val="0F1115"/>
              </a:solidFill>
              <a:effectLst/>
              <a:latin typeface="Menlo"/>
            </a:endParaRPr>
          </a:p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Time Complexity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:</a:t>
            </a:r>
          </a:p>
          <a:p>
            <a:pPr algn="l">
              <a:spcBef>
                <a:spcPts val="12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 err="1">
                <a:solidFill>
                  <a:srgbClr val="0F1115"/>
                </a:solidFill>
                <a:effectLst/>
                <a:latin typeface="quote-cjk-patch"/>
              </a:rPr>
              <a:t>postTweet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: O(1)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 err="1">
                <a:solidFill>
                  <a:srgbClr val="0F1115"/>
                </a:solidFill>
                <a:effectLst/>
                <a:latin typeface="quote-cjk-patch"/>
              </a:rPr>
              <a:t>getNewsFeed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: O(n log n) where n is number of followed users</a:t>
            </a:r>
          </a:p>
          <a:p>
            <a:pPr algn="l">
              <a:spcBef>
                <a:spcPts val="45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follow/unfollow: O(1)</a:t>
            </a:r>
            <a:b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</a:br>
            <a:r>
              <a:rPr lang="en-US" b="1" i="0" dirty="0">
                <a:solidFill>
                  <a:srgbClr val="0F1115"/>
                </a:solidFill>
                <a:effectLst/>
                <a:latin typeface="quote-cjk-patch"/>
              </a:rPr>
              <a:t>Space Complexity</a:t>
            </a:r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: O(total users + total tweets)</a:t>
            </a:r>
          </a:p>
        </p:txBody>
      </p:sp>
    </p:spTree>
    <p:extLst>
      <p:ext uri="{BB962C8B-B14F-4D97-AF65-F5344CB8AC3E}">
        <p14:creationId xmlns:p14="http://schemas.microsoft.com/office/powerpoint/2010/main" val="255161413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44B80D-341B-56C8-4F0C-D26AC95F9B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D1615043-BA1A-1134-C1F2-69255CAE107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94948663"/>
              </p:ext>
            </p:extLst>
          </p:nvPr>
        </p:nvGraphicFramePr>
        <p:xfrm>
          <a:off x="4408964" y="887104"/>
          <a:ext cx="4625853" cy="4748454"/>
        </p:xfrm>
        <a:graphic>
          <a:graphicData uri="http://schemas.openxmlformats.org/drawingml/2006/table">
            <a:tbl>
              <a:tblPr/>
              <a:tblGrid>
                <a:gridCol w="1541951">
                  <a:extLst>
                    <a:ext uri="{9D8B030D-6E8A-4147-A177-3AD203B41FA5}">
                      <a16:colId xmlns:a16="http://schemas.microsoft.com/office/drawing/2014/main" val="3029299174"/>
                    </a:ext>
                  </a:extLst>
                </a:gridCol>
                <a:gridCol w="1541951">
                  <a:extLst>
                    <a:ext uri="{9D8B030D-6E8A-4147-A177-3AD203B41FA5}">
                      <a16:colId xmlns:a16="http://schemas.microsoft.com/office/drawing/2014/main" val="663523341"/>
                    </a:ext>
                  </a:extLst>
                </a:gridCol>
                <a:gridCol w="1541951">
                  <a:extLst>
                    <a:ext uri="{9D8B030D-6E8A-4147-A177-3AD203B41FA5}">
                      <a16:colId xmlns:a16="http://schemas.microsoft.com/office/drawing/2014/main" val="63620213"/>
                    </a:ext>
                  </a:extLst>
                </a:gridCol>
              </a:tblGrid>
              <a:tr h="277863"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  <a:buNone/>
                      </a:pPr>
                      <a:r>
                        <a:rPr lang="en-US" sz="800" b="0">
                          <a:effectLst/>
                          <a:latin typeface="quote-cjk-patch"/>
                        </a:rPr>
                        <a:t>Category</a:t>
                      </a:r>
                    </a:p>
                  </a:txBody>
                  <a:tcPr marL="40012" marR="53350" marT="33344" marB="3334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  <a:buNone/>
                      </a:pPr>
                      <a:r>
                        <a:rPr lang="en-US" sz="800" b="0">
                          <a:effectLst/>
                          <a:latin typeface="quote-cjk-patch"/>
                        </a:rPr>
                        <a:t>Key Techniques</a:t>
                      </a:r>
                    </a:p>
                  </a:txBody>
                  <a:tcPr marL="53350" marR="53350" marT="33344" marB="3334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  <a:buNone/>
                      </a:pPr>
                      <a:r>
                        <a:rPr lang="en-US" sz="800" b="0">
                          <a:effectLst/>
                          <a:latin typeface="quote-cjk-patch"/>
                        </a:rPr>
                        <a:t>Common Problems</a:t>
                      </a:r>
                    </a:p>
                  </a:txBody>
                  <a:tcPr marL="53350" marR="53350" marT="33344" marB="3334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88792372"/>
                  </a:ext>
                </a:extLst>
              </a:tr>
              <a:tr h="383451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sz="800" b="0">
                          <a:effectLst/>
                          <a:latin typeface="quote-cjk-patch"/>
                        </a:rPr>
                        <a:t>Arrays/Hashing</a:t>
                      </a:r>
                    </a:p>
                  </a:txBody>
                  <a:tcPr marL="40012" marR="53350" marT="33344" marB="3334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sz="800" b="0">
                          <a:effectLst/>
                          <a:latin typeface="quote-cjk-patch"/>
                        </a:rPr>
                        <a:t>HashMap, HashSet, Sorting</a:t>
                      </a:r>
                    </a:p>
                  </a:txBody>
                  <a:tcPr marL="53350" marR="53350" marT="33344" marB="3334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sz="800" b="0">
                          <a:effectLst/>
                          <a:latin typeface="quote-cjk-patch"/>
                        </a:rPr>
                        <a:t>Two Sum, Group Anagrams, Top K Frequent</a:t>
                      </a:r>
                    </a:p>
                  </a:txBody>
                  <a:tcPr marL="53350" marR="40012" marT="33344" marB="3334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7508359"/>
                  </a:ext>
                </a:extLst>
              </a:tr>
              <a:tr h="383451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sz="800" b="0">
                          <a:effectLst/>
                          <a:latin typeface="quote-cjk-patch"/>
                        </a:rPr>
                        <a:t>Two Pointers</a:t>
                      </a:r>
                    </a:p>
                  </a:txBody>
                  <a:tcPr marL="40012" marR="53350" marT="33344" marB="3334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sz="800" b="0">
                          <a:effectLst/>
                          <a:latin typeface="quote-cjk-patch"/>
                        </a:rPr>
                        <a:t>Left/Right pointers, Sorting</a:t>
                      </a:r>
                    </a:p>
                  </a:txBody>
                  <a:tcPr marL="53350" marR="53350" marT="33344" marB="3334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sz="800" b="0" dirty="0">
                          <a:effectLst/>
                          <a:latin typeface="quote-cjk-patch"/>
                        </a:rPr>
                        <a:t>3Sum, Container Water, Trapping Rain</a:t>
                      </a:r>
                    </a:p>
                  </a:txBody>
                  <a:tcPr marL="53350" marR="40012" marT="33344" marB="3334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18693371"/>
                  </a:ext>
                </a:extLst>
              </a:tr>
              <a:tr h="383451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sz="800" b="0">
                          <a:effectLst/>
                          <a:latin typeface="quote-cjk-patch"/>
                        </a:rPr>
                        <a:t>Sliding Window</a:t>
                      </a:r>
                    </a:p>
                  </a:txBody>
                  <a:tcPr marL="40012" marR="53350" marT="33344" marB="3334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sz="800" b="0">
                          <a:effectLst/>
                          <a:latin typeface="quote-cjk-patch"/>
                        </a:rPr>
                        <a:t>Window expansion/contraction</a:t>
                      </a:r>
                    </a:p>
                  </a:txBody>
                  <a:tcPr marL="53350" marR="53350" marT="33344" marB="3334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sz="800" b="0">
                          <a:effectLst/>
                          <a:latin typeface="quote-cjk-patch"/>
                        </a:rPr>
                        <a:t>Longest Substring, Min Window</a:t>
                      </a:r>
                    </a:p>
                  </a:txBody>
                  <a:tcPr marL="53350" marR="40012" marT="33344" marB="3334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90903343"/>
                  </a:ext>
                </a:extLst>
              </a:tr>
              <a:tr h="383451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sz="800" b="0">
                          <a:effectLst/>
                          <a:latin typeface="quote-cjk-patch"/>
                        </a:rPr>
                        <a:t>Stack</a:t>
                      </a:r>
                    </a:p>
                  </a:txBody>
                  <a:tcPr marL="40012" marR="53350" marT="33344" marB="3334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sz="800" b="0">
                          <a:effectLst/>
                          <a:latin typeface="quote-cjk-patch"/>
                        </a:rPr>
                        <a:t>Monotonic stack</a:t>
                      </a:r>
                    </a:p>
                  </a:txBody>
                  <a:tcPr marL="53350" marR="53350" marT="33344" marB="3334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sz="800" b="0">
                          <a:effectLst/>
                          <a:latin typeface="quote-cjk-patch"/>
                        </a:rPr>
                        <a:t>Valid Parentheses, Largest Rectangle</a:t>
                      </a:r>
                    </a:p>
                  </a:txBody>
                  <a:tcPr marL="53350" marR="40012" marT="33344" marB="3334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3758007"/>
                  </a:ext>
                </a:extLst>
              </a:tr>
              <a:tr h="277863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sz="800" b="0">
                          <a:effectLst/>
                          <a:latin typeface="quote-cjk-patch"/>
                        </a:rPr>
                        <a:t>Binary Search</a:t>
                      </a:r>
                    </a:p>
                  </a:txBody>
                  <a:tcPr marL="40012" marR="53350" marT="33344" marB="3334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sz="800" b="0">
                          <a:effectLst/>
                          <a:latin typeface="quote-cjk-patch"/>
                        </a:rPr>
                        <a:t>Search space reduction</a:t>
                      </a:r>
                    </a:p>
                  </a:txBody>
                  <a:tcPr marL="53350" marR="53350" marT="33344" marB="3334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sz="800" b="0">
                          <a:effectLst/>
                          <a:latin typeface="quote-cjk-patch"/>
                        </a:rPr>
                        <a:t>Search Rotated, Find Min</a:t>
                      </a:r>
                    </a:p>
                  </a:txBody>
                  <a:tcPr marL="53350" marR="40012" marT="33344" marB="3334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47966304"/>
                  </a:ext>
                </a:extLst>
              </a:tr>
              <a:tr h="383451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sz="800" b="0">
                          <a:effectLst/>
                          <a:latin typeface="quote-cjk-patch"/>
                        </a:rPr>
                        <a:t>Linked List</a:t>
                      </a:r>
                    </a:p>
                  </a:txBody>
                  <a:tcPr marL="40012" marR="53350" marT="33344" marB="3334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sz="800" b="0">
                          <a:effectLst/>
                          <a:latin typeface="quote-cjk-patch"/>
                        </a:rPr>
                        <a:t>Fast/Slow pointers, Dummy nodes</a:t>
                      </a:r>
                    </a:p>
                  </a:txBody>
                  <a:tcPr marL="53350" marR="53350" marT="33344" marB="3334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sz="800" b="0">
                          <a:effectLst/>
                          <a:latin typeface="quote-cjk-patch"/>
                        </a:rPr>
                        <a:t>Reverse, Cycle Detection, LRU</a:t>
                      </a:r>
                    </a:p>
                  </a:txBody>
                  <a:tcPr marL="53350" marR="40012" marT="33344" marB="3334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45371591"/>
                  </a:ext>
                </a:extLst>
              </a:tr>
              <a:tr h="383451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sz="800" b="0">
                          <a:effectLst/>
                          <a:latin typeface="quote-cjk-patch"/>
                        </a:rPr>
                        <a:t>Trees</a:t>
                      </a:r>
                    </a:p>
                  </a:txBody>
                  <a:tcPr marL="40012" marR="53350" marT="33344" marB="3334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sz="800" b="0">
                          <a:effectLst/>
                          <a:latin typeface="quote-cjk-patch"/>
                        </a:rPr>
                        <a:t>DFS, BFS, Recursion</a:t>
                      </a:r>
                    </a:p>
                  </a:txBody>
                  <a:tcPr marL="53350" marR="53350" marT="33344" marB="3334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sz="800" b="0">
                          <a:effectLst/>
                          <a:latin typeface="quote-cjk-patch"/>
                        </a:rPr>
                        <a:t>Level Order, Serialize, Validate BST</a:t>
                      </a:r>
                    </a:p>
                  </a:txBody>
                  <a:tcPr marL="53350" marR="40012" marT="33344" marB="3334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68763834"/>
                  </a:ext>
                </a:extLst>
              </a:tr>
              <a:tr h="277863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sz="800" b="0">
                          <a:effectLst/>
                          <a:latin typeface="quote-cjk-patch"/>
                        </a:rPr>
                        <a:t>DP</a:t>
                      </a:r>
                    </a:p>
                  </a:txBody>
                  <a:tcPr marL="40012" marR="53350" marT="33344" marB="3334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sz="800" b="0">
                          <a:effectLst/>
                          <a:latin typeface="quote-cjk-patch"/>
                        </a:rPr>
                        <a:t>Memoization, Tabulation</a:t>
                      </a:r>
                    </a:p>
                  </a:txBody>
                  <a:tcPr marL="53350" marR="53350" marT="33344" marB="3334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sz="800" b="0">
                          <a:effectLst/>
                          <a:latin typeface="quote-cjk-patch"/>
                        </a:rPr>
                        <a:t>LIS, Coin Change, Edit Distance</a:t>
                      </a:r>
                    </a:p>
                  </a:txBody>
                  <a:tcPr marL="53350" marR="40012" marT="33344" marB="3334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95423589"/>
                  </a:ext>
                </a:extLst>
              </a:tr>
              <a:tr h="277863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sz="800" b="0">
                          <a:effectLst/>
                          <a:latin typeface="quote-cjk-patch"/>
                        </a:rPr>
                        <a:t>Graphs</a:t>
                      </a:r>
                    </a:p>
                  </a:txBody>
                  <a:tcPr marL="40012" marR="53350" marT="33344" marB="3334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sz="800" b="0">
                          <a:effectLst/>
                          <a:latin typeface="quote-cjk-patch"/>
                        </a:rPr>
                        <a:t>DFS, BFS, Topological Sort</a:t>
                      </a:r>
                    </a:p>
                  </a:txBody>
                  <a:tcPr marL="53350" marR="53350" marT="33344" marB="3334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sz="800" b="0">
                          <a:effectLst/>
                          <a:latin typeface="quote-cjk-patch"/>
                        </a:rPr>
                        <a:t>Number Islands, Course Schedule</a:t>
                      </a:r>
                    </a:p>
                  </a:txBody>
                  <a:tcPr marL="53350" marR="40012" marT="33344" marB="3334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55099766"/>
                  </a:ext>
                </a:extLst>
              </a:tr>
              <a:tr h="277863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sz="800" b="0">
                          <a:effectLst/>
                          <a:latin typeface="quote-cjk-patch"/>
                        </a:rPr>
                        <a:t>Heap/Queue</a:t>
                      </a:r>
                    </a:p>
                  </a:txBody>
                  <a:tcPr marL="40012" marR="53350" marT="33344" marB="3334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sz="800" b="0">
                          <a:effectLst/>
                          <a:latin typeface="quote-cjk-patch"/>
                        </a:rPr>
                        <a:t>PriorityQueue</a:t>
                      </a:r>
                    </a:p>
                  </a:txBody>
                  <a:tcPr marL="53350" marR="53350" marT="33344" marB="3334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sz="800" b="0">
                          <a:effectLst/>
                          <a:latin typeface="quote-cjk-patch"/>
                        </a:rPr>
                        <a:t>Merge K Lists, Median Finder</a:t>
                      </a:r>
                    </a:p>
                  </a:txBody>
                  <a:tcPr marL="53350" marR="40012" marT="33344" marB="3334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57703922"/>
                  </a:ext>
                </a:extLst>
              </a:tr>
              <a:tr h="383451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sz="800" b="0">
                          <a:effectLst/>
                          <a:latin typeface="quote-cjk-patch"/>
                        </a:rPr>
                        <a:t>Backtracking</a:t>
                      </a:r>
                    </a:p>
                  </a:txBody>
                  <a:tcPr marL="40012" marR="53350" marT="33344" marB="3334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sz="800" b="0">
                          <a:effectLst/>
                          <a:latin typeface="quote-cjk-patch"/>
                        </a:rPr>
                        <a:t>Pruning, State management</a:t>
                      </a:r>
                    </a:p>
                  </a:txBody>
                  <a:tcPr marL="53350" marR="53350" marT="33344" marB="3334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sz="800" b="0">
                          <a:effectLst/>
                          <a:latin typeface="quote-cjk-patch"/>
                        </a:rPr>
                        <a:t>N-Queens, Palindrome Partitioning</a:t>
                      </a:r>
                    </a:p>
                  </a:txBody>
                  <a:tcPr marL="53350" marR="40012" marT="33344" marB="3334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65493244"/>
                  </a:ext>
                </a:extLst>
              </a:tr>
              <a:tr h="277863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sz="800" b="0">
                          <a:effectLst/>
                          <a:latin typeface="quote-cjk-patch"/>
                        </a:rPr>
                        <a:t>Design</a:t>
                      </a:r>
                    </a:p>
                  </a:txBody>
                  <a:tcPr marL="40012" marR="53350" marT="33344" marB="3334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sz="800" b="0">
                          <a:effectLst/>
                          <a:latin typeface="quote-cjk-patch"/>
                        </a:rPr>
                        <a:t>Data structure combination</a:t>
                      </a:r>
                    </a:p>
                  </a:txBody>
                  <a:tcPr marL="53350" marR="53350" marT="33344" marB="3334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sz="800" b="0" dirty="0">
                          <a:effectLst/>
                          <a:latin typeface="quote-cjk-patch"/>
                        </a:rPr>
                        <a:t>LRU Cache, Twitter</a:t>
                      </a:r>
                    </a:p>
                  </a:txBody>
                  <a:tcPr marL="53350" marR="40012" marT="33344" marB="33344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12833224"/>
                  </a:ext>
                </a:extLst>
              </a:tr>
            </a:tbl>
          </a:graphicData>
        </a:graphic>
      </p:graphicFrame>
      <p:sp>
        <p:nvSpPr>
          <p:cNvPr id="3" name="Rectangle 1">
            <a:extLst>
              <a:ext uri="{FF2B5EF4-FFF2-40B4-BE49-F238E27FC236}">
                <a16:creationId xmlns:a16="http://schemas.microsoft.com/office/drawing/2014/main" id="{F1E2078A-3B15-BF48-D928-DFAC654D487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08964" y="288578"/>
            <a:ext cx="3027529" cy="5539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203136" rIns="0" bIns="101568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📊 Summary Table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6ADDC01F-0426-3DDC-5125-8CEB9F05F77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2829" y="565529"/>
            <a:ext cx="3576046" cy="476021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101568" rIns="0" bIns="101568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🚀 Tips for Advanced Problems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Recognize patterns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 - Most problems are variations of classic patterns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2"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Optimize step by step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 - Start with brute force, then optimize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3"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Draw the solution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 - Visualize data structures and algorithms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4"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Practice system design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 - For design problems, think about scalability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5"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Learn time/space complexity analysis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 - Crucial for interviews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6"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Write clean code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 - Use meaningful variable names and comments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7"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Test edge cases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 - Empty input, single element, large inputs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📈 Progression Path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Easy (40-50 problems)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: Master basic data structures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2"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Medium (80-100 problems)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: Learn optimization techniques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3"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Hard (30-40 problems)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: Combine multiple concepts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4"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Mock interviews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: Practice under time constraints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5"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Company-specific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: Focus on frequently asked problems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Remember: Consistency and understanding &gt; Number of problems solved. Happy coding! 🎉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5080494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5234C0-6502-085A-59CD-B3BA280ADD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3011743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051C90-DE80-B1CD-912A-A7A37C5C75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2319547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857C93-02CB-83DE-E1F8-98A3723CEC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5858857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5CB1A1-0DEC-6A82-7852-7AC16BEECE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3393178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F61950-3DA7-C568-07AB-C3FB6F741B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4807900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4B8FA2-6EE9-149C-BAA5-4FFE22C58C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6670297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A697DF-8BB5-DE2D-7CE6-B2DAADF3E5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4055994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224DFC-0410-FAEF-2FD3-2EFE4E34CF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7014388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23DD83-FC48-35DC-EE12-F4F024213B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0366206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25D96C-C62F-EB3B-7E8E-E40D8A48B1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9315309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F7EA5B-5860-8236-5200-570E159930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7968224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787591-80CB-26EA-34F3-73F841B64F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9193218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329448-9945-8A2D-3E98-C1980A160B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7078075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7925CC-42D1-6EEB-DB87-1B280C3ED4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54880339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830842-FD4D-9C8C-D56A-B4C3542A74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35237009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01AC70-F469-28D6-0E0E-BA1071CB9F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352797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206E0F-50CD-3B11-1DFD-FC72990330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23084763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F11B39-F064-775A-9411-E73929C1D2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136030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265BB2-BFB1-CCC2-B55F-CF392C3DE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54852623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3386E9-3127-3EDA-6557-CEF76A86D7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41512862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8B79DE-BA72-F671-6D57-9F372D2224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19061237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0C9F7E-9983-7851-B4B5-4B43F29EA4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57858815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CCDBD1-6A27-5F93-91B3-91C2B7F6AC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51049609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47AA9C-661F-B1F3-C775-9B8565CE5B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1327927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1CA5E3-BD05-87C9-6C1C-F7FAAF33BE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7045245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769677-3E7F-9607-7299-044FAC57B4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88424402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8AF79C-90CB-21CE-4937-EB56E77B59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77575123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6DF3B4-10A3-F97C-DE8D-A21ED2B1B4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62517779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2B5A51-AA7F-ECAF-41AE-666585F46A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19912776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6408AB-3FEA-D9E8-2260-D0EB5D4029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77624876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3D11B9-028C-5DD4-A32D-5F68742A92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96681962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A433DC-6598-AE34-6561-657045E651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06076028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AA9814-5741-BF68-57BD-61191B08B0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26452982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6B12D9-7743-8E75-BF87-F74CE41579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17473069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BC3C42-195E-1AA6-666E-9DDDDC7291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20146734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FDCFC9-20DE-11FF-066F-212F321A7C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53765414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73B9AB-DD08-57A9-3937-3178F40B8A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82034084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931B59-6FFA-DE4E-A87E-7C2F448F35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89381589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2A4660-17B1-E4B5-CE8C-A6BA4F0334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30845308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0D92DC-5F54-1150-3E2B-D0217D6B46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39417560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E69C64-8DDE-13EF-04ED-E030FEAF91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19649389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E08D3A-A235-1877-D051-FCC3A9ADAD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97634299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F26905-7CCD-FCB2-1A7E-E8BB36BCA0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54257372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56F266-AAFE-19DB-00DC-19E75491FC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93219724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90D1BF-A172-3FF0-903F-2AD081E8C2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5403714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370E42-E71B-A766-657B-A4466062A4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15820187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AE7962-935A-C6CA-3B98-1DCA176402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14818361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DC3D3E-7A80-5937-D445-0BC611F6D2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59052732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C39288-3934-3EE8-8DA0-8B55FB44D7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03561146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444358-7458-9EBA-410C-00B1A20E7B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82760758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3474C8-E1F0-54A0-7DB7-A4F186252A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27413637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08BA5F-0737-1C9E-B34A-C8D0C6CC18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53626091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CD7587-E788-2173-9FCE-ABF5926BAC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28660153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CC10DC-3F44-09D6-0EF4-E117C7AFB1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08223311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C9AB0F-A5F4-4582-FC01-5E689CFFF8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29987184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084FF4-E87B-CEE7-4340-4A8CF2BFB6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912733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5430E2-575B-DE05-1E7C-0285A3ECC8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20373175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6C7C7E-2D31-F5DA-2FCC-908AF031C2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49098951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4DCCDD-1A76-AF1A-CCB5-9A78AF6F84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09892506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3D685A-5937-3C52-2F3B-74955B1FF0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45056232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09A74E-5113-4DFD-160C-4238D2609F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68861037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F71383-6B34-E468-1316-F7BB6A02D0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10075722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32D463-FC14-8CA8-6D2C-26A46C3531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2684734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7045A3-7F9A-3D1E-9952-CB829B4214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77706002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ABD669-6DBE-F77D-D40F-7C6D96C5C1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36719689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4E25A9-6E07-F074-80C0-B8D1E6741B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73212897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2965A7-8CF5-3E06-19C9-4886680E1B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1316656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85E8E8-9926-55CC-14D3-10A08BDEC0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57951312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438A96-9E7C-76A2-3967-042D834D1C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30887478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05AA9C-307F-F804-9057-56F9D98733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166264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311</TotalTime>
  <Words>10487</Words>
  <Application>Microsoft Office PowerPoint</Application>
  <PresentationFormat>A4 Paper (210x297 mm)</PresentationFormat>
  <Paragraphs>1562</Paragraphs>
  <Slides>104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104</vt:i4>
      </vt:variant>
    </vt:vector>
  </HeadingPairs>
  <TitlesOfParts>
    <vt:vector size="110" baseType="lpstr">
      <vt:lpstr>Aptos</vt:lpstr>
      <vt:lpstr>Aptos Display</vt:lpstr>
      <vt:lpstr>Arial</vt:lpstr>
      <vt:lpstr>Menlo</vt:lpstr>
      <vt:lpstr>quote-cjk-patch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umalavanya7@gmail.com</dc:creator>
  <cp:lastModifiedBy>umalavanya7@gmail.com</cp:lastModifiedBy>
  <cp:revision>48</cp:revision>
  <dcterms:created xsi:type="dcterms:W3CDTF">2026-02-06T21:19:28Z</dcterms:created>
  <dcterms:modified xsi:type="dcterms:W3CDTF">2026-02-26T19:36:30Z</dcterms:modified>
</cp:coreProperties>
</file>