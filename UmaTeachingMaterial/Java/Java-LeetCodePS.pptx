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22CAB5-C6A8-5DD1-97B1-A74DA68AD23F}"/>
              </a:ext>
            </a:extLst>
          </p:cNvPr>
          <p:cNvSpPr txBox="1"/>
          <p:nvPr/>
        </p:nvSpPr>
        <p:spPr>
          <a:xfrm>
            <a:off x="225188" y="-4005718"/>
            <a:ext cx="4954136" cy="1542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Arrays &amp; Hashing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1. Two Sum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Given an array of integers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nums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and an integer target, return indices of the two numbers that add up to target.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twoSum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HashMap to store number and its index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map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complement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If complement exists in map, we found our pair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complement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complement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Store current number and its index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{};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No solution found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Explanation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We iterate through the array once. For each number, we calculate its complement (target - num) and check if we've seen it before using a HashMap.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7E75E-FE0E-7786-07F1-771B02515614}"/>
              </a:ext>
            </a:extLst>
          </p:cNvPr>
          <p:cNvSpPr txBox="1"/>
          <p:nvPr/>
        </p:nvSpPr>
        <p:spPr>
          <a:xfrm>
            <a:off x="4510585" y="-1760523"/>
            <a:ext cx="4954136" cy="968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2. Contains Duplicate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Given an integer array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nums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return true if any value appears at least twice.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containsDuplicate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seen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seen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Duplicate found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seen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No duplicates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B192B-E307-EDD4-FB9D-7A16ED3E4573}"/>
              </a:ext>
            </a:extLst>
          </p:cNvPr>
          <p:cNvSpPr txBox="1"/>
          <p:nvPr/>
        </p:nvSpPr>
        <p:spPr>
          <a:xfrm>
            <a:off x="-1136" y="-2806026"/>
            <a:ext cx="4954136" cy="12831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3. Valid Anagram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Given two strings s and t, return true if t is an anagram of 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isAnagram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charCount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26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For lowercase English letters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Count characters in 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toCharArray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Decrement for characters in 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toCharArray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'a'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27B67-6738-14D7-4791-7B995CB4F9CF}"/>
              </a:ext>
            </a:extLst>
          </p:cNvPr>
          <p:cNvSpPr txBox="1"/>
          <p:nvPr/>
        </p:nvSpPr>
        <p:spPr>
          <a:xfrm>
            <a:off x="4715302" y="-2612398"/>
            <a:ext cx="4981432" cy="1208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4. Group Anagrams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Group strings that are anagrams of each other.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groupAnagrams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map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str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Sort characters to create key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chars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toCharArray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chars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chars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Add to appropriate group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computeIfAbsent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str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values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* k log k) where k is max string length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* k)</a:t>
            </a: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BAA02-6667-A7E5-E9B3-4DBBF902BDD0}"/>
              </a:ext>
            </a:extLst>
          </p:cNvPr>
          <p:cNvSpPr txBox="1"/>
          <p:nvPr/>
        </p:nvSpPr>
        <p:spPr>
          <a:xfrm>
            <a:off x="0" y="-5005346"/>
            <a:ext cx="4954136" cy="1723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Two Pointers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5. Valid Palindrome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Check if a string is a palindrome, considering only alphanumeric characters.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isPalindrome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Skip non-alphanumeric characters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isLetterOrDigit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isLetterOrDigit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Compare characters (case-insensitive)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toLowerCase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toLowerCase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8AD62-7B72-0447-0F69-FE01FA6385C1}"/>
              </a:ext>
            </a:extLst>
          </p:cNvPr>
          <p:cNvSpPr txBox="1"/>
          <p:nvPr/>
        </p:nvSpPr>
        <p:spPr>
          <a:xfrm>
            <a:off x="4401403" y="-4699872"/>
            <a:ext cx="4981432" cy="15268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6. Container With Most Water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two lines that together with x-axis form a container that holds the most water.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maxArea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maxWater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Calculate area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width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currentHeight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area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width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maxWater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maxWater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area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Move the pointer with smaller height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maxWater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40EB2-320B-9798-F5AC-65FFC25103BF}"/>
              </a:ext>
            </a:extLst>
          </p:cNvPr>
          <p:cNvSpPr txBox="1"/>
          <p:nvPr/>
        </p:nvSpPr>
        <p:spPr>
          <a:xfrm>
            <a:off x="0" y="-2407012"/>
            <a:ext cx="4954136" cy="1186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Sliding Window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7. Best Time to Buy and Sell Stock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maximum profit from one transaction.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maxProfit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prices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minPrice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MAX_VALUE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maxProfit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price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prices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price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minPrice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minPrice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price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Update minimum price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maxProfit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maxProfit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price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minPrice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maxProfit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1D808-A48F-9B31-E3DB-432F59A2B92F}"/>
              </a:ext>
            </a:extLst>
          </p:cNvPr>
          <p:cNvSpPr txBox="1"/>
          <p:nvPr/>
        </p:nvSpPr>
        <p:spPr>
          <a:xfrm>
            <a:off x="4496938" y="-3731734"/>
            <a:ext cx="4981432" cy="1451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8. Longest Substring Without Repeating Characters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length of longest substring without repeating characters.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lengthOfLongestSubstring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charIndex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If character is seen and within current window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charIndex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charIndex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charIndex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charIndex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O(min(n, alphabet size))</a:t>
            </a:r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029A7B-0317-E926-D79C-02C51C9B353D}"/>
              </a:ext>
            </a:extLst>
          </p:cNvPr>
          <p:cNvSpPr txBox="1"/>
          <p:nvPr/>
        </p:nvSpPr>
        <p:spPr>
          <a:xfrm>
            <a:off x="184245" y="-4137898"/>
            <a:ext cx="4954136" cy="1576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Stack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9. Valid Parentheses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Check if string has valid parentheses ordering.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isValid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stack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mapping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mapping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')'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'('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mapping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'}'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'{'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mapping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']'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'['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toCharArray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mapping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Closing bracket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top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?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'#'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top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mapping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Opening bracket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push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4D247-7AF1-D76C-C411-A56BCB4610F1}"/>
              </a:ext>
            </a:extLst>
          </p:cNvPr>
          <p:cNvSpPr txBox="1"/>
          <p:nvPr/>
        </p:nvSpPr>
        <p:spPr>
          <a:xfrm>
            <a:off x="4951864" y="-3129509"/>
            <a:ext cx="4954136" cy="1338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Binary Search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10. Binary Search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Implement binary search on sorted array.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search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EE9A1-5A34-8F2B-D910-F28B02EE5161}"/>
              </a:ext>
            </a:extLst>
          </p:cNvPr>
          <p:cNvSpPr txBox="1"/>
          <p:nvPr/>
        </p:nvSpPr>
        <p:spPr>
          <a:xfrm>
            <a:off x="156949" y="-2960157"/>
            <a:ext cx="4954136" cy="11857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11. Find Minimum in Rotated Sorted Array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minimum in rotated sorted array.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findMin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Minimum is in right half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Minimum is in left half including mid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F75F9-884E-5D54-F2C3-446ACB9A6144}"/>
              </a:ext>
            </a:extLst>
          </p:cNvPr>
          <p:cNvSpPr txBox="1"/>
          <p:nvPr/>
        </p:nvSpPr>
        <p:spPr>
          <a:xfrm>
            <a:off x="4387756" y="-4436306"/>
            <a:ext cx="4954136" cy="1527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Linked List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12. Reverse Linked List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Reverse a singly linked list.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reverseList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nextTemp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current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nextTemp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en-US" b="0" i="1" dirty="0" err="1">
                <a:solidFill>
                  <a:srgbClr val="A0A1A7"/>
                </a:solidFill>
                <a:effectLst/>
                <a:latin typeface="Menlo"/>
              </a:rPr>
              <a:t>ListNode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 class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603202-9BC6-61D2-7317-5C07B8001E8E}"/>
              </a:ext>
            </a:extLst>
          </p:cNvPr>
          <p:cNvSpPr txBox="1"/>
          <p:nvPr/>
        </p:nvSpPr>
        <p:spPr>
          <a:xfrm>
            <a:off x="-225188" y="-2437518"/>
            <a:ext cx="4954136" cy="1206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13. Linked List Cycle Detection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Detect if linked list has a cycle.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hasCycle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head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slow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fast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fast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fast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slow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slow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fast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fast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slow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fast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Cycle detected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939A07-27CA-D107-8457-436E5DB257A5}"/>
              </a:ext>
            </a:extLst>
          </p:cNvPr>
          <p:cNvSpPr txBox="1"/>
          <p:nvPr/>
        </p:nvSpPr>
        <p:spPr>
          <a:xfrm>
            <a:off x="170597" y="-4221967"/>
            <a:ext cx="4954136" cy="15063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Trees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14. Maximum Depth of Binary Tree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maximum depth of binary tree.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maxDepth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root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root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leftDepth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maxDepth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rightDepth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maxDepth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leftDepth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rightDepth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O(h) where h is height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C4DBB-42F4-63E5-5DBA-D3FDCA948DF6}"/>
              </a:ext>
            </a:extLst>
          </p:cNvPr>
          <p:cNvSpPr txBox="1"/>
          <p:nvPr/>
        </p:nvSpPr>
        <p:spPr>
          <a:xfrm>
            <a:off x="2477069" y="-2359460"/>
            <a:ext cx="4954136" cy="1131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15. Validate Binary Search Tree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Check if tree is valid BST.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isValidBST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root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validate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validate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high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Check current node value constraints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high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high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Validate left and right subtrees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validate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validate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high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O(h)</a:t>
            </a:r>
          </a:p>
        </p:txBody>
      </p:sp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75EFB-6857-A7C5-A31E-5A58ED2F6C42}"/>
              </a:ext>
            </a:extLst>
          </p:cNvPr>
          <p:cNvSpPr txBox="1"/>
          <p:nvPr/>
        </p:nvSpPr>
        <p:spPr>
          <a:xfrm>
            <a:off x="-1136" y="-2398237"/>
            <a:ext cx="4954136" cy="1165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Dynamic Programming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16. Climbing Stairs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Count ways to climb n stairs taking 1 or 2 steps.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climbStairs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Fibonacci relation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92636-4CDC-01F6-74BA-3C0EC47DC02B}"/>
              </a:ext>
            </a:extLst>
          </p:cNvPr>
          <p:cNvSpPr txBox="1"/>
          <p:nvPr/>
        </p:nvSpPr>
        <p:spPr>
          <a:xfrm>
            <a:off x="3978323" y="-1640510"/>
            <a:ext cx="4981432" cy="1066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17. House Robber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Maximum money without robbing adjacent houses.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rob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47643F-A5F8-56B9-2808-490ACDDC93EB}"/>
              </a:ext>
            </a:extLst>
          </p:cNvPr>
          <p:cNvSpPr txBox="1"/>
          <p:nvPr/>
        </p:nvSpPr>
        <p:spPr>
          <a:xfrm>
            <a:off x="-1136" y="-7496137"/>
            <a:ext cx="4954136" cy="22157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18. Number of Islands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Count number of islands (connected 1's) in grid.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numIslands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count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Check boundaries and if cell is water or visited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length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Mark as visited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'0'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Visit all adjacent cells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O(rows × cols)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O(rows × cols) worst case for recursion stack</a:t>
            </a:r>
          </a:p>
        </p:txBody>
      </p:sp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A148A-B638-4AEB-9C5D-D6F60A20E6F1}"/>
              </a:ext>
            </a:extLst>
          </p:cNvPr>
          <p:cNvSpPr txBox="1"/>
          <p:nvPr/>
        </p:nvSpPr>
        <p:spPr>
          <a:xfrm>
            <a:off x="0" y="0"/>
            <a:ext cx="4954136" cy="1192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Heap / Priority Queue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19. Kth Largest Element in Array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kth largest element in unsorted array.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findKthLargest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Min-heap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Remove smallest element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peek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kth largest element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log k)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7268C-7D4B-B678-ED12-C3BA63B90421}"/>
              </a:ext>
            </a:extLst>
          </p:cNvPr>
          <p:cNvSpPr txBox="1"/>
          <p:nvPr/>
        </p:nvSpPr>
        <p:spPr>
          <a:xfrm>
            <a:off x="2436126" y="-3138833"/>
            <a:ext cx="4981432" cy="1819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20. Merge k Sorted Lists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Merge k sorted linked lists.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mergeKLists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lists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Add all list heads to heap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list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dummy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dummy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dummy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log k) where n is total nodes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O(k)</a:t>
            </a:r>
          </a:p>
        </p:txBody>
      </p:sp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D71AD-B094-BBA2-FFD4-64E57F84DFE0}"/>
              </a:ext>
            </a:extLst>
          </p:cNvPr>
          <p:cNvSpPr txBox="1"/>
          <p:nvPr/>
        </p:nvSpPr>
        <p:spPr>
          <a:xfrm>
            <a:off x="2477069" y="-1444564"/>
            <a:ext cx="4954136" cy="975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📝 Tips for </a:t>
            </a:r>
            <a:r>
              <a:rPr lang="en-US" b="1" dirty="0" err="1">
                <a:solidFill>
                  <a:srgbClr val="0F1115"/>
                </a:solidFill>
                <a:effectLst/>
                <a:latin typeface="quote-cjk-patch"/>
              </a:rPr>
              <a:t>LeetCode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 Success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Understand the 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before coding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Start with brute force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then optimize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Draw examples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to visualize the problem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Think about edge cases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(empty input, single element, etc.)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Practice regularly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consistency is key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Review solutions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even if you solved it - there might be better approaches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yourself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to simulate interview conditions</a:t>
            </a:r>
          </a:p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🎯 Recommended Study Plan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Week 1-2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Arrays, Hashing, Two Pointers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Week 3-4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Sliding Window, Stack, Binary Search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Week 5-6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Linked List, Trees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Week 7-8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Dynamic Programming, Graphs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Week 9-10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Heap, Advanced Topics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Week 11-12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Mixed problems and mock interviews</a:t>
            </a:r>
          </a:p>
          <a:p>
            <a:pPr algn="l">
              <a:spcBef>
                <a:spcPts val="1200"/>
              </a:spcBef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Remember: Quality over quantity. Understanding one problem deeply is better than superficially solving ten problems.</a:t>
            </a:r>
          </a:p>
        </p:txBody>
      </p:sp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F8358-8A02-90A1-568E-60C82FAFFC8A}"/>
              </a:ext>
            </a:extLst>
          </p:cNvPr>
          <p:cNvSpPr txBox="1"/>
          <p:nvPr/>
        </p:nvSpPr>
        <p:spPr>
          <a:xfrm>
            <a:off x="0" y="-5681172"/>
            <a:ext cx="4954136" cy="18582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Arrays &amp; Hashing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21. Top K Frequent Elements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Return the k most frequent elements.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topKFrequent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Count frequencies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frequencyMap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frequencyMap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frequencyMap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getOrDefault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Bucket sort approach - index is frequency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buckets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frequencyMap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keySet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frequency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frequencyMap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buckets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frequency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buckets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frequency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buckets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frequency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Collect top k frequent elements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buckets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buckets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addAll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buckets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stream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mapToInt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toArray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FD81F-FA29-5A78-D480-3177ECDAAA28}"/>
              </a:ext>
            </a:extLst>
          </p:cNvPr>
          <p:cNvSpPr txBox="1"/>
          <p:nvPr/>
        </p:nvSpPr>
        <p:spPr>
          <a:xfrm>
            <a:off x="4810836" y="-4519016"/>
            <a:ext cx="4981432" cy="1337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22. Product of Array Except Self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Return array where each element is product of all other elements without division.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productExceptSelf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Calculate left products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Calculate right products and combine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rightProduct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rightProduct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rightProduct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 (excluding output array)</a:t>
            </a:r>
          </a:p>
        </p:txBody>
      </p:sp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282278-F098-48F2-AC72-0268B6267E59}"/>
              </a:ext>
            </a:extLst>
          </p:cNvPr>
          <p:cNvSpPr txBox="1"/>
          <p:nvPr/>
        </p:nvSpPr>
        <p:spPr>
          <a:xfrm>
            <a:off x="-116005" y="-5298829"/>
            <a:ext cx="4954136" cy="17653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23. Longest Consecutive Sequence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length of longest consecutive sequence in unsorted array.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longestConsecutive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numSet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longestStreak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Only start counting if this is the beginning of a sequence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numSet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currentNum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currentStreak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numSet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currentNum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currentNum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currentStreak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longestStreak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longestStreak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currentStreak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longestStreak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4C2EBA-4805-1D33-7F4C-5EA51B93D8C7}"/>
              </a:ext>
            </a:extLst>
          </p:cNvPr>
          <p:cNvSpPr txBox="1"/>
          <p:nvPr/>
        </p:nvSpPr>
        <p:spPr>
          <a:xfrm>
            <a:off x="771099" y="-6968718"/>
            <a:ext cx="4954136" cy="2079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24. 3Sum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all unique triplets that sum to zero.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threeSum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Skip duplicates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continue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Skip duplicates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O(n²)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 (excluding output)</a:t>
            </a:r>
          </a:p>
        </p:txBody>
      </p:sp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DF576-A6D7-9721-B621-F442577D1D21}"/>
              </a:ext>
            </a:extLst>
          </p:cNvPr>
          <p:cNvSpPr txBox="1"/>
          <p:nvPr/>
        </p:nvSpPr>
        <p:spPr>
          <a:xfrm>
            <a:off x="1057702" y="-4917224"/>
            <a:ext cx="4954136" cy="1699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25. Trapping Rain Water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Calculate how much water can be trapped between bars.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trap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leftMax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rightMax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water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leftMax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water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leftMax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rightMax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water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rightMax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water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CE38A8-BBDB-3DD0-741B-F978472473CF}"/>
              </a:ext>
            </a:extLst>
          </p:cNvPr>
          <p:cNvSpPr txBox="1"/>
          <p:nvPr/>
        </p:nvSpPr>
        <p:spPr>
          <a:xfrm>
            <a:off x="2477069" y="-10656060"/>
            <a:ext cx="4954136" cy="2817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Sliding Window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26. Minimum Window Substring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minimum window in s which contains all characters of 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minWindow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Character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toCharArray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getOrDefault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MAX_VALUE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Expand window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count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Contract window when valid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leftChar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targetMap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count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MAX_VALUE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?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minLen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O(k) where k is alphabet size</a:t>
            </a:r>
          </a:p>
        </p:txBody>
      </p:sp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2ACC76-E8EE-C371-1A26-B9DE865BBC61}"/>
              </a:ext>
            </a:extLst>
          </p:cNvPr>
          <p:cNvSpPr txBox="1"/>
          <p:nvPr/>
        </p:nvSpPr>
        <p:spPr>
          <a:xfrm>
            <a:off x="2477069" y="-3691333"/>
            <a:ext cx="4954136" cy="1424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Stack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27. Largest Rectangle in Histogram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largest rectangle area in histogram.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largestRectangleArea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stack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maxArea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currentHeight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?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currentHeight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peek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width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?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peek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maxArea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maxArea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width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stack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push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maxArea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DA8B8D-E844-CEEC-B99F-990050C4E33E}"/>
              </a:ext>
            </a:extLst>
          </p:cNvPr>
          <p:cNvSpPr txBox="1"/>
          <p:nvPr/>
        </p:nvSpPr>
        <p:spPr>
          <a:xfrm>
            <a:off x="2477069" y="-5913736"/>
            <a:ext cx="4954136" cy="1869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Binary Search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28. Search in Rotated Sorted Array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Search for target in rotated sorted array.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search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Left half is sorted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target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Right half is sorted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target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target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</p:txBody>
      </p:sp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40061-AE77-0309-EB2E-EE2ED3C81E5E}"/>
              </a:ext>
            </a:extLst>
          </p:cNvPr>
          <p:cNvSpPr txBox="1"/>
          <p:nvPr/>
        </p:nvSpPr>
        <p:spPr>
          <a:xfrm>
            <a:off x="2477069" y="-7373110"/>
            <a:ext cx="4954136" cy="21611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29. Merge K Sorted Lists (Alternative Solution)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Merge k sorted linked lists using divide and conquer.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mergeKLists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lists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lists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start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start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start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end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start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mergeTwoLists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mergeTwoLists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dummy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ListNode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dummy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l1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val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l1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l2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current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l1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l2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dummy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log k)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k) due to recursion</a:t>
            </a:r>
          </a:p>
        </p:txBody>
      </p:sp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428F6-DABB-9332-F940-BAEEF81F7F3D}"/>
              </a:ext>
            </a:extLst>
          </p:cNvPr>
          <p:cNvSpPr txBox="1"/>
          <p:nvPr/>
        </p:nvSpPr>
        <p:spPr>
          <a:xfrm>
            <a:off x="2477069" y="-13351670"/>
            <a:ext cx="4954136" cy="335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30. LRU Cache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Design Least Recently Used (LRU) cache.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LRUCache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value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tail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capacity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LRUCache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capacity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capacity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capacity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map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head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tail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tail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tail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remove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insertToFront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value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remove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insertToFront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capacity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lru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tail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remove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lru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remove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lru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newNode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newNode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insertToFront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newNode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remove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insertToFront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head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 for both get and put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O(capacity)</a:t>
            </a:r>
          </a:p>
        </p:txBody>
      </p:sp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E5AA2-D71D-913B-4AC8-BC647A416119}"/>
              </a:ext>
            </a:extLst>
          </p:cNvPr>
          <p:cNvSpPr txBox="1"/>
          <p:nvPr/>
        </p:nvSpPr>
        <p:spPr>
          <a:xfrm>
            <a:off x="2477069" y="-5266123"/>
            <a:ext cx="4954136" cy="1739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Trees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31. Binary Tree Level Order Traversal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Return level-by-level traversal of binary tree.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levelOrder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root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root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queue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LinkedList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queue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queue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levelSize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queue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currentLevel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levelSize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queue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currentLevel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queue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queue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currentLevel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24B15-2A83-4F54-1674-2C3AD90E44B2}"/>
              </a:ext>
            </a:extLst>
          </p:cNvPr>
          <p:cNvSpPr txBox="1"/>
          <p:nvPr/>
        </p:nvSpPr>
        <p:spPr>
          <a:xfrm>
            <a:off x="2477069" y="-5743177"/>
            <a:ext cx="4954136" cy="18351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32. Serialize and Deserialize Binary Tree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Convert binary tree to string and back.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Codec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Encodes a tree to a single string.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serialize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root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root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"null,"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StringBuilder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sb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StringBuilder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sb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append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append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","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sb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append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serialize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sb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append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serialize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root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sb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Decodes your encoded data to tree.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deserialize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data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LinkedList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data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split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","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buildTree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buildTree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equals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"null"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TreeNode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parseInt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val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buildTree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node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buildTree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nodes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node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42DFE8-CBFC-DEB8-E479-AEBCBFA354C9}"/>
              </a:ext>
            </a:extLst>
          </p:cNvPr>
          <p:cNvSpPr txBox="1"/>
          <p:nvPr/>
        </p:nvSpPr>
        <p:spPr>
          <a:xfrm>
            <a:off x="2477069" y="-4615945"/>
            <a:ext cx="4954136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Dynamic Programming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33. Longest Increasing Subsequence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length of longest increasing subsequence.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lengthOfLIS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tails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size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Binary search for insertion point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tails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tails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size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log 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BF5857-48B5-2E27-FD24-07C6EC5F54AE}"/>
              </a:ext>
            </a:extLst>
          </p:cNvPr>
          <p:cNvSpPr txBox="1"/>
          <p:nvPr/>
        </p:nvSpPr>
        <p:spPr>
          <a:xfrm>
            <a:off x="2477069" y="-2390977"/>
            <a:ext cx="4954136" cy="11646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34. Coin Change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Minimum number of coins to make amount.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coinChange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coins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fill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coin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coins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coin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amount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?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amount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O(amount × coins)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O(amount)</a:t>
            </a:r>
          </a:p>
        </p:txBody>
      </p:sp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1AB5A-1549-7D11-B411-99D8F69BBD39}"/>
              </a:ext>
            </a:extLst>
          </p:cNvPr>
          <p:cNvSpPr txBox="1"/>
          <p:nvPr/>
        </p:nvSpPr>
        <p:spPr>
          <a:xfrm>
            <a:off x="2477069" y="-5180202"/>
            <a:ext cx="4954136" cy="1722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35. Edit Distance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Minimum operations to convert word1 to word2.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minDistance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Base cases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word1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delete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Math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insert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replace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O(m × 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O(m × n)</a:t>
            </a:r>
          </a:p>
        </p:txBody>
      </p:sp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A9C337-EDDD-4BF1-39B1-E2235B871B8E}"/>
              </a:ext>
            </a:extLst>
          </p:cNvPr>
          <p:cNvSpPr txBox="1"/>
          <p:nvPr/>
        </p:nvSpPr>
        <p:spPr>
          <a:xfrm>
            <a:off x="2477069" y="-8572156"/>
            <a:ext cx="4954136" cy="2400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Graphs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36. Course Schedule (Cycle Detection)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Determine if all courses can be finished given prerequisites.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canFinish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numCourses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prerequisites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graph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numCourses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graph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Build graph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prereq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prerequisites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graph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prereq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prereq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numCourses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0: unvisited, 1: visiting, 2: visited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numCourses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hasCycle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graph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hasCycle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graph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course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Cycle detected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course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Already processed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course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Mark as visiting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neighbor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graph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course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hasCycle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graph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neighbor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course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Mark as visited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O(V + E)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O(V)</a:t>
            </a:r>
          </a:p>
        </p:txBody>
      </p:sp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3509C-8BAC-60EE-1BC4-7ABFDA706523}"/>
              </a:ext>
            </a:extLst>
          </p:cNvPr>
          <p:cNvSpPr txBox="1"/>
          <p:nvPr/>
        </p:nvSpPr>
        <p:spPr>
          <a:xfrm>
            <a:off x="2477069" y="-9841734"/>
            <a:ext cx="4954136" cy="2654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37. Pacific Atlantic Water Flow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cells from which water can flow to both oceans.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pacificAtlantic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pacific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rows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atlantic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rows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DFS from edges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pacific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MIN_VALUE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atlantic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MIN_VALUE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pacific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MIN_VALUE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atlantic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MIN_VALUE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Find cells reachable by both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pacific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atlantic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length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||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prevHeight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dfs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visited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heights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O(rows × cols)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O(rows × cols)</a:t>
            </a:r>
          </a:p>
        </p:txBody>
      </p:sp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D1B6D-A7A3-1E66-EABC-ECBE231AE0B7}"/>
              </a:ext>
            </a:extLst>
          </p:cNvPr>
          <p:cNvSpPr txBox="1"/>
          <p:nvPr/>
        </p:nvSpPr>
        <p:spPr>
          <a:xfrm>
            <a:off x="2477069" y="-5539275"/>
            <a:ext cx="4954136" cy="1794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Heap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38. Find Median from Data Stream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Design data structure to find median from stream.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MedianFinder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Left half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Right half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MedianFinder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Collections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reverseOrder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Balance heaps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double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findMedian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peek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maxHeap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peek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minHeap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peek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2.0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n) for add, O(1) for find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90E5D-8DB9-5CD2-D2A5-04E60AE900C8}"/>
              </a:ext>
            </a:extLst>
          </p:cNvPr>
          <p:cNvSpPr txBox="1"/>
          <p:nvPr/>
        </p:nvSpPr>
        <p:spPr>
          <a:xfrm>
            <a:off x="2477069" y="-12332160"/>
            <a:ext cx="4954136" cy="3152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Backtracking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39. N-Queens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Place N queens on N×N board without attacking each other.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solveNQueens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fill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'.'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backtrack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backtrack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constructBoard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isValid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'Q'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backtrack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'.'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isValid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Check column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'Q'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Check diagonal (top-left to bottom-right)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'Q'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Check diagonal (top-right to bottom-left)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col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'Q'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constructBoard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row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board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O(n!)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O(n²)</a:t>
            </a:r>
          </a:p>
        </p:txBody>
      </p:sp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493BF-AA9B-02B2-F8E9-7202696881D2}"/>
              </a:ext>
            </a:extLst>
          </p:cNvPr>
          <p:cNvSpPr txBox="1"/>
          <p:nvPr/>
        </p:nvSpPr>
        <p:spPr>
          <a:xfrm>
            <a:off x="2477069" y="-15779257"/>
            <a:ext cx="4954136" cy="3842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String Problems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40. Palindrome Pairs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Find all pairs of words that form palindrome when concatenated.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palindromePairs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words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Case 1: Empty string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isPalindrome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words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continue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Case 2: Reverse of word exists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reversed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StringBuilder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word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reverse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reversed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reversed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reversed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Case 3: Word can be split into two parts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k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If left is palindrome, check if reverse of right exists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isPalindrome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reverseRight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StringBuilder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reverse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If right is palindrome, check if reverse of left exists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isPalindrome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reverseLeft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StringBuilder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reverse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toString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asList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reverseLeft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isPalindrome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length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right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left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charAt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right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false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× k²) where k is average word length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O(n)</a:t>
            </a:r>
          </a:p>
        </p:txBody>
      </p:sp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E1DE2B-7B59-656F-A047-D31A3FED35D3}"/>
              </a:ext>
            </a:extLst>
          </p:cNvPr>
          <p:cNvSpPr txBox="1"/>
          <p:nvPr/>
        </p:nvSpPr>
        <p:spPr>
          <a:xfrm>
            <a:off x="2477069" y="-8978678"/>
            <a:ext cx="4954136" cy="2482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Advanced Math Problems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41. Integer to English Words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Convert integer to English words.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final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LESS_THAN_20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"One"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"Two"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"Three"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"Four"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"Five"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       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"Six"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"Seven"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"Eight"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"Nine"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       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"Eleven"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"Twelve"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"Thirteen"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"Fourteen"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       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"Fifteen"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"Sixteen"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"Seventeen"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"Eighteen"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       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"Nineteen"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final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TENS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"Twenty"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"Thirty"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"Forty"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"Fifty"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                  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"Sixty"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"Seventy"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"Eighty"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"Ninety"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final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THOUSANDS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"Thousand"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"Million"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"Billion"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numberToWords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"Zero"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words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helper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THOUSANDS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 "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words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words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helper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LESS_THAN_20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 "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TENS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 "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helper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LESS_THAN_20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" Hundred "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helper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num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n) |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O(log n)</a:t>
            </a:r>
          </a:p>
        </p:txBody>
      </p:sp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C2A1A-09C5-5557-4481-D72E7A08111D}"/>
              </a:ext>
            </a:extLst>
          </p:cNvPr>
          <p:cNvSpPr txBox="1"/>
          <p:nvPr/>
        </p:nvSpPr>
        <p:spPr>
          <a:xfrm>
            <a:off x="2477069" y="-23931489"/>
            <a:ext cx="4954136" cy="54727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Design Problems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42. Design Twitter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Design a simplified Twitter with post tweets, follow/unfollow, and news feed.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java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Twitter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static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timestamp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time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timestamp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class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followed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Follow self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tweetHead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unfollow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this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remove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post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tweetHead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private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Twitter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HashMap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postTweet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putIfAbsent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post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getNewsFeed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ArrayList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Integer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followed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pq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B76B01"/>
                </a:solidFill>
                <a:effectLst/>
                <a:latin typeface="Menlo"/>
              </a:rPr>
              <a:t>PriorityQueue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&lt;&gt;((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time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time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Add all tweets from followed users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tweetHead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tweet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pq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// Get top 10 tweets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while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pq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isEmpty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count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pq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poll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pq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offer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tweet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next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count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++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putIfAbsent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putIfAbsent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User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unfollow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containsKey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&amp;&amp;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!=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userMap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4078F2"/>
                </a:solidFill>
                <a:effectLst/>
                <a:latin typeface="Menlo"/>
              </a:rPr>
              <a:t>get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).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unfollow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followeeId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Time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postTweet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getNewsFeed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O(n log n) where n is number of followed users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follow/unfollow: O(1)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Space Complexity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 O(total users + total tweets)</a:t>
            </a:r>
          </a:p>
        </p:txBody>
      </p:sp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615043-BA1A-1134-C1F2-69255CAE1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48663"/>
              </p:ext>
            </p:extLst>
          </p:nvPr>
        </p:nvGraphicFramePr>
        <p:xfrm>
          <a:off x="4408964" y="887104"/>
          <a:ext cx="4625853" cy="4748454"/>
        </p:xfrm>
        <a:graphic>
          <a:graphicData uri="http://schemas.openxmlformats.org/drawingml/2006/table">
            <a:tbl>
              <a:tblPr/>
              <a:tblGrid>
                <a:gridCol w="1541951">
                  <a:extLst>
                    <a:ext uri="{9D8B030D-6E8A-4147-A177-3AD203B41FA5}">
                      <a16:colId xmlns:a16="http://schemas.microsoft.com/office/drawing/2014/main" val="3029299174"/>
                    </a:ext>
                  </a:extLst>
                </a:gridCol>
                <a:gridCol w="1541951">
                  <a:extLst>
                    <a:ext uri="{9D8B030D-6E8A-4147-A177-3AD203B41FA5}">
                      <a16:colId xmlns:a16="http://schemas.microsoft.com/office/drawing/2014/main" val="663523341"/>
                    </a:ext>
                  </a:extLst>
                </a:gridCol>
                <a:gridCol w="1541951">
                  <a:extLst>
                    <a:ext uri="{9D8B030D-6E8A-4147-A177-3AD203B41FA5}">
                      <a16:colId xmlns:a16="http://schemas.microsoft.com/office/drawing/2014/main" val="63620213"/>
                    </a:ext>
                  </a:extLst>
                </a:gridCol>
              </a:tblGrid>
              <a:tr h="27786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Category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Key Techniques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Common Problems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792372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Arrays/Hashing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HashMap, HashSet, Sorting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Two Sum, Group Anagrams, Top K Frequent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508359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Two Pointers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Left/Right pointers, Sorting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 dirty="0">
                          <a:effectLst/>
                          <a:latin typeface="quote-cjk-patch"/>
                        </a:rPr>
                        <a:t>3Sum, Container Water, Trapping Rain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693371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Sliding Window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Window expansion/contraction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Longest Substring, Min Window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903343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Stack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Monotonic stack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Valid Parentheses, Largest Rectangle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58007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Binary Search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Search space reduction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Search Rotated, Find Min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966304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Linked List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Fast/Slow pointers, Dummy nodes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Reverse, Cycle Detection, LRU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371591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Trees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DFS, BFS, Recursion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Level Order, Serialize, Validate BST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763834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DP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Memoization, Tabulation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LIS, Coin Change, Edit Distance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23589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Graphs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DFS, BFS, Topological Sort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Number Islands, Course Schedule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099766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Heap/Queue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PriorityQueue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Merge K Lists, Median Finder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703922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Backtracking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Pruning, State management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N-Queens, Palindrome Partitioning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93244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Design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Data structure combination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 dirty="0">
                          <a:effectLst/>
                          <a:latin typeface="quote-cjk-patch"/>
                        </a:rPr>
                        <a:t>LRU Cache, Twitter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83322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1E2078A-3B15-BF48-D928-DFAC654D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964" y="288578"/>
            <a:ext cx="3027529" cy="5539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📊 Summary Table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DDC01F-0426-3DDC-5125-8CEB9F05F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29" y="565529"/>
            <a:ext cx="3576046" cy="4760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🚀 Tips for Advanced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Recognize patterns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Most problems are variations of classic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Optimize step by step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Start with brute force, then optimize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Draw the solution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Visualize data structures and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Practice system design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For design problems, think about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Learn time/space complexity analysis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Crucial for interviews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Write clean code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Use meaningful variable names and comments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Test edge cases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- Empty input, single element, large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📈 Progression 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Easy (40-50 problems)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Master basic data structures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Medium (80-100 problems)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Learn optimization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Hard (30-40 problems)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Combine multiple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Mock interviews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Practice under time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Company-specific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Focus on frequently asked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Remember: Consistency and understanding &gt; Number of problems solved. Happy coding! 🎉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10487</Words>
  <Application>Microsoft Office PowerPoint</Application>
  <PresentationFormat>A4 Paper (210x297 mm)</PresentationFormat>
  <Paragraphs>1562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0" baseType="lpstr">
      <vt:lpstr>Aptos</vt:lpstr>
      <vt:lpstr>Aptos Display</vt:lpstr>
      <vt:lpstr>Arial</vt:lpstr>
      <vt:lpstr>Menlo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48</cp:revision>
  <dcterms:created xsi:type="dcterms:W3CDTF">2026-02-06T21:19:28Z</dcterms:created>
  <dcterms:modified xsi:type="dcterms:W3CDTF">2026-02-26T23:34:17Z</dcterms:modified>
</cp:coreProperties>
</file>