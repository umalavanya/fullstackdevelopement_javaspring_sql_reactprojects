
<file path=[Content_Types].xml><?xml version="1.0" encoding="utf-8"?>
<Types xmlns="http://schemas.openxmlformats.org/package/2006/content-types">
  <Default Extension="jpeg" ContentType="image/jpe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bookmarkIdSeed="3">
  <p:sldMasterIdLst>
    <p:sldMasterId id="2147483660" r:id="rId1"/>
  </p:sldMasterIdLst>
  <p:sldIdLst>
    <p:sldId id="256" r:id="rId2"/>
    <p:sldId id="257" r:id="rId3"/>
    <p:sldId id="258" r:id="rId4"/>
    <p:sldId id="259" r:id="rId5"/>
    <p:sldId id="260" r:id="rId6"/>
    <p:sldId id="261" r:id="rId7"/>
    <p:sldId id="262" r:id="rId8"/>
    <p:sldId id="263" r:id="rId9"/>
    <p:sldId id="264" r:id="rId10"/>
    <p:sldId id="265" r:id="rId11"/>
    <p:sldId id="266" r:id="rId12"/>
    <p:sldId id="267" r:id="rId13"/>
    <p:sldId id="268" r:id="rId14"/>
    <p:sldId id="269" r:id="rId15"/>
    <p:sldId id="270" r:id="rId16"/>
    <p:sldId id="271" r:id="rId17"/>
    <p:sldId id="272" r:id="rId18"/>
    <p:sldId id="273" r:id="rId19"/>
    <p:sldId id="274" r:id="rId20"/>
    <p:sldId id="275" r:id="rId21"/>
    <p:sldId id="276" r:id="rId22"/>
    <p:sldId id="277" r:id="rId23"/>
    <p:sldId id="278" r:id="rId24"/>
    <p:sldId id="279" r:id="rId25"/>
    <p:sldId id="280" r:id="rId26"/>
    <p:sldId id="281" r:id="rId27"/>
    <p:sldId id="282" r:id="rId28"/>
    <p:sldId id="283" r:id="rId29"/>
    <p:sldId id="284" r:id="rId30"/>
    <p:sldId id="285" r:id="rId31"/>
    <p:sldId id="286" r:id="rId32"/>
    <p:sldId id="287" r:id="rId33"/>
    <p:sldId id="288" r:id="rId34"/>
    <p:sldId id="289" r:id="rId35"/>
    <p:sldId id="290" r:id="rId36"/>
    <p:sldId id="291" r:id="rId37"/>
    <p:sldId id="292" r:id="rId38"/>
    <p:sldId id="293" r:id="rId39"/>
    <p:sldId id="294" r:id="rId40"/>
    <p:sldId id="295" r:id="rId41"/>
    <p:sldId id="296" r:id="rId42"/>
    <p:sldId id="297" r:id="rId43"/>
    <p:sldId id="298" r:id="rId44"/>
    <p:sldId id="299" r:id="rId45"/>
    <p:sldId id="300" r:id="rId46"/>
    <p:sldId id="301" r:id="rId47"/>
    <p:sldId id="302" r:id="rId48"/>
    <p:sldId id="303" r:id="rId49"/>
    <p:sldId id="304" r:id="rId50"/>
    <p:sldId id="305" r:id="rId51"/>
    <p:sldId id="306" r:id="rId52"/>
    <p:sldId id="307" r:id="rId53"/>
    <p:sldId id="308" r:id="rId54"/>
    <p:sldId id="309" r:id="rId55"/>
    <p:sldId id="310" r:id="rId56"/>
    <p:sldId id="311" r:id="rId57"/>
    <p:sldId id="312" r:id="rId58"/>
    <p:sldId id="313" r:id="rId59"/>
    <p:sldId id="314" r:id="rId60"/>
    <p:sldId id="315" r:id="rId61"/>
    <p:sldId id="316" r:id="rId62"/>
    <p:sldId id="317" r:id="rId63"/>
    <p:sldId id="318" r:id="rId64"/>
    <p:sldId id="319" r:id="rId65"/>
    <p:sldId id="320" r:id="rId66"/>
    <p:sldId id="321" r:id="rId67"/>
    <p:sldId id="322" r:id="rId68"/>
    <p:sldId id="323" r:id="rId69"/>
    <p:sldId id="324" r:id="rId70"/>
    <p:sldId id="325" r:id="rId71"/>
    <p:sldId id="326" r:id="rId72"/>
    <p:sldId id="327" r:id="rId73"/>
    <p:sldId id="328" r:id="rId74"/>
    <p:sldId id="329" r:id="rId75"/>
    <p:sldId id="330" r:id="rId76"/>
    <p:sldId id="331" r:id="rId77"/>
    <p:sldId id="332" r:id="rId78"/>
    <p:sldId id="333" r:id="rId79"/>
    <p:sldId id="334" r:id="rId80"/>
    <p:sldId id="335" r:id="rId81"/>
    <p:sldId id="336" r:id="rId82"/>
    <p:sldId id="337" r:id="rId83"/>
    <p:sldId id="338" r:id="rId84"/>
    <p:sldId id="339" r:id="rId85"/>
    <p:sldId id="340" r:id="rId86"/>
    <p:sldId id="341" r:id="rId87"/>
    <p:sldId id="342" r:id="rId88"/>
    <p:sldId id="343" r:id="rId89"/>
    <p:sldId id="344" r:id="rId90"/>
    <p:sldId id="345" r:id="rId91"/>
    <p:sldId id="346" r:id="rId92"/>
    <p:sldId id="347" r:id="rId93"/>
    <p:sldId id="348" r:id="rId94"/>
    <p:sldId id="349" r:id="rId95"/>
    <p:sldId id="350" r:id="rId96"/>
    <p:sldId id="351" r:id="rId97"/>
    <p:sldId id="352" r:id="rId98"/>
    <p:sldId id="353" r:id="rId99"/>
    <p:sldId id="354" r:id="rId100"/>
    <p:sldId id="355" r:id="rId101"/>
    <p:sldId id="356" r:id="rId102"/>
    <p:sldId id="357" r:id="rId103"/>
    <p:sldId id="358" r:id="rId104"/>
    <p:sldId id="359" r:id="rId105"/>
  </p:sldIdLst>
  <p:sldSz cx="9906000" cy="6858000" type="A4"/>
  <p:notesSz cx="6858000" cy="9144000"/>
  <p:defaultTextStyle>
    <a:defPPr>
      <a:defRPr lang="en-US"/>
    </a:defPPr>
    <a:lvl1pPr marL="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9285" autoAdjust="0"/>
    <p:restoredTop sz="94660"/>
  </p:normalViewPr>
  <p:slideViewPr>
    <p:cSldViewPr snapToGrid="0">
      <p:cViewPr>
        <p:scale>
          <a:sx n="33" d="100"/>
          <a:sy n="33" d="100"/>
        </p:scale>
        <p:origin x="787" y="845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5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63" Type="http://schemas.openxmlformats.org/officeDocument/2006/relationships/slide" Target="slides/slide62.xml"/><Relationship Id="rId68" Type="http://schemas.openxmlformats.org/officeDocument/2006/relationships/slide" Target="slides/slide67.xml"/><Relationship Id="rId84" Type="http://schemas.openxmlformats.org/officeDocument/2006/relationships/slide" Target="slides/slide83.xml"/><Relationship Id="rId89" Type="http://schemas.openxmlformats.org/officeDocument/2006/relationships/slide" Target="slides/slide88.xml"/><Relationship Id="rId16" Type="http://schemas.openxmlformats.org/officeDocument/2006/relationships/slide" Target="slides/slide15.xml"/><Relationship Id="rId107" Type="http://schemas.openxmlformats.org/officeDocument/2006/relationships/viewProps" Target="viewProps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74" Type="http://schemas.openxmlformats.org/officeDocument/2006/relationships/slide" Target="slides/slide73.xml"/><Relationship Id="rId79" Type="http://schemas.openxmlformats.org/officeDocument/2006/relationships/slide" Target="slides/slide78.xml"/><Relationship Id="rId102" Type="http://schemas.openxmlformats.org/officeDocument/2006/relationships/slide" Target="slides/slide101.xml"/><Relationship Id="rId5" Type="http://schemas.openxmlformats.org/officeDocument/2006/relationships/slide" Target="slides/slide4.xml"/><Relationship Id="rId90" Type="http://schemas.openxmlformats.org/officeDocument/2006/relationships/slide" Target="slides/slide89.xml"/><Relationship Id="rId95" Type="http://schemas.openxmlformats.org/officeDocument/2006/relationships/slide" Target="slides/slide94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80" Type="http://schemas.openxmlformats.org/officeDocument/2006/relationships/slide" Target="slides/slide79.xml"/><Relationship Id="rId85" Type="http://schemas.openxmlformats.org/officeDocument/2006/relationships/slide" Target="slides/slide84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59" Type="http://schemas.openxmlformats.org/officeDocument/2006/relationships/slide" Target="slides/slide58.xml"/><Relationship Id="rId103" Type="http://schemas.openxmlformats.org/officeDocument/2006/relationships/slide" Target="slides/slide102.xml"/><Relationship Id="rId108" Type="http://schemas.openxmlformats.org/officeDocument/2006/relationships/theme" Target="theme/theme1.xml"/><Relationship Id="rId54" Type="http://schemas.openxmlformats.org/officeDocument/2006/relationships/slide" Target="slides/slide53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91" Type="http://schemas.openxmlformats.org/officeDocument/2006/relationships/slide" Target="slides/slide90.xml"/><Relationship Id="rId96" Type="http://schemas.openxmlformats.org/officeDocument/2006/relationships/slide" Target="slides/slide95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Relationship Id="rId106" Type="http://schemas.openxmlformats.org/officeDocument/2006/relationships/presProps" Target="presProps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81" Type="http://schemas.openxmlformats.org/officeDocument/2006/relationships/slide" Target="slides/slide80.xml"/><Relationship Id="rId86" Type="http://schemas.openxmlformats.org/officeDocument/2006/relationships/slide" Target="slides/slide85.xml"/><Relationship Id="rId94" Type="http://schemas.openxmlformats.org/officeDocument/2006/relationships/slide" Target="slides/slide93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109" Type="http://schemas.openxmlformats.org/officeDocument/2006/relationships/tableStyles" Target="tableStyles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04" Type="http://schemas.openxmlformats.org/officeDocument/2006/relationships/slide" Target="slides/slide103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4" Type="http://schemas.openxmlformats.org/officeDocument/2006/relationships/slide" Target="slides/slide23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slide" Target="slides/slide86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56" Type="http://schemas.openxmlformats.org/officeDocument/2006/relationships/slide" Target="slides/slide55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105" Type="http://schemas.openxmlformats.org/officeDocument/2006/relationships/slide" Target="slides/slide104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93" Type="http://schemas.openxmlformats.org/officeDocument/2006/relationships/slide" Target="slides/slide92.xml"/><Relationship Id="rId98" Type="http://schemas.openxmlformats.org/officeDocument/2006/relationships/slide" Target="slides/slide97.xml"/><Relationship Id="rId3" Type="http://schemas.openxmlformats.org/officeDocument/2006/relationships/slide" Target="slides/slide2.xml"/><Relationship Id="rId25" Type="http://schemas.openxmlformats.org/officeDocument/2006/relationships/slide" Target="slides/slide24.xml"/><Relationship Id="rId46" Type="http://schemas.openxmlformats.org/officeDocument/2006/relationships/slide" Target="slides/slide45.xml"/><Relationship Id="rId67" Type="http://schemas.openxmlformats.org/officeDocument/2006/relationships/slide" Target="slides/slide66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62" Type="http://schemas.openxmlformats.org/officeDocument/2006/relationships/slide" Target="slides/slide61.xml"/><Relationship Id="rId83" Type="http://schemas.openxmlformats.org/officeDocument/2006/relationships/slide" Target="slides/slide82.xml"/><Relationship Id="rId88" Type="http://schemas.openxmlformats.org/officeDocument/2006/relationships/slide" Target="slides/slide87.xml"/></Relationship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742950" y="1122363"/>
            <a:ext cx="84201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238250" y="3602038"/>
            <a:ext cx="74295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D1FB5FC-1629-4A0D-9573-785FAC7ED015}" type="datetimeFigureOut">
              <a:rPr lang="en-US" smtClean="0"/>
              <a:t>2/26/2026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483C504-7F0E-4585-832D-B71C6D96FE19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9105795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D1FB5FC-1629-4A0D-9573-785FAC7ED015}" type="datetimeFigureOut">
              <a:rPr lang="en-US" smtClean="0"/>
              <a:t>2/26/2026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483C504-7F0E-4585-832D-B71C6D96FE19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57447923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75879" y="1709740"/>
            <a:ext cx="8543925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75879" y="4589465"/>
            <a:ext cx="8543925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82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82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82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D1FB5FC-1629-4A0D-9573-785FAC7ED015}" type="datetimeFigureOut">
              <a:rPr lang="en-US" smtClean="0"/>
              <a:t>2/26/2026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483C504-7F0E-4585-832D-B71C6D96FE19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80833214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81038" y="1825625"/>
            <a:ext cx="421005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5014913" y="1825625"/>
            <a:ext cx="421005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D1FB5FC-1629-4A0D-9573-785FAC7ED015}" type="datetimeFigureOut">
              <a:rPr lang="en-US" smtClean="0"/>
              <a:t>2/26/2026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483C504-7F0E-4585-832D-B71C6D96FE19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86600891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2328" y="365127"/>
            <a:ext cx="8543925" cy="1325563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82329" y="1681163"/>
            <a:ext cx="4190702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82329" y="2505075"/>
            <a:ext cx="4190702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014913" y="1681163"/>
            <a:ext cx="4211340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5014913" y="2505075"/>
            <a:ext cx="4211340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D1FB5FC-1629-4A0D-9573-785FAC7ED015}" type="datetimeFigureOut">
              <a:rPr lang="en-US" smtClean="0"/>
              <a:t>2/26/2026</a:t>
            </a:fld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483C504-7F0E-4585-832D-B71C6D96FE19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07381163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D1FB5FC-1629-4A0D-9573-785FAC7ED015}" type="datetimeFigureOut">
              <a:rPr lang="en-US" smtClean="0"/>
              <a:t>2/26/2026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483C504-7F0E-4585-832D-B71C6D96FE19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12024153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D1FB5FC-1629-4A0D-9573-785FAC7ED015}" type="datetimeFigureOut">
              <a:rPr lang="en-US" smtClean="0"/>
              <a:t>2/26/2026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483C504-7F0E-4585-832D-B71C6D96FE19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20224679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2328" y="457200"/>
            <a:ext cx="3194943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211340" y="987427"/>
            <a:ext cx="5014913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82328" y="2057400"/>
            <a:ext cx="3194943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D1FB5FC-1629-4A0D-9573-785FAC7ED015}" type="datetimeFigureOut">
              <a:rPr lang="en-US" smtClean="0"/>
              <a:t>2/26/2026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483C504-7F0E-4585-832D-B71C6D96FE19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79119792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2328" y="457200"/>
            <a:ext cx="3194943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4211340" y="987427"/>
            <a:ext cx="5014913" cy="4873625"/>
          </a:xfrm>
        </p:spPr>
        <p:txBody>
          <a:bodyPr anchor="t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82328" y="2057400"/>
            <a:ext cx="3194943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D1FB5FC-1629-4A0D-9573-785FAC7ED015}" type="datetimeFigureOut">
              <a:rPr lang="en-US" smtClean="0"/>
              <a:t>2/26/2026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483C504-7F0E-4585-832D-B71C6D96FE19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53613830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D1FB5FC-1629-4A0D-9573-785FAC7ED015}" type="datetimeFigureOut">
              <a:rPr lang="en-US" smtClean="0"/>
              <a:t>2/26/2026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483C504-7F0E-4585-832D-B71C6D96FE19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13614303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7088982" y="365125"/>
            <a:ext cx="2135981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81038" y="365125"/>
            <a:ext cx="6284119" cy="5811838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D1FB5FC-1629-4A0D-9573-785FAC7ED015}" type="datetimeFigureOut">
              <a:rPr lang="en-US" smtClean="0"/>
              <a:t>2/26/2026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483C504-7F0E-4585-832D-B71C6D96FE19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69650298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681038" y="365127"/>
            <a:ext cx="8543925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81038" y="1825625"/>
            <a:ext cx="8543925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681038" y="6356352"/>
            <a:ext cx="222885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fld id="{2D1FB5FC-1629-4A0D-9573-785FAC7ED015}" type="datetimeFigureOut">
              <a:rPr lang="en-US" smtClean="0"/>
              <a:t>2/26/2026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281363" y="6356352"/>
            <a:ext cx="334327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996113" y="6356352"/>
            <a:ext cx="222885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fld id="{E483C504-7F0E-4585-832D-B71C6D96FE19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9040606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D8C2DC09-6504-576A-DC99-ED7C129DCCC2}"/>
              </a:ext>
            </a:extLst>
          </p:cNvPr>
          <p:cNvSpPr txBox="1"/>
          <p:nvPr/>
        </p:nvSpPr>
        <p:spPr>
          <a:xfrm>
            <a:off x="-1136" y="-300576"/>
            <a:ext cx="4954136" cy="77662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lnSpc>
                <a:spcPts val="2250"/>
              </a:lnSpc>
              <a:spcBef>
                <a:spcPts val="2400"/>
              </a:spcBef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Concepts Overview:</a:t>
            </a:r>
          </a:p>
          <a:p>
            <a:pPr algn="l">
              <a:lnSpc>
                <a:spcPts val="2100"/>
              </a:lnSpc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1. Variables and Data Types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Java is statically typed - you must declare variable types.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Primitive types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: byte, short, int, long, float, double, char,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quote-cjk-patch"/>
              </a:rPr>
              <a:t>boolean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Reference types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: String, arrays, objects</a:t>
            </a:r>
          </a:p>
          <a:p>
            <a:pPr algn="l">
              <a:lnSpc>
                <a:spcPts val="2100"/>
              </a:lnSpc>
              <a:spcBef>
                <a:spcPts val="1200"/>
              </a:spcBef>
              <a:spcAft>
                <a:spcPts val="6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2. Operators</a:t>
            </a:r>
          </a:p>
          <a:p>
            <a:pPr algn="l">
              <a:lnSpc>
                <a:spcPts val="1650"/>
              </a:lnSpc>
              <a:spcBef>
                <a:spcPts val="60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Arithmetic: 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, 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-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, 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*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, 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/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, 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%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>
              <a:lnSpc>
                <a:spcPts val="1650"/>
              </a:lnSpc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Comparison: 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==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, 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!=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, 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, 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, 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&lt;=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, 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&gt;=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>
              <a:lnSpc>
                <a:spcPts val="1650"/>
              </a:lnSpc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Logical: 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&amp;&amp;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, 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||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, 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!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>
              <a:lnSpc>
                <a:spcPts val="1650"/>
              </a:lnSpc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Assignment: 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, 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+=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, 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-=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, etc.</a:t>
            </a:r>
          </a:p>
          <a:p>
            <a:pPr algn="l">
              <a:lnSpc>
                <a:spcPts val="2250"/>
              </a:lnSpc>
              <a:spcBef>
                <a:spcPts val="2400"/>
              </a:spcBef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Exercise 1.1: Basic Calculator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Create a program that performs basic arithmetic operations on two numbers.</a:t>
            </a:r>
          </a:p>
          <a:p>
            <a:pPr>
              <a:buNone/>
            </a:pPr>
            <a:b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</a:br>
            <a:endParaRPr lang="en-US" dirty="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50271046-34C0-8E89-FA07-564577999A6B}"/>
              </a:ext>
            </a:extLst>
          </p:cNvPr>
          <p:cNvSpPr txBox="1"/>
          <p:nvPr/>
        </p:nvSpPr>
        <p:spPr>
          <a:xfrm>
            <a:off x="4469642" y="0"/>
            <a:ext cx="4981432" cy="533094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BasicCalculator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main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[]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args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Declare variables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num1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15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num2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4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Perform operations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sum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num1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num2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difference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num1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-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num2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product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num1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*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num2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quotient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num1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/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num2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remainder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num1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%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num2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Print results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"Number 1: "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num1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"Number 2: "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num2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"Sum: "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sum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"Difference: "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difference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"Product: "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product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"Quotient: "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quotient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"Remainder: "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remainder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5172191F-20C7-9A26-03F2-DBB257DA6C1F}"/>
              </a:ext>
            </a:extLst>
          </p:cNvPr>
          <p:cNvSpPr txBox="1"/>
          <p:nvPr/>
        </p:nvSpPr>
        <p:spPr>
          <a:xfrm>
            <a:off x="5261213" y="5131197"/>
            <a:ext cx="4981432" cy="162480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Number 1: 15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Number 2: 4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Sum: 19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Difference: 11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Product: 60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Quotient: 3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Remainder: 3</a:t>
            </a:r>
          </a:p>
        </p:txBody>
      </p:sp>
    </p:spTree>
    <p:extLst>
      <p:ext uri="{BB962C8B-B14F-4D97-AF65-F5344CB8AC3E}">
        <p14:creationId xmlns:p14="http://schemas.microsoft.com/office/powerpoint/2010/main" val="686781479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BD047F0-2EEC-3B96-C431-447C7F2D006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D44CFF56-CA22-9265-7023-960FA5486F6C}"/>
              </a:ext>
            </a:extLst>
          </p:cNvPr>
          <p:cNvSpPr txBox="1"/>
          <p:nvPr/>
        </p:nvSpPr>
        <p:spPr>
          <a:xfrm>
            <a:off x="116007" y="-305841"/>
            <a:ext cx="4954136" cy="957826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lnSpc>
                <a:spcPts val="2250"/>
              </a:lnSpc>
              <a:spcBef>
                <a:spcPts val="2400"/>
              </a:spcBef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Exercise 1.2: Temperature Converter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Convert Celsius to Fahrenheit and Kelvin.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Solution: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>
              <a:lnSpc>
                <a:spcPts val="13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java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TemperatureConverter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main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[]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args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celsius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25.5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Convert to Fahrenheit: (C × 9/5) + 32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fahrenheit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celsius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*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9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/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5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32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Convert to Kelvin: C + 273.15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kelvin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celsius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273.15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"Celsius: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celsius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"°C"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"Fahrenheit: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fahrenheit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"°F"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"Kelvin: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kelvin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"K"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5A3F73CB-FF1A-83EA-CD4E-8F5417D8E221}"/>
              </a:ext>
            </a:extLst>
          </p:cNvPr>
          <p:cNvSpPr txBox="1"/>
          <p:nvPr/>
        </p:nvSpPr>
        <p:spPr>
          <a:xfrm>
            <a:off x="4565176" y="-800914"/>
            <a:ext cx="4954136" cy="1137362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lnSpc>
                <a:spcPts val="2250"/>
              </a:lnSpc>
              <a:spcBef>
                <a:spcPts val="2400"/>
              </a:spcBef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Exercise 1.3: Simple Interest Calculator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Calculate simple interest: SI = (P × R × T)/100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Solution: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>
              <a:lnSpc>
                <a:spcPts val="13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java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SimpleInterest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main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[]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args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principal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1000.0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P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rate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5.5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R in percentage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time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2.5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T in years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simpleInterest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principal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*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rate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*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time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/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100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totalAmount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principal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simpleInterest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"Principal Amount: $"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principal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"Interest Rate: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rate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"%"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"Time Period: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time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 years"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"Simple Interest: $"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simpleInterest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"Total Amount: $"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totalAmount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</p:txBody>
      </p:sp>
    </p:spTree>
    <p:extLst>
      <p:ext uri="{BB962C8B-B14F-4D97-AF65-F5344CB8AC3E}">
        <p14:creationId xmlns:p14="http://schemas.microsoft.com/office/powerpoint/2010/main" val="1157393664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534D29A-B4F1-7845-01A9-9FC7E064E3C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480FDFC6-ACF2-969F-D479-10367C04F3EE}"/>
              </a:ext>
            </a:extLst>
          </p:cNvPr>
          <p:cNvSpPr txBox="1"/>
          <p:nvPr/>
        </p:nvSpPr>
        <p:spPr>
          <a:xfrm>
            <a:off x="0" y="-2234921"/>
            <a:ext cx="4954136" cy="1261755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lnSpc>
                <a:spcPts val="2250"/>
              </a:lnSpc>
              <a:spcBef>
                <a:spcPts val="2400"/>
              </a:spcBef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Exercise 1.4: Data Type Range Checker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Check if a number fits in different data types.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Solution: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>
              <a:lnSpc>
                <a:spcPts val="13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java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DataTypeRange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main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[]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args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number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130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Check byte range (-128 to 127)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boolean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fitsInByte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number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&gt;=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128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&amp;&amp;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number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&lt;=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127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Check short range (-32768 to 32767)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boolean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fitsInShort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number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&gt;=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32768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&amp;&amp;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number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&lt;=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32767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"Number: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number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"Fits in byte?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fitsInByte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"Fits in short?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fitsInShort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Demonstrate casting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byte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byteValue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byte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number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This will overflow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"As byte (with overflow):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byteValue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126C1A37-9B95-2C06-A52B-8F7EA2A6D976}"/>
              </a:ext>
            </a:extLst>
          </p:cNvPr>
          <p:cNvSpPr txBox="1"/>
          <p:nvPr/>
        </p:nvSpPr>
        <p:spPr>
          <a:xfrm>
            <a:off x="4633419" y="212591"/>
            <a:ext cx="4981432" cy="664540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lnSpc>
                <a:spcPts val="2250"/>
              </a:lnSpc>
              <a:spcBef>
                <a:spcPts val="2400"/>
              </a:spcBef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Practice Exercises - Try These Yourself:</a:t>
            </a:r>
          </a:p>
          <a:p>
            <a:pPr algn="l">
              <a:lnSpc>
                <a:spcPts val="2100"/>
              </a:lnSpc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Exercise 1.5: Circle Calculations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Create a program that calculates the area and circumference of a circle given its radius. Use π = 3.14159.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Hints: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>
              <a:spcBef>
                <a:spcPts val="120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Area = π × r²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Circumference = 2 × π × r</a:t>
            </a:r>
          </a:p>
          <a:p>
            <a:pPr algn="l">
              <a:lnSpc>
                <a:spcPts val="2100"/>
              </a:lnSpc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Exercise 1.6: Swap Two Numbers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Swap the values of two integer variables without using a third variable.</a:t>
            </a:r>
          </a:p>
          <a:p>
            <a:pPr algn="l">
              <a:lnSpc>
                <a:spcPts val="2100"/>
              </a:lnSpc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Exercise 1.7: Average of Three Numbers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Calculate and display the average of three numbers with 2 decimal places.</a:t>
            </a:r>
          </a:p>
        </p:txBody>
      </p:sp>
    </p:spTree>
    <p:extLst>
      <p:ext uri="{BB962C8B-B14F-4D97-AF65-F5344CB8AC3E}">
        <p14:creationId xmlns:p14="http://schemas.microsoft.com/office/powerpoint/2010/main" val="3003737820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E9FD1ED-AE24-6A7F-06AD-E8D52398C31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78715B13-7AD9-A3B9-637E-A0915F9A5F72}"/>
              </a:ext>
            </a:extLst>
          </p:cNvPr>
          <p:cNvSpPr txBox="1"/>
          <p:nvPr/>
        </p:nvSpPr>
        <p:spPr>
          <a:xfrm>
            <a:off x="-238836" y="-167586"/>
            <a:ext cx="4954136" cy="801886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lnSpc>
                <a:spcPts val="2250"/>
              </a:lnSpc>
              <a:spcBef>
                <a:spcPts val="2400"/>
              </a:spcBef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Solutions to Practice Exercises: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Solution 1.5: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>
              <a:lnSpc>
                <a:spcPts val="13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java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CircleCalculations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main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[]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args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radius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7.5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pi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3.14159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area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pi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*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radius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*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radius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circumference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2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*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pi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*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radius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"Radius: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radius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"Area: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area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"Circumference: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circumference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3D1F01EA-4610-92C7-106A-C5479E2A2383}"/>
              </a:ext>
            </a:extLst>
          </p:cNvPr>
          <p:cNvSpPr txBox="1"/>
          <p:nvPr/>
        </p:nvSpPr>
        <p:spPr>
          <a:xfrm>
            <a:off x="2262117" y="-462539"/>
            <a:ext cx="5097438" cy="860876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Solution 1.6: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>
              <a:lnSpc>
                <a:spcPts val="13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java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SwapNumbers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main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[]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args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b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20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"Before swap: a =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", b =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b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Swap using arithmetic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a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b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a = 30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b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b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b = 10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a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b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a = 20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"After swap: a =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", b =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b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BF671E2E-704D-873C-A7E7-B6A9EE7445ED}"/>
              </a:ext>
            </a:extLst>
          </p:cNvPr>
          <p:cNvSpPr txBox="1"/>
          <p:nvPr/>
        </p:nvSpPr>
        <p:spPr>
          <a:xfrm>
            <a:off x="5414750" y="133777"/>
            <a:ext cx="5097438" cy="741613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Solution 1.7: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>
              <a:lnSpc>
                <a:spcPts val="13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java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AverageCalculator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main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[]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args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num1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85.5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num2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90.0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num3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78.5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average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num1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num2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num3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/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3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Format to 2 decimal places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printf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"Numbers: %.2f, %.2f, %.2f%n"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num1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num2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num3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printf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"Average: %.2f%n"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average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</p:txBody>
      </p:sp>
    </p:spTree>
    <p:extLst>
      <p:ext uri="{BB962C8B-B14F-4D97-AF65-F5344CB8AC3E}">
        <p14:creationId xmlns:p14="http://schemas.microsoft.com/office/powerpoint/2010/main" val="3258457702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F77EBBE-70C4-1F8D-8A27-CED0ABFBD1C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56CA5DF6-7667-25CD-2185-BFA9E8954E15}"/>
              </a:ext>
            </a:extLst>
          </p:cNvPr>
          <p:cNvSpPr txBox="1"/>
          <p:nvPr/>
        </p:nvSpPr>
        <p:spPr>
          <a:xfrm>
            <a:off x="102359" y="0"/>
            <a:ext cx="4954136" cy="422551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lnSpc>
                <a:spcPts val="2250"/>
              </a:lnSpc>
              <a:spcBef>
                <a:spcPts val="2400"/>
              </a:spcBef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Key Takeaways from Topic 1: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Java requires explicit type declaration for variables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Different data types have different ranges and memory usage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Operators perform specific operations on variables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Type casting can lead to data loss when converting to smaller types</a:t>
            </a:r>
          </a:p>
          <a:p>
            <a:pPr algn="l">
              <a:lnSpc>
                <a:spcPts val="1650"/>
              </a:lnSpc>
              <a:spcBef>
                <a:spcPts val="45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System.out.println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 and 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System.out.printf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 are used for output</a:t>
            </a:r>
          </a:p>
        </p:txBody>
      </p:sp>
    </p:spTree>
    <p:extLst>
      <p:ext uri="{BB962C8B-B14F-4D97-AF65-F5344CB8AC3E}">
        <p14:creationId xmlns:p14="http://schemas.microsoft.com/office/powerpoint/2010/main" val="2928365603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BADA10F-2D85-0FDB-FDC3-AC4C4EFA201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B90F2F6F-CE2A-4115-A08D-440DD997E728}"/>
              </a:ext>
            </a:extLst>
          </p:cNvPr>
          <p:cNvSpPr txBox="1"/>
          <p:nvPr/>
        </p:nvSpPr>
        <p:spPr>
          <a:xfrm>
            <a:off x="0" y="283267"/>
            <a:ext cx="4954136" cy="629146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lnSpc>
                <a:spcPts val="2400"/>
              </a:lnSpc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Topic 2: Java Control Flow - Conditional Statements and Loops</a:t>
            </a:r>
          </a:p>
          <a:p>
            <a:pPr algn="l">
              <a:lnSpc>
                <a:spcPts val="2250"/>
              </a:lnSpc>
              <a:spcBef>
                <a:spcPts val="2400"/>
              </a:spcBef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Concepts Overview:</a:t>
            </a:r>
          </a:p>
          <a:p>
            <a:pPr algn="l">
              <a:lnSpc>
                <a:spcPts val="2100"/>
              </a:lnSpc>
              <a:spcBef>
                <a:spcPts val="1200"/>
              </a:spcBef>
              <a:spcAft>
                <a:spcPts val="6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1. Conditional Statements</a:t>
            </a:r>
          </a:p>
          <a:p>
            <a:pPr algn="l">
              <a:spcBef>
                <a:spcPts val="60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if, else if, else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: Execute code based on conditions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switch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: Multiple branch selection based on a value</a:t>
            </a:r>
          </a:p>
          <a:p>
            <a:pPr algn="l">
              <a:lnSpc>
                <a:spcPts val="2100"/>
              </a:lnSpc>
              <a:spcBef>
                <a:spcPts val="1200"/>
              </a:spcBef>
              <a:spcAft>
                <a:spcPts val="6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2. Loops</a:t>
            </a:r>
          </a:p>
          <a:p>
            <a:pPr algn="l">
              <a:spcBef>
                <a:spcPts val="60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for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: When you know the number of iterations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while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: When you don't know the number of iterations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do-while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: Execute at least once, then check condition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break/continue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: Control loop flow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F5570424-BB3D-1B65-F40B-62ACBD8AC3B3}"/>
              </a:ext>
            </a:extLst>
          </p:cNvPr>
          <p:cNvSpPr txBox="1"/>
          <p:nvPr/>
        </p:nvSpPr>
        <p:spPr>
          <a:xfrm>
            <a:off x="4346813" y="283267"/>
            <a:ext cx="4981432" cy="881908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GradeCalculator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main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[]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args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score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85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char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grade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Using if-else </a:t>
            </a:r>
            <a:r>
              <a:rPr lang="en-US" b="0" i="1" dirty="0" err="1">
                <a:solidFill>
                  <a:srgbClr val="A0A1A7"/>
                </a:solidFill>
                <a:effectLst/>
                <a:latin typeface="Menlo"/>
              </a:rPr>
              <a:t>if-else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score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&gt;=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90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grade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'A'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else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score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&gt;=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80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grade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'B'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else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score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&gt;=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70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grade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'C'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else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score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&gt;=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60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grade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'D'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else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grade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'F'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"Score: "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score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"Grade: "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grade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Additional feedback using switch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switch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grade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case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'A'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"Excellent work!"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break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case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'B'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"Good job!"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break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case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'C'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"Fair work"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break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case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'D'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"Need improvement"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break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default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"Failed - must retake"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F8C23A7F-2568-38B2-E55F-E9A6D7AC0825}"/>
              </a:ext>
            </a:extLst>
          </p:cNvPr>
          <p:cNvSpPr txBox="1"/>
          <p:nvPr/>
        </p:nvSpPr>
        <p:spPr>
          <a:xfrm>
            <a:off x="8024883" y="1157621"/>
            <a:ext cx="1583140" cy="260199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Expected Output: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>
              <a:lnSpc>
                <a:spcPts val="13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text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Score: 85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Grade: B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Good job!</a:t>
            </a:r>
          </a:p>
        </p:txBody>
      </p:sp>
    </p:spTree>
    <p:extLst>
      <p:ext uri="{BB962C8B-B14F-4D97-AF65-F5344CB8AC3E}">
        <p14:creationId xmlns:p14="http://schemas.microsoft.com/office/powerpoint/2010/main" val="1327046712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C6EF776-5122-9D9C-1832-6BA7A872579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185B89F5-D798-D414-86F4-A78F134DF942}"/>
              </a:ext>
            </a:extLst>
          </p:cNvPr>
          <p:cNvSpPr txBox="1"/>
          <p:nvPr/>
        </p:nvSpPr>
        <p:spPr>
          <a:xfrm>
            <a:off x="-1136" y="-5311301"/>
            <a:ext cx="4954136" cy="1830629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lnSpc>
                <a:spcPts val="2250"/>
              </a:lnSpc>
              <a:spcBef>
                <a:spcPts val="2400"/>
              </a:spcBef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Exercise 2.2: Multiplication Table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Print multiplication table for a given number using different loops.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Solution: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>
              <a:lnSpc>
                <a:spcPts val="13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java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MultiplicationTable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main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[]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args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number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7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"Multiplication Table of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number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":"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"Using for loop:"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Using for loop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&lt;=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++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number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 ×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 =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number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*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nUsing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 while loop:"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Using while loop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j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while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j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&lt;=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number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 ×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j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 =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number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*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j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j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++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nUsing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 do-while loop:"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Using do-while loop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k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number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 ×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k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 =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number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*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k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k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++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while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k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&lt;=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CBEC325D-A507-4019-62BD-A0DE43F27C22}"/>
              </a:ext>
            </a:extLst>
          </p:cNvPr>
          <p:cNvSpPr txBox="1"/>
          <p:nvPr/>
        </p:nvSpPr>
        <p:spPr>
          <a:xfrm>
            <a:off x="4924568" y="-6252781"/>
            <a:ext cx="4981432" cy="2073516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lnSpc>
                <a:spcPts val="2250"/>
              </a:lnSpc>
              <a:spcBef>
                <a:spcPts val="2400"/>
              </a:spcBef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Exercise 2.3: Number Pattern Printer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Print different patterns using nested loops.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Solution: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>
              <a:lnSpc>
                <a:spcPts val="13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java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PatternPrinter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main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[]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args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rows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5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"Pattern 1 - Right Triangle:"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Pattern 1: Right triangle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&lt;=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rows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++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j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j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&lt;=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j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++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"* 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nPattern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 2 - Inverted Triangle:"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Pattern 2: Inverted triangle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rows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&gt;=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--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j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j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&lt;=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j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++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"* 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nPattern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 3 - Number Pyramid:"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Pattern 3: Number pyramid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&lt;=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rows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++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Print spaces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j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j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&lt;=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rows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j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++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  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Print numbers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j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j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&lt;=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j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++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j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 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</p:txBody>
      </p:sp>
    </p:spTree>
    <p:extLst>
      <p:ext uri="{BB962C8B-B14F-4D97-AF65-F5344CB8AC3E}">
        <p14:creationId xmlns:p14="http://schemas.microsoft.com/office/powerpoint/2010/main" val="816851693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BDA56DC-4F95-0F27-C495-4C63757B1AA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902C3053-9CF5-772A-4B62-A9E9FE28EF3F}"/>
              </a:ext>
            </a:extLst>
          </p:cNvPr>
          <p:cNvSpPr txBox="1"/>
          <p:nvPr/>
        </p:nvSpPr>
        <p:spPr>
          <a:xfrm>
            <a:off x="-184245" y="-6243336"/>
            <a:ext cx="4954136" cy="2030684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lnSpc>
                <a:spcPts val="2250"/>
              </a:lnSpc>
              <a:spcBef>
                <a:spcPts val="2400"/>
              </a:spcBef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Exercise 2.4: Prime Number Checker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Check if a number is prime and find all primes up to a limit.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Solution: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>
              <a:lnSpc>
                <a:spcPts val="13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java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PrimeChecker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main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[]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args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number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17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Check if a single number is prime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boolean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isPrime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true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number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&lt;=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isPrime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false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else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&lt;=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Math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sqrt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number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++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number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%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isPrime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false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break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number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 is prime?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isPrime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Find all primes up to 50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nPrime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 numbers up to 50:"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num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num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&lt;=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50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num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++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boolean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prime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true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&lt;=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Math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sqrt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num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++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num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%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prime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false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break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prime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num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 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1EE77D4A-7F71-1A98-3B65-F3EED7131F7D}"/>
              </a:ext>
            </a:extLst>
          </p:cNvPr>
          <p:cNvSpPr txBox="1"/>
          <p:nvPr/>
        </p:nvSpPr>
        <p:spPr>
          <a:xfrm>
            <a:off x="2303060" y="-12278275"/>
            <a:ext cx="5070142" cy="323357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lnSpc>
                <a:spcPts val="2250"/>
              </a:lnSpc>
              <a:spcBef>
                <a:spcPts val="2400"/>
              </a:spcBef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Exercise 2.5: Menu-Driven Program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Create a simple calculator using a menu-driven approach.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Solution: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>
              <a:lnSpc>
                <a:spcPts val="13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java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import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java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util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Scanner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MenuCalculator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main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[]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args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Scanner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scanner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Scanner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in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choice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num1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num2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result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Display menu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"\n=== SIMPLE CALCULATOR ==="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"1. Add"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"2. Subtract"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"3. Multiply"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"4. Divide"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"5. Exit"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"Enter your choice (1-5): 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choice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scanner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nextInt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choice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&gt;=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&amp;&amp;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choice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&lt;=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4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"Enter first number: 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num1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scanner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nextDouble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"Enter second number: 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num2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scanner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nextDouble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switch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choice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case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    result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num1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num2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"Result: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num1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 +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num2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 =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result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break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case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2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    result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num1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num2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"Result: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num1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 -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num2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 =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result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break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case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3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    result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num1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*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num2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"Result: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num1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 ×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num2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 =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result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break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case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4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num2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!=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        result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num1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/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num2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"Result: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num1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 ÷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num2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 =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result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else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"Error: Division by zero!"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break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else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choice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!=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5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"Invalid choice! Please try again."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while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choice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!=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5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"Thank you for using the calculator!"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scanner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close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</p:txBody>
      </p:sp>
    </p:spTree>
    <p:extLst>
      <p:ext uri="{BB962C8B-B14F-4D97-AF65-F5344CB8AC3E}">
        <p14:creationId xmlns:p14="http://schemas.microsoft.com/office/powerpoint/2010/main" val="2145761564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277B41F-6114-4AA2-952A-6083A34CF3D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8F681C08-63AC-F50C-0CE0-CB0FB0BD74F2}"/>
              </a:ext>
            </a:extLst>
          </p:cNvPr>
          <p:cNvSpPr txBox="1"/>
          <p:nvPr/>
        </p:nvSpPr>
        <p:spPr>
          <a:xfrm>
            <a:off x="2477069" y="-999570"/>
            <a:ext cx="4954136" cy="88639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lnSpc>
                <a:spcPts val="2250"/>
              </a:lnSpc>
              <a:spcBef>
                <a:spcPts val="2400"/>
              </a:spcBef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Practice Exercises - Try These Yourself:</a:t>
            </a:r>
          </a:p>
          <a:p>
            <a:pPr algn="l">
              <a:lnSpc>
                <a:spcPts val="2100"/>
              </a:lnSpc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Exercise 2.6: Fibonacci Series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Generate the first n numbers in the Fibonacci series (0, 1, 1, 2, 3, 5, 8...).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Hints: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>
              <a:spcBef>
                <a:spcPts val="120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Each number is the sum of the two preceding ones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Use a loop and variables to track previous numbers</a:t>
            </a:r>
          </a:p>
          <a:p>
            <a:pPr algn="l">
              <a:lnSpc>
                <a:spcPts val="2100"/>
              </a:lnSpc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Exercise 2.7: Factorial Calculator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Calculate the factorial of a number (n!) using both for and while loops.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Hints: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>
              <a:spcBef>
                <a:spcPts val="120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n! = n × (n-1) × (n-2) × ... × 1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0! = 1</a:t>
            </a:r>
          </a:p>
          <a:p>
            <a:pPr algn="l">
              <a:lnSpc>
                <a:spcPts val="2100"/>
              </a:lnSpc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Exercise 2.8: Number Guessing Game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Create a number guessing game where the computer picks a random number and the user has to guess it with hints.</a:t>
            </a:r>
          </a:p>
        </p:txBody>
      </p:sp>
    </p:spTree>
    <p:extLst>
      <p:ext uri="{BB962C8B-B14F-4D97-AF65-F5344CB8AC3E}">
        <p14:creationId xmlns:p14="http://schemas.microsoft.com/office/powerpoint/2010/main" val="2555033172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3D5E068-DA3F-7C9A-61FF-2FCD6CDF202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9357901D-CB05-2F73-C7FF-F301A2955CB4}"/>
              </a:ext>
            </a:extLst>
          </p:cNvPr>
          <p:cNvSpPr txBox="1"/>
          <p:nvPr/>
        </p:nvSpPr>
        <p:spPr>
          <a:xfrm>
            <a:off x="2477069" y="-1551644"/>
            <a:ext cx="4954136" cy="996811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lnSpc>
                <a:spcPts val="2250"/>
              </a:lnSpc>
              <a:spcBef>
                <a:spcPts val="2400"/>
              </a:spcBef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Solutions to Practice Exercises: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Solution 2.6: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>
              <a:lnSpc>
                <a:spcPts val="13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java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FibonacciSeries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main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[]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args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Number of terms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first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second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"Fibonacci Series up to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 terms:"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&lt;=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++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first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 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Calculate next term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next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first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second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first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second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second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next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</p:txBody>
      </p:sp>
    </p:spTree>
    <p:extLst>
      <p:ext uri="{BB962C8B-B14F-4D97-AF65-F5344CB8AC3E}">
        <p14:creationId xmlns:p14="http://schemas.microsoft.com/office/powerpoint/2010/main" val="2168845722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B38208D-0985-00C8-9982-1D94173FECE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8C79091E-4833-6E73-6F34-57DABCC1E6C5}"/>
              </a:ext>
            </a:extLst>
          </p:cNvPr>
          <p:cNvSpPr txBox="1"/>
          <p:nvPr/>
        </p:nvSpPr>
        <p:spPr>
          <a:xfrm>
            <a:off x="2477069" y="-2821223"/>
            <a:ext cx="4954136" cy="1250727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Solution 2.7: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>
              <a:lnSpc>
                <a:spcPts val="13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java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FactorialCalculator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main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[]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args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number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6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Using for loop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long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factorialFor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&lt;=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number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++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factorialFor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*=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Using while loop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long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factorialWhile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while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&lt;=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number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factorialWhile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*=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++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"Number: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number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"Factorial (for loop):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number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"! =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factorialFor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"Factorial (while loop):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number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"! =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factorialWhile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</p:txBody>
      </p:sp>
    </p:spTree>
    <p:extLst>
      <p:ext uri="{BB962C8B-B14F-4D97-AF65-F5344CB8AC3E}">
        <p14:creationId xmlns:p14="http://schemas.microsoft.com/office/powerpoint/2010/main" val="2026343012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4AA536A-EED8-A427-E116-F5A6BD812FA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FF56BE75-AFAF-48E1-6CAC-761A32465C2D}"/>
              </a:ext>
            </a:extLst>
          </p:cNvPr>
          <p:cNvSpPr txBox="1"/>
          <p:nvPr/>
        </p:nvSpPr>
        <p:spPr>
          <a:xfrm>
            <a:off x="2477069" y="-7021090"/>
            <a:ext cx="4954136" cy="2090700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Solution 2.8: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>
              <a:lnSpc>
                <a:spcPts val="13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java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import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java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util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Scanner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import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java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util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Random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GuessingGame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main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[]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args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Scanner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scanner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Scanner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in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Random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random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Random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secretNumber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random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nextInt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100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1 to 100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guess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attempts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boolean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guessed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false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"Welcome to the Number Guessing Game!"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"I'm thinking of a number between 1 and 100."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while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!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guessed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"Enter your guess: 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guess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scanner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nextInt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attempts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++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guess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||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guess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100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"Please guess a number between 1 and 100!"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else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guess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secretNumber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"Too low! Try again."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else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guess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secretNumber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"Too high! Try again."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else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guessed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true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nCongratulations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! You guessed it!"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"The number was: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secretNumber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"Attempts: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attempts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scanner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close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</p:txBody>
      </p:sp>
    </p:spTree>
    <p:extLst>
      <p:ext uri="{BB962C8B-B14F-4D97-AF65-F5344CB8AC3E}">
        <p14:creationId xmlns:p14="http://schemas.microsoft.com/office/powerpoint/2010/main" val="4249377158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1216295-F736-4541-E380-60D1680D592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66A7EA69-888B-47CC-933A-D4C6DB7A1CD5}"/>
              </a:ext>
            </a:extLst>
          </p:cNvPr>
          <p:cNvSpPr txBox="1"/>
          <p:nvPr/>
        </p:nvSpPr>
        <p:spPr>
          <a:xfrm>
            <a:off x="2477069" y="-827728"/>
            <a:ext cx="4954136" cy="852028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lnSpc>
                <a:spcPts val="2250"/>
              </a:lnSpc>
              <a:spcBef>
                <a:spcPts val="2400"/>
              </a:spcBef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Key Takeaways from Topic 2: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if-else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 chains are good for range-based conditions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switch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 is efficient for discrete value matching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for loops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 are ideal when you know the iteration count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while loops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 work well for condition-based repetition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do-while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 guarantees at least one execution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break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 exits loops early, </a:t>
            </a: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continue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 skips to next iteration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Nested loops create patterns and handle multi-dimensional data</a:t>
            </a:r>
          </a:p>
          <a:p>
            <a:pPr algn="l">
              <a:lnSpc>
                <a:spcPts val="2250"/>
              </a:lnSpc>
              <a:spcBef>
                <a:spcPts val="2400"/>
              </a:spcBef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Additional Challenge: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Try modifying the Guessing Game to: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Limit the number of attempts to 7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Give feedback like "Very close!" when within 5 of the number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Ask if they want to play again after each game</a:t>
            </a:r>
          </a:p>
        </p:txBody>
      </p:sp>
    </p:spTree>
    <p:extLst>
      <p:ext uri="{BB962C8B-B14F-4D97-AF65-F5344CB8AC3E}">
        <p14:creationId xmlns:p14="http://schemas.microsoft.com/office/powerpoint/2010/main" val="3227933140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667C126-04A2-CF97-FE38-E47FAAC339A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9A9072CD-3FE8-00A4-BD0F-CEC398509710}"/>
              </a:ext>
            </a:extLst>
          </p:cNvPr>
          <p:cNvSpPr txBox="1"/>
          <p:nvPr/>
        </p:nvSpPr>
        <p:spPr>
          <a:xfrm>
            <a:off x="2477069" y="-63417"/>
            <a:ext cx="4954136" cy="699165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lnSpc>
                <a:spcPts val="2400"/>
              </a:lnSpc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Topic 3: Java Arrays and </a:t>
            </a:r>
            <a:r>
              <a:rPr lang="en-US" b="1" dirty="0" err="1">
                <a:solidFill>
                  <a:srgbClr val="0F1115"/>
                </a:solidFill>
                <a:effectLst/>
                <a:latin typeface="quote-cjk-patch"/>
              </a:rPr>
              <a:t>ArrayLists</a:t>
            </a:r>
            <a:endParaRPr lang="en-US" b="1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>
              <a:lnSpc>
                <a:spcPts val="2250"/>
              </a:lnSpc>
              <a:spcBef>
                <a:spcPts val="2400"/>
              </a:spcBef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Concepts Overview:</a:t>
            </a:r>
          </a:p>
          <a:p>
            <a:pPr algn="l">
              <a:lnSpc>
                <a:spcPts val="2100"/>
              </a:lnSpc>
              <a:spcBef>
                <a:spcPts val="1200"/>
              </a:spcBef>
              <a:spcAft>
                <a:spcPts val="6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1. Arrays</a:t>
            </a:r>
          </a:p>
          <a:p>
            <a:pPr algn="l">
              <a:spcBef>
                <a:spcPts val="60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Fixed-size collections of elements of the same type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Zero-based indexing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Can be one-dimensional or multi-dimensional</a:t>
            </a:r>
          </a:p>
          <a:p>
            <a:pPr algn="l">
              <a:lnSpc>
                <a:spcPts val="2100"/>
              </a:lnSpc>
              <a:spcBef>
                <a:spcPts val="1200"/>
              </a:spcBef>
              <a:spcAft>
                <a:spcPts val="6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2. </a:t>
            </a:r>
            <a:r>
              <a:rPr lang="en-US" b="1" dirty="0" err="1">
                <a:solidFill>
                  <a:srgbClr val="0F1115"/>
                </a:solidFill>
                <a:effectLst/>
                <a:latin typeface="quote-cjk-patch"/>
              </a:rPr>
              <a:t>ArrayLists</a:t>
            </a:r>
            <a:endParaRPr lang="en-US" b="1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>
              <a:spcBef>
                <a:spcPts val="60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Dynamic-size collections from Java Collections Framework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Automatically resizes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Provides useful methods like add(), remove(), get()</a:t>
            </a:r>
          </a:p>
          <a:p>
            <a:pPr algn="l">
              <a:lnSpc>
                <a:spcPts val="2100"/>
              </a:lnSpc>
              <a:spcBef>
                <a:spcPts val="1200"/>
              </a:spcBef>
              <a:spcAft>
                <a:spcPts val="6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3. Enhanced for Loop (for-each)</a:t>
            </a:r>
          </a:p>
          <a:p>
            <a:pPr algn="l">
              <a:spcBef>
                <a:spcPts val="60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Simplified iteration through arrays and collections</a:t>
            </a:r>
          </a:p>
        </p:txBody>
      </p:sp>
    </p:spTree>
    <p:extLst>
      <p:ext uri="{BB962C8B-B14F-4D97-AF65-F5344CB8AC3E}">
        <p14:creationId xmlns:p14="http://schemas.microsoft.com/office/powerpoint/2010/main" val="248224453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9742B9A-8337-6E47-F8F4-F1FF3D65463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4CD84252-42A9-8CF8-6785-35DDFB3D1714}"/>
              </a:ext>
            </a:extLst>
          </p:cNvPr>
          <p:cNvSpPr txBox="1"/>
          <p:nvPr/>
        </p:nvSpPr>
        <p:spPr>
          <a:xfrm>
            <a:off x="2477069" y="-12417440"/>
            <a:ext cx="4954136" cy="3169970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lnSpc>
                <a:spcPts val="2250"/>
              </a:lnSpc>
              <a:spcBef>
                <a:spcPts val="2400"/>
              </a:spcBef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Exercise 3.1: Basic Array Operations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Create, initialize, and manipulate arrays.</a:t>
            </a:r>
          </a:p>
          <a:p>
            <a:pPr algn="l">
              <a:lnSpc>
                <a:spcPts val="13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java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import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java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util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Arrays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BasicArrayOperations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main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[]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args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Different ways to create arrays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[]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numbers1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5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];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All zeros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[]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numbers2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20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30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40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50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Initialized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[]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numbers3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[]{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3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4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5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Another way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Fill array with values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numbers1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length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++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numbers1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]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*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Print arrays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"numbers1: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Arrays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toString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numbers1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"numbers2: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Arrays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toString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numbers2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"numbers3: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Arrays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toString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numbers3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Access and modify elements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nFirst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 element of numbers2: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numbers2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]);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numbers2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]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100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Modify third element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"After modification: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Arrays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toString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numbers2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Find sum and average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sum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num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numbers2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Enhanced for loop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sum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num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average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sum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/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numbers2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length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nSum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 of numbers2: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sum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"Average of numbers2: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average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Find maximum and minimum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max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numbers2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];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min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numbers2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];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num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numbers2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num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max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max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num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num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min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min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num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"Maximum: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max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"Minimum: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min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Expected Output: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>
              <a:lnSpc>
                <a:spcPts val="13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text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numbers1: [10, 20, 30, 40, 50]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numbers2: [10, 20, 30, 40, 50]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numbers3: [1, 2, 3, 4, 5]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First element of numbers2: 10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After modification: [10, 20, 100, 40, 50]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Sum of numbers2: 220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Average of numbers2: 44.0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Maximum: 100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Minimum: 10</a:t>
            </a:r>
          </a:p>
        </p:txBody>
      </p:sp>
    </p:spTree>
    <p:extLst>
      <p:ext uri="{BB962C8B-B14F-4D97-AF65-F5344CB8AC3E}">
        <p14:creationId xmlns:p14="http://schemas.microsoft.com/office/powerpoint/2010/main" val="3982434235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E8D39D9-771D-1A99-8C9D-AF905F4171D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D45BEBA8-C09A-ABA1-E415-70A7A48A5F26}"/>
              </a:ext>
            </a:extLst>
          </p:cNvPr>
          <p:cNvSpPr txBox="1"/>
          <p:nvPr/>
        </p:nvSpPr>
        <p:spPr>
          <a:xfrm>
            <a:off x="2477069" y="-11083741"/>
            <a:ext cx="4954136" cy="2903230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lnSpc>
                <a:spcPts val="2250"/>
              </a:lnSpc>
              <a:spcBef>
                <a:spcPts val="2400"/>
              </a:spcBef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Exercise 3.2: </a:t>
            </a:r>
            <a:r>
              <a:rPr lang="en-US" b="1" dirty="0" err="1">
                <a:solidFill>
                  <a:srgbClr val="0F1115"/>
                </a:solidFill>
                <a:effectLst/>
                <a:latin typeface="quote-cjk-patch"/>
              </a:rPr>
              <a:t>ArrayList</a:t>
            </a: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 vs Array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Compare Array and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quote-cjk-patch"/>
              </a:rPr>
              <a:t>ArrayList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 usage.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Solution: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>
              <a:lnSpc>
                <a:spcPts val="13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java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import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java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util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ArrayList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import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java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util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Arrays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ArrayListDemo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main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[]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args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Array - fixed size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[]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fruitsArray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3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];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fruitsArray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]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"Apple"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fruitsArray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]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"Banana"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fruitsArray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]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"Orange"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</a:t>
            </a:r>
            <a:r>
              <a:rPr lang="en-US" b="0" i="1" dirty="0" err="1">
                <a:solidFill>
                  <a:srgbClr val="A0A1A7"/>
                </a:solidFill>
                <a:effectLst/>
                <a:latin typeface="Menlo"/>
              </a:rPr>
              <a:t>fruitsArray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[3] = "Mango"; // This would cause </a:t>
            </a:r>
            <a:r>
              <a:rPr lang="en-US" b="0" i="1" dirty="0" err="1">
                <a:solidFill>
                  <a:srgbClr val="A0A1A7"/>
                </a:solidFill>
                <a:effectLst/>
                <a:latin typeface="Menlo"/>
              </a:rPr>
              <a:t>ArrayIndexOutOfBoundsException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"Array: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Arrays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toString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fruitsArray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</a:t>
            </a:r>
            <a:r>
              <a:rPr lang="en-US" b="0" i="1" dirty="0" err="1">
                <a:solidFill>
                  <a:srgbClr val="A0A1A7"/>
                </a:solidFill>
                <a:effectLst/>
                <a:latin typeface="Menlo"/>
              </a:rPr>
              <a:t>ArrayList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 - dynamic size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ArrayList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fruitsList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ArrayList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&lt;&gt;();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Adding elements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fruitsList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add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"Apple"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fruitsList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add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"Banana"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fruitsList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add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"Orange"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fruitsList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add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"Mango"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No problem - </a:t>
            </a:r>
            <a:r>
              <a:rPr lang="en-US" b="0" i="1" dirty="0" err="1">
                <a:solidFill>
                  <a:srgbClr val="A0A1A7"/>
                </a:solidFill>
                <a:effectLst/>
                <a:latin typeface="Menlo"/>
              </a:rPr>
              <a:t>ArrayList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 grows automatically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fruitsList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add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"Grapes"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Insert at specific position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nArrayList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fruitsList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Accessing elements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"First fruit: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fruitsList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"Size: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fruitsList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size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Removing elements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fruitsList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remove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"Banana"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Remove by object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fruitsList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remove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Remove by index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"After removals: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fruitsList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Check if contains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"Contains Apple?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fruitsList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contains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"Apple"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"Contains Banana?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fruitsList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contains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"Banana"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Iterate through </a:t>
            </a:r>
            <a:r>
              <a:rPr lang="en-US" b="0" i="1" dirty="0" err="1">
                <a:solidFill>
                  <a:srgbClr val="A0A1A7"/>
                </a:solidFill>
                <a:effectLst/>
                <a:latin typeface="Menlo"/>
              </a:rPr>
              <a:t>ArrayList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nIterating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 through 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ArrayList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:"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fruit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fruitsList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"-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fruit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Convert </a:t>
            </a:r>
            <a:r>
              <a:rPr lang="en-US" b="0" i="1" dirty="0" err="1">
                <a:solidFill>
                  <a:srgbClr val="A0A1A7"/>
                </a:solidFill>
                <a:effectLst/>
                <a:latin typeface="Menlo"/>
              </a:rPr>
              <a:t>ArrayList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 to Array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[]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fruitsArray2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fruitsList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toArray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]);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nConverted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 to array: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Arrays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toString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fruitsArray2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</p:txBody>
      </p:sp>
    </p:spTree>
    <p:extLst>
      <p:ext uri="{BB962C8B-B14F-4D97-AF65-F5344CB8AC3E}">
        <p14:creationId xmlns:p14="http://schemas.microsoft.com/office/powerpoint/2010/main" val="3211495086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A5F51D3-0345-00B0-8AB0-A45023E7406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959AAF05-277D-8C12-8231-7BD8E8F78EFB}"/>
              </a:ext>
            </a:extLst>
          </p:cNvPr>
          <p:cNvSpPr txBox="1"/>
          <p:nvPr/>
        </p:nvSpPr>
        <p:spPr>
          <a:xfrm>
            <a:off x="2477069" y="-13379241"/>
            <a:ext cx="4954136" cy="3362330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lnSpc>
                <a:spcPts val="2250"/>
              </a:lnSpc>
              <a:spcBef>
                <a:spcPts val="2400"/>
              </a:spcBef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Exercise 3.3: Matrix Operations (2D Arrays)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Work with two-dimensional arrays.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Solution: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>
              <a:lnSpc>
                <a:spcPts val="13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java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MatrixOperations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main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[]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args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Create a 3x3 matrix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[][]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matrix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3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},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4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5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6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},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7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8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9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Print matrix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"Original Matrix:"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printMatrix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matrix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Calculate sum of all elements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sum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matrix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length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++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j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j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matrix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].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length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j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++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sum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matrix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][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j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];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"Sum of all elements: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sum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Calculate sum of each row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nRow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 sums:"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matrix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length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++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rowSum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j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j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matrix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].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length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j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++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rowSum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matrix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][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j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];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"Row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rowSum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Calculate sum of each column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nColumn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 sums:"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j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j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matrix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].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length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j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++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colSum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matrix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length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++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colSum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matrix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][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j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];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"Column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j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colSum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Find transpose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[][]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transpose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matrix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].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length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][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matrix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length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];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matrix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length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++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j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j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matrix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].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length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j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++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transpose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j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][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]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matrix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][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j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];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nTranspose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 Matrix:"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printMatrix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transpose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printMatrix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[][]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matrix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[]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row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matrix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element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row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element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 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</p:txBody>
      </p:sp>
    </p:spTree>
    <p:extLst>
      <p:ext uri="{BB962C8B-B14F-4D97-AF65-F5344CB8AC3E}">
        <p14:creationId xmlns:p14="http://schemas.microsoft.com/office/powerpoint/2010/main" val="3296601464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885CCC6-E6E7-B7C6-6CCC-9091F85AE18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E4BA09DB-C140-D421-3158-1E3682BEEDE0}"/>
              </a:ext>
            </a:extLst>
          </p:cNvPr>
          <p:cNvSpPr txBox="1"/>
          <p:nvPr/>
        </p:nvSpPr>
        <p:spPr>
          <a:xfrm>
            <a:off x="2477069" y="-35350641"/>
            <a:ext cx="4954136" cy="7756610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lnSpc>
                <a:spcPts val="2250"/>
              </a:lnSpc>
              <a:spcBef>
                <a:spcPts val="2400"/>
              </a:spcBef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Exercise 3.4: Student Grades Management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Create a program to manage student grades using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quote-cjk-patch"/>
              </a:rPr>
              <a:t>ArrayLists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.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Solution: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>
              <a:lnSpc>
                <a:spcPts val="13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java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import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java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util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ArrayList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import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java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util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Collections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import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java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util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Scanner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StudentGrades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ArrayList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students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ArrayList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grades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Scanner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scanner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StudentGrades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students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ArrayList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&lt;&gt;();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grades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ArrayList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&lt;&gt;();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scanner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Scanner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in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addStudent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grade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students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add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grades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add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grade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"Added: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name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 with grade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grade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removeStudent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index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students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indexOf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index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!=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students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remove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index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grades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remove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index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"Removed student: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else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"Student not found: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displayAllStudents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students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isEmpty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"No students in the list."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"\n=== STUDENT GRADES ==="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students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size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++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printf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"%d. %s: %.2f\n"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i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students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grades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calculateStatistics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grades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isEmpty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"No grades to calculate."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sum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max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grades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min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grades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grade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grades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sum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grade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max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Math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max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max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grade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min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Math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min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min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grade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average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sum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/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grades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size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"\n=== STATISTICS ==="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printf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"Number of students: %d\n"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grades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size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printf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"Average grade: %.2f\n"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average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printf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"Highest grade: %.2f\n"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max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printf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"Lowest grade: %.2f\n"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min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Find student with highest grade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maxIndex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grades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indexOf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max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"Top student: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students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maxIndex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sortByGrade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Create a list of indices and sort based on grades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ArrayList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Integer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indices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ArrayList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&lt;&gt;();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grades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size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++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indices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add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Sort indices based on grades (descending)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indices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sort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i1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i2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Double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compare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grades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i2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grades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i1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"\n=== STUDENTS SORTED BY GRADE (HIGHEST TO LOWEST) ==="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index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indices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printf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"%s: %.2f\n"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students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index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grades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index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main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[]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args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StudentGrades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manager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StudentGrades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Scanner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scanner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Scanner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in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Add some sample data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manager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addStudent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"Alice"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85.5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manager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addStudent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"Bob"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92.0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manager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addStudent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"Charlie"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78.5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manager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addStudent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"Diana"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95.5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manager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addStudent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"Eve"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88.0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while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true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"\n=== STUDENT GRADE MANAGEMENT ==="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"1. Display all students"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"2. Add new student"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"3. Remove student"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"4. Show statistics"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"5. Sort by grade"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"6. Exit"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"Enter choice: 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choice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scanner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nextInt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scanner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nextLine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Consume newline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switch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choice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case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manager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displayAllStudents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break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case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2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"Enter student name: 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name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scanner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nextLine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"Enter grade: 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grade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scanner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nextDouble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manager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addStudent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grade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break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case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3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"Enter student name to remove: 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name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scanner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nextLine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manager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removeStudent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break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case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4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manager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calculateStatistics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break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case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5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manager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sortByGrade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break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case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6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"Goodbye!"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scanner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close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default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"Invalid choice!"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</p:txBody>
      </p:sp>
    </p:spTree>
    <p:extLst>
      <p:ext uri="{BB962C8B-B14F-4D97-AF65-F5344CB8AC3E}">
        <p14:creationId xmlns:p14="http://schemas.microsoft.com/office/powerpoint/2010/main" val="189434063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C498316-616B-E845-43AD-535703B1767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E440453A-8DA3-E6F9-0CD9-7E4EF3D6A06D}"/>
              </a:ext>
            </a:extLst>
          </p:cNvPr>
          <p:cNvSpPr txBox="1"/>
          <p:nvPr/>
        </p:nvSpPr>
        <p:spPr>
          <a:xfrm>
            <a:off x="2477069" y="-25023455"/>
            <a:ext cx="4954136" cy="5691173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lnSpc>
                <a:spcPts val="2250"/>
              </a:lnSpc>
              <a:spcBef>
                <a:spcPts val="2400"/>
              </a:spcBef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Exercise 3.5: Array Sorting Algorithms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Implement different sorting algorithms.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Solution: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>
              <a:lnSpc>
                <a:spcPts val="13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java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import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java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util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Arrays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SortingAlgorithms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Bubble Sort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bubbleSort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[]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arr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arr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length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boolean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swapped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++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swapped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false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j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j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j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++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arr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j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]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arr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j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])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Swap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temp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arr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j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];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arr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j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]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arr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j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];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arr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j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]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temp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swapped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true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!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swapped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break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Array is already sorted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Selection Sort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selectionSort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[]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arr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arr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length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++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minIndex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j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j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j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++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arr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j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]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arr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minIndex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])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minIndex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j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Swap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temp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arr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minIndex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];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arr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minIndex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]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arr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];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arr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]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temp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Insertion Sort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insertionSort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[]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arr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arr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length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++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key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arr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];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j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while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j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&gt;=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&amp;&amp;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arr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j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]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key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arr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j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]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arr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j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];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j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--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arr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j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]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key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Binary Search (requires sorted array)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binarySearch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[]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arr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target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left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right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arr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length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while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left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&lt;=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right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mid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left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right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left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/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arr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mid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]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target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mid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arr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mid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]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target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left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mid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else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right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mid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Not found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main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[]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args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[]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arr1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64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34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25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22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90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[]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arr2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arr1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clone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[]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arr3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arr1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clone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"Original array: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Arrays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toString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arr1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Bubble Sort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bubbleSort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arr1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"Bubble Sort: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Arrays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toString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arr1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Selection Sort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selectionSort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arr2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"Selection Sort: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Arrays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toString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arr2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Insertion Sort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insertionSort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arr3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"Insertion Sort: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Arrays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toString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arr3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Binary Search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target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25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result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binarySearch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arr1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target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result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!=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nElement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target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 found at index: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result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else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"Element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target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 not found"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</p:txBody>
      </p:sp>
    </p:spTree>
    <p:extLst>
      <p:ext uri="{BB962C8B-B14F-4D97-AF65-F5344CB8AC3E}">
        <p14:creationId xmlns:p14="http://schemas.microsoft.com/office/powerpoint/2010/main" val="4164324253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04FC741-BE3B-1381-C1C3-531DD4C166C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7228188C-8C41-183A-8416-5B63E1567532}"/>
              </a:ext>
            </a:extLst>
          </p:cNvPr>
          <p:cNvSpPr txBox="1"/>
          <p:nvPr/>
        </p:nvSpPr>
        <p:spPr>
          <a:xfrm>
            <a:off x="2477069" y="638058"/>
            <a:ext cx="4954136" cy="558870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lnSpc>
                <a:spcPts val="2250"/>
              </a:lnSpc>
              <a:spcBef>
                <a:spcPts val="2400"/>
              </a:spcBef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Practice Exercises - Try These Yourself:</a:t>
            </a:r>
          </a:p>
          <a:p>
            <a:pPr algn="l">
              <a:lnSpc>
                <a:spcPts val="2100"/>
              </a:lnSpc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Exercise 3.6: Array Reverse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Write a program to reverse an array without using a second array.</a:t>
            </a:r>
          </a:p>
          <a:p>
            <a:pPr algn="l">
              <a:lnSpc>
                <a:spcPts val="2100"/>
              </a:lnSpc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Exercise 3.7: Find Duplicates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Find and display all duplicate elements in an array.</a:t>
            </a:r>
          </a:p>
          <a:p>
            <a:pPr algn="l">
              <a:lnSpc>
                <a:spcPts val="2100"/>
              </a:lnSpc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Exercise 3.8: Matrix Multiplication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Multiply two matrices and display the result.</a:t>
            </a:r>
          </a:p>
          <a:p>
            <a:pPr algn="l">
              <a:lnSpc>
                <a:spcPts val="2100"/>
              </a:lnSpc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Exercise 3.9: </a:t>
            </a:r>
            <a:r>
              <a:rPr lang="en-US" b="1" dirty="0" err="1">
                <a:solidFill>
                  <a:srgbClr val="0F1115"/>
                </a:solidFill>
                <a:effectLst/>
                <a:latin typeface="quote-cjk-patch"/>
              </a:rPr>
              <a:t>ArrayList</a:t>
            </a: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 Filter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Create an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quote-cjk-patch"/>
              </a:rPr>
              <a:t>ArrayList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 of integers and filter out all even numbers into a separate list.</a:t>
            </a:r>
          </a:p>
        </p:txBody>
      </p:sp>
    </p:spTree>
    <p:extLst>
      <p:ext uri="{BB962C8B-B14F-4D97-AF65-F5344CB8AC3E}">
        <p14:creationId xmlns:p14="http://schemas.microsoft.com/office/powerpoint/2010/main" val="1980907601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0F1F3F0-8E3C-9EC2-08A0-4468CCE58EC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9EED6713-BF17-59A6-A32B-5D76327C7C54}"/>
              </a:ext>
            </a:extLst>
          </p:cNvPr>
          <p:cNvSpPr txBox="1"/>
          <p:nvPr/>
        </p:nvSpPr>
        <p:spPr>
          <a:xfrm>
            <a:off x="0" y="-3132228"/>
            <a:ext cx="4954136" cy="1408462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lnSpc>
                <a:spcPts val="2250"/>
              </a:lnSpc>
              <a:spcBef>
                <a:spcPts val="2400"/>
              </a:spcBef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Solutions to Practice Exercises: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Solution 3.6: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>
              <a:lnSpc>
                <a:spcPts val="13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java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import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java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util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Arrays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ArrayReverse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main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[]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args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[]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arr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3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4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5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6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7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"Original array: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Arrays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toString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arr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Reverse in-place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left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right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arr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length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while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left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right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Swap elements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temp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arr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left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];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arr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left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]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arr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right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];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arr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right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]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temp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left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++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right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--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"Reversed array: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Arrays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toString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arr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465EAAF4-BEA0-25A9-7E1F-F8ECAEB91ECC}"/>
              </a:ext>
            </a:extLst>
          </p:cNvPr>
          <p:cNvSpPr txBox="1"/>
          <p:nvPr/>
        </p:nvSpPr>
        <p:spPr>
          <a:xfrm>
            <a:off x="2436126" y="-4633464"/>
            <a:ext cx="4981432" cy="1705979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Solution 3.7: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>
              <a:lnSpc>
                <a:spcPts val="13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java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import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java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util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HashMap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import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java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util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Map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FindDuplicates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main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[]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args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[]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arr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3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5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3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7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9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5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8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8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"Array: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Arrays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toString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arr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Map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Integer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Integer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frequencyMap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HashMap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&lt;&gt;();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Count frequency of each element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num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arr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frequencyMap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put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num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frequencyMap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getOrDefault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num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Display duplicates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"Duplicate elements:"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boolean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hasDuplicates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false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Map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Entry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Integer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Integer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entry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frequencyMap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entrySet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entry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getValue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entry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getKey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 appears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entry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getValue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 times"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hasDuplicates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true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!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hasDuplicates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"No duplicates found"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7379BFB3-5C3F-B77E-D702-0B261FF319A8}"/>
              </a:ext>
            </a:extLst>
          </p:cNvPr>
          <p:cNvSpPr txBox="1"/>
          <p:nvPr/>
        </p:nvSpPr>
        <p:spPr>
          <a:xfrm>
            <a:off x="4305869" y="-9122985"/>
            <a:ext cx="4981432" cy="266393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Solution 3.8: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>
              <a:lnSpc>
                <a:spcPts val="13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java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MatrixMultiplication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main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[]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args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[][]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matrix1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3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},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4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5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6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[][]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matrix2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7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8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},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9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},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Check if multiplication is possible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matrix1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].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length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!=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matrix2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length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"Matrix multiplication not possible"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rows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matrix1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length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cols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matrix2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].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length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common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matrix1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].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length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[][]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result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rows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][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cols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];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Multiply matrices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rows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++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j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j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cols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j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++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k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k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common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k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++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result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][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j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]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matrix1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][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k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]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*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matrix2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k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][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j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];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Print result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"Matrix1:"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printMatrix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matrix1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"\nMatrix2:"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printMatrix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matrix2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nResult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:"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printMatrix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result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printMatrix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[][]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matrix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[]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row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matrix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num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row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num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 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</p:txBody>
      </p:sp>
    </p:spTree>
    <p:extLst>
      <p:ext uri="{BB962C8B-B14F-4D97-AF65-F5344CB8AC3E}">
        <p14:creationId xmlns:p14="http://schemas.microsoft.com/office/powerpoint/2010/main" val="1029820654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98392F3-1F7B-EAA1-D24C-5CD66DFD520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92F5D455-9DF1-FE45-4318-72D3A987A4F1}"/>
              </a:ext>
            </a:extLst>
          </p:cNvPr>
          <p:cNvSpPr txBox="1"/>
          <p:nvPr/>
        </p:nvSpPr>
        <p:spPr>
          <a:xfrm>
            <a:off x="-1136" y="-5637032"/>
            <a:ext cx="4954136" cy="189577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Solution 3.9: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>
              <a:lnSpc>
                <a:spcPts val="13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java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import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java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util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ArrayList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import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java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util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ArrayListFilter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main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[]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args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ArrayList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Integer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numbers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ArrayList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&lt;&gt;();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Add some numbers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&lt;=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20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++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numbers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add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"Original list: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numbers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Filter even numbers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ArrayList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Integer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evenNumbers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ArrayList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&lt;&gt;();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ArrayList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Integer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oddNumbers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ArrayList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&lt;&gt;();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num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numbers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num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%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2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evenNumbers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add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num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else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oddNumbers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add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num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"Even numbers: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evenNumbers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"Odd numbers: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oddNumbers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Remove even numbers from original (using </a:t>
            </a:r>
            <a:r>
              <a:rPr lang="en-US" b="0" i="1" dirty="0" err="1">
                <a:solidFill>
                  <a:srgbClr val="A0A1A7"/>
                </a:solidFill>
                <a:effectLst/>
                <a:latin typeface="Menlo"/>
              </a:rPr>
              <a:t>removeIf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numbers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removeIf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n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%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2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"Original after removing evens: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numbers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9BA5D39A-442A-9E79-B405-35FB90BF57D6}"/>
              </a:ext>
            </a:extLst>
          </p:cNvPr>
          <p:cNvSpPr txBox="1"/>
          <p:nvPr/>
        </p:nvSpPr>
        <p:spPr>
          <a:xfrm>
            <a:off x="4953000" y="-1207947"/>
            <a:ext cx="4981432" cy="870751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lnSpc>
                <a:spcPts val="2250"/>
              </a:lnSpc>
              <a:spcBef>
                <a:spcPts val="2400"/>
              </a:spcBef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Key Takeaways from Topic 3: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Arrays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 have fixed size and are more memory-efficient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1" i="0" dirty="0" err="1">
                <a:solidFill>
                  <a:srgbClr val="0F1115"/>
                </a:solidFill>
                <a:effectLst/>
                <a:latin typeface="quote-cjk-patch"/>
              </a:rPr>
              <a:t>ArrayLists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 are flexible and provide many utility methods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2D arrays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 are useful for matrix operations and tabular data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Enhanced for loop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 simplifies iteration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Arrays class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 provides helpful methods like sort(),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quote-cjk-patch"/>
              </a:rPr>
              <a:t>toString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(),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quote-cjk-patch"/>
              </a:rPr>
              <a:t>binarySearch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()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Collections class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 provides utilities for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quote-cjk-patch"/>
              </a:rPr>
              <a:t>ArrayLists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>
              <a:spcBef>
                <a:spcPts val="45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Time complexity matters when choosing algorithms</a:t>
            </a:r>
          </a:p>
          <a:p>
            <a:pPr algn="l">
              <a:lnSpc>
                <a:spcPts val="2250"/>
              </a:lnSpc>
              <a:spcBef>
                <a:spcPts val="2400"/>
              </a:spcBef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Additional Challenges: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Implement a sparse matrix representation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Create a dynamic array implementation (similar to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quote-cjk-patch"/>
              </a:rPr>
              <a:t>ArrayList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)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Implement a simple contact list using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quote-cjk-patch"/>
              </a:rPr>
              <a:t>ArrayList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>
              <a:spcBef>
                <a:spcPts val="45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Find the longest increasing subsequence in an array</a:t>
            </a:r>
          </a:p>
        </p:txBody>
      </p:sp>
    </p:spTree>
    <p:extLst>
      <p:ext uri="{BB962C8B-B14F-4D97-AF65-F5344CB8AC3E}">
        <p14:creationId xmlns:p14="http://schemas.microsoft.com/office/powerpoint/2010/main" val="53744570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97F4734-C1A0-211C-519C-3E66DD65852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DE5CC3BE-A56D-5877-75ED-A6B394B4B780}"/>
              </a:ext>
            </a:extLst>
          </p:cNvPr>
          <p:cNvSpPr txBox="1"/>
          <p:nvPr/>
        </p:nvSpPr>
        <p:spPr>
          <a:xfrm>
            <a:off x="129654" y="-1499810"/>
            <a:ext cx="4954136" cy="1032846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lnSpc>
                <a:spcPts val="2400"/>
              </a:lnSpc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Topic 4: Object-Oriented Programming (OOP) Basics</a:t>
            </a:r>
          </a:p>
          <a:p>
            <a:pPr algn="l">
              <a:lnSpc>
                <a:spcPts val="2250"/>
              </a:lnSpc>
              <a:spcBef>
                <a:spcPts val="2400"/>
              </a:spcBef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Concepts Overview:</a:t>
            </a:r>
          </a:p>
          <a:p>
            <a:pPr algn="l">
              <a:lnSpc>
                <a:spcPts val="2100"/>
              </a:lnSpc>
              <a:spcBef>
                <a:spcPts val="1200"/>
              </a:spcBef>
              <a:spcAft>
                <a:spcPts val="6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1. Classes and Objects</a:t>
            </a:r>
          </a:p>
          <a:p>
            <a:pPr algn="l">
              <a:spcBef>
                <a:spcPts val="60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Class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: Blueprint/template for creating objects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Object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: Instance of a class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Attributes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: Properties/fields of a class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Methods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: Behaviors/functions of a class</a:t>
            </a:r>
          </a:p>
          <a:p>
            <a:pPr algn="l">
              <a:lnSpc>
                <a:spcPts val="2100"/>
              </a:lnSpc>
              <a:spcBef>
                <a:spcPts val="1200"/>
              </a:spcBef>
              <a:spcAft>
                <a:spcPts val="6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2. Four Pillars of OOP</a:t>
            </a:r>
          </a:p>
          <a:p>
            <a:pPr algn="l">
              <a:spcBef>
                <a:spcPts val="60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Encapsulation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: Bundle data and methods, hide internal details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Inheritance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: Create new classes based on existing ones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Polymorphism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: Many forms - method overloading and overriding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Abstraction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: Hide complex implementation, show only necessary features</a:t>
            </a:r>
          </a:p>
          <a:p>
            <a:pPr algn="l">
              <a:lnSpc>
                <a:spcPts val="2100"/>
              </a:lnSpc>
              <a:spcBef>
                <a:spcPts val="1200"/>
              </a:spcBef>
              <a:spcAft>
                <a:spcPts val="6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3. Key Java Concepts</a:t>
            </a:r>
          </a:p>
          <a:p>
            <a:pPr algn="l">
              <a:spcBef>
                <a:spcPts val="60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Constructor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: Special method to initialize objects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this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 keyword: Reference to current object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static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 keyword: Belongs to class, not instances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Access Modifiers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: public, private, protected, default</a:t>
            </a:r>
          </a:p>
        </p:txBody>
      </p:sp>
    </p:spTree>
    <p:extLst>
      <p:ext uri="{BB962C8B-B14F-4D97-AF65-F5344CB8AC3E}">
        <p14:creationId xmlns:p14="http://schemas.microsoft.com/office/powerpoint/2010/main" val="4268402166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48A05F5-03AA-D92D-60A8-B08A3E4A0CF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F6584E64-079A-D11E-6FDA-CBC7EC1F70DA}"/>
              </a:ext>
            </a:extLst>
          </p:cNvPr>
          <p:cNvSpPr txBox="1"/>
          <p:nvPr/>
        </p:nvSpPr>
        <p:spPr>
          <a:xfrm>
            <a:off x="2477069" y="-23348637"/>
            <a:ext cx="4954136" cy="535620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lnSpc>
                <a:spcPts val="2250"/>
              </a:lnSpc>
              <a:spcBef>
                <a:spcPts val="2400"/>
              </a:spcBef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Exercise 4.1: Basic Class Creation</a:t>
            </a:r>
          </a:p>
          <a:p>
            <a:pPr algn="l">
              <a:lnSpc>
                <a:spcPts val="1650"/>
              </a:lnSpc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Create a simple 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Student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 class with attributes and methods.</a:t>
            </a:r>
          </a:p>
          <a:p>
            <a:pPr algn="l">
              <a:lnSpc>
                <a:spcPts val="13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java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Student.java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Student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Attributes (instance variables)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age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studentId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gpa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Constructor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Student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age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studentId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name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age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age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studentId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studentId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gpa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0.0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Getter and Setter methods (Encapsulation)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setName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name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getAge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age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setAge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age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age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&amp;&amp;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age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150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age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age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else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"Invalid age!"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getStudentId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studentId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getGpa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gpa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setGpa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gpa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gpa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&gt;=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0.0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&amp;&amp;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gpa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&lt;=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4.0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gpa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gpa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else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"Invalid GPA! Must be between 0.0 and 4.0"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Methods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study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hours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name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 studied for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hours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 hours"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Studying might improve GPA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improvement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hours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*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0.1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setGpa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Math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min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4.0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gpa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improvement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displayInfo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"\n=== Student Information ==="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"Name: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"Age: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age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"Student ID: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studentId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printf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"GPA: %.2f\n"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gpa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boolean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isHonorStudent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gpa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&gt;=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3.5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Main.java - Test the Student class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Main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main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[]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args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Create Student objects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Student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student1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Student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"Alice Johnson"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20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"S12345"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Student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student2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Student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"Bob Smith"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22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"S67890"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Set GPA using setter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student1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setGpa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3.2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student2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setGpa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3.8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Display initial info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student1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displayInfo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student2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displayInfo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Student studies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student1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study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5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student2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study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Check honor status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"\n"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student1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getName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 is honor student?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      student1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isHonorStudent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student2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getName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 is honor student?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      student2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isHonorStudent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Display updated info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student1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displayInfo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</p:txBody>
      </p:sp>
    </p:spTree>
    <p:extLst>
      <p:ext uri="{BB962C8B-B14F-4D97-AF65-F5344CB8AC3E}">
        <p14:creationId xmlns:p14="http://schemas.microsoft.com/office/powerpoint/2010/main" val="4077645865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F89E505-40D9-4ED7-D016-8A821BFA101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8397B117-0A07-D63D-A53F-34552C415402}"/>
              </a:ext>
            </a:extLst>
          </p:cNvPr>
          <p:cNvSpPr txBox="1"/>
          <p:nvPr/>
        </p:nvSpPr>
        <p:spPr>
          <a:xfrm>
            <a:off x="2477069" y="-26007057"/>
            <a:ext cx="4954136" cy="588789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lnSpc>
                <a:spcPts val="2250"/>
              </a:lnSpc>
              <a:spcBef>
                <a:spcPts val="2400"/>
              </a:spcBef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Exercise 4.2: Static Members and Constants</a:t>
            </a:r>
          </a:p>
          <a:p>
            <a:pPr algn="l">
              <a:lnSpc>
                <a:spcPts val="1650"/>
              </a:lnSpc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Create a 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BankAccount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 class with static variables to track total accounts.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Solution: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>
              <a:lnSpc>
                <a:spcPts val="13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java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BankAccount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Static variables (class-level)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totalAccounts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totalBalance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final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INTEREST_RATE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0.035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3.5% constant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Instance variables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accountNumber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accountHolder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balance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Constructor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BankAccount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accountHolder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initialDeposit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accountHolder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accountHolder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balance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initialDeposit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accountNumber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generateAccountNumber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Update static variables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totalAccounts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++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totalBalance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initialDeposit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"Account created successfully!"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"Account Number: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accountNumber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Static method to generate account number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nextAccountNumber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1000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generateAccountNumber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"ACC"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++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nextAccountNumber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Instance methods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deposit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amount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amount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balance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amount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totalBalance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amount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printf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"Deposited $%.2f. New balance: $%.2f\n"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amount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balance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else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"Invalid deposit amount!"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withdraw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amount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amount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&amp;&amp;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amount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&lt;=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balance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balance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amount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totalBalance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amount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printf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"Withdrew $%.2f. New balance: $%.2f\n"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amount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balance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else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"Insufficient funds or invalid amount!"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applyInterest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interest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balance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*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INTEREST_RATE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deposit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interest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printf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"Applied interest: $%.2f\n"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interest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displayAccountInfo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"\n=== Account Information ==="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"Account Number: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accountNumber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"Account Holder: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accountHolder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printf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"Balance: $%.2f\n"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balance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Static methods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displayBankStatistics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"\n=== Bank Statistics ==="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"Total Accounts: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totalAccounts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printf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"Total Balance: $%.2f\n"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totalBalance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printf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"Interest Rate: %.2f%%\n"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INTEREST_RATE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*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100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getTotalAccounts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totalAccounts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Test class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BankTest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main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[]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args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Create accounts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BankAccount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acc1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BankAccount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"John Doe"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1000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BankAccount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acc2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BankAccount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"Jane Smith"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2500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BankAccount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acc3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BankAccount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"Bob Johnson"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500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Perform operations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acc1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deposit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500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acc2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withdraw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300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acc3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deposit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200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Apply interest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acc1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applyInterest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Display individual account info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acc1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displayAccountInfo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acc2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displayAccountInfo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Display bank statistics using static method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BankAccount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displayBankStatistics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Access static variable directly (not recommended but possible)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nTotal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 accounts (direct access):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BankAccount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getTotalAccounts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</p:txBody>
      </p:sp>
    </p:spTree>
    <p:extLst>
      <p:ext uri="{BB962C8B-B14F-4D97-AF65-F5344CB8AC3E}">
        <p14:creationId xmlns:p14="http://schemas.microsoft.com/office/powerpoint/2010/main" val="3528220083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B309C2D-F040-78E6-DD9B-00AC84CAA3A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7C8EE32E-927A-D2E9-4FEE-4FD179BB3FB1}"/>
              </a:ext>
            </a:extLst>
          </p:cNvPr>
          <p:cNvSpPr txBox="1"/>
          <p:nvPr/>
        </p:nvSpPr>
        <p:spPr>
          <a:xfrm>
            <a:off x="2477069" y="-32997432"/>
            <a:ext cx="4954136" cy="7285968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lnSpc>
                <a:spcPts val="2250"/>
              </a:lnSpc>
              <a:spcBef>
                <a:spcPts val="2400"/>
              </a:spcBef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Exercise 4.3: Inheritance - Vehicle Hierarchy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Create a vehicle hierarchy demonstrating inheritance.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Solution: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>
              <a:lnSpc>
                <a:spcPts val="13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java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Base class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Vehicle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protected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brand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protected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model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protected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year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protected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price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Vehicle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brand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model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year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price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brand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brand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model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model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year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year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price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price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start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brand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model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 is starting..."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stop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brand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model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 is stopping..."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displayInfo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"\n=== Vehicle Information ==="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"Brand: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brand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"Model: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model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"Year: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year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printf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"Price: $%.2f\n"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price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calculateMaintenanceCost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price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*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0.05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5% of price for basic maintenance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Derived class - Car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Car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extends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Vehicle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numberOfDoors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fuelType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Car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brand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model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year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price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numberOfDoors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fuelType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super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brand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model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year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price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Call parent constructor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numberOfDoors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numberOfDoors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fuelType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fuelType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Method overriding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@Override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start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"Car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brand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model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 is starting with key..."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@Override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displayInfo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super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displayInfo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Call parent method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"Number of Doors: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numberOfDoors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"Fuel Type: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fuelType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Car-specific method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honk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"Beep beep!"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@Override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calculateMaintenanceCost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super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calculateMaintenanceCost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200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Additional car maintenance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Derived class - Motorcycle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Motorcycle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extends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Vehicle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boolean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hasSidecar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engineCapacity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Motorcycle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brand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model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year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price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boolean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hasSidecar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engineCapacity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super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brand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model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year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price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hasSidecar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hasSidecar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engineCapacity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engineCapacity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@Override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start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"Motorcycle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brand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model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 is kick-starting..."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@Override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displayInfo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super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displayInfo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"Has Sidecar: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hasSidecar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?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"Yes"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"No"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"Engine Capacity: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engineCapacity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"cc"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wheelie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!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hasSidecar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"Doing a wheelie!"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else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"Can't do wheelie with sidecar!"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Test class for inheritance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VehicleTest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main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[]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args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Create vehicles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Car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car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Car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"Toyota"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"Camry"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2022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25000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4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"Gasoline"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Motorcycle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bike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Motorcycle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"Harley"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"Sportster"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2021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15000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false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1200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Demonstrate polymorphism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"=== Testing Car ==="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car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start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car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displayInfo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car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honk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printf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"Maintenance Cost: $%.2f\n"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car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calculateMaintenanceCost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"\n=== Testing Motorcycle ==="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bike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start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bike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displayInfo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bike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wheelie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printf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"Maintenance Cost: $%.2f\n"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bike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calculateMaintenanceCost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Polymorphic array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"\n=== Polymorphic Array ==="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Vehicle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[]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vehicles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car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bike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Car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"Honda"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"Civic"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2023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23000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4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"Hybrid"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)};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Vehicle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v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vehicles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v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start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printf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"Maintenance: $%.2f\n"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v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calculateMaintenanceCost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</p:txBody>
      </p:sp>
    </p:spTree>
    <p:extLst>
      <p:ext uri="{BB962C8B-B14F-4D97-AF65-F5344CB8AC3E}">
        <p14:creationId xmlns:p14="http://schemas.microsoft.com/office/powerpoint/2010/main" val="125007898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65263D5-F352-EAA7-74F0-A6DE67CBD07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B85342BD-04DB-7BA0-0B2C-A061F8E9A8DF}"/>
              </a:ext>
            </a:extLst>
          </p:cNvPr>
          <p:cNvSpPr txBox="1"/>
          <p:nvPr/>
        </p:nvSpPr>
        <p:spPr>
          <a:xfrm>
            <a:off x="2477069" y="-37039565"/>
            <a:ext cx="4954136" cy="809439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lnSpc>
                <a:spcPts val="2250"/>
              </a:lnSpc>
              <a:spcBef>
                <a:spcPts val="2400"/>
              </a:spcBef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Exercise 4.4: Polymorphism - Shape Area Calculator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Demonstrate method overloading and overriding.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Solution: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>
              <a:lnSpc>
                <a:spcPts val="13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java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Abstract base class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abstract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Shape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protected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color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Shape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color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color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color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Abstract method - must be implemented by subclasses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abstract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calculateArea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Concrete method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displayColor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"Shape color: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color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Method overloading - same name, different parameters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printDescription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"This is a shape."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printDescription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additionalInfo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"This is a shape.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additionalInfo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Circle class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Circle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extends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Shape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radius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Circle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color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radius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super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color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radius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radius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@Override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calculateArea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Math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PI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*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radius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*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radius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@Override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printDescription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printf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"Circle with radius %.2f\n"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radius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Rectangle class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Rectangle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extends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Shape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length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width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Rectangle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color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length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width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super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color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length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length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width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width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@Override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calculateArea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length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*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width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@Override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printDescription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printf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"Rectangle with length %.2f and width %.2f\n"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length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width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Triangle class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Triangle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extends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Shape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base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height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Triangle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color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base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height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super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color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base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base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height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height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@Override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calculateArea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0.5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*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base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*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height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@Override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printDescription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printf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"Triangle with base %.2f and height %.2f\n"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base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height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Calculator class with method overloading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AreaCalculator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Overloaded methods for different shapes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calculateArea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Circle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circle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circle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calculateArea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calculateArea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Rectangle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rectangle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rectangle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calculateArea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calculateArea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Triangle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triangle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triangle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calculateArea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Overloaded method for multiple shapes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calculateTotalArea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Shape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[]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shapes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total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Shape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shape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shapes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total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shape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calculateArea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total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Test class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PolymorphismTest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main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[]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args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Create shapes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Circle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circle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Circle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"Red"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5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Rectangle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rectangle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Rectangle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"Blue"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4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6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Triangle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triangle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Triangle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"Green"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3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8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Create array of shapes (polymorphism)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Shape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[]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shapes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circle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rectangle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triangle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Demonstrate polymorphism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"=== Shape Descriptions ==="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Shape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shape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shapes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shape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printDescription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shape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displayColor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printf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"Area: %.2f\n\n"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shape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calculateArea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Demonstrate method overloading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AreaCalculator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calculator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AreaCalculator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"=== Individual Calculations ==="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printf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"Circle area: %.2f\n"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calculator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calculateArea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circle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printf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"Rectangle area: %.2f\n"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calculator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calculateArea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rectangle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printf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"Triangle area: %.2f\n"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calculator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calculateArea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triangle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printf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nTotal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 area of all shapes: %.2f\n"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calculator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calculateTotalArea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shapes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Demonstrate overloaded methods in Shape class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"\n=== Overloaded Methods ==="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circle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printDescription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circle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printDescription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"It's round and red."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</p:txBody>
      </p:sp>
    </p:spTree>
    <p:extLst>
      <p:ext uri="{BB962C8B-B14F-4D97-AF65-F5344CB8AC3E}">
        <p14:creationId xmlns:p14="http://schemas.microsoft.com/office/powerpoint/2010/main" val="763064009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FCB1E5E-CDE1-A6B0-BC87-662752729A8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6D795576-9FA9-0FC4-6B8C-9A9D6C3D40AF}"/>
              </a:ext>
            </a:extLst>
          </p:cNvPr>
          <p:cNvSpPr txBox="1"/>
          <p:nvPr/>
        </p:nvSpPr>
        <p:spPr>
          <a:xfrm>
            <a:off x="2477069" y="-48309316"/>
            <a:ext cx="4954136" cy="10348345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lnSpc>
                <a:spcPts val="2250"/>
              </a:lnSpc>
              <a:spcBef>
                <a:spcPts val="2400"/>
              </a:spcBef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Exercise 4.5: Encapsulation - Employee Management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Create an employee management system demonstrating proper encapsulation.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Solution: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>
              <a:lnSpc>
                <a:spcPts val="13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java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import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java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util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ArrayList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import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java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util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Employee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Private fields - encapsulation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id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email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phone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salary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department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nextId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1000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Constructor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Employee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email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department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id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nextId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++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name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setEmail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email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Use setter for validation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department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department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salary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30000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Default salary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Getters and Setters with validation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getId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id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setName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name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!=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null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&amp;&amp;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!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name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trim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isEmpty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name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else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throw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IllegalArgumentException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"Name cannot be empty"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getEmail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email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setEmail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email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email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!=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null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&amp;&amp;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email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matches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"^[A-Za-z0-9+_.-]+@(.+)$"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email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email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else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throw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IllegalArgumentException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"Invalid email format"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getPhone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phone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setPhone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phone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phone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null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||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phone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matches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"\\d{10}"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phone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phone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else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throw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IllegalArgumentException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"Phone must be 10 digits"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getSalary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salary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protected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setSalary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salary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Protected - only subclasses can modify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salary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&gt;=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salary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salary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else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throw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IllegalArgumentException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"Salary cannot be negative"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getDepartment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department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setDepartment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department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department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department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Business methods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giveRaise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percentage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percentage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raise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salary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*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percentage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/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100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setSalary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salary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raise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printf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"Raise of %.2f%% applied. New salary: $%.2f\n"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        percentage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salary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displayInfo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"\n=== Employee Information ==="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"ID: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id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"Name: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"Email: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email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"Phone: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phone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!=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null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?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phone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"Not provided"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"Department: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department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printf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"Salary: $%.2f\n"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salary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Manager class - inherits from Employee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Manager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extends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Employee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Employee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teamMembers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bonusPercentage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Manager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email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department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bonusPercentage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super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email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department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teamMembers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ArrayList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&lt;&gt;();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bonusPercentage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bonusPercentage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setSalary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50000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Managers have higher base salary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addTeamMember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Employee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emp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!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teamMembers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contains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emp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teamMembers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add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emp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emp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 added to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"'s team"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removeTeamMember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Employee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emp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teamMembers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remove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emp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emp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 removed from team"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Employee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getTeamMembers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ArrayList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&lt;&gt;(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teamMembers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Return a copy to preserve encapsulation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getTeamSize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teamMembers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size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@Override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giveRaise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percentage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Managers get additional bonus on top of regular raise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super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giveRaise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percentage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bonus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getSalary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*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bonusPercentage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/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100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setSalary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getSalary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bonus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printf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"Manager bonus of %.2f%% applied: $%.2f\n"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bonusPercentage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bonus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@Override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displayInfo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super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displayInfo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"Role: Manager"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"Team Size: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getTeamSize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printf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"Bonus Percentage: %.2f%%\n"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bonusPercentage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Test class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EmployeeManagementSystem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main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[]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args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try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Create employees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Employee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emp1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Employee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"John Doe"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"john.doe@company.com"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"IT"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Employee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emp2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Employee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"Jane Smith"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"jane.smith@company.com"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"IT"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Employee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emp3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Employee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"Bob Johnson"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"bob.j@company.com"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"HR"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Set phone numbers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emp1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setPhone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"1234567890"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emp2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setPhone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"9876543210"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Create manager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Manager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manager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Manager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"Alice Brown"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"alice.b@company.com"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                    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"IT"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5.0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Build team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manager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addTeamMember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emp1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manager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addTeamMember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emp2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Give raises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emp1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giveRaise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manager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giveRaise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8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Display information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emp1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displayInfo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emp2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displayInfo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manager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displayInfo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Try invalid data (will throw exception)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emp3.setEmail("invalid-email"); // Uncomment to test validation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catch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IllegalArgumentException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"Error: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getMessage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</p:txBody>
      </p:sp>
    </p:spTree>
    <p:extLst>
      <p:ext uri="{BB962C8B-B14F-4D97-AF65-F5344CB8AC3E}">
        <p14:creationId xmlns:p14="http://schemas.microsoft.com/office/powerpoint/2010/main" val="21651039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EBC157C-7E71-00DD-B11C-77BDBC4BF8C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AF37D7E7-5C27-9D13-76D3-0568EACEE4B0}"/>
              </a:ext>
            </a:extLst>
          </p:cNvPr>
          <p:cNvSpPr txBox="1"/>
          <p:nvPr/>
        </p:nvSpPr>
        <p:spPr>
          <a:xfrm>
            <a:off x="2477069" y="-1509325"/>
            <a:ext cx="4954136" cy="98834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lnSpc>
                <a:spcPts val="2250"/>
              </a:lnSpc>
              <a:spcBef>
                <a:spcPts val="2400"/>
              </a:spcBef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Practice Exercises - Try These Yourself:</a:t>
            </a:r>
          </a:p>
          <a:p>
            <a:pPr algn="l">
              <a:lnSpc>
                <a:spcPts val="2100"/>
              </a:lnSpc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Exercise 4.6: Library Management System</a:t>
            </a:r>
          </a:p>
          <a:p>
            <a:pPr algn="l">
              <a:lnSpc>
                <a:spcPts val="1650"/>
              </a:lnSpc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Create a simple library system with 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Book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 and 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Library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 classes. Books should have title, author, ISBN, and availability status.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Requirements: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>
              <a:spcBef>
                <a:spcPts val="120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Add/remove books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Borrow and return books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Search books by title or author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Display all available books</a:t>
            </a:r>
          </a:p>
          <a:p>
            <a:pPr algn="l">
              <a:lnSpc>
                <a:spcPts val="2100"/>
              </a:lnSpc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Exercise 4.7: Online Shopping Cart</a:t>
            </a:r>
          </a:p>
          <a:p>
            <a:pPr algn="l">
              <a:lnSpc>
                <a:spcPts val="1650"/>
              </a:lnSpc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Create classes for 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Product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, 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Customer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, and 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ShoppingCart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.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Requirements: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>
              <a:spcBef>
                <a:spcPts val="120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Products have name, price, and quantity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Customers can add/remove items from cart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Calculate total price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Apply discounts</a:t>
            </a:r>
          </a:p>
          <a:p>
            <a:pPr algn="l">
              <a:lnSpc>
                <a:spcPts val="2100"/>
              </a:lnSpc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Exercise 4.8: University System</a:t>
            </a:r>
          </a:p>
          <a:p>
            <a:pPr algn="l">
              <a:lnSpc>
                <a:spcPts val="1650"/>
              </a:lnSpc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Create an inheritance hierarchy with 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Person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 as base class and 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Student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, 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Professor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 as subclasses.</a:t>
            </a:r>
          </a:p>
        </p:txBody>
      </p:sp>
    </p:spTree>
    <p:extLst>
      <p:ext uri="{BB962C8B-B14F-4D97-AF65-F5344CB8AC3E}">
        <p14:creationId xmlns:p14="http://schemas.microsoft.com/office/powerpoint/2010/main" val="2623613559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BF93A60-7F4A-4075-E419-85EE761A0B1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8718C94A-8A04-E0FF-2D77-4E0AE9187B0B}"/>
              </a:ext>
            </a:extLst>
          </p:cNvPr>
          <p:cNvSpPr txBox="1"/>
          <p:nvPr/>
        </p:nvSpPr>
        <p:spPr>
          <a:xfrm>
            <a:off x="2477069" y="-32483189"/>
            <a:ext cx="4954136" cy="7183120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lnSpc>
                <a:spcPts val="2250"/>
              </a:lnSpc>
              <a:spcBef>
                <a:spcPts val="2400"/>
              </a:spcBef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Solutions to Practice Exercises: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Solution 4.6: Library Management System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>
              <a:lnSpc>
                <a:spcPts val="13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java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import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java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util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ArrayList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import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java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util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Book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title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author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isbn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boolean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isAvailable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Book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title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author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isbn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title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title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author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author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isbn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isbn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isAvailable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true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Getters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getTitle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title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getAuthor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author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getIsbn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isbn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boolean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isAvailable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isAvailable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borrow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isAvailable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isAvailable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false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title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 has been borrowed."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else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title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 is not available."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returnBook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isAvailable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true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title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 has been returned."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@Override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toString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format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"%s by %s (ISBN: %s) - %s"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title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author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isbn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isAvailable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?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"Available"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"Borrowed"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Library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Book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books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Library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name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books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ArrayList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&lt;&gt;();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addBook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Book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book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books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add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book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"Added: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book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getTitle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removeBook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isbn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books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removeIf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book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book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getIsbn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equals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isbn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"Book with ISBN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isbn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 removed."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Book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searchByTitle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title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Book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results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ArrayList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&lt;&gt;();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Book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book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books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book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getTitle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toLowerCase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contains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title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toLowerCase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results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add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book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results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Book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searchByAuthor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author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Book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results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ArrayList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&lt;&gt;();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Book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book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books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book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getAuthor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toLowerCase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contains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author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toLowerCase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results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add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book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results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displayAvailableBooks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"\n=== Available Books in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name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 ==="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boolean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found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false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Book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book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books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book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isAvailable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book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found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true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!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found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"No books available at the moment."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displayAllBooks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"\n=== All Books in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name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 ==="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Book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book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books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book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LibraryTest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main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[]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args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Library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library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Library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"City Central Library"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Add books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library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addBook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Book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"The Great Gatsby"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"F. Scott Fitzgerald"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"9780743273565"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library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addBook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Book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"To Kill a Mockingbird"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"Harper Lee"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"9780061120084"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library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addBook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Book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"1984"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"George Orwell"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"9780451524935"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Display all books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library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displayAllBooks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Search for books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"\n=== Search Results for 'the' ==="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Book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results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library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searchByTitle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"the"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Book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book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results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book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Borrow a book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Book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book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results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book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borrow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Display available books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library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displayAvailableBooks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Return the book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book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returnBook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library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displayAvailableBooks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</p:txBody>
      </p:sp>
    </p:spTree>
    <p:extLst>
      <p:ext uri="{BB962C8B-B14F-4D97-AF65-F5344CB8AC3E}">
        <p14:creationId xmlns:p14="http://schemas.microsoft.com/office/powerpoint/2010/main" val="1008188333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BD2FCAA-5208-4115-0033-78F3F505C61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AECB892C-E407-E293-6337-5E4608F0A1DB}"/>
              </a:ext>
            </a:extLst>
          </p:cNvPr>
          <p:cNvSpPr txBox="1"/>
          <p:nvPr/>
        </p:nvSpPr>
        <p:spPr>
          <a:xfrm>
            <a:off x="2477069" y="-1684373"/>
            <a:ext cx="4954136" cy="1023357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lnSpc>
                <a:spcPts val="2250"/>
              </a:lnSpc>
              <a:spcBef>
                <a:spcPts val="2400"/>
              </a:spcBef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Key Takeaways from Topic 4: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Classes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 are blueprints, </a:t>
            </a: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objects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 are instances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Encapsulation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 hides internal state and provides controlled access</a:t>
            </a:r>
          </a:p>
          <a:p>
            <a:pPr algn="l">
              <a:lnSpc>
                <a:spcPts val="1650"/>
              </a:lnSpc>
              <a:spcBef>
                <a:spcPts val="45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Inheritance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 promotes code reuse 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extends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 keyword)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Polymorphism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 allows objects to take many forms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Method overloading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 - same method name, different parameters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Method overriding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 - subclass redefines parent method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Abstract classes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 can't be instantiated, may have abstract methods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Static members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 belong to the class, not instances</a:t>
            </a:r>
          </a:p>
          <a:p>
            <a:pPr algn="l">
              <a:lnSpc>
                <a:spcPts val="1650"/>
              </a:lnSpc>
              <a:spcBef>
                <a:spcPts val="45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Constructor chaining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 with 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super()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 calls parent constructor</a:t>
            </a:r>
          </a:p>
          <a:p>
            <a:pPr algn="l">
              <a:lnSpc>
                <a:spcPts val="2250"/>
              </a:lnSpc>
              <a:spcBef>
                <a:spcPts val="2400"/>
              </a:spcBef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Additional Challenges:</a:t>
            </a:r>
          </a:p>
          <a:p>
            <a:pPr algn="l">
              <a:lnSpc>
                <a:spcPts val="1650"/>
              </a:lnSpc>
              <a:spcBef>
                <a:spcPts val="120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Implement an interface 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Payable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 for employees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Create a simple banking system with multiple account types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Design a zoo management system with animal hierarchy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Implement a task management system with OOP principles</a:t>
            </a:r>
          </a:p>
        </p:txBody>
      </p:sp>
    </p:spTree>
    <p:extLst>
      <p:ext uri="{BB962C8B-B14F-4D97-AF65-F5344CB8AC3E}">
        <p14:creationId xmlns:p14="http://schemas.microsoft.com/office/powerpoint/2010/main" val="2335781402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23C0856-9563-310D-DEF0-85E9C971EA8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Box 5">
            <a:extLst>
              <a:ext uri="{FF2B5EF4-FFF2-40B4-BE49-F238E27FC236}">
                <a16:creationId xmlns:a16="http://schemas.microsoft.com/office/drawing/2014/main" id="{B5487567-F5F0-9BD9-42EB-D77E8FD28D12}"/>
              </a:ext>
            </a:extLst>
          </p:cNvPr>
          <p:cNvSpPr txBox="1"/>
          <p:nvPr/>
        </p:nvSpPr>
        <p:spPr>
          <a:xfrm>
            <a:off x="-1136" y="-81887"/>
            <a:ext cx="4954136" cy="672748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lnSpc>
                <a:spcPts val="2400"/>
              </a:lnSpc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Topic 5: Interfaces, Abstract Classes, and Advanced OOP Concepts</a:t>
            </a:r>
          </a:p>
          <a:p>
            <a:pPr algn="l">
              <a:lnSpc>
                <a:spcPts val="2250"/>
              </a:lnSpc>
              <a:spcBef>
                <a:spcPts val="2400"/>
              </a:spcBef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Concepts Overview:</a:t>
            </a:r>
          </a:p>
          <a:p>
            <a:pPr algn="l">
              <a:lnSpc>
                <a:spcPts val="2100"/>
              </a:lnSpc>
              <a:spcBef>
                <a:spcPts val="1200"/>
              </a:spcBef>
              <a:spcAft>
                <a:spcPts val="6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1. Abstract Classes</a:t>
            </a:r>
          </a:p>
          <a:p>
            <a:pPr algn="l">
              <a:spcBef>
                <a:spcPts val="60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Cannot be instantiated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Can have both abstract and concrete methods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Can have instance variables and constructors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Used when classes share common characteristics</a:t>
            </a:r>
          </a:p>
          <a:p>
            <a:pPr algn="l">
              <a:lnSpc>
                <a:spcPts val="2100"/>
              </a:lnSpc>
              <a:spcBef>
                <a:spcPts val="1200"/>
              </a:spcBef>
              <a:spcAft>
                <a:spcPts val="6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2. Interfaces</a:t>
            </a:r>
          </a:p>
          <a:p>
            <a:pPr algn="l">
              <a:spcBef>
                <a:spcPts val="60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Contract that classes can implement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All methods are abstract by default (Java 8+ allows default methods)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Supports multiple inheritance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Used to define capabilities/behaviors</a:t>
            </a:r>
          </a:p>
        </p:txBody>
      </p:sp>
      <p:graphicFrame>
        <p:nvGraphicFramePr>
          <p:cNvPr id="7" name="Table 6">
            <a:extLst>
              <a:ext uri="{FF2B5EF4-FFF2-40B4-BE49-F238E27FC236}">
                <a16:creationId xmlns:a16="http://schemas.microsoft.com/office/drawing/2014/main" id="{AA4BE826-1BB2-B57A-FB7F-6C2C6B6C790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13504973"/>
              </p:ext>
            </p:extLst>
          </p:nvPr>
        </p:nvGraphicFramePr>
        <p:xfrm>
          <a:off x="2087878" y="2458244"/>
          <a:ext cx="5842398" cy="3086100"/>
        </p:xfrm>
        <a:graphic>
          <a:graphicData uri="http://schemas.openxmlformats.org/drawingml/2006/table">
            <a:tbl>
              <a:tblPr/>
              <a:tblGrid>
                <a:gridCol w="1947466">
                  <a:extLst>
                    <a:ext uri="{9D8B030D-6E8A-4147-A177-3AD203B41FA5}">
                      <a16:colId xmlns:a16="http://schemas.microsoft.com/office/drawing/2014/main" val="3632365035"/>
                    </a:ext>
                  </a:extLst>
                </a:gridCol>
                <a:gridCol w="1947466">
                  <a:extLst>
                    <a:ext uri="{9D8B030D-6E8A-4147-A177-3AD203B41FA5}">
                      <a16:colId xmlns:a16="http://schemas.microsoft.com/office/drawing/2014/main" val="1901979273"/>
                    </a:ext>
                  </a:extLst>
                </a:gridCol>
                <a:gridCol w="1947466">
                  <a:extLst>
                    <a:ext uri="{9D8B030D-6E8A-4147-A177-3AD203B41FA5}">
                      <a16:colId xmlns:a16="http://schemas.microsoft.com/office/drawing/2014/main" val="1170152463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l">
                        <a:lnSpc>
                          <a:spcPts val="1875"/>
                        </a:lnSpc>
                        <a:buNone/>
                      </a:pPr>
                      <a:r>
                        <a:rPr lang="en-US" b="0">
                          <a:effectLst/>
                          <a:latin typeface="quote-cjk-patch"/>
                        </a:rPr>
                        <a:t>Feature</a:t>
                      </a:r>
                    </a:p>
                  </a:txBody>
                  <a:tcPr marR="121920" marT="76200" marB="7620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ts val="1875"/>
                        </a:lnSpc>
                        <a:buNone/>
                      </a:pPr>
                      <a:r>
                        <a:rPr lang="en-US" b="0">
                          <a:effectLst/>
                          <a:latin typeface="quote-cjk-patch"/>
                        </a:rPr>
                        <a:t>Abstract Class</a:t>
                      </a:r>
                    </a:p>
                  </a:txBody>
                  <a:tcPr marL="121920" marR="121920" marT="76200" marB="7620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ts val="1875"/>
                        </a:lnSpc>
                        <a:buNone/>
                      </a:pPr>
                      <a:r>
                        <a:rPr lang="en-US" b="0">
                          <a:effectLst/>
                          <a:latin typeface="quote-cjk-patch"/>
                        </a:rPr>
                        <a:t>Interface</a:t>
                      </a:r>
                    </a:p>
                  </a:txBody>
                  <a:tcPr marL="121920" marR="121920" marT="76200" marB="7620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662606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lnSpc>
                          <a:spcPts val="1875"/>
                        </a:lnSpc>
                        <a:buNone/>
                      </a:pPr>
                      <a:r>
                        <a:rPr lang="en-US" b="0">
                          <a:effectLst/>
                          <a:latin typeface="quote-cjk-patch"/>
                        </a:rPr>
                        <a:t>Instantiation</a:t>
                      </a:r>
                    </a:p>
                  </a:txBody>
                  <a:tcPr marR="121920" marT="76200" marB="7620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875"/>
                        </a:lnSpc>
                        <a:buNone/>
                      </a:pPr>
                      <a:r>
                        <a:rPr lang="en-US" b="0">
                          <a:effectLst/>
                          <a:latin typeface="quote-cjk-patch"/>
                        </a:rPr>
                        <a:t>Cannot be instantiated</a:t>
                      </a:r>
                    </a:p>
                  </a:txBody>
                  <a:tcPr marL="121920" marR="121920" marT="76200" marB="7620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875"/>
                        </a:lnSpc>
                        <a:buNone/>
                      </a:pPr>
                      <a:r>
                        <a:rPr lang="en-US" b="0">
                          <a:effectLst/>
                          <a:latin typeface="quote-cjk-patch"/>
                        </a:rPr>
                        <a:t>Cannot be instantiated</a:t>
                      </a:r>
                    </a:p>
                  </a:txBody>
                  <a:tcPr marL="121920" marT="76200" marB="7620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1102300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lnSpc>
                          <a:spcPts val="1875"/>
                        </a:lnSpc>
                        <a:buNone/>
                      </a:pPr>
                      <a:r>
                        <a:rPr lang="en-US" b="0">
                          <a:effectLst/>
                          <a:latin typeface="quote-cjk-patch"/>
                        </a:rPr>
                        <a:t>Multiple inheritance</a:t>
                      </a:r>
                    </a:p>
                  </a:txBody>
                  <a:tcPr marR="121920" marT="76200" marB="7620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875"/>
                        </a:lnSpc>
                        <a:buNone/>
                      </a:pPr>
                      <a:r>
                        <a:rPr lang="en-US" b="0" dirty="0">
                          <a:effectLst/>
                          <a:latin typeface="quote-cjk-patch"/>
                        </a:rPr>
                        <a:t>No</a:t>
                      </a:r>
                    </a:p>
                  </a:txBody>
                  <a:tcPr marL="121920" marR="121920" marT="76200" marB="7620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875"/>
                        </a:lnSpc>
                        <a:buNone/>
                      </a:pPr>
                      <a:r>
                        <a:rPr lang="en-US" b="0" dirty="0">
                          <a:effectLst/>
                          <a:latin typeface="quote-cjk-patch"/>
                        </a:rPr>
                        <a:t>Yes</a:t>
                      </a:r>
                    </a:p>
                  </a:txBody>
                  <a:tcPr marL="121920" marT="76200" marB="7620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984829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lnSpc>
                          <a:spcPts val="1875"/>
                        </a:lnSpc>
                        <a:buNone/>
                      </a:pPr>
                      <a:r>
                        <a:rPr lang="en-US" b="0">
                          <a:effectLst/>
                          <a:latin typeface="quote-cjk-patch"/>
                        </a:rPr>
                        <a:t>Instance variables</a:t>
                      </a:r>
                    </a:p>
                  </a:txBody>
                  <a:tcPr marR="121920" marT="76200" marB="7620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875"/>
                        </a:lnSpc>
                        <a:buNone/>
                      </a:pPr>
                      <a:r>
                        <a:rPr lang="en-US" b="0">
                          <a:effectLst/>
                          <a:latin typeface="quote-cjk-patch"/>
                        </a:rPr>
                        <a:t>Yes</a:t>
                      </a:r>
                    </a:p>
                  </a:txBody>
                  <a:tcPr marL="121920" marR="121920" marT="76200" marB="7620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875"/>
                        </a:lnSpc>
                        <a:buNone/>
                      </a:pPr>
                      <a:r>
                        <a:rPr lang="en-US" b="0">
                          <a:effectLst/>
                          <a:latin typeface="quote-cjk-patch"/>
                        </a:rPr>
                        <a:t>No (only static final)</a:t>
                      </a:r>
                    </a:p>
                  </a:txBody>
                  <a:tcPr marL="121920" marT="76200" marB="7620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6030238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lnSpc>
                          <a:spcPts val="1875"/>
                        </a:lnSpc>
                        <a:buNone/>
                      </a:pPr>
                      <a:r>
                        <a:rPr lang="en-US" b="0">
                          <a:effectLst/>
                          <a:latin typeface="quote-cjk-patch"/>
                        </a:rPr>
                        <a:t>Constructors</a:t>
                      </a:r>
                    </a:p>
                  </a:txBody>
                  <a:tcPr marR="121920" marT="76200" marB="7620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875"/>
                        </a:lnSpc>
                        <a:buNone/>
                      </a:pPr>
                      <a:r>
                        <a:rPr lang="en-US" b="0">
                          <a:effectLst/>
                          <a:latin typeface="quote-cjk-patch"/>
                        </a:rPr>
                        <a:t>Yes</a:t>
                      </a:r>
                    </a:p>
                  </a:txBody>
                  <a:tcPr marL="121920" marR="121920" marT="76200" marB="7620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875"/>
                        </a:lnSpc>
                        <a:buNone/>
                      </a:pPr>
                      <a:r>
                        <a:rPr lang="en-US" b="0">
                          <a:effectLst/>
                          <a:latin typeface="quote-cjk-patch"/>
                        </a:rPr>
                        <a:t>No</a:t>
                      </a:r>
                    </a:p>
                  </a:txBody>
                  <a:tcPr marL="121920" marT="76200" marB="7620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8188348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lnSpc>
                          <a:spcPts val="1875"/>
                        </a:lnSpc>
                        <a:buNone/>
                      </a:pPr>
                      <a:r>
                        <a:rPr lang="en-US" b="0">
                          <a:effectLst/>
                          <a:latin typeface="quote-cjk-patch"/>
                        </a:rPr>
                        <a:t>Access modifiers</a:t>
                      </a:r>
                    </a:p>
                  </a:txBody>
                  <a:tcPr marR="121920" marT="76200" marB="7620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875"/>
                        </a:lnSpc>
                        <a:buNone/>
                      </a:pPr>
                      <a:r>
                        <a:rPr lang="en-US" b="0">
                          <a:effectLst/>
                          <a:latin typeface="quote-cjk-patch"/>
                        </a:rPr>
                        <a:t>All</a:t>
                      </a:r>
                    </a:p>
                  </a:txBody>
                  <a:tcPr marL="121920" marR="121920" marT="76200" marB="7620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875"/>
                        </a:lnSpc>
                        <a:buNone/>
                      </a:pPr>
                      <a:r>
                        <a:rPr lang="en-US" b="0" dirty="0">
                          <a:effectLst/>
                          <a:latin typeface="quote-cjk-patch"/>
                        </a:rPr>
                        <a:t>Public by default</a:t>
                      </a:r>
                    </a:p>
                  </a:txBody>
                  <a:tcPr marL="121920" marT="76200" marB="7620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23285682"/>
                  </a:ext>
                </a:extLst>
              </a:tr>
            </a:tbl>
          </a:graphicData>
        </a:graphic>
      </p:graphicFrame>
      <p:sp>
        <p:nvSpPr>
          <p:cNvPr id="8" name="Rectangle 3">
            <a:extLst>
              <a:ext uri="{FF2B5EF4-FFF2-40B4-BE49-F238E27FC236}">
                <a16:creationId xmlns:a16="http://schemas.microsoft.com/office/drawing/2014/main" id="{CA61E759-DCCF-A32B-2C40-822853A36E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87563" y="2354246"/>
            <a:ext cx="5377762" cy="66678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0" tIns="101568" rIns="0" bIns="101568" numCol="1" anchor="ctr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200" b="1" i="0" u="none" strike="noStrike" cap="none" normalizeH="0" baseline="0">
                <a:ln>
                  <a:noFill/>
                </a:ln>
                <a:solidFill>
                  <a:srgbClr val="0F1115"/>
                </a:solidFill>
                <a:effectLst/>
                <a:latin typeface="quote-cjk-patch"/>
              </a:rPr>
              <a:t>3. Key Differences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F737FE5C-0A4A-C7D6-2263-C22B584CC7C8}"/>
              </a:ext>
            </a:extLst>
          </p:cNvPr>
          <p:cNvSpPr txBox="1"/>
          <p:nvPr/>
        </p:nvSpPr>
        <p:spPr>
          <a:xfrm>
            <a:off x="5439560" y="244055"/>
            <a:ext cx="4981432" cy="227754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lnSpc>
                <a:spcPts val="2100"/>
              </a:lnSpc>
              <a:spcBef>
                <a:spcPts val="1200"/>
              </a:spcBef>
              <a:spcAft>
                <a:spcPts val="6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4. Advanced OOP Concepts</a:t>
            </a:r>
          </a:p>
          <a:p>
            <a:pPr algn="l">
              <a:spcBef>
                <a:spcPts val="60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Composition vs Inheritance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Polymorphism with Interfaces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Default and Static methods in Interfaces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 (Java 8+)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Functional Interfaces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 (for lambda expressions)</a:t>
            </a:r>
          </a:p>
        </p:txBody>
      </p:sp>
    </p:spTree>
    <p:extLst>
      <p:ext uri="{BB962C8B-B14F-4D97-AF65-F5344CB8AC3E}">
        <p14:creationId xmlns:p14="http://schemas.microsoft.com/office/powerpoint/2010/main" val="2726483875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333E893-EB80-1190-5E28-1A084D7EEC1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DEF1FA54-0E7B-76E9-994F-D9D6DFA6FB54}"/>
              </a:ext>
            </a:extLst>
          </p:cNvPr>
          <p:cNvSpPr txBox="1"/>
          <p:nvPr/>
        </p:nvSpPr>
        <p:spPr>
          <a:xfrm>
            <a:off x="2477069" y="-39764669"/>
            <a:ext cx="4954136" cy="8639416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lnSpc>
                <a:spcPts val="2250"/>
              </a:lnSpc>
              <a:spcBef>
                <a:spcPts val="2400"/>
              </a:spcBef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Exercise 5.1: Abstract Class - Shape Hierarchy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Create an abstract shape class with concrete implementations.</a:t>
            </a:r>
          </a:p>
          <a:p>
            <a:pPr algn="l">
              <a:lnSpc>
                <a:spcPts val="13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java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Abstract class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abstract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Shape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protected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color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protected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boolean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filled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Constructor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Shape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color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"red"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filled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true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Shape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color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boolean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filled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color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color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filled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filled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Abstract methods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abstract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getArea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abstract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getPerimeter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Concrete methods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getColor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color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setColor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color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color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color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boolean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isFilled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filled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setFilled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boolean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filled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filled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filled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@Override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toString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"Shape[color="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color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", filled="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filled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"]"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Circle class extending abstract class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Circle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extends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Shape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radius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Circle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super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radius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1.0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Circle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radius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super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radius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radius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Circle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radius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color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boolean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filled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super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color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filled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radius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radius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getRadius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radius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setRadius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radius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radius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radius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@Override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getArea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Math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PI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*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radius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*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radius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@Override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getPerimeter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2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*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Math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PI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*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radius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@Override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toString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"Circle["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super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toString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", radius="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radius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"]"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Rectangle class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Rectangle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extends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Shape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width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length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Rectangle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super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width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1.0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length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1.0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Rectangle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width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length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super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width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width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length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length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Rectangle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width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length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color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boolean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filled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super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color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filled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width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width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length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length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getWidth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width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setWidth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width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width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width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getLength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length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setLength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length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length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length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@Override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getArea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width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*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length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@Override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getPerimeter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2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*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width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length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@Override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toString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"Rectangle["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super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toString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", width="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width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", length="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length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"]"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Test class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AbstractShapeTest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main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[]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args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Shape </a:t>
            </a:r>
            <a:r>
              <a:rPr lang="en-US" b="0" i="1" dirty="0" err="1">
                <a:solidFill>
                  <a:srgbClr val="A0A1A7"/>
                </a:solidFill>
                <a:effectLst/>
                <a:latin typeface="Menlo"/>
              </a:rPr>
              <a:t>shape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 = new Shape(); // Error: Cannot instantiate abstract class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Circle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circle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Circle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5.0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"blue"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true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Rectangle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rectangle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Rectangle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4.0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6.0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"green"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false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"Circle: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circle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"Circle Area: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circle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getArea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"Circle Perimeter: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circle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getPerimeter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nRectangle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rectangle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"Rectangle Area: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rectangle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getArea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"Rectangle Perimeter: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rectangle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getPerimeter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Polymorphism with abstract class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Shape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shape1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circle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Shape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shape2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rectangle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"\n=== Polymorphic Behavior ==="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"Shape1 Area: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shape1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getArea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"Shape2 Area: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shape2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getArea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</p:txBody>
      </p:sp>
    </p:spTree>
    <p:extLst>
      <p:ext uri="{BB962C8B-B14F-4D97-AF65-F5344CB8AC3E}">
        <p14:creationId xmlns:p14="http://schemas.microsoft.com/office/powerpoint/2010/main" val="2551614137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444B80D-341B-56C8-4F0C-D26AC95F9B0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E0D03B9E-8780-AF46-8658-46D4193401BE}"/>
              </a:ext>
            </a:extLst>
          </p:cNvPr>
          <p:cNvSpPr txBox="1"/>
          <p:nvPr/>
        </p:nvSpPr>
        <p:spPr>
          <a:xfrm>
            <a:off x="2477069" y="-49119795"/>
            <a:ext cx="4954136" cy="10510441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lnSpc>
                <a:spcPts val="2250"/>
              </a:lnSpc>
              <a:spcBef>
                <a:spcPts val="2400"/>
              </a:spcBef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Exercise 5.2: Interfaces - Payment System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Create a payment system using interfaces.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Solution: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>
              <a:lnSpc>
                <a:spcPts val="13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java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Payment interface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interface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Payment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Constants in interface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TAX_RATE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0.08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public static final by default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Abstract methods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boolean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processPayment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amount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getPaymentMethod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Default method (Java 8+)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default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printReceipt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amount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"=== RECEIPT ==="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"Payment Method: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getPaymentMethod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printf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"Amount: $%.2f\n"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amount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printf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"Tax: $%.2f\n"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amount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*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TAX_RATE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printf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"Total: $%.2f\n"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amount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*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TAX_RATE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Static method in interface (Java 8+)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validateAmount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amount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amount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&lt;=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throw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IllegalArgumentException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"Amount must be positive"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Refundable interface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interface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Refundable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boolean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processRefund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amount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getRefundPolicy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</a:t>
            </a:r>
            <a:r>
              <a:rPr lang="en-US" b="0" i="1" dirty="0" err="1">
                <a:solidFill>
                  <a:srgbClr val="A0A1A7"/>
                </a:solidFill>
                <a:effectLst/>
                <a:latin typeface="Menlo"/>
              </a:rPr>
              <a:t>CreditCardPayment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 implementation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CreditCardPayment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implements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Payment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Refundable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cardNumber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cardHolder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expiryDate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CreditCardPayment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cardNumber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cardHolder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expiryDate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cardNumber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maskCardNumber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cardNumber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cardHolder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cardHolder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expiryDate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expiryDate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maskCardNumber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cardNumber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xxxx-xxxx-xxxx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-"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cardNumber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substring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cardNumber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length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4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@Override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boolean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processPayment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amount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Payment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validateAmount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amount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nProcessing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 credit card payment..."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"Card: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cardNumber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"Card Holder: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cardHolder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printf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"Amount: $%.2f\n"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amount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Simulate payment processing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boolean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success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Math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random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0.1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90% success rate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success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"Payment approved!"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printReceipt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amount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else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"Payment declined!"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success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@Override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getPaymentMethod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"Credit Card"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@Override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boolean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processRefund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amount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nProcessing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 refund to credit card: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cardNumber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printf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"Refund amount: $%.2f\n"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amount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"Refund processed successfully (5-7 business days)"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true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@Override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getRefundPolicy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"Refunds processed within 5-7 business days"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</a:t>
            </a:r>
            <a:r>
              <a:rPr lang="en-US" b="0" i="1" dirty="0" err="1">
                <a:solidFill>
                  <a:srgbClr val="A0A1A7"/>
                </a:solidFill>
                <a:effectLst/>
                <a:latin typeface="Menlo"/>
              </a:rPr>
              <a:t>PayPalPayment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 implementation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PayPalPayment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implements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Payment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email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accountId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PayPalPayment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email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accountId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email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email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accountId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accountId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@Override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boolean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processPayment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amount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Payment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validateAmount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amount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nProcessing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 PayPal payment..."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"Account: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email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printf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"Amount: $%.2f\n"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amount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boolean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success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Math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random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0.05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95% success rate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success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"PayPal payment successful!"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printReceipt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amount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else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"PayPal payment failed!"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success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@Override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getPaymentMethod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"PayPal"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</a:t>
            </a:r>
            <a:r>
              <a:rPr lang="en-US" b="0" i="1" dirty="0" err="1">
                <a:solidFill>
                  <a:srgbClr val="A0A1A7"/>
                </a:solidFill>
                <a:effectLst/>
                <a:latin typeface="Menlo"/>
              </a:rPr>
              <a:t>CashPayment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 implementation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CashPayment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implements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Payment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receivedBy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cashTendered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CashPayment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receivedBy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cashTendered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receivedBy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receivedBy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cashTendered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cashTendered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@Override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boolean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processPayment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amount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Payment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validateAmount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amount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nProcessing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 cash payment..."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"Received by: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receivedBy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printf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"Amount due: $%.2f\n"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amount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printf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"Cash tendered: $%.2f\n"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cashTendered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cashTendered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&gt;=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amount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change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cashTendered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amount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printf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"Change: $%.2f\n"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change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"Cash payment completed!"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printReceipt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amount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true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else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shortAmount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amount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cashTendered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printf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"Insufficient payment! Short by: $%.2f\n"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shortAmount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false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@Override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getPaymentMethod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"Cash"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Test class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PaymentSystemTest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main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[]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args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Create different payment methods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Payment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creditCard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CreditCardPayment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"1234567890123456"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                              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"John Doe"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"12/25"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Payment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paypal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PayPalPayment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"john.doe@email.com"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"PAY123456"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Payment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cash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CashPayment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"Cashier #5"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100.00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Process payments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amount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75.50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"=== PROCESSING PAYMENTS ==="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creditCard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processPayment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amount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paypal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processPayment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amount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cash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processPayment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amount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Process refund (only for </a:t>
            </a:r>
            <a:r>
              <a:rPr lang="en-US" b="0" i="1" dirty="0" err="1">
                <a:solidFill>
                  <a:srgbClr val="A0A1A7"/>
                </a:solidFill>
                <a:effectLst/>
                <a:latin typeface="Menlo"/>
              </a:rPr>
              <a:t>CreditCardPayment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creditCard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instanceof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Refundable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"\n=== PROCESSING REFUND ==="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Refundable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refundable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Refundable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creditCard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refundable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processRefund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amount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"Refund Policy: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refundable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getRefundPolicy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Polymorphism with interfaces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"\n=== PAYMENT SUMMARY ==="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Payment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[]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payments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creditCard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paypal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cash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Payment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payment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payments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nMethod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payment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getPaymentMethod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"Can refund?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payment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instanceof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Refundable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</p:txBody>
      </p:sp>
    </p:spTree>
    <p:extLst>
      <p:ext uri="{BB962C8B-B14F-4D97-AF65-F5344CB8AC3E}">
        <p14:creationId xmlns:p14="http://schemas.microsoft.com/office/powerpoint/2010/main" val="1750804945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25234C0-6502-085A-59CD-B3BA280ADDC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64BF4B8D-20BB-5165-E658-1C70DD5F221A}"/>
              </a:ext>
            </a:extLst>
          </p:cNvPr>
          <p:cNvSpPr txBox="1"/>
          <p:nvPr/>
        </p:nvSpPr>
        <p:spPr>
          <a:xfrm>
            <a:off x="2477069" y="-33420625"/>
            <a:ext cx="4954136" cy="737060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lnSpc>
                <a:spcPts val="2250"/>
              </a:lnSpc>
              <a:spcBef>
                <a:spcPts val="2400"/>
              </a:spcBef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Exercise 5.3: Multiple Inheritance with Interfaces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Demonstrate how interfaces solve the diamond problem.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Solution: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>
              <a:lnSpc>
                <a:spcPts val="13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java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Interface A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interface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A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default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show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"Interface A - show()"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methodA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Interface B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interface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B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default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show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"Interface B - show()"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methodB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Interface C extends A and B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interface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extends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A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B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Must resolve the conflict for show() method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@Override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default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show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A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super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show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Choose A's implementation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B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super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show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Also call B's implementation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"Interface C - resolved show()"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methodC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Class implementing multiple interfaces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MultipleInheritanceDemo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implements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A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B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@Override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methodA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"Implementing 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methodA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@Override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methodB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"Implementing 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methodB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@Override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methodC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"Implementing 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methodC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Optional: Override show() if needed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@Override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show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"Class implementation of show()"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super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show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Call interface C's default method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Another example - Animal hierarchy with interfaces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interface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Walkable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walk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default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move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"Moving by walking"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interface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Swimmable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swim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default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move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"Moving by swimming"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interface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Flyable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fly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default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move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"Moving by flying"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Duck can walk, swim, and fly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Duck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implements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Walkable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Swimmable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Flyable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Duck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name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@Override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walk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name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 is waddling"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@Override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swim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name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 is swimming"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@Override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fly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name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 is flying"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Must resolve the conflict for move() method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@Override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move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name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 can move in multiple ways!"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"Choosing to:"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walk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Test class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MultipleInheritanceTest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main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[]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args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"=== INTERFACE INHERITANCE DEMO ==="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MultipleInheritanceDemo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demo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MultipleInheritanceDemo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demo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methodA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demo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methodB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demo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methodC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demo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show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"\n=== DUCK DEMO ==="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Duck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duck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Duck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"Donald"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duck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walk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duck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swim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duck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fly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duck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move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Using interfaces polymorphically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"\n=== POLYMORPHIC BEHAVIOR ==="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Walkable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walkable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duck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Swimmable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swimmable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duck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Flyable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flyable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duck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walkable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walk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swimmable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swim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flyable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fly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</p:txBody>
      </p:sp>
    </p:spTree>
    <p:extLst>
      <p:ext uri="{BB962C8B-B14F-4D97-AF65-F5344CB8AC3E}">
        <p14:creationId xmlns:p14="http://schemas.microsoft.com/office/powerpoint/2010/main" val="4130117438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C051C90-DE80-B1CD-912A-A7A37C5C753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D0605A1B-89EF-B5DB-6088-E91F7B2059FB}"/>
              </a:ext>
            </a:extLst>
          </p:cNvPr>
          <p:cNvSpPr txBox="1"/>
          <p:nvPr/>
        </p:nvSpPr>
        <p:spPr>
          <a:xfrm>
            <a:off x="2477069" y="-29490062"/>
            <a:ext cx="4954136" cy="6584494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lnSpc>
                <a:spcPts val="2250"/>
              </a:lnSpc>
              <a:spcBef>
                <a:spcPts val="2400"/>
              </a:spcBef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Exercise 5.4: Functional Interface and Lambda Expressions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Create functional interfaces and use lambda expressions.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Solution: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>
              <a:lnSpc>
                <a:spcPts val="13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java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Functional interface (single abstract method)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@FunctionalInterface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interface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MathOperation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operate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b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Default method is allowed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default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printOperation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b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"Result: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operate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a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b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Another functional interface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@FunctionalInterface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interface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StringProcessor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process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input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Static method in interface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boolean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isNullOrEmpty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str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str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null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||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str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isEmpty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Comparator-like functional interface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@FunctionalInterface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interface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Comparator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compare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b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LambdaDemo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main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[]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args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Traditional way using anonymous inner class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MathOperation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addition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MathOperation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@Override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operate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b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b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Using lambda expressions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MathOperation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subtraction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a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b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b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MathOperation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multiplication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a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b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*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b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MathOperation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division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a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b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b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throw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ArithmeticException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"Division by zero"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/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b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Test math operations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x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y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5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"=== MATH OPERATIONS ==="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x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 +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y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 =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addition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operate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x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x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 -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y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 =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subtraction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operate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x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x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 *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y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 =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multiplication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operate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x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x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 /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y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 =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division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operate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x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String processing with lambda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"\n=== STRING PROCESSING ==="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StringProcessor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toUpperCase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str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str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toUpperCase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StringProcessor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reverse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str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StringBuilder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str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reverse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toString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StringProcessor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removeSpaces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str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str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replaceAll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"\\s"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test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"Hello World"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"Original: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test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"Uppercase: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toUpperCase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process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test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"Reversed: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reverse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process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test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"No spaces: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removeSpaces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process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test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Custom comparator with lambda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"\n=== CUSTOM COMPARATOR ==="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Comparator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lengthComparator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s1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s2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diff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s1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length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s2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length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diff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diff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str1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"apple"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str2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"banana"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result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lengthComparator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compare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str1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str2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"Comparing '"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str1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"' and '"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str2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"' by length:"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result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str1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 is shorter"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else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result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str2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 is shorter"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else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"Both have same length"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Using lambda with collections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"\n=== LAMBDA WITH COLLECTIONS ==="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java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util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Integer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numbers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java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util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Arrays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asList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5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8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9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3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"Original: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numbers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Sort with lambda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numbers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sort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a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b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b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"Sorted ascending: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numbers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numbers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sort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a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b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b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"Sorted descending: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numbers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Filter with lambda (using stream)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nEven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 numbers:"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numbers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stream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filter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n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%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2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forEach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n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n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 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"\n\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nNumbers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 doubled:"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numbers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stream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map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n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*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forEach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n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n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 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</p:txBody>
      </p:sp>
    </p:spTree>
    <p:extLst>
      <p:ext uri="{BB962C8B-B14F-4D97-AF65-F5344CB8AC3E}">
        <p14:creationId xmlns:p14="http://schemas.microsoft.com/office/powerpoint/2010/main" val="1523195474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0857C93-02CB-83DE-E1F8-98A3723CEC1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7CCE58F3-E47E-9E31-A32C-84A3F6E4F348}"/>
              </a:ext>
            </a:extLst>
          </p:cNvPr>
          <p:cNvSpPr txBox="1"/>
          <p:nvPr/>
        </p:nvSpPr>
        <p:spPr>
          <a:xfrm>
            <a:off x="2477069" y="-61428292"/>
            <a:ext cx="4954136" cy="12972140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lnSpc>
                <a:spcPts val="2250"/>
              </a:lnSpc>
              <a:spcBef>
                <a:spcPts val="2400"/>
              </a:spcBef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Exercise 5.5: Composition over Inheritance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Demonstrate composition using a realistic example.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Solution: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>
              <a:lnSpc>
                <a:spcPts val="13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java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import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java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util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ArrayList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import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java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util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Component classes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Engine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type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horsepower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boolean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isRunning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Engine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type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horsepower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type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type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horsepower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horsepower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isRunning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false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start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!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isRunning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isRunning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true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type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 engine started.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horsepower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 HP ready."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stop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isRunning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isRunning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false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type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 engine stopped."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boolean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isRunning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isRunning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@Override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toString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type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 engine ("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horsepower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 HP)"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Transmission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type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Manual, Automatic, CVT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gears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currentGear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Transmission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type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gears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type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type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gears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gears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currentGear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Neutral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shiftUp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currentGear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gears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currentGear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++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"Shifted up to gear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currentGear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shiftDown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currentGear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currentGear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--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"Shifted down to gear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currentGear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setGear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gear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gear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&gt;=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&amp;&amp;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gear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&lt;=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gears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currentGear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gear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"Gear set to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currentGear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@Override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toString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type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 transmission ("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gears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 gears)"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Wheel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brand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size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in inches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pressure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Wheel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brand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size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brand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brand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size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size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pressure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32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default PSI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inflate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psi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pressure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psi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"Wheels inflated to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pressure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 PSI"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@Override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toString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brand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 wheels ("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size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 inches)"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GPS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model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boolean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hasTrafficUpdates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destination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GPS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model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boolean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hasTrafficUpdates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model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model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hasTrafficUpdates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hasTrafficUpdates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setDestination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destination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destination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destination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"GPS: Destination set to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destination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navigate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destination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!=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null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"GPS: Navigating to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destination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hasTrafficUpdates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"GPS: Traffic updates enabled - rerouting if needed"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else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"GPS: Please set a destination first"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@Override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toString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model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 GPS"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hasTrafficUpdates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?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 with traffic updates"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Car class using composition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Car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make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model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year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Composition: Car HAS-A Engine, Transmission, etc.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Engine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engine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Transmission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transmission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Wheel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wheels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GPS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gps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Optional - may be null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Car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make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model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year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Engine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engine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Transmission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transmission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make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make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model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model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year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year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engine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engine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transmission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transmission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Initialize with 4 default wheels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wheels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ArrayList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&lt;&gt;();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4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++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wheels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add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Wheel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"Michelin"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18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Optional GPS can be added later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installGPS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GPS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gps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gps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gps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"GPS installed in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make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model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start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nStarting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make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model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"..."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engine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start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"Car is ready to drive!"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stop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nStopping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make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model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"..."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engine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stop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transmission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setGear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"Car stopped."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accelerate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engine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isRunning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"Accelerating..."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transmission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shiftUp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else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"Start the engine first!"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brake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"Braking..."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transmission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shiftDown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navigateTo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destination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gps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!=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null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gps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setDestination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destination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gps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navigate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else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"No GPS installed in this car."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displayInfo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"\n=== CAR INFORMATION ==="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year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make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model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"Engine: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engine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"Transmission: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transmission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"Wheels: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wheels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size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wheels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"GPS: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gps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!=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null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?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gps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"Not installed"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Test class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CompositionDemo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main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[]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args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Create components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Engine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v6Engine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Engine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"V6"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300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Transmission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autoTransmission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Transmission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"Automatic"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8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Create car with components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Car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myCar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Car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"Honda"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"Accord"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2023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       v6Engine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autoTransmission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Add optional GPS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GPS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garminGPS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GPS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"Garmin 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DriveSmart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true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myCar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installGPS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garminGPS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Use the car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myCar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displayInfo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myCar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start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myCar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accelerate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myCar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accelerate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myCar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brake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myCar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navigateTo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"New York City"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myCar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stop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Create another car without GPS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"\n"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"="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repeat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50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Car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basicCar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Car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"Toyota"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"Corolla"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2024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Engine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"4-Cylinder"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169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),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Transmission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"CVT"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7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basicCar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displayInfo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basicCar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start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basicCar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accelerate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basicCar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navigateTo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"Boston"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Will show no GPS message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basicCar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stop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</p:txBody>
      </p:sp>
    </p:spTree>
    <p:extLst>
      <p:ext uri="{BB962C8B-B14F-4D97-AF65-F5344CB8AC3E}">
        <p14:creationId xmlns:p14="http://schemas.microsoft.com/office/powerpoint/2010/main" val="3958588576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65CB1A1-0DEC-6A82-7852-7AC16BEECE9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08F8E73C-E375-12F4-AF54-E70F3E11BA20}"/>
              </a:ext>
            </a:extLst>
          </p:cNvPr>
          <p:cNvSpPr txBox="1"/>
          <p:nvPr/>
        </p:nvSpPr>
        <p:spPr>
          <a:xfrm>
            <a:off x="2477069" y="-2892396"/>
            <a:ext cx="4954136" cy="1264961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lnSpc>
                <a:spcPts val="2250"/>
              </a:lnSpc>
              <a:spcBef>
                <a:spcPts val="2400"/>
              </a:spcBef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Practice Exercises - Try These Yourself:</a:t>
            </a:r>
          </a:p>
          <a:p>
            <a:pPr algn="l">
              <a:lnSpc>
                <a:spcPts val="2100"/>
              </a:lnSpc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Exercise 5.6: Media Player System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Create a media player system using interfaces and abstract classes.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Requirements: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>
              <a:lnSpc>
                <a:spcPts val="1650"/>
              </a:lnSpc>
              <a:spcBef>
                <a:spcPts val="120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Interface 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Playable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 with methods: play(), pause(), stop()</a:t>
            </a:r>
          </a:p>
          <a:p>
            <a:pPr algn="l">
              <a:lnSpc>
                <a:spcPts val="1650"/>
              </a:lnSpc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Abstract class 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Media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 with common properties (title, duration)</a:t>
            </a:r>
          </a:p>
          <a:p>
            <a:pPr algn="l">
              <a:lnSpc>
                <a:spcPts val="1650"/>
              </a:lnSpc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Concrete classes: 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Audio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, 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Video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, 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Podcast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Create a playlist manager</a:t>
            </a:r>
          </a:p>
          <a:p>
            <a:pPr algn="l">
              <a:lnSpc>
                <a:spcPts val="2100"/>
              </a:lnSpc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Exercise 5.7: E-commerce Discount System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Implement a flexible discount system using interfaces.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Requirements: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>
              <a:lnSpc>
                <a:spcPts val="1650"/>
              </a:lnSpc>
              <a:spcBef>
                <a:spcPts val="120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Interface 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Discountable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 with method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quote-cjk-patch"/>
              </a:rPr>
              <a:t>applyDiscount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()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Different discount strategies: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quote-cjk-patch"/>
              </a:rPr>
              <a:t>PercentageDiscount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,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quote-cjk-patch"/>
              </a:rPr>
              <a:t>FixedDiscount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,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quote-cjk-patch"/>
              </a:rPr>
              <a:t>BuyOneGetOne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Apply multiple discounts to products</a:t>
            </a:r>
          </a:p>
          <a:p>
            <a:pPr algn="l">
              <a:lnSpc>
                <a:spcPts val="2100"/>
              </a:lnSpc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Exercise 5.8: Task Management System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Create a task management system demonstrating functional interfaces.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Requirements: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>
              <a:spcBef>
                <a:spcPts val="120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Use functional interfaces for task filtering, sorting, and processing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Implement Task class with properties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Use lambda expressions for various operations</a:t>
            </a:r>
          </a:p>
        </p:txBody>
      </p:sp>
    </p:spTree>
    <p:extLst>
      <p:ext uri="{BB962C8B-B14F-4D97-AF65-F5344CB8AC3E}">
        <p14:creationId xmlns:p14="http://schemas.microsoft.com/office/powerpoint/2010/main" val="3133931786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EF61950-3DA7-C568-07AB-C3FB6F741BC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EA43308F-B95C-9856-B18C-690A0D8A6F66}"/>
              </a:ext>
            </a:extLst>
          </p:cNvPr>
          <p:cNvSpPr txBox="1"/>
          <p:nvPr/>
        </p:nvSpPr>
        <p:spPr>
          <a:xfrm>
            <a:off x="2477069" y="-53520999"/>
            <a:ext cx="4954136" cy="11390682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lnSpc>
                <a:spcPts val="2250"/>
              </a:lnSpc>
              <a:spcBef>
                <a:spcPts val="2400"/>
              </a:spcBef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Solutions to Practice Exercises: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Solution 5.6: Media Player System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>
              <a:lnSpc>
                <a:spcPts val="13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java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import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java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util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ArrayList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import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java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util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Playable interface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interface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Playable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play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pause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stop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default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displayStatus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"Current status: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getClass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getSimpleName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Abstract Media class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abstract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Media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implements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Playable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protected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title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protected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duration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in minutes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protected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boolean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isPlaying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Media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title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duration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title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title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duration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duration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isPlaying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false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abstract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getMediaType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displayInfo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"\n=== MEDIA INFO ==="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"Type: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getMediaType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"Title: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title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"Duration: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duration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 minutes"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Audio class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Audio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extends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Media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artist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album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Audio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title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artist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album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duration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super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title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duration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artist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artist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album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album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@Override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getMediaType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"Audio"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@Override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play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!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isPlaying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isPlaying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true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"▶ Playing audio: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title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 by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artist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@Override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pause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isPlaying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isPlaying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false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"⏸ Audio paused: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title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@Override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stop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isPlaying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isPlaying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false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"⏹ Audio stopped: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title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@Override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displayInfo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super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displayInfo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"Artist: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artist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"Album: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album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Video class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Video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extends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Media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resolution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director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Video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title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director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resolution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duration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super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title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duration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director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director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resolution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resolution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@Override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getMediaType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"Video"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@Override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play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!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isPlaying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isPlaying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true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"▶ Playing video: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title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 ("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resolution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")"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@Override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pause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isPlaying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isPlaying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false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"⏸ Video paused: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title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@Override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stop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isPlaying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isPlaying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false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"⏹ Video stopped: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title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@Override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displayInfo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super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displayInfo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"Director: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director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"Resolution: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resolution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Playlist class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Playlist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Media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items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Playlist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name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items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ArrayList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&lt;&gt;();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addItem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Media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media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items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add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media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"Added to playlist '"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name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"':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media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title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removeItem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title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items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removeIf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media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media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title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equals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title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"Removed from playlist: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title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playAll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"\n▶ Playing entire playlist: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Media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media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items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media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play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try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Thread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sleep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1000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Simulate playing for 1 second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catch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InterruptedException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printStackTrace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media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stop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displayPlaylist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"\n=== PLAYLIST: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name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 ==="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items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size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++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". 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items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displayInfo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Test class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MediaPlayerTest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main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[]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args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Create media items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Audio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song1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Audio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"Bohemian Rhapsody"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"Queen"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           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"A Night at the Opera"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5.55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Audio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song2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Audio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"Hotel California"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"Eagles"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           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"Hotel California"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6.30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Video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movie1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Video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"Inception"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"Christopher Nolan"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            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"4K"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148.0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Video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movie2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Video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"The Matrix"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"Wachowski Brothers"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            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"1080p"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136.0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Create playlist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Playlist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myPlaylist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Playlist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"My Favorites"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myPlaylist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addItem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song1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myPlaylist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addItem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song2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myPlaylist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addItem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movie1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myPlaylist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addItem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movie2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Display playlist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myPlaylist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displayPlaylist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Play individual items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"\n=== PLAYING INDIVIDUAL ITEMS ==="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song1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play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song1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pause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song1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play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song1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stop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Play entire playlist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myPlaylist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playAll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Polymorphic behavior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"\n=== POLYMORPHIC BEHAVIOR ==="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Media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mediaList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ArrayList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&lt;&gt;();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mediaList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add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song1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mediaList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add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movie1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Media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media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mediaList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media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displayInfo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media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play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media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stop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</p:txBody>
      </p:sp>
    </p:spTree>
    <p:extLst>
      <p:ext uri="{BB962C8B-B14F-4D97-AF65-F5344CB8AC3E}">
        <p14:creationId xmlns:p14="http://schemas.microsoft.com/office/powerpoint/2010/main" val="2848079008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A4B8FA2-6EE9-149C-BAA5-4FFE22C58CC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3EA6065D-B000-5D67-B5EE-234E7670A289}"/>
              </a:ext>
            </a:extLst>
          </p:cNvPr>
          <p:cNvSpPr txBox="1"/>
          <p:nvPr/>
        </p:nvSpPr>
        <p:spPr>
          <a:xfrm>
            <a:off x="2477069" y="244360"/>
            <a:ext cx="4954136" cy="637610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lnSpc>
                <a:spcPts val="2250"/>
              </a:lnSpc>
              <a:spcBef>
                <a:spcPts val="2400"/>
              </a:spcBef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Key Takeaways from Topic 5: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Abstract classes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 provide partial implementation and cannot be instantiated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Interfaces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 define contracts and support multiple inheritance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Default methods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 in interfaces allow adding methods without breaking implementations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Functional interfaces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 enable lambda expressions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Composition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 is often better than inheritance ("favor composition over inheritance")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Lambda expressions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 provide concise functional programming in Java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Multiple inheritance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 of type is possible through interfaces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Diamond problem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 is resolved through explicit method resolution</a:t>
            </a:r>
          </a:p>
        </p:txBody>
      </p:sp>
    </p:spTree>
    <p:extLst>
      <p:ext uri="{BB962C8B-B14F-4D97-AF65-F5344CB8AC3E}">
        <p14:creationId xmlns:p14="http://schemas.microsoft.com/office/powerpoint/2010/main" val="2366702979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1A697DF-8BB5-DE2D-7CE6-B2DAADF3E5C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25A80396-9433-8286-05AD-8229939FF9A2}"/>
              </a:ext>
            </a:extLst>
          </p:cNvPr>
          <p:cNvGraphicFramePr>
            <a:graphicFrameLocks noGrp="1"/>
          </p:cNvGraphicFramePr>
          <p:nvPr/>
        </p:nvGraphicFramePr>
        <p:xfrm>
          <a:off x="2087880" y="2020094"/>
          <a:ext cx="5730240" cy="3962400"/>
        </p:xfrm>
        <a:graphic>
          <a:graphicData uri="http://schemas.openxmlformats.org/drawingml/2006/table">
            <a:tbl>
              <a:tblPr/>
              <a:tblGrid>
                <a:gridCol w="1910080">
                  <a:extLst>
                    <a:ext uri="{9D8B030D-6E8A-4147-A177-3AD203B41FA5}">
                      <a16:colId xmlns:a16="http://schemas.microsoft.com/office/drawing/2014/main" val="688743055"/>
                    </a:ext>
                  </a:extLst>
                </a:gridCol>
                <a:gridCol w="1910080">
                  <a:extLst>
                    <a:ext uri="{9D8B030D-6E8A-4147-A177-3AD203B41FA5}">
                      <a16:colId xmlns:a16="http://schemas.microsoft.com/office/drawing/2014/main" val="2466924951"/>
                    </a:ext>
                  </a:extLst>
                </a:gridCol>
                <a:gridCol w="1910080">
                  <a:extLst>
                    <a:ext uri="{9D8B030D-6E8A-4147-A177-3AD203B41FA5}">
                      <a16:colId xmlns:a16="http://schemas.microsoft.com/office/drawing/2014/main" val="9967412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l">
                        <a:lnSpc>
                          <a:spcPts val="1875"/>
                        </a:lnSpc>
                        <a:buNone/>
                      </a:pPr>
                      <a:r>
                        <a:rPr lang="en-US" b="0">
                          <a:effectLst/>
                          <a:latin typeface="quote-cjk-patch"/>
                        </a:rPr>
                        <a:t>Aspect</a:t>
                      </a:r>
                    </a:p>
                  </a:txBody>
                  <a:tcPr marR="121920" marT="76200" marB="7620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ts val="1875"/>
                        </a:lnSpc>
                        <a:buNone/>
                      </a:pPr>
                      <a:r>
                        <a:rPr lang="en-US" b="0">
                          <a:effectLst/>
                          <a:latin typeface="quote-cjk-patch"/>
                        </a:rPr>
                        <a:t>Abstract Class</a:t>
                      </a:r>
                    </a:p>
                  </a:txBody>
                  <a:tcPr marL="121920" marR="121920" marT="76200" marB="7620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ts val="1875"/>
                        </a:lnSpc>
                        <a:buNone/>
                      </a:pPr>
                      <a:r>
                        <a:rPr lang="en-US" b="0">
                          <a:effectLst/>
                          <a:latin typeface="quote-cjk-patch"/>
                        </a:rPr>
                        <a:t>Interface</a:t>
                      </a:r>
                    </a:p>
                  </a:txBody>
                  <a:tcPr marL="121920" marR="121920" marT="76200" marB="7620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644357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lnSpc>
                          <a:spcPts val="1875"/>
                        </a:lnSpc>
                        <a:buNone/>
                      </a:pPr>
                      <a:r>
                        <a:rPr lang="en-US" b="0">
                          <a:effectLst/>
                          <a:latin typeface="quote-cjk-patch"/>
                        </a:rPr>
                        <a:t>Purpose</a:t>
                      </a:r>
                    </a:p>
                  </a:txBody>
                  <a:tcPr marR="121920" marT="76200" marB="7620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875"/>
                        </a:lnSpc>
                        <a:buNone/>
                      </a:pPr>
                      <a:r>
                        <a:rPr lang="en-US" b="0">
                          <a:effectLst/>
                          <a:latin typeface="quote-cjk-patch"/>
                        </a:rPr>
                        <a:t>Code reuse, common base</a:t>
                      </a:r>
                    </a:p>
                  </a:txBody>
                  <a:tcPr marL="121920" marR="121920" marT="76200" marB="7620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875"/>
                        </a:lnSpc>
                        <a:buNone/>
                      </a:pPr>
                      <a:r>
                        <a:rPr lang="en-US" b="0">
                          <a:effectLst/>
                          <a:latin typeface="quote-cjk-patch"/>
                        </a:rPr>
                        <a:t>Contract definition</a:t>
                      </a:r>
                    </a:p>
                  </a:txBody>
                  <a:tcPr marL="121920" marT="76200" marB="7620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801487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lnSpc>
                          <a:spcPts val="1875"/>
                        </a:lnSpc>
                        <a:buNone/>
                      </a:pPr>
                      <a:r>
                        <a:rPr lang="en-US" b="0">
                          <a:effectLst/>
                          <a:latin typeface="quote-cjk-patch"/>
                        </a:rPr>
                        <a:t>Multiple inheritance</a:t>
                      </a:r>
                    </a:p>
                  </a:txBody>
                  <a:tcPr marR="121920" marT="76200" marB="7620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875"/>
                        </a:lnSpc>
                        <a:buNone/>
                      </a:pPr>
                      <a:r>
                        <a:rPr lang="en-US" b="0">
                          <a:effectLst/>
                          <a:latin typeface="quote-cjk-patch"/>
                        </a:rPr>
                        <a:t>No</a:t>
                      </a:r>
                    </a:p>
                  </a:txBody>
                  <a:tcPr marL="121920" marR="121920" marT="76200" marB="7620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875"/>
                        </a:lnSpc>
                        <a:buNone/>
                      </a:pPr>
                      <a:r>
                        <a:rPr lang="en-US" b="0">
                          <a:effectLst/>
                          <a:latin typeface="quote-cjk-patch"/>
                        </a:rPr>
                        <a:t>Yes</a:t>
                      </a:r>
                    </a:p>
                  </a:txBody>
                  <a:tcPr marL="121920" marT="76200" marB="7620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166082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lnSpc>
                          <a:spcPts val="1875"/>
                        </a:lnSpc>
                        <a:buNone/>
                      </a:pPr>
                      <a:r>
                        <a:rPr lang="en-US" b="0">
                          <a:effectLst/>
                          <a:latin typeface="quote-cjk-patch"/>
                        </a:rPr>
                        <a:t>Instance variables</a:t>
                      </a:r>
                    </a:p>
                  </a:txBody>
                  <a:tcPr marR="121920" marT="76200" marB="7620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875"/>
                        </a:lnSpc>
                        <a:buNone/>
                      </a:pPr>
                      <a:r>
                        <a:rPr lang="en-US" b="0">
                          <a:effectLst/>
                          <a:latin typeface="quote-cjk-patch"/>
                        </a:rPr>
                        <a:t>Yes</a:t>
                      </a:r>
                    </a:p>
                  </a:txBody>
                  <a:tcPr marL="121920" marR="121920" marT="76200" marB="7620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875"/>
                        </a:lnSpc>
                        <a:buNone/>
                      </a:pPr>
                      <a:r>
                        <a:rPr lang="en-US" b="0">
                          <a:effectLst/>
                          <a:latin typeface="quote-cjk-patch"/>
                        </a:rPr>
                        <a:t>No (static final only)</a:t>
                      </a:r>
                    </a:p>
                  </a:txBody>
                  <a:tcPr marL="121920" marT="76200" marB="7620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442949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lnSpc>
                          <a:spcPts val="1875"/>
                        </a:lnSpc>
                        <a:buNone/>
                      </a:pPr>
                      <a:r>
                        <a:rPr lang="en-US" b="0">
                          <a:effectLst/>
                          <a:latin typeface="quote-cjk-patch"/>
                        </a:rPr>
                        <a:t>Constructors</a:t>
                      </a:r>
                    </a:p>
                  </a:txBody>
                  <a:tcPr marR="121920" marT="76200" marB="7620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875"/>
                        </a:lnSpc>
                        <a:buNone/>
                      </a:pPr>
                      <a:r>
                        <a:rPr lang="en-US" b="0">
                          <a:effectLst/>
                          <a:latin typeface="quote-cjk-patch"/>
                        </a:rPr>
                        <a:t>Yes</a:t>
                      </a:r>
                    </a:p>
                  </a:txBody>
                  <a:tcPr marL="121920" marR="121920" marT="76200" marB="7620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875"/>
                        </a:lnSpc>
                        <a:buNone/>
                      </a:pPr>
                      <a:r>
                        <a:rPr lang="en-US" b="0">
                          <a:effectLst/>
                          <a:latin typeface="quote-cjk-patch"/>
                        </a:rPr>
                        <a:t>No</a:t>
                      </a:r>
                    </a:p>
                  </a:txBody>
                  <a:tcPr marL="121920" marT="76200" marB="7620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9146152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lnSpc>
                          <a:spcPts val="1875"/>
                        </a:lnSpc>
                        <a:buNone/>
                      </a:pPr>
                      <a:r>
                        <a:rPr lang="en-US" b="0">
                          <a:effectLst/>
                          <a:latin typeface="quote-cjk-patch"/>
                        </a:rPr>
                        <a:t>Method types</a:t>
                      </a:r>
                    </a:p>
                  </a:txBody>
                  <a:tcPr marR="121920" marT="76200" marB="7620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875"/>
                        </a:lnSpc>
                        <a:buNone/>
                      </a:pPr>
                      <a:r>
                        <a:rPr lang="en-US" b="0">
                          <a:effectLst/>
                          <a:latin typeface="quote-cjk-patch"/>
                        </a:rPr>
                        <a:t>Abstract &amp; concrete</a:t>
                      </a:r>
                    </a:p>
                  </a:txBody>
                  <a:tcPr marL="121920" marR="121920" marT="76200" marB="7620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875"/>
                        </a:lnSpc>
                        <a:buNone/>
                      </a:pPr>
                      <a:r>
                        <a:rPr lang="en-US" b="0">
                          <a:effectLst/>
                          <a:latin typeface="quote-cjk-patch"/>
                        </a:rPr>
                        <a:t>Abstract, default, static</a:t>
                      </a:r>
                    </a:p>
                  </a:txBody>
                  <a:tcPr marL="121920" marT="76200" marB="7620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64644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lnSpc>
                          <a:spcPts val="1875"/>
                        </a:lnSpc>
                        <a:buNone/>
                      </a:pPr>
                      <a:r>
                        <a:rPr lang="en-US" b="0">
                          <a:effectLst/>
                          <a:latin typeface="quote-cjk-patch"/>
                        </a:rPr>
                        <a:t>When to use</a:t>
                      </a:r>
                    </a:p>
                  </a:txBody>
                  <a:tcPr marR="121920" marT="76200" marB="7620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875"/>
                        </a:lnSpc>
                        <a:buNone/>
                      </a:pPr>
                      <a:r>
                        <a:rPr lang="en-US" b="0">
                          <a:effectLst/>
                          <a:latin typeface="quote-cjk-patch"/>
                        </a:rPr>
                        <a:t>"Is-a" relationship</a:t>
                      </a:r>
                    </a:p>
                  </a:txBody>
                  <a:tcPr marL="121920" marR="121920" marT="76200" marB="7620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875"/>
                        </a:lnSpc>
                        <a:buNone/>
                      </a:pPr>
                      <a:r>
                        <a:rPr lang="en-US" b="0" dirty="0">
                          <a:effectLst/>
                          <a:latin typeface="quote-cjk-patch"/>
                        </a:rPr>
                        <a:t>"Can-do" capability</a:t>
                      </a:r>
                    </a:p>
                  </a:txBody>
                  <a:tcPr marL="121920" marT="76200" marB="7620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35603089"/>
                  </a:ext>
                </a:extLst>
              </a:tr>
            </a:tbl>
          </a:graphicData>
        </a:graphic>
      </p:graphicFrame>
      <p:sp>
        <p:nvSpPr>
          <p:cNvPr id="3" name="Rectangle 1">
            <a:extLst>
              <a:ext uri="{FF2B5EF4-FFF2-40B4-BE49-F238E27FC236}">
                <a16:creationId xmlns:a16="http://schemas.microsoft.com/office/drawing/2014/main" id="{7193B075-363C-91F7-CD8A-C8005312A9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87563" y="2020888"/>
            <a:ext cx="9906000" cy="4572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203136" rIns="0" bIns="101568" numCol="1" anchor="ctr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1" i="0" u="none" strike="noStrike" cap="none" normalizeH="0" baseline="0">
                <a:ln>
                  <a:noFill/>
                </a:ln>
                <a:solidFill>
                  <a:srgbClr val="0F1115"/>
                </a:solidFill>
                <a:effectLst/>
                <a:latin typeface="quote-cjk-patch"/>
              </a:rPr>
              <a:t>Comparison Summary: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440559945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2224DFC-0410-FAEF-2FD3-2EFE4E34CF5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C33A4A5A-774B-A4BB-BA02-A6A9D5883662}"/>
              </a:ext>
            </a:extLst>
          </p:cNvPr>
          <p:cNvSpPr txBox="1"/>
          <p:nvPr/>
        </p:nvSpPr>
        <p:spPr>
          <a:xfrm>
            <a:off x="2480733" y="1931926"/>
            <a:ext cx="4961466" cy="301108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lnSpc>
                <a:spcPts val="2250"/>
              </a:lnSpc>
              <a:spcBef>
                <a:spcPts val="2400"/>
              </a:spcBef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Additional Challenges: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Implement a plugin architecture using interfaces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Create a strategy pattern using functional interfaces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Design a notification system with multiple channels (Email, SMS, Push)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Build a simple dependency injection container</a:t>
            </a:r>
          </a:p>
        </p:txBody>
      </p:sp>
    </p:spTree>
    <p:extLst>
      <p:ext uri="{BB962C8B-B14F-4D97-AF65-F5344CB8AC3E}">
        <p14:creationId xmlns:p14="http://schemas.microsoft.com/office/powerpoint/2010/main" val="470143882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223DD83-FC48-35DC-EE12-F4F024213B4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9AFF004A-E657-4DD0-4A1E-22564652C2D8}"/>
              </a:ext>
            </a:extLst>
          </p:cNvPr>
          <p:cNvSpPr txBox="1"/>
          <p:nvPr/>
        </p:nvSpPr>
        <p:spPr>
          <a:xfrm>
            <a:off x="2477069" y="-964945"/>
            <a:ext cx="4954136" cy="879471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lnSpc>
                <a:spcPts val="2400"/>
              </a:lnSpc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Topic 6: Exception Handling and File I/O</a:t>
            </a:r>
          </a:p>
          <a:p>
            <a:pPr algn="l">
              <a:lnSpc>
                <a:spcPts val="2250"/>
              </a:lnSpc>
              <a:spcBef>
                <a:spcPts val="2400"/>
              </a:spcBef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Concepts Overview:</a:t>
            </a:r>
          </a:p>
          <a:p>
            <a:pPr algn="l">
              <a:lnSpc>
                <a:spcPts val="2100"/>
              </a:lnSpc>
              <a:spcBef>
                <a:spcPts val="1200"/>
              </a:spcBef>
              <a:spcAft>
                <a:spcPts val="6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1. Exception Handling</a:t>
            </a:r>
          </a:p>
          <a:p>
            <a:pPr algn="l">
              <a:spcBef>
                <a:spcPts val="60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Checked Exceptions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: Compile-time exceptions (must handle)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Unchecked Exceptions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: Runtime exceptions (may handle)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try-catch-finally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: Handle exceptions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throw vs throws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: Throw exception vs declare exception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Custom Exceptions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: Create your own exception classes</a:t>
            </a:r>
          </a:p>
          <a:p>
            <a:pPr algn="l">
              <a:lnSpc>
                <a:spcPts val="2100"/>
              </a:lnSpc>
              <a:spcBef>
                <a:spcPts val="1200"/>
              </a:spcBef>
              <a:spcAft>
                <a:spcPts val="6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2. File I/O</a:t>
            </a:r>
          </a:p>
          <a:p>
            <a:pPr algn="l">
              <a:spcBef>
                <a:spcPts val="60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Byte Streams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: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quote-cjk-patch"/>
              </a:rPr>
              <a:t>InputStream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/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quote-cjk-patch"/>
              </a:rPr>
              <a:t>OutputStream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Character Streams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: Reader/Writer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Buffered Streams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: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quote-cjk-patch"/>
              </a:rPr>
              <a:t>BufferedReader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/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quote-cjk-patch"/>
              </a:rPr>
              <a:t>BufferedWriter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File Class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: File operations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Try-with-resources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: Automatic resource management</a:t>
            </a:r>
          </a:p>
        </p:txBody>
      </p:sp>
    </p:spTree>
    <p:extLst>
      <p:ext uri="{BB962C8B-B14F-4D97-AF65-F5344CB8AC3E}">
        <p14:creationId xmlns:p14="http://schemas.microsoft.com/office/powerpoint/2010/main" val="4103662063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825D96C-C62F-EB3B-7E8E-E40D8A48B13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D03D9585-C895-29A5-719E-4C64350B343F}"/>
              </a:ext>
            </a:extLst>
          </p:cNvPr>
          <p:cNvSpPr txBox="1"/>
          <p:nvPr/>
        </p:nvSpPr>
        <p:spPr>
          <a:xfrm>
            <a:off x="2477069" y="1542792"/>
            <a:ext cx="4954136" cy="377924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lnSpc>
                <a:spcPts val="2100"/>
              </a:lnSpc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3. Exception Hierarchy</a:t>
            </a:r>
          </a:p>
          <a:p>
            <a:pPr algn="l">
              <a:lnSpc>
                <a:spcPts val="13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text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Object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└── Throwable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├── Error (JVM errors - can't handle)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└── Exception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├──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RuntimeException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(unchecked)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└── Other Exceptions (checked)</a:t>
            </a:r>
          </a:p>
        </p:txBody>
      </p:sp>
    </p:spTree>
    <p:extLst>
      <p:ext uri="{BB962C8B-B14F-4D97-AF65-F5344CB8AC3E}">
        <p14:creationId xmlns:p14="http://schemas.microsoft.com/office/powerpoint/2010/main" val="2393153099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6F7EA5B-5860-8236-5200-570E159930B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2F9440E5-5E4A-C883-8E67-7407BC844B0C}"/>
              </a:ext>
            </a:extLst>
          </p:cNvPr>
          <p:cNvSpPr txBox="1"/>
          <p:nvPr/>
        </p:nvSpPr>
        <p:spPr>
          <a:xfrm>
            <a:off x="2477069" y="-11656975"/>
            <a:ext cx="4954136" cy="3017877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lnSpc>
                <a:spcPts val="2250"/>
              </a:lnSpc>
              <a:spcBef>
                <a:spcPts val="2400"/>
              </a:spcBef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Exercise 6.1: Basic Exception Handling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Understanding try-catch-finally blocks.</a:t>
            </a:r>
          </a:p>
          <a:p>
            <a:pPr algn="l">
              <a:lnSpc>
                <a:spcPts val="13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java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import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java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util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Scanner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BasicExceptionHandling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main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[]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args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Scanner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scanner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Scanner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in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"=== BASIC EXCEPTION HANDLING ==="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Example 1: </a:t>
            </a:r>
            <a:r>
              <a:rPr lang="en-US" b="0" i="1" dirty="0" err="1">
                <a:solidFill>
                  <a:srgbClr val="A0A1A7"/>
                </a:solidFill>
                <a:effectLst/>
                <a:latin typeface="Menlo"/>
              </a:rPr>
              <a:t>ArithmeticException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try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"Enter numerator: 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num1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scanner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nextInt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"Enter denominator: 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num2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scanner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nextInt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result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num1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/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num2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"Result: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result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catch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ArithmeticException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"Error: Cannot divide by zero!"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"Exception message: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getMessage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finally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"This block always executes!"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Example 2: Multiple catch blocks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try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[]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numbers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3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nEnter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 index to access: 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index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scanner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nextInt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"Value at index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index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numbers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index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]);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str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null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"Length of string: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str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length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catch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ArrayIndexOutOfBoundsException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"Array index out of bounds!"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"Valid indices: 0 to 2"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catch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NullPointerException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"Null pointer exception: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getMessage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catch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Exception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"Some other exception: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finally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scanner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close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"Scanner closed in finally block"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</p:txBody>
      </p:sp>
    </p:spTree>
    <p:extLst>
      <p:ext uri="{BB962C8B-B14F-4D97-AF65-F5344CB8AC3E}">
        <p14:creationId xmlns:p14="http://schemas.microsoft.com/office/powerpoint/2010/main" val="2079682244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5787591-80CB-26EA-34F3-73F841B64F4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F75AF336-4E30-C3AA-3AFF-AA00C6BFF3A4}"/>
              </a:ext>
            </a:extLst>
          </p:cNvPr>
          <p:cNvSpPr txBox="1"/>
          <p:nvPr/>
        </p:nvSpPr>
        <p:spPr>
          <a:xfrm>
            <a:off x="2477069" y="-23007518"/>
            <a:ext cx="4954136" cy="5287986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lnSpc>
                <a:spcPts val="2250"/>
              </a:lnSpc>
              <a:spcBef>
                <a:spcPts val="2400"/>
              </a:spcBef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Exercise 6.2: Checked vs Unchecked Exceptions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Demonstrate the difference between checked and unchecked exceptions.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Solution: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>
              <a:lnSpc>
                <a:spcPts val="13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java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import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java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io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*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import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java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text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ParseException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import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java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text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SimpleDateFormat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import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java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util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Date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CheckedVsUnchecked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Unchecked exception (</a:t>
            </a:r>
            <a:r>
              <a:rPr lang="en-US" b="0" i="1" dirty="0" err="1">
                <a:solidFill>
                  <a:srgbClr val="A0A1A7"/>
                </a:solidFill>
                <a:effectLst/>
                <a:latin typeface="Menlo"/>
              </a:rPr>
              <a:t>RuntimeException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divideNumbers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b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b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throw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ArithmeticException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"Cannot divide by zero!"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"Result: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a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/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b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Checked exception - must handle or declare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readFile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filename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throws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FileNotFoundException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File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file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File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filename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!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file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exists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throw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FileNotFoundException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"File not found: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filename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try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FileReader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fr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FileReader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file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BufferedReader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br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BufferedReader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fr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line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while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line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br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readLine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!=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null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line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catch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IOException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"Error reading file: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getMessage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Method declaring multiple exceptions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parseDate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dateStr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throws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ParseException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IllegalArgumentException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dateStr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null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||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dateStr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isEmpty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throw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IllegalArgumentException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"Date string cannot be empty"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SimpleDateFormat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sdf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SimpleDateFormat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yyyy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-MM-dd"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Date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date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sdf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parse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dateStr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</a:t>
            </a:r>
            <a:r>
              <a:rPr lang="en-US" b="0" i="1" dirty="0" err="1">
                <a:solidFill>
                  <a:srgbClr val="A0A1A7"/>
                </a:solidFill>
                <a:effectLst/>
                <a:latin typeface="Menlo"/>
              </a:rPr>
              <a:t>ParseException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"Parsed date: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date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main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[]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args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"=== CHECKED VS UNCHECKED EXCEPTIONS ===\n"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Unchecked exception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"1. Unchecked Exception Example:"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try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divideNumbers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catch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ArithmeticException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"Caught unchecked exception: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getMessage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Checked exception - need try-catch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"\n2. Checked Exception Example:"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try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readFile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"nonexistent.txt"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catch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FileNotFoundException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"Caught checked exception: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getMessage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Multiple exceptions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"\n3. Multiple Exception Handling:"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try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parseDate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</a:t>
            </a:r>
            <a:r>
              <a:rPr lang="en-US" b="0" i="1" dirty="0" err="1">
                <a:solidFill>
                  <a:srgbClr val="A0A1A7"/>
                </a:solidFill>
                <a:effectLst/>
                <a:latin typeface="Menlo"/>
              </a:rPr>
              <a:t>IllegalArgumentException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parseDate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"2024-13-45"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</a:t>
            </a:r>
            <a:r>
              <a:rPr lang="en-US" b="0" i="1" dirty="0" err="1">
                <a:solidFill>
                  <a:srgbClr val="A0A1A7"/>
                </a:solidFill>
                <a:effectLst/>
                <a:latin typeface="Menlo"/>
              </a:rPr>
              <a:t>ParseException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catch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IllegalArgumentException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"Illegal argument: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getMessage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catch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ParseException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"Parse error: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getMessage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Try-with-resources (automatic resource management)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"\n4. Try-with-resources Example:"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try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BufferedReader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reader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BufferedReader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FileReader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src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/main/java/CheckedVsUnchecked.java"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firstLine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reader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readLine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"First line of this file: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firstLine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catch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FileNotFoundException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"File not found: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getMessage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catch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IOException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"IO Error: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getMessage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</p:txBody>
      </p:sp>
    </p:spTree>
    <p:extLst>
      <p:ext uri="{BB962C8B-B14F-4D97-AF65-F5344CB8AC3E}">
        <p14:creationId xmlns:p14="http://schemas.microsoft.com/office/powerpoint/2010/main" val="129193218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0329448-9945-8A2D-3E98-C1980A160BE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AE6CCC07-0B33-870D-31BC-4F9525F076C5}"/>
              </a:ext>
            </a:extLst>
          </p:cNvPr>
          <p:cNvSpPr txBox="1"/>
          <p:nvPr/>
        </p:nvSpPr>
        <p:spPr>
          <a:xfrm>
            <a:off x="2477069" y="-59007117"/>
            <a:ext cx="4954136" cy="12487905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lnSpc>
                <a:spcPts val="2250"/>
              </a:lnSpc>
              <a:spcBef>
                <a:spcPts val="2400"/>
              </a:spcBef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Exercise 6.3: Custom Exceptions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Create and use custom exception classes.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Solution: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>
              <a:lnSpc>
                <a:spcPts val="13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java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import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java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util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*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Custom checked exception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InsufficientFundsException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extends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Exception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amount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balance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InsufficientFundsException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amount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balance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super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format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"Insufficient funds: Attempted to withdraw $%.2f but balance is $%.2f"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       amount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balance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amount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amount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balance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balance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getAmount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amount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getBalance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balance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getDeficit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amount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balance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Custom unchecked exception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InvalidAccountOperationException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extends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RuntimeException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operation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reason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InvalidAccountOperationException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operation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reason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super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format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"Invalid %s operation: %s"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operation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reason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operation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operation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reason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reason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getOperation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operation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getReason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reason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Custom exception with multiple constructors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AccountNotFoundException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extends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Exception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AccountNotFoundException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super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"Account not found"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AccountNotFoundException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accountNumber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super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"Account not found with number: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accountNumber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AccountNotFoundException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message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Throwable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cause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super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message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cause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</a:t>
            </a:r>
            <a:r>
              <a:rPr lang="en-US" b="0" i="1" dirty="0" err="1">
                <a:solidFill>
                  <a:srgbClr val="A0A1A7"/>
                </a:solidFill>
                <a:effectLst/>
                <a:latin typeface="Menlo"/>
              </a:rPr>
              <a:t>BankAccount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 class using custom exceptions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BankAccount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accountNumber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accountHolder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balance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boolean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isActive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BankAccount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accountNumber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accountHolder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initialBalance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initialBalance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throw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InvalidAccountOperationException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"create"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"Initial balance cannot be negative"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accountNumber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accountNumber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accountHolder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accountHolder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balance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initialBalance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isActive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true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withdraw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amount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throws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InsufficientFundsException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!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isActive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throw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InvalidAccountOperationException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"withdraw"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"Account is deactivated"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amount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&lt;=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throw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InvalidAccountOperationException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"withdraw"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"Amount must be positive"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amount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balance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throw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InsufficientFundsException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amount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balance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balance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amount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printf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"Withdrawn $%.2f. New balance: $%.2f\n"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amount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balance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deposit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amount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!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isActive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throw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InvalidAccountOperationException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"deposit"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"Account is deactivated"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amount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&lt;=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throw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InvalidAccountOperationException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"deposit"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"Amount must be positive"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balance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amount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printf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"Deposited $%.2f. New balance: $%.2f\n"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amount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balance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deactivate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isActive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false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"Account deactivated"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displayInfo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"\n=== ACCOUNT INFORMATION ==="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"Account Number: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accountNumber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"Account Holder: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accountHolder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printf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"Balance: $%.2f\n"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balance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"Status: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isActive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?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"Active"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"Inactive"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Bank class managing accounts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Bank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Map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BankAccount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accounts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Bank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name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accounts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HashMap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&lt;&gt;();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addAccount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BankAccount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account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accounts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put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account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toString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account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BankAccount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findAccount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accountNumber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throws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AccountNotFoundException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BankAccount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account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accounts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accountNumber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account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null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throw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AccountNotFoundException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accountNumber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account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transferFunds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fromAccount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toAccount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amount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throws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AccountNotFoundException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InsufficientFundsException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BankAccount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source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findAccount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fromAccount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BankAccount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destination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findAccount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toAccount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source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withdraw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amount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destination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deposit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amount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printf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nTransferred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 $%.2f from %s to %s\n"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     amount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fromAccount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toAccount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CustomExceptionDemo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main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[]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args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"=== CUSTOM EXCEPTIONS DEMO ===\n"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Create bank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Bank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bank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Bank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MyBank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try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Create accounts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BankAccount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acc1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BankAccount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"ACC001"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"John Doe"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1000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BankAccount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acc2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BankAccount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"ACC002"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"Jane Smith"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500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bank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addAccount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acc1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bank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addAccount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acc2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Display accounts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acc1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displayInfo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acc2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displayInfo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Test valid operations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"\n--- Valid Operations ---"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acc1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withdraw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200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acc2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deposit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300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Test insufficient funds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"\n--- Testing Insufficient Funds ---"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try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acc1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withdraw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2000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catch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InsufficientFundsException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"Error: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getMessage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printf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"Deficit: $%.2f\n"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getDeficit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Test invalid operations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"\n--- Testing Invalid Operations ---"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try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acc1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deposit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50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catch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InvalidAccountOperationException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"Error: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getMessage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"Operation: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getOperation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"Reason: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getReason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Test account not found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"\n--- Testing Account Not Found ---"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try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bank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findAccount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"ACC999"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catch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AccountNotFoundException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"Error: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getMessage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Test transfer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"\n--- Testing Transfer ---"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try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bank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transferFunds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"ACC001"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"ACC002"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500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catch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Exception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"Transfer failed: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getMessage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Test deactivated account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"\n--- Testing Deactivated Account ---"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acc1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deactivate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try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acc1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withdraw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100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catch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InvalidAccountOperationException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"Error: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getMessage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catch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InsufficientFundsException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"Error: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getMessage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catch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Exception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"Unexpected error: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</p:txBody>
      </p:sp>
    </p:spTree>
    <p:extLst>
      <p:ext uri="{BB962C8B-B14F-4D97-AF65-F5344CB8AC3E}">
        <p14:creationId xmlns:p14="http://schemas.microsoft.com/office/powerpoint/2010/main" val="870780750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D7925CC-42D1-6EEB-DB87-1B280C3ED41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CDBBC731-3378-FFFF-3F0F-91A2379A314E}"/>
              </a:ext>
            </a:extLst>
          </p:cNvPr>
          <p:cNvSpPr txBox="1"/>
          <p:nvPr/>
        </p:nvSpPr>
        <p:spPr>
          <a:xfrm>
            <a:off x="2477069" y="-54073715"/>
            <a:ext cx="4954136" cy="1150122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lnSpc>
                <a:spcPts val="2250"/>
              </a:lnSpc>
              <a:spcBef>
                <a:spcPts val="2400"/>
              </a:spcBef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Exercise 6.4: File Operations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Read from and write to files with exception handling.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Solution: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>
              <a:lnSpc>
                <a:spcPts val="13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java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import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java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io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*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import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java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nio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file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*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import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java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util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*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FileOperations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Write to file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writeToFile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filename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content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throws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IOException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Using </a:t>
            </a:r>
            <a:r>
              <a:rPr lang="en-US" b="0" i="1" dirty="0" err="1">
                <a:solidFill>
                  <a:srgbClr val="A0A1A7"/>
                </a:solidFill>
                <a:effectLst/>
                <a:latin typeface="Menlo"/>
              </a:rPr>
              <a:t>BufferedWriter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try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BufferedWriter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writer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BufferedWriter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FileWriter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filename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line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content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writer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write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line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writer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newLine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"Successfully wrote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content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size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        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 lines to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filename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Read from file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readFromFile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filename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throws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IOException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lines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ArrayList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&lt;&gt;();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Using </a:t>
            </a:r>
            <a:r>
              <a:rPr lang="en-US" b="0" i="1" dirty="0" err="1">
                <a:solidFill>
                  <a:srgbClr val="A0A1A7"/>
                </a:solidFill>
                <a:effectLst/>
                <a:latin typeface="Menlo"/>
              </a:rPr>
              <a:t>BufferedReader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try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BufferedReader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reader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BufferedReader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FileReader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filename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line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while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line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reader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readLine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!=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null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lines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add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line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"Successfully read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lines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size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    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 lines from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filename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lines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Append to file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appendToFile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filename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content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throws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IOException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try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FileWriter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fw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FileWriter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filename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true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BufferedWriter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writer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BufferedWriter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fw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writer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write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content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writer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newLine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"Appended content to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filename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Copy file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copyFile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source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destination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throws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IOException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Using Files class (Java 7+)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Path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sourcePath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Paths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source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Path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destPath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Paths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destination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Files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copy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sourcePath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destPath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StandardCopyOption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REPLACE_EXISTING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"File copied from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source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 to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destination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File information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getFileInfo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filename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File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file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File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filename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file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exists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"\n=== FILE INFORMATION ==="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"Name: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file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"Path: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file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getAbsolutePath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"Size: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file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length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 bytes"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"Readable: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file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canRead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"Writable: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file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canWrite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"Is Directory: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file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isDirectory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"Last Modified: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Date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file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lastModified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else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"File does not exist: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filename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Read CSV file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Map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readCSV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filename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throws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IOException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Map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records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ArrayList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&lt;&gt;();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try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BufferedReader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reader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BufferedReader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FileReader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filename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headerLine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reader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readLine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headerLine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null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records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[]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headers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headerLine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split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","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line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while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line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reader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readLine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!=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null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[]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values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line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split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","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Map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record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HashMap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&lt;&gt;();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headers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length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&amp;&amp;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values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length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++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record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put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headers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].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trim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values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].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trim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records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add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record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records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Write CSV file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writeCSV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filename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Map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data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throws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IOException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data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isEmpty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try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BufferedWriter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writer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BufferedWriter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FileWriter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filename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Write headers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Set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headers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data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keySet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writer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write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join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","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headers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writer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newLine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Write data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Map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record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data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values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ArrayList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&lt;&gt;();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header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headers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values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add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record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getOrDefault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header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writer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write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join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","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values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writer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newLine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"CSV file written successfully: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filename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main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[]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args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"=== FILE OPERATIONS DEMO ===\n"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filename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"test.txt"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csvFile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"data.csv"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try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Write to file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content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Arrays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asList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"Hello World!"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"This is a test file."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"Java File I/O is fun!"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"Line 4"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"Line 5"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writeToFile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filename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content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Read from file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readContent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readFromFile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filename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nFile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 contents:"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line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readContent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 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line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Append to file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appendToFile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filename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"This line was appended!"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Read again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nAfter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 appending:"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readContent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readFromFile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filename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line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readContent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 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line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File information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getFileInfo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filename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Copy file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copyFile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filename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"test_copy.txt"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CSV operations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"\n=== CSV OPERATIONS ==="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Map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csvData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ArrayList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&lt;&gt;();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Map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row1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HashMap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&lt;&gt;();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row1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put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"Name"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"John Doe"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row1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put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"Age"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"30"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row1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put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"City"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"New York"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Map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row2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HashMap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&lt;&gt;();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row2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put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"Name"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"Jane Smith"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row2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put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"Age"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"25"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row2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put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"City"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"Los Angeles"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csvData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add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row1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csvData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add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row2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writeCSV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csvFile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csvData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Map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readCSVData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readCSV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csvFile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"CSV data read:"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Map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record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readCSVData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record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catch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IOException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"IO Error: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getMessage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printStackTrace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finally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Cleanup - delete test files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File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"test_copy.txt"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delete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nCleaned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 up test files."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</p:txBody>
      </p:sp>
    </p:spTree>
    <p:extLst>
      <p:ext uri="{BB962C8B-B14F-4D97-AF65-F5344CB8AC3E}">
        <p14:creationId xmlns:p14="http://schemas.microsoft.com/office/powerpoint/2010/main" val="3954880339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4830842-FD4D-9C8C-D56A-B4C3542A74B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DFA87C32-7AF4-EF2E-FC78-3831B7E394D4}"/>
              </a:ext>
            </a:extLst>
          </p:cNvPr>
          <p:cNvSpPr txBox="1"/>
          <p:nvPr/>
        </p:nvSpPr>
        <p:spPr>
          <a:xfrm>
            <a:off x="2477069" y="-123727398"/>
            <a:ext cx="4954136" cy="2543196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lnSpc>
                <a:spcPts val="2250"/>
              </a:lnSpc>
              <a:spcBef>
                <a:spcPts val="2400"/>
              </a:spcBef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Exercise 6.5: Student Database with Exception Handling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Complete student database system with file storage.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Solution: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>
              <a:lnSpc>
                <a:spcPts val="13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java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import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java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io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*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import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java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util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*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Custom exceptions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DuplicateStudentException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extends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Exception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DuplicateStudentException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id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super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"Student with ID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id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 already exists"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StudentNotFoundException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extends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Exception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StudentNotFoundException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id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super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"Student not found with ID: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id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InvalidStudentDataException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extends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Exception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InvalidStudentDataException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message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super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"Invalid student data: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message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Student class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Student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implements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Serializable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final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long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serialVersionUID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id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age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grade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gpa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Student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id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age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grade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gpa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throws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InvalidStudentDataException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validateData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id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age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grade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gpa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id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id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name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age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age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grade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grade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gpa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gpa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validateData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id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age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grade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gpa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throws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InvalidStudentDataException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id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null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||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id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trim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isEmpty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throw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InvalidStudentDataException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"Student ID cannot be empty"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name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null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||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name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trim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isEmpty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throw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InvalidStudentDataException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"Student name cannot be empty"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age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||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age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150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throw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InvalidStudentDataException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"Invalid age: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age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!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grade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matches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"[A-F][+-]?|I|W|P"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throw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InvalidStudentDataException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"Invalid grade: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grade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gpa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0.0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||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gpa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4.0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throw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InvalidStudentDataException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"GPA must be between 0.0 and 4.0"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Getters and setters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getId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id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getAge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age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getGrade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grade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getGpa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gpa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setGrade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grade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throws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InvalidStudentDataException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!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grade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matches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"[A-F][+-]?|I|W|P"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throw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InvalidStudentDataException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"Invalid grade: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grade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grade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grade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setGpa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gpa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throws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InvalidStudentDataException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gpa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0.0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||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gpa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4.0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throw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InvalidStudentDataException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"GPA must be between 0.0 and 4.0"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gpa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gpa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@Override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toString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format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"ID: %s | Name: %s | Age: %d | Grade: %s | GPA: %.2f"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        id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age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grade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gpa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toCSV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format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"%s,%s,%d,%s,%.2f"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id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age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grade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gpa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Student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fromCSV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csvLine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throws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InvalidStudentDataException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[]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parts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csvLine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split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","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parts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length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!=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5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throw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InvalidStudentDataException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"Invalid CSV format"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try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id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parts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].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trim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name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parts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].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trim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age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Integer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parseInt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parts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].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trim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grade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parts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3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].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trim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gpa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Double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parseDouble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parts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4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].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trim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Student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id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age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grade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gpa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catch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NumberFormatException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throw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InvalidStudentDataException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"Invalid number format: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getMessage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</a:t>
            </a:r>
            <a:r>
              <a:rPr lang="en-US" b="0" i="1" dirty="0" err="1">
                <a:solidFill>
                  <a:srgbClr val="A0A1A7"/>
                </a:solidFill>
                <a:effectLst/>
                <a:latin typeface="Menlo"/>
              </a:rPr>
              <a:t>StudentDatabase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 class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StudentDatabase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Map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Student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students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dataFile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StudentDatabase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dataFile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students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HashMap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&lt;&gt;();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dataFile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dataFile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loadFromFile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addStudent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Student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student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throws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DuplicateStudentException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students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containsKey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student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getId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throw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DuplicateStudentException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student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getId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students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put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student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getId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student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saveToFile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"Student added successfully: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student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Student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getStudent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id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throws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StudentNotFoundException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Student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student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students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id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student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null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throw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StudentNotFoundException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id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student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updateStudent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id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Student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updatedStudent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throws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StudentNotFoundException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!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students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containsKey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id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throw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StudentNotFoundException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id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students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put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id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updatedStudent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saveToFile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"Student updated successfully"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deleteStudent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id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throws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StudentNotFoundException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!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students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containsKey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id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throw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StudentNotFoundException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id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students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remove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id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saveToFile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"Student deleted successfully"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Student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getAllStudents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ArrayList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&lt;&gt;(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students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values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Student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searchByName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Student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results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ArrayList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&lt;&gt;();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Student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student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students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values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student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toLowerCase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contains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name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toLowerCase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results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add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student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results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Student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getHonorStudents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Student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honors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ArrayList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&lt;&gt;();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Student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student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students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values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student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getGpa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&gt;=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3.5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honors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add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student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honors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getAverageGPA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students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isEmpty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0.0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sum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Student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student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students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values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sum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student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getGpa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sum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/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students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size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File operations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saveToFile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try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BufferedWriter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writer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BufferedWriter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FileWriter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dataFile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Student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student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students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values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writer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write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student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toCSV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writer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newLine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"Database saved to file: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dataFile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catch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IOException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err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"Error saving to file: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getMessage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loadFromFile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File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file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File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dataFile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!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file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exists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"No existing database file found. Starting fresh."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try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BufferedReader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reader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BufferedReader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FileReader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file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line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count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while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line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reader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readLine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!=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null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try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Student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student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Student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fromCSV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line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students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put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student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getId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student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count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++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catch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InvalidStudentDataException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err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"Skipping invalid line: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line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"Loaded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count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 students from file."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catch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IOException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err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"Error loading from file: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getMessage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Serialization example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saveSerialized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filename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throws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IOException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try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ObjectOutputStream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oos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ObjectOutputStream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FileOutputStream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filename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oos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writeObject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ArrayList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&lt;&gt;(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students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values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"Database serialized to: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filename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@SuppressWarnings(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"unchecked"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loadSerialized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filename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throws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IOException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ClassNotFoundException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try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ObjectInputStream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ois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ObjectInputStream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FileInputStream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filename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Student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loadedStudents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Student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readObject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students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clear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Student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student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loadedStudents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students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put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student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getId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student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"Database loaded from serialized file: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filename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Main application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StudentDatabaseApp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Scanner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scanner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Scanner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in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StudentDatabase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database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main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[]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args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database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StudentDatabase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"students.txt"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while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true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try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displayMenu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choice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getIntInput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"Enter your choice: 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switch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choice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case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   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addStudent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break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case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2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   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viewStudent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break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case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3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   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updateStudent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break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case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4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   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deleteStudent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break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case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5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   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displayAllStudents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break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case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6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   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searchStudents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break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case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7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   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displayStatistics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break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case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8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"Goodbye!"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scanner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close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default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"Invalid choice. Please try again."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catch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Exception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"Error: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getMessage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displayMenu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"\n=== STUDENT DATABASE MENU ==="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"1. Add Student"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"2. View Student"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"3. Update Student"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"4. Delete Student"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"5. Display All Students"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"6. Search Students"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"7. Display Statistics"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"8. Exit"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addStudent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try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"\n--- Add New Student ---"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"Enter Student ID: 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id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scanner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nextLine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"Enter Name: 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name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scanner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nextLine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age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getIntInput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"Enter Age: 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"Enter Grade (A-F with + or -): 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grade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scanner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nextLine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gpa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getDoubleInput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"Enter GPA (0.0-4.0): 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Student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student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Student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id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age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grade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gpa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database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addStudent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student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catch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InvalidStudentDataException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|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DuplicateStudentException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"Error: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getMessage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viewStudent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try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"Enter Student ID: 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id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scanner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nextLine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Student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student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database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getStudent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id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nStudent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 Details:"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student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catch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StudentNotFoundException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"Error: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getMessage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updateStudent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try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"Enter Student ID to update: 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id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scanner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nextLine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Student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existing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database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getStudent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id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"Current details: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existing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nEnter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 new details (press Enter to keep current):"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"Name ["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existing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"]: 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name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scanner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nextLine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name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isEmpty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name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existing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"Age ["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existing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getAge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"]: 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ageStr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scanner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nextLine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age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ageStr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isEmpty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?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existing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getAge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Integer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parseInt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ageStr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"Grade ["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existing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getGrade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"]: 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grade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scanner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nextLine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grade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isEmpty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grade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existing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getGrade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"GPA ["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existing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getGpa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"]: 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gpaStr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scanner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nextLine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gpa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gpaStr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isEmpty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?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existing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getGpa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Double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parseDouble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gpaStr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Student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updated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Student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id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age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grade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gpa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database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updateStudent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id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updated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catch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Exception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"Error: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getMessage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deleteStudent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try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"Enter Student ID to delete: 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id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scanner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nextLine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database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deleteStudent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id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catch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StudentNotFoundException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"Error: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getMessage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displayAllStudents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Student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students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database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getAllStudents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students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isEmpty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"No students in database."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"\n=== ALL STUDENTS ==="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Student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student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students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student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searchStudents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"Enter name to search: 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name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scanner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nextLine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Student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results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database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searchByName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results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isEmpty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"No students found with name containing: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else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nSearch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 Results:"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Student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student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results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student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displayStatistics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Student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students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database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getAllStudents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Student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honors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database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getHonorStudents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"\n=== DATABASE STATISTICS ==="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"Total Students: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students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size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printf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"Average GPA: %.2f\n"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database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getAverageGPA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"Honor Students (GPA ≥ 3.5):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honors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size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!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honors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isEmpty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nHonor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 Students:"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Student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student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honors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  -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student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 (GPA: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  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student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getGpa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")"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getIntInput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prompt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while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true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try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prompt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Integer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parseInt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scanner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nextLine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catch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NumberFormatException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"Invalid number. Please try again."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getDoubleInput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prompt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while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true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try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prompt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Double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parseDouble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scanner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nextLine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catch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NumberFormatException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"Invalid number. Please try again."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</p:txBody>
      </p:sp>
    </p:spTree>
    <p:extLst>
      <p:ext uri="{BB962C8B-B14F-4D97-AF65-F5344CB8AC3E}">
        <p14:creationId xmlns:p14="http://schemas.microsoft.com/office/powerpoint/2010/main" val="1435237009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301AC70-F469-28D6-0E0E-BA1071CB9FD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601D4D41-CB98-3F75-ACE3-9885D8947851}"/>
              </a:ext>
            </a:extLst>
          </p:cNvPr>
          <p:cNvSpPr txBox="1"/>
          <p:nvPr/>
        </p:nvSpPr>
        <p:spPr>
          <a:xfrm>
            <a:off x="2477069" y="-2930868"/>
            <a:ext cx="4954136" cy="1272656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lnSpc>
                <a:spcPts val="2250"/>
              </a:lnSpc>
              <a:spcBef>
                <a:spcPts val="2400"/>
              </a:spcBef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Practice Exercises - Try These Yourself:</a:t>
            </a:r>
          </a:p>
          <a:p>
            <a:pPr algn="l">
              <a:lnSpc>
                <a:spcPts val="2100"/>
              </a:lnSpc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Exercise 6.6: Logging System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Create a simple logging system that writes different log levels (INFO, WARNING, ERROR) to a file with timestamps.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Requirements: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>
              <a:spcBef>
                <a:spcPts val="120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Use custom exceptions for invalid log levels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Implement file rotation when log file exceeds certain size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Include exception handling for file operations</a:t>
            </a:r>
          </a:p>
          <a:p>
            <a:pPr algn="l">
              <a:lnSpc>
                <a:spcPts val="2100"/>
              </a:lnSpc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Exercise 6.7: Configuration File Parser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Create a parser for a properties/configuration file.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Requirements: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>
              <a:spcBef>
                <a:spcPts val="120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Read key=value pairs from a file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Validate the format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Provide type conversion (String, int,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quote-cjk-patch"/>
              </a:rPr>
              <a:t>boolean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)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Handle missing files and malformed lines gracefully</a:t>
            </a:r>
          </a:p>
          <a:p>
            <a:pPr algn="l">
              <a:lnSpc>
                <a:spcPts val="2100"/>
              </a:lnSpc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Exercise 6.8: Batch File Processor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Process multiple files in a directory with error handling.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Requirements: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>
              <a:spcBef>
                <a:spcPts val="120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Read all .txt files from a directory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Count words/lines in each file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Handle files that can't be read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Generate a summary report</a:t>
            </a:r>
          </a:p>
        </p:txBody>
      </p:sp>
    </p:spTree>
    <p:extLst>
      <p:ext uri="{BB962C8B-B14F-4D97-AF65-F5344CB8AC3E}">
        <p14:creationId xmlns:p14="http://schemas.microsoft.com/office/powerpoint/2010/main" val="24352797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7206E0F-50CD-3B11-1DFD-FC72990330F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380F4881-9189-9600-251D-78B8476C2E49}"/>
              </a:ext>
            </a:extLst>
          </p:cNvPr>
          <p:cNvSpPr txBox="1"/>
          <p:nvPr/>
        </p:nvSpPr>
        <p:spPr>
          <a:xfrm>
            <a:off x="2477069" y="-33977188"/>
            <a:ext cx="4954136" cy="7481920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lnSpc>
                <a:spcPts val="2250"/>
              </a:lnSpc>
              <a:spcBef>
                <a:spcPts val="2400"/>
              </a:spcBef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Solutions to Practice Exercises: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Solution 6.6: Logging System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>
              <a:lnSpc>
                <a:spcPts val="13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java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import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java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io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*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import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java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nio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file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*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import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java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time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LocalDateTime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import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java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time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format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DateTimeFormatter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enum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LogLevel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INFO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WARNING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ERROR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DEBUG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InvalidLogLevelException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extends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Exception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InvalidLogLevelException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level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super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"Invalid log level: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level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Logger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logFile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long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maxFileSize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in bytes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final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DateTimeFormatter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formatter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DateTimeFormatter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ofPattern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yyyy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-MM-dd 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HH:mm:ss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Logger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logFile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long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maxFileSizeKB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logFile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logFile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maxFileSize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maxFileSizeKB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*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1024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initializeLogFile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initializeLogFile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try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File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file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File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logFile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!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file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exists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file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createNewFile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log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LogLevel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INFO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"Log file created"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catch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IOException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err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"Failed to initialize log file: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getMessage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checkFileRotation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File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file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File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logFile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file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length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maxFileSize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rotateFile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rotateFile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try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File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file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File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logFile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File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rotated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File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logFile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"."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LocalDateTime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now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format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DateTimeFormatter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ofPattern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yyyyMMddHHmmss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Files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move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file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toPath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rotated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toPath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file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createNewFile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log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LogLevel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INFO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"Log file rotated: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rotated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catch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IOException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err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"Failed to rotate log file: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getMessage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log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LogLevel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level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message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try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checkFileRotation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timestamp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LocalDateTime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now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format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formatter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logEntry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format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"[%s] [%s] %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s%n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                      timestamp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level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message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Files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write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Paths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logFile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logEntry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getBytes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StandardOpenOption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APPEND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catch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IOException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err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"Failed to write to log: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getMessage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log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levelStr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message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throws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InvalidLogLevelException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try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LogLevel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level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LogLevel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valueOf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levelStr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toUpperCase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log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level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message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catch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IllegalArgumentException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throw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InvalidLogLevelException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levelStr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readLogs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throws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IOException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Files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readAllLines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Paths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logFile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readLogsByLevel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LogLevel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level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throws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IOException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allLogs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readLogs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filtered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ArrayList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&lt;&gt;();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line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allLogs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line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contains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"["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level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"]"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filtered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add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line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filtered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LoggingSystemDemo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main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[]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args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Logger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logger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Logger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"application.log"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10KB max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try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Test different log levels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logger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log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LogLevel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INFO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"Application started"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logger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log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LogLevel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DEBUG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"Loading configuration..."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logger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log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LogLevel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WARNING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"Configuration file not found, using defaults"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logger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log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LogLevel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ERROR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"Failed to connect to database"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Test string-based log level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logger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log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"INFO"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"User logged in: 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john.doe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Test invalid log level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logger.log("TRACE", "This will fail"); // Uncomment to test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Read and display logs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"=== ALL LOGS ==="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logs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logger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readLogs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logs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forEach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::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"\n=== ERROR LOGS ONLY ==="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errors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logger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readLogsByLevel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LogLevel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ERROR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errors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forEach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::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catch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InvalidLogLevelException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err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"Logging error: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getMessage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catch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IOException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err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"File error: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getMessage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</p:txBody>
      </p:sp>
    </p:spTree>
    <p:extLst>
      <p:ext uri="{BB962C8B-B14F-4D97-AF65-F5344CB8AC3E}">
        <p14:creationId xmlns:p14="http://schemas.microsoft.com/office/powerpoint/2010/main" val="2623084763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9F11B39-F064-775A-9411-E73929C1D27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8EEC7680-5A4D-A9D0-6729-8A16A779AEDD}"/>
              </a:ext>
            </a:extLst>
          </p:cNvPr>
          <p:cNvSpPr txBox="1"/>
          <p:nvPr/>
        </p:nvSpPr>
        <p:spPr>
          <a:xfrm>
            <a:off x="2477069" y="-526364"/>
            <a:ext cx="4954136" cy="791755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lnSpc>
                <a:spcPts val="2250"/>
              </a:lnSpc>
              <a:spcBef>
                <a:spcPts val="2400"/>
              </a:spcBef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Key Takeaways from Topic 6: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Exception Hierarchy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: All exceptions extend Throwable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Checked vs Unchecked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: Handle checked exceptions, may handle unchecked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try-catch-finally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: Use finally for cleanup code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try-with-resources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: Auto-closes resources (Java 7+)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Custom Exceptions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: Create meaningful exception classes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File I/O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: Multiple ways to read/write files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Serialization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: Save objects to files</a:t>
            </a:r>
          </a:p>
          <a:p>
            <a:pPr algn="l">
              <a:spcBef>
                <a:spcPts val="450"/>
              </a:spcBef>
              <a:spcAft>
                <a:spcPts val="600"/>
              </a:spcAft>
              <a:buFont typeface="+mj-lt"/>
              <a:buAutoNum type="arabicPeriod"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Best Practices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:</a:t>
            </a:r>
          </a:p>
          <a:p>
            <a:pPr marL="742950" lvl="1" indent="-285750" algn="l">
              <a:spcBef>
                <a:spcPts val="30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Be specific with exception types</a:t>
            </a:r>
          </a:p>
          <a:p>
            <a:pPr marL="742950" lvl="1" indent="-285750" algn="l">
              <a:spcBef>
                <a:spcPts val="45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Don't swallow exceptions</a:t>
            </a:r>
          </a:p>
          <a:p>
            <a:pPr marL="742950" lvl="1" indent="-285750" algn="l">
              <a:spcBef>
                <a:spcPts val="45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Log exceptions for debugging</a:t>
            </a:r>
          </a:p>
          <a:p>
            <a:pPr marL="742950" lvl="1" indent="-285750" algn="l">
              <a:spcBef>
                <a:spcPts val="45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Use custom exceptions for business logic</a:t>
            </a:r>
          </a:p>
          <a:p>
            <a:pPr marL="742950" lvl="1" indent="-285750" algn="l">
              <a:spcBef>
                <a:spcPts val="45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Always close resources</a:t>
            </a:r>
          </a:p>
        </p:txBody>
      </p:sp>
    </p:spTree>
    <p:extLst>
      <p:ext uri="{BB962C8B-B14F-4D97-AF65-F5344CB8AC3E}">
        <p14:creationId xmlns:p14="http://schemas.microsoft.com/office/powerpoint/2010/main" val="28136030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E265BB2-BFB1-CCC2-B55F-CF392C3DE12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EFBAB2A7-2E0A-28CB-000A-96EE170C4DD8}"/>
              </a:ext>
            </a:extLst>
          </p:cNvPr>
          <p:cNvSpPr txBox="1"/>
          <p:nvPr/>
        </p:nvSpPr>
        <p:spPr>
          <a:xfrm>
            <a:off x="2477069" y="-5976574"/>
            <a:ext cx="4954136" cy="1881797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lnSpc>
                <a:spcPts val="2250"/>
              </a:lnSpc>
              <a:spcBef>
                <a:spcPts val="2400"/>
              </a:spcBef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Exception Handling Best Practices:</a:t>
            </a:r>
          </a:p>
          <a:p>
            <a:pPr algn="l">
              <a:lnSpc>
                <a:spcPts val="13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java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DO: Be specific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try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code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catch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FileNotFoundException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handle specifically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catch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IOException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handle other IO exceptions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DON'T: Catch generic Exception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try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code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catch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Exception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Too broad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printStackTrace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DO: Use finally for cleanup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Connection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conn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null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try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conn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getConnection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use connection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finally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conn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!=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null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conn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close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cleanup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DO: Use try-with-resources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try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Connection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conn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getConnection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Statement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stmt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conn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createStatement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automatically closed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DO: Create meaningful custom exceptions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throw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InsufficientFundsException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amount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balance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>
              <a:buNone/>
            </a:pPr>
            <a:br>
              <a:rPr lang="en-US" dirty="0"/>
            </a:b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254852623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D3386E9-3127-3EDA-6557-CEF76A86D7F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4DE49C5A-BACC-6D95-36B4-3C8442A2A372}"/>
              </a:ext>
            </a:extLst>
          </p:cNvPr>
          <p:cNvSpPr txBox="1"/>
          <p:nvPr/>
        </p:nvSpPr>
        <p:spPr>
          <a:xfrm>
            <a:off x="2477069" y="1926872"/>
            <a:ext cx="4954136" cy="301108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lnSpc>
                <a:spcPts val="2250"/>
              </a:lnSpc>
              <a:spcBef>
                <a:spcPts val="2400"/>
              </a:spcBef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Additional Challenges: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Implement a file-based cache system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Create a backup utility with error recovery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Build a CSV validator with detailed error reporting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Implement a multi-threaded file processor with exception handling</a:t>
            </a:r>
          </a:p>
        </p:txBody>
      </p:sp>
    </p:spTree>
    <p:extLst>
      <p:ext uri="{BB962C8B-B14F-4D97-AF65-F5344CB8AC3E}">
        <p14:creationId xmlns:p14="http://schemas.microsoft.com/office/powerpoint/2010/main" val="741512862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38B79DE-BA72-F671-6D57-9F372D22248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3AAD5ADC-5FCE-D10E-AE25-737886DDAC99}"/>
              </a:ext>
            </a:extLst>
          </p:cNvPr>
          <p:cNvSpPr txBox="1"/>
          <p:nvPr/>
        </p:nvSpPr>
        <p:spPr>
          <a:xfrm>
            <a:off x="2477068" y="-2310827"/>
            <a:ext cx="6544101" cy="1148647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lnSpc>
                <a:spcPts val="2400"/>
              </a:lnSpc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Topic 7: Collections Framework and Generics</a:t>
            </a:r>
          </a:p>
          <a:p>
            <a:pPr algn="l">
              <a:lnSpc>
                <a:spcPts val="2250"/>
              </a:lnSpc>
              <a:spcBef>
                <a:spcPts val="2400"/>
              </a:spcBef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Concepts Overview:</a:t>
            </a:r>
          </a:p>
          <a:p>
            <a:pPr algn="l">
              <a:lnSpc>
                <a:spcPts val="2100"/>
              </a:lnSpc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1. Collections Framework Hierarchy</a:t>
            </a:r>
          </a:p>
          <a:p>
            <a:pPr algn="l">
              <a:lnSpc>
                <a:spcPts val="13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text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Collection (Interface)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├── List (Interface)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│    ├──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ArrayList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│    ├── LinkedList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│    └── Vector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├── Set (Interface)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│    ├── HashSet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│    ├──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LinkedHashSet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│    └──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TreeSet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└── Queue (Interface)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├──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PriorityQueue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└── Deque (Interface)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└──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ArrayDeque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Map (Interface)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├── HashMap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├──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LinkedHashMap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├──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TreeMap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└──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Hashtable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</p:txBody>
      </p:sp>
    </p:spTree>
    <p:extLst>
      <p:ext uri="{BB962C8B-B14F-4D97-AF65-F5344CB8AC3E}">
        <p14:creationId xmlns:p14="http://schemas.microsoft.com/office/powerpoint/2010/main" val="2619061237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D0C9F7E-9983-7851-B4B5-4B43F29EA47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B84E851D-7204-DA5B-F3C3-0AC2F3A84F31}"/>
              </a:ext>
            </a:extLst>
          </p:cNvPr>
          <p:cNvSpPr txBox="1"/>
          <p:nvPr/>
        </p:nvSpPr>
        <p:spPr>
          <a:xfrm>
            <a:off x="293427" y="191884"/>
            <a:ext cx="4954136" cy="227754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lnSpc>
                <a:spcPts val="2100"/>
              </a:lnSpc>
              <a:spcBef>
                <a:spcPts val="1200"/>
              </a:spcBef>
              <a:spcAft>
                <a:spcPts val="6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2. Generics</a:t>
            </a:r>
          </a:p>
          <a:p>
            <a:pPr algn="l">
              <a:spcBef>
                <a:spcPts val="60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Type safety at compile time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Eliminate type casting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Generic classes, methods, interfaces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Bounded type parameters</a:t>
            </a:r>
          </a:p>
        </p:txBody>
      </p:sp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3250BB8C-0B66-1D96-B3DB-7B2FF4E01654}"/>
              </a:ext>
            </a:extLst>
          </p:cNvPr>
          <p:cNvGraphicFramePr>
            <a:graphicFrameLocks noGrp="1"/>
          </p:cNvGraphicFramePr>
          <p:nvPr/>
        </p:nvGraphicFramePr>
        <p:xfrm>
          <a:off x="681038" y="2623344"/>
          <a:ext cx="8543926" cy="2755900"/>
        </p:xfrm>
        <a:graphic>
          <a:graphicData uri="http://schemas.openxmlformats.org/drawingml/2006/table">
            <a:tbl>
              <a:tblPr/>
              <a:tblGrid>
                <a:gridCol w="1550442">
                  <a:extLst>
                    <a:ext uri="{9D8B030D-6E8A-4147-A177-3AD203B41FA5}">
                      <a16:colId xmlns:a16="http://schemas.microsoft.com/office/drawing/2014/main" val="1560166625"/>
                    </a:ext>
                  </a:extLst>
                </a:gridCol>
                <a:gridCol w="1748371">
                  <a:extLst>
                    <a:ext uri="{9D8B030D-6E8A-4147-A177-3AD203B41FA5}">
                      <a16:colId xmlns:a16="http://schemas.microsoft.com/office/drawing/2014/main" val="420645696"/>
                    </a:ext>
                  </a:extLst>
                </a:gridCol>
                <a:gridCol w="1748371">
                  <a:extLst>
                    <a:ext uri="{9D8B030D-6E8A-4147-A177-3AD203B41FA5}">
                      <a16:colId xmlns:a16="http://schemas.microsoft.com/office/drawing/2014/main" val="3182267231"/>
                    </a:ext>
                  </a:extLst>
                </a:gridCol>
                <a:gridCol w="1748371">
                  <a:extLst>
                    <a:ext uri="{9D8B030D-6E8A-4147-A177-3AD203B41FA5}">
                      <a16:colId xmlns:a16="http://schemas.microsoft.com/office/drawing/2014/main" val="2995147073"/>
                    </a:ext>
                  </a:extLst>
                </a:gridCol>
                <a:gridCol w="1748371">
                  <a:extLst>
                    <a:ext uri="{9D8B030D-6E8A-4147-A177-3AD203B41FA5}">
                      <a16:colId xmlns:a16="http://schemas.microsoft.com/office/drawing/2014/main" val="2449368995"/>
                    </a:ext>
                  </a:extLst>
                </a:gridCol>
              </a:tblGrid>
              <a:tr h="393700">
                <a:tc>
                  <a:txBody>
                    <a:bodyPr/>
                    <a:lstStyle/>
                    <a:p>
                      <a:pPr algn="l">
                        <a:lnSpc>
                          <a:spcPts val="1875"/>
                        </a:lnSpc>
                        <a:buNone/>
                      </a:pPr>
                      <a:r>
                        <a:rPr lang="en-US" sz="1800" b="0">
                          <a:effectLst/>
                          <a:latin typeface="quote-cjk-patch"/>
                        </a:rPr>
                        <a:t>Collection</a:t>
                      </a:r>
                    </a:p>
                  </a:txBody>
                  <a:tcPr marR="121920" marT="76200" marB="7620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ts val="1875"/>
                        </a:lnSpc>
                        <a:buNone/>
                      </a:pPr>
                      <a:r>
                        <a:rPr lang="en-US" sz="1800" b="0">
                          <a:effectLst/>
                          <a:latin typeface="quote-cjk-patch"/>
                        </a:rPr>
                        <a:t>Ordering</a:t>
                      </a:r>
                    </a:p>
                  </a:txBody>
                  <a:tcPr marL="121920" marR="121920" marT="76200" marB="7620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ts val="1875"/>
                        </a:lnSpc>
                        <a:buNone/>
                      </a:pPr>
                      <a:r>
                        <a:rPr lang="en-US" sz="1800" b="0">
                          <a:effectLst/>
                          <a:latin typeface="quote-cjk-patch"/>
                        </a:rPr>
                        <a:t>Duplicates</a:t>
                      </a:r>
                    </a:p>
                  </a:txBody>
                  <a:tcPr marL="121920" marR="121920" marT="76200" marB="7620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ts val="1875"/>
                        </a:lnSpc>
                        <a:buNone/>
                      </a:pPr>
                      <a:r>
                        <a:rPr lang="en-US" sz="1800" b="0">
                          <a:effectLst/>
                          <a:latin typeface="quote-cjk-patch"/>
                        </a:rPr>
                        <a:t>Null Values</a:t>
                      </a:r>
                    </a:p>
                  </a:txBody>
                  <a:tcPr marL="121920" marR="121920" marT="76200" marB="7620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ts val="1875"/>
                        </a:lnSpc>
                        <a:buNone/>
                      </a:pPr>
                      <a:r>
                        <a:rPr lang="en-US" sz="1800" b="0">
                          <a:effectLst/>
                          <a:latin typeface="quote-cjk-patch"/>
                        </a:rPr>
                        <a:t>Thread-Safe</a:t>
                      </a:r>
                    </a:p>
                  </a:txBody>
                  <a:tcPr marL="121920" marR="121920" marT="76200" marB="7620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62806378"/>
                  </a:ext>
                </a:extLst>
              </a:tr>
              <a:tr h="393700">
                <a:tc>
                  <a:txBody>
                    <a:bodyPr/>
                    <a:lstStyle/>
                    <a:p>
                      <a:pPr>
                        <a:lnSpc>
                          <a:spcPts val="1875"/>
                        </a:lnSpc>
                        <a:buNone/>
                      </a:pPr>
                      <a:r>
                        <a:rPr lang="en-US" sz="1800" b="0">
                          <a:effectLst/>
                          <a:latin typeface="quote-cjk-patch"/>
                        </a:rPr>
                        <a:t>ArrayList</a:t>
                      </a:r>
                    </a:p>
                  </a:txBody>
                  <a:tcPr marR="121920" marT="76200" marB="7620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875"/>
                        </a:lnSpc>
                        <a:buNone/>
                      </a:pPr>
                      <a:r>
                        <a:rPr lang="en-US" sz="1800" b="0">
                          <a:effectLst/>
                          <a:latin typeface="quote-cjk-patch"/>
                        </a:rPr>
                        <a:t>Insertion order</a:t>
                      </a:r>
                    </a:p>
                  </a:txBody>
                  <a:tcPr marL="121920" marR="121920" marT="76200" marB="7620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875"/>
                        </a:lnSpc>
                        <a:buNone/>
                      </a:pPr>
                      <a:r>
                        <a:rPr lang="en-US" sz="1800" b="0">
                          <a:effectLst/>
                          <a:latin typeface="quote-cjk-patch"/>
                        </a:rPr>
                        <a:t>Yes</a:t>
                      </a:r>
                    </a:p>
                  </a:txBody>
                  <a:tcPr marL="121920" marR="121920" marT="76200" marB="7620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875"/>
                        </a:lnSpc>
                        <a:buNone/>
                      </a:pPr>
                      <a:r>
                        <a:rPr lang="en-US" sz="1800" b="0">
                          <a:effectLst/>
                          <a:latin typeface="quote-cjk-patch"/>
                        </a:rPr>
                        <a:t>Yes</a:t>
                      </a:r>
                    </a:p>
                  </a:txBody>
                  <a:tcPr marL="121920" marR="121920" marT="76200" marB="7620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875"/>
                        </a:lnSpc>
                        <a:buNone/>
                      </a:pPr>
                      <a:r>
                        <a:rPr lang="en-US" sz="1800" b="0">
                          <a:effectLst/>
                          <a:latin typeface="quote-cjk-patch"/>
                        </a:rPr>
                        <a:t>No</a:t>
                      </a:r>
                    </a:p>
                  </a:txBody>
                  <a:tcPr marL="121920" marT="76200" marB="7620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90130247"/>
                  </a:ext>
                </a:extLst>
              </a:tr>
              <a:tr h="393700">
                <a:tc>
                  <a:txBody>
                    <a:bodyPr/>
                    <a:lstStyle/>
                    <a:p>
                      <a:pPr>
                        <a:lnSpc>
                          <a:spcPts val="1875"/>
                        </a:lnSpc>
                        <a:buNone/>
                      </a:pPr>
                      <a:r>
                        <a:rPr lang="en-US" sz="1800" b="0">
                          <a:effectLst/>
                          <a:latin typeface="quote-cjk-patch"/>
                        </a:rPr>
                        <a:t>LinkedList</a:t>
                      </a:r>
                    </a:p>
                  </a:txBody>
                  <a:tcPr marR="121920" marT="76200" marB="7620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875"/>
                        </a:lnSpc>
                        <a:buNone/>
                      </a:pPr>
                      <a:r>
                        <a:rPr lang="en-US" sz="1800" b="0">
                          <a:effectLst/>
                          <a:latin typeface="quote-cjk-patch"/>
                        </a:rPr>
                        <a:t>Insertion order</a:t>
                      </a:r>
                    </a:p>
                  </a:txBody>
                  <a:tcPr marL="121920" marR="121920" marT="76200" marB="7620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875"/>
                        </a:lnSpc>
                        <a:buNone/>
                      </a:pPr>
                      <a:r>
                        <a:rPr lang="en-US" sz="1800" b="0">
                          <a:effectLst/>
                          <a:latin typeface="quote-cjk-patch"/>
                        </a:rPr>
                        <a:t>Yes</a:t>
                      </a:r>
                    </a:p>
                  </a:txBody>
                  <a:tcPr marL="121920" marR="121920" marT="76200" marB="7620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875"/>
                        </a:lnSpc>
                        <a:buNone/>
                      </a:pPr>
                      <a:r>
                        <a:rPr lang="en-US" sz="1800" b="0">
                          <a:effectLst/>
                          <a:latin typeface="quote-cjk-patch"/>
                        </a:rPr>
                        <a:t>Yes</a:t>
                      </a:r>
                    </a:p>
                  </a:txBody>
                  <a:tcPr marL="121920" marR="121920" marT="76200" marB="7620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875"/>
                        </a:lnSpc>
                        <a:buNone/>
                      </a:pPr>
                      <a:r>
                        <a:rPr lang="en-US" sz="1800" b="0">
                          <a:effectLst/>
                          <a:latin typeface="quote-cjk-patch"/>
                        </a:rPr>
                        <a:t>No</a:t>
                      </a:r>
                    </a:p>
                  </a:txBody>
                  <a:tcPr marL="121920" marT="76200" marB="7620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43592048"/>
                  </a:ext>
                </a:extLst>
              </a:tr>
              <a:tr h="393700">
                <a:tc>
                  <a:txBody>
                    <a:bodyPr/>
                    <a:lstStyle/>
                    <a:p>
                      <a:pPr>
                        <a:lnSpc>
                          <a:spcPts val="1875"/>
                        </a:lnSpc>
                        <a:buNone/>
                      </a:pPr>
                      <a:r>
                        <a:rPr lang="en-US" sz="1800" b="0">
                          <a:effectLst/>
                          <a:latin typeface="quote-cjk-patch"/>
                        </a:rPr>
                        <a:t>HashSet</a:t>
                      </a:r>
                    </a:p>
                  </a:txBody>
                  <a:tcPr marR="121920" marT="76200" marB="7620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875"/>
                        </a:lnSpc>
                        <a:buNone/>
                      </a:pPr>
                      <a:r>
                        <a:rPr lang="en-US" sz="1800" b="0">
                          <a:effectLst/>
                          <a:latin typeface="quote-cjk-patch"/>
                        </a:rPr>
                        <a:t>No</a:t>
                      </a:r>
                    </a:p>
                  </a:txBody>
                  <a:tcPr marL="121920" marR="121920" marT="76200" marB="7620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875"/>
                        </a:lnSpc>
                        <a:buNone/>
                      </a:pPr>
                      <a:r>
                        <a:rPr lang="en-US" sz="1800" b="0">
                          <a:effectLst/>
                          <a:latin typeface="quote-cjk-patch"/>
                        </a:rPr>
                        <a:t>No</a:t>
                      </a:r>
                    </a:p>
                  </a:txBody>
                  <a:tcPr marL="121920" marR="121920" marT="76200" marB="7620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875"/>
                        </a:lnSpc>
                        <a:buNone/>
                      </a:pPr>
                      <a:r>
                        <a:rPr lang="en-US" sz="1800" b="0">
                          <a:effectLst/>
                          <a:latin typeface="quote-cjk-patch"/>
                        </a:rPr>
                        <a:t>One null</a:t>
                      </a:r>
                    </a:p>
                  </a:txBody>
                  <a:tcPr marL="121920" marR="121920" marT="76200" marB="7620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875"/>
                        </a:lnSpc>
                        <a:buNone/>
                      </a:pPr>
                      <a:r>
                        <a:rPr lang="en-US" sz="1800" b="0">
                          <a:effectLst/>
                          <a:latin typeface="quote-cjk-patch"/>
                        </a:rPr>
                        <a:t>No</a:t>
                      </a:r>
                    </a:p>
                  </a:txBody>
                  <a:tcPr marL="121920" marT="76200" marB="7620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79193592"/>
                  </a:ext>
                </a:extLst>
              </a:tr>
              <a:tr h="393700">
                <a:tc>
                  <a:txBody>
                    <a:bodyPr/>
                    <a:lstStyle/>
                    <a:p>
                      <a:pPr>
                        <a:lnSpc>
                          <a:spcPts val="1875"/>
                        </a:lnSpc>
                        <a:buNone/>
                      </a:pPr>
                      <a:r>
                        <a:rPr lang="en-US" sz="1800" b="0">
                          <a:effectLst/>
                          <a:latin typeface="quote-cjk-patch"/>
                        </a:rPr>
                        <a:t>TreeSet</a:t>
                      </a:r>
                    </a:p>
                  </a:txBody>
                  <a:tcPr marR="121920" marT="76200" marB="7620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875"/>
                        </a:lnSpc>
                        <a:buNone/>
                      </a:pPr>
                      <a:r>
                        <a:rPr lang="en-US" sz="1800" b="0">
                          <a:effectLst/>
                          <a:latin typeface="quote-cjk-patch"/>
                        </a:rPr>
                        <a:t>Sorted</a:t>
                      </a:r>
                    </a:p>
                  </a:txBody>
                  <a:tcPr marL="121920" marR="121920" marT="76200" marB="7620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875"/>
                        </a:lnSpc>
                        <a:buNone/>
                      </a:pPr>
                      <a:r>
                        <a:rPr lang="en-US" sz="1800" b="0">
                          <a:effectLst/>
                          <a:latin typeface="quote-cjk-patch"/>
                        </a:rPr>
                        <a:t>No</a:t>
                      </a:r>
                    </a:p>
                  </a:txBody>
                  <a:tcPr marL="121920" marR="121920" marT="76200" marB="7620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875"/>
                        </a:lnSpc>
                        <a:buNone/>
                      </a:pPr>
                      <a:r>
                        <a:rPr lang="en-US" sz="1800" b="0">
                          <a:effectLst/>
                          <a:latin typeface="quote-cjk-patch"/>
                        </a:rPr>
                        <a:t>No</a:t>
                      </a:r>
                    </a:p>
                  </a:txBody>
                  <a:tcPr marL="121920" marR="121920" marT="76200" marB="7620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875"/>
                        </a:lnSpc>
                        <a:buNone/>
                      </a:pPr>
                      <a:r>
                        <a:rPr lang="en-US" sz="1800" b="0">
                          <a:effectLst/>
                          <a:latin typeface="quote-cjk-patch"/>
                        </a:rPr>
                        <a:t>No</a:t>
                      </a:r>
                    </a:p>
                  </a:txBody>
                  <a:tcPr marL="121920" marT="76200" marB="7620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93590609"/>
                  </a:ext>
                </a:extLst>
              </a:tr>
              <a:tr h="393700">
                <a:tc>
                  <a:txBody>
                    <a:bodyPr/>
                    <a:lstStyle/>
                    <a:p>
                      <a:pPr>
                        <a:lnSpc>
                          <a:spcPts val="1875"/>
                        </a:lnSpc>
                        <a:buNone/>
                      </a:pPr>
                      <a:r>
                        <a:rPr lang="en-US" sz="1800" b="0">
                          <a:effectLst/>
                          <a:latin typeface="quote-cjk-patch"/>
                        </a:rPr>
                        <a:t>HashMap</a:t>
                      </a:r>
                    </a:p>
                  </a:txBody>
                  <a:tcPr marR="121920" marT="76200" marB="7620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875"/>
                        </a:lnSpc>
                        <a:buNone/>
                      </a:pPr>
                      <a:r>
                        <a:rPr lang="en-US" sz="1800" b="0">
                          <a:effectLst/>
                          <a:latin typeface="quote-cjk-patch"/>
                        </a:rPr>
                        <a:t>No</a:t>
                      </a:r>
                    </a:p>
                  </a:txBody>
                  <a:tcPr marL="121920" marR="121920" marT="76200" marB="7620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875"/>
                        </a:lnSpc>
                        <a:buNone/>
                      </a:pPr>
                      <a:r>
                        <a:rPr lang="en-US" sz="1800" b="0">
                          <a:effectLst/>
                          <a:latin typeface="quote-cjk-patch"/>
                        </a:rPr>
                        <a:t>N/A</a:t>
                      </a:r>
                    </a:p>
                  </a:txBody>
                  <a:tcPr marL="121920" marR="121920" marT="76200" marB="7620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875"/>
                        </a:lnSpc>
                        <a:buNone/>
                      </a:pPr>
                      <a:r>
                        <a:rPr lang="en-US" sz="1800" b="0">
                          <a:effectLst/>
                          <a:latin typeface="quote-cjk-patch"/>
                        </a:rPr>
                        <a:t>Yes</a:t>
                      </a:r>
                    </a:p>
                  </a:txBody>
                  <a:tcPr marL="121920" marR="121920" marT="76200" marB="7620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875"/>
                        </a:lnSpc>
                        <a:buNone/>
                      </a:pPr>
                      <a:r>
                        <a:rPr lang="en-US" sz="1800" b="0">
                          <a:effectLst/>
                          <a:latin typeface="quote-cjk-patch"/>
                        </a:rPr>
                        <a:t>No</a:t>
                      </a:r>
                    </a:p>
                  </a:txBody>
                  <a:tcPr marL="121920" marT="76200" marB="7620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16257879"/>
                  </a:ext>
                </a:extLst>
              </a:tr>
              <a:tr h="393700">
                <a:tc>
                  <a:txBody>
                    <a:bodyPr/>
                    <a:lstStyle/>
                    <a:p>
                      <a:pPr>
                        <a:lnSpc>
                          <a:spcPts val="1875"/>
                        </a:lnSpc>
                        <a:buNone/>
                      </a:pPr>
                      <a:r>
                        <a:rPr lang="en-US" sz="1800" b="0">
                          <a:effectLst/>
                          <a:latin typeface="quote-cjk-patch"/>
                        </a:rPr>
                        <a:t>TreeMap</a:t>
                      </a:r>
                    </a:p>
                  </a:txBody>
                  <a:tcPr marR="121920" marT="76200" marB="7620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875"/>
                        </a:lnSpc>
                        <a:buNone/>
                      </a:pPr>
                      <a:r>
                        <a:rPr lang="en-US" sz="1800" b="0">
                          <a:effectLst/>
                          <a:latin typeface="quote-cjk-patch"/>
                        </a:rPr>
                        <a:t>Sorted</a:t>
                      </a:r>
                    </a:p>
                  </a:txBody>
                  <a:tcPr marL="121920" marR="121920" marT="76200" marB="7620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875"/>
                        </a:lnSpc>
                        <a:buNone/>
                      </a:pPr>
                      <a:r>
                        <a:rPr lang="en-US" sz="1800" b="0">
                          <a:effectLst/>
                          <a:latin typeface="quote-cjk-patch"/>
                        </a:rPr>
                        <a:t>N/A</a:t>
                      </a:r>
                    </a:p>
                  </a:txBody>
                  <a:tcPr marL="121920" marR="121920" marT="76200" marB="7620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875"/>
                        </a:lnSpc>
                        <a:buNone/>
                      </a:pPr>
                      <a:r>
                        <a:rPr lang="en-US" sz="1800" b="0">
                          <a:effectLst/>
                          <a:latin typeface="quote-cjk-patch"/>
                        </a:rPr>
                        <a:t>No</a:t>
                      </a:r>
                    </a:p>
                  </a:txBody>
                  <a:tcPr marL="121920" marR="121920" marT="76200" marB="7620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875"/>
                        </a:lnSpc>
                        <a:buNone/>
                      </a:pPr>
                      <a:r>
                        <a:rPr lang="en-US" sz="1800" b="0" dirty="0">
                          <a:effectLst/>
                          <a:latin typeface="quote-cjk-patch"/>
                        </a:rPr>
                        <a:t>No</a:t>
                      </a:r>
                    </a:p>
                  </a:txBody>
                  <a:tcPr marL="121920" marT="76200" marB="7620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27644478"/>
                  </a:ext>
                </a:extLst>
              </a:tr>
            </a:tbl>
          </a:graphicData>
        </a:graphic>
      </p:graphicFrame>
      <p:sp>
        <p:nvSpPr>
          <p:cNvPr id="5" name="Rectangle 1">
            <a:extLst>
              <a:ext uri="{FF2B5EF4-FFF2-40B4-BE49-F238E27FC236}">
                <a16:creationId xmlns:a16="http://schemas.microsoft.com/office/drawing/2014/main" id="{5B69CBAC-E98C-A90A-496F-A5AB007127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1038" y="2624138"/>
            <a:ext cx="9906000" cy="4572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101568" rIns="0" bIns="101568" numCol="1" anchor="ctr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200" b="1" i="0" u="none" strike="noStrike" cap="none" normalizeH="0" baseline="0">
                <a:ln>
                  <a:noFill/>
                </a:ln>
                <a:solidFill>
                  <a:srgbClr val="0F1115"/>
                </a:solidFill>
                <a:effectLst/>
                <a:latin typeface="quote-cjk-patch"/>
              </a:rPr>
              <a:t>3. Key Differences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257858815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BCCDBD1-6A27-5F93-91B3-91C2B7F6AC2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841C77FE-4358-65B4-9F06-49E984058B23}"/>
              </a:ext>
            </a:extLst>
          </p:cNvPr>
          <p:cNvSpPr txBox="1"/>
          <p:nvPr/>
        </p:nvSpPr>
        <p:spPr>
          <a:xfrm>
            <a:off x="2477069" y="-29886324"/>
            <a:ext cx="4954136" cy="6663747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lnSpc>
                <a:spcPts val="2250"/>
              </a:lnSpc>
              <a:spcBef>
                <a:spcPts val="2400"/>
              </a:spcBef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Exercise 7.1: List Interface - </a:t>
            </a:r>
            <a:r>
              <a:rPr lang="en-US" b="1" dirty="0" err="1">
                <a:solidFill>
                  <a:srgbClr val="0F1115"/>
                </a:solidFill>
                <a:effectLst/>
                <a:latin typeface="quote-cjk-patch"/>
              </a:rPr>
              <a:t>ArrayList</a:t>
            </a: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 vs LinkedList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Compare different List implementations.</a:t>
            </a:r>
          </a:p>
          <a:p>
            <a:pPr algn="l">
              <a:lnSpc>
                <a:spcPts val="13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java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import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java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util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*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ListComparison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main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[]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args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"=== LIST INTERFACE DEMO ===\n"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</a:t>
            </a:r>
            <a:r>
              <a:rPr lang="en-US" b="0" i="1" dirty="0" err="1">
                <a:solidFill>
                  <a:srgbClr val="A0A1A7"/>
                </a:solidFill>
                <a:effectLst/>
                <a:latin typeface="Menlo"/>
              </a:rPr>
              <a:t>ArrayList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 - fast random access, slower insertions/deletions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arrayList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ArrayList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&lt;&gt;();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LinkedList - fast insertions/deletions, slower random access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linkedList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LinkedList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&lt;&gt;();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Adding elements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"Adding elements:"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long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startTime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nanoTime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10000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++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arrayList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add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"Element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long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endTime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nanoTime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printf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ArrayList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 add time: %d 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ns%n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endTime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startTime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startTime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nanoTime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10000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++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linkedList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add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"Element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endTime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nanoTime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printf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"LinkedList add time: %d 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ns%n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endTime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startTime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Random access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nRandom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 access (get middle element):"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startTime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nanoTime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arrayElem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arrayList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5000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endTime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nanoTime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printf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ArrayList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 get time: %d 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ns%n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endTime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startTime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startTime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nanoTime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linkedElem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linkedList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5000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endTime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nanoTime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printf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"LinkedList get time: %d 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ns%n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endTime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startTime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Insert in middle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nInsert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 in middle:"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startTime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nanoTime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arrayList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add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5000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"Inserted"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endTime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nanoTime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printf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ArrayList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 insert time: %d 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ns%n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endTime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startTime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startTime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nanoTime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linkedList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add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5000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"Inserted"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endTime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nanoTime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printf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"LinkedList insert time: %d 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ns%n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endTime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startTime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Different ways to iterate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"\n=== ITERATION METHODS ==="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fruits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Arrays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asList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"Apple"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"Banana"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"Orange"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"Mango"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Method 1: Traditional for loop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"\n1. Traditional for loop:"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fruits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size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++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fruits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Method 2: Enhanced for loop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"\n2. Enhanced for loop:"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fruit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fruits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fruit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Method 3: Iterator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"\n3. Iterator:"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Iterator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iterator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fruits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iterator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while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iterator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hasNext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iterator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next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Method 4: </a:t>
            </a:r>
            <a:r>
              <a:rPr lang="en-US" b="0" i="1" dirty="0" err="1">
                <a:solidFill>
                  <a:srgbClr val="A0A1A7"/>
                </a:solidFill>
                <a:effectLst/>
                <a:latin typeface="Menlo"/>
              </a:rPr>
              <a:t>ListIterator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 (forward and backward)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"\n4. 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ListIterator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 (backward):"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ListIterator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listIterator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fruits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listIterator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fruits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size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while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listIterator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hasPrevious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listIterator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previous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Method 5: </a:t>
            </a:r>
            <a:r>
              <a:rPr lang="en-US" b="0" i="1" dirty="0" err="1">
                <a:solidFill>
                  <a:srgbClr val="A0A1A7"/>
                </a:solidFill>
                <a:effectLst/>
                <a:latin typeface="Menlo"/>
              </a:rPr>
              <a:t>forEach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 with lambda (Java 8+)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"\n5. 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forEach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 with lambda:"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fruits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forEach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fruit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fruit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Method 6: method reference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"\n6. Method reference:"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fruits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forEach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::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List operations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"\n=== LIST OPERATIONS ==="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Integer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numbers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ArrayList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&lt;&gt;(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Arrays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asList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5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8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9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3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"Original: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numbers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Sorting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Collections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sort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numbers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"Sorted: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numbers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Reverse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Collections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reverse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numbers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"Reversed: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numbers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Shuffle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Collections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shuffle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numbers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"Shuffled: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numbers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Binary search (requires sorted list)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Collections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sort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numbers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index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Collections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binarySearch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numbers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5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"Index of 5: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index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Min and Max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"Min: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Collections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min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numbers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"Max: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Collections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max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numbers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Frequency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numbers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add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5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"Frequency of 5: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Collections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frequency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numbers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5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</p:txBody>
      </p:sp>
    </p:spTree>
    <p:extLst>
      <p:ext uri="{BB962C8B-B14F-4D97-AF65-F5344CB8AC3E}">
        <p14:creationId xmlns:p14="http://schemas.microsoft.com/office/powerpoint/2010/main" val="1551049609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C47AA9C-661F-B1F3-C775-9B8565CE5B9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1C22D134-E63C-EB08-32F0-D3D3171558DD}"/>
              </a:ext>
            </a:extLst>
          </p:cNvPr>
          <p:cNvSpPr txBox="1"/>
          <p:nvPr/>
        </p:nvSpPr>
        <p:spPr>
          <a:xfrm>
            <a:off x="2477069" y="-33852795"/>
            <a:ext cx="4954136" cy="7457041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lnSpc>
                <a:spcPts val="2250"/>
              </a:lnSpc>
              <a:spcBef>
                <a:spcPts val="2400"/>
              </a:spcBef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Exercise 7.2: Set Interface - HashSet, </a:t>
            </a:r>
            <a:r>
              <a:rPr lang="en-US" b="1" dirty="0" err="1">
                <a:solidFill>
                  <a:srgbClr val="0F1115"/>
                </a:solidFill>
                <a:effectLst/>
                <a:latin typeface="quote-cjk-patch"/>
              </a:rPr>
              <a:t>LinkedHashSet</a:t>
            </a: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, </a:t>
            </a:r>
            <a:r>
              <a:rPr lang="en-US" b="1" dirty="0" err="1">
                <a:solidFill>
                  <a:srgbClr val="0F1115"/>
                </a:solidFill>
                <a:effectLst/>
                <a:latin typeface="quote-cjk-patch"/>
              </a:rPr>
              <a:t>TreeSet</a:t>
            </a:r>
            <a:endParaRPr lang="en-US" b="1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Demonstrate different Set implementations.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Solution: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>
              <a:lnSpc>
                <a:spcPts val="13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java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import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java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util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*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SetDemo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main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[]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args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"=== SET INTERFACE DEMO ===\n"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HashSet - no order, fastest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Set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hashSet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HashSet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&lt;&gt;();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</a:t>
            </a:r>
            <a:r>
              <a:rPr lang="en-US" b="0" i="1" dirty="0" err="1">
                <a:solidFill>
                  <a:srgbClr val="A0A1A7"/>
                </a:solidFill>
                <a:effectLst/>
                <a:latin typeface="Menlo"/>
              </a:rPr>
              <a:t>LinkedHashSet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 - insertion order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Set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linkedHashSet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LinkedHashSet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&lt;&gt;();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</a:t>
            </a:r>
            <a:r>
              <a:rPr lang="en-US" b="0" i="1" dirty="0" err="1">
                <a:solidFill>
                  <a:srgbClr val="A0A1A7"/>
                </a:solidFill>
                <a:effectLst/>
                <a:latin typeface="Menlo"/>
              </a:rPr>
              <a:t>TreeSet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 - sorted order (natural ordering)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Set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treeSet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TreeSet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&lt;&gt;();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Add elements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[]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elements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"Banana"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"Apple"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"Orange"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"Mango"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"Apple"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"Grapes"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"Adding elements to different Sets:"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elem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elements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hashSet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add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elem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linkedHashSet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add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elem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treeSet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add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elem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nHashSet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 (no order):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hashSet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LinkedHashSet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 (insertion order):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linkedHashSet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TreeSet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 (sorted):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treeSet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Set operations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"\n=== SET OPERATIONS ==="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Set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Integer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set1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HashSet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&lt;&gt;(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Arrays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asList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3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4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5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Set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Integer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set2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HashSet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&lt;&gt;(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Arrays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asList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4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5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6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7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8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"Set1: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set1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"Set2: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set2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Union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Set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Integer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union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HashSet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&lt;&gt;(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set1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union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addAll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set2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"Union: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union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Intersection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Set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Integer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intersection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HashSet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&lt;&gt;(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set1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intersection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retainAll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set2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"Intersection: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intersection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Difference (set1 - set2)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Set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Integer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difference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HashSet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&lt;&gt;(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set1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difference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removeAll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set2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"Difference (set1 - set2):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difference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Contains all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"Set1 contains all of set2?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set1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containsAll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set2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</a:t>
            </a:r>
            <a:r>
              <a:rPr lang="en-US" b="0" i="1" dirty="0" err="1">
                <a:solidFill>
                  <a:srgbClr val="A0A1A7"/>
                </a:solidFill>
                <a:effectLst/>
                <a:latin typeface="Menlo"/>
              </a:rPr>
              <a:t>TreeSet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 with custom ordering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"\n=== TREESET WITH CUSTOM ORDERING ==="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Reverse order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Set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reverseTreeSet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TreeSet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&lt;&gt;(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Comparator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reverseOrder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reverseTreeSet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addAll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Arrays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asList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elements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TreeSet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 (reverse order):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reverseTreeSet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</a:t>
            </a:r>
            <a:r>
              <a:rPr lang="en-US" b="0" i="1" dirty="0" err="1">
                <a:solidFill>
                  <a:srgbClr val="A0A1A7"/>
                </a:solidFill>
                <a:effectLst/>
                <a:latin typeface="Menlo"/>
              </a:rPr>
              <a:t>TreeSet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 with custom comparator (by length)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Set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byLengthSet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TreeSet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&lt;&gt;((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s1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s2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lenCompare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Integer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compare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s1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length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s2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length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lenCompare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!=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lenCompare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s1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compareTo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s2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If same length, sort alphabetically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byLengthSet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addAll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Arrays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asList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"cat"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"dog"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"elephant"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"bird"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"ant"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TreeSet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 (by length):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byLengthSet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Working with objects in Set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"\n=== OBJECTS IN SET ==="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Without </a:t>
            </a:r>
            <a:r>
              <a:rPr lang="en-US" b="0" i="1" dirty="0" err="1">
                <a:solidFill>
                  <a:srgbClr val="A0A1A7"/>
                </a:solidFill>
                <a:effectLst/>
                <a:latin typeface="Menlo"/>
              </a:rPr>
              <a:t>hashCode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/equals - duplicates allowed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Set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PersonWithoutHash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personSet1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HashSet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&lt;&gt;();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personSet1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add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PersonWithoutHash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"John"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25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personSet1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add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PersonWithoutHash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"John"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25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Duplicate!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"Without 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hashCode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/equals - size: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personSet1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size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With </a:t>
            </a:r>
            <a:r>
              <a:rPr lang="en-US" b="0" i="1" dirty="0" err="1">
                <a:solidFill>
                  <a:srgbClr val="A0A1A7"/>
                </a:solidFill>
                <a:effectLst/>
                <a:latin typeface="Menlo"/>
              </a:rPr>
              <a:t>hashCode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/equals - no duplicates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Set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Person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personSet2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HashSet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&lt;&gt;();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personSet2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add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Person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"John"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25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personSet2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add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Person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"John"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25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No duplicate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personSet2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add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Person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"Jane"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30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"With 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hashCode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/equals - size: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personSet2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size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"Persons: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personSet2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Class without </a:t>
            </a:r>
            <a:r>
              <a:rPr lang="en-US" b="0" i="1" dirty="0" err="1">
                <a:solidFill>
                  <a:srgbClr val="A0A1A7"/>
                </a:solidFill>
                <a:effectLst/>
                <a:latin typeface="Menlo"/>
              </a:rPr>
              <a:t>hashCode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/equals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PersonWithoutHash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age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PersonWithoutHash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age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name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age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age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Class with proper </a:t>
            </a:r>
            <a:r>
              <a:rPr lang="en-US" b="0" i="1" dirty="0" err="1">
                <a:solidFill>
                  <a:srgbClr val="A0A1A7"/>
                </a:solidFill>
                <a:effectLst/>
                <a:latin typeface="Menlo"/>
              </a:rPr>
              <a:t>hashCode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/equals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Person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age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Person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age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name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age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age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@Override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boolean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equals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Object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o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o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true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o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null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||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getClass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!=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getClass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false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Person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person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Person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o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age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person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age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&amp;&amp;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Objects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equals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person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@Override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hashCode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Objects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hash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age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@Override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toString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name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"("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age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")"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</p:txBody>
      </p:sp>
    </p:spTree>
    <p:extLst>
      <p:ext uri="{BB962C8B-B14F-4D97-AF65-F5344CB8AC3E}">
        <p14:creationId xmlns:p14="http://schemas.microsoft.com/office/powerpoint/2010/main" val="3071327927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D1CA5E3-BD05-87C9-6C1C-F7FAAF33BE1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F71BAB53-D4F1-E165-4A7E-BEAC5FDB5A82}"/>
              </a:ext>
            </a:extLst>
          </p:cNvPr>
          <p:cNvSpPr txBox="1"/>
          <p:nvPr/>
        </p:nvSpPr>
        <p:spPr>
          <a:xfrm>
            <a:off x="2477069" y="-41034248"/>
            <a:ext cx="4954136" cy="889333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lnSpc>
                <a:spcPts val="2250"/>
              </a:lnSpc>
              <a:spcBef>
                <a:spcPts val="2400"/>
              </a:spcBef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Exercise 7.3: Map Interface - HashMap, </a:t>
            </a:r>
            <a:r>
              <a:rPr lang="en-US" b="1" dirty="0" err="1">
                <a:solidFill>
                  <a:srgbClr val="0F1115"/>
                </a:solidFill>
                <a:effectLst/>
                <a:latin typeface="quote-cjk-patch"/>
              </a:rPr>
              <a:t>LinkedHashMap</a:t>
            </a: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, </a:t>
            </a:r>
            <a:r>
              <a:rPr lang="en-US" b="1" dirty="0" err="1">
                <a:solidFill>
                  <a:srgbClr val="0F1115"/>
                </a:solidFill>
                <a:effectLst/>
                <a:latin typeface="quote-cjk-patch"/>
              </a:rPr>
              <a:t>TreeMap</a:t>
            </a:r>
            <a:endParaRPr lang="en-US" b="1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Demonstrate different Map implementations.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Solution: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>
              <a:lnSpc>
                <a:spcPts val="13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java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import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java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util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*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import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java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util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stream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Collectors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MapDemo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main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[]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args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"=== MAP INTERFACE DEMO ===\n"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HashMap - no order, fastest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Map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Integer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hashMap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HashMap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&lt;&gt;();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</a:t>
            </a:r>
            <a:r>
              <a:rPr lang="en-US" b="0" i="1" dirty="0" err="1">
                <a:solidFill>
                  <a:srgbClr val="A0A1A7"/>
                </a:solidFill>
                <a:effectLst/>
                <a:latin typeface="Menlo"/>
              </a:rPr>
              <a:t>LinkedHashMap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 - insertion order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Map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Integer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linkedHashMap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LinkedHashMap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&lt;&gt;();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</a:t>
            </a:r>
            <a:r>
              <a:rPr lang="en-US" b="0" i="1" dirty="0" err="1">
                <a:solidFill>
                  <a:srgbClr val="A0A1A7"/>
                </a:solidFill>
                <a:effectLst/>
                <a:latin typeface="Menlo"/>
              </a:rPr>
              <a:t>TreeMap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 - sorted by keys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Map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Integer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treeMap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TreeMap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&lt;&gt;();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Add elements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[]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keys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"Banana"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"Apple"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"Orange"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"Mango"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"Grapes"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[]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values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3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5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4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"Adding elements to different Maps:"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keys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length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++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hashMap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put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keys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],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values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]);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linkedHashMap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put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keys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],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values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]);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treeMap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put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keys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],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values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]);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nHashMap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 (no order):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hashMap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LinkedHashMap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 (insertion order):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linkedHashMap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TreeMap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 (sorted by key):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treeMap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Map operations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"\n=== MAP OPERATIONS ==="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Get value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"Price of Apple: $"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hashMap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"Apple"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Check if key exists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"Contains key 'Banana'?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hashMap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containsKey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"Banana"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Check if value exists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"Contains value 5?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hashMap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containsValue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5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Get or default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"Price of Pear: $"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hashMap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getOrDefault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"Pear"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Put if absent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hashMap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putIfAbsent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"Apple"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Won't change because key exists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hashMap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putIfAbsent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"Pear"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3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Will add because key doesn't exist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"After 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putIfAbsent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hashMap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Remove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hashMap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remove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"Pear"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"After remove Pear: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hashMap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Replace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hashMap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replace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"Apple"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8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"After replace Apple: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hashMap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Iteration methods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"\n=== ITERATION METHODS ==="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Method 1: Iterate over entries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"\n1. Entry Set:"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Map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Entry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Integer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entry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hashMap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entrySet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entry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getKey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 -&gt; $"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entry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getValue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Method 2: Iterate over keys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"\n2. Key Set:"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key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hashMap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keySet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key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 -&gt; $"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hashMap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key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Method 3: Iterate over values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"\n3. Values:"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Integer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value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hashMap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values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"$"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value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Method 4: </a:t>
            </a:r>
            <a:r>
              <a:rPr lang="en-US" b="0" i="1" dirty="0" err="1">
                <a:solidFill>
                  <a:srgbClr val="A0A1A7"/>
                </a:solidFill>
                <a:effectLst/>
                <a:latin typeface="Menlo"/>
              </a:rPr>
              <a:t>forEach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 with lambda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"\n4. 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forEach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 with lambda:"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hashMap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forEach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key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value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key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 -&gt; $"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value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</a:t>
            </a:r>
            <a:r>
              <a:rPr lang="en-US" b="0" i="1" dirty="0" err="1">
                <a:solidFill>
                  <a:srgbClr val="A0A1A7"/>
                </a:solidFill>
                <a:effectLst/>
                <a:latin typeface="Menlo"/>
              </a:rPr>
              <a:t>TreeMap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 with custom comparator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"\n=== TREEMAP WITH CUSTOM COMPARATOR ==="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Reverse order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Map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Integer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reverseTreeMap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TreeMap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&lt;&gt;(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Comparator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reverseOrder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reverseTreeMap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putAll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hashMap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TreeMap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 (reverse order):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reverseTreeMap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</a:t>
            </a:r>
            <a:r>
              <a:rPr lang="en-US" b="0" i="1" dirty="0" err="1">
                <a:solidFill>
                  <a:srgbClr val="A0A1A7"/>
                </a:solidFill>
                <a:effectLst/>
                <a:latin typeface="Menlo"/>
              </a:rPr>
              <a:t>TreeMap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 with custom comparator (by value length)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Map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Integer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byKeyLengthMap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TreeMap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&lt;&gt;(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s1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s2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lenCompare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Integer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compare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s1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length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s2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length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lenCompare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!=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lenCompare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s1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compareTo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s2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byKeyLengthMap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putAll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hashMap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TreeMap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 (by key length):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byKeyLengthMap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Advanced Map operations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"\n=== ADVANCED MAP OPERATIONS ==="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Compute if absent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Map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Integer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studentGrades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HashMap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&lt;&gt;();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studentGrades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computeIfAbsent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"John"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k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ArrayList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&lt;&gt;()).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add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85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studentGrades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computeIfAbsent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"John"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k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ArrayList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&lt;&gt;()).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add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90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studentGrades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computeIfAbsent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"Jane"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k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ArrayList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&lt;&gt;()).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add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95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"Student Grades: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studentGrades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Merge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Map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Integer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sales1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HashMap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&lt;&gt;();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sales1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put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"Product A"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100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sales1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put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"Product B"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150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Map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Integer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sales2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HashMap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&lt;&gt;();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sales2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put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"Product B"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75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sales2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put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"Product C"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200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Map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Integer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totalSales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HashMap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&lt;&gt;(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sales1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sales2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forEach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key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value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totalSales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merge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key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value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Integer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::sum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"\nSales1: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sales1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"Sales2: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sales2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"Total Sales (merged):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totalSales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Grouping by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Person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people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Arrays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asList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Person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"John"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25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),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Person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"Jane"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30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),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Person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"Bob"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25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),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Person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"Alice"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30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),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Person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"Charlie"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35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Map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Integer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Person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byAge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people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stream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collect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Collectors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groupingBy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p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p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age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nGrouped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 by age:"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byAge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forEach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age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persons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age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persons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Counting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Map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Integer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Long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countByAge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people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stream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collect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Collectors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groupingBy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p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p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age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Collectors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counting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nCount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 by age: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countByAge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</p:txBody>
      </p:sp>
    </p:spTree>
    <p:extLst>
      <p:ext uri="{BB962C8B-B14F-4D97-AF65-F5344CB8AC3E}">
        <p14:creationId xmlns:p14="http://schemas.microsoft.com/office/powerpoint/2010/main" val="157045245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8769677-3E7F-9607-7299-044FAC57B40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8DAF456E-72F3-0188-4DC9-878B00B7DE71}"/>
              </a:ext>
            </a:extLst>
          </p:cNvPr>
          <p:cNvSpPr txBox="1"/>
          <p:nvPr/>
        </p:nvSpPr>
        <p:spPr>
          <a:xfrm>
            <a:off x="2477069" y="-34378580"/>
            <a:ext cx="4954136" cy="7562198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lnSpc>
                <a:spcPts val="2250"/>
              </a:lnSpc>
              <a:spcBef>
                <a:spcPts val="2400"/>
              </a:spcBef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Exercise 7.4: Queue and Deque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Demonstrate Queue and Deque implementations.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Solution: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>
              <a:lnSpc>
                <a:spcPts val="13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java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import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java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util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*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QueueDemo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main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[]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args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"=== QUEUE INTERFACE DEMO ===\n"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LinkedList as Queue (FIFO)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Queue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queue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LinkedList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&lt;&gt;();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Add elements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queue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offer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"First"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queue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offer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"Second"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queue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offer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"Third"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queue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offer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"Fourth"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"Queue (FIFO):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queue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Peek - examine head without removing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"Head of queue (peek):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queue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peek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"Queue after peek: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queue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Poll - remove and return head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"Removed (poll):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queue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poll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"Queue after poll: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queue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Element - similar to peek but throws exception if empty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"Head (element):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queue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element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Remove - similar to poll but throws exception if empty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"Removed (remove):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queue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remove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"Queue after remove: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queue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"\n=== PRIORITY QUEUE ==="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</a:t>
            </a:r>
            <a:r>
              <a:rPr lang="en-US" b="0" i="1" dirty="0" err="1">
                <a:solidFill>
                  <a:srgbClr val="A0A1A7"/>
                </a:solidFill>
                <a:effectLst/>
                <a:latin typeface="Menlo"/>
              </a:rPr>
              <a:t>PriorityQueue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 - natural ordering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Queue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Integer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priorityQueue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PriorityQueue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&lt;&gt;();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priorityQueue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offer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5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priorityQueue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offer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priorityQueue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offer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3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priorityQueue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offer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priorityQueue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offer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4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PriorityQueue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priorityQueue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Elements are retrieved in priority order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"Processing in priority order:"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while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!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priorityQueue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isEmpty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priorityQueue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poll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 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</a:t>
            </a:r>
            <a:r>
              <a:rPr lang="en-US" b="0" i="1" dirty="0" err="1">
                <a:solidFill>
                  <a:srgbClr val="A0A1A7"/>
                </a:solidFill>
                <a:effectLst/>
                <a:latin typeface="Menlo"/>
              </a:rPr>
              <a:t>PriorityQueue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 with custom comparator (reverse order)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Queue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Integer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reversePQ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PriorityQueue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&lt;&gt;(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Comparator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reverseOrder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reversePQ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addAll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Arrays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asList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5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3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4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nReverse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PriorityQueue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 (max first):"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while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!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reversePQ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isEmpty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reversePQ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poll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 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</a:t>
            </a:r>
            <a:r>
              <a:rPr lang="en-US" b="0" i="1" dirty="0" err="1">
                <a:solidFill>
                  <a:srgbClr val="A0A1A7"/>
                </a:solidFill>
                <a:effectLst/>
                <a:latin typeface="Menlo"/>
              </a:rPr>
              <a:t>PriorityQueue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 with custom objects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Queue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Person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personQueue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PriorityQueue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&lt;&gt;(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p1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p2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Integer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compare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p1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age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p2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age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personQueue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offer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Person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"John"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30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personQueue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offer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Person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"Jane"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25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personQueue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offer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Person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"Bob"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35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personQueue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offer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Person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"Alice"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28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nPeople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 by age priority:"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while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!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personQueue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isEmpty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personQueue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poll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"\n=== DEQUE (DOUBLE-ENDED QUEUE) ==="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</a:t>
            </a:r>
            <a:r>
              <a:rPr lang="en-US" b="0" i="1" dirty="0" err="1">
                <a:solidFill>
                  <a:srgbClr val="A0A1A7"/>
                </a:solidFill>
                <a:effectLst/>
                <a:latin typeface="Menlo"/>
              </a:rPr>
              <a:t>ArrayDeque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 as Deque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Deque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deque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ArrayDeque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&lt;&gt;();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Add at both ends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deque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addFirst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"First"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deque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addLast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"Last"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deque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offerFirst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"New First"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deque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offerLast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"New Last"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"Deque: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deque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Stack behavior using Deque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"\n=== DEQUE AS STACK (LIFO) ==="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Deque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stack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ArrayDeque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&lt;&gt;();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Push elements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stack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push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"Bottom"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stack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push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"Middle"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stack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push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"Top"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"Stack: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stack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Pop elements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"Pop: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stack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pop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"Stack after pop: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stack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Peek top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"Peek: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stack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peek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Use as both queue and stack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"\n=== DEQUE OPERATIONS ==="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Deque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Integer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intDeque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ArrayDeque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&lt;&gt;();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Add at both ends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intDeque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addFirst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intDeque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addLast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intDeque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addFirst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3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intDeque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addLast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4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"Deque: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intDeque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Remove from both ends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"Remove first: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intDeque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removeFirst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"Remove last: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intDeque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removeLast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"Deque after removals: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intDeque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Get without removing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"First element: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intDeque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getFirst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"Last element: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intDeque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getLast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Descending iterator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nDescending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 order:"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Iterator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Integer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descIterator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intDeque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descendingIterator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while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descIterator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hasNext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descIterator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next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 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</p:txBody>
      </p:sp>
    </p:spTree>
    <p:extLst>
      <p:ext uri="{BB962C8B-B14F-4D97-AF65-F5344CB8AC3E}">
        <p14:creationId xmlns:p14="http://schemas.microsoft.com/office/powerpoint/2010/main" val="1088424402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C8AF79C-90CB-21CE-4937-EB56E77B59F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678B8E61-8C92-496C-A3F6-FEE0DFCD52D8}"/>
              </a:ext>
            </a:extLst>
          </p:cNvPr>
          <p:cNvSpPr txBox="1"/>
          <p:nvPr/>
        </p:nvSpPr>
        <p:spPr>
          <a:xfrm>
            <a:off x="2477069" y="-67791573"/>
            <a:ext cx="4954136" cy="14244797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lnSpc>
                <a:spcPts val="2250"/>
              </a:lnSpc>
              <a:spcBef>
                <a:spcPts val="2400"/>
              </a:spcBef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Exercise 7.5: Generics Deep Dive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Comprehensive generics examples.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Solution: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>
              <a:lnSpc>
                <a:spcPts val="13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java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import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java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util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*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Generic class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Box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content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boxCount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Box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boxCount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++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Box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content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content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content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boxCount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++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setContent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content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content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content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getContent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content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getBoxCount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boxCount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@Override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toString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"Box containing: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content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Generic class with bounded type parameter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NumberBox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extends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Number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number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NumberBox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number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number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number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doubleValue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number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doubleValue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intValue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number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intValue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boolean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isPositive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number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doubleValue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Generic interface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interface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Pair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K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V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K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getKey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V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getValue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setKey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K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key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setValue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V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value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Generic class implementing generic interface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OrderedPair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K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V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implements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Pair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K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V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K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key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V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value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OrderedPair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K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key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V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value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key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key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value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value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@Override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K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getKey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key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@Override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V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getValue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value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@Override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setKey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K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key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key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key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@Override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setValue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V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value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value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value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@Override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toString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"{"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key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value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"}"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Generic methods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GenericMethodExamples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Generic method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printArray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[]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array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"["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array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length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++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", 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array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]);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"]"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Generic method with bounded type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extends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Comparable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findMax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[]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array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array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null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||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array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length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null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max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array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];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array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length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++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array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].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compareTo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max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max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array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];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max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Wildcard method - unbounded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?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Object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elem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elem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 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Wildcard with upper bound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sumOfList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?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extends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Number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sum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0.0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Number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num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sum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num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doubleValue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sum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Wildcard with lower bound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addIntegers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?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super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Integer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&lt;=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5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++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list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add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GenericsDeepDive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main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[]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args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"=== GENERICS DEEP DIVE ===\n"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Generic class with different types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"1. Generic Class Examples:"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Box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stringBox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Box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&lt;&gt;(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"Hello Generics"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Box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Integer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intBox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Box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&lt;&gt;(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42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Box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Person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personBox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Box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&lt;&gt;(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Person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"John"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25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stringBox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intBox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personBox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"Total boxes created: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Box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getBoxCount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Bounded type parameters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"\n2. Bounded Type Parameters:"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NumberBox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Integer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intNumberBox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NumberBox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&lt;&gt;(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NumberBox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doubleNumberBox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NumberBox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&lt;&gt;(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15.5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</a:t>
            </a:r>
            <a:r>
              <a:rPr lang="en-US" b="0" i="1" dirty="0" err="1">
                <a:solidFill>
                  <a:srgbClr val="A0A1A7"/>
                </a:solidFill>
                <a:effectLst/>
                <a:latin typeface="Menlo"/>
              </a:rPr>
              <a:t>NumberBox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&lt;String&gt; </a:t>
            </a:r>
            <a:r>
              <a:rPr lang="en-US" b="0" i="1" dirty="0" err="1">
                <a:solidFill>
                  <a:srgbClr val="A0A1A7"/>
                </a:solidFill>
                <a:effectLst/>
                <a:latin typeface="Menlo"/>
              </a:rPr>
              <a:t>stringNumberBox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 = ... // Error! String doesn't extend Number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"Integer box value: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intNumberBox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doubleValue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"Is positive?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intNumberBox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isPositive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"Double box int value: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doubleNumberBox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intValue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Generic interface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"\n3. Generic Interface:"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Pair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Integer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pair1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OrderedPair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&lt;&gt;(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"Age"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30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Pair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pair2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OrderedPair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&lt;&gt;(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"Name"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"John Doe"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"Pair1: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pair1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"Pair2: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pair2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Raw type (avoid in production!)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"\n4. Raw Type (not recommended):"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@SuppressWarnings({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"rawtypes"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"unchecked"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Box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rawBox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Box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Raw type - warning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rawBox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setContent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"This is raw"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rawBox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Generic methods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"\n5. Generic Methods:"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[]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strArray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"apple"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"banana"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"orange"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"grape"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Integer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[]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intArray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5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8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9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"String array: 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GenericMethodExamples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printArray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strArray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"Integer array: 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GenericMethodExamples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printArray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intArray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Find max with generic method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nMax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 in string array: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GenericMethodExamples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findMax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strArray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"Max in integer array: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GenericMethodExamples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findMax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intArray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Wildcards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"\n6. Wildcards:"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Integer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intList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Arrays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asList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3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4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5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doubleList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Arrays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asList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1.5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2.5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3.5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strList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Arrays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asList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"a"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"b"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"c"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"Integer list: 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GenericMethodExamples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intList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"String list: 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GenericMethodExamples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strList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"Sum of 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intList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GenericMethodExamples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sumOfList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intList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"Sum of 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doubleList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GenericMethodExamples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sumOfList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doubleList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</a:t>
            </a:r>
            <a:r>
              <a:rPr lang="en-US" b="0" i="1" dirty="0" err="1">
                <a:solidFill>
                  <a:srgbClr val="A0A1A7"/>
                </a:solidFill>
                <a:effectLst/>
                <a:latin typeface="Menlo"/>
              </a:rPr>
              <a:t>GenericMethodExamples.sumOfList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(</a:t>
            </a:r>
            <a:r>
              <a:rPr lang="en-US" b="0" i="1" dirty="0" err="1">
                <a:solidFill>
                  <a:srgbClr val="A0A1A7"/>
                </a:solidFill>
                <a:effectLst/>
                <a:latin typeface="Menlo"/>
              </a:rPr>
              <a:t>strList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); // Error! String doesn't extend Number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Lower bounded wildcard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Number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numList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ArrayList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&lt;&gt;();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Object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objList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ArrayList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&lt;&gt;();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GenericMethodExamples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addIntegers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numList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GenericMethodExamples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addIntegers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objList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nNumber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 list after adding integers: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numList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"Object list after adding integers: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objList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Type inference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"\n7. Type Inference:"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Diamond operator (Java 7+)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Map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Integer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map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HashMap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&lt;&gt;();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Type witness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Collections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emptyList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Generic constructor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GenericConstructor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gc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GenericConstructor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&lt;&gt;(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"Hello"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"Generic constructor value: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gc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getValue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Generic constructor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GenericConstructor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value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Generic constructor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extends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GenericConstructor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value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value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value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getValue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value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</p:txBody>
      </p:sp>
    </p:spTree>
    <p:extLst>
      <p:ext uri="{BB962C8B-B14F-4D97-AF65-F5344CB8AC3E}">
        <p14:creationId xmlns:p14="http://schemas.microsoft.com/office/powerpoint/2010/main" val="3977575123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66DF3B4-10A3-F97C-DE8D-A21ED2B1B49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02B6AD9A-4FB0-9C39-6240-5CE3993D8515}"/>
              </a:ext>
            </a:extLst>
          </p:cNvPr>
          <p:cNvSpPr txBox="1"/>
          <p:nvPr/>
        </p:nvSpPr>
        <p:spPr>
          <a:xfrm>
            <a:off x="2477069" y="-34930013"/>
            <a:ext cx="4954136" cy="7672485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lnSpc>
                <a:spcPts val="2250"/>
              </a:lnSpc>
              <a:spcBef>
                <a:spcPts val="2400"/>
              </a:spcBef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Exercise 7.6: Collections Utility Methods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Demonstrate Collections utility class methods.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Solution: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>
              <a:lnSpc>
                <a:spcPts val="13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java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import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java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util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*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CollectionsUtilityDemo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main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[]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args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"=== COLLECTIONS UTILITY METHODS ===\n"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Integer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numbers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ArrayList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&lt;&gt;(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Arrays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asList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5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8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9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3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7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4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6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"Original list: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numbers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Sorting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Collections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sort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numbers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"Sorted: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numbers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Binary search (list must be sorted)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index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Collections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binarySearch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numbers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5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"Index of 5: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index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Reverse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Collections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reverse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numbers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"Reversed: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numbers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Shuffle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Collections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shuffle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numbers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"Shuffled: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numbers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Swap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Collections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swap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numbers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numbers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size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"After swapping first and last: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numbers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Min and Max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"Min: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Collections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min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numbers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"Max: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Collections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max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numbers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Frequency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numbers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add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5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"Frequency of 5: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Collections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frequency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numbers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5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Fill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Collections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fill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numbers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"After fill with 0: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numbers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Copy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Integer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dest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ArrayList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&lt;&gt;(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Arrays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asList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Integer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]));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Collections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copy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dest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Arrays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asList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3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4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5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"After copy: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dest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Replace all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Integer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list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ArrayList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&lt;&gt;(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Arrays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asList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3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4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5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Collections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replaceAll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99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"After 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replaceAll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 2 with 99: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Rotate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Collections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rotate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"After rotate by 2: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Index of </a:t>
            </a:r>
            <a:r>
              <a:rPr lang="en-US" b="0" i="1" dirty="0" err="1">
                <a:solidFill>
                  <a:srgbClr val="A0A1A7"/>
                </a:solidFill>
                <a:effectLst/>
                <a:latin typeface="Menlo"/>
              </a:rPr>
              <a:t>sublist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Integer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source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Arrays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asList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3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4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5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6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7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8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Integer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target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Arrays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asList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4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5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6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firstIndex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Collections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indexOfSubList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source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target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lastIndex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Collections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lastIndexOfSubList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source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target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nSource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source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"Target: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target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"First occurrence at: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firstIndex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"Last occurrence at: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lastIndex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Unmodifiable collections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"\n=== UNMODIFIABLE COLLECTIONS ==="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modifiable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ArrayList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&lt;&gt;(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Arrays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asList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"A"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"B"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"C"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unmodifiable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Collections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unmodifiableList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modifiable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"Modifiable: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modifiable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"Unmodifiable: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unmodifiable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This would throw </a:t>
            </a:r>
            <a:r>
              <a:rPr lang="en-US" b="0" i="1" dirty="0" err="1">
                <a:solidFill>
                  <a:srgbClr val="A0A1A7"/>
                </a:solidFill>
                <a:effectLst/>
                <a:latin typeface="Menlo"/>
              </a:rPr>
              <a:t>UnsupportedOperationException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</a:t>
            </a:r>
            <a:r>
              <a:rPr lang="en-US" b="0" i="1" dirty="0" err="1">
                <a:solidFill>
                  <a:srgbClr val="A0A1A7"/>
                </a:solidFill>
                <a:effectLst/>
                <a:latin typeface="Menlo"/>
              </a:rPr>
              <a:t>unmodifiable.add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("D");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Synchronized collections (thread-safe)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syncList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Collections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synchronizedList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ArrayList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&lt;&gt;());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Map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syncMap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Collections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synchronizedMap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HashMap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&lt;&gt;());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Checked collections (type-safe)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checkedList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Collections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checkedList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ArrayList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&lt;&gt;(),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Empty collections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emptyList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Collections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emptyList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Set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emptySet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Collections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emptySet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Map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emptyMap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Collections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emptyMap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nEmpty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 list: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emptyList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Singleton collections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Set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singletonSet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Collections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singleton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"Only One"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singletonList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Collections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singletonList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"Only One"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Map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singletonMap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Collections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singletonMap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"key"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"value"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"Singleton set: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singletonSet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Disjoint - check if two collections have no common elements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Integer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list1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Arrays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asList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3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4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Integer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list2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Arrays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asList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5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6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7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8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Integer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list3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Arrays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asList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4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5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6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7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"\n=== DISJOINT ==="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"list1: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list1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"list2: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list2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"list3: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list3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"list1 and list2 disjoint?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Collections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disjoint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list1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list2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"list1 and list3 disjoint?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Collections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disjoint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list1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list3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Frequency and occurrence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"\n=== FREQUENCY ==="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words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Arrays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asList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"apple"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"banana"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"apple"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                      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"orange"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"apple"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"banana"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Map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Integer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frequency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HashMap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&lt;&gt;();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word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words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frequency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put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word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frequency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getOrDefault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word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"Word frequencies: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frequency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Find most frequent element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mostFrequent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Collections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max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frequency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entrySet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Map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Entry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comparingByValue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getKey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"Most frequent: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mostFrequent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</p:txBody>
      </p:sp>
    </p:spTree>
    <p:extLst>
      <p:ext uri="{BB962C8B-B14F-4D97-AF65-F5344CB8AC3E}">
        <p14:creationId xmlns:p14="http://schemas.microsoft.com/office/powerpoint/2010/main" val="1862517779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52B5A51-AA7F-ECAF-41AE-666585F46A7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647F63FE-CD35-BCCB-DEA3-C2ED0BF2ED3D}"/>
              </a:ext>
            </a:extLst>
          </p:cNvPr>
          <p:cNvSpPr txBox="1"/>
          <p:nvPr/>
        </p:nvSpPr>
        <p:spPr>
          <a:xfrm>
            <a:off x="2477069" y="-4777528"/>
            <a:ext cx="4954136" cy="1641988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lnSpc>
                <a:spcPts val="2250"/>
              </a:lnSpc>
              <a:spcBef>
                <a:spcPts val="2400"/>
              </a:spcBef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Practice Exercises - Try These Yourself:</a:t>
            </a:r>
          </a:p>
          <a:p>
            <a:pPr algn="l">
              <a:lnSpc>
                <a:spcPts val="2100"/>
              </a:lnSpc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Exercise 7.7: Phone Directory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Create a phone directory using appropriate Collections.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Requirements: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>
              <a:spcBef>
                <a:spcPts val="120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Store contacts with name and phone number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Allow adding, removing, searching contacts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Display contacts sorted by name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Find contacts by partial name match</a:t>
            </a:r>
          </a:p>
          <a:p>
            <a:pPr algn="l">
              <a:lnSpc>
                <a:spcPts val="2100"/>
              </a:lnSpc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Exercise 7.8: Shopping Cart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Implement a shopping cart using Collections.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Requirements: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>
              <a:spcBef>
                <a:spcPts val="120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Use Map for product catalog (product ID -&gt; Product)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Use List for cart items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Calculate total price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Apply discounts</a:t>
            </a:r>
          </a:p>
          <a:p>
            <a:pPr algn="l">
              <a:lnSpc>
                <a:spcPts val="2100"/>
              </a:lnSpc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Exercise 7.9: Task Scheduler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Create a task scheduler using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quote-cjk-patch"/>
              </a:rPr>
              <a:t>PriorityQueue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.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Requirements: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>
              <a:spcBef>
                <a:spcPts val="120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Tasks have priority, description, and due date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Process tasks in priority order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Handle overdue tasks</a:t>
            </a:r>
          </a:p>
          <a:p>
            <a:pPr algn="l">
              <a:lnSpc>
                <a:spcPts val="2100"/>
              </a:lnSpc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Exercise 7.10: Word Counter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Count word frequency in a text file.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Requirements: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>
              <a:spcBef>
                <a:spcPts val="120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Read text from file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Count occurrences of each word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Display top N most frequent words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Ignore case and punctuation</a:t>
            </a:r>
          </a:p>
          <a:p>
            <a:pPr>
              <a:buNone/>
            </a:pPr>
            <a:br>
              <a:rPr lang="en-US" dirty="0"/>
            </a:b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19912776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A6408AB-3FEA-D9E8-2260-D0EB5D4029D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92D8F778-BED6-EC16-3FA1-A2C22B87D551}"/>
              </a:ext>
            </a:extLst>
          </p:cNvPr>
          <p:cNvSpPr txBox="1"/>
          <p:nvPr/>
        </p:nvSpPr>
        <p:spPr>
          <a:xfrm>
            <a:off x="2477069" y="-41248409"/>
            <a:ext cx="4954136" cy="893616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lnSpc>
                <a:spcPts val="2250"/>
              </a:lnSpc>
              <a:spcBef>
                <a:spcPts val="2400"/>
              </a:spcBef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Solutions to Practice Exercises: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Solution 7.7: Phone Directory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>
              <a:lnSpc>
                <a:spcPts val="13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java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import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java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util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*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Contact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phoneNumber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email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Contact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phoneNumber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email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name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phoneNumber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phoneNumber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email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email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Getters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getPhoneNumber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phoneNumber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getEmail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email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Setters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setPhoneNumber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phoneNumber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phoneNumber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phoneNumber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setEmail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email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email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email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@Override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toString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format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"%-20s | %-15s | %-25s"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phoneNumber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email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PhoneDirectory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Map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Contact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contactsByName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Primary index by name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Map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phoneToName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Secondary index by phone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PhoneDirectory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contactsByName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TreeMap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&lt;&gt;();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Sorted by name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phoneToName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HashMap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&lt;&gt;();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addContact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phone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email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phoneToName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containsKey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phone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throw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IllegalArgumentException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"Phone number already exists"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Contact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contact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Contact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phone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email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contactsByName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put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name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toLowerCase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contact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phoneToName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put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phone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name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toLowerCase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"Contact added: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removeContact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Contact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contact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contactsByName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remove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name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toLowerCase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contact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!=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null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phoneToName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remove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contact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getPhoneNumber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"Contact removed: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else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"Contact not found: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Contact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searchByName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contactsByName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name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toLowerCase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Contact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searchByPartialName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partial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Contact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results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ArrayList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&lt;&gt;();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lowerPartial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partial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toLowerCase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Map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Entry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Contact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entry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contactsByName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entrySet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entry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getKey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contains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lowerPartial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results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add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entry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getValue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results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Contact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searchByPhone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phone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name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phoneToName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phone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name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!=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null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?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contactsByName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null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updatePhone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newPhone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Contact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contact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contactsByName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name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toLowerCase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contact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!=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null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phoneToName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remove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contact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getPhoneNumber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contact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setPhoneNumber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newPhone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phoneToName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put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newPhone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name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toLowerCase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"Phone updated for: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displayAllContacts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contactsByName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isEmpty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"No contacts in directory."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"\n=== PHONE DIRECTORY ==="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"Name                | Phone           | Email"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"-"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repeat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60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Contact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contact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contactsByName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values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contact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"Total contacts: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contactsByName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size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displayContactsStartingWith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prefix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lowerPrefix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prefix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toLowerCase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SortedMap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Contact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subMap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TreeMap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Contact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contactsByName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subMap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lowerPrefix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lowerPrefix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Character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MAX_VALUE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nContacts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 starting with '"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prefix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"':"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Contact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contact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subMap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values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  -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contact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contact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getPhoneNumber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PhoneDirectoryDemo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main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[]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args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PhoneDirectory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directory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PhoneDirectory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Add contacts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directory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addContact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"John Doe"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"123-456-7890"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"john@email.com"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directory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addContact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"Jane Smith"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"234-567-8901"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"jane@email.com"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directory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addContact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"Bob Johnson"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"345-678-9012"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"bob@email.com"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directory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addContact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"Alice Brown"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"456-789-0123"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"alice@email.com"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directory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addContact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"Johnathan Doe"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"567-890-1234"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"johnathan@email.com"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Display all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directory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displayAllContacts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Search by name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nSearch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 for 'John Doe':"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Contact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john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directory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searchByName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"John Doe"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john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!=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null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?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john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"Not found"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Search by partial name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nSearch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 for names containing 'John':"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Contact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results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directory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searchByPartialName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"John"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results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forEach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::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Search by phone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nSearch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 by phone '234-567-8901':"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Contact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byPhone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directory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searchByPhone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"234-567-8901"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byPhone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!=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null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?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byPhone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"Not found"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Update phone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directory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updatePhone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"Jane Smith"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"999-888-7777"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Display contacts starting with 'J'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directory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displayContactsStartingWith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"J"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Remove contact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directory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removeContact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"Bob Johnson"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directory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displayAllContacts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</p:txBody>
      </p:sp>
    </p:spTree>
    <p:extLst>
      <p:ext uri="{BB962C8B-B14F-4D97-AF65-F5344CB8AC3E}">
        <p14:creationId xmlns:p14="http://schemas.microsoft.com/office/powerpoint/2010/main" val="1677624876"/>
      </p:ext>
    </p:extLst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33D11B9-028C-5DD4-A32D-5F68742A926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6FBCB937-1305-D53A-890E-94EE0B7396DB}"/>
              </a:ext>
            </a:extLst>
          </p:cNvPr>
          <p:cNvSpPr txBox="1"/>
          <p:nvPr/>
        </p:nvSpPr>
        <p:spPr>
          <a:xfrm>
            <a:off x="2477069" y="-2099230"/>
            <a:ext cx="4954136" cy="1106328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lnSpc>
                <a:spcPts val="2250"/>
              </a:lnSpc>
              <a:spcBef>
                <a:spcPts val="2400"/>
              </a:spcBef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Key Takeaways from Topic 7:</a:t>
            </a:r>
          </a:p>
          <a:p>
            <a:pPr algn="l">
              <a:spcBef>
                <a:spcPts val="1200"/>
              </a:spcBef>
              <a:spcAft>
                <a:spcPts val="600"/>
              </a:spcAft>
              <a:buFont typeface="+mj-lt"/>
              <a:buAutoNum type="arabicPeriod"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Choose the right collection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 for your needs:</a:t>
            </a:r>
          </a:p>
          <a:p>
            <a:pPr marL="742950" lvl="1" indent="-285750" algn="l">
              <a:spcBef>
                <a:spcPts val="30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List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: When order matters, allow duplicates</a:t>
            </a:r>
          </a:p>
          <a:p>
            <a:pPr marL="742950" lvl="1" indent="-285750" algn="l">
              <a:spcBef>
                <a:spcPts val="45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Set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: When uniqueness matters</a:t>
            </a:r>
          </a:p>
          <a:p>
            <a:pPr marL="742950" lvl="1" indent="-285750" algn="l">
              <a:spcBef>
                <a:spcPts val="45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Map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: When key-value pairs needed</a:t>
            </a:r>
          </a:p>
          <a:p>
            <a:pPr marL="742950" lvl="1" indent="-285750" algn="l">
              <a:spcBef>
                <a:spcPts val="45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Queue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: When FIFO processing needed</a:t>
            </a:r>
          </a:p>
          <a:p>
            <a:pPr algn="l">
              <a:spcBef>
                <a:spcPts val="450"/>
              </a:spcBef>
              <a:spcAft>
                <a:spcPts val="600"/>
              </a:spcAft>
              <a:buFont typeface="+mj-lt"/>
              <a:buAutoNum type="arabicPeriod"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Performance considerations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:</a:t>
            </a:r>
          </a:p>
          <a:p>
            <a:pPr marL="742950" lvl="1" indent="-285750" algn="l">
              <a:spcBef>
                <a:spcPts val="30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0" i="0" dirty="0" err="1">
                <a:solidFill>
                  <a:srgbClr val="0F1115"/>
                </a:solidFill>
                <a:effectLst/>
                <a:latin typeface="quote-cjk-patch"/>
              </a:rPr>
              <a:t>ArrayList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: O(1) random access, O(n) insertion/deletion</a:t>
            </a:r>
          </a:p>
          <a:p>
            <a:pPr marL="742950" lvl="1" indent="-285750" algn="l">
              <a:spcBef>
                <a:spcPts val="45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LinkedList: O(n) random access, O(1) insertion/deletion at ends</a:t>
            </a:r>
          </a:p>
          <a:p>
            <a:pPr marL="742950" lvl="1" indent="-285750" algn="l">
              <a:spcBef>
                <a:spcPts val="45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HashSet: O(1) average for add/remove/contains</a:t>
            </a:r>
          </a:p>
          <a:p>
            <a:pPr marL="742950" lvl="1" indent="-285750" algn="l">
              <a:spcBef>
                <a:spcPts val="45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0" i="0" dirty="0" err="1">
                <a:solidFill>
                  <a:srgbClr val="0F1115"/>
                </a:solidFill>
                <a:effectLst/>
                <a:latin typeface="quote-cjk-patch"/>
              </a:rPr>
              <a:t>TreeSet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: O(log n) for add/remove/contains</a:t>
            </a:r>
          </a:p>
          <a:p>
            <a:pPr algn="l">
              <a:spcBef>
                <a:spcPts val="450"/>
              </a:spcBef>
              <a:spcAft>
                <a:spcPts val="600"/>
              </a:spcAft>
              <a:buFont typeface="+mj-lt"/>
              <a:buAutoNum type="arabicPeriod"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Generics benefits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:</a:t>
            </a:r>
          </a:p>
          <a:p>
            <a:pPr marL="742950" lvl="1" indent="-285750" algn="l">
              <a:spcBef>
                <a:spcPts val="30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Type safety at compile time</a:t>
            </a:r>
          </a:p>
          <a:p>
            <a:pPr marL="742950" lvl="1" indent="-285750" algn="l">
              <a:spcBef>
                <a:spcPts val="45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No casting required</a:t>
            </a:r>
          </a:p>
          <a:p>
            <a:pPr marL="742950" lvl="1" indent="-285750" algn="l">
              <a:spcBef>
                <a:spcPts val="45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Code reusability</a:t>
            </a:r>
          </a:p>
          <a:p>
            <a:pPr algn="l">
              <a:spcBef>
                <a:spcPts val="450"/>
              </a:spcBef>
              <a:spcAft>
                <a:spcPts val="600"/>
              </a:spcAft>
              <a:buFont typeface="+mj-lt"/>
              <a:buAutoNum type="arabicPeriod"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Best practices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:</a:t>
            </a:r>
          </a:p>
          <a:p>
            <a:pPr marL="742950" lvl="1" indent="-285750" algn="l">
              <a:lnSpc>
                <a:spcPts val="1650"/>
              </a:lnSpc>
              <a:spcBef>
                <a:spcPts val="30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Use interface types for declarations 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List&lt;String&gt; list = new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ArrayList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&lt;&gt;()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)</a:t>
            </a:r>
          </a:p>
          <a:p>
            <a:pPr marL="742950" lvl="1" indent="-285750" algn="l">
              <a:lnSpc>
                <a:spcPts val="1650"/>
              </a:lnSpc>
              <a:spcBef>
                <a:spcPts val="45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Override 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hashCode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 and 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equals()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 for custom objects in Sets/Maps</a:t>
            </a:r>
          </a:p>
          <a:p>
            <a:pPr marL="742950" lvl="1" indent="-285750" algn="l">
              <a:spcBef>
                <a:spcPts val="45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Consider immutable collections for thread safety</a:t>
            </a:r>
          </a:p>
          <a:p>
            <a:pPr marL="742950" lvl="1" indent="-285750" algn="l">
              <a:lnSpc>
                <a:spcPts val="1650"/>
              </a:lnSpc>
              <a:spcBef>
                <a:spcPts val="45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Use 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Collections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 utility class for common operations</a:t>
            </a:r>
          </a:p>
        </p:txBody>
      </p:sp>
    </p:spTree>
    <p:extLst>
      <p:ext uri="{BB962C8B-B14F-4D97-AF65-F5344CB8AC3E}">
        <p14:creationId xmlns:p14="http://schemas.microsoft.com/office/powerpoint/2010/main" val="2996681962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5A433DC-6598-AE34-6561-657045E651C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D2E1B252-DC24-F89D-37AA-B5D8DFB0C3B4}"/>
              </a:ext>
            </a:extLst>
          </p:cNvPr>
          <p:cNvGraphicFramePr>
            <a:graphicFrameLocks noGrp="1"/>
          </p:cNvGraphicFramePr>
          <p:nvPr/>
        </p:nvGraphicFramePr>
        <p:xfrm>
          <a:off x="681037" y="2896394"/>
          <a:ext cx="8543927" cy="2209800"/>
        </p:xfrm>
        <a:graphic>
          <a:graphicData uri="http://schemas.openxmlformats.org/drawingml/2006/table">
            <a:tbl>
              <a:tblPr/>
              <a:tblGrid>
                <a:gridCol w="1100177">
                  <a:extLst>
                    <a:ext uri="{9D8B030D-6E8A-4147-A177-3AD203B41FA5}">
                      <a16:colId xmlns:a16="http://schemas.microsoft.com/office/drawing/2014/main" val="3755279186"/>
                    </a:ext>
                  </a:extLst>
                </a:gridCol>
                <a:gridCol w="1240625">
                  <a:extLst>
                    <a:ext uri="{9D8B030D-6E8A-4147-A177-3AD203B41FA5}">
                      <a16:colId xmlns:a16="http://schemas.microsoft.com/office/drawing/2014/main" val="2088207301"/>
                    </a:ext>
                  </a:extLst>
                </a:gridCol>
                <a:gridCol w="1240625">
                  <a:extLst>
                    <a:ext uri="{9D8B030D-6E8A-4147-A177-3AD203B41FA5}">
                      <a16:colId xmlns:a16="http://schemas.microsoft.com/office/drawing/2014/main" val="2522959309"/>
                    </a:ext>
                  </a:extLst>
                </a:gridCol>
                <a:gridCol w="1240625">
                  <a:extLst>
                    <a:ext uri="{9D8B030D-6E8A-4147-A177-3AD203B41FA5}">
                      <a16:colId xmlns:a16="http://schemas.microsoft.com/office/drawing/2014/main" val="2654171516"/>
                    </a:ext>
                  </a:extLst>
                </a:gridCol>
                <a:gridCol w="1240625">
                  <a:extLst>
                    <a:ext uri="{9D8B030D-6E8A-4147-A177-3AD203B41FA5}">
                      <a16:colId xmlns:a16="http://schemas.microsoft.com/office/drawing/2014/main" val="991805146"/>
                    </a:ext>
                  </a:extLst>
                </a:gridCol>
                <a:gridCol w="1240625">
                  <a:extLst>
                    <a:ext uri="{9D8B030D-6E8A-4147-A177-3AD203B41FA5}">
                      <a16:colId xmlns:a16="http://schemas.microsoft.com/office/drawing/2014/main" val="494327689"/>
                    </a:ext>
                  </a:extLst>
                </a:gridCol>
                <a:gridCol w="1240625">
                  <a:extLst>
                    <a:ext uri="{9D8B030D-6E8A-4147-A177-3AD203B41FA5}">
                      <a16:colId xmlns:a16="http://schemas.microsoft.com/office/drawing/2014/main" val="963481926"/>
                    </a:ext>
                  </a:extLst>
                </a:gridCol>
              </a:tblGrid>
              <a:tr h="635000">
                <a:tc>
                  <a:txBody>
                    <a:bodyPr/>
                    <a:lstStyle/>
                    <a:p>
                      <a:pPr algn="l">
                        <a:lnSpc>
                          <a:spcPts val="1875"/>
                        </a:lnSpc>
                        <a:buNone/>
                      </a:pPr>
                      <a:r>
                        <a:rPr lang="en-US" sz="1800" b="0">
                          <a:effectLst/>
                          <a:latin typeface="quote-cjk-patch"/>
                        </a:rPr>
                        <a:t>Operation</a:t>
                      </a:r>
                    </a:p>
                  </a:txBody>
                  <a:tcPr marR="121920" marT="76200" marB="7620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ts val="1875"/>
                        </a:lnSpc>
                        <a:buNone/>
                      </a:pPr>
                      <a:r>
                        <a:rPr lang="en-US" sz="1800" b="0">
                          <a:effectLst/>
                          <a:latin typeface="quote-cjk-patch"/>
                        </a:rPr>
                        <a:t>ArrayList</a:t>
                      </a:r>
                    </a:p>
                  </a:txBody>
                  <a:tcPr marL="121920" marR="121920" marT="76200" marB="7620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ts val="1875"/>
                        </a:lnSpc>
                        <a:buNone/>
                      </a:pPr>
                      <a:r>
                        <a:rPr lang="en-US" sz="1800" b="0">
                          <a:effectLst/>
                          <a:latin typeface="quote-cjk-patch"/>
                        </a:rPr>
                        <a:t>LinkedList</a:t>
                      </a:r>
                    </a:p>
                  </a:txBody>
                  <a:tcPr marL="121920" marR="121920" marT="76200" marB="7620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ts val="1875"/>
                        </a:lnSpc>
                        <a:buNone/>
                      </a:pPr>
                      <a:r>
                        <a:rPr lang="en-US" sz="1800" b="0">
                          <a:effectLst/>
                          <a:latin typeface="quote-cjk-patch"/>
                        </a:rPr>
                        <a:t>HashSet</a:t>
                      </a:r>
                    </a:p>
                  </a:txBody>
                  <a:tcPr marL="121920" marR="121920" marT="76200" marB="7620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ts val="1875"/>
                        </a:lnSpc>
                        <a:buNone/>
                      </a:pPr>
                      <a:r>
                        <a:rPr lang="en-US" sz="1800" b="0">
                          <a:effectLst/>
                          <a:latin typeface="quote-cjk-patch"/>
                        </a:rPr>
                        <a:t>TreeSet</a:t>
                      </a:r>
                    </a:p>
                  </a:txBody>
                  <a:tcPr marL="121920" marR="121920" marT="76200" marB="7620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ts val="1875"/>
                        </a:lnSpc>
                        <a:buNone/>
                      </a:pPr>
                      <a:r>
                        <a:rPr lang="en-US" sz="1800" b="0">
                          <a:effectLst/>
                          <a:latin typeface="quote-cjk-patch"/>
                        </a:rPr>
                        <a:t>HashMap</a:t>
                      </a:r>
                    </a:p>
                  </a:txBody>
                  <a:tcPr marL="121920" marR="121920" marT="76200" marB="7620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ts val="1875"/>
                        </a:lnSpc>
                        <a:buNone/>
                      </a:pPr>
                      <a:r>
                        <a:rPr lang="en-US" sz="1800" b="0">
                          <a:effectLst/>
                          <a:latin typeface="quote-cjk-patch"/>
                        </a:rPr>
                        <a:t>TreeMap</a:t>
                      </a:r>
                    </a:p>
                  </a:txBody>
                  <a:tcPr marL="121920" marR="121920" marT="76200" marB="7620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61704599"/>
                  </a:ext>
                </a:extLst>
              </a:tr>
              <a:tr h="393700">
                <a:tc>
                  <a:txBody>
                    <a:bodyPr/>
                    <a:lstStyle/>
                    <a:p>
                      <a:pPr>
                        <a:lnSpc>
                          <a:spcPts val="1875"/>
                        </a:lnSpc>
                        <a:buNone/>
                      </a:pPr>
                      <a:r>
                        <a:rPr lang="en-US" sz="1800" b="0">
                          <a:effectLst/>
                          <a:latin typeface="quote-cjk-patch"/>
                        </a:rPr>
                        <a:t>Add</a:t>
                      </a:r>
                    </a:p>
                  </a:txBody>
                  <a:tcPr marR="121920" marT="76200" marB="7620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875"/>
                        </a:lnSpc>
                        <a:buNone/>
                      </a:pPr>
                      <a:r>
                        <a:rPr lang="en-US" sz="1800" b="0">
                          <a:effectLst/>
                          <a:latin typeface="quote-cjk-patch"/>
                        </a:rPr>
                        <a:t>O(1)*</a:t>
                      </a:r>
                    </a:p>
                  </a:txBody>
                  <a:tcPr marL="121920" marR="121920" marT="76200" marB="7620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875"/>
                        </a:lnSpc>
                        <a:buNone/>
                      </a:pPr>
                      <a:r>
                        <a:rPr lang="en-US" sz="1800" b="0">
                          <a:effectLst/>
                          <a:latin typeface="quote-cjk-patch"/>
                        </a:rPr>
                        <a:t>O(1)</a:t>
                      </a:r>
                    </a:p>
                  </a:txBody>
                  <a:tcPr marL="121920" marR="121920" marT="76200" marB="7620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875"/>
                        </a:lnSpc>
                        <a:buNone/>
                      </a:pPr>
                      <a:r>
                        <a:rPr lang="en-US" sz="1800" b="0">
                          <a:effectLst/>
                          <a:latin typeface="quote-cjk-patch"/>
                        </a:rPr>
                        <a:t>O(1)*</a:t>
                      </a:r>
                    </a:p>
                  </a:txBody>
                  <a:tcPr marL="121920" marR="121920" marT="76200" marB="7620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875"/>
                        </a:lnSpc>
                        <a:buNone/>
                      </a:pPr>
                      <a:r>
                        <a:rPr lang="en-US" sz="1800" b="0">
                          <a:effectLst/>
                          <a:latin typeface="quote-cjk-patch"/>
                        </a:rPr>
                        <a:t>O(log n)</a:t>
                      </a:r>
                    </a:p>
                  </a:txBody>
                  <a:tcPr marL="121920" marR="121920" marT="76200" marB="7620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875"/>
                        </a:lnSpc>
                        <a:buNone/>
                      </a:pPr>
                      <a:r>
                        <a:rPr lang="en-US" sz="1800" b="0">
                          <a:effectLst/>
                          <a:latin typeface="quote-cjk-patch"/>
                        </a:rPr>
                        <a:t>O(1)*</a:t>
                      </a:r>
                    </a:p>
                  </a:txBody>
                  <a:tcPr marL="121920" marR="121920" marT="76200" marB="7620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875"/>
                        </a:lnSpc>
                        <a:buNone/>
                      </a:pPr>
                      <a:r>
                        <a:rPr lang="en-US" sz="1800" b="0">
                          <a:effectLst/>
                          <a:latin typeface="quote-cjk-patch"/>
                        </a:rPr>
                        <a:t>O(log n)</a:t>
                      </a:r>
                    </a:p>
                  </a:txBody>
                  <a:tcPr marL="121920" marT="76200" marB="7620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88228420"/>
                  </a:ext>
                </a:extLst>
              </a:tr>
              <a:tr h="393700">
                <a:tc>
                  <a:txBody>
                    <a:bodyPr/>
                    <a:lstStyle/>
                    <a:p>
                      <a:pPr>
                        <a:lnSpc>
                          <a:spcPts val="1875"/>
                        </a:lnSpc>
                        <a:buNone/>
                      </a:pPr>
                      <a:r>
                        <a:rPr lang="en-US" sz="1800" b="0">
                          <a:effectLst/>
                          <a:latin typeface="quote-cjk-patch"/>
                        </a:rPr>
                        <a:t>Remove</a:t>
                      </a:r>
                    </a:p>
                  </a:txBody>
                  <a:tcPr marR="121920" marT="76200" marB="7620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875"/>
                        </a:lnSpc>
                        <a:buNone/>
                      </a:pPr>
                      <a:r>
                        <a:rPr lang="en-US" sz="1800" b="0">
                          <a:effectLst/>
                          <a:latin typeface="quote-cjk-patch"/>
                        </a:rPr>
                        <a:t>O(n)</a:t>
                      </a:r>
                    </a:p>
                  </a:txBody>
                  <a:tcPr marL="121920" marR="121920" marT="76200" marB="7620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875"/>
                        </a:lnSpc>
                        <a:buNone/>
                      </a:pPr>
                      <a:r>
                        <a:rPr lang="en-US" sz="1800" b="0">
                          <a:effectLst/>
                          <a:latin typeface="quote-cjk-patch"/>
                        </a:rPr>
                        <a:t>O(1)**</a:t>
                      </a:r>
                    </a:p>
                  </a:txBody>
                  <a:tcPr marL="121920" marR="121920" marT="76200" marB="7620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875"/>
                        </a:lnSpc>
                        <a:buNone/>
                      </a:pPr>
                      <a:r>
                        <a:rPr lang="en-US" sz="1800" b="0">
                          <a:effectLst/>
                          <a:latin typeface="quote-cjk-patch"/>
                        </a:rPr>
                        <a:t>O(1)*</a:t>
                      </a:r>
                    </a:p>
                  </a:txBody>
                  <a:tcPr marL="121920" marR="121920" marT="76200" marB="7620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875"/>
                        </a:lnSpc>
                        <a:buNone/>
                      </a:pPr>
                      <a:r>
                        <a:rPr lang="en-US" sz="1800" b="0">
                          <a:effectLst/>
                          <a:latin typeface="quote-cjk-patch"/>
                        </a:rPr>
                        <a:t>O(log n)</a:t>
                      </a:r>
                    </a:p>
                  </a:txBody>
                  <a:tcPr marL="121920" marR="121920" marT="76200" marB="7620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875"/>
                        </a:lnSpc>
                        <a:buNone/>
                      </a:pPr>
                      <a:r>
                        <a:rPr lang="en-US" sz="1800" b="0">
                          <a:effectLst/>
                          <a:latin typeface="quote-cjk-patch"/>
                        </a:rPr>
                        <a:t>O(1)*</a:t>
                      </a:r>
                    </a:p>
                  </a:txBody>
                  <a:tcPr marL="121920" marR="121920" marT="76200" marB="7620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875"/>
                        </a:lnSpc>
                        <a:buNone/>
                      </a:pPr>
                      <a:r>
                        <a:rPr lang="en-US" sz="1800" b="0">
                          <a:effectLst/>
                          <a:latin typeface="quote-cjk-patch"/>
                        </a:rPr>
                        <a:t>O(log n)</a:t>
                      </a:r>
                    </a:p>
                  </a:txBody>
                  <a:tcPr marL="121920" marT="76200" marB="7620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7455181"/>
                  </a:ext>
                </a:extLst>
              </a:tr>
              <a:tr h="393700">
                <a:tc>
                  <a:txBody>
                    <a:bodyPr/>
                    <a:lstStyle/>
                    <a:p>
                      <a:pPr>
                        <a:lnSpc>
                          <a:spcPts val="1875"/>
                        </a:lnSpc>
                        <a:buNone/>
                      </a:pPr>
                      <a:r>
                        <a:rPr lang="en-US" sz="1800" b="0">
                          <a:effectLst/>
                          <a:latin typeface="quote-cjk-patch"/>
                        </a:rPr>
                        <a:t>Get</a:t>
                      </a:r>
                    </a:p>
                  </a:txBody>
                  <a:tcPr marR="121920" marT="76200" marB="7620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875"/>
                        </a:lnSpc>
                        <a:buNone/>
                      </a:pPr>
                      <a:r>
                        <a:rPr lang="en-US" sz="1800" b="0">
                          <a:effectLst/>
                          <a:latin typeface="quote-cjk-patch"/>
                        </a:rPr>
                        <a:t>O(1)</a:t>
                      </a:r>
                    </a:p>
                  </a:txBody>
                  <a:tcPr marL="121920" marR="121920" marT="76200" marB="7620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875"/>
                        </a:lnSpc>
                        <a:buNone/>
                      </a:pPr>
                      <a:r>
                        <a:rPr lang="en-US" sz="1800" b="0">
                          <a:effectLst/>
                          <a:latin typeface="quote-cjk-patch"/>
                        </a:rPr>
                        <a:t>O(n)</a:t>
                      </a:r>
                    </a:p>
                  </a:txBody>
                  <a:tcPr marL="121920" marR="121920" marT="76200" marB="7620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875"/>
                        </a:lnSpc>
                        <a:buNone/>
                      </a:pPr>
                      <a:r>
                        <a:rPr lang="en-US" sz="1800" b="0">
                          <a:effectLst/>
                          <a:latin typeface="quote-cjk-patch"/>
                        </a:rPr>
                        <a:t>O(1)*</a:t>
                      </a:r>
                    </a:p>
                  </a:txBody>
                  <a:tcPr marL="121920" marR="121920" marT="76200" marB="7620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875"/>
                        </a:lnSpc>
                        <a:buNone/>
                      </a:pPr>
                      <a:r>
                        <a:rPr lang="en-US" sz="1800" b="0">
                          <a:effectLst/>
                          <a:latin typeface="quote-cjk-patch"/>
                        </a:rPr>
                        <a:t>O(log n)</a:t>
                      </a:r>
                    </a:p>
                  </a:txBody>
                  <a:tcPr marL="121920" marR="121920" marT="76200" marB="7620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875"/>
                        </a:lnSpc>
                        <a:buNone/>
                      </a:pPr>
                      <a:r>
                        <a:rPr lang="en-US" sz="1800" b="0">
                          <a:effectLst/>
                          <a:latin typeface="quote-cjk-patch"/>
                        </a:rPr>
                        <a:t>O(1)*</a:t>
                      </a:r>
                    </a:p>
                  </a:txBody>
                  <a:tcPr marL="121920" marR="121920" marT="76200" marB="7620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875"/>
                        </a:lnSpc>
                        <a:buNone/>
                      </a:pPr>
                      <a:r>
                        <a:rPr lang="en-US" sz="1800" b="0">
                          <a:effectLst/>
                          <a:latin typeface="quote-cjk-patch"/>
                        </a:rPr>
                        <a:t>O(log n)</a:t>
                      </a:r>
                    </a:p>
                  </a:txBody>
                  <a:tcPr marL="121920" marT="76200" marB="7620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9680276"/>
                  </a:ext>
                </a:extLst>
              </a:tr>
              <a:tr h="393700">
                <a:tc>
                  <a:txBody>
                    <a:bodyPr/>
                    <a:lstStyle/>
                    <a:p>
                      <a:pPr>
                        <a:lnSpc>
                          <a:spcPts val="1875"/>
                        </a:lnSpc>
                        <a:buNone/>
                      </a:pPr>
                      <a:r>
                        <a:rPr lang="en-US" sz="1800" b="0">
                          <a:effectLst/>
                          <a:latin typeface="quote-cjk-patch"/>
                        </a:rPr>
                        <a:t>Contains</a:t>
                      </a:r>
                    </a:p>
                  </a:txBody>
                  <a:tcPr marR="121920" marT="76200" marB="7620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875"/>
                        </a:lnSpc>
                        <a:buNone/>
                      </a:pPr>
                      <a:r>
                        <a:rPr lang="en-US" sz="1800" b="0">
                          <a:effectLst/>
                          <a:latin typeface="quote-cjk-patch"/>
                        </a:rPr>
                        <a:t>O(n)</a:t>
                      </a:r>
                    </a:p>
                  </a:txBody>
                  <a:tcPr marL="121920" marR="121920" marT="76200" marB="7620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875"/>
                        </a:lnSpc>
                        <a:buNone/>
                      </a:pPr>
                      <a:r>
                        <a:rPr lang="en-US" sz="1800" b="0">
                          <a:effectLst/>
                          <a:latin typeface="quote-cjk-patch"/>
                        </a:rPr>
                        <a:t>O(n)</a:t>
                      </a:r>
                    </a:p>
                  </a:txBody>
                  <a:tcPr marL="121920" marR="121920" marT="76200" marB="7620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875"/>
                        </a:lnSpc>
                        <a:buNone/>
                      </a:pPr>
                      <a:r>
                        <a:rPr lang="en-US" sz="1800" b="0">
                          <a:effectLst/>
                          <a:latin typeface="quote-cjk-patch"/>
                        </a:rPr>
                        <a:t>O(1)*</a:t>
                      </a:r>
                    </a:p>
                  </a:txBody>
                  <a:tcPr marL="121920" marR="121920" marT="76200" marB="7620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875"/>
                        </a:lnSpc>
                        <a:buNone/>
                      </a:pPr>
                      <a:r>
                        <a:rPr lang="en-US" sz="1800" b="0">
                          <a:effectLst/>
                          <a:latin typeface="quote-cjk-patch"/>
                        </a:rPr>
                        <a:t>O(log n)</a:t>
                      </a:r>
                    </a:p>
                  </a:txBody>
                  <a:tcPr marL="121920" marR="121920" marT="76200" marB="7620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875"/>
                        </a:lnSpc>
                        <a:buNone/>
                      </a:pPr>
                      <a:r>
                        <a:rPr lang="en-US" sz="1800" b="0">
                          <a:effectLst/>
                          <a:latin typeface="quote-cjk-patch"/>
                        </a:rPr>
                        <a:t>O(1)*</a:t>
                      </a:r>
                    </a:p>
                  </a:txBody>
                  <a:tcPr marL="121920" marR="121920" marT="76200" marB="7620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875"/>
                        </a:lnSpc>
                        <a:buNone/>
                      </a:pPr>
                      <a:r>
                        <a:rPr lang="en-US" sz="1800" b="0" dirty="0">
                          <a:effectLst/>
                          <a:latin typeface="quote-cjk-patch"/>
                        </a:rPr>
                        <a:t>O(log n)</a:t>
                      </a:r>
                    </a:p>
                  </a:txBody>
                  <a:tcPr marL="121920" marT="76200" marB="7620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15549292"/>
                  </a:ext>
                </a:extLst>
              </a:tr>
            </a:tbl>
          </a:graphicData>
        </a:graphic>
      </p:graphicFrame>
      <p:sp>
        <p:nvSpPr>
          <p:cNvPr id="3" name="Rectangle 1">
            <a:extLst>
              <a:ext uri="{FF2B5EF4-FFF2-40B4-BE49-F238E27FC236}">
                <a16:creationId xmlns:a16="http://schemas.microsoft.com/office/drawing/2014/main" id="{CDA1A149-8E0B-BEBA-3EEA-F2B81C78C0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1038" y="2897188"/>
            <a:ext cx="9906000" cy="4572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203136" rIns="0" bIns="101568" numCol="1" anchor="ctr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1" i="0" u="none" strike="noStrike" cap="none" normalizeH="0" baseline="0">
                <a:ln>
                  <a:noFill/>
                </a:ln>
                <a:solidFill>
                  <a:srgbClr val="0F1115"/>
                </a:solidFill>
                <a:effectLst/>
                <a:latin typeface="quote-cjk-patch"/>
              </a:rPr>
              <a:t>Performance Comparison Chart: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4" name="Rectangle 2">
            <a:extLst>
              <a:ext uri="{FF2B5EF4-FFF2-40B4-BE49-F238E27FC236}">
                <a16:creationId xmlns:a16="http://schemas.microsoft.com/office/drawing/2014/main" id="{C3745DCF-1C5A-E1A1-C883-C73C4545E7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1038" y="3354388"/>
            <a:ext cx="9906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200" b="0" i="0" u="none" strike="noStrike" cap="none" normalizeH="0" baseline="0">
                <a:ln>
                  <a:noFill/>
                </a:ln>
                <a:solidFill>
                  <a:srgbClr val="0F1115"/>
                </a:solidFill>
                <a:effectLst/>
                <a:latin typeface="quote-cjk-patch"/>
              </a:rPr>
              <a:t>*With good hash function **At beginning/end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906076028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4AA9814-5741-BF68-57BD-61191B08B0D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54EA4E94-DB5A-F34A-2347-006DE6922033}"/>
              </a:ext>
            </a:extLst>
          </p:cNvPr>
          <p:cNvSpPr txBox="1"/>
          <p:nvPr/>
        </p:nvSpPr>
        <p:spPr>
          <a:xfrm>
            <a:off x="2477069" y="1788372"/>
            <a:ext cx="4954136" cy="328808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lnSpc>
                <a:spcPts val="2250"/>
              </a:lnSpc>
              <a:spcBef>
                <a:spcPts val="2400"/>
              </a:spcBef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Additional Challenges: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Implement a custom HashMap from scratch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Create a thread-safe collection using synchronized wrappers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Build a cache system using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quote-cjk-patch"/>
              </a:rPr>
              <a:t>LinkedHashMap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 with LRU eviction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Implement a graph data structure using Collections</a:t>
            </a:r>
          </a:p>
        </p:txBody>
      </p:sp>
    </p:spTree>
    <p:extLst>
      <p:ext uri="{BB962C8B-B14F-4D97-AF65-F5344CB8AC3E}">
        <p14:creationId xmlns:p14="http://schemas.microsoft.com/office/powerpoint/2010/main" val="4026452982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86B12D9-7743-8E75-BF87-F74CE415798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A2F51597-9154-9F50-FF86-3C07DD943C79}"/>
              </a:ext>
            </a:extLst>
          </p:cNvPr>
          <p:cNvSpPr txBox="1"/>
          <p:nvPr/>
        </p:nvSpPr>
        <p:spPr>
          <a:xfrm>
            <a:off x="2477069" y="-3156571"/>
            <a:ext cx="4954136" cy="1317796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lnSpc>
                <a:spcPts val="2400"/>
              </a:lnSpc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Topic 8: Multithreading and Concurrency</a:t>
            </a:r>
          </a:p>
          <a:p>
            <a:pPr algn="l">
              <a:lnSpc>
                <a:spcPts val="2250"/>
              </a:lnSpc>
              <a:spcBef>
                <a:spcPts val="2400"/>
              </a:spcBef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Concepts Overview:</a:t>
            </a:r>
          </a:p>
          <a:p>
            <a:pPr algn="l">
              <a:lnSpc>
                <a:spcPts val="2100"/>
              </a:lnSpc>
              <a:spcBef>
                <a:spcPts val="1200"/>
              </a:spcBef>
              <a:spcAft>
                <a:spcPts val="6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1. Thread Basics</a:t>
            </a:r>
          </a:p>
          <a:p>
            <a:pPr algn="l">
              <a:spcBef>
                <a:spcPts val="60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Process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: Independent program with own memory space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Thread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: Lightweight sub-process, shares memory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Multithreading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: Multiple threads executing simultaneously</a:t>
            </a:r>
          </a:p>
          <a:p>
            <a:pPr algn="l">
              <a:lnSpc>
                <a:spcPts val="2100"/>
              </a:lnSpc>
              <a:spcBef>
                <a:spcPts val="1200"/>
              </a:spcBef>
              <a:spcAft>
                <a:spcPts val="6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2. Creating Threads</a:t>
            </a:r>
          </a:p>
          <a:p>
            <a:pPr algn="l">
              <a:lnSpc>
                <a:spcPts val="1650"/>
              </a:lnSpc>
              <a:spcBef>
                <a:spcPts val="60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Extend 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Thread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 class</a:t>
            </a:r>
          </a:p>
          <a:p>
            <a:pPr algn="l">
              <a:lnSpc>
                <a:spcPts val="1650"/>
              </a:lnSpc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Implement 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Runnable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 interface</a:t>
            </a:r>
          </a:p>
          <a:p>
            <a:pPr algn="l">
              <a:lnSpc>
                <a:spcPts val="1650"/>
              </a:lnSpc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Implement 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Callable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 interface (returns value)</a:t>
            </a:r>
          </a:p>
          <a:p>
            <a:pPr algn="l">
              <a:lnSpc>
                <a:spcPts val="1650"/>
              </a:lnSpc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Using 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ExecutorService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 framework</a:t>
            </a:r>
          </a:p>
          <a:p>
            <a:pPr algn="l">
              <a:lnSpc>
                <a:spcPts val="2100"/>
              </a:lnSpc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3. Thread States</a:t>
            </a:r>
          </a:p>
          <a:p>
            <a:pPr algn="l">
              <a:lnSpc>
                <a:spcPts val="13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text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NEW → RUNNABLE → BLOCKED/WAITING → TERMINATED</a:t>
            </a:r>
          </a:p>
          <a:p>
            <a:pPr algn="l">
              <a:lnSpc>
                <a:spcPts val="2100"/>
              </a:lnSpc>
              <a:spcBef>
                <a:spcPts val="1200"/>
              </a:spcBef>
              <a:spcAft>
                <a:spcPts val="6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4. Synchronization</a:t>
            </a:r>
          </a:p>
          <a:p>
            <a:pPr algn="l">
              <a:spcBef>
                <a:spcPts val="60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synchronized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 keyword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Lock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 interfaces 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quote-cjk-patch"/>
              </a:rPr>
              <a:t>ReentrantLock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)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Atomic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 classes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volatile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 keyword</a:t>
            </a:r>
          </a:p>
          <a:p>
            <a:pPr algn="l">
              <a:lnSpc>
                <a:spcPts val="2100"/>
              </a:lnSpc>
              <a:spcBef>
                <a:spcPts val="1200"/>
              </a:spcBef>
              <a:spcAft>
                <a:spcPts val="6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5. Concurrency Utilities</a:t>
            </a:r>
          </a:p>
          <a:p>
            <a:pPr algn="l">
              <a:spcBef>
                <a:spcPts val="60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1" i="0" dirty="0" err="1">
                <a:solidFill>
                  <a:srgbClr val="0F1115"/>
                </a:solidFill>
                <a:effectLst/>
                <a:latin typeface="quote-cjk-patch"/>
              </a:rPr>
              <a:t>ExecutorService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: Thread pool management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1" i="0" dirty="0" err="1">
                <a:solidFill>
                  <a:srgbClr val="0F1115"/>
                </a:solidFill>
                <a:effectLst/>
                <a:latin typeface="quote-cjk-patch"/>
              </a:rPr>
              <a:t>CountDownLatch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: Wait for multiple threads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1" i="0" dirty="0" err="1">
                <a:solidFill>
                  <a:srgbClr val="0F1115"/>
                </a:solidFill>
                <a:effectLst/>
                <a:latin typeface="quote-cjk-patch"/>
              </a:rPr>
              <a:t>CyclicBarrier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: Synchronization point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Semaphore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: Control access to resources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BlockingQueue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: Thread-safe queues</a:t>
            </a:r>
          </a:p>
        </p:txBody>
      </p:sp>
    </p:spTree>
    <p:extLst>
      <p:ext uri="{BB962C8B-B14F-4D97-AF65-F5344CB8AC3E}">
        <p14:creationId xmlns:p14="http://schemas.microsoft.com/office/powerpoint/2010/main" val="2317473069"/>
      </p:ext>
    </p:extLst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FBC3C42-195E-1AA6-666E-9DDDDC7291C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F5201763-B3A4-F074-1840-5DFC9C83DE49}"/>
              </a:ext>
            </a:extLst>
          </p:cNvPr>
          <p:cNvSpPr txBox="1"/>
          <p:nvPr/>
        </p:nvSpPr>
        <p:spPr>
          <a:xfrm>
            <a:off x="2477069" y="-32265181"/>
            <a:ext cx="4954136" cy="7139518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lnSpc>
                <a:spcPts val="2250"/>
              </a:lnSpc>
              <a:spcBef>
                <a:spcPts val="2400"/>
              </a:spcBef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Exercise 8.1: Basic Thread Creation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Different ways to create and start threads.</a:t>
            </a:r>
          </a:p>
          <a:p>
            <a:pPr algn="l">
              <a:lnSpc>
                <a:spcPts val="13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java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BasicThreadCreation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main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[]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args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"=== BASIC THREAD CREATION ===\n"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"Main thread: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Thread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currentThread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Method 1: Extending Thread class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MyThread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thread1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MyThread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thread1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setName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"Thread-1"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Method 2: Implementing Runnable interface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Thread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thread2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Thread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MyRunnable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thread2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setName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"Thread-2"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Method 3: Anonymous class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Thread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thread3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Thread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Runnable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@Override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run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"Thread running: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Thread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currentThread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&lt;=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3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++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"Anonymous thread: Count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try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Thread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sleep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500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catch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InterruptedException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printStackTrace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thread3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setName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"Thread-3"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Method 4: Lambda expression (Java 8+)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Thread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thread4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Thread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"Thread running: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Thread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currentThread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&lt;=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3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++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"Lambda thread: Count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try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Thread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sleep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500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catch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InterruptedException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printStackTrace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thread4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setName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"Thread-4"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Start all threads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nStarting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 threads..."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thread1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start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thread2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start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thread3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start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thread4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start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Wait for threads to complete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try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thread1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join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thread2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join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thread3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join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thread4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join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catch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InterruptedException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printStackTrace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nAll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 threads completed!"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Thread priority example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"\n=== THREAD PRIORITY ==="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Thread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highPriority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Thread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5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++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"High priority thread - Count: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Thread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lowPriority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Thread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5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++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"Low priority thread - Count: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highPriority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setPriority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Thread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MAX_PRIORITY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lowPriority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setPriority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Thread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MIN_PRIORITY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highPriority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start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lowPriority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start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Daemon thread example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"\n=== DAEMON THREAD ==="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Thread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daemonThread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Thread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while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true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"Daemon thread running..."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try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Thread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sleep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1000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catch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InterruptedException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break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daemonThread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setDaemon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true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daemonThread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start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Main thread continues and exits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"Main thread exiting..."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Method 1: Extending Thread class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MyThread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extends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Thread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@Override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run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"Thread running: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Thread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currentThread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&lt;=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5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++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": Count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try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Thread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sleep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500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catch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InterruptedException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printStackTrace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Method 2: Implementing Runnable interface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MyRunnable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implements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Runnable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@Override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run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"Thread running: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Thread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currentThread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&lt;=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5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++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Thread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currentThread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": Count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try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Thread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sleep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500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catch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InterruptedException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printStackTrace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</p:txBody>
      </p:sp>
    </p:spTree>
    <p:extLst>
      <p:ext uri="{BB962C8B-B14F-4D97-AF65-F5344CB8AC3E}">
        <p14:creationId xmlns:p14="http://schemas.microsoft.com/office/powerpoint/2010/main" val="520146734"/>
      </p:ext>
    </p:extLst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BFDCFC9-20DE-11FF-066F-212F321A7C1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730C2287-ED0D-6D1E-EBC4-D2DA591E06BB}"/>
              </a:ext>
            </a:extLst>
          </p:cNvPr>
          <p:cNvSpPr txBox="1"/>
          <p:nvPr/>
        </p:nvSpPr>
        <p:spPr>
          <a:xfrm>
            <a:off x="2477069" y="-60565236"/>
            <a:ext cx="4954136" cy="12799529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lnSpc>
                <a:spcPts val="2250"/>
              </a:lnSpc>
              <a:spcBef>
                <a:spcPts val="2400"/>
              </a:spcBef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Exercise 8.2: Thread Synchronization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Demonstrate race conditions and synchronization.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Solution: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>
              <a:lnSpc>
                <a:spcPts val="13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java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import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java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util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concurrent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atomic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AtomicInteger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import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java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util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concurrent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locks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Lock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import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java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util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concurrent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locks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ReentrantLock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Counter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count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synchronizedCount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AtomicInteger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atomicCount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AtomicInteger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final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Lock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lock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ReentrantLock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Not synchronized - race condition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increment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count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++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Synchronized method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synchronized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incrementSynchronized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synchronizedCount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++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Synchronized block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incrementWithBlock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synchronized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synchronizedCount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++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Using Lock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incrementWithLock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lock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lock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try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synchronizedCount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++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finally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lock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unlock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Using </a:t>
            </a:r>
            <a:r>
              <a:rPr lang="en-US" b="0" i="1" dirty="0" err="1">
                <a:solidFill>
                  <a:srgbClr val="A0A1A7"/>
                </a:solidFill>
                <a:effectLst/>
                <a:latin typeface="Menlo"/>
              </a:rPr>
              <a:t>AtomicInteger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incrementAtomic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atomicCount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incrementAndGet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getCount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count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getSynchronizedCount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synchronizedCount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getAtomicCount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atomicCount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BankAccount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balance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final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Lock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lock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ReentrantLock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BankAccount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initialBalance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balance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initialBalance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Deadlock prone version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transferDeadlock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BankAccount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to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amount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synchronized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Thread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currentThread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": Locked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try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Thread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sleep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100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catch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InterruptedException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synchronized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to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Thread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currentThread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": Locked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to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withdraw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amount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to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deposit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amount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Deadlock safe version with ordered locking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transferSafe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BankAccount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to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amount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BankAccount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first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identityHashCode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identityHashCode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to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?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to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BankAccount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second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first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?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to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synchronized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first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synchronized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second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withdraw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amount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to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deposit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amount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printf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"Transferred $%.2f from %s to %s. Balances: %s: $%.2f, %s: $%.2f%n"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amount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to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balance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to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to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balance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Using </a:t>
            </a:r>
            <a:r>
              <a:rPr lang="en-US" b="0" i="1" dirty="0" err="1">
                <a:solidFill>
                  <a:srgbClr val="A0A1A7"/>
                </a:solidFill>
                <a:effectLst/>
                <a:latin typeface="Menlo"/>
              </a:rPr>
              <a:t>ReentrantLock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 with </a:t>
            </a:r>
            <a:r>
              <a:rPr lang="en-US" b="0" i="1" dirty="0" err="1">
                <a:solidFill>
                  <a:srgbClr val="A0A1A7"/>
                </a:solidFill>
                <a:effectLst/>
                <a:latin typeface="Menlo"/>
              </a:rPr>
              <a:t>tryLock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 to avoid deadlock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boolean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transferWithTimeout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BankAccount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to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amount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long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timeout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throws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InterruptedException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long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stopTime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currentTimeMillis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timeout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while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currentTimeMillis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stopTime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lock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tryLock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try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to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lock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tryLock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try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withdraw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amount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to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deposit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amount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true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finally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to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lock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unlock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finally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lock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unlock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Thread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sleep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50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false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synchronized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withdraw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amount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balance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&gt;=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amount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balance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amount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synchronized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deposit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amount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balance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amount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getBalance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balance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@Override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toString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"Account@"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Integer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toHexString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hashCode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SynchronizationDemo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main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[]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args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throws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InterruptedException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"=== RACE CONDITION DEMO ===\n"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Counter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counter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Counter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threadCount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1000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incrementsPerThread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1000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Without synchronization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Thread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[]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threads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Thread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threadCount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];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threadCount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++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threads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]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Thread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j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j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incrementsPerThread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j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++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counter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increment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Thread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t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threads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start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Thread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t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threads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join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"Without synchronization: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counter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getCount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"Expected: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threadCount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*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incrementsPerThread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With synchronization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Counter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syncCounter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Counter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threads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Thread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threadCount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];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threadCount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++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threads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]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Thread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j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j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incrementsPerThread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j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++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syncCounter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incrementSynchronized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Thread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t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threads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start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Thread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t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threads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join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nWith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 synchronization: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syncCounter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getSynchronizedCount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"Expected: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threadCount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*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incrementsPerThread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With </a:t>
            </a:r>
            <a:r>
              <a:rPr lang="en-US" b="0" i="1" dirty="0" err="1">
                <a:solidFill>
                  <a:srgbClr val="A0A1A7"/>
                </a:solidFill>
                <a:effectLst/>
                <a:latin typeface="Menlo"/>
              </a:rPr>
              <a:t>AtomicInteger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Counter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atomicCounter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Counter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threads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Thread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threadCount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];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threadCount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++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threads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]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Thread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j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j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incrementsPerThread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j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++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atomicCounter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incrementAtomic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Thread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t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threads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start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Thread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t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threads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join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nWith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AtomicInteger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atomicCounter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getAtomicCount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"Expected: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threadCount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*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incrementsPerThread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Deadlock demonstration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"\n=== DEADLOCK DEMO ==="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BankAccount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account1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BankAccount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1000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BankAccount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account2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BankAccount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1000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This would cause deadlock - don't run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/*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Thread t1 = new Thread(() -&gt; {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for (int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= 0;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&lt; 10;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++) {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account1.transferDeadlock(account2, 100);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}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}, "Thread-1");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Thread t2 = new Thread(() -&gt; {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for (int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= 0;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&lt; 10;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++) {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account2.transferDeadlock(account1, 100);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}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}, "Thread-2");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t1.start();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t2.start();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*/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Safe transfer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"Safe transfer with ordered locking:"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Thread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t3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Thread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5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++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account1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transferSafe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account2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50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"Thread-3"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Thread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t4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Thread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5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++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account2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transferSafe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account1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30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"Thread-4"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t3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start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t4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start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t3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join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t4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join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nFinal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 balances:"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"Account 1: $"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account1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getBalance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"Account 2: $"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account2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getBalance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</p:txBody>
      </p:sp>
    </p:spTree>
    <p:extLst>
      <p:ext uri="{BB962C8B-B14F-4D97-AF65-F5344CB8AC3E}">
        <p14:creationId xmlns:p14="http://schemas.microsoft.com/office/powerpoint/2010/main" val="753765414"/>
      </p:ext>
    </p:extLst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573B9AB-DD08-57A9-3937-3178F40B8AB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604A561E-2F67-3F6E-45E8-3E261EDF9A2B}"/>
              </a:ext>
            </a:extLst>
          </p:cNvPr>
          <p:cNvSpPr txBox="1"/>
          <p:nvPr/>
        </p:nvSpPr>
        <p:spPr>
          <a:xfrm>
            <a:off x="2477069" y="-43400280"/>
            <a:ext cx="4954136" cy="9366538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lnSpc>
                <a:spcPts val="2250"/>
              </a:lnSpc>
              <a:spcBef>
                <a:spcPts val="2400"/>
              </a:spcBef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Exercise 8.3: </a:t>
            </a:r>
            <a:r>
              <a:rPr lang="en-US" b="1" dirty="0" err="1">
                <a:solidFill>
                  <a:srgbClr val="0F1115"/>
                </a:solidFill>
                <a:effectLst/>
                <a:latin typeface="quote-cjk-patch"/>
              </a:rPr>
              <a:t>ExecutorService</a:t>
            </a: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 and Thread Pools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Demonstrate thread pool management.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Solution: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>
              <a:lnSpc>
                <a:spcPts val="13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java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import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java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util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concurrent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*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import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java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util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*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Task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implements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Callable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taskId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Task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taskId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taskId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taskId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@Override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call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throws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Exception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"Task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taskId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 started by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Thread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currentThread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Simulate work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Thread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sleep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long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Math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random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*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2000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"Task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taskId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 completed"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"Result of task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taskId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ExecutorServiceDemo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main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[]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args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"=== EXECUTOR SERVICE DEMO ===\n"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1. Fixed Thread Pool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"1. Fixed Thread Pool (3 threads):"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ExecutorService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fixedPool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Executors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newFixedThreadPool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3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Future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futures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ArrayList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&lt;&gt;();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&lt;=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6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++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Future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future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fixedPool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submit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Task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futures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add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future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Get results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Future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future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futures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try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result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future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Blocks until task completes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"Got: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result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catch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InterruptedException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|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ExecutionException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printStackTrace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fixedPool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shutdown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2. Cached Thread Pool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"\n2. Cached Thread Pool:"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ExecutorService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cachedPool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Executors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newCachedThreadPool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&lt;=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5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++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final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taskId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cachedPool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submit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"Cached task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taskId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 running on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Thread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currentThread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try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Thread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sleep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500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catch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InterruptedException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cachedPool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shutdown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3. Scheduled Thread Pool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"\n3. Scheduled Thread Pool:"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ScheduledExecutorService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scheduledPool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Executors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newScheduledThreadPool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Schedule with delay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scheduledPool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schedule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"Task executed after 2 seconds delay"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TimeUnit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SECONDS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Schedule at fixed rate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scheduledPool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scheduleAtFixedRate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"Fixed rate task executed at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currentTimeMillis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/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1000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3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TimeUnit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SECONDS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Schedule with fixed delay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scheduledPool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scheduleWithFixedDelay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"Fixed delay task executed"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try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Thread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sleep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1000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Simulate work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catch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InterruptedException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TimeUnit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SECONDS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Let scheduled tasks run for a while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try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Thread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sleep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10000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catch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InterruptedException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scheduledPool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shutdown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4. Single Thread Executor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"\n4. Single Thread Executor:"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ExecutorService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singlePool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Executors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newSingleThreadExecutor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&lt;=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3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++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final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taskId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singlePool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submit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"Single thread task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taskId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             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 running on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Thread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currentThread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singlePool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shutdown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5. </a:t>
            </a:r>
            <a:r>
              <a:rPr lang="en-US" b="0" i="1" dirty="0" err="1">
                <a:solidFill>
                  <a:srgbClr val="A0A1A7"/>
                </a:solidFill>
                <a:effectLst/>
                <a:latin typeface="Menlo"/>
              </a:rPr>
              <a:t>InvokeAll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 and </a:t>
            </a:r>
            <a:r>
              <a:rPr lang="en-US" b="0" i="1" dirty="0" err="1">
                <a:solidFill>
                  <a:srgbClr val="A0A1A7"/>
                </a:solidFill>
                <a:effectLst/>
                <a:latin typeface="Menlo"/>
              </a:rPr>
              <a:t>InvokeAny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"\n5. 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InvokeAll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 and 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InvokeAny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:"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ExecutorService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pool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Executors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newFixedThreadPool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3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Callable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callables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Arrays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asList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Thread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sleep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2000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"Task 1"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},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Thread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sleep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1000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"Task 2"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},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Thread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sleep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3000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"Task 3"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try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</a:t>
            </a:r>
            <a:r>
              <a:rPr lang="en-US" b="0" i="1" dirty="0" err="1">
                <a:solidFill>
                  <a:srgbClr val="A0A1A7"/>
                </a:solidFill>
                <a:effectLst/>
                <a:latin typeface="Menlo"/>
              </a:rPr>
              <a:t>InvokeAny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 - returns fastest result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fastest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pool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invokeAny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callables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"Fastest task: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fastest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</a:t>
            </a:r>
            <a:r>
              <a:rPr lang="en-US" b="0" i="1" dirty="0" err="1">
                <a:solidFill>
                  <a:srgbClr val="A0A1A7"/>
                </a:solidFill>
                <a:effectLst/>
                <a:latin typeface="Menlo"/>
              </a:rPr>
              <a:t>InvokeAll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 - wait for all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Future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allFutures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pool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invokeAll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callables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"All tasks completed:"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Future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f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allFutures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 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f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catch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InterruptedException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|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ExecutionException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printStackTrace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pool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shutdown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6. Custom Thread Pool with Rejection Handler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"\n6. Custom Thread Pool with Rejection Handler:"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ThreadPoolExecutor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customPool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ThreadPoolExecutor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core pool size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4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maximum pool size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60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TimeUnit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SECONDS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keep alive time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ArrayBlockingQueue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&lt;&gt;(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work queue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ThreadPoolExecutor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CallerRunsPolicy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rejection handler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&lt;=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8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++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final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taskId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customPool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submit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"Custom pool task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taskId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             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 running on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Thread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currentThread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try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Thread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sleep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1000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catch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InterruptedException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customPool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shutdown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Monitor thread pool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nPool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 statistics:"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"Core pool size: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customPool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getCorePoolSize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"Maximum pool size: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customPool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getMaximumPoolSize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"Active count: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customPool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getActiveCount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"Completed tasks: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customPool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getCompletedTaskCount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</p:txBody>
      </p:sp>
    </p:spTree>
    <p:extLst>
      <p:ext uri="{BB962C8B-B14F-4D97-AF65-F5344CB8AC3E}">
        <p14:creationId xmlns:p14="http://schemas.microsoft.com/office/powerpoint/2010/main" val="4082034084"/>
      </p:ext>
    </p:extLst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0931B59-6FFA-DE4E-A87E-7C2F448F358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B45B7049-5330-0328-643F-01FCC892D6A5}"/>
              </a:ext>
            </a:extLst>
          </p:cNvPr>
          <p:cNvSpPr txBox="1"/>
          <p:nvPr/>
        </p:nvSpPr>
        <p:spPr>
          <a:xfrm>
            <a:off x="2477069" y="-54550769"/>
            <a:ext cx="4954136" cy="11596636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lnSpc>
                <a:spcPts val="2250"/>
              </a:lnSpc>
              <a:spcBef>
                <a:spcPts val="2400"/>
              </a:spcBef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Exercise 8.4: Concurrent Collections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Demonstrate thread-safe collections.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Solution: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>
              <a:lnSpc>
                <a:spcPts val="13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java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import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java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util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concurrent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*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import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java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util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*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ConcurrentCollectionsDemo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main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[]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args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throws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InterruptedException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"=== CONCURRENT COLLECTIONS DEMO ===\n"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1. </a:t>
            </a:r>
            <a:r>
              <a:rPr lang="en-US" b="0" i="1" dirty="0" err="1">
                <a:solidFill>
                  <a:srgbClr val="A0A1A7"/>
                </a:solidFill>
                <a:effectLst/>
                <a:latin typeface="Menlo"/>
              </a:rPr>
              <a:t>ConcurrentHashMap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 - thread-safe HashMap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"1. 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ConcurrentHashMap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:"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ConcurrentHashMap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Integer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concurrentMap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ConcurrentHashMap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&lt;&gt;();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Multiple threads updating the map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Runnable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mapUpdater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100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++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concurrentMap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merge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Thread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currentThread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(),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Integer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::sum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Thread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[]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threads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Thread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5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];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5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++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threads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]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Thread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mapUpdater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"Thread-"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threads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].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start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Thread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t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threads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join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"Map contents: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concurrentMap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"Total count: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concurrentMap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values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stream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mapToInt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Integer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::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intValue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sum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2. </a:t>
            </a:r>
            <a:r>
              <a:rPr lang="en-US" b="0" i="1" dirty="0" err="1">
                <a:solidFill>
                  <a:srgbClr val="A0A1A7"/>
                </a:solidFill>
                <a:effectLst/>
                <a:latin typeface="Menlo"/>
              </a:rPr>
              <a:t>CopyOnWriteArrayList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 - thread-safe </a:t>
            </a:r>
            <a:r>
              <a:rPr lang="en-US" b="0" i="1" dirty="0" err="1">
                <a:solidFill>
                  <a:srgbClr val="A0A1A7"/>
                </a:solidFill>
                <a:effectLst/>
                <a:latin typeface="Menlo"/>
              </a:rPr>
              <a:t>ArrayList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"\n2. 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CopyOnWriteArrayList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:"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CopyOnWriteArrayList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cowList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CopyOnWriteArrayList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&lt;&gt;();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Writer thread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Thread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writer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Thread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++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cowList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add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"Item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try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Thread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sleep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100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catch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InterruptedException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Reader threads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Runnable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reader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5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++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Thread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currentThread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             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 sees: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cowList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try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Thread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sleep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150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catch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InterruptedException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Thread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reader1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Thread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reader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"Reader-1"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Thread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reader2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Thread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reader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"Reader-2"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writer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start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reader1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start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reader2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start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writer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join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reader1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join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reader2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join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3. BlockingQueue - Producer-Consumer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"\n3. BlockingQueue (Producer-Consumer):"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BlockingQueue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Integer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queue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ArrayBlockingQueue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&lt;&gt;(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5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Producer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Thread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producer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Thread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try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&lt;=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++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"Producing: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queue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put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Blocks if queue is full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Thread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sleep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500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queue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put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Poison pill to signal end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catch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InterruptedException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"Producer"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Consumer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Thread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consumer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Thread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try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while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true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Integer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item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queue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take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Blocks if queue is empty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item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break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"Consuming: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item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Thread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sleep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1000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"Consumer finished"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catch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InterruptedException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"Consumer"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producer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start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consumer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start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producer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join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consumer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join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4. </a:t>
            </a:r>
            <a:r>
              <a:rPr lang="en-US" b="0" i="1" dirty="0" err="1">
                <a:solidFill>
                  <a:srgbClr val="A0A1A7"/>
                </a:solidFill>
                <a:effectLst/>
                <a:latin typeface="Menlo"/>
              </a:rPr>
              <a:t>PriorityBlockingQueue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"\n4. 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PriorityBlockingQueue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:"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PriorityBlockingQueue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Task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priorityQueue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PriorityBlockingQueue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&lt;&gt;(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Comparator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comparingInt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Task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::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getPriority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reversed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Add tasks with different priorities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priorityQueue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add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Task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5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priorityQueue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add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Task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priorityQueue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add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Task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3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3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priorityQueue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add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Task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4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4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priorityQueue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add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Task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5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Process tasks in priority order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while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!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priorityQueue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isEmpty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Task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task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priorityQueue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poll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"Processing: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task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Thread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sleep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500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5. </a:t>
            </a:r>
            <a:r>
              <a:rPr lang="en-US" b="0" i="1" dirty="0" err="1">
                <a:solidFill>
                  <a:srgbClr val="A0A1A7"/>
                </a:solidFill>
                <a:effectLst/>
                <a:latin typeface="Menlo"/>
              </a:rPr>
              <a:t>DelayQueue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"\n5. 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DelayQueue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:"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DelayQueue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DelayedTask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delayQueue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DelayQueue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&lt;&gt;();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Add tasks with different delays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delayQueue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add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DelayedTask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"Task 1"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2000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delayQueue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add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DelayedTask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"Task 2"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4000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delayQueue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add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DelayedTask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"Task 3"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1000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delayQueue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add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DelayedTask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"Task 4"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3000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Process tasks as they become available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while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!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delayQueue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isEmpty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DelayedTask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task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delayQueue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take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"Executing: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task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6. </a:t>
            </a:r>
            <a:r>
              <a:rPr lang="en-US" b="0" i="1" dirty="0" err="1">
                <a:solidFill>
                  <a:srgbClr val="A0A1A7"/>
                </a:solidFill>
                <a:effectLst/>
                <a:latin typeface="Menlo"/>
              </a:rPr>
              <a:t>SynchronousQueue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"\n6. 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SynchronousQueue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:"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SynchronousQueue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synchronousQueue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SynchronousQueue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&lt;&gt;();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Thread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producer2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Thread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try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[]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items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"A"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"B"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"C"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"D"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item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items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"Offering: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item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synchronousQueue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put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item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Thread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sleep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1000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catch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InterruptedException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"Producer"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Thread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consumer2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Thread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try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4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++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item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synchronousQueue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take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"Received: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item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Thread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sleep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2000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catch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InterruptedException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"Consumer"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producer2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start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consumer2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start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producer2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join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consumer2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join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Task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id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priority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Task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id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priority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id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id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priority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priority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getPriority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priority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@Override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toString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"Task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id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 (Priority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priority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")"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DelayedTask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implements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Delayed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long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startTime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DelayedTask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long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delay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name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startTime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currentTimeMillis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delay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@Override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long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getDelay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TimeUnit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unit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long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diff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startTime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currentTimeMillis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unit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convert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diff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TimeUnit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MILLISECONDS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@Override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compareTo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Delayed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o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Long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compare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startTime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DelayedTask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o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startTime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@Override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toString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name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 (scheduled at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startTime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")"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</p:txBody>
      </p:sp>
    </p:spTree>
    <p:extLst>
      <p:ext uri="{BB962C8B-B14F-4D97-AF65-F5344CB8AC3E}">
        <p14:creationId xmlns:p14="http://schemas.microsoft.com/office/powerpoint/2010/main" val="1589381589"/>
      </p:ext>
    </p:extLst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D2A4660-17B1-E4B5-CE8C-A6BA4F03342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7CBB30C8-3545-B83C-7744-22FCC6F0EF90}"/>
              </a:ext>
            </a:extLst>
          </p:cNvPr>
          <p:cNvSpPr txBox="1"/>
          <p:nvPr/>
        </p:nvSpPr>
        <p:spPr>
          <a:xfrm>
            <a:off x="2477069" y="-55029105"/>
            <a:ext cx="4954136" cy="11692303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lnSpc>
                <a:spcPts val="2250"/>
              </a:lnSpc>
              <a:spcBef>
                <a:spcPts val="2400"/>
              </a:spcBef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Exercise 8.5: Synchronization Utilities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Demonstrate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quote-cjk-patch"/>
              </a:rPr>
              <a:t>CountDownLatch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,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quote-cjk-patch"/>
              </a:rPr>
              <a:t>CyclicBarrier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, Semaphore, and Exchanger.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Solution: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>
              <a:lnSpc>
                <a:spcPts val="13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java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import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java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util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concurrent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*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import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java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util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*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SynchronizationUtilitiesDemo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main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[]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args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throws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InterruptedException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"=== SYNCHRONIZATION UTILITIES ===\n"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1. </a:t>
            </a:r>
            <a:r>
              <a:rPr lang="en-US" b="0" i="1" dirty="0" err="1">
                <a:solidFill>
                  <a:srgbClr val="A0A1A7"/>
                </a:solidFill>
                <a:effectLst/>
                <a:latin typeface="Menlo"/>
              </a:rPr>
              <a:t>CountDownLatch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"1. 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CountDownLatch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 - Wait for multiple threads to complete:"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CountDownLatch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latch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CountDownLatch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3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&lt;=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3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++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final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workerId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Thread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try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"Worker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workerId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 started"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Thread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sleep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long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Math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random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*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2000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"Worker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workerId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 finished"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latch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countDown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catch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InterruptedException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}).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start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"Main thread waiting for workers..."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latch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await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Wait until count reaches 0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"All workers completed. Main thread continuing...\n"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2. </a:t>
            </a:r>
            <a:r>
              <a:rPr lang="en-US" b="0" i="1" dirty="0" err="1">
                <a:solidFill>
                  <a:srgbClr val="A0A1A7"/>
                </a:solidFill>
                <a:effectLst/>
                <a:latin typeface="Menlo"/>
              </a:rPr>
              <a:t>CyclicBarrier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"2. 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CyclicBarrier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 - Synchronization point:"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CyclicBarrier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barrier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CyclicBarrier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3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"All parties reached the barrier! Let's proceed together."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&lt;=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3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++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final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partyId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Thread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try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"Party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partyId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 performing work..."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Thread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sleep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long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Math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random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*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2000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"Party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partyId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 waiting at barrier"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barrier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await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"Party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partyId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 passed the barrier"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catch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Exception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}).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start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Thread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sleep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3000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Reuse barrier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nReusing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 same barrier:"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4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&lt;=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6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++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final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partyId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Thread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try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"Party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partyId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 performing work..."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Thread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sleep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long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Math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random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*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2000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"Party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partyId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 waiting at barrier"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barrier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await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"Party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partyId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 passed the barrier"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catch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Exception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}).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start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Thread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sleep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4000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3. Semaphore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"\n3. Semaphore - Control access to resources:"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Semaphore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parkingLot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Semaphore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3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3 parking spots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&lt;=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++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final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carId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Thread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try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"Car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carId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 looking for parking spot..."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parkingLot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acquire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"Car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carId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 parked. Available spots: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      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parkingLot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availablePermits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Thread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sleep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long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Math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random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*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3000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"Car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carId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 leaving"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parkingLot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release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catch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InterruptedException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}).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start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Thread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sleep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5000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4. Exchanger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"\n4. Exchanger - Exchange data between threads:"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Exchanger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Integer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exchanger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Exchanger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&lt;&gt;();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Thread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producer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Thread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Integer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buffer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ArrayList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&lt;&gt;();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&lt;=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5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++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buffer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add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"Producer added: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try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Thread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sleep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500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3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"Producer waiting to exchange..."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    buffer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exchanger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exchange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buffer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"Producer received: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buffer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catch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InterruptedException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Thread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consumer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Thread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Integer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buffer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ArrayList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&lt;&gt;();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3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++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try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Thread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sleep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1000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"Consumer waiting to exchange..."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buffer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exchanger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exchange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buffer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"Consumer received: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buffer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buffer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clear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catch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InterruptedException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producer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start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consumer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start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producer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join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consumer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join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5. Phaser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"\n5. Phaser - Advanced synchronization:"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Phaser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phaser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Phaser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Register main thread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&lt;=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3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++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phaser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register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Register each party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final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phase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Thread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try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"Participant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phase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 arrived at phase 1"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phaser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arriveAndAwaitAdvance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Thread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sleep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long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Math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random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*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1000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"Participant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phase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 arrived at phase 2"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phaser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arriveAndAwaitAdvance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Thread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sleep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long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Math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random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*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1000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"Participant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phase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 arrived at phase 3"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phaser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arriveAndDeregister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catch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Exception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}).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start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"Main thread waiting for phase 1"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phaser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arriveAndAwaitAdvance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"Phase 1 completed"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"Main thread waiting for phase 2"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phaser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arriveAndAwaitAdvance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"Phase 2 completed"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"Main thread waiting for phase 3"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phaser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arriveAndAwaitAdvance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"All phases completed"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6. </a:t>
            </a:r>
            <a:r>
              <a:rPr lang="en-US" b="0" i="1" dirty="0" err="1">
                <a:solidFill>
                  <a:srgbClr val="A0A1A7"/>
                </a:solidFill>
                <a:effectLst/>
                <a:latin typeface="Menlo"/>
              </a:rPr>
              <a:t>CompletableFuture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"\n6. 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CompletableFuture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 - Asynchronous programming:"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CompletableFuture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supplyAsync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"Task 1 running on: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Thread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currentThread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}).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thenApplyAsync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result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"Task 2 running on: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Thread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currentThread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result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*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}).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thenAcceptAsync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result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"Task 3 running on: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Thread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currentThread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"Final result: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result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}).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join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Combine multiple </a:t>
            </a:r>
            <a:r>
              <a:rPr lang="en-US" b="0" i="1" dirty="0" err="1">
                <a:solidFill>
                  <a:srgbClr val="A0A1A7"/>
                </a:solidFill>
                <a:effectLst/>
                <a:latin typeface="Menlo"/>
              </a:rPr>
              <a:t>CompletableFutures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CompletableFuture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Integer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future1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CompletableFuture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supplyAsync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sleep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1000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20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CompletableFuture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Integer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future2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CompletableFuture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supplyAsync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sleep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1500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30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CompletableFuture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Integer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future3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CompletableFuture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supplyAsync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sleep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500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40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CompletableFuture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allFutures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CompletableFuture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allOf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future1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future2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future3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allFutures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thenRun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try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sum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future1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get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future2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get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future3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get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"Sum of all futures: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sum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catch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Exception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}).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join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sleep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long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millis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try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Thread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sleep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millis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catch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InterruptedException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</p:txBody>
      </p:sp>
    </p:spTree>
    <p:extLst>
      <p:ext uri="{BB962C8B-B14F-4D97-AF65-F5344CB8AC3E}">
        <p14:creationId xmlns:p14="http://schemas.microsoft.com/office/powerpoint/2010/main" val="2030845308"/>
      </p:ext>
    </p:extLst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10D92DC-5F54-1150-3E2B-D0217D6B462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63B5C200-63EB-19C6-115B-718813D860FC}"/>
              </a:ext>
            </a:extLst>
          </p:cNvPr>
          <p:cNvSpPr txBox="1"/>
          <p:nvPr/>
        </p:nvSpPr>
        <p:spPr>
          <a:xfrm>
            <a:off x="2477069" y="-55907550"/>
            <a:ext cx="4954136" cy="11867992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lnSpc>
                <a:spcPts val="2250"/>
              </a:lnSpc>
              <a:spcBef>
                <a:spcPts val="2400"/>
              </a:spcBef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Exercise 8.6: Producer-Consumer Problem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Complete implementation of producer-consumer pattern.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Solution: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>
              <a:lnSpc>
                <a:spcPts val="13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java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import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java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util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concurrent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*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import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java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util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*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1. Using wait() and notify()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TraditionalBuffer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LinkedList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Integer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buffer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LinkedList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&lt;&gt;();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capacity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TraditionalBuffer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capacity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capacity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capacity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produce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item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throws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InterruptedException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synchronized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while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buffer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size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capacity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"Buffer full. Producer waiting..."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wait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buffer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add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item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"Produced: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item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 | Buffer size: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buffer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size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notifyAll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Notify consumers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consume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throws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InterruptedException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synchronized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while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buffer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isEmpty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"Buffer empty. Consumer waiting..."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wait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item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buffer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removeFirst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"Consumed: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item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 | Buffer size: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buffer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size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notifyAll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Notify producers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item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2. Using BlockingQueue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BlockingQueueBuffer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BlockingQueue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Integer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queue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BlockingQueueBuffer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capacity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queue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ArrayBlockingQueue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&lt;&gt;(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capacity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produce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item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throws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InterruptedException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queue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put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item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"Produced: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item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 | Queue size: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queue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size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consume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throws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InterruptedException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item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queue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take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"Consumed: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item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 | Queue size: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queue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size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item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3. Using Lock and Condition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LockConditionBuffer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LinkedList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Integer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buffer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LinkedList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&lt;&gt;();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capacity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final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Lock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lock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ReentrantLock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final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Condition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notFull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lock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newCondition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final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Condition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notEmpty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lock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newCondition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LockConditionBuffer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capacity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capacity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capacity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produce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item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throws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InterruptedException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lock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lock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try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while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buffer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size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capacity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"Buffer full. Producer waiting..."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notFull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await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buffer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add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item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"Produced: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item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 | Buffer size: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buffer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size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notEmpty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signalAll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finally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lock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unlock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consume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throws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InterruptedException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lock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lock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try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while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buffer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isEmpty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"Buffer empty. Consumer waiting..."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notEmpty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await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item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buffer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removeFirst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"Consumed: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item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 | Buffer size: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buffer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size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notFull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signalAll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item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finally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lock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unlock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ProducerConsumerDemo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main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[]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args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"=== PRODUCER-CONSUMER DEMO ===\n"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Test different implementations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testTraditional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testBlockingQueue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testLockCondition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testTraditional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"\n1. Traditional wait/notify:"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TraditionalBuffer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buffer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TraditionalBuffer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5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Thread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producer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Thread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try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&lt;=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++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buffer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produce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Thread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sleep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long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Math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random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*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500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catch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InterruptedException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Thread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consumer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Thread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try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&lt;=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++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buffer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consume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Thread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sleep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long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Math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random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*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1000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catch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InterruptedException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producer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start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consumer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start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try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producer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join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consumer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join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catch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InterruptedException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testBlockingQueue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"\n2. BlockingQueue:"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BlockingQueueBuffer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buffer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BlockingQueueBuffer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5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Multiple producers and consumers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ExecutorService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executor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Executors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newFixedThreadPool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6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3 producers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p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p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&lt;=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3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p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++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final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producerId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executor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submit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try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&lt;=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5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++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buffer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produce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producerId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*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100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Thread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sleep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long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Math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random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*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500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catch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InterruptedException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3 consumers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c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c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&lt;=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3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++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executor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submit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try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&lt;=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5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++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buffer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consume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Thread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sleep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long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Math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random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*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800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catch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InterruptedException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executor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shutdown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try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executor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awaitTermination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TimeUnit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SECONDS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catch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InterruptedException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testLockCondition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"\n3. Lock and Condition:"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LockConditionBuffer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buffer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LockConditionBuffer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3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Producer with variable production rate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Thread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fastProducer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Thread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try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&lt;=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8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++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buffer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produce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Thread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sleep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200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catch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InterruptedException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FastProducer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Thread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slowConsumer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Thread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try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&lt;=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8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++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buffer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consume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Thread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sleep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800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catch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InterruptedException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SlowConsumer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fastProducer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start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slowConsumer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start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try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fastProducer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join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slowConsumer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join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catch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InterruptedException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</p:txBody>
      </p:sp>
    </p:spTree>
    <p:extLst>
      <p:ext uri="{BB962C8B-B14F-4D97-AF65-F5344CB8AC3E}">
        <p14:creationId xmlns:p14="http://schemas.microsoft.com/office/powerpoint/2010/main" val="939417560"/>
      </p:ext>
    </p:extLst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2E69C64-8DDE-13EF-04ED-E030FEAF914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E9D81204-2773-DEDC-0844-1877593EAB8E}"/>
              </a:ext>
            </a:extLst>
          </p:cNvPr>
          <p:cNvSpPr txBox="1"/>
          <p:nvPr/>
        </p:nvSpPr>
        <p:spPr>
          <a:xfrm>
            <a:off x="2477069" y="-5086587"/>
            <a:ext cx="4954136" cy="1703799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lnSpc>
                <a:spcPts val="2250"/>
              </a:lnSpc>
              <a:spcBef>
                <a:spcPts val="2400"/>
              </a:spcBef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Practice Exercises - Try These Yourself:</a:t>
            </a:r>
          </a:p>
          <a:p>
            <a:pPr algn="l">
              <a:lnSpc>
                <a:spcPts val="2100"/>
              </a:lnSpc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Exercise 8.7: Web Crawler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Create a multi-threaded web crawler that fetches multiple URLs concurrently.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Requirements: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>
              <a:spcBef>
                <a:spcPts val="120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Use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quote-cjk-patch"/>
              </a:rPr>
              <a:t>ExecutorService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 for thread pool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Implement polite crawling (respect robots.txt)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Track visited URLs to avoid duplicates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Save results to files</a:t>
            </a:r>
          </a:p>
          <a:p>
            <a:pPr algn="l">
              <a:lnSpc>
                <a:spcPts val="2100"/>
              </a:lnSpc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Exercise 8.8: Bank Transaction System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Implement a thread-safe banking system with multiple accounts.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Requirements: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>
              <a:spcBef>
                <a:spcPts val="120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Support concurrent deposits, withdrawals, transfers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Prevent deadlocks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Generate transaction reports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Handle race conditions</a:t>
            </a:r>
          </a:p>
          <a:p>
            <a:pPr algn="l">
              <a:lnSpc>
                <a:spcPts val="2100"/>
              </a:lnSpc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Exercise 8.9: Parallel Array Processing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Process large arrays in parallel using multiple threads.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Requirements: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>
              <a:spcBef>
                <a:spcPts val="120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Split array into chunks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Process each chunk in separate thread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Combine results efficiently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Compare performance with single-threaded version</a:t>
            </a:r>
          </a:p>
          <a:p>
            <a:pPr algn="l">
              <a:lnSpc>
                <a:spcPts val="2100"/>
              </a:lnSpc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Exercise 8.10: Chat Server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Create a simple multi-threaded chat server.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Requirements: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>
              <a:spcBef>
                <a:spcPts val="120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Handle multiple clients concurrently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Broadcast messages to all clients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Track online users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Handle client disconnections gracefully</a:t>
            </a:r>
          </a:p>
        </p:txBody>
      </p:sp>
    </p:spTree>
    <p:extLst>
      <p:ext uri="{BB962C8B-B14F-4D97-AF65-F5344CB8AC3E}">
        <p14:creationId xmlns:p14="http://schemas.microsoft.com/office/powerpoint/2010/main" val="519649389"/>
      </p:ext>
    </p:extLst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1E08D3A-A235-1877-D051-FCC3A9ADADB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37D86049-C257-E79C-6A3A-33468E206E2D}"/>
              </a:ext>
            </a:extLst>
          </p:cNvPr>
          <p:cNvSpPr txBox="1"/>
          <p:nvPr/>
        </p:nvSpPr>
        <p:spPr>
          <a:xfrm>
            <a:off x="2477069" y="-31944580"/>
            <a:ext cx="4954136" cy="7075398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lnSpc>
                <a:spcPts val="2250"/>
              </a:lnSpc>
              <a:spcBef>
                <a:spcPts val="2400"/>
              </a:spcBef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Solutions to Practice Exercises: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Solution 8.7: Web Crawler (Simplified)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>
              <a:lnSpc>
                <a:spcPts val="13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java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import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java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util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*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import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java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util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concurrent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*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import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java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net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*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import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java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io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*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WebCrawler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Set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visitedUrls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ConcurrentHashMap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newKeySet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BlockingQueue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urlQueue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LinkedBlockingQueue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&lt;&gt;();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ExecutorService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executor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maxPages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pagesCrawled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final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Object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lock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Object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WebCrawler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threadCount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maxPages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executor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Executors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newFixedThreadPool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threadCount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maxPages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maxPages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startCrawling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seedUrl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urlQueue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add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seedUrl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maxPages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++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executor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submit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CrawlerTask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executor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shutdown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try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executor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awaitTermination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TimeUnit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HOURS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catch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InterruptedException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printStackTrace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CrawlerTask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implements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Runnable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@Override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run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while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pagesCrawled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maxPages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try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url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urlQueue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poll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TimeUnit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SECONDS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url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null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break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visitedUrls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add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url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   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crawl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url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synchronized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lock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pagesCrawled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++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pagesCrawled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&gt;=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maxPages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break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catch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InterruptedException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Thread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currentThread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interrupt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break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crawl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urlString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try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URL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url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URL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urlString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HttpURLConnection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connection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HttpURLConnection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url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openConnection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connection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setRequestMethod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"GET"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connection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setConnectTimeout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5000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responseCode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connection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getResponseCode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responseCode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200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content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readContent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connection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printf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"Thread %s crawled: %s (%d chars)%n"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Thread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currentThread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urlString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content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length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Extract and add new URLs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extractUrls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content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forEach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urlQueue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::add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Save content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saveContent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urlString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content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connection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disconnect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catch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Exception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err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"Error crawling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urlString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getMessage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readContent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HttpURLConnection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connection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throws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IOException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StringBuilder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content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StringBuilder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try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BufferedReader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reader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BufferedReader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InputStreamReader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connection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getInputStream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())))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line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while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line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reader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readLine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!=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null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content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append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line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append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"\n"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content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toString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extractUrls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content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urls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ArrayList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&lt;&gt;();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Simple URL extraction (in practice, use regex or HTML parser)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urlPattern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"https?://[\\w\\-._~:/?#\\[\\]@!$&amp;'()*+,;=]+"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java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util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regex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Pattern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pattern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java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util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regex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Pattern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compile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urlPattern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java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util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regex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Matcher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matcher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pattern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matcher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content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while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matcher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find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urls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add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matcher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group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urls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saveContent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url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content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filename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"crawled/"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url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replaceAll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"https?://"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replaceAll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"[^a-zA-Z0-9]"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"_"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".html"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try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PrintWriter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writer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PrintWriter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FileWriter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filename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writer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"&lt;!-- Source: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url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 --&gt;"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writer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content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catch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IOException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printStackTrace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main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[]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args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WebCrawler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crawler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WebCrawler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5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50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crawler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startCrawling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"https://example.com"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</p:txBody>
      </p:sp>
    </p:spTree>
    <p:extLst>
      <p:ext uri="{BB962C8B-B14F-4D97-AF65-F5344CB8AC3E}">
        <p14:creationId xmlns:p14="http://schemas.microsoft.com/office/powerpoint/2010/main" val="1897634299"/>
      </p:ext>
    </p:extLst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0F26905-7CCD-FCB2-1A7E-E8BB36BCA07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EC1FAF42-4A6B-AD29-46E2-A3F8B6526F27}"/>
              </a:ext>
            </a:extLst>
          </p:cNvPr>
          <p:cNvSpPr txBox="1"/>
          <p:nvPr/>
        </p:nvSpPr>
        <p:spPr>
          <a:xfrm>
            <a:off x="2477069" y="521359"/>
            <a:ext cx="4954136" cy="582210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lnSpc>
                <a:spcPts val="2250"/>
              </a:lnSpc>
              <a:spcBef>
                <a:spcPts val="2400"/>
              </a:spcBef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Key Takeaways from Topic 8: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Thread Safety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: Use synchronization when multiple threads access shared data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1" i="0" dirty="0" err="1">
                <a:solidFill>
                  <a:srgbClr val="0F1115"/>
                </a:solidFill>
                <a:effectLst/>
                <a:latin typeface="quote-cjk-patch"/>
              </a:rPr>
              <a:t>ExecutorService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: Prefer over manual thread creation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Concurrent Collections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: Use instead of synchronizing collections manually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Deadlock Prevention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: Lock ordering, timeouts, avoid nested locks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Thread Pools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: Match pool size to workload (CPU vs I/O bound)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Atomic Classes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: For simple counters and flags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Volatile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: For visibility, not atomicity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Immutable Objects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: Thread-safe by design</a:t>
            </a:r>
          </a:p>
        </p:txBody>
      </p:sp>
    </p:spTree>
    <p:extLst>
      <p:ext uri="{BB962C8B-B14F-4D97-AF65-F5344CB8AC3E}">
        <p14:creationId xmlns:p14="http://schemas.microsoft.com/office/powerpoint/2010/main" val="1654257372"/>
      </p:ext>
    </p:extLst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456F266-AAFE-19DB-00DC-19E75491FCA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CDA4940F-28A6-C4FF-5C06-87EF8382CFCC}"/>
              </a:ext>
            </a:extLst>
          </p:cNvPr>
          <p:cNvGraphicFramePr>
            <a:graphicFrameLocks noGrp="1"/>
          </p:cNvGraphicFramePr>
          <p:nvPr/>
        </p:nvGraphicFramePr>
        <p:xfrm>
          <a:off x="2087880" y="2185194"/>
          <a:ext cx="5730240" cy="3632200"/>
        </p:xfrm>
        <a:graphic>
          <a:graphicData uri="http://schemas.openxmlformats.org/drawingml/2006/table">
            <a:tbl>
              <a:tblPr/>
              <a:tblGrid>
                <a:gridCol w="2865120">
                  <a:extLst>
                    <a:ext uri="{9D8B030D-6E8A-4147-A177-3AD203B41FA5}">
                      <a16:colId xmlns:a16="http://schemas.microsoft.com/office/drawing/2014/main" val="3517507611"/>
                    </a:ext>
                  </a:extLst>
                </a:gridCol>
                <a:gridCol w="2865120">
                  <a:extLst>
                    <a:ext uri="{9D8B030D-6E8A-4147-A177-3AD203B41FA5}">
                      <a16:colId xmlns:a16="http://schemas.microsoft.com/office/drawing/2014/main" val="1404899766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l">
                        <a:lnSpc>
                          <a:spcPts val="1875"/>
                        </a:lnSpc>
                        <a:buNone/>
                      </a:pPr>
                      <a:r>
                        <a:rPr lang="en-US" b="0">
                          <a:effectLst/>
                          <a:latin typeface="quote-cjk-patch"/>
                        </a:rPr>
                        <a:t>Scenario</a:t>
                      </a:r>
                    </a:p>
                  </a:txBody>
                  <a:tcPr marR="121920" marT="76200" marB="7620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ts val="1875"/>
                        </a:lnSpc>
                        <a:buNone/>
                      </a:pPr>
                      <a:r>
                        <a:rPr lang="en-US" b="0">
                          <a:effectLst/>
                          <a:latin typeface="quote-cjk-patch"/>
                        </a:rPr>
                        <a:t>Solution</a:t>
                      </a:r>
                    </a:p>
                  </a:txBody>
                  <a:tcPr marL="121920" marR="121920" marT="76200" marB="7620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450217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lnSpc>
                          <a:spcPts val="1875"/>
                        </a:lnSpc>
                        <a:buNone/>
                      </a:pPr>
                      <a:r>
                        <a:rPr lang="en-US" b="0">
                          <a:effectLst/>
                          <a:latin typeface="quote-cjk-patch"/>
                        </a:rPr>
                        <a:t>Simple counter</a:t>
                      </a:r>
                    </a:p>
                  </a:txBody>
                  <a:tcPr marR="121920" marT="76200" marB="7620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875"/>
                        </a:lnSpc>
                        <a:buNone/>
                      </a:pPr>
                      <a:r>
                        <a:rPr lang="en-US" b="0">
                          <a:effectLst/>
                          <a:latin typeface="quote-cjk-patch"/>
                        </a:rPr>
                        <a:t>AtomicInteger</a:t>
                      </a:r>
                    </a:p>
                  </a:txBody>
                  <a:tcPr marL="121920" marT="76200" marB="7620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0613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lnSpc>
                          <a:spcPts val="1875"/>
                        </a:lnSpc>
                        <a:buNone/>
                      </a:pPr>
                      <a:r>
                        <a:rPr lang="en-US" b="0">
                          <a:effectLst/>
                          <a:latin typeface="quote-cjk-patch"/>
                        </a:rPr>
                        <a:t>Shared collection</a:t>
                      </a:r>
                    </a:p>
                  </a:txBody>
                  <a:tcPr marR="121920" marT="76200" marB="7620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875"/>
                        </a:lnSpc>
                        <a:buNone/>
                      </a:pPr>
                      <a:r>
                        <a:rPr lang="en-US" b="0">
                          <a:effectLst/>
                          <a:latin typeface="quote-cjk-patch"/>
                        </a:rPr>
                        <a:t>ConcurrentHashMap, CopyOnWriteArrayList</a:t>
                      </a:r>
                    </a:p>
                  </a:txBody>
                  <a:tcPr marL="121920" marT="76200" marB="7620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9562132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lnSpc>
                          <a:spcPts val="1875"/>
                        </a:lnSpc>
                        <a:buNone/>
                      </a:pPr>
                      <a:r>
                        <a:rPr lang="en-US" b="0">
                          <a:effectLst/>
                          <a:latin typeface="quote-cjk-patch"/>
                        </a:rPr>
                        <a:t>Complex synchronization</a:t>
                      </a:r>
                    </a:p>
                  </a:txBody>
                  <a:tcPr marR="121920" marT="76200" marB="7620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875"/>
                        </a:lnSpc>
                        <a:buNone/>
                      </a:pPr>
                      <a:r>
                        <a:rPr lang="en-US" b="0">
                          <a:effectLst/>
                          <a:latin typeface="quote-cjk-patch"/>
                        </a:rPr>
                        <a:t>ReentrantLock</a:t>
                      </a:r>
                    </a:p>
                  </a:txBody>
                  <a:tcPr marL="121920" marT="76200" marB="7620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6639317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lnSpc>
                          <a:spcPts val="1875"/>
                        </a:lnSpc>
                        <a:buNone/>
                      </a:pPr>
                      <a:r>
                        <a:rPr lang="en-US" b="0">
                          <a:effectLst/>
                          <a:latin typeface="quote-cjk-patch"/>
                        </a:rPr>
                        <a:t>Wait for threads</a:t>
                      </a:r>
                    </a:p>
                  </a:txBody>
                  <a:tcPr marR="121920" marT="76200" marB="7620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875"/>
                        </a:lnSpc>
                        <a:buNone/>
                      </a:pPr>
                      <a:r>
                        <a:rPr lang="en-US" b="0">
                          <a:effectLst/>
                          <a:latin typeface="quote-cjk-patch"/>
                        </a:rPr>
                        <a:t>CountDownLatch, CyclicBarrier</a:t>
                      </a:r>
                    </a:p>
                  </a:txBody>
                  <a:tcPr marL="121920" marT="76200" marB="7620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167500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lnSpc>
                          <a:spcPts val="1875"/>
                        </a:lnSpc>
                        <a:buNone/>
                      </a:pPr>
                      <a:r>
                        <a:rPr lang="en-US" b="0">
                          <a:effectLst/>
                          <a:latin typeface="quote-cjk-patch"/>
                        </a:rPr>
                        <a:t>Resource limiting</a:t>
                      </a:r>
                    </a:p>
                  </a:txBody>
                  <a:tcPr marR="121920" marT="76200" marB="7620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875"/>
                        </a:lnSpc>
                        <a:buNone/>
                      </a:pPr>
                      <a:r>
                        <a:rPr lang="en-US" b="0">
                          <a:effectLst/>
                          <a:latin typeface="quote-cjk-patch"/>
                        </a:rPr>
                        <a:t>Semaphore</a:t>
                      </a:r>
                    </a:p>
                  </a:txBody>
                  <a:tcPr marL="121920" marT="76200" marB="7620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8706699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lnSpc>
                          <a:spcPts val="1875"/>
                        </a:lnSpc>
                        <a:buNone/>
                      </a:pPr>
                      <a:r>
                        <a:rPr lang="en-US" b="0">
                          <a:effectLst/>
                          <a:latin typeface="quote-cjk-patch"/>
                        </a:rPr>
                        <a:t>Producer-consumer</a:t>
                      </a:r>
                    </a:p>
                  </a:txBody>
                  <a:tcPr marR="121920" marT="76200" marB="7620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875"/>
                        </a:lnSpc>
                        <a:buNone/>
                      </a:pPr>
                      <a:r>
                        <a:rPr lang="en-US" b="0">
                          <a:effectLst/>
                          <a:latin typeface="quote-cjk-patch"/>
                        </a:rPr>
                        <a:t>BlockingQueue</a:t>
                      </a:r>
                    </a:p>
                  </a:txBody>
                  <a:tcPr marL="121920" marT="76200" marB="7620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362242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lnSpc>
                          <a:spcPts val="1875"/>
                        </a:lnSpc>
                        <a:buNone/>
                      </a:pPr>
                      <a:r>
                        <a:rPr lang="en-US" b="0">
                          <a:effectLst/>
                          <a:latin typeface="quote-cjk-patch"/>
                        </a:rPr>
                        <a:t>Async computations</a:t>
                      </a:r>
                    </a:p>
                  </a:txBody>
                  <a:tcPr marR="121920" marT="76200" marB="7620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875"/>
                        </a:lnSpc>
                        <a:buNone/>
                      </a:pPr>
                      <a:r>
                        <a:rPr lang="en-US" b="0" dirty="0" err="1">
                          <a:effectLst/>
                          <a:latin typeface="quote-cjk-patch"/>
                        </a:rPr>
                        <a:t>CompletableFuture</a:t>
                      </a:r>
                      <a:endParaRPr lang="en-US" b="0" dirty="0">
                        <a:effectLst/>
                        <a:latin typeface="quote-cjk-patch"/>
                      </a:endParaRPr>
                    </a:p>
                  </a:txBody>
                  <a:tcPr marL="121920" marT="76200" marB="7620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34216554"/>
                  </a:ext>
                </a:extLst>
              </a:tr>
            </a:tbl>
          </a:graphicData>
        </a:graphic>
      </p:graphicFrame>
      <p:sp>
        <p:nvSpPr>
          <p:cNvPr id="5" name="Rectangle 1">
            <a:extLst>
              <a:ext uri="{FF2B5EF4-FFF2-40B4-BE49-F238E27FC236}">
                <a16:creationId xmlns:a16="http://schemas.microsoft.com/office/drawing/2014/main" id="{0A81AB87-8643-5B85-0B96-234B2EB30F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87563" y="2185988"/>
            <a:ext cx="9906000" cy="4572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203136" rIns="0" bIns="101568" numCol="1" anchor="ctr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1" i="0" u="none" strike="noStrike" cap="none" normalizeH="0" baseline="0">
                <a:ln>
                  <a:noFill/>
                </a:ln>
                <a:solidFill>
                  <a:srgbClr val="0F1115"/>
                </a:solidFill>
                <a:effectLst/>
                <a:latin typeface="quote-cjk-patch"/>
              </a:rPr>
              <a:t>Thread Safety Guidelines: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93219724"/>
      </p:ext>
    </p:extLst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B90D1BF-A172-3FF0-903F-2AD081E8C22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18A421DA-052D-27DA-8EB5-2987A4CDC200}"/>
              </a:ext>
            </a:extLst>
          </p:cNvPr>
          <p:cNvSpPr txBox="1"/>
          <p:nvPr/>
        </p:nvSpPr>
        <p:spPr>
          <a:xfrm>
            <a:off x="2477069" y="-2392259"/>
            <a:ext cx="4954136" cy="116493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lnSpc>
                <a:spcPts val="2250"/>
              </a:lnSpc>
              <a:spcBef>
                <a:spcPts val="2400"/>
              </a:spcBef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Performance Considerations: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Fine-grained locking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: Better concurrency, more complex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Coarse-grained locking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: Simpler, less concurrency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Lock-free algorithms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: Best performance, hardest to implement</a:t>
            </a:r>
          </a:p>
          <a:p>
            <a:pPr algn="l">
              <a:spcBef>
                <a:spcPts val="45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Thread pool sizing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:</a:t>
            </a:r>
          </a:p>
          <a:p>
            <a:pPr marL="742950" lvl="1" indent="-285750" algn="l">
              <a:spcBef>
                <a:spcPts val="30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CPU-bound: Number of cores</a:t>
            </a:r>
          </a:p>
          <a:p>
            <a:pPr marL="742950" lvl="1" indent="-285750"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I/O-bound: Higher number (2-4x cores)</a:t>
            </a:r>
          </a:p>
          <a:p>
            <a:pPr algn="l">
              <a:lnSpc>
                <a:spcPts val="2250"/>
              </a:lnSpc>
              <a:spcBef>
                <a:spcPts val="2400"/>
              </a:spcBef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Common Pitfalls: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Deadlock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: Threads waiting for each other's locks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1" i="0" dirty="0" err="1">
                <a:solidFill>
                  <a:srgbClr val="0F1115"/>
                </a:solidFill>
                <a:effectLst/>
                <a:latin typeface="quote-cjk-patch"/>
              </a:rPr>
              <a:t>Livelock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: Threads constantly changing state in response to others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Starvation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: Some threads never get CPU time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Race conditions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: Incorrect timing leads to wrong results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Memory consistency errors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: Unsynchronized access to shared memory</a:t>
            </a:r>
          </a:p>
          <a:p>
            <a:pPr algn="l">
              <a:lnSpc>
                <a:spcPts val="2250"/>
              </a:lnSpc>
              <a:spcBef>
                <a:spcPts val="2400"/>
              </a:spcBef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Additional Challenges: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Implement a thread pool from scratch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Create a parallel merge sort algorithm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Build a rate limiter using Semaphore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Implement a distributed counter using atomic operations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Create a thread-safe object pool</a:t>
            </a:r>
          </a:p>
        </p:txBody>
      </p:sp>
    </p:spTree>
    <p:extLst>
      <p:ext uri="{BB962C8B-B14F-4D97-AF65-F5344CB8AC3E}">
        <p14:creationId xmlns:p14="http://schemas.microsoft.com/office/powerpoint/2010/main" val="345403714"/>
      </p:ext>
    </p:extLst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1370E42-E71B-A766-657B-A4466062A4C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D6281D5E-A323-28BF-3069-A287F0A36D84}"/>
              </a:ext>
            </a:extLst>
          </p:cNvPr>
          <p:cNvSpPr txBox="1"/>
          <p:nvPr/>
        </p:nvSpPr>
        <p:spPr>
          <a:xfrm>
            <a:off x="2477069" y="-1489448"/>
            <a:ext cx="4954136" cy="98437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lnSpc>
                <a:spcPts val="2400"/>
              </a:lnSpc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Topic 9: Lambda Expressions and Stream API</a:t>
            </a:r>
          </a:p>
          <a:p>
            <a:pPr algn="l">
              <a:lnSpc>
                <a:spcPts val="2250"/>
              </a:lnSpc>
              <a:spcBef>
                <a:spcPts val="2400"/>
              </a:spcBef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Concepts Overview:</a:t>
            </a:r>
          </a:p>
          <a:p>
            <a:pPr algn="l">
              <a:lnSpc>
                <a:spcPts val="2100"/>
              </a:lnSpc>
              <a:spcBef>
                <a:spcPts val="1200"/>
              </a:spcBef>
              <a:spcAft>
                <a:spcPts val="6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1. Lambda Expressions</a:t>
            </a:r>
          </a:p>
          <a:p>
            <a:pPr algn="l">
              <a:lnSpc>
                <a:spcPts val="1650"/>
              </a:lnSpc>
              <a:spcBef>
                <a:spcPts val="60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Syntax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: 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(parameters) -&gt; expression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 or 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(parameters) -&gt; { statements; }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Functional Interface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: Interface with single abstract method</a:t>
            </a:r>
          </a:p>
          <a:p>
            <a:pPr algn="l">
              <a:lnSpc>
                <a:spcPts val="1650"/>
              </a:lnSpc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Method References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: 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ClassName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::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methodName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>
              <a:lnSpc>
                <a:spcPts val="1650"/>
              </a:lnSpc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Constructor References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: 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ClassName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::new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>
              <a:lnSpc>
                <a:spcPts val="2100"/>
              </a:lnSpc>
              <a:spcBef>
                <a:spcPts val="1200"/>
              </a:spcBef>
              <a:spcAft>
                <a:spcPts val="6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2. Stream API</a:t>
            </a:r>
          </a:p>
          <a:p>
            <a:pPr algn="l">
              <a:spcBef>
                <a:spcPts val="60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Stream Pipeline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: Source → Intermediate Operations → Terminal Operation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Intermediate Operations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: filter, map, sorted, distinct, limit, skip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Terminal Operations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: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quote-cjk-patch"/>
              </a:rPr>
              <a:t>forEach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, collect, reduce, count,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quote-cjk-patch"/>
              </a:rPr>
              <a:t>anyMatch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,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quote-cjk-patch"/>
              </a:rPr>
              <a:t>findFirst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Parallel Streams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: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quote-cjk-patch"/>
              </a:rPr>
              <a:t>parallelStream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() for concurrent processing</a:t>
            </a:r>
          </a:p>
          <a:p>
            <a:pPr algn="l">
              <a:lnSpc>
                <a:spcPts val="2100"/>
              </a:lnSpc>
              <a:spcBef>
                <a:spcPts val="1200"/>
              </a:spcBef>
              <a:spcAft>
                <a:spcPts val="6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3. Optional Class</a:t>
            </a:r>
          </a:p>
          <a:p>
            <a:pPr algn="l">
              <a:spcBef>
                <a:spcPts val="60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Container object that may or may not contain a value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Avoid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quote-cjk-patch"/>
              </a:rPr>
              <a:t>NullPointerException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Functional methods: map, filter,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quote-cjk-patch"/>
              </a:rPr>
              <a:t>ifPresent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,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quote-cjk-patch"/>
              </a:rPr>
              <a:t>orElse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</p:txBody>
      </p:sp>
    </p:spTree>
    <p:extLst>
      <p:ext uri="{BB962C8B-B14F-4D97-AF65-F5344CB8AC3E}">
        <p14:creationId xmlns:p14="http://schemas.microsoft.com/office/powerpoint/2010/main" val="1015820187"/>
      </p:ext>
    </p:extLst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4AE7962-935A-C6CA-3B98-1DCA176402A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644A22BB-4E50-FEF5-9D1F-E1CF60531AA6}"/>
              </a:ext>
            </a:extLst>
          </p:cNvPr>
          <p:cNvSpPr txBox="1"/>
          <p:nvPr/>
        </p:nvSpPr>
        <p:spPr>
          <a:xfrm>
            <a:off x="2477069" y="-28485941"/>
            <a:ext cx="4954136" cy="6383670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lnSpc>
                <a:spcPts val="2250"/>
              </a:lnSpc>
              <a:spcBef>
                <a:spcPts val="2400"/>
              </a:spcBef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Exercise 9.1: Lambda Expression Basics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Introduction to lambda syntax and functional interfaces.</a:t>
            </a:r>
          </a:p>
          <a:p>
            <a:pPr algn="l">
              <a:lnSpc>
                <a:spcPts val="13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java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import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java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util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*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import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java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util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function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*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LambdaBasics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main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[]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args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"=== LAMBDA EXPRESSION BASICS ===\n"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1. Different lambda syntaxes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"1. Lambda Syntax Variations:"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No parameters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Runnable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r1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"No parameters"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r1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run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Single parameter (parentheses optional)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Consumer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c1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msg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msg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c1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accept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"Single parameter"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Multiple parameters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BinaryOperator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Integer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add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a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b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b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"Add: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add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apply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5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3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Multiple statements with return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Function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Integer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Integer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factorial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result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&lt;=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++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result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*=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result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"Factorial of 5: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factorial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apply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5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2. Common Functional Interfaces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"\n2. Common Functional Interfaces:"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Predicate - test condition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Predicate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isEmpty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s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isEmpty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"Is empty: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isEmpty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test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Consumer - consume value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Consumer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printer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s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"Consumer: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printer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accept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"Hello"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Supplier - supply value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Supplier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random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Math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random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"Random: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random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Function - transform value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Function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Integer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length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s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length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"Length of 'Java':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length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apply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"Java"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</a:t>
            </a:r>
            <a:r>
              <a:rPr lang="en-US" b="0" i="1" dirty="0" err="1">
                <a:solidFill>
                  <a:srgbClr val="A0A1A7"/>
                </a:solidFill>
                <a:effectLst/>
                <a:latin typeface="Menlo"/>
              </a:rPr>
              <a:t>BiFunction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 - two inputs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BiFunction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Integer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Integer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comparator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a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b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b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?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"First is larger"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"Second is larger or equal"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"Compare 5 and 3: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comparator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apply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5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3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3. Method References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"\n3. Method References:"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names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Arrays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asList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"Alice"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"Bob"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"Charlie"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Static method reference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names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forEach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::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Instance method reference of a particular object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names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stream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map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::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toUpperCase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forEach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::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Instance method reference of an arbitrary object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names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stream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sorted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::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compareToIgnoreCase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forEach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::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Constructor reference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Supplier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listSupplier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ArrayList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::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newList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listSupplier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newList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add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"Created via constructor reference"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"New list: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newList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4. Lambda with custom functional interface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"\n4. Custom Functional Interface:"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MathOperation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addition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a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b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b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MathOperation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subtraction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a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b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b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MathOperation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multiplication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a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b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*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b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MathOperation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division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a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b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/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b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"10 + 5 =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operate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5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addition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"10 - 5 =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operate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5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subtraction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"10 * 5 =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operate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5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multiplication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"10 / 5 =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operate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5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division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5. Variable capture (effectively final)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"\n5. Variable Capture:"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multiplier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effectively final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Function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Integer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Integer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multiplyBy10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x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x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*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multiplier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"5 * 10 =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multiplyBy10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apply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5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This would cause error if uncommented: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multiplier = 20; // Can't modify captured variable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@FunctionalInterface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interface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MathOperation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operate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b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operate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b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MathOperation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op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op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operate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a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b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</p:txBody>
      </p:sp>
    </p:spTree>
    <p:extLst>
      <p:ext uri="{BB962C8B-B14F-4D97-AF65-F5344CB8AC3E}">
        <p14:creationId xmlns:p14="http://schemas.microsoft.com/office/powerpoint/2010/main" val="1814818361"/>
      </p:ext>
    </p:extLst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DDC3D3E-7A80-5937-D445-0BC611F6D27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5AEEB907-6478-D1D6-E2FF-5969CE92612A}"/>
              </a:ext>
            </a:extLst>
          </p:cNvPr>
          <p:cNvSpPr txBox="1"/>
          <p:nvPr/>
        </p:nvSpPr>
        <p:spPr>
          <a:xfrm>
            <a:off x="262284" y="-43496968"/>
            <a:ext cx="6818455" cy="8072594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lnSpc>
                <a:spcPts val="2250"/>
              </a:lnSpc>
              <a:spcBef>
                <a:spcPts val="2400"/>
              </a:spcBef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Exercise 9.2: Stream API Fundamentals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Basic stream operations and pipeline building.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Solution: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>
              <a:lnSpc>
                <a:spcPts val="13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java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import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java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util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*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import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java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util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stream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*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StreamBasics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main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[]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args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"=== STREAM API FUNDAMENTALS ===\n"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1. Creating Streams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"1. Creating Streams:"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From collection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list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Arrays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asList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"a"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"b"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"c"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Stream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stream1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list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stream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From array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[]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array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"x"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"y"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"z"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Stream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stream2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Arrays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stream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array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Using </a:t>
            </a:r>
            <a:r>
              <a:rPr lang="en-US" b="0" i="1" dirty="0" err="1">
                <a:solidFill>
                  <a:srgbClr val="A0A1A7"/>
                </a:solidFill>
                <a:effectLst/>
                <a:latin typeface="Menlo"/>
              </a:rPr>
              <a:t>Stream.of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Stream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Integer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stream3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Stream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of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3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4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5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Infinite streams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Stream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randomStream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Stream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generate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Math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::random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limit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5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Stream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Integer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iterateStream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Stream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iterate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limit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5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"Random numbers: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randomStream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collect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Collectors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toList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"Even numbers: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iterateStream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collect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Collectors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toList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2. Intermediate Operations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"\n2. Intermediate Operations:"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Integer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numbers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Arrays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asList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3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4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5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6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7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8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9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filter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Integer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evens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numbers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stream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filter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n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%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2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collect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Collectors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toList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"Evens: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evens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map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mapped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numbers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stream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map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n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"Number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collect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Collectors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toList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"Mapped: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mapped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subList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3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"..."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</a:t>
            </a:r>
            <a:r>
              <a:rPr lang="en-US" b="0" i="1" dirty="0" err="1">
                <a:solidFill>
                  <a:srgbClr val="A0A1A7"/>
                </a:solidFill>
                <a:effectLst/>
                <a:latin typeface="Menlo"/>
              </a:rPr>
              <a:t>flatMap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Integer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nested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Arrays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asList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Arrays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asList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Arrays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asList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3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4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Arrays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asList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5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6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Integer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flattened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nested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stream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flatMap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Collection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::stream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collect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Collectors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toList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"Flattened: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flattened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distinct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Integer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duplicates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Arrays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asList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3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3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3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4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Integer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distinct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duplicates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stream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distinct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collect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Collectors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toList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"Distinct: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distinct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sorted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Integer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unsorted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Arrays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asList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5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8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9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Integer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sorted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unsorted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stream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sorted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collect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Collectors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toList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"Sorted: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sorted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limit and skip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Integer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limited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numbers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stream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limit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5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collect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Collectors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toList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"First 5: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limited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Integer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skipped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numbers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stream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skip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5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collect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Collectors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toList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"Skip first 5: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skipped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peek (debugging)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Integer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peeked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numbers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stream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peek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n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"Processing: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", 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filter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n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%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2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peek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n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"Found even: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collect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Collectors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toList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3. Terminal Operations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"\n3. Terminal Operations:"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</a:t>
            </a:r>
            <a:r>
              <a:rPr lang="en-US" b="0" i="1" dirty="0" err="1">
                <a:solidFill>
                  <a:srgbClr val="A0A1A7"/>
                </a:solidFill>
                <a:effectLst/>
                <a:latin typeface="Menlo"/>
              </a:rPr>
              <a:t>forEach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forEach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: 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numbers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stream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limit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5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forEach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n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n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 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collect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Set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Integer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set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numbers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stream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collect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Collectors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toSet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"Collect to Set: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set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reduce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Optional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Integer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sum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numbers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stream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reduce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a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b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b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"Sum (reduce):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sum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orElse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count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long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count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numbers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stream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filter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n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5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count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"Count &gt; 5: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count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</a:t>
            </a:r>
            <a:r>
              <a:rPr lang="en-US" b="0" i="1" dirty="0" err="1">
                <a:solidFill>
                  <a:srgbClr val="A0A1A7"/>
                </a:solidFill>
                <a:effectLst/>
                <a:latin typeface="Menlo"/>
              </a:rPr>
              <a:t>anyMatch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, </a:t>
            </a:r>
            <a:r>
              <a:rPr lang="en-US" b="0" i="1" dirty="0" err="1">
                <a:solidFill>
                  <a:srgbClr val="A0A1A7"/>
                </a:solidFill>
                <a:effectLst/>
                <a:latin typeface="Menlo"/>
              </a:rPr>
              <a:t>allMatch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, </a:t>
            </a:r>
            <a:r>
              <a:rPr lang="en-US" b="0" i="1" dirty="0" err="1">
                <a:solidFill>
                  <a:srgbClr val="A0A1A7"/>
                </a:solidFill>
                <a:effectLst/>
                <a:latin typeface="Menlo"/>
              </a:rPr>
              <a:t>noneMatch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boolean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anyEven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numbers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stream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anyMatch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n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%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2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boolean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allPositive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numbers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stream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allMatch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n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boolean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noneNegative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numbers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stream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noneMatch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n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"Any even?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anyEven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"All positive?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allPositive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"None negative?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noneNegative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</a:t>
            </a:r>
            <a:r>
              <a:rPr lang="en-US" b="0" i="1" dirty="0" err="1">
                <a:solidFill>
                  <a:srgbClr val="A0A1A7"/>
                </a:solidFill>
                <a:effectLst/>
                <a:latin typeface="Menlo"/>
              </a:rPr>
              <a:t>findFirst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, </a:t>
            </a:r>
            <a:r>
              <a:rPr lang="en-US" b="0" i="1" dirty="0" err="1">
                <a:solidFill>
                  <a:srgbClr val="A0A1A7"/>
                </a:solidFill>
                <a:effectLst/>
                <a:latin typeface="Menlo"/>
              </a:rPr>
              <a:t>findAny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Optional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Integer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first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numbers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stream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filter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n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5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findFirst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"First &gt; 5: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first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orElse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Optional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Integer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any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numbers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parallelStream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filter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n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5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findAny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"Any &gt; 5: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any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orElse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min, max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Optional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Integer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min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numbers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stream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min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Integer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::compare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Optional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Integer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max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numbers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stream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max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Integer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::compare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"Min: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min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orElse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"Max: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max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orElse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4. Primitive Streams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"\n4. Primitive Streams:"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IntStream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intStream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IntStream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range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6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IntStream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 range: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intStream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boxed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collect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Collectors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toList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LongStream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longStream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LongStream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rangeClosed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5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LongStream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rangeClosed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longStream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boxed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collect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Collectors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toList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DoubleStream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doubleStream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DoubleStream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of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1.1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2.2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3.3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DoubleStream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 sum: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doubleStream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sum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Statistics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IntSummaryStatistics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stats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IntStream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range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100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summaryStatistics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"Statistics: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stats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</p:txBody>
      </p:sp>
    </p:spTree>
    <p:extLst>
      <p:ext uri="{BB962C8B-B14F-4D97-AF65-F5344CB8AC3E}">
        <p14:creationId xmlns:p14="http://schemas.microsoft.com/office/powerpoint/2010/main" val="2359052732"/>
      </p:ext>
    </p:extLst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8C39288-3934-3EE8-8DA0-8B55FB44D75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4465620A-69D6-D032-F7DF-5EF1EE3C1D4C}"/>
              </a:ext>
            </a:extLst>
          </p:cNvPr>
          <p:cNvSpPr txBox="1"/>
          <p:nvPr/>
        </p:nvSpPr>
        <p:spPr>
          <a:xfrm>
            <a:off x="2479431" y="-60543550"/>
            <a:ext cx="4958860" cy="12795682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lnSpc>
                <a:spcPts val="2250"/>
              </a:lnSpc>
              <a:spcBef>
                <a:spcPts val="2400"/>
              </a:spcBef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Exercise 9.3: Advanced Stream Operations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Complex stream operations and collectors.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Solution: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>
              <a:lnSpc>
                <a:spcPts val="13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java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import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java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util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*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import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java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util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stream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*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import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java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util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function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*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Person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age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city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salary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Person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age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city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salary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name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age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age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city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city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salary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salary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getAge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age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getCity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city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getSalary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salary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@Override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toString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format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"%s(%d,%s,%.0f)"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age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city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salary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Transaction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type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amount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currency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Transaction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type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amount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currency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type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type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amount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amount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currency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currency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getType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type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getAmount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amount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getCurrency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currency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@Override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toString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format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"%s %.2f %s"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type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amount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currency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AdvancedStreams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main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[]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args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"=== ADVANCED STREAM OPERATIONS ===\n"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Sample data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Person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people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Arrays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asList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Person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"Alice"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25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"New York"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50000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),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Person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"Bob"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30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"London"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60000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),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Person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"Charlie"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35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"New York"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70000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),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Person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"Diana"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28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"Paris"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55000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),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Person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"Eve"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32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"London"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65000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),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Person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"Frank"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40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"Tokyo"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80000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),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Person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"Grace"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29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"Paris"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58000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),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Person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"Henry"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45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"New York"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90000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1. Grouping By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"1. Grouping By:"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Group by city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Map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Person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byCity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people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stream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collect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Collectors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groupingBy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Person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::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getCity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nGrouped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 by city:"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byCity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forEach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city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persons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city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persons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Group by age range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Map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Person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byAgeRange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people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stream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collect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Collectors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groupingBy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p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p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getAge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30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"Under 30"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else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p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getAge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40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"30s"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else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"40 and above"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nGrouped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 by age range:"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byAgeRange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forEach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range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persons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range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persons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2. Partitioning By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"\n2. Partitioning By:"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Map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Boolean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Person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partitioned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people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stream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collect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Collectors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partitioningBy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p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p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getSalary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60000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"High salary (&gt;60k):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partitioned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true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"Low salary: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partitioned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false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3. Downstream Collectors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"\n3. Downstream Collectors:"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Counting per city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Map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Long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countByCity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people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stream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collect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Collectors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groupingBy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Person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::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getCity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Collectors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counting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"Count by city: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countByCity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Average salary by city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Map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avgSalaryByCity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people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stream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collect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Collectors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groupingBy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Person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::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getCity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Collectors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averagingDouble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Person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::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getSalary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"Average salary by city: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avgSalaryByCity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Sum of salaries by city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Map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sumSalaryByCity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people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stream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collect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Collectors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groupingBy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Person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::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getCity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Collectors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summingDouble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Person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::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getSalary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"Sum of salaries by city: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sumSalaryByCity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Min and max salary by city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Map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Optional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Person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minSalaryByCity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people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stream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collect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Collectors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groupingBy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Person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::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getCity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Collectors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minBy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Comparator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comparing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Person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::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getSalary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nMin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 salary by city:"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minSalaryByCity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forEach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city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person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city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person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orElse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null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4. Complex Collectors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"\n4. Complex Collectors:"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Join names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allNames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people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stream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map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Person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::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collect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Collectors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joining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", 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"All names: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allNames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Statistics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DoubleSummaryStatistics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salaryStats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people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stream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collect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Collectors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summarizingDouble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Person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::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getSalary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nSalary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 statistics: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salaryStats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Custom collector - mapping and then grouping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Map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Set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namesByCity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people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stream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collect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Collectors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groupingBy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Person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::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getCity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Collectors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mapping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Person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::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Collectors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toSet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nNames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 by city: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namesByCity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5. Reducing Operations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"\n5. Reducing Operations:"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Total salary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totalSalary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people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stream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mapToDouble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Person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::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getSalary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sum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"Total salary: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totalSalary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Average age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avgAge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people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stream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mapToInt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Person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::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getAge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average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orElse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"Average age: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avgAge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Oldest person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Optional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Person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oldest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people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stream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reduce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p1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p2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p1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getAge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p2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getAge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?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p1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p2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"Oldest: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oldest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orElse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null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6. Complex Filtering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"\n6. Complex Filtering:"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People in NY or London with salary &gt; 60000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Person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filtered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people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stream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filter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p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p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getCity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equals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"New York"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||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p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getCity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equals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"London"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filter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p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p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getSalary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60000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collect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Collectors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toList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"Filtered: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filtered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Find people with unique ages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Set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Integer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uniqueAges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people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stream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map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Person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::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getAge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collect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Collectors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toSet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Person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uniqueAgePeople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people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stream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filter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p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Collections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frequency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people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stream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map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Person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::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getAge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collect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Collectors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toList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p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getAge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collect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Collectors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toList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"Unique age people: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uniqueAgePeople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7. Parallel Streams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"\n7. Parallel Streams:"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long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startTime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currentTimeMillis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long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sequentialSum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people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stream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mapToDouble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Person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::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getSalary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sum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long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endTime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currentTimeMillis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"Sequential sum: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sequentialSum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     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 (Time: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endTime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startTime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ms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)"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startTime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currentTimeMillis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long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parallelSum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people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parallelStream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mapToDouble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Person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::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getSalary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sum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endTime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currentTimeMillis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"Parallel sum: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parallelSum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     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 (Time: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endTime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startTime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ms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)"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8. Custom Collector Example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"\n8. Custom Collector:"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Collect people into a map with name as key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Collector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Person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?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Map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Person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toMapByName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Collectors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toMap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Person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::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Function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identity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(),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existing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replacement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existing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Keep first if duplicate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Map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Person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nameMap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people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stream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collect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toMapByName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"Map by name: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nameMap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keySet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</p:txBody>
      </p:sp>
    </p:spTree>
    <p:extLst>
      <p:ext uri="{BB962C8B-B14F-4D97-AF65-F5344CB8AC3E}">
        <p14:creationId xmlns:p14="http://schemas.microsoft.com/office/powerpoint/2010/main" val="2903561146"/>
      </p:ext>
    </p:extLst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8444358-7458-9EBA-410C-00B1A20E7B4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89055E28-DE20-3DE6-78BF-9E979EFC0C36}"/>
              </a:ext>
            </a:extLst>
          </p:cNvPr>
          <p:cNvSpPr txBox="1"/>
          <p:nvPr/>
        </p:nvSpPr>
        <p:spPr>
          <a:xfrm>
            <a:off x="2479431" y="-59972881"/>
            <a:ext cx="4958860" cy="12681548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lnSpc>
                <a:spcPts val="2250"/>
              </a:lnSpc>
              <a:spcBef>
                <a:spcPts val="2400"/>
              </a:spcBef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Exercise 9.4: Optional Class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Using Optional to avoid null pointer exceptions.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Solution: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>
              <a:lnSpc>
                <a:spcPts val="13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java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import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java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util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*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import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java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util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stream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*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OptionalDemo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main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[]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args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"=== OPTIONAL CLASS DEMO ===\n"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1. Creating </a:t>
            </a:r>
            <a:r>
              <a:rPr lang="en-US" b="0" i="1" dirty="0" err="1">
                <a:solidFill>
                  <a:srgbClr val="A0A1A7"/>
                </a:solidFill>
                <a:effectLst/>
                <a:latin typeface="Menlo"/>
              </a:rPr>
              <a:t>Optionals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"1. Creating 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Optionals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:"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Empty Optional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Optional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empty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Optional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empty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"Empty: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empty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Optional with value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Optional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nonEmpty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Optional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of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"Hello"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"Non-empty: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nonEmpty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Optional that may be null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Optional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nullable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Optional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ofNullable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null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"Nullable (null):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nullable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2. Checking values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"\n2. Checking values:"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isPresent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nonEmpty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isPresent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isEmpty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empty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isEmpty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3. Getting values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"\n3. Getting values:"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get() - throws exception if empty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try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"Get from 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nonEmpty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nonEmpty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"Get from empty: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empty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catch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NoSuchElementException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"Error getting from empty: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getMessage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</a:t>
            </a:r>
            <a:r>
              <a:rPr lang="en-US" b="0" i="1" dirty="0" err="1">
                <a:solidFill>
                  <a:srgbClr val="A0A1A7"/>
                </a:solidFill>
                <a:effectLst/>
                <a:latin typeface="Menlo"/>
              </a:rPr>
              <a:t>orElse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 - provide default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orElse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 (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nonEmpty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):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nonEmpty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orElse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"Default"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orElse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 (empty):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empty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orElse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"Default"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</a:t>
            </a:r>
            <a:r>
              <a:rPr lang="en-US" b="0" i="1" dirty="0" err="1">
                <a:solidFill>
                  <a:srgbClr val="A0A1A7"/>
                </a:solidFill>
                <a:effectLst/>
                <a:latin typeface="Menlo"/>
              </a:rPr>
              <a:t>orElseGet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 - lazy evaluation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orElseGet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 (empty):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empty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orElseGet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computeDefault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</a:t>
            </a:r>
            <a:r>
              <a:rPr lang="en-US" b="0" i="1" dirty="0" err="1">
                <a:solidFill>
                  <a:srgbClr val="A0A1A7"/>
                </a:solidFill>
                <a:effectLst/>
                <a:latin typeface="Menlo"/>
              </a:rPr>
              <a:t>orElseThrow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 - throw custom exception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try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result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empty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orElseThrow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IllegalArgumentException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"Value not present"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catch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IllegalArgumentException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orElseThrow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getMessage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4. Optional with </a:t>
            </a:r>
            <a:r>
              <a:rPr lang="en-US" b="0" i="1" dirty="0" err="1">
                <a:solidFill>
                  <a:srgbClr val="A0A1A7"/>
                </a:solidFill>
                <a:effectLst/>
                <a:latin typeface="Menlo"/>
              </a:rPr>
              <a:t>ifPresent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"\n4. 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ifPresent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:"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nonEmpty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ifPresent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v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"Value found: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v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empty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ifPresent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v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"This won't print"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</a:t>
            </a:r>
            <a:r>
              <a:rPr lang="en-US" b="0" i="1" dirty="0" err="1">
                <a:solidFill>
                  <a:srgbClr val="A0A1A7"/>
                </a:solidFill>
                <a:effectLst/>
                <a:latin typeface="Menlo"/>
              </a:rPr>
              <a:t>ifPresentOrElse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 (Java 9+)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nonEmpty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ifPresentOrElse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v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"Value: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v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),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"No value"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empty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ifPresentOrElse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v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"Value: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v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),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"No value"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5. Optional transformations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"\n5. Optional transformations:"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map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Optional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Integer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length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nonEmpty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map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::length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"Mapped length: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length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orElse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filter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Optional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filtered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nonEmpty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filter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s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length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3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"Filtered (&gt;3 chars):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filtered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orElse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"Not found"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Optional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notFiltered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nonEmpty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filter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s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length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"Filtered (&gt;10 chars):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notFiltered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orElse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"Not found"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</a:t>
            </a:r>
            <a:r>
              <a:rPr lang="en-US" b="0" i="1" dirty="0" err="1">
                <a:solidFill>
                  <a:srgbClr val="A0A1A7"/>
                </a:solidFill>
                <a:effectLst/>
                <a:latin typeface="Menlo"/>
              </a:rPr>
              <a:t>flatMap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Optional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flatMapped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nonEmpty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flatMap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s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Optional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of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s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 World"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flatMap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flatMapped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orElse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6. Real-world example: User lookup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"\n6. Real-world example:"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UserRepository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userRepo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UserRepository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Traditional null checking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User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user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userRepo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findUserById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user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!=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null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email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user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getEmail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email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!=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null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"User email (traditional):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email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Optional style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userRepo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findUserByIdOptional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map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User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::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getEmail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ifPresentOrElse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email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"User email (optional):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email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),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"User or email not found"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Chaining </a:t>
            </a:r>
            <a:r>
              <a:rPr lang="en-US" b="0" i="1" dirty="0" err="1">
                <a:solidFill>
                  <a:srgbClr val="A0A1A7"/>
                </a:solidFill>
                <a:effectLst/>
                <a:latin typeface="Menlo"/>
              </a:rPr>
              <a:t>optionals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result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userRepo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findUserByIdOptional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flatMap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User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::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getAddressOptional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map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Address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::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getCity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orElse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"Unknown city"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"User city: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result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7. Optional with streams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"\n7. Optional with streams:"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Optional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optionals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Arrays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asList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Optional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of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"A"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),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Optional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empty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(),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Optional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of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"B"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),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Optional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of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"C"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),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Optional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empty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Filter out empty </a:t>
            </a:r>
            <a:r>
              <a:rPr lang="en-US" b="0" i="1" dirty="0" err="1">
                <a:solidFill>
                  <a:srgbClr val="A0A1A7"/>
                </a:solidFill>
                <a:effectLst/>
                <a:latin typeface="Menlo"/>
              </a:rPr>
              <a:t>optionals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values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optionals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stream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filter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Optional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::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isPresent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map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Optional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::get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collect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Collectors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toList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"Filtered values: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values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Using </a:t>
            </a:r>
            <a:r>
              <a:rPr lang="en-US" b="0" i="1" dirty="0" err="1">
                <a:solidFill>
                  <a:srgbClr val="A0A1A7"/>
                </a:solidFill>
                <a:effectLst/>
                <a:latin typeface="Menlo"/>
              </a:rPr>
              <a:t>flatMap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 with Optional::stream (Java 9+)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streamed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optionals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stream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flatMap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Optional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::stream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collect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Collectors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toList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"Streamed values: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streamed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8. Best practices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"\n8. Best practices:"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DON'T: Use </a:t>
            </a:r>
            <a:r>
              <a:rPr lang="en-US" b="0" i="1" dirty="0" err="1">
                <a:solidFill>
                  <a:srgbClr val="A0A1A7"/>
                </a:solidFill>
                <a:effectLst/>
                <a:latin typeface="Menlo"/>
              </a:rPr>
              <a:t>Optional.get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() without checking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Optional&lt;String&gt; bad = </a:t>
            </a:r>
            <a:r>
              <a:rPr lang="en-US" b="0" i="1" dirty="0" err="1">
                <a:solidFill>
                  <a:srgbClr val="A0A1A7"/>
                </a:solidFill>
                <a:effectLst/>
                <a:latin typeface="Menlo"/>
              </a:rPr>
              <a:t>Optional.of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("test");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if (</a:t>
            </a:r>
            <a:r>
              <a:rPr lang="en-US" b="0" i="1" dirty="0" err="1">
                <a:solidFill>
                  <a:srgbClr val="A0A1A7"/>
                </a:solidFill>
                <a:effectLst/>
                <a:latin typeface="Menlo"/>
              </a:rPr>
              <a:t>bad.isPresent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()) 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    String </a:t>
            </a:r>
            <a:r>
              <a:rPr lang="en-US" b="0" i="1" dirty="0" err="1">
                <a:solidFill>
                  <a:srgbClr val="A0A1A7"/>
                </a:solidFill>
                <a:effectLst/>
                <a:latin typeface="Menlo"/>
              </a:rPr>
              <a:t>val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 = </a:t>
            </a:r>
            <a:r>
              <a:rPr lang="en-US" b="0" i="1" dirty="0" err="1">
                <a:solidFill>
                  <a:srgbClr val="A0A1A7"/>
                </a:solidFill>
                <a:effectLst/>
                <a:latin typeface="Menlo"/>
              </a:rPr>
              <a:t>bad.get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(); // OK, but verbose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DO: Use </a:t>
            </a:r>
            <a:r>
              <a:rPr lang="en-US" b="0" i="1" dirty="0" err="1">
                <a:solidFill>
                  <a:srgbClr val="A0A1A7"/>
                </a:solidFill>
                <a:effectLst/>
                <a:latin typeface="Menlo"/>
              </a:rPr>
              <a:t>orElse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</a:t>
            </a:r>
            <a:r>
              <a:rPr lang="en-US" b="0" i="1" dirty="0" err="1">
                <a:solidFill>
                  <a:srgbClr val="A0A1A7"/>
                </a:solidFill>
                <a:effectLst/>
                <a:latin typeface="Menlo"/>
              </a:rPr>
              <a:t>orElseGet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value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empty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orElseGet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computeDefault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DON'T: Use Optional for fields or parameters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public class </a:t>
            </a:r>
            <a:r>
              <a:rPr lang="en-US" b="0" i="1" dirty="0" err="1">
                <a:solidFill>
                  <a:srgbClr val="A0A1A7"/>
                </a:solidFill>
                <a:effectLst/>
                <a:latin typeface="Menlo"/>
              </a:rPr>
              <a:t>BadExample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 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    private Optional&lt;String&gt; name; // DON'T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DO: Use Optional for return types only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DON'T: Use </a:t>
            </a:r>
            <a:r>
              <a:rPr lang="en-US" b="0" i="1" dirty="0" err="1">
                <a:solidFill>
                  <a:srgbClr val="A0A1A7"/>
                </a:solidFill>
                <a:effectLst/>
                <a:latin typeface="Menlo"/>
              </a:rPr>
              <a:t>Optional.of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 for potentially null values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</a:t>
            </a:r>
            <a:r>
              <a:rPr lang="en-US" b="0" i="1" dirty="0" err="1">
                <a:solidFill>
                  <a:srgbClr val="A0A1A7"/>
                </a:solidFill>
                <a:effectLst/>
                <a:latin typeface="Menlo"/>
              </a:rPr>
              <a:t>Optional.of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(null); // Throws </a:t>
            </a:r>
            <a:r>
              <a:rPr lang="en-US" b="0" i="1" dirty="0" err="1">
                <a:solidFill>
                  <a:srgbClr val="A0A1A7"/>
                </a:solidFill>
                <a:effectLst/>
                <a:latin typeface="Menlo"/>
              </a:rPr>
              <a:t>NullPointerException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DO: Use </a:t>
            </a:r>
            <a:r>
              <a:rPr lang="en-US" b="0" i="1" dirty="0" err="1">
                <a:solidFill>
                  <a:srgbClr val="A0A1A7"/>
                </a:solidFill>
                <a:effectLst/>
                <a:latin typeface="Menlo"/>
              </a:rPr>
              <a:t>Optional.ofNullable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Optional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safe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Optional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ofNullable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getValueThatMayBeNull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computeDefault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"Computing default value..."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"Default"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getValueThatMayBeNull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Math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random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0.5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?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"Value"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null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Address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street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city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zipCode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Address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street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city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zipCode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street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street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city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city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zipCode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zipCode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getCity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city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User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id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email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Address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address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User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id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email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Address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address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id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id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name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email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email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address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address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getEmail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email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Optional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getEmailOptional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Optional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ofNullable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email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Optional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Address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getAddressOptional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Optional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ofNullable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address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UserRepository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Map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Integer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User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users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HashMap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&lt;&gt;();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UserRepository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users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put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User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"Alice"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"alice@email.com"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Address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"123 Main St"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"New York"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"10001"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users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put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User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"Bob"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null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null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User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findUserById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id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users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id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Optional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User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findUserByIdOptional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id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Optional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ofNullable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users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id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</p:txBody>
      </p:sp>
    </p:spTree>
    <p:extLst>
      <p:ext uri="{BB962C8B-B14F-4D97-AF65-F5344CB8AC3E}">
        <p14:creationId xmlns:p14="http://schemas.microsoft.com/office/powerpoint/2010/main" val="1882760758"/>
      </p:ext>
    </p:extLst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83474C8-E1F0-54A0-7DB7-A4F186252A1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60FFAAA5-8596-8A16-8DC8-818E8EAB40B8}"/>
              </a:ext>
            </a:extLst>
          </p:cNvPr>
          <p:cNvSpPr txBox="1"/>
          <p:nvPr/>
        </p:nvSpPr>
        <p:spPr>
          <a:xfrm>
            <a:off x="2479431" y="-89346307"/>
            <a:ext cx="4958860" cy="18556233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lnSpc>
                <a:spcPts val="2250"/>
              </a:lnSpc>
              <a:spcBef>
                <a:spcPts val="2400"/>
              </a:spcBef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Exercise 9.5: Real-world Stream Examples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Practical applications of Stream API.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Solution: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>
              <a:lnSpc>
                <a:spcPts val="13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java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import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java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util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*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import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java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util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stream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*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import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java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time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*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import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java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time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format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*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Order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id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customer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LocalDate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date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amount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status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items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Order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id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customer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LocalDate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date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amount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status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...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items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id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id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customer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customer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date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date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amount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amount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status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status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items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Arrays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asList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items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getId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id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getCustomer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customer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LocalDate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getDate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date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getAmount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amount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getStatus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status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getItems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items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@Override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toString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format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"Order{id=%d, customer='%s', date=%s, amount=%.2f, status='%s'}"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id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customer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date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amount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status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Product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category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price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stock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supplier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Product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category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price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stock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supplier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name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category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category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price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price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stock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stock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supplier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supplier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getCategory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category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getPrice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price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getStock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stock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getSupplier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supplier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@Override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toString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format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"%s (%s): $%.2f"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category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price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RealWorldStreams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main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[]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args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"=== REAL-WORLD STREAM EXAMPLES ===\n"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Sample data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Order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orders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generateOrders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Product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products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generateProducts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1. Sales Analysis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"1. Sales Analysis:"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Total revenue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totalRevenue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orders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stream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filter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o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getStatus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equals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"DELIVERED"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mapToDouble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Order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::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getAmount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sum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printf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"Total revenue: $%.2f%n"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totalRevenue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Average order value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avgOrderValue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orders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stream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filter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o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getStatus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equals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"DELIVERED"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mapToDouble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Order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::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getAmount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average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orElse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printf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"Average order value: $%.2f%n"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avgOrderValue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Revenue by month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Map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YearMonth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revenueByMonth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orders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stream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filter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o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getStatus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equals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"DELIVERED"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collect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Collectors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groupingBy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o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YearMonth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from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getDate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()),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Collectors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summingDouble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Order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::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getAmount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nRevenue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 by month:"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revenueByMonth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forEach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month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revenue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printf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"%s: $%.2f%n"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month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revenue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Top customers by spending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Map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customerSpending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orders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stream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filter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o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getStatus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equals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"DELIVERED"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collect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Collectors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groupingBy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Order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::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getCustomer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Collectors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summingDouble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Order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::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getAmount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Map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Entry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topCustomers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customerSpending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entrySet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stream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sorted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Map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Entry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comparingByValue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reversed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limit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3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collect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Collectors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toList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nTop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 3 customers:"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topCustomers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forEach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printf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"%s: $%.2f%n"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getKey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getValue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2. Inventory Analysis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"\n2. Inventory Analysis:"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Products low in stock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Product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lowStock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products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stream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filter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p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p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getStock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sorted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Comparator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comparing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Product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::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getStock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collect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Collectors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toList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"Low stock products:"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lowStock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forEach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p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printf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"%s: %d 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units%n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p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p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getStock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Average price by category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Map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avgPriceByCategory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products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stream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collect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Collectors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groupingBy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Product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::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getCategory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Collectors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averagingDouble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Product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::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getPrice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nAverage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 price by category:"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avgPriceByCategory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forEach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cat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price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printf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"%s: $%.2f%n"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cat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price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Most expensive product in each category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Map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Optional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Product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mostExpensive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products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stream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collect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Collectors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groupingBy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Product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::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getCategory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Collectors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maxBy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Comparator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comparing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Product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::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getPrice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nMost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 expensive by category:"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mostExpensive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forEach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cat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prod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printf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"%s: %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s%n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cat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prod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orElse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null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3. Order Processing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"\n3. Order Processing:"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Pending orders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Order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pendingOrders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orders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stream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filter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o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getStatus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equals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"PENDING"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sorted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Comparator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comparing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Order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::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getDate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collect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Collectors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toList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"Pending orders:"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pendingOrders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forEach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::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Orders by status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Map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Long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ordersByStatus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orders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stream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collect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Collectors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groupingBy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Order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::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getStatus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Collectors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counting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nOrders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 by status:"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ordersByStatus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forEach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status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count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printf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"%s: %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d%n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status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count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4. Customer Insights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"\n4. Customer Insights:"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Unique customers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Set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customers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orders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stream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map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Order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::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getCustomer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collect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Collectors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toSet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"Unique customers: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customers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size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Customers with orders over $500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Set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highValueCustomers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orders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stream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filter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o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getAmount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500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map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Order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::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getCustomer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collect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Collectors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toSet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"High-value customers: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highValueCustomers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size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5. Product Popularity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"\n5. Product Popularity:"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Most ordered products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Map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Long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productFrequency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orders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stream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filter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o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getStatus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equals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"DELIVERED"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flatMap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o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getItems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stream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collect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Collectors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groupingBy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Function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identity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(),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Collectors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counting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Map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Entry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Long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topProducts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productFrequency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entrySet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stream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sorted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Map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Entry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Long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comparingByValue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reversed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limit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3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collect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Collectors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toList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"Top 3 products:"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topProducts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forEach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printf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"%s: %d 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orders%n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getKey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getValue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6. Performance Comparison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"\n6. Performance Comparison:"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Sequential stream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long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startTime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nanoTime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sequentialResult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orders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stream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filter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o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getStatus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equals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"DELIVERED"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mapToDouble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Order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::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getAmount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average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orElse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long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endTime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nanoTime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printf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"Sequential: %.2f (Time: %d ns)%n"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sequentialResult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endTime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startTime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Parallel stream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startTime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nanoTime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parallelResult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orders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parallelStream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filter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o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getStatus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equals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"DELIVERED"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mapToDouble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Order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::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getAmount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average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orElse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endTime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nanoTime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printf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"Parallel: %.2f (Time: %d ns)%n"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parallelResult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endTime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startTime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7. Complex Reporting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"\n7. Complex Reporting:"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Generate a sales report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report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generateSalesReport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orders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report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8. Data Transformation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"\n8. Data Transformation:"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Convert to CSV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csv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orders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stream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limit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5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map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o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format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"%d,%s,%s,%.2f,%s"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getId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getCustomer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getDate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getAmount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getStatus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collect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Collectors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joining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"\n"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ID,Customer,Date,Amount,Status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\n"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"CSV format:"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csv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Order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generateOrders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Order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orders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ArrayList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&lt;&gt;();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Random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random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Random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[]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customers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"Alice"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"Bob"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"Charlie"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"Diana"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"Eve"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[]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statuses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"DELIVERED"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"PENDING"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"PROCESSING"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"CANCELLED"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[][]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items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"Laptop"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"Mouse"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"Keyboard"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},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"Phone"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"Charger"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},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"Tablet"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"Case"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"Screen Protector"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},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"Headphones"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"Speaker"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},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"Monitor"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"HDMI Cable"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LocalDate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startDate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LocalDate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of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2024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&lt;=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50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++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customer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customers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random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nextInt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customers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length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)];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LocalDate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date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startDate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plusDays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random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nextInt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90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amount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100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random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nextDouble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*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900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status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statuses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random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nextInt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statuses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length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)];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[]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orderItems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items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random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nextInt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items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length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)];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orders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add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Order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customer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date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amount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status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orderItems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orders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Product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generateProducts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Arrays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asList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Product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"Laptop"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"Electronics"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999.99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15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TechCorp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),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Product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"Mouse"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"Electronics"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29.99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50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TechCorp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),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Product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"Keyboard"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"Electronics"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79.99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30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TechCorp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),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Product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"Desk"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"Furniture"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299.99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8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HomeInc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),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Product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"Chair"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"Furniture"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149.99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5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HomeInc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),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Product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"Notebook"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"Stationery"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4.99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200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PaperCo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),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Product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"Pen"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"Stationery"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1.99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500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PaperCo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),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Product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"Monitor"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"Electronics"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299.99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12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TechCorp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),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Product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"Bookshelf"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"Furniture"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199.99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3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HomeInc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),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Product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"Desk Lamp"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"Lighting"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39.99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20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LightInc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generateSalesReport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Order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orders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StringBuilder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report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StringBuilder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report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append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"=== SALES REPORT ===\n"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Summary statistics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IntSummaryStatistics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orderStats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orders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stream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mapToInt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o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summaryStatistics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DoubleSummaryStatistics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revenueStats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orders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stream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filter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o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getStatus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equals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"DELIVERED"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mapToDouble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Order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::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getAmount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summaryStatistics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report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append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format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"Total Orders: %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d%n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orders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size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report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append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format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"Delivered Orders: %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d%n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orders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stream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filter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o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getStatus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equals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"DELIVERED"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count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report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append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format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"Total Revenue: $%.2f%n"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revenueStats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getSum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report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append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format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"Average Order: $%.2f%n"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revenueStats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getAverage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report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append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format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"Min Order: $%.2f%n"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revenueStats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getMin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report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append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format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"Max Order: $%.2f%n"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revenueStats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getMax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Performance metrics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long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deliveredCount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orders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stream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filter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o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getStatus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equals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"DELIVERED"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count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conversionRate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deliveredCount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/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orders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size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*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100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report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append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format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"Conversion Rate: %.1f%%%n"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conversionRate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report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toString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</p:txBody>
      </p:sp>
    </p:spTree>
    <p:extLst>
      <p:ext uri="{BB962C8B-B14F-4D97-AF65-F5344CB8AC3E}">
        <p14:creationId xmlns:p14="http://schemas.microsoft.com/office/powerpoint/2010/main" val="2227413637"/>
      </p:ext>
    </p:extLst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808BA5F-0737-1C9E-B34A-C8D0C6CC18C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C82138D9-3938-D4B9-5B9B-5DCBF8F4C3E6}"/>
              </a:ext>
            </a:extLst>
          </p:cNvPr>
          <p:cNvSpPr txBox="1"/>
          <p:nvPr/>
        </p:nvSpPr>
        <p:spPr>
          <a:xfrm>
            <a:off x="2479431" y="-4391640"/>
            <a:ext cx="4958860" cy="1565300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lnSpc>
                <a:spcPts val="2250"/>
              </a:lnSpc>
              <a:spcBef>
                <a:spcPts val="2400"/>
              </a:spcBef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Practice Exercises - Try These Yourself:</a:t>
            </a:r>
          </a:p>
          <a:p>
            <a:pPr algn="l">
              <a:lnSpc>
                <a:spcPts val="2100"/>
              </a:lnSpc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Exercise 9.6: Employee Analytics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Process employee data using Stream API.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Requirements: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>
              <a:spcBef>
                <a:spcPts val="120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Calculate average salary by department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Find highest paid employee in each department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Group employees by age brackets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Generate salary distribution report</a:t>
            </a:r>
          </a:p>
          <a:p>
            <a:pPr algn="l">
              <a:lnSpc>
                <a:spcPts val="2100"/>
              </a:lnSpc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Exercise 9.7: Log File Analyzer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Analyze server log files using streams.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Requirements: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>
              <a:spcBef>
                <a:spcPts val="120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Parse log entries from a file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Count requests by status code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Find most frequent IP addresses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Generate hourly request statistics</a:t>
            </a:r>
          </a:p>
          <a:p>
            <a:pPr algn="l">
              <a:lnSpc>
                <a:spcPts val="2100"/>
              </a:lnSpc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Exercise 9.8: Shopping Cart with Streams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Implement shopping cart operations using streams.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Requirements: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>
              <a:spcBef>
                <a:spcPts val="120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Calculate totals with taxes and discounts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Filter products by various criteria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Sort by price, popularity, etc.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Generate order summaries</a:t>
            </a:r>
          </a:p>
          <a:p>
            <a:pPr algn="l">
              <a:lnSpc>
                <a:spcPts val="2100"/>
              </a:lnSpc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Exercise 9.9: Weather Data Analysis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Analyze weather data using streams.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Requirements: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>
              <a:spcBef>
                <a:spcPts val="120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Calculate average temperatures by month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Find extreme weather days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Group data by city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Generate climate reports</a:t>
            </a:r>
          </a:p>
        </p:txBody>
      </p:sp>
    </p:spTree>
    <p:extLst>
      <p:ext uri="{BB962C8B-B14F-4D97-AF65-F5344CB8AC3E}">
        <p14:creationId xmlns:p14="http://schemas.microsoft.com/office/powerpoint/2010/main" val="753626091"/>
      </p:ext>
    </p:extLst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ECD7587-E788-2173-9FCE-ABF5926BAC4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B6576403-2F91-0B7E-4C02-4F5742928DB5}"/>
              </a:ext>
            </a:extLst>
          </p:cNvPr>
          <p:cNvSpPr txBox="1"/>
          <p:nvPr/>
        </p:nvSpPr>
        <p:spPr>
          <a:xfrm>
            <a:off x="2479431" y="-44035185"/>
            <a:ext cx="4958860" cy="9494009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lnSpc>
                <a:spcPts val="2250"/>
              </a:lnSpc>
              <a:spcBef>
                <a:spcPts val="2400"/>
              </a:spcBef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Solutions to Practice Exercises: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Solution 9.6: Employee Analytics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>
              <a:lnSpc>
                <a:spcPts val="13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java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import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java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util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*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import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java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util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stream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*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Employee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id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department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salary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age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LocalDate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joiningDate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Employee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id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department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salary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age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LocalDate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joiningDate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id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id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name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department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department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salary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salary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age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age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joiningDate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joiningDate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Getters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getDepartment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department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getSalary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salary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getAge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age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LocalDate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getJoiningDate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joiningDate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@Override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toString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format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"%s (%s): $%.0f"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department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salary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EmployeeAnalytics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main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[]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args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Employee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employees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generateEmployees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1. Average salary by department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Map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avgSalaryByDept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employees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stream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collect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Collectors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groupingBy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Employee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::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getDepartment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Collectors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averagingDouble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Employee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::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getSalary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"Average salary by department:"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avgSalaryByDept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forEach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dept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avg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printf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"%s: $%.2f%n"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dept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avg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2. Highest paid in each department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Map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Optional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Employee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highestPaid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employees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stream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collect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Collectors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groupingBy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Employee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::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getDepartment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Collectors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maxBy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Comparator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comparing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Employee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::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getSalary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nHighest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 paid by department:"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highestPaid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forEach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dept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emp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printf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"%s: %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s%n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dept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emp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orElse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null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3. Age brackets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Map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Employee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byAgeBracket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employees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stream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collect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Collectors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groupingBy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emp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age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emp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getAge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age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30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"20s"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else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age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40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"30s"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else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age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50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"40s"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else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"50+"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nEmployees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 by age bracket:"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byAgeBracket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forEach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bracket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emps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printf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"%s: %d 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employees%n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bracket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emps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size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4. Salary distribution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maxSalary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employees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stream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mapToDouble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Employee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::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getSalary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max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orElse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Map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Long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salaryBrackets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employees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stream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collect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Collectors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groupingBy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emp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pct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emp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getSalary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/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maxSalary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*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100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pct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30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"Low (0-30%)"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else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pct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60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"Medium (30-60%)"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else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pct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90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"High (60-90%)"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else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"Top (90%+)"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},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Collectors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counting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nSalary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 distribution:"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salaryBrackets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forEach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bracket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count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printf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"%s: %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d%n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bracket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count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5. Tenure analysis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LocalDate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now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LocalDate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now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Map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avgTenureByDept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employees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stream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collect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Collectors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groupingBy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Employee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::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getDepartment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Collectors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averagingLong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emp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ChronoUnit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YEARS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between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emp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getJoiningDate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now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nAverage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 tenure by department (years):"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avgTenureByDept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forEach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dept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years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printf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"%s: %.1f%n"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dept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years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6. Salary statistics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DoubleSummaryStatistics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stats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employees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stream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mapToDouble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Employee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::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getSalary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summaryStatistics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nOverall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 salary statistics:"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printf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"Total: $%.2f%n"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stats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getSum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printf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"Average: $%.2f%n"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stats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getAverage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printf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"Min: $%.2f%n"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stats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getMin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printf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"Max: $%.2f%n"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stats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getMax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7. Department with highest average salary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Optional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Map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Entry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topDept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avgSalaryByDept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entrySet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stream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max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Map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Entry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comparingByValue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topDept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ifPresent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dept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printf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"%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nBest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 paying department: %s ($%.2f)%n"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dept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getKey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dept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getValue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8. Salary gap analysis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Map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minSalaryByDept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employees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stream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collect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Collectors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groupingBy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Employee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::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getDepartment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Collectors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mapping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Employee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::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getSalary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Collectors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collectingAndThen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Collectors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toList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(),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    list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list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stream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mapToDouble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::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doubleValue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).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min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orElse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)))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"\</a:t>
            </a:r>
            <a:r>
              <a:rPr lang="en-US" b="0" i="0" dirty="0" err="1">
                <a:solidFill>
                  <a:srgbClr val="50A14F"/>
                </a:solidFill>
                <a:effectLst/>
                <a:latin typeface="Menlo"/>
              </a:rPr>
              <a:t>nSalary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 gaps by department:"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avgSalaryByDept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forEach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dept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avg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printf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"%s: Avg $%.0f, Min $%.0f, Gap $%.0f%n"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dept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avg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minSalaryByDept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dept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avg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-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minSalaryByDept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dept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Employee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generateEmployees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Employee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employees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ArrayList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&lt;&gt;();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Random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random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Random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[]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depts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"Engineering"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"Sales"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"Marketing"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"HR"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"Finance"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[]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firstNames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"John"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"Jane"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"Mike"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"Sarah"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"David"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"Lisa"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"Tom"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"Emma"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[]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lastNames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"Smith"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"Johnson"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"Williams"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"Brown"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"Jones"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"Garcia"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LocalDate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startDate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LocalDate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of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2015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&lt;=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50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++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name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firstNames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random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nextInt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firstNames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length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)]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50A14F"/>
                </a:solidFill>
                <a:effectLst/>
                <a:latin typeface="Menlo"/>
              </a:rPr>
              <a:t>" "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 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lastNames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random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nextInt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lastNames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length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)];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dept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depts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[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random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nextInt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depts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length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)];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salary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40000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random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nextDouble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*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100000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age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22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random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nextInt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40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B76B01"/>
                </a:solidFill>
                <a:effectLst/>
                <a:latin typeface="Menlo"/>
              </a:rPr>
              <a:t>LocalDate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joiningDate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startDate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plusDays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random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nextInt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3000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employees</a:t>
            </a:r>
            <a:r>
              <a:rPr lang="en-US" b="0" i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i="0" dirty="0" err="1">
                <a:solidFill>
                  <a:srgbClr val="4078F2"/>
                </a:solidFill>
                <a:effectLst/>
                <a:latin typeface="Menlo"/>
              </a:rPr>
              <a:t>add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>
                <a:solidFill>
                  <a:srgbClr val="B76B01"/>
                </a:solidFill>
                <a:effectLst/>
                <a:latin typeface="Menlo"/>
              </a:rPr>
              <a:t>Employee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name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dept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salary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age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Menlo"/>
              </a:rPr>
              <a:t>joiningDate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employees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spcBef>
                <a:spcPts val="1200"/>
              </a:spcBef>
              <a:spcAft>
                <a:spcPts val="857"/>
              </a:spcAft>
              <a:buNone/>
            </a:pPr>
            <a:r>
              <a:rPr lang="en-US" b="0" i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i="0" dirty="0">
              <a:solidFill>
                <a:srgbClr val="0F1115"/>
              </a:solidFill>
              <a:effectLst/>
              <a:latin typeface="Menlo"/>
            </a:endParaRPr>
          </a:p>
        </p:txBody>
      </p:sp>
    </p:spTree>
    <p:extLst>
      <p:ext uri="{BB962C8B-B14F-4D97-AF65-F5344CB8AC3E}">
        <p14:creationId xmlns:p14="http://schemas.microsoft.com/office/powerpoint/2010/main" val="1728660153"/>
      </p:ext>
    </p:extLst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4CC10DC-3F44-09D6-0EF4-E117C7AFB14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B25C452B-A693-97F7-7086-5BA71931CD65}"/>
              </a:ext>
            </a:extLst>
          </p:cNvPr>
          <p:cNvSpPr txBox="1"/>
          <p:nvPr/>
        </p:nvSpPr>
        <p:spPr>
          <a:xfrm>
            <a:off x="2479431" y="-3613222"/>
            <a:ext cx="4958860" cy="1409616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lnSpc>
                <a:spcPts val="2250"/>
              </a:lnSpc>
              <a:spcBef>
                <a:spcPts val="2400"/>
              </a:spcBef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Key Takeaways from Topic 9:</a:t>
            </a:r>
          </a:p>
          <a:p>
            <a:pPr algn="l">
              <a:spcBef>
                <a:spcPts val="1200"/>
              </a:spcBef>
              <a:spcAft>
                <a:spcPts val="600"/>
              </a:spcAft>
              <a:buFont typeface="+mj-lt"/>
              <a:buAutoNum type="arabicPeriod"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Lambda Benefits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:</a:t>
            </a:r>
          </a:p>
          <a:p>
            <a:pPr marL="742950" lvl="1" indent="-285750" algn="l">
              <a:spcBef>
                <a:spcPts val="30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Concise code</a:t>
            </a:r>
          </a:p>
          <a:p>
            <a:pPr marL="742950" lvl="1" indent="-285750" algn="l">
              <a:spcBef>
                <a:spcPts val="45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Functional programming style</a:t>
            </a:r>
          </a:p>
          <a:p>
            <a:pPr marL="742950" lvl="1" indent="-285750" algn="l">
              <a:spcBef>
                <a:spcPts val="45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Better readability</a:t>
            </a:r>
          </a:p>
          <a:p>
            <a:pPr marL="742950" lvl="1" indent="-285750" algn="l">
              <a:spcBef>
                <a:spcPts val="45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Easy parallelization</a:t>
            </a:r>
          </a:p>
          <a:p>
            <a:pPr algn="l">
              <a:spcBef>
                <a:spcPts val="450"/>
              </a:spcBef>
              <a:spcAft>
                <a:spcPts val="600"/>
              </a:spcAft>
              <a:buFont typeface="+mj-lt"/>
              <a:buAutoNum type="arabicPeriod"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Stream Pipeline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:</a:t>
            </a:r>
          </a:p>
          <a:p>
            <a:pPr marL="742950" lvl="1" indent="-285750" algn="l">
              <a:spcBef>
                <a:spcPts val="30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Source → Intermediate Operations → Terminal Operation</a:t>
            </a:r>
          </a:p>
          <a:p>
            <a:pPr marL="742950" lvl="1" indent="-285750" algn="l">
              <a:spcBef>
                <a:spcPts val="45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Intermediate ops are lazy</a:t>
            </a:r>
          </a:p>
          <a:p>
            <a:pPr marL="742950" lvl="1" indent="-285750" algn="l">
              <a:spcBef>
                <a:spcPts val="45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Terminal ops trigger processing</a:t>
            </a:r>
          </a:p>
          <a:p>
            <a:pPr algn="l">
              <a:spcBef>
                <a:spcPts val="450"/>
              </a:spcBef>
              <a:spcAft>
                <a:spcPts val="600"/>
              </a:spcAft>
              <a:buFont typeface="+mj-lt"/>
              <a:buAutoNum type="arabicPeriod"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Common Stream Operations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:</a:t>
            </a:r>
          </a:p>
          <a:p>
            <a:pPr marL="742950" lvl="1" indent="-285750" algn="l">
              <a:spcBef>
                <a:spcPts val="30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Filtering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: filter, distinct, limit, skip</a:t>
            </a:r>
          </a:p>
          <a:p>
            <a:pPr marL="742950" lvl="1" indent="-285750" algn="l">
              <a:spcBef>
                <a:spcPts val="45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Mapping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: map,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quote-cjk-patch"/>
              </a:rPr>
              <a:t>flatMap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marL="742950" lvl="1" indent="-285750" algn="l">
              <a:spcBef>
                <a:spcPts val="45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Sorting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: sorted</a:t>
            </a:r>
          </a:p>
          <a:p>
            <a:pPr marL="742950" lvl="1" indent="-285750" algn="l">
              <a:spcBef>
                <a:spcPts val="45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Matching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: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quote-cjk-patch"/>
              </a:rPr>
              <a:t>anyMatch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,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quote-cjk-patch"/>
              </a:rPr>
              <a:t>allMatch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,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quote-cjk-patch"/>
              </a:rPr>
              <a:t>noneMatch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marL="742950" lvl="1" indent="-285750" algn="l">
              <a:spcBef>
                <a:spcPts val="45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Finding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: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quote-cjk-patch"/>
              </a:rPr>
              <a:t>findFirst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,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quote-cjk-patch"/>
              </a:rPr>
              <a:t>findAny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marL="742950" lvl="1" indent="-285750" algn="l">
              <a:spcBef>
                <a:spcPts val="45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Reducing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: reduce, collect</a:t>
            </a:r>
          </a:p>
          <a:p>
            <a:pPr algn="l">
              <a:spcBef>
                <a:spcPts val="450"/>
              </a:spcBef>
              <a:spcAft>
                <a:spcPts val="600"/>
              </a:spcAft>
              <a:buFont typeface="+mj-lt"/>
              <a:buAutoNum type="arabicPeriod"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Collectors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:</a:t>
            </a:r>
          </a:p>
          <a:p>
            <a:pPr marL="742950" lvl="1" indent="-285750" algn="l">
              <a:spcBef>
                <a:spcPts val="30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0" i="0" dirty="0" err="1">
                <a:solidFill>
                  <a:srgbClr val="0F1115"/>
                </a:solidFill>
                <a:effectLst/>
                <a:latin typeface="quote-cjk-patch"/>
              </a:rPr>
              <a:t>toList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(),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quote-cjk-patch"/>
              </a:rPr>
              <a:t>toSet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(),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quote-cjk-patch"/>
              </a:rPr>
              <a:t>toMap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()</a:t>
            </a:r>
          </a:p>
          <a:p>
            <a:pPr marL="742950" lvl="1" indent="-285750" algn="l">
              <a:spcBef>
                <a:spcPts val="45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0" i="0" dirty="0" err="1">
                <a:solidFill>
                  <a:srgbClr val="0F1115"/>
                </a:solidFill>
                <a:effectLst/>
                <a:latin typeface="quote-cjk-patch"/>
              </a:rPr>
              <a:t>groupingBy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(),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quote-cjk-patch"/>
              </a:rPr>
              <a:t>partitioningBy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()</a:t>
            </a:r>
          </a:p>
          <a:p>
            <a:pPr marL="742950" lvl="1" indent="-285750" algn="l">
              <a:spcBef>
                <a:spcPts val="45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joining(),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quote-cjk-patch"/>
              </a:rPr>
              <a:t>summarizingInt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()</a:t>
            </a:r>
          </a:p>
          <a:p>
            <a:pPr marL="742950" lvl="1" indent="-285750" algn="l">
              <a:spcBef>
                <a:spcPts val="45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mapping(), filtering(),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quote-cjk-patch"/>
              </a:rPr>
              <a:t>flatMapping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()</a:t>
            </a:r>
          </a:p>
          <a:p>
            <a:pPr algn="l">
              <a:spcBef>
                <a:spcPts val="450"/>
              </a:spcBef>
              <a:spcAft>
                <a:spcPts val="600"/>
              </a:spcAft>
              <a:buFont typeface="+mj-lt"/>
              <a:buAutoNum type="arabicPeriod"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Optional Best Practices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:</a:t>
            </a:r>
          </a:p>
          <a:p>
            <a:pPr marL="742950" lvl="1" indent="-285750" algn="l">
              <a:spcBef>
                <a:spcPts val="30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Use for return types, not fields/parameters</a:t>
            </a:r>
          </a:p>
          <a:p>
            <a:pPr marL="742950" lvl="1" indent="-285750" algn="l">
              <a:spcBef>
                <a:spcPts val="45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Prefer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quote-cjk-patch"/>
              </a:rPr>
              <a:t>orElseGet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() over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quote-cjk-patch"/>
              </a:rPr>
              <a:t>orElse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() for expensive defaults</a:t>
            </a:r>
          </a:p>
          <a:p>
            <a:pPr marL="742950" lvl="1" indent="-285750" algn="l">
              <a:spcBef>
                <a:spcPts val="45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Don't use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quote-cjk-patch"/>
              </a:rPr>
              <a:t>Optional.get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() without checking</a:t>
            </a:r>
          </a:p>
          <a:p>
            <a:pPr marL="742950" lvl="1" indent="-285750" algn="l">
              <a:spcBef>
                <a:spcPts val="45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Use Optional in streams with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quote-cjk-patch"/>
              </a:rPr>
              <a:t>flatMap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>
              <a:buNone/>
            </a:pPr>
            <a:br>
              <a:rPr lang="en-US" dirty="0"/>
            </a:b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08223311"/>
      </p:ext>
    </p:extLst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FC9AB0F-A5F4-4582-FC01-5E689CFFF87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ADC27A82-76B2-174F-DD14-7644FDD67D44}"/>
              </a:ext>
            </a:extLst>
          </p:cNvPr>
          <p:cNvGraphicFramePr>
            <a:graphicFrameLocks noGrp="1"/>
          </p:cNvGraphicFramePr>
          <p:nvPr/>
        </p:nvGraphicFramePr>
        <p:xfrm>
          <a:off x="2087880" y="2578894"/>
          <a:ext cx="5730240" cy="2844800"/>
        </p:xfrm>
        <a:graphic>
          <a:graphicData uri="http://schemas.openxmlformats.org/drawingml/2006/table">
            <a:tbl>
              <a:tblPr/>
              <a:tblGrid>
                <a:gridCol w="1910080">
                  <a:extLst>
                    <a:ext uri="{9D8B030D-6E8A-4147-A177-3AD203B41FA5}">
                      <a16:colId xmlns:a16="http://schemas.microsoft.com/office/drawing/2014/main" val="2183780530"/>
                    </a:ext>
                  </a:extLst>
                </a:gridCol>
                <a:gridCol w="1910080">
                  <a:extLst>
                    <a:ext uri="{9D8B030D-6E8A-4147-A177-3AD203B41FA5}">
                      <a16:colId xmlns:a16="http://schemas.microsoft.com/office/drawing/2014/main" val="1236904550"/>
                    </a:ext>
                  </a:extLst>
                </a:gridCol>
                <a:gridCol w="1910080">
                  <a:extLst>
                    <a:ext uri="{9D8B030D-6E8A-4147-A177-3AD203B41FA5}">
                      <a16:colId xmlns:a16="http://schemas.microsoft.com/office/drawing/2014/main" val="20209543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l">
                        <a:lnSpc>
                          <a:spcPts val="1875"/>
                        </a:lnSpc>
                        <a:buNone/>
                      </a:pPr>
                      <a:r>
                        <a:rPr lang="en-US" b="0">
                          <a:effectLst/>
                          <a:latin typeface="quote-cjk-patch"/>
                        </a:rPr>
                        <a:t>Aspect</a:t>
                      </a:r>
                    </a:p>
                  </a:txBody>
                  <a:tcPr marR="121920" marT="76200" marB="7620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ts val="1875"/>
                        </a:lnSpc>
                        <a:buNone/>
                      </a:pPr>
                      <a:r>
                        <a:rPr lang="en-US" b="0">
                          <a:effectLst/>
                          <a:latin typeface="quote-cjk-patch"/>
                        </a:rPr>
                        <a:t>Lambda</a:t>
                      </a:r>
                    </a:p>
                  </a:txBody>
                  <a:tcPr marL="121920" marR="121920" marT="76200" marB="7620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ts val="1875"/>
                        </a:lnSpc>
                        <a:buNone/>
                      </a:pPr>
                      <a:r>
                        <a:rPr lang="en-US" b="0">
                          <a:effectLst/>
                          <a:latin typeface="quote-cjk-patch"/>
                        </a:rPr>
                        <a:t>Anonymous Class</a:t>
                      </a:r>
                    </a:p>
                  </a:txBody>
                  <a:tcPr marL="121920" marR="121920" marT="76200" marB="7620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5473110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lnSpc>
                          <a:spcPts val="1875"/>
                        </a:lnSpc>
                        <a:buNone/>
                      </a:pPr>
                      <a:r>
                        <a:rPr lang="en-US" b="0">
                          <a:effectLst/>
                          <a:latin typeface="quote-cjk-patch"/>
                        </a:rPr>
                        <a:t>Syntax</a:t>
                      </a:r>
                    </a:p>
                  </a:txBody>
                  <a:tcPr marR="121920" marT="76200" marB="7620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875"/>
                        </a:lnSpc>
                        <a:buNone/>
                      </a:pPr>
                      <a:r>
                        <a:rPr lang="en-US" b="0">
                          <a:effectLst/>
                          <a:latin typeface="quote-cjk-patch"/>
                        </a:rPr>
                        <a:t>Concise</a:t>
                      </a:r>
                    </a:p>
                  </a:txBody>
                  <a:tcPr marL="121920" marR="121920" marT="76200" marB="7620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875"/>
                        </a:lnSpc>
                        <a:buNone/>
                      </a:pPr>
                      <a:r>
                        <a:rPr lang="en-US" b="0">
                          <a:effectLst/>
                          <a:latin typeface="quote-cjk-patch"/>
                        </a:rPr>
                        <a:t>Verbose</a:t>
                      </a:r>
                    </a:p>
                  </a:txBody>
                  <a:tcPr marL="121920" marT="76200" marB="7620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3746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lnSpc>
                          <a:spcPts val="1650"/>
                        </a:lnSpc>
                        <a:buNone/>
                      </a:pPr>
                      <a:r>
                        <a:rPr lang="en-US" b="0">
                          <a:effectLst/>
                          <a:latin typeface="Menlo"/>
                        </a:rPr>
                        <a:t>this</a:t>
                      </a:r>
                      <a:r>
                        <a:rPr lang="en-US" b="0">
                          <a:effectLst/>
                          <a:latin typeface="quote-cjk-patch"/>
                        </a:rPr>
                        <a:t> reference</a:t>
                      </a:r>
                    </a:p>
                  </a:txBody>
                  <a:tcPr marR="121920" marT="76200" marB="7620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875"/>
                        </a:lnSpc>
                        <a:buNone/>
                      </a:pPr>
                      <a:r>
                        <a:rPr lang="en-US" b="0">
                          <a:effectLst/>
                          <a:latin typeface="quote-cjk-patch"/>
                        </a:rPr>
                        <a:t>Enclosing instance</a:t>
                      </a:r>
                    </a:p>
                  </a:txBody>
                  <a:tcPr marL="121920" marR="121920" marT="76200" marB="7620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875"/>
                        </a:lnSpc>
                        <a:buNone/>
                      </a:pPr>
                      <a:r>
                        <a:rPr lang="en-US" b="0">
                          <a:effectLst/>
                          <a:latin typeface="quote-cjk-patch"/>
                        </a:rPr>
                        <a:t>Current instance</a:t>
                      </a:r>
                    </a:p>
                  </a:txBody>
                  <a:tcPr marL="121920" marT="76200" marB="7620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6874194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lnSpc>
                          <a:spcPts val="1875"/>
                        </a:lnSpc>
                        <a:buNone/>
                      </a:pPr>
                      <a:r>
                        <a:rPr lang="en-US" b="0">
                          <a:effectLst/>
                          <a:latin typeface="quote-cjk-patch"/>
                        </a:rPr>
                        <a:t>Compilation</a:t>
                      </a:r>
                    </a:p>
                  </a:txBody>
                  <a:tcPr marR="121920" marT="76200" marB="7620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875"/>
                        </a:lnSpc>
                        <a:buNone/>
                      </a:pPr>
                      <a:r>
                        <a:rPr lang="en-US" b="0">
                          <a:effectLst/>
                          <a:latin typeface="quote-cjk-patch"/>
                        </a:rPr>
                        <a:t>Invokedynamic</a:t>
                      </a:r>
                    </a:p>
                  </a:txBody>
                  <a:tcPr marL="121920" marR="121920" marT="76200" marB="7620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875"/>
                        </a:lnSpc>
                        <a:buNone/>
                      </a:pPr>
                      <a:r>
                        <a:rPr lang="en-US" b="0">
                          <a:effectLst/>
                          <a:latin typeface="quote-cjk-patch"/>
                        </a:rPr>
                        <a:t>New class file</a:t>
                      </a:r>
                    </a:p>
                  </a:txBody>
                  <a:tcPr marL="121920" marT="76200" marB="7620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854402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lnSpc>
                          <a:spcPts val="1875"/>
                        </a:lnSpc>
                        <a:buNone/>
                      </a:pPr>
                      <a:r>
                        <a:rPr lang="en-US" b="0">
                          <a:effectLst/>
                          <a:latin typeface="quote-cjk-patch"/>
                        </a:rPr>
                        <a:t>Performance</a:t>
                      </a:r>
                    </a:p>
                  </a:txBody>
                  <a:tcPr marR="121920" marT="76200" marB="7620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875"/>
                        </a:lnSpc>
                        <a:buNone/>
                      </a:pPr>
                      <a:r>
                        <a:rPr lang="en-US" b="0">
                          <a:effectLst/>
                          <a:latin typeface="quote-cjk-patch"/>
                        </a:rPr>
                        <a:t>Better</a:t>
                      </a:r>
                    </a:p>
                  </a:txBody>
                  <a:tcPr marL="121920" marR="121920" marT="76200" marB="7620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875"/>
                        </a:lnSpc>
                        <a:buNone/>
                      </a:pPr>
                      <a:r>
                        <a:rPr lang="en-US" b="0">
                          <a:effectLst/>
                          <a:latin typeface="quote-cjk-patch"/>
                        </a:rPr>
                        <a:t>Slightly slower</a:t>
                      </a:r>
                    </a:p>
                  </a:txBody>
                  <a:tcPr marL="121920" marT="76200" marB="7620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285377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lnSpc>
                          <a:spcPts val="1875"/>
                        </a:lnSpc>
                        <a:buNone/>
                      </a:pPr>
                      <a:r>
                        <a:rPr lang="en-US" b="0">
                          <a:effectLst/>
                          <a:latin typeface="quote-cjk-patch"/>
                        </a:rPr>
                        <a:t>Multiple methods</a:t>
                      </a:r>
                    </a:p>
                  </a:txBody>
                  <a:tcPr marR="121920" marT="76200" marB="7620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875"/>
                        </a:lnSpc>
                        <a:buNone/>
                      </a:pPr>
                      <a:r>
                        <a:rPr lang="en-US" b="0">
                          <a:effectLst/>
                          <a:latin typeface="quote-cjk-patch"/>
                        </a:rPr>
                        <a:t>No (functional interface)</a:t>
                      </a:r>
                    </a:p>
                  </a:txBody>
                  <a:tcPr marL="121920" marR="121920" marT="76200" marB="7620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875"/>
                        </a:lnSpc>
                        <a:buNone/>
                      </a:pPr>
                      <a:r>
                        <a:rPr lang="en-US" b="0" dirty="0">
                          <a:effectLst/>
                          <a:latin typeface="quote-cjk-patch"/>
                        </a:rPr>
                        <a:t>Yes</a:t>
                      </a:r>
                    </a:p>
                  </a:txBody>
                  <a:tcPr marL="121920" marT="76200" marB="7620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53623302"/>
                  </a:ext>
                </a:extLst>
              </a:tr>
            </a:tbl>
          </a:graphicData>
        </a:graphic>
      </p:graphicFrame>
      <p:sp>
        <p:nvSpPr>
          <p:cNvPr id="3" name="Rectangle 1">
            <a:extLst>
              <a:ext uri="{FF2B5EF4-FFF2-40B4-BE49-F238E27FC236}">
                <a16:creationId xmlns:a16="http://schemas.microsoft.com/office/drawing/2014/main" id="{BBE9634A-9BA0-5ABE-1D45-590D5F5479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87563" y="2579688"/>
            <a:ext cx="9906000" cy="4572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203136" rIns="0" bIns="101568" numCol="1" anchor="ctr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1" i="0" u="none" strike="noStrike" cap="none" normalizeH="0" baseline="0">
                <a:ln>
                  <a:noFill/>
                </a:ln>
                <a:solidFill>
                  <a:srgbClr val="0F1115"/>
                </a:solidFill>
                <a:effectLst/>
                <a:latin typeface="quote-cjk-patch"/>
              </a:rPr>
              <a:t>Lambda vs Anonymous Class: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529987184"/>
      </p:ext>
    </p:extLst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4084FF4-E87B-CEE7-4340-4A8CF2BFB65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6828F5D4-B2EC-8E00-6795-0B3400040532}"/>
              </a:ext>
            </a:extLst>
          </p:cNvPr>
          <p:cNvSpPr txBox="1"/>
          <p:nvPr/>
        </p:nvSpPr>
        <p:spPr>
          <a:xfrm>
            <a:off x="2479431" y="-2609101"/>
            <a:ext cx="4958860" cy="1208792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lnSpc>
                <a:spcPts val="2250"/>
              </a:lnSpc>
              <a:spcBef>
                <a:spcPts val="2400"/>
              </a:spcBef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Stream Performance Tips: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Use primitive streams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 (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quote-cjk-patch"/>
              </a:rPr>
              <a:t>IntStream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,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quote-cjk-patch"/>
              </a:rPr>
              <a:t>LongStream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,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quote-cjk-patch"/>
              </a:rPr>
              <a:t>DoubleStream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) for numeric operations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Parallel streams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 benefit large datasets with independent operations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Avoid side-effects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 in stream operations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Order matters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 - place filter before map when possible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Limit infinite streams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 to avoid memory issues</a:t>
            </a:r>
          </a:p>
          <a:p>
            <a:pPr algn="l">
              <a:lnSpc>
                <a:spcPts val="2250"/>
              </a:lnSpc>
              <a:spcBef>
                <a:spcPts val="2400"/>
              </a:spcBef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Common Pitfalls: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Reusing streams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: Streams can only be consumed once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Modifying source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: Don't modify collection while streaming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Stateful lambdas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: Avoid using mutable state in parallel streams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Null values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: Be careful with nulls in streams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Performance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: Not always faster than loops for small collections</a:t>
            </a:r>
          </a:p>
          <a:p>
            <a:pPr algn="l">
              <a:lnSpc>
                <a:spcPts val="2250"/>
              </a:lnSpc>
              <a:spcBef>
                <a:spcPts val="2400"/>
              </a:spcBef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Additional Challenges: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Implement your own collector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Create a stream pipeline for complex data transformation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Build a functional interface for custom operations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Implement parallel version of merge sort using streams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Create a real-time data processing pipeline</a:t>
            </a:r>
          </a:p>
        </p:txBody>
      </p:sp>
    </p:spTree>
    <p:extLst>
      <p:ext uri="{BB962C8B-B14F-4D97-AF65-F5344CB8AC3E}">
        <p14:creationId xmlns:p14="http://schemas.microsoft.com/office/powerpoint/2010/main" val="11912733"/>
      </p:ext>
    </p:extLst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35430E2-575B-DE05-1E7C-0285A3ECC8D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CB18A36B-1766-B27E-1789-FB5E7A6FB1A1}"/>
              </a:ext>
            </a:extLst>
          </p:cNvPr>
          <p:cNvSpPr txBox="1"/>
          <p:nvPr/>
        </p:nvSpPr>
        <p:spPr>
          <a:xfrm>
            <a:off x="2479431" y="-1129209"/>
            <a:ext cx="4958860" cy="912814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lnSpc>
                <a:spcPts val="2400"/>
              </a:lnSpc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Real-World Core Java Projects &amp; Scenarios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I'll create practical, real-world problems that test your Core Java knowledge (OOP, Collections, Exception Handling, File I/O) without advanced features.</a:t>
            </a:r>
          </a:p>
          <a:p>
            <a:pPr>
              <a:buNone/>
            </a:pPr>
            <a:br>
              <a:rPr lang="en-US" dirty="0"/>
            </a:br>
            <a:endParaRPr lang="en-US" dirty="0"/>
          </a:p>
          <a:p>
            <a:pPr algn="l">
              <a:lnSpc>
                <a:spcPts val="2400"/>
              </a:lnSpc>
              <a:spcBef>
                <a:spcPts val="2400"/>
              </a:spcBef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Project 1: Banking System - ATM Simulation</a:t>
            </a:r>
          </a:p>
          <a:p>
            <a:pPr algn="l">
              <a:lnSpc>
                <a:spcPts val="2250"/>
              </a:lnSpc>
              <a:spcBef>
                <a:spcPts val="2400"/>
              </a:spcBef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Real-World Scenario: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A bank needs an ATM simulation system where customers can perform basic banking operations. The system must handle multiple account types, transactions, and maintain security.</a:t>
            </a:r>
          </a:p>
          <a:p>
            <a:pPr algn="l">
              <a:lnSpc>
                <a:spcPts val="2250"/>
              </a:lnSpc>
              <a:spcBef>
                <a:spcPts val="2400"/>
              </a:spcBef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Requirements: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Different account types (Savings, Current)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PIN validation and security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Transaction history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Daily withdrawal limits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Interest calculation for savings accounts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Minimum balance maintenance</a:t>
            </a:r>
          </a:p>
        </p:txBody>
      </p:sp>
    </p:spTree>
    <p:extLst>
      <p:ext uri="{BB962C8B-B14F-4D97-AF65-F5344CB8AC3E}">
        <p14:creationId xmlns:p14="http://schemas.microsoft.com/office/powerpoint/2010/main" val="2020373175"/>
      </p:ext>
    </p:extLst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86C7C7E-2D31-F5DA-2FCC-908AF031C20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5D687E14-1347-BF5F-C2D2-CBE20F937E0E}"/>
              </a:ext>
            </a:extLst>
          </p:cNvPr>
          <p:cNvSpPr txBox="1"/>
          <p:nvPr/>
        </p:nvSpPr>
        <p:spPr>
          <a:xfrm>
            <a:off x="468923" y="-84689904"/>
            <a:ext cx="6969368" cy="15074254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import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java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util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*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import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java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io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*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import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java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time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LocalDateTime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import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java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time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format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DateTimeFormatter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Custom Exceptions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InsufficientBalanceException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extends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Exception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InsufficientBalanceException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message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super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message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InvalidPinException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extends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Exception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InvalidPinException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message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super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message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DailyLimitExceededException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extends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Exception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DailyLimitExceededException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message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super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message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AccountNotFoundException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extends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Exception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AccountNotFoundException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message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super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message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Transaction class to store transaction details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Transaction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type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amount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balance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LocalDateTime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timestamp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description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Transaction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type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amount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balance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description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type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type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amount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amount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balance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balance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timestamp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LocalDateTime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now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description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description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@Override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toString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DateTimeFormatter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formatter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DateTimeFormatter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ofPattern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</a:t>
            </a:r>
            <a:r>
              <a:rPr lang="en-US" b="0" dirty="0" err="1">
                <a:solidFill>
                  <a:srgbClr val="50A14F"/>
                </a:solidFill>
                <a:effectLst/>
                <a:latin typeface="Menlo"/>
              </a:rPr>
              <a:t>yyyy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-MM-dd </a:t>
            </a:r>
            <a:r>
              <a:rPr lang="en-US" b="0" dirty="0" err="1">
                <a:solidFill>
                  <a:srgbClr val="50A14F"/>
                </a:solidFill>
                <a:effectLst/>
                <a:latin typeface="Menlo"/>
              </a:rPr>
              <a:t>HH:mm:ss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format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"%s | %-10s | Amount: ₹%.2f | Balance: ₹%.2f | %s"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timestamp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format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formatter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type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amount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balance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description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toFileString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format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"%s|%.2f|%.2f|%s|%s"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type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amount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balance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timestamp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toString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description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Abstract Account class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abstract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Account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protected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accountNumber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protected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accountHolderName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protected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pin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protected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balance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protected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Transaction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transactions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protected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A626A4"/>
                </a:solidFill>
                <a:effectLst/>
                <a:latin typeface="Menlo"/>
              </a:rPr>
              <a:t>boolean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isActive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protected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LocalDateTime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lastTransaction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Account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accountNumber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accountHolderName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pin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initialDeposit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accountNumber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accountNumber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accountHolderName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accountHolderName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pin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pin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balance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initialDeposit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isActive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true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transactions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ArrayList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&lt;&gt;();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lastTransaction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LocalDateTime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now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addTransaction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"OPENING"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initialDeposit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"Account opened with initial deposit"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Abstract methods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abstract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calculateInterest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abstract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getMinimumBalance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abstract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getDailyWithdrawalLimit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Common methods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deposit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amount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amount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&lt;=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throw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IllegalArgumentException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"Deposit amount must be positive"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balance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+=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amount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addTransaction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"DEPOSIT"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amount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"Cash deposit"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withdraw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amount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throws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InsufficientBalanceException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DailyLimitExceededException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amount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&lt;=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throw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IllegalArgumentException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"Withdrawal amount must be positive"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Check daily limit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dailyWithdrawn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getTodayWithdrawals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dailyWithdrawn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amount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&gt;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getDailyWithdrawalLimit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throw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DailyLimitExceededException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format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"Daily withdrawal limit of ₹%.2f exceeded. Already withdrawn: ₹%.2f"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getDailyWithdrawalLimit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dailyWithdrawn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Check minimum balance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balance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-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amount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&lt;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getMinimumBalance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throw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InsufficientBalanceException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format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"Insufficient balance. Minimum balance required: ₹%.2f"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getMinimumBalance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()));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balance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-=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amount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addTransaction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"WITHDRAWAL"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amount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"Cash withdrawal"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updateLastTransaction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getTodayWithdrawals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LocalDateTime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today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LocalDateTime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now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transactions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stream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filter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t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toString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().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contains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"WITHDRAWAL"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))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filter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t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LocalDateTime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parse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toString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().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split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"\\|"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)[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].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trim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DateTimeFormatter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ofPattern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</a:t>
            </a:r>
            <a:r>
              <a:rPr lang="en-US" b="0" dirty="0" err="1">
                <a:solidFill>
                  <a:srgbClr val="50A14F"/>
                </a:solidFill>
                <a:effectLst/>
                <a:latin typeface="Menlo"/>
              </a:rPr>
              <a:t>yyyy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-MM-dd </a:t>
            </a:r>
            <a:r>
              <a:rPr lang="en-US" b="0" dirty="0" err="1">
                <a:solidFill>
                  <a:srgbClr val="50A14F"/>
                </a:solidFill>
                <a:effectLst/>
                <a:latin typeface="Menlo"/>
              </a:rPr>
              <a:t>HH:mm:ss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)).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toLocalDate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().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equals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today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toLocalDate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()))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mapToDouble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t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[]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parts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toString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().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split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"\\|"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Double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parseDouble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parts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[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2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].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replace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"Amount: ₹"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).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trim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})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sum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transfer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Account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toAccount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amount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throws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InsufficientBalanceException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DailyLimitExceededException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withdraw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amount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toAccount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deposit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amount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addTransaction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"TRANSFER OUT"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amount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"Transfer to "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toAccount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getAccountNumber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toAccount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addTransaction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"TRANSFER IN"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amount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"Transfer from "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accountNumber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protected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addTransaction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type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amount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description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transactions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add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Transaction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type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amount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balance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description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updateLastTransaction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lastTransaction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LocalDateTime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now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A626A4"/>
                </a:solidFill>
                <a:effectLst/>
                <a:latin typeface="Menlo"/>
              </a:rPr>
              <a:t>boolean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validatePin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inputPin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pin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equals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inputPin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changePin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oldPin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newPin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throws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InvalidPinException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!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validatePin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oldPin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throw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InvalidPinException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"Current PIN is incorrect"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newPin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length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!=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4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||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!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newPin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matches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"\\d+"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throw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InvalidPinException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"PIN must be 4 digits"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pin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newPin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addTransaction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"PIN CHANGE"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"PIN changed successfully"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displayMiniStatement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"\n=== MINI STATEMENT ==="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"Account: "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accountNumber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"Holder: "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accountHolderName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"Current Balance: ₹"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format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"%.2f"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balance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"\</a:t>
            </a:r>
            <a:r>
              <a:rPr lang="en-US" b="0" dirty="0" err="1">
                <a:solidFill>
                  <a:srgbClr val="50A14F"/>
                </a:solidFill>
                <a:effectLst/>
                <a:latin typeface="Menlo"/>
              </a:rPr>
              <a:t>nLast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 5 Transactions:"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transactions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stream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skip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Math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max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transactions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size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-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5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))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forEach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::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displayFullStatement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"\n=== FULL STATEMENT ==="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"Account: "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accountNumber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"Holder: "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accountHolderName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"Current Balance: ₹"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format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"%.2f"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balance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"\</a:t>
            </a:r>
            <a:r>
              <a:rPr lang="en-US" b="0" dirty="0" err="1">
                <a:solidFill>
                  <a:srgbClr val="50A14F"/>
                </a:solidFill>
                <a:effectLst/>
                <a:latin typeface="Menlo"/>
              </a:rPr>
              <a:t>nAll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 Transactions:"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transactions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forEach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::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Getters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getAccountNumber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accountNumber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getAccountHolderName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accountHolderName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getBalance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balance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A626A4"/>
                </a:solidFill>
                <a:effectLst/>
                <a:latin typeface="Menlo"/>
              </a:rPr>
              <a:t>boolean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isActive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isActive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deactivate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isActive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false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addTransaction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"DEACTIVATION"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"Account deactivated"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activate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isActive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true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addTransaction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"ACTIVATION"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"Account activated"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Savings Account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SavingsAccount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extends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Account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final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MINIMUM_BALANCE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1000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final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DAILY_WITHDRAWAL_LIMIT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50000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final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INTEREST_RATE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0.04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4% per annum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freeWithdrawals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5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withdrawalsThisMonth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SavingsAccount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accountNumber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accountHolderName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pin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initialDeposit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super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accountNumber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accountHolderName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pin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initialDeposit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@Override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calculateInterest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balance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*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INTEREST_RATE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/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12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Monthly interest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@Override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getMinimumBalance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MINIMUM_BALANCE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@Override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getDailyWithdrawalLimit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DAILY_WITHDRAWAL_LIMIT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@Override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withdraw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amount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throws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InsufficientBalanceException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DailyLimitExceededException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A626A4"/>
                </a:solidFill>
                <a:effectLst/>
                <a:latin typeface="Menlo"/>
              </a:rPr>
              <a:t>super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withdraw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amount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withdrawalsThisMonth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++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Charge for extra withdrawals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withdrawalsThisMonth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&gt;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freeWithdrawals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charge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20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₹20 per extra withdrawal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balance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-=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charge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addTransaction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"SERVICE CHARGE"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charge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"Extra withdrawal charge"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applyMonthlyInterest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interest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calculateInterest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balance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+=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interest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addTransaction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"INTEREST"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interest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"Monthly interest credited"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resetMonthlyCounters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withdrawalsThisMonth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Current Account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CurrentAccount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extends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Account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final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MINIMUM_BALANCE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5000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final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DAILY_WITHDRAWAL_LIMIT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100000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final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OVERDRAFT_LIMIT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25000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overdraftUsed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CurrentAccount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accountNumber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accountHolderName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pin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initialDeposit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super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accountNumber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accountHolderName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pin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initialDeposit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@Override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calculateInterest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Current accounts don't earn interest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@Override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getMinimumBalance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MINIMUM_BALANCE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@Override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getDailyWithdrawalLimit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DAILY_WITHDRAWAL_LIMIT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@Override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withdraw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amount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throws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InsufficientBalanceException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DailyLimitExceededException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amount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&lt;=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throw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IllegalArgumentException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"Withdrawal amount must be positive"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dailyWithdrawn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getTodayWithdrawals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dailyWithdrawn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amount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&gt;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DAILY_WITHDRAWAL_LIMIT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throw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DailyLimitExceededException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"Daily withdrawal limit exceeded"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Check if we need to use overdraft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balance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-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amount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&lt;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MINIMUM_BALANCE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required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amount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-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balance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-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MINIMUM_BALANCE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required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&gt;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overdraftUsed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required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&gt;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OVERDRAFT_LIMIT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throw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InsufficientBalanceException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"Overdraft limit exceeded"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overdraftUsed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+=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required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balance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-=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amount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-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required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addTransaction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"OVERDRAFT"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required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"Overdraft facility used"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balance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-=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amount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addTransaction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"WITHDRAWAL"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amount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"Cash withdrawal"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updateLastTransaction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getAvailableOverdraft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OVERDRAFT_LIMIT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-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overdraftUsed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Bank class to manage all accounts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Bank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bankName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Map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Account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accounts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transactionLog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totalAccounts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Bank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bankName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bankName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bankName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accounts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HashMap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&lt;&gt;();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transactionLog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ArrayList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&lt;&gt;();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totalAccounts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createAccount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type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holderName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pin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initialDeposit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accountNumber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generateAccountNumber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Account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account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type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equalsIgnoreCase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"SAVINGS"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account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SavingsAccount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accountNumber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holderName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pin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initialDeposit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else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type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equalsIgnoreCase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"CURRENT"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account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CurrentAccount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accountNumber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holderName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pin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initialDeposit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else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throw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IllegalArgumentException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"Invalid account type"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accounts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put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accountNumber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account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totalAccounts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++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logTransaction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"ACCOUNT CREATED"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accountNumber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initialDeposit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accountNumber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generateAccountNumber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format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"ACC%05d"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++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totalAccounts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Account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login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accountNumber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pin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throws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AccountNotFoundException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InvalidPinException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Account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account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accounts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accountNumber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account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null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throw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AccountNotFoundException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"Account not found: "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accountNumber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!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account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validatePin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pin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throw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InvalidPinException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"Invalid PIN"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!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account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isActive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throw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IllegalStateException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"Account is deactivated"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account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processMonthlyInterest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Account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account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accounts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values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account </a:t>
            </a:r>
            <a:r>
              <a:rPr lang="en-US" b="0" dirty="0" err="1">
                <a:solidFill>
                  <a:srgbClr val="A626A4"/>
                </a:solidFill>
                <a:effectLst/>
                <a:latin typeface="Menlo"/>
              </a:rPr>
              <a:t>instanceof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SavingsAccount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((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SavingsAccount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account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applyMonthlyInterest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((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SavingsAccount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account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resetMonthlyCounters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format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"%s | %s | Account: %s | Amount: ₹%.2f"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latinLnBrk="1">
              <a:lnSpc>
                <a:spcPts val="1650"/>
              </a:lnSpc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Local</a:t>
            </a:r>
            <a:r>
              <a:rPr lang="en-US" dirty="0" err="1">
                <a:solidFill>
                  <a:srgbClr val="4078F2"/>
                </a:solidFill>
                <a:latin typeface="Menlo"/>
              </a:rPr>
              <a:t>logTransaction</a:t>
            </a:r>
            <a:r>
              <a:rPr lang="en-US" dirty="0">
                <a:solidFill>
                  <a:srgbClr val="383A42"/>
                </a:solidFill>
                <a:latin typeface="Menlo"/>
              </a:rPr>
              <a:t>(</a:t>
            </a:r>
            <a:r>
              <a:rPr lang="en-US" dirty="0">
                <a:solidFill>
                  <a:srgbClr val="50A14F"/>
                </a:solidFill>
                <a:latin typeface="Menlo"/>
              </a:rPr>
              <a:t>"MONTHLY INTEREST"</a:t>
            </a:r>
            <a:r>
              <a:rPr lang="en-US" dirty="0">
                <a:solidFill>
                  <a:srgbClr val="383A42"/>
                </a:solidFill>
                <a:latin typeface="Menlo"/>
              </a:rPr>
              <a:t>,</a:t>
            </a:r>
            <a:r>
              <a:rPr lang="en-US" dirty="0">
                <a:solidFill>
                  <a:srgbClr val="0F1115"/>
                </a:solidFill>
                <a:latin typeface="Menlo"/>
              </a:rPr>
              <a:t> </a:t>
            </a:r>
            <a:r>
              <a:rPr lang="en-US" dirty="0">
                <a:solidFill>
                  <a:srgbClr val="50A14F"/>
                </a:solidFill>
                <a:latin typeface="Menlo"/>
              </a:rPr>
              <a:t>"ALL"</a:t>
            </a:r>
            <a:r>
              <a:rPr lang="en-US" dirty="0">
                <a:solidFill>
                  <a:srgbClr val="383A42"/>
                </a:solidFill>
                <a:latin typeface="Menlo"/>
              </a:rPr>
              <a:t>,</a:t>
            </a:r>
            <a:r>
              <a:rPr lang="en-US" dirty="0">
                <a:solidFill>
                  <a:srgbClr val="0F1115"/>
                </a:solidFill>
                <a:latin typeface="Menlo"/>
              </a:rPr>
              <a:t> </a:t>
            </a:r>
            <a:r>
              <a:rPr lang="en-US" dirty="0">
                <a:solidFill>
                  <a:srgbClr val="B76B01"/>
                </a:solidFill>
                <a:latin typeface="Menlo"/>
              </a:rPr>
              <a:t>0</a:t>
            </a:r>
            <a:r>
              <a:rPr lang="en-US" dirty="0">
                <a:solidFill>
                  <a:srgbClr val="383A42"/>
                </a:solidFill>
                <a:latin typeface="Menlo"/>
              </a:rPr>
              <a:t>);</a:t>
            </a:r>
            <a:endParaRPr lang="en-US" dirty="0">
              <a:solidFill>
                <a:srgbClr val="0F1115"/>
              </a:solidFill>
              <a:latin typeface="Menlo"/>
            </a:endParaRPr>
          </a:p>
          <a:p>
            <a:pPr latinLnBrk="1">
              <a:lnSpc>
                <a:spcPts val="1650"/>
              </a:lnSpc>
            </a:pPr>
            <a:r>
              <a:rPr lang="en-US" dirty="0">
                <a:solidFill>
                  <a:srgbClr val="0F1115"/>
                </a:solidFill>
                <a:latin typeface="Menlo"/>
              </a:rPr>
              <a:t>    </a:t>
            </a:r>
            <a:r>
              <a:rPr lang="en-US" dirty="0">
                <a:solidFill>
                  <a:srgbClr val="383A42"/>
                </a:solidFill>
                <a:latin typeface="Menlo"/>
              </a:rPr>
              <a:t>}</a:t>
            </a:r>
            <a:endParaRPr lang="en-US" dirty="0">
              <a:solidFill>
                <a:srgbClr val="0F1115"/>
              </a:solidFill>
              <a:latin typeface="Menlo"/>
            </a:endParaRPr>
          </a:p>
          <a:p>
            <a:pPr latinLnBrk="1">
              <a:lnSpc>
                <a:spcPts val="1650"/>
              </a:lnSpc>
            </a:pPr>
            <a:r>
              <a:rPr lang="en-US" dirty="0">
                <a:solidFill>
                  <a:srgbClr val="0F1115"/>
                </a:solidFill>
                <a:latin typeface="Menlo"/>
              </a:rPr>
              <a:t>    </a:t>
            </a:r>
          </a:p>
          <a:p>
            <a:pPr latinLnBrk="1">
              <a:lnSpc>
                <a:spcPts val="1650"/>
              </a:lnSpc>
            </a:pPr>
            <a:r>
              <a:rPr lang="en-US" dirty="0">
                <a:solidFill>
                  <a:srgbClr val="0F1115"/>
                </a:solidFill>
                <a:latin typeface="Menlo"/>
              </a:rPr>
              <a:t>    </a:t>
            </a:r>
            <a:r>
              <a:rPr lang="en-US" dirty="0">
                <a:solidFill>
                  <a:srgbClr val="A626A4"/>
                </a:solidFill>
                <a:latin typeface="Menlo"/>
              </a:rPr>
              <a:t>private</a:t>
            </a:r>
            <a:r>
              <a:rPr lang="en-US" dirty="0">
                <a:solidFill>
                  <a:srgbClr val="0F1115"/>
                </a:solidFill>
                <a:latin typeface="Menlo"/>
              </a:rPr>
              <a:t> </a:t>
            </a:r>
            <a:r>
              <a:rPr lang="en-US" dirty="0">
                <a:solidFill>
                  <a:srgbClr val="A626A4"/>
                </a:solidFill>
                <a:latin typeface="Menlo"/>
              </a:rPr>
              <a:t>void</a:t>
            </a:r>
            <a:r>
              <a:rPr lang="en-US" dirty="0">
                <a:solidFill>
                  <a:srgbClr val="0F1115"/>
                </a:solidFill>
                <a:latin typeface="Menlo"/>
              </a:rPr>
              <a:t> </a:t>
            </a:r>
            <a:r>
              <a:rPr lang="en-US" dirty="0" err="1">
                <a:solidFill>
                  <a:srgbClr val="4078F2"/>
                </a:solidFill>
                <a:latin typeface="Menlo"/>
              </a:rPr>
              <a:t>logTransaction</a:t>
            </a:r>
            <a:r>
              <a:rPr lang="en-US" dirty="0">
                <a:solidFill>
                  <a:srgbClr val="383A42"/>
                </a:solidFill>
                <a:latin typeface="Menlo"/>
              </a:rPr>
              <a:t>(</a:t>
            </a:r>
            <a:r>
              <a:rPr lang="en-US" dirty="0">
                <a:solidFill>
                  <a:srgbClr val="B76B01"/>
                </a:solidFill>
                <a:latin typeface="Menlo"/>
              </a:rPr>
              <a:t>String</a:t>
            </a:r>
            <a:r>
              <a:rPr lang="en-US" dirty="0">
                <a:solidFill>
                  <a:srgbClr val="0F1115"/>
                </a:solidFill>
                <a:latin typeface="Menlo"/>
              </a:rPr>
              <a:t> type</a:t>
            </a:r>
            <a:r>
              <a:rPr lang="en-US" dirty="0">
                <a:solidFill>
                  <a:srgbClr val="383A42"/>
                </a:solidFill>
                <a:latin typeface="Menlo"/>
              </a:rPr>
              <a:t>,</a:t>
            </a:r>
            <a:r>
              <a:rPr lang="en-US" dirty="0">
                <a:solidFill>
                  <a:srgbClr val="0F1115"/>
                </a:solidFill>
                <a:latin typeface="Menlo"/>
              </a:rPr>
              <a:t> </a:t>
            </a:r>
            <a:r>
              <a:rPr lang="en-US" dirty="0">
                <a:solidFill>
                  <a:srgbClr val="B76B01"/>
                </a:solidFill>
                <a:latin typeface="Menlo"/>
              </a:rPr>
              <a:t>String</a:t>
            </a:r>
            <a:r>
              <a:rPr lang="en-US" dirty="0">
                <a:solidFill>
                  <a:srgbClr val="0F1115"/>
                </a:solidFill>
                <a:latin typeface="Menlo"/>
              </a:rPr>
              <a:t> account</a:t>
            </a:r>
            <a:r>
              <a:rPr lang="en-US" dirty="0">
                <a:solidFill>
                  <a:srgbClr val="383A42"/>
                </a:solidFill>
                <a:latin typeface="Menlo"/>
              </a:rPr>
              <a:t>,</a:t>
            </a:r>
            <a:r>
              <a:rPr lang="en-US" dirty="0">
                <a:solidFill>
                  <a:srgbClr val="0F1115"/>
                </a:solidFill>
                <a:latin typeface="Menlo"/>
              </a:rPr>
              <a:t> </a:t>
            </a:r>
            <a:r>
              <a:rPr lang="en-US" dirty="0">
                <a:solidFill>
                  <a:srgbClr val="A626A4"/>
                </a:solidFill>
                <a:latin typeface="Menlo"/>
              </a:rPr>
              <a:t>double</a:t>
            </a:r>
            <a:r>
              <a:rPr lang="en-US" dirty="0">
                <a:solidFill>
                  <a:srgbClr val="0F1115"/>
                </a:solidFill>
                <a:latin typeface="Menlo"/>
              </a:rPr>
              <a:t> amount</a:t>
            </a:r>
            <a:r>
              <a:rPr lang="en-US" dirty="0">
                <a:solidFill>
                  <a:srgbClr val="383A42"/>
                </a:solidFill>
                <a:latin typeface="Menlo"/>
              </a:rPr>
              <a:t>)</a:t>
            </a:r>
            <a:r>
              <a:rPr lang="en-US" dirty="0">
                <a:solidFill>
                  <a:srgbClr val="0F1115"/>
                </a:solidFill>
                <a:latin typeface="Menlo"/>
              </a:rPr>
              <a:t> </a:t>
            </a:r>
            <a:r>
              <a:rPr lang="en-US" dirty="0">
                <a:solidFill>
                  <a:srgbClr val="383A42"/>
                </a:solidFill>
                <a:latin typeface="Menlo"/>
              </a:rPr>
              <a:t>{</a:t>
            </a:r>
            <a:endParaRPr lang="en-US" dirty="0">
              <a:solidFill>
                <a:srgbClr val="0F1115"/>
              </a:solidFill>
              <a:latin typeface="Menlo"/>
            </a:endParaRPr>
          </a:p>
          <a:p>
            <a:pPr latinLnBrk="1">
              <a:lnSpc>
                <a:spcPts val="1650"/>
              </a:lnSpc>
            </a:pPr>
            <a:r>
              <a:rPr lang="en-US" dirty="0">
                <a:solidFill>
                  <a:srgbClr val="0F1115"/>
                </a:solidFill>
                <a:latin typeface="Menlo"/>
              </a:rPr>
              <a:t>        </a:t>
            </a:r>
            <a:r>
              <a:rPr lang="en-US" dirty="0">
                <a:solidFill>
                  <a:srgbClr val="B76B01"/>
                </a:solidFill>
                <a:latin typeface="Menlo"/>
              </a:rPr>
              <a:t>String</a:t>
            </a:r>
            <a:r>
              <a:rPr lang="en-US" dirty="0">
                <a:solidFill>
                  <a:srgbClr val="0F1115"/>
                </a:solidFill>
                <a:latin typeface="Menlo"/>
              </a:rPr>
              <a:t> log </a:t>
            </a:r>
            <a:r>
              <a:rPr lang="en-US" dirty="0">
                <a:solidFill>
                  <a:srgbClr val="4078F2"/>
                </a:solidFill>
                <a:latin typeface="Menlo"/>
              </a:rPr>
              <a:t>=</a:t>
            </a:r>
            <a:r>
              <a:rPr lang="en-US" dirty="0">
                <a:solidFill>
                  <a:srgbClr val="0F1115"/>
                </a:solidFill>
                <a:latin typeface="Menlo"/>
              </a:rPr>
              <a:t> </a:t>
            </a:r>
            <a:r>
              <a:rPr lang="en-US" dirty="0" err="1">
                <a:solidFill>
                  <a:srgbClr val="B76B01"/>
                </a:solidFill>
                <a:latin typeface="Menlo"/>
              </a:rPr>
              <a:t>String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DateTime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now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().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format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DateTimeFormatter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ofPattern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</a:t>
            </a:r>
            <a:r>
              <a:rPr lang="en-US" b="0" dirty="0" err="1">
                <a:solidFill>
                  <a:srgbClr val="50A14F"/>
                </a:solidFill>
                <a:effectLst/>
                <a:latin typeface="Menlo"/>
              </a:rPr>
              <a:t>yyyy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-MM-dd </a:t>
            </a:r>
            <a:r>
              <a:rPr lang="en-US" b="0" dirty="0" err="1">
                <a:solidFill>
                  <a:srgbClr val="50A14F"/>
                </a:solidFill>
                <a:effectLst/>
                <a:latin typeface="Menlo"/>
              </a:rPr>
              <a:t>HH:mm:ss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)),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type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account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amount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transactionLog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add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log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displayBankStatistics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"\n=== BANK STATISTICS ==="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"Bank Name: "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bankName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"Total Accounts: "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accounts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size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totalDeposits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accounts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values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().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stream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mapToDouble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Account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::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getBalance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sum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printf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"Total Deposits: ₹%.2f%n"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totalDeposits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long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savingsCount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accounts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values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().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stream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filter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a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a </a:t>
            </a:r>
            <a:r>
              <a:rPr lang="en-US" b="0" dirty="0" err="1">
                <a:solidFill>
                  <a:srgbClr val="A626A4"/>
                </a:solidFill>
                <a:effectLst/>
                <a:latin typeface="Menlo"/>
              </a:rPr>
              <a:t>instanceof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SavingsAccount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count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long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currentCount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accounts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values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().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stream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filter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a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a </a:t>
            </a:r>
            <a:r>
              <a:rPr lang="en-US" b="0" dirty="0" err="1">
                <a:solidFill>
                  <a:srgbClr val="A626A4"/>
                </a:solidFill>
                <a:effectLst/>
                <a:latin typeface="Menlo"/>
              </a:rPr>
              <a:t>instanceof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CurrentAccount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count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"Savings Accounts: "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savingsCount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"Current Accounts: "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currentCount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"\</a:t>
            </a:r>
            <a:r>
              <a:rPr lang="en-US" b="0" dirty="0" err="1">
                <a:solidFill>
                  <a:srgbClr val="50A14F"/>
                </a:solidFill>
                <a:effectLst/>
                <a:latin typeface="Menlo"/>
              </a:rPr>
              <a:t>nLast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 10 Transactions:"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transactionLog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stream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skip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Math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max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transactionLog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size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-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10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))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forEach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::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saveToFile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filename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throws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IOException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try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BufferedWriter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writer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BufferedWriter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FileWriter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filename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)))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Account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account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accounts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values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writer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write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account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getAccountNumber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","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   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account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getAccountHolderName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","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   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account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getBalance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","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   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account </a:t>
            </a:r>
            <a:r>
              <a:rPr lang="en-US" b="0" dirty="0" err="1">
                <a:solidFill>
                  <a:srgbClr val="A626A4"/>
                </a:solidFill>
                <a:effectLst/>
                <a:latin typeface="Menlo"/>
              </a:rPr>
              <a:t>instanceof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SavingsAccount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?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"SAVINGS"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"CURRENT"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writer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newLine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ATM Machine Simulation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ATMSimulation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Scanner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scanner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Scanner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in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Bank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bank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Bank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"National Bank"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Account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currentAccount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null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main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[]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args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initializeSampleData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while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true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try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currentAccount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null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showMainMenu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else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showAccountMenu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catch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Exception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"Error: "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e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getMessage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initializeSampleData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Create some sample accounts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bank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createAccount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"SAVINGS"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"Rajesh Kumar"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"1234"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50000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bank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createAccount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"SAVINGS"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"Priya Sharma"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"5678"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75000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bank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createAccount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"CURRENT"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"Amit Patel"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"9012"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100000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bank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createAccount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"CURRENT"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"Sneha Reddy"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"3456"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150000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showMainMenu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"\n=== WELCOME TO "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bank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getClass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getSimpleName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 ATM ==="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"1. Login"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"2. Create New Account"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"3. Bank Statistics"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"4. Exit"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"Choose option: 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choice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scanner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nextInt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scanner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nextLine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consume newline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switch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choice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case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1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login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break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case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2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createAccount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break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case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3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bank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displayBankStatistics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break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case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4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"Thank you for using our ATM. Goodbye!"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exit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default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"Invalid option!"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login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try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"Enter Account Number: 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accNo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scanner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nextLine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"Enter PIN: 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pin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scanner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nextLine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currentAccount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bank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login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accNo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pin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"\</a:t>
            </a:r>
            <a:r>
              <a:rPr lang="en-US" b="0" dirty="0" err="1">
                <a:solidFill>
                  <a:srgbClr val="50A14F"/>
                </a:solidFill>
                <a:effectLst/>
                <a:latin typeface="Menlo"/>
              </a:rPr>
              <a:t>nWelcome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, "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currentAccount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getAccountHolderName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"!"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catch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Exception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"Login failed: "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e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getMessage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createAccount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try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"\n=== NEW ACCOUNT CREATION ==="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"Account Type (SAVINGS/CURRENT): 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type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scanner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nextLine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"Your Full Name: 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name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scanner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nextLine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"Choose 4-digit PIN: 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pin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scanner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nextLine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"Initial Deposit (Minimum ₹1000 for Savings, ₹5000 for Current): 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deposit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scanner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nextDouble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scanner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nextLine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accNo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bank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createAccount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type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name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pin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deposit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"Account created successfully!"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"Your Account Number: "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accNo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"Please note down your account number."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catch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Exception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"Account creation failed: "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e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getMessage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showAccountMenu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"\n=== ACCOUNT MENU ==="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"1. Check Balance"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"2. Deposit Cash"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"3. Withdraw Cash"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"4. Transfer Money"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"5. Mini Statement"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"6. Full Statement"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"7. Change PIN"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"8. Calculate Interest (Savings only)"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"9. Logout"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"Choose option: 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choice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scanner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nextInt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scanner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nextLine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try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switch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choice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case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1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checkBalance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break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case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2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deposit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break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case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3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withdraw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break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case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4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transfer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break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case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5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currentAccount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displayMiniStatement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break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case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6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currentAccount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displayFullStatement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break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case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7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changePin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break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case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8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calculateInterest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break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case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9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logout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break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default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"Invalid option!"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catch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Exception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"Transaction failed: "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e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getMessage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checkBalance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printf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"Current Balance: ₹%.2f%n"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currentAccount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getBalance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deposit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"Enter amount to deposit: ₹"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amount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scanner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nextDouble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scanner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nextLine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currentAccount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deposit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amount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printf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"₹%.2f deposited successfully!%n"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amount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checkBalance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withdraw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throws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InsufficientBalanceException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DailyLimitExceededException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"Enter amount to withdraw: ₹"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amount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scanner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nextDouble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scanner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nextLine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currentAccount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withdraw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amount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printf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"Please collect your cash: ₹%.2f%n"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amount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checkBalance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transfer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throws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AccountNotFoundException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InsufficientBalanceException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DailyLimitExceededException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InvalidPinException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"Enter beneficiary account number: 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toAccNo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scanner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nextLine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Account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toAccount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bank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login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toAccNo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"0000"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Simplified - in real ATM you'd verify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"Enter amount to transfer: ₹"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amount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scanner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nextDouble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scanner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nextLine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"Enter your PIN to confirm: 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pin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scanner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nextLine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!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currentAccount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validatePin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pin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throw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InvalidPinException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"Incorrect PIN"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currentAccount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transfer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toAccount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amount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printf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"₹%.2f transferred successfully to %</a:t>
            </a:r>
            <a:r>
              <a:rPr lang="en-US" b="0" dirty="0" err="1">
                <a:solidFill>
                  <a:srgbClr val="50A14F"/>
                </a:solidFill>
                <a:effectLst/>
                <a:latin typeface="Menlo"/>
              </a:rPr>
              <a:t>s%n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amount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toAccount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getAccountHolderName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checkBalance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changePin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throws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InvalidPinException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"Enter current PIN: 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oldPin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scanner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nextLine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"Enter new 4-digit PIN: 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newPin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scanner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nextLine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"Confirm new PIN: 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confirmPin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scanner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nextLine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!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newPin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equals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confirmPin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"PINs don't match!"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currentAccount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changePin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oldPin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newPin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"PIN changed successfully!"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calculateInterest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currentAccount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A626A4"/>
                </a:solidFill>
                <a:effectLst/>
                <a:latin typeface="Menlo"/>
              </a:rPr>
              <a:t>instanceof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SavingsAccount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interest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currentAccount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calculateInterest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printf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"Monthly interest you will earn: ₹%.2f%n"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interest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else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"Current accounts don't earn interest."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logout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"Goodbye, "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currentAccount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getAccountHolderName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"!"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currentAccount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null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</p:txBody>
      </p:sp>
    </p:spTree>
    <p:extLst>
      <p:ext uri="{BB962C8B-B14F-4D97-AF65-F5344CB8AC3E}">
        <p14:creationId xmlns:p14="http://schemas.microsoft.com/office/powerpoint/2010/main" val="4049098951"/>
      </p:ext>
    </p:extLst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14DCCDD-1A76-AF1A-CCB5-9A78AF6F842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6FA100D8-A872-7ECA-A8C0-81CC467E127A}"/>
              </a:ext>
            </a:extLst>
          </p:cNvPr>
          <p:cNvSpPr txBox="1"/>
          <p:nvPr/>
        </p:nvSpPr>
        <p:spPr>
          <a:xfrm>
            <a:off x="2479431" y="131393"/>
            <a:ext cx="4958860" cy="660693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lnSpc>
                <a:spcPts val="2400"/>
              </a:lnSpc>
              <a:spcBef>
                <a:spcPts val="2400"/>
              </a:spcBef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Project 2: Railway Reservation System</a:t>
            </a:r>
          </a:p>
          <a:p>
            <a:pPr algn="l">
              <a:lnSpc>
                <a:spcPts val="2250"/>
              </a:lnSpc>
              <a:spcBef>
                <a:spcPts val="2400"/>
              </a:spcBef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Real-World Scenario: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Indian Railways needs a reservation system where passengers can book tickets, check availability, cancel bookings, and view train schedules.</a:t>
            </a:r>
          </a:p>
          <a:p>
            <a:pPr algn="l">
              <a:lnSpc>
                <a:spcPts val="2250"/>
              </a:lnSpc>
              <a:spcBef>
                <a:spcPts val="2400"/>
              </a:spcBef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Requirements: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Multiple train types (Express, Superfast, Local)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Different classes (Sleeper, AC, General)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Seat availability checking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Waiting list management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Cancellation with refund calculation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Passenger details management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PNR status tracking</a:t>
            </a:r>
          </a:p>
        </p:txBody>
      </p:sp>
    </p:spTree>
    <p:extLst>
      <p:ext uri="{BB962C8B-B14F-4D97-AF65-F5344CB8AC3E}">
        <p14:creationId xmlns:p14="http://schemas.microsoft.com/office/powerpoint/2010/main" val="3909892506"/>
      </p:ext>
    </p:extLst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13D685A-5937-3C52-2F3B-74955B1FF06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8CD3068B-85D4-F436-5DD5-9713AE791564}"/>
              </a:ext>
            </a:extLst>
          </p:cNvPr>
          <p:cNvSpPr txBox="1"/>
          <p:nvPr/>
        </p:nvSpPr>
        <p:spPr>
          <a:xfrm>
            <a:off x="2479431" y="-88778844"/>
            <a:ext cx="4958860" cy="18442741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import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java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util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*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import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java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time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LocalDate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import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java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time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LocalTime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import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java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time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format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DateTimeFormatter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import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java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time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temporal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ChronoUnit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Custom Exceptions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SeatNotAvailableException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extends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Exception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SeatNotAvailableException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message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super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message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InvalidPNRException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extends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Exception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InvalidPNRException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message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super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message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CancellationException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extends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Exception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CancellationException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message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super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message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Passenger class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Passenger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name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age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gender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idProof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berthPreference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LOWER, MIDDLE, UPPER, SIDE_LOWER, SIDE_UPPER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Passenger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name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age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gender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idProof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berthPreference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name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name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age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age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gender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gender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idProof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idProof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berthPreference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berthPreference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Auto-assign for seniors and children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age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&gt;=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60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berthPreference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"LOWER"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else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age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&lt;=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5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berthPreference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"NO_BERTH"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Children under 5 don't get separate berth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Getters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getName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name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getAge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age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getGender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gender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getIdProof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idProof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getBerthPreference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berthPreference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@Override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toString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format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"%s (%d, %s) - %s"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name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age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gender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berthPreference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Ticket class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Ticket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pnr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trainNumber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trainName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fromStation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toStation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LocalDate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journeyDate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classType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Passenger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passengers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status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CONFIRMED, RAC, WAITING, CANCELLED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Map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seatAllocations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Passenger name -&gt; Seat/Berth number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totalFare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LocalDateTime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bookingTime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bookingId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counter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1000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Ticket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trainNumber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trainName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fromStation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 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toStation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LocalDate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journeyDate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classType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pnr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generatePNR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bookingId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"BK"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++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counter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trainNumber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trainNumber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trainName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trainName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fromStation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fromStation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toStation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toStation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journeyDate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journeyDate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classType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classType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passengers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ArrayList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&lt;&gt;();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seatAllocations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HashMap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&lt;&gt;();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status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"PENDING"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bookingTime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LocalDateTime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now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generatePNR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format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"%</a:t>
            </a:r>
            <a:r>
              <a:rPr lang="en-US" b="0" dirty="0" err="1">
                <a:solidFill>
                  <a:srgbClr val="50A14F"/>
                </a:solidFill>
                <a:effectLst/>
                <a:latin typeface="Menlo"/>
              </a:rPr>
              <a:t>s%d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LocalDate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now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().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format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DateTimeFormatter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ofPattern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</a:t>
            </a:r>
            <a:r>
              <a:rPr lang="en-US" b="0" dirty="0" err="1">
                <a:solidFill>
                  <a:srgbClr val="50A14F"/>
                </a:solidFill>
                <a:effectLst/>
                <a:latin typeface="Menlo"/>
              </a:rPr>
              <a:t>yyMMdd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)),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)(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Math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random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*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10000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addPassenger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Passenger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passenger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passengers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add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passenger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allocateSeat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passengerName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seatNumber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seatAllocations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put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passengerName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seatNumber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calculateFare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baseFare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distance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totalFare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baseFare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*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distance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*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passengers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size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Add GST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totalFare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+=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totalFare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*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0.05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totalFare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displayTicket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"\n"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"="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repeat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60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                    INDIAN RAILWAYS"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"="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repeat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60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"PNR: "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pnr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                    Booking ID: "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bookingId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"Train: "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trainNumber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 - "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trainName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"From: "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fromStation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                    To: "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toStation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"Journey Date: "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journeyDate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        Class: "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classType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"Status: "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status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                    Booking Time: "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bookingTime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"-"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repeat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60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"Passenger Details:"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printf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"%-20s %-5s %-8s %-15s%n"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"Name"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"Age"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"Gender"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"Seat No."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"-"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repeat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60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Passenger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p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passengers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seat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seatAllocations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getOrDefault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p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getName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"WAITING"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printf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"%-20s %-5d %-8s %-15s%n"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p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getName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p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getAge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p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getGender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seat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"-"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repeat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60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printf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"Total Fare: ₹%.2f%n"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totalFare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"="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repeat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60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Getters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getPnr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pnr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getStatus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status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setStatus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status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status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status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Passenger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getPassengers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passengers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LocalDate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getJourneyDate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journeyDate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getTrainNumber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trainNumber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Train class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Train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trainNumber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trainName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type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EXPRESS, SUPERFAST, LOCAL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Map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Station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route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Station -&gt; Distance and Arrival/Departure times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Map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Coach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coaches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Coach type -&gt; Coach object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totalSeats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availableSeats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A626A4"/>
                </a:solidFill>
                <a:effectLst/>
                <a:latin typeface="Menlo"/>
              </a:rPr>
              <a:t>boolean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isOperational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runningDays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MON, TUE, etc.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Train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trainNumber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trainName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type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trainNumber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trainNumber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trainName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trainName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type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type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route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LinkedHashMap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&lt;&gt;();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Maintain order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coaches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HashMap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&lt;&gt;();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isOperational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true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runningDays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ArrayList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&lt;&gt;();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addCoach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coachType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totalSeats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baseFare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Coach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coach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Coach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coachType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totalSeats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baseFare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coaches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put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coachType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coach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totalSeats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+=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totalSeats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availableSeats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+=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totalSeats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addStation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stationName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distance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   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LocalTime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arrival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LocalTime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departure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route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put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stationName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Station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stationName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distance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arrival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departure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addRunningDay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day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runningDays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add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day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A626A4"/>
                </a:solidFill>
                <a:effectLst/>
                <a:latin typeface="Menlo"/>
              </a:rPr>
              <a:t>boolean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isRunningOn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LocalDate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date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day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date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getDayOfWeek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toString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().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substring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3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runningDays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contains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day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checkAvailability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fromStation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toStation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                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coachType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LocalDate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date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!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isRunningOn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date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Coach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coach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coaches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coachType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coach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null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In real system, you'd check against booked tickets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coach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getAvailableSeats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Ticket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bookTicket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fromStation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toStation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coachType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           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Passenger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passengers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LocalDate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date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throws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SeatNotAvailableException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!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isRunningOn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date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throw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SeatNotAvailableException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"Train doesn't run on "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date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Coach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coach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coaches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coachType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coach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null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throw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SeatNotAvailableException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"Invalid coach type"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coach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getAvailableSeats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&lt;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passengers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size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throw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SeatNotAvailableException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"Only "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coach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getAvailableSeats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                               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 seats available"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Ticket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ticket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Ticket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trainNumber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trainName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fromStation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          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toStation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date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coachType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Allocate seats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Passenger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p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passengers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ticket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addPassenger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p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seatNumber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coach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allocateSeat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p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ticket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allocateSeat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p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getName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seatNumber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Calculate fare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distance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getDistanceBetween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fromStation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toStation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ticket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calculateFare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coach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getBaseFare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distance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ticket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setStatus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"CONFIRMED"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ticket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getDistanceBetween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from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to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A626A4"/>
                </a:solidFill>
                <a:effectLst/>
                <a:latin typeface="Menlo"/>
              </a:rPr>
              <a:t>boolean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found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false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fromDist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toDist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Map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Entry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Station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entry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route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entrySet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entry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getKey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().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equals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from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fromDist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entry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getValue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getDistance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found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true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entry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getKey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().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equals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to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&amp;&amp;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found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toDist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entry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getValue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getDistance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break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Math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abs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toDist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-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fromDist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displayTrainInfo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"\n=== TRAIN INFORMATION ==="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"Train: "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trainNumber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 - "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trainName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"Type: "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type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"Total Seats: "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totalSeats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"Available Seats: "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availableSeats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"\</a:t>
            </a:r>
            <a:r>
              <a:rPr lang="en-US" b="0" dirty="0" err="1">
                <a:solidFill>
                  <a:srgbClr val="50A14F"/>
                </a:solidFill>
                <a:effectLst/>
                <a:latin typeface="Menlo"/>
              </a:rPr>
              <a:t>nRoute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:"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printf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"%-20s %-10s %-12s %-12s%n"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"Station"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"Distance"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"Arrival"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"Departure"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"-"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repeat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60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Station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station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route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values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printf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"%-20s %-10d %-12s %-12s%n"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station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getName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(),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station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getDistance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(),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station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getArrival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!=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null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?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station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getArrival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"---"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station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getDeparture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!=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null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?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station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getDeparture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"---"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"\</a:t>
            </a:r>
            <a:r>
              <a:rPr lang="en-US" b="0" dirty="0" err="1">
                <a:solidFill>
                  <a:srgbClr val="50A14F"/>
                </a:solidFill>
                <a:effectLst/>
                <a:latin typeface="Menlo"/>
              </a:rPr>
              <a:t>nCoaches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:"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Coach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coach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coaches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values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coach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displayInfo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"\</a:t>
            </a:r>
            <a:r>
              <a:rPr lang="en-US" b="0" dirty="0" err="1">
                <a:solidFill>
                  <a:srgbClr val="50A14F"/>
                </a:solidFill>
                <a:effectLst/>
                <a:latin typeface="Menlo"/>
              </a:rPr>
              <a:t>nRunning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 Days: "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join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", 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runningDays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Coach class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Coach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type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SLEEPER, AC, GENERAL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totalSeats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availableSeats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baseFare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Map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Boolean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seatMap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Map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seatPreferences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Seat number -&gt; Berth type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Coach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type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totalSeats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baseFare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type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type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totalSeats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totalSeats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availableSeats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totalSeats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baseFare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baseFare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seatMap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LinkedHashMap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&lt;&gt;();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seatPreferences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HashMap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&lt;&gt;();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initializeSeats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initializeSeats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1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&lt;=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totalSeats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++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seatNumber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type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charAt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format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"%02d"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seatMap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put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seatNumber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true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true = available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Assign berth type based on seat number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type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equals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"SLEEPER"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||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type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equals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"AC"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seatNum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%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8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switch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seatNum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case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1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case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4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seatPreferences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put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seatNumber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"LOWER"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break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case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2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case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5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seatPreferences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put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seatNumber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"MIDDLE"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break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case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3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case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6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seatPreferences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put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seatNumber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"UPPER"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break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case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7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seatPreferences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put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seatNumber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"SIDE_LOWER"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break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case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seatPreferences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put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seatNumber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"SIDE_UPPER"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break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else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seatPreferences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put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seatNumber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"SEAT"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synchronized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allocateSeat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Passenger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passenger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preferredType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passenger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getBerthPreference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Try to allocate preferred berth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!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preferredType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equals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"NO_BERTH"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Map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Entry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Boolean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entry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seatMap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entrySet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entry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getValue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&amp;&amp;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seatPreferences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entry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getKey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()).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equals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preferredType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seatMap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put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entry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getKey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false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availableSeats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--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entry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getKey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If preference not available, allocate any available seat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Map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Entry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Boolean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entry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seatMap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entrySet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entry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getValue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seatMap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put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entry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getKey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false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availableSeats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--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entry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getKey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"NO SEAT"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synchronized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releaseSeat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seatNumber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seatMap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containsKey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seatNumber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&amp;&amp;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!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seatMap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seatNumber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seatMap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put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seatNumber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true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availableSeats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++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getAvailableSeats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availableSeats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getBaseFare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baseFare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displayInfo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printf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  %-8s: Total: %-3d, Available: %-3d, Fare: ₹%.2f/</a:t>
            </a:r>
            <a:r>
              <a:rPr lang="en-US" b="0" dirty="0" err="1">
                <a:solidFill>
                  <a:srgbClr val="50A14F"/>
                </a:solidFill>
                <a:effectLst/>
                <a:latin typeface="Menlo"/>
              </a:rPr>
              <a:t>km%n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type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totalSeats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availableSeats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baseFare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Station class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Station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name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distance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from origin in km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LocalTime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arrival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LocalTime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departure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Station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name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distance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LocalTime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arrival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LocalTime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departure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name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name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distance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distance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arrival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arrival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departure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departure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getName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name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getDistance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distance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LocalTime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getArrival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arrival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LocalTime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getDeparture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departure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</a:t>
            </a:r>
            <a:r>
              <a:rPr lang="en-US" b="0" i="1" dirty="0" err="1">
                <a:solidFill>
                  <a:srgbClr val="A0A1A7"/>
                </a:solidFill>
                <a:effectLst/>
                <a:latin typeface="Menlo"/>
              </a:rPr>
              <a:t>RailwayReservationSystem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 class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RailwayReservationSystem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systemName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Map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Train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trains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Map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Ticket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tickets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PNR -&gt; Ticket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Map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Ticket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&gt;&gt;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passengerHistory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Passenger ID -&gt; Tickets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Queue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Ticket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waitingList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Queue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Ticket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racList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Reservation Against Cancellation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RailwayReservationSystem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systemName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systemName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systemName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trains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HashMap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&lt;&gt;();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tickets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HashMap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&lt;&gt;();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passengerHistory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HashMap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&lt;&gt;();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waitingList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LinkedList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&lt;&gt;();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racList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LinkedList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&lt;&gt;();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initializeTrains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initializeTrains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Create Rajdhani Express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Train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rajdhani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Train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"12301"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"Rajdhani Express"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"SUPERFAST"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rajdhani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addCoach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"AC1"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50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2.5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rajdhani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addCoach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"AC2"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100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1.8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rajdhani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addCoach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"AC3"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150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1.2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rajdhani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addStation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"New Delhi"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null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LocalTime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of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16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rajdhani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addStation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"Kanpur"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440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LocalTime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of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20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15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LocalTime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of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20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20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rajdhani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addStation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"Mughalsarai"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780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LocalTime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of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23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30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LocalTime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of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23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35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rajdhani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addStation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"Kolkata"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1440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LocalTime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of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8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null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rajdhani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addRunningDay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"MON"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rajdhani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addRunningDay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"WED"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rajdhani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addRunningDay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"FRI"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trains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put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"12301"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rajdhani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Create Shatabdi Express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Train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shatabdi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Train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"12001"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"Shatabdi Express"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"SUPERFAST"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shatabdi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addCoach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"CC"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200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1.0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shatabdi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addCoach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"EC"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50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2.0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shatabdi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addStation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"New Delhi"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null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LocalTime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of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6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shatabdi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addStation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"Agra"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200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LocalTime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of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8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15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LocalTime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of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8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20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shatabdi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addStation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"Gwalior"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320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LocalTime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of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9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45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LocalTime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of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9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50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shatabdi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addStation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"Jhansi"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410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LocalTime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of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11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null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shatabdi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addRunningDay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"MON"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shatabdi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addRunningDay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"TUE"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shatabdi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addRunningDay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"WED"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shatabdi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addRunningDay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"THU"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shatabdi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addRunningDay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"FRI"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shatabdi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addRunningDay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"SAT"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trains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put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"12001"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shatabdi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searchTrains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from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to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LocalDate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date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"\n=== TRAINS AVAILABLE ON "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date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 ==="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printf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"%-8s %-25s %-8s %-8s %-8s%n"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"Train No"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"Train Name"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"From"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"To"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"Available"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"-"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repeat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60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Train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train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trains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values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train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isRunningOn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date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available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train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checkAvailability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from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to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"AC3"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date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available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&gt;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printf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"%-8s %-25s %-8s %-8s %-8d%n"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train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getTrainNumber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train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getTrainName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        from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to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available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Ticket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bookTicket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trainNumber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from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to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            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coachType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Passenger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passengers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     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LocalDate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date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throws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Exception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Train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train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trains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trainNumber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train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null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throw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Exception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"Train not found"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Ticket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ticket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train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bookTicket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from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to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coachType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passengers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date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tickets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put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ticket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getPnr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ticket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Store in passenger history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Passenger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p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passengers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key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p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getIdProof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!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passengerHistory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containsKey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key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passengerHistory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put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key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ArrayList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&lt;&gt;());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passengerHistory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key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).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add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ticket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ticket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Ticket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cancelTicket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pnr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throws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CancellationException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InvalidPNRException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Ticket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ticket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tickets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pnr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ticket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null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throw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InvalidPNRException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"Invalid PNR number"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ticket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getStatus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().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equals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"CANCELLED"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throw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CancellationException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"Ticket already cancelled"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LocalDate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today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LocalDate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now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long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daysUntilJourney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ChronoUnit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DAYS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between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today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ticket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getJourneyDate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refundPercentage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daysUntilJourney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&gt;=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30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refundPercentage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100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else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daysUntilJourney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&gt;=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15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refundPercentage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75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else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daysUntilJourney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&gt;=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7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refundPercentage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50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else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daysUntilJourney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&gt;=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2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refundPercentage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25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else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refundPercentage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ticket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setStatus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"CANCELLED"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"\n=== CANCELLATION SUMMARY ==="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"PNR: "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pnr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"Journey Date: "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ticket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getJourneyDate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"Days until journey: "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daysUntilJourney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"Refund Percentage: "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refundPercentage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"%"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ticket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Ticket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checkPNRStatus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pnr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throws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InvalidPNRException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Ticket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ticket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tickets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pnr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ticket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null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throw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InvalidPNRException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"Invalid PNR number"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ticket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displayPassengerHistory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idProof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Ticket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passengerTickets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passengerHistory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idProof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passengerTickets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null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||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passengerTickets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isEmpty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"No booking history found for ID: "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idProof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"\n=== BOOKING HISTORY ==="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Ticket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ticket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passengerTickets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printf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"PNR: %s, Train: %s, Date: %s, Status: %</a:t>
            </a:r>
            <a:r>
              <a:rPr lang="en-US" b="0" dirty="0" err="1">
                <a:solidFill>
                  <a:srgbClr val="50A14F"/>
                </a:solidFill>
                <a:effectLst/>
                <a:latin typeface="Menlo"/>
              </a:rPr>
              <a:t>s%n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ticket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getPnr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ticket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getTrainNumber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(),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ticket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getJourneyDate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ticket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getStatus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showAllTrains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"\n=== AVAILABLE TRAINS ==="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Train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train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trains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values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train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displayTrainInfo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"-"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repeat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60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Main Application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RailwayReservationApp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Scanner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scanner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Scanner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in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RailwayReservationSystem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system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RailwayReservationSystem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"IRCTC"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main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[]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args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while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true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showMainMenu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showMainMenu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"\n=== INDIAN RAILWAY RESERVATION SYSTEM ==="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"1. Search Trains"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"2. Book Ticket"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"3. Cancel Ticket"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"4. Check PNR Status"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"5. View Passenger History"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"6. Display All Trains"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"7. Exit"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"Enter choice: 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choice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scanner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nextInt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scanner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nextLine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try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switch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choice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case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1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searchTrains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break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case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2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bookTicket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break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case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3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cancelTicket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break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case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4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checkPNR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break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case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5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viewHistory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break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case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6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showAllTrains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break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case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7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"Thank you for using IRCTC. Goodbye!"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exit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default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"Invalid choice!"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catch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Exception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"Error: "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e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getMessage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searchTrains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"Enter From Station: 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from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scanner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nextLine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"Enter To Station: 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to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scanner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nextLine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"Enter Journey Date (</a:t>
            </a:r>
            <a:r>
              <a:rPr lang="en-US" b="0" dirty="0" err="1">
                <a:solidFill>
                  <a:srgbClr val="50A14F"/>
                </a:solidFill>
                <a:effectLst/>
                <a:latin typeface="Menlo"/>
              </a:rPr>
              <a:t>yyyy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-mm-dd): 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LocalDate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date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LocalDate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parse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scanner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nextLine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searchTrains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from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to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date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bookTicket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throws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Exception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"\n=== BOOK TICKET ==="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"Enter Train Number: 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trainNo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scanner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nextLine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"Enter From Station: 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from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scanner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nextLine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"Enter To Station: 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to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scanner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nextLine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"Enter Coach Type (AC1/AC2/AC3/CC/EC): 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coach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scanner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nextLine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"Enter Journey Date (</a:t>
            </a:r>
            <a:r>
              <a:rPr lang="en-US" b="0" dirty="0" err="1">
                <a:solidFill>
                  <a:srgbClr val="50A14F"/>
                </a:solidFill>
                <a:effectLst/>
                <a:latin typeface="Menlo"/>
              </a:rPr>
              <a:t>yyyy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-mm-dd): 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LocalDate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date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LocalDate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parse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scanner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nextLine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"Number of Passengers: 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numPassengers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scanner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nextInt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scanner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nextLine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Passenger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passengers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ArrayList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&lt;&gt;();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1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&lt;=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numPassengers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++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"\</a:t>
            </a:r>
            <a:r>
              <a:rPr lang="en-US" b="0" dirty="0" err="1">
                <a:solidFill>
                  <a:srgbClr val="50A14F"/>
                </a:solidFill>
                <a:effectLst/>
                <a:latin typeface="Menlo"/>
              </a:rPr>
              <a:t>nPassenger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 "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i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 Details:"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"Name: 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name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scanner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nextLine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"Age: 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age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scanner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nextInt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scanner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nextLine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"Gender (M/F): 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gender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scanner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nextLine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"ID Proof (Aadhar/PAN/Passport): 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idProof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scanner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nextLine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"Berth Preference (LOWER/MIDDLE/UPPER/SIDE_LOWER/SIDE_UPPER): 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preference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scanner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nextLine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passengers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add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Passenger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name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age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gender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idProof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preference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Ticket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ticket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bookTicket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trainNo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from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to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coach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passengers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date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ticket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displayTicket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cancelTicket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throws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CancellationException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InvalidPNRException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"Enter PNR number: 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pnr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scanner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nextLine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Ticket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ticket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cancelTicket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pnr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ticket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displayTicket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checkPNR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throws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InvalidPNRException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"Enter PNR number: 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pnr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scanner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nextLine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Ticket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ticket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checkPNRStatus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pnr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ticket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displayTicket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viewHistory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"Enter ID Proof number: 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idProof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scanner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nextLine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displayPassengerHistory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idProof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>
              <a:buNone/>
            </a:pPr>
            <a:br>
              <a:rPr lang="en-US" dirty="0"/>
            </a:b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45056232"/>
      </p:ext>
    </p:extLst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009A74E-5113-4DFD-160C-4238D2609F5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7A5BA0AB-813B-6442-AB9E-2FEA62D8060C}"/>
              </a:ext>
            </a:extLst>
          </p:cNvPr>
          <p:cNvSpPr txBox="1"/>
          <p:nvPr/>
        </p:nvSpPr>
        <p:spPr>
          <a:xfrm>
            <a:off x="2479431" y="-363614"/>
            <a:ext cx="4958860" cy="759695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lnSpc>
                <a:spcPts val="2400"/>
              </a:lnSpc>
              <a:spcBef>
                <a:spcPts val="2400"/>
              </a:spcBef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Project 3: Restaurant Billing System</a:t>
            </a:r>
          </a:p>
          <a:p>
            <a:pPr algn="l">
              <a:lnSpc>
                <a:spcPts val="2250"/>
              </a:lnSpc>
              <a:spcBef>
                <a:spcPts val="2400"/>
              </a:spcBef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Real-World Scenario: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A restaurant needs a billing system that manages menu items, takes orders, calculates bills with taxes and discounts, and generates daily reports.</a:t>
            </a:r>
          </a:p>
          <a:p>
            <a:pPr algn="l">
              <a:lnSpc>
                <a:spcPts val="2250"/>
              </a:lnSpc>
              <a:spcBef>
                <a:spcPts val="2400"/>
              </a:spcBef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Requirements: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Menu management (add/remove/update items)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Table management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Order taking with customization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Tax calculation (GST)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Multiple payment methods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Discounts and offers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Bill generation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Daily sales report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Kitchen order display</a:t>
            </a:r>
          </a:p>
        </p:txBody>
      </p:sp>
    </p:spTree>
    <p:extLst>
      <p:ext uri="{BB962C8B-B14F-4D97-AF65-F5344CB8AC3E}">
        <p14:creationId xmlns:p14="http://schemas.microsoft.com/office/powerpoint/2010/main" val="968861037"/>
      </p:ext>
    </p:extLst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CF71383-6B34-E468-1316-F7BB6A02D07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3F066FD7-90D2-D497-F45B-7E68BAABB787}"/>
              </a:ext>
            </a:extLst>
          </p:cNvPr>
          <p:cNvSpPr txBox="1"/>
          <p:nvPr/>
        </p:nvSpPr>
        <p:spPr>
          <a:xfrm>
            <a:off x="2479431" y="-83381854"/>
            <a:ext cx="4958860" cy="17363343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import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java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util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*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import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java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time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LocalDateTime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import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java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time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format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DateTimeFormatter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</a:t>
            </a:r>
            <a:r>
              <a:rPr lang="en-US" b="0" i="1" dirty="0" err="1">
                <a:solidFill>
                  <a:srgbClr val="A0A1A7"/>
                </a:solidFill>
                <a:effectLst/>
                <a:latin typeface="Menlo"/>
              </a:rPr>
              <a:t>MenuItem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 class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MenuItem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itemId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name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category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STARTER, MAIN_COURSE, DESSERT, BEVERAGE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price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description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A626A4"/>
                </a:solidFill>
                <a:effectLst/>
                <a:latin typeface="Menlo"/>
              </a:rPr>
              <a:t>boolean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isAvailable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preparationTime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in minutes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idCounter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100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MenuItem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name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category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price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preparationTime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itemId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idCounter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++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name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name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category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category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price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price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preparationTime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preparationTime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isAvailable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true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description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Getters and Setters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getItemId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itemId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getName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name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getCategory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category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getPrice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price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setPrice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price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price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price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A626A4"/>
                </a:solidFill>
                <a:effectLst/>
                <a:latin typeface="Menlo"/>
              </a:rPr>
              <a:t>boolean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isAvailable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isAvailable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setAvailable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 err="1">
                <a:solidFill>
                  <a:srgbClr val="A626A4"/>
                </a:solidFill>
                <a:effectLst/>
                <a:latin typeface="Menlo"/>
              </a:rPr>
              <a:t>boolean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available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isAvailable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available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getPreparationTime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preparationTime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setDescription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description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description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description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@Override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toString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format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"%-4d %-25s %-15s ₹%-8.2f %s"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itemId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name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category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price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isAvailable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?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"Available"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"Not Available"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</a:t>
            </a:r>
            <a:r>
              <a:rPr lang="en-US" b="0" i="1" dirty="0" err="1">
                <a:solidFill>
                  <a:srgbClr val="A0A1A7"/>
                </a:solidFill>
                <a:effectLst/>
                <a:latin typeface="Menlo"/>
              </a:rPr>
              <a:t>OrderItem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 class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OrderItem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MenuItem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menuItem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quantity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specialInstructions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subtotal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status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PENDING, PREPARING, READY, SERVED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OrderItem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MenuItem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menuItem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quantity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menuItem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menuItem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quantity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quantity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specialInstructions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ArrayList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&lt;&gt;();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subtotal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menuItem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getPrice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*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quantity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status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"PENDING"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addSpecialInstruction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instruction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specialInstructions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add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instruction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updateStatus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status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status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status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getSubtotal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menuItem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getPrice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*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quantity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MenuItem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getMenuItem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menuItem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getQuantity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quantity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getStatus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status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@Override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toString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format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  %d x %-25s ₹%-8.2f [%s]"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quantity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menuItem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getName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getSubtotal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status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Order class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Order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orderId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tableNumber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customerName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customerPhone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OrderItem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items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LocalDateTime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orderTime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status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OPEN, PREPARING, COMPLETED, PAID, CANCELLED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subtotal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tax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discount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total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paymentMethod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orderType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DINE_IN, TAKEAWAY, DELIVERY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idCounter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1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Order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tableNumber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customerName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customerPhone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orderType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orderId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idCounter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++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tableNumber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tableNumber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customerName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customerName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customerPhone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customerPhone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orderType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orderType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items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ArrayList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&lt;&gt;();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orderTime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LocalDateTime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now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status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"OPEN"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subtotal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tax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discount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total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addItem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MenuItem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item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quantity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!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item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isAvailable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"Sorry, "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item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getName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 is not available!"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OrderItem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orderItem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OrderItem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item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quantity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items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add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orderItem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calculateTotals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"Added "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quantity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 x "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item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getName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 to order"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removeItem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itemIndex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itemIndex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&gt;=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&amp;&amp;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itemIndex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&lt;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items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size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OrderItem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removed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items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remove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itemIndex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"Removed "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removed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getMenuItem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getName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 from order"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calculateTotals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calculateTotals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subtotal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items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stream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mapToDouble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OrderItem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::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getSubtotal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sum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GST 5% on food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tax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subtotal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*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0.05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total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subtotal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tax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-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discount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applyDiscount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discountAmount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discount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discountAmount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calculateTotals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applyCoupon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couponCode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couponCode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equals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"SAVE10"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discount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subtotal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*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0.10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else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couponCode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equals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"SAVE20"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discount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subtotal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*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0.20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calculateTotals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processPayment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method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paymentMethod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method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status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"PAID"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generateBill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"\n"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"="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repeat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70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                    GOURMET RESTAURANT"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                    BILL / INVOICE"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"="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repeat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70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DateTimeFormatter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formatter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DateTimeFormatter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ofPattern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"dd-MM-</a:t>
            </a:r>
            <a:r>
              <a:rPr lang="en-US" b="0" dirty="0" err="1">
                <a:solidFill>
                  <a:srgbClr val="50A14F"/>
                </a:solidFill>
                <a:effectLst/>
                <a:latin typeface="Menlo"/>
              </a:rPr>
              <a:t>yyyy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50A14F"/>
                </a:solidFill>
                <a:effectLst/>
                <a:latin typeface="Menlo"/>
              </a:rPr>
              <a:t>HH:mm:ss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"Order #: "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orderId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        Date: "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orderTime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format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formatter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"Table: "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tableNumber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        Type: "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orderType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"Customer: "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customerName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        Phone: "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customerPhone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"-"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repeat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70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printf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"%-4s %-25s %-10s %-10s %-10s%n"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"Qty"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"Item"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"Price"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"Subtotal"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"Status"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"-"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repeat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70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OrderItem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item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items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printf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"%-4d %-25s ₹%-9.2f ₹%-9.2f %-10s%n"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item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getQuantity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(),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item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getMenuItem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getName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(),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item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getMenuItem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getPrice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(),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item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getSubtotal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(),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item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getStatus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"-"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repeat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70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printf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"%-50s ₹%.2f%n"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"Subtotal:"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subtotal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printf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"%-50s ₹%.2f%n"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"GST (5%):"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tax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discount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&gt;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printf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"%-50s -₹%.2f%n"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"Discount:"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discount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"-"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repeat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70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printf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"%-50s ₹%.2f%n"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"TOTAL AMOUNT:"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total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"-"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repeat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70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paymentMethod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!=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null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printf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"%-50s %</a:t>
            </a:r>
            <a:r>
              <a:rPr lang="en-US" b="0" dirty="0" err="1">
                <a:solidFill>
                  <a:srgbClr val="50A14F"/>
                </a:solidFill>
                <a:effectLst/>
                <a:latin typeface="Menlo"/>
              </a:rPr>
              <a:t>s%n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"Payment Method:"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paymentMethod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"="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repeat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70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            THANK YOU! VISIT AGAIN!"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else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           ** PAYMENT PENDING **"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"="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repeat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70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sendToKitchen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status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"PREPARING"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"\n=== KITCHEN ORDER ==="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"Order #: "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orderId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 - Table: "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tableNumber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"-"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repeat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40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OrderItem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item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items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printf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"%d x %s\n"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item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getQuantity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item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getMenuItem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getName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item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updateStatus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"PREPARING"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"="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repeat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40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Getters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getOrderId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orderId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getStatus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status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getTotal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total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Menu class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Menu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Map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MenuItem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&gt;&gt;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itemsByCategory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Map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Integer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MenuItem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itemsById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MenuItem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allItems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Menu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itemsByCategory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LinkedHashMap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&lt;&gt;();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itemsById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HashMap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&lt;&gt;();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allItems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ArrayList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&lt;&gt;();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initializeMenu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initializeMenu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Add Starters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addItem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MenuItem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"Paneer Tikka"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"STARTER"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250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15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addItem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MenuItem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"Chicken Tikka"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"STARTER"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280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15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addItem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MenuItem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"Spring Rolls"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"STARTER"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180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10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addItem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MenuItem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"Soup of the Day"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"STARTER"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120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8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Add Main Course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addItem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MenuItem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"Butter Chicken"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"MAIN_COURSE"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350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20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addItem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MenuItem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"Paneer Butter Masala"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"MAIN_COURSE"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280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20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addItem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MenuItem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"Dal Makhani"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"MAIN_COURSE"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200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15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addItem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MenuItem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"Biryani"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"MAIN_COURSE"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300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20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addItem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MenuItem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"Naan"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"MAIN_COURSE"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40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5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addItem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MenuItem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"Rice"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"MAIN_COURSE"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120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10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Add Desserts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addItem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MenuItem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"Gulab Jamun"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"DESSERT"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120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5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addItem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MenuItem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"Ice Cream"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"DESSERT"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100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3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addItem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MenuItem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"Brownie"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"DESSERT"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150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8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Add Beverages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addItem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MenuItem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"Soft Drink"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"BEVERAGE"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50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2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addItem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MenuItem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"Fresh Lime Soda"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"BEVERAGE"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70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3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addItem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MenuItem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"Masala Chai"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"BEVERAGE"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30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5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addItem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MenuItem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"Coffee"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"BEVERAGE"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60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4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addItem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MenuItem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item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itemsById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put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item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getItemId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item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allItems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add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item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itemsByCategory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computeIfAbsent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item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getCategory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k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ArrayList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&lt;&gt;())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add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item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displayMenu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"\n=== MENU ==="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"="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repeat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70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Map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Entry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MenuItem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&gt;&gt;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entry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itemsByCategory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entrySet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"\n"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entry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getKey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":"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"-"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repeat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40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MenuItem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item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entry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getValue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item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isAvailable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printf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  %-4d %-25s ₹%-8.2f%n"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item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getItemId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item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getName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item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getPrice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MenuItem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getItemById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itemId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itemsById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itemId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MenuItem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getAvailableItems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MenuItem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available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ArrayList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&lt;&gt;();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MenuItem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item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allItems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item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isAvailable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available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add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item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available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updateAvailability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itemId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A626A4"/>
                </a:solidFill>
                <a:effectLst/>
                <a:latin typeface="Menlo"/>
              </a:rPr>
              <a:t>boolean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available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MenuItem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item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itemsById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itemId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item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!=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null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item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setAvailable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available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Table class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Table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tableNumber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capacity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location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WINDOW, TERRACE, INDOOR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A626A4"/>
                </a:solidFill>
                <a:effectLst/>
                <a:latin typeface="Menlo"/>
              </a:rPr>
              <a:t>boolean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isOccupied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Order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currentOrder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status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AVAILABLE, OCCUPIED, RESERVED, CLEANING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Table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tableNumber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capacity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location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tableNumber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tableNumber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capacity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capacity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location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location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status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"AVAILABLE"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isOccupied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false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occupy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Order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order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currentOrder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order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isOccupied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true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status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"OCCUPIED"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vacate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currentOrder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null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isOccupied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false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status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"CLEANING"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markAvailable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status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equals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"CLEANING"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status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"AVAILABLE"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Getters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getTableNumber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tableNumber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getCapacity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capacity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getStatus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status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A626A4"/>
                </a:solidFill>
                <a:effectLst/>
                <a:latin typeface="Menlo"/>
              </a:rPr>
              <a:t>boolean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isAvailable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status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equals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"AVAILABLE"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@Override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toString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format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"Table %d (Capacity: %d, %s) - %s"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tableNumber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capacity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location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status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Restaurant class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Restaurant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name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Menu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menu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Table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tables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Order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allOrders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Order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todayOrders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Map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Double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dailySales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Restaurant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name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name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name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menu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Menu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tables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ArrayList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&lt;&gt;();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allOrders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ArrayList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&lt;&gt;();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todayOrders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ArrayList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&lt;&gt;();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A626A4"/>
                </a:solidFill>
                <a:effectLst/>
                <a:latin typeface="Menlo"/>
              </a:rPr>
              <a:t>this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dailySales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HashMap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&lt;&gt;();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initializeTables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initializeTables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10 tables with different capacities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tables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add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Table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1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2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"WINDOW"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tables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add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Table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2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2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"WINDOW"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tables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add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Table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3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4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"INDOOR"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tables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add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Table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4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4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"INDOOR"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tables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add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Table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5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6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"INDOOR"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tables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add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Table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6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6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"TERRACE"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tables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add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Table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7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8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"TERRACE"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tables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add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Table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8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4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"INDOOR"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tables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add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Table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9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2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"WINDOW"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tables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add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Table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10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4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"TERRACE"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Table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getAvailableTables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partySize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Table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available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ArrayList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&lt;&gt;();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Table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table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tables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table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isAvailable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&amp;&amp;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table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getCapacity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&gt;=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partySize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available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add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table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available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Order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createOrder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tableNumber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customerName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            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customerPhone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orderType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Table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table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tables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stream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filter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t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getTableNumber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tableNumber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findFirst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orElse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null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table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null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||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!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table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isAvailable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"Table not available!"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null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Order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order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Order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tableNumber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customerName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customerPhone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orderType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table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occupy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order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allOrders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add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order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todayOrders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add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order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order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displayDailyReport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"\n=== DAILY SALES REPORT ==="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"Date: "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LocalDateTime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now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().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format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DateTimeFormatter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ofPattern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"dd-MM-</a:t>
            </a:r>
            <a:r>
              <a:rPr lang="en-US" b="0" dirty="0" err="1">
                <a:solidFill>
                  <a:srgbClr val="50A14F"/>
                </a:solidFill>
                <a:effectLst/>
                <a:latin typeface="Menlo"/>
              </a:rPr>
              <a:t>yyyy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)));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"="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repeat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50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double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totalSales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orderCount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Map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Integer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itemPopularity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HashMap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&lt;&gt;();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Order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order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todayOrders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order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getStatus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().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equals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"PAID"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totalSales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+=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order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getTotal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orderCount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++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Track item popularity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OrderItem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item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order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getItems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itemName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item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getMenuItem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getName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itemPopularity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put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itemName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itemPopularity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getOrDefault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itemName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item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getQuantity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"Total Orders: "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orderCount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printf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"Total Sales: ₹%.2f%n"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totalSales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printf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"Average Order Value: ₹%.2f%n"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orderCount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&gt;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?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totalSales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/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orderCount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"\</a:t>
            </a:r>
            <a:r>
              <a:rPr lang="en-US" b="0" dirty="0" err="1">
                <a:solidFill>
                  <a:srgbClr val="50A14F"/>
                </a:solidFill>
                <a:effectLst/>
                <a:latin typeface="Menlo"/>
              </a:rPr>
              <a:t>nTop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 Selling Items:"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"-"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repeat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40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itemPopularity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entrySet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().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stream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sorted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Map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Entry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.&lt;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Integer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comparingByValue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().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reversed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())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limit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5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forEach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e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-&gt;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printf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"%-25s %d </a:t>
            </a:r>
            <a:r>
              <a:rPr lang="en-US" b="0" dirty="0" err="1">
                <a:solidFill>
                  <a:srgbClr val="50A14F"/>
                </a:solidFill>
                <a:effectLst/>
                <a:latin typeface="Menlo"/>
              </a:rPr>
              <a:t>orders%n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e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getKey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e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getValue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()));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Menu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getMenu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menu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Table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getTables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tables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displayTableStatus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"\n=== TABLE STATUS ==="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Table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table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tables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table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Main Application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class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RestaurantBillingSystem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Scanner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scanner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Scanner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in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Restaurant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restaurant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new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Restaurant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"Gourmet Restaurant"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Order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currentOrder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null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public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main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[]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args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while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true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showMainMenu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showMainMenu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"\n=== "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restaurant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getName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toUpperCase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 ==="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"1. Display Menu"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"2. New Order"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"3. Add Items to Current Order"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"4. View Current Order"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"5. Send to Kitchen"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"6. Generate Bill"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"7. Process Payment"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"8. Table Status"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"9. Daily Report"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"10. Exit"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"Enter choice: 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choice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scanner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nextInt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scanner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nextLine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try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switch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choice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case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1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restaurant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getMenu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displayMenu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break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case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2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createNewOrder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break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case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3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addItemsToOrder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break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case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4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viewCurrentOrder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break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case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5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sendToKitchen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break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case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6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generateBill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break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case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7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processPayment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break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case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8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restaurant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displayTableStatus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break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case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9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restaurant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displayDailyReport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break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case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10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"Thank you! Goodbye!"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exit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default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"Invalid choice!"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catch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Exception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"Error: "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e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getMessage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createNewOrder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"Enter party size: 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partySize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scanner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nextInt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scanner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nextLine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List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&lt;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Table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&gt;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availableTables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restaurant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getAvailableTables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partySize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availableTables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isEmpty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"No tables available for party size "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partySize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"\</a:t>
            </a:r>
            <a:r>
              <a:rPr lang="en-US" b="0" dirty="0" err="1">
                <a:solidFill>
                  <a:srgbClr val="50A14F"/>
                </a:solidFill>
                <a:effectLst/>
                <a:latin typeface="Menlo"/>
              </a:rPr>
              <a:t>nAvailable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 Tables:"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for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Table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table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availableTables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table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"Select table number: 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tableNo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scanner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nextInt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scanner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nextLine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"Customer Name: 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name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scanner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nextLine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"Customer Phone: 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phone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scanner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nextLine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"Order Type (DINE_IN/TAKEAWAY/DELIVERY): 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type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scanner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nextLine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currentOrder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restaurant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createOrder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tableNo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name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phone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type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currentOrder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!=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null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"Order created! Order ID: "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+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currentOrder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getOrderId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addItemsToOrder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addItemsToOrder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currentOrder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null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"No active order. Please create an order first."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restaurant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getMenu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displayMenu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while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true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"\</a:t>
            </a:r>
            <a:r>
              <a:rPr lang="en-US" b="0" dirty="0" err="1">
                <a:solidFill>
                  <a:srgbClr val="50A14F"/>
                </a:solidFill>
                <a:effectLst/>
                <a:latin typeface="Menlo"/>
              </a:rPr>
              <a:t>nEnter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 item ID to add (0 to finish): 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itemId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scanner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nextInt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itemId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0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break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MenuItem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item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restaurant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getMenu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getItemById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itemId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item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null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"Invalid item ID!"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continue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"Enter quantity: 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quantity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scanner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nextInt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currentOrder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addItem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item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,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quantity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"Add special instructions? (y/n): 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scanner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nextLine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addInst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scanner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nextLine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addInst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equalsIgnoreCase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"y"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"Enter instructions: 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inst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scanner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nextLine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Handle special instructions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viewCurrentOrder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currentOrder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null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"No active order."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currentOrder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generateBill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sendToKitchen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currentOrder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null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"No active order."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currentOrder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sendToKitchen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generateBill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currentOrder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null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"No active order."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"Apply coupon? (Enter code or 'none'): 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coupon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scanner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nextLine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!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coupon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equalsIgnoreCase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"none"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currentOrder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applyCoupon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coupon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currentOrder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generateBill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private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static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void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processPayment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if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currentOrder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null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"No active order."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return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"\</a:t>
            </a:r>
            <a:r>
              <a:rPr lang="en-US" b="0" dirty="0" err="1">
                <a:solidFill>
                  <a:srgbClr val="50A14F"/>
                </a:solidFill>
                <a:effectLst/>
                <a:latin typeface="Menlo"/>
              </a:rPr>
              <a:t>nPayment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 Methods:"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"1. Cash"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"2. Credit Card"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"3. Debit Card"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println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"4. UPI"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B76B01"/>
                </a:solidFill>
                <a:effectLst/>
                <a:latin typeface="Menlo"/>
              </a:rPr>
              <a:t>System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out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print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"Select method: 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int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method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scanner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nextInt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scanner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nextLine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String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paymentMethod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switch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method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{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case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1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paymentMethod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"CASH"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break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case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2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paymentMethod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"CREDIT CARD"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break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case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3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paymentMethod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"DEBIT CARD"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break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case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B76B01"/>
                </a:solidFill>
                <a:effectLst/>
                <a:latin typeface="Menlo"/>
              </a:rPr>
              <a:t>4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paymentMethod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"UPI"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break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   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default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: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paymentMethod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50A14F"/>
                </a:solidFill>
                <a:effectLst/>
                <a:latin typeface="Menlo"/>
              </a:rPr>
              <a:t>"OTHER"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currentOrder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processPayment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paymentMethod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currentOrder</a:t>
            </a:r>
            <a:r>
              <a:rPr lang="en-US" b="0" dirty="0" err="1">
                <a:solidFill>
                  <a:srgbClr val="383A42"/>
                </a:solidFill>
                <a:effectLst/>
                <a:latin typeface="Menlo"/>
              </a:rPr>
              <a:t>.</a:t>
            </a:r>
            <a:r>
              <a:rPr lang="en-US" b="0" dirty="0" err="1">
                <a:solidFill>
                  <a:srgbClr val="4078F2"/>
                </a:solidFill>
                <a:effectLst/>
                <a:latin typeface="Menlo"/>
              </a:rPr>
              <a:t>generateBill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();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i="1" dirty="0">
                <a:solidFill>
                  <a:srgbClr val="A0A1A7"/>
                </a:solidFill>
                <a:effectLst/>
                <a:latin typeface="Menlo"/>
              </a:rPr>
              <a:t>// Clear current order after payment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    </a:t>
            </a:r>
            <a:r>
              <a:rPr lang="en-US" b="0" dirty="0" err="1">
                <a:solidFill>
                  <a:srgbClr val="0F1115"/>
                </a:solidFill>
                <a:effectLst/>
                <a:latin typeface="Menlo"/>
              </a:rPr>
              <a:t>currentOrder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4078F2"/>
                </a:solidFill>
                <a:effectLst/>
                <a:latin typeface="Menlo"/>
              </a:rPr>
              <a:t>=</a:t>
            </a: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</a:t>
            </a:r>
            <a:r>
              <a:rPr lang="en-US" b="0" dirty="0">
                <a:solidFill>
                  <a:srgbClr val="A626A4"/>
                </a:solidFill>
                <a:effectLst/>
                <a:latin typeface="Menlo"/>
              </a:rPr>
              <a:t>null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;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0F1115"/>
                </a:solidFill>
                <a:effectLst/>
                <a:latin typeface="Menlo"/>
              </a:rPr>
              <a:t>    </a:t>
            </a: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  <a:p>
            <a:pPr algn="l" latinLnBrk="1">
              <a:lnSpc>
                <a:spcPts val="1650"/>
              </a:lnSpc>
              <a:buNone/>
            </a:pPr>
            <a:r>
              <a:rPr lang="en-US" b="0" dirty="0">
                <a:solidFill>
                  <a:srgbClr val="383A42"/>
                </a:solidFill>
                <a:effectLst/>
                <a:latin typeface="Menlo"/>
              </a:rPr>
              <a:t>}</a:t>
            </a:r>
            <a:endParaRPr lang="en-US" b="0" dirty="0">
              <a:solidFill>
                <a:srgbClr val="0F1115"/>
              </a:solidFill>
              <a:effectLst/>
              <a:latin typeface="Menlo"/>
            </a:endParaRPr>
          </a:p>
        </p:txBody>
      </p:sp>
    </p:spTree>
    <p:extLst>
      <p:ext uri="{BB962C8B-B14F-4D97-AF65-F5344CB8AC3E}">
        <p14:creationId xmlns:p14="http://schemas.microsoft.com/office/powerpoint/2010/main" val="1210075722"/>
      </p:ext>
    </p:extLst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332D463-FC14-8CA8-6D2C-26A46C3531E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EC4E1DA7-4401-6839-E4A7-74DC3635FD5A}"/>
              </a:ext>
            </a:extLst>
          </p:cNvPr>
          <p:cNvSpPr txBox="1"/>
          <p:nvPr/>
        </p:nvSpPr>
        <p:spPr>
          <a:xfrm>
            <a:off x="2479431" y="-11897541"/>
            <a:ext cx="4958860" cy="3066480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lnSpc>
                <a:spcPts val="2400"/>
              </a:lnSpc>
              <a:spcBef>
                <a:spcPts val="2400"/>
              </a:spcBef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More Real-World Core Java Projects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Here are additional project ideas you can build to master Core Java:</a:t>
            </a:r>
          </a:p>
          <a:p>
            <a:pPr algn="l">
              <a:lnSpc>
                <a:spcPts val="2250"/>
              </a:lnSpc>
              <a:spcBef>
                <a:spcPts val="2400"/>
              </a:spcBef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Project 4: Hospital Management System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Patient registration and management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Doctor appointment scheduling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Prescription management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Billing and insurance claims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Medical records storage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Pharmacy inventory</a:t>
            </a:r>
          </a:p>
          <a:p>
            <a:pPr algn="l">
              <a:lnSpc>
                <a:spcPts val="2250"/>
              </a:lnSpc>
              <a:spcBef>
                <a:spcPts val="2400"/>
              </a:spcBef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Project 5: Library Management System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Book catalog management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Member registration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Issue and return books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Fine calculation for late returns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Reservation system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Digital library card</a:t>
            </a:r>
          </a:p>
          <a:p>
            <a:pPr algn="l">
              <a:lnSpc>
                <a:spcPts val="2250"/>
              </a:lnSpc>
              <a:spcBef>
                <a:spcPts val="2400"/>
              </a:spcBef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Project 6: Employee Payroll System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Employee database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Salary calculation with deductions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Tax calculation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Leave management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Attendance tracking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Pay slip generation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PF and Gratuity calculation</a:t>
            </a:r>
          </a:p>
          <a:p>
            <a:pPr algn="l">
              <a:lnSpc>
                <a:spcPts val="2250"/>
              </a:lnSpc>
              <a:spcBef>
                <a:spcPts val="2400"/>
              </a:spcBef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Project 7: E-commerce Shopping Cart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Product catalog with categories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User registration and login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Shopping cart management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Order processing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Inventory management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Payment integration simulation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Order tracking</a:t>
            </a:r>
          </a:p>
          <a:p>
            <a:pPr algn="l">
              <a:lnSpc>
                <a:spcPts val="2250"/>
              </a:lnSpc>
              <a:spcBef>
                <a:spcPts val="2400"/>
              </a:spcBef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Project 8: Bus Ticket Booking System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Route and schedule management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Seat selection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Ticket booking and cancellation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Conductor and driver assignment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Fuel tracking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Trip reports</a:t>
            </a:r>
          </a:p>
          <a:p>
            <a:pPr algn="l">
              <a:lnSpc>
                <a:spcPts val="2250"/>
              </a:lnSpc>
              <a:spcBef>
                <a:spcPts val="2400"/>
              </a:spcBef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Project 9: Student Result Management System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Student registration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Subject and marks entry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Grade calculation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Report card generation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Transcript generation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Class ranking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Parent portal simulation</a:t>
            </a:r>
          </a:p>
          <a:p>
            <a:pPr algn="l">
              <a:lnSpc>
                <a:spcPts val="2250"/>
              </a:lnSpc>
              <a:spcBef>
                <a:spcPts val="2400"/>
              </a:spcBef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Project 10: Hotel Room Booking System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Room categories and pricing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Availability checking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Booking and cancellation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Check-in/Check-out process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Room service ordering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Billing and invoicing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Housekeeping management</a:t>
            </a:r>
          </a:p>
          <a:p>
            <a:pPr>
              <a:buNone/>
            </a:pPr>
            <a:br>
              <a:rPr lang="en-US" dirty="0"/>
            </a:b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2684734"/>
      </p:ext>
    </p:extLst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D7045A3-7F9A-3D1E-9952-CB829B42141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702B5D43-8E90-4B53-6C94-BD67FB621D4D}"/>
              </a:ext>
            </a:extLst>
          </p:cNvPr>
          <p:cNvSpPr txBox="1"/>
          <p:nvPr/>
        </p:nvSpPr>
        <p:spPr>
          <a:xfrm>
            <a:off x="2479431" y="-393110"/>
            <a:ext cx="4958860" cy="765594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lnSpc>
                <a:spcPts val="2400"/>
              </a:lnSpc>
              <a:spcBef>
                <a:spcPts val="2400"/>
              </a:spcBef>
              <a:spcAft>
                <a:spcPts val="1200"/>
              </a:spcAft>
              <a:buNone/>
            </a:pPr>
            <a:r>
              <a:rPr lang="en-US" b="1" dirty="0">
                <a:solidFill>
                  <a:srgbClr val="0F1115"/>
                </a:solidFill>
                <a:effectLst/>
                <a:latin typeface="quote-cjk-patch"/>
              </a:rPr>
              <a:t>Tips for Mastering Core Java</a:t>
            </a:r>
          </a:p>
          <a:p>
            <a:pPr algn="l">
              <a:spcBef>
                <a:spcPts val="120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Understand OOP deeply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 - Practice creating real-world objects with proper relationships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Master Collections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 - Know when to use List, Set, Map, Queue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Exception Handling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 - Create meaningful custom exceptions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File I/O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 - Practice reading/writing different file formats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Date/Time API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 - Handle dates correctly in real applications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Validation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 - Always validate user input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Separation of Concerns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 - Keep UI, business logic, and data separate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Code Organization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 - Use packages to organize your code</a:t>
            </a:r>
          </a:p>
          <a:p>
            <a:pPr algn="l">
              <a:spcBef>
                <a:spcPts val="45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Documentation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 - Write meaningful comments and </a:t>
            </a:r>
            <a:r>
              <a:rPr lang="en-US" b="0" i="0" dirty="0" err="1">
                <a:solidFill>
                  <a:srgbClr val="0F1115"/>
                </a:solidFill>
                <a:effectLst/>
                <a:latin typeface="quote-cjk-patch"/>
              </a:rPr>
              <a:t>JavaDoc</a:t>
            </a:r>
            <a:endParaRPr lang="en-US" b="0" i="0" dirty="0">
              <a:solidFill>
                <a:srgbClr val="0F1115"/>
              </a:solidFill>
              <a:effectLst/>
              <a:latin typeface="quote-cjk-patch"/>
            </a:endParaRPr>
          </a:p>
          <a:p>
            <a:pPr algn="l">
              <a:spcBef>
                <a:spcPts val="450"/>
              </a:spcBef>
              <a:spcAft>
                <a:spcPts val="1200"/>
              </a:spcAft>
              <a:buFont typeface="+mj-lt"/>
              <a:buAutoNum type="arabicPeriod"/>
            </a:pPr>
            <a:r>
              <a:rPr lang="en-US" b="1" i="0" dirty="0">
                <a:solidFill>
                  <a:srgbClr val="0F1115"/>
                </a:solidFill>
                <a:effectLst/>
                <a:latin typeface="quote-cjk-patch"/>
              </a:rPr>
              <a:t>Testing</a:t>
            </a:r>
            <a:r>
              <a:rPr lang="en-US" b="0" i="0" dirty="0">
                <a:solidFill>
                  <a:srgbClr val="0F1115"/>
                </a:solidFill>
                <a:effectLst/>
                <a:latin typeface="quote-cjk-patch"/>
              </a:rPr>
              <a:t> - Test edge cases thoroughly</a:t>
            </a:r>
          </a:p>
        </p:txBody>
      </p:sp>
    </p:spTree>
    <p:extLst>
      <p:ext uri="{BB962C8B-B14F-4D97-AF65-F5344CB8AC3E}">
        <p14:creationId xmlns:p14="http://schemas.microsoft.com/office/powerpoint/2010/main" val="1977706002"/>
      </p:ext>
    </p:extLst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0ABD669-6DBE-F77D-D40F-7C6D96C5C19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736719689"/>
      </p:ext>
    </p:extLst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24E25A9-6E07-F074-80C0-B8D1E6741BC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873212897"/>
      </p:ext>
    </p:extLst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72965A7-8CF5-3E06-19C9-4886680E1B1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31316656"/>
      </p:ext>
    </p:extLst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185E8E8-9926-55CC-14D3-10A08BDEC07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557951312"/>
      </p:ext>
    </p:extLst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8438A96-9E7C-76A2-3967-042D834D1CF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030887478"/>
      </p:ext>
    </p:extLst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305AA9C-307F-F804-9057-56F9D987339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11662646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 Theme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 Theme">
      <a:majorFont>
        <a:latin typeface="Aptos Display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Aptos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Office Theme</Template>
  <TotalTime>362</TotalTime>
  <Words>72657</Words>
  <Application>Microsoft Office PowerPoint</Application>
  <PresentationFormat>A4 Paper (210x297 mm)</PresentationFormat>
  <Paragraphs>10821</Paragraphs>
  <Slides>104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5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104</vt:i4>
      </vt:variant>
    </vt:vector>
  </HeadingPairs>
  <TitlesOfParts>
    <vt:vector size="110" baseType="lpstr">
      <vt:lpstr>Aptos</vt:lpstr>
      <vt:lpstr>Aptos Display</vt:lpstr>
      <vt:lpstr>Arial</vt:lpstr>
      <vt:lpstr>Menlo</vt:lpstr>
      <vt:lpstr>quote-cjk-patch</vt:lpstr>
      <vt:lpstr>Office Theme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creator>umalavanya7@gmail.com</dc:creator>
  <cp:lastModifiedBy>umalavanya7@gmail.com</cp:lastModifiedBy>
  <cp:revision>48</cp:revision>
  <dcterms:created xsi:type="dcterms:W3CDTF">2026-02-06T21:19:28Z</dcterms:created>
  <dcterms:modified xsi:type="dcterms:W3CDTF">2026-02-27T00:39:06Z</dcterms:modified>
</cp:coreProperties>
</file>