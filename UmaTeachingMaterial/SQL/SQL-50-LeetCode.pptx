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3">
  <p:sldMasterIdLst>
    <p:sldMasterId id="2147483660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360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285" autoAdjust="0"/>
    <p:restoredTop sz="94660"/>
  </p:normalViewPr>
  <p:slideViewPr>
    <p:cSldViewPr snapToGrid="0">
      <p:cViewPr varScale="1">
        <p:scale>
          <a:sx n="75" d="100"/>
          <a:sy n="75" d="100"/>
        </p:scale>
        <p:origin x="170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057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74479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8332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6008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3811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0241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246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119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6138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614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650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1FB5FC-1629-4A0D-9573-785FAC7ED015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406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find-customer-referee/" TargetMode="External"/><Relationship Id="rId2" Type="http://schemas.openxmlformats.org/officeDocument/2006/relationships/hyperlink" Target="https://leetcode.com/problems/recyclable-and-low-fat-products/" TargetMode="Externa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leetcode.com/problems/big-countries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invalid-tweets/" TargetMode="External"/><Relationship Id="rId2" Type="http://schemas.openxmlformats.org/officeDocument/2006/relationships/hyperlink" Target="https://leetcode.com/problems/article-views-i/" TargetMode="Externa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product-sales-analysis-i/" TargetMode="External"/><Relationship Id="rId2" Type="http://schemas.openxmlformats.org/officeDocument/2006/relationships/hyperlink" Target="https://leetcode.com/problems/replace-employee-id-with-the-unique-identifier/" TargetMode="Externa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rising-temperature/" TargetMode="External"/><Relationship Id="rId2" Type="http://schemas.openxmlformats.org/officeDocument/2006/relationships/hyperlink" Target="https://leetcode.com/problems/customer-who-visited-but-did-not-make-any-transactions/" TargetMode="Externa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average-time-of-process-per-machine/" TargetMode="Externa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employee-bonus/" TargetMode="Externa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students-and-examinations/" TargetMode="Externa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confirmation-rate/" TargetMode="External"/><Relationship Id="rId2" Type="http://schemas.openxmlformats.org/officeDocument/2006/relationships/hyperlink" Target="https://leetcode.com/problems/managers-with-at-least-5-direct-reports/" TargetMode="Externa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average-selling-price/" TargetMode="External"/><Relationship Id="rId2" Type="http://schemas.openxmlformats.org/officeDocument/2006/relationships/hyperlink" Target="https://leetcode.com/problems/not-boring-movies/" TargetMode="Externa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percentage-of-users-attended-a-contest/" TargetMode="External"/><Relationship Id="rId2" Type="http://schemas.openxmlformats.org/officeDocument/2006/relationships/hyperlink" Target="https://leetcode.com/problems/project-employees-i/" TargetMode="Externa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monthly-transactions-i/" TargetMode="External"/><Relationship Id="rId2" Type="http://schemas.openxmlformats.org/officeDocument/2006/relationships/hyperlink" Target="https://leetcode.com/problems/queries-quality-and-percentage/" TargetMode="Externa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game-play-analysis-iv/" TargetMode="External"/><Relationship Id="rId2" Type="http://schemas.openxmlformats.org/officeDocument/2006/relationships/hyperlink" Target="https://leetcode.com/problems/immediate-food-delivery-ii/" TargetMode="Externa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user-activity-for-the-past-30-days-i/" TargetMode="External"/><Relationship Id="rId2" Type="http://schemas.openxmlformats.org/officeDocument/2006/relationships/hyperlink" Target="https://leetcode.com/problems/number-of-unique-subjects-taught-by-each-teacher/" TargetMode="Externa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classes-more-than-5-students/" TargetMode="External"/><Relationship Id="rId2" Type="http://schemas.openxmlformats.org/officeDocument/2006/relationships/hyperlink" Target="https://leetcode.com/problems/product-sales-analysis-iii/" TargetMode="Externa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biggest-single-number/" TargetMode="External"/><Relationship Id="rId2" Type="http://schemas.openxmlformats.org/officeDocument/2006/relationships/hyperlink" Target="https://leetcode.com/problems/find-followers-count/" TargetMode="Externa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customers-who-bought-all-products/" TargetMode="Externa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the-number-of-employees-which-report-to-each-employee/" TargetMode="Externa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triangle-judgement/" TargetMode="External"/><Relationship Id="rId2" Type="http://schemas.openxmlformats.org/officeDocument/2006/relationships/hyperlink" Target="https://leetcode.com/problems/primary-department-for-each-employee/" TargetMode="Externa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product-price-at-a-given-date/" TargetMode="External"/><Relationship Id="rId2" Type="http://schemas.openxmlformats.org/officeDocument/2006/relationships/hyperlink" Target="https://leetcode.com/problems/consecutive-numbers/" TargetMode="Externa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last-person-to-fit-in-the-bus/" TargetMode="Externa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count-salary-categories/" TargetMode="Externa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employees-whose-manager-left-the-company/" TargetMode="Externa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exchange-seats/" TargetMode="Externa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movie-rating/" TargetMode="Externa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restaurant-growth/" TargetMode="Externa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friend-requests-ii-who-has-the-most-friends/" TargetMode="Externa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investments-in-2016/" TargetMode="Externa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department-top-three-salaries/" TargetMode="Externa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fix-names-in-a-table/" TargetMode="Externa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patients-with-a-condition/" TargetMode="Externa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second-highest-salary/" TargetMode="External"/><Relationship Id="rId2" Type="http://schemas.openxmlformats.org/officeDocument/2006/relationships/hyperlink" Target="https://leetcode.com/problems/delete-duplicate-emails/" TargetMode="Externa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group-sold-products-by-the-date/" TargetMode="Externa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list-the-products-ordered-in-a-period/" TargetMode="Externa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" TargetMode="External"/><Relationship Id="rId2" Type="http://schemas.openxmlformats.org/officeDocument/2006/relationships/hyperlink" Target="https://leetcode.com/problems/find-users-with-valid-e-mails/" TargetMode="Externa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A406F4A-CD67-2C7A-01D3-42C5DD6007B6}"/>
              </a:ext>
            </a:extLst>
          </p:cNvPr>
          <p:cNvSpPr txBox="1"/>
          <p:nvPr/>
        </p:nvSpPr>
        <p:spPr>
          <a:xfrm>
            <a:off x="191068" y="163773"/>
            <a:ext cx="36150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Leet Code Problems and Solutions</a:t>
            </a:r>
          </a:p>
          <a:p>
            <a:r>
              <a:rPr lang="en-US" dirty="0"/>
              <a:t>SQL 50</a:t>
            </a:r>
          </a:p>
        </p:txBody>
      </p:sp>
    </p:spTree>
    <p:extLst>
      <p:ext uri="{BB962C8B-B14F-4D97-AF65-F5344CB8AC3E}">
        <p14:creationId xmlns:p14="http://schemas.microsoft.com/office/powerpoint/2010/main" val="6867814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047F0-2EEC-3B96-C431-447C7F2D0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34F9183-AD99-2D38-22AF-ADD9EADE7908}"/>
              </a:ext>
            </a:extLst>
          </p:cNvPr>
          <p:cNvSpPr txBox="1"/>
          <p:nvPr/>
        </p:nvSpPr>
        <p:spPr>
          <a:xfrm>
            <a:off x="170597" y="851330"/>
            <a:ext cx="3644704" cy="2246769"/>
          </a:xfrm>
          <a:prstGeom prst="rect">
            <a:avLst/>
          </a:prstGeom>
          <a:noFill/>
          <a:ln>
            <a:solidFill>
              <a:schemeClr val="bg2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400" b="1" dirty="0">
                <a:solidFill>
                  <a:srgbClr val="0F1115"/>
                </a:solidFill>
                <a:effectLst/>
                <a:latin typeface="quote-cjk-patch"/>
              </a:rPr>
              <a:t>Problem 1: </a:t>
            </a:r>
            <a:r>
              <a:rPr lang="en-US" sz="1400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Recyclable and Low Fat Products</a:t>
            </a:r>
            <a:endParaRPr lang="en-US" sz="1400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400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sz="14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</a:rPr>
              <a:t>productid Int  </a:t>
            </a:r>
            <a:r>
              <a:rPr lang="en-US" sz="1400" dirty="0">
                <a:solidFill>
                  <a:srgbClr val="0F1115"/>
                </a:solidFill>
                <a:latin typeface="quote-cjk-patch"/>
              </a:rPr>
              <a:t>primary key</a:t>
            </a:r>
            <a:br>
              <a:rPr lang="en-US" sz="1400" b="0" i="0" dirty="0">
                <a:solidFill>
                  <a:srgbClr val="0F1115"/>
                </a:solidFill>
                <a:effectLst/>
                <a:latin typeface="Menlo"/>
              </a:rPr>
            </a:br>
            <a:r>
              <a:rPr lang="en-US" sz="1400" b="0" i="0" dirty="0" err="1">
                <a:solidFill>
                  <a:srgbClr val="0F1115"/>
                </a:solidFill>
                <a:effectLst/>
                <a:latin typeface="Menlo"/>
              </a:rPr>
              <a:t>low_facts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</a:rPr>
              <a:t> ENUM</a:t>
            </a:r>
          </a:p>
          <a:p>
            <a:pPr algn="l">
              <a:buNone/>
            </a:pPr>
            <a:r>
              <a:rPr lang="en-US" sz="1400" dirty="0">
                <a:solidFill>
                  <a:srgbClr val="0F1115"/>
                </a:solidFill>
                <a:latin typeface="Menlo"/>
              </a:rPr>
              <a:t>recyclable ENUM</a:t>
            </a:r>
            <a:br>
              <a:rPr lang="en-US" sz="1400" dirty="0">
                <a:solidFill>
                  <a:srgbClr val="0F1115"/>
                </a:solidFill>
                <a:latin typeface="Menlo"/>
              </a:rPr>
            </a:br>
            <a:endParaRPr lang="en-US" sz="14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0" i="0" dirty="0" err="1">
                <a:solidFill>
                  <a:srgbClr val="0F1115"/>
                </a:solidFill>
                <a:effectLst/>
                <a:latin typeface="Menlo"/>
              </a:rPr>
              <a:t>low_fats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 is an ENUM of ('Y', 'N') meaning 'Yes' or 'No'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</a:rPr>
              <a:t>recyclable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 is an ENUM of ('Y', 'N') meaning 'Yes' or ‘No’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DDA391-8E2C-0F73-F3DB-B8133E8B1617}"/>
              </a:ext>
            </a:extLst>
          </p:cNvPr>
          <p:cNvSpPr txBox="1"/>
          <p:nvPr/>
        </p:nvSpPr>
        <p:spPr>
          <a:xfrm>
            <a:off x="170597" y="3159654"/>
            <a:ext cx="3644704" cy="1384995"/>
          </a:xfrm>
          <a:prstGeom prst="rect">
            <a:avLst/>
          </a:prstGeom>
          <a:noFill/>
          <a:ln>
            <a:solidFill>
              <a:schemeClr val="bg2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latinLnBrk="1"/>
            <a:r>
              <a:rPr lang="en-US" sz="1400" b="1" dirty="0"/>
              <a:t>Question:</a:t>
            </a:r>
            <a:r>
              <a:rPr lang="en-US" sz="1400" dirty="0"/>
              <a:t> Write a solution to find the IDs of products that are both low fat and recyclable.</a:t>
            </a:r>
            <a:endParaRPr lang="en-US" sz="1400" dirty="0">
              <a:solidFill>
                <a:srgbClr val="0F1115"/>
              </a:solidFill>
              <a:latin typeface="quote-cjk-patch"/>
            </a:endParaRPr>
          </a:p>
          <a:p>
            <a:pPr algn="l" latinLnBrk="1">
              <a:buNone/>
            </a:pPr>
            <a:endParaRPr lang="en-US" sz="1400" b="0" dirty="0">
              <a:solidFill>
                <a:srgbClr val="A626A4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400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400" b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endParaRPr lang="en-US" sz="1400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400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Products</a:t>
            </a:r>
          </a:p>
          <a:p>
            <a:pPr algn="l" latinLnBrk="1">
              <a:buNone/>
            </a:pPr>
            <a:r>
              <a:rPr lang="en-US" sz="1400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400" b="0" dirty="0" err="1">
                <a:solidFill>
                  <a:srgbClr val="0F1115"/>
                </a:solidFill>
                <a:effectLst/>
                <a:latin typeface="Menlo"/>
              </a:rPr>
              <a:t>low_fats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400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400" b="0" dirty="0">
                <a:solidFill>
                  <a:srgbClr val="50A14F"/>
                </a:solidFill>
                <a:effectLst/>
                <a:latin typeface="Menlo"/>
              </a:rPr>
              <a:t>'Y'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400" b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recyclable </a:t>
            </a:r>
            <a:r>
              <a:rPr lang="en-US" sz="1400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400" b="0" dirty="0">
                <a:solidFill>
                  <a:srgbClr val="50A14F"/>
                </a:solidFill>
                <a:effectLst/>
                <a:latin typeface="Menlo"/>
              </a:rPr>
              <a:t>'Y'</a:t>
            </a:r>
            <a:r>
              <a:rPr lang="en-US" sz="1400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sz="1400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261206-7C16-9CA8-E443-34DA078EC3EA}"/>
              </a:ext>
            </a:extLst>
          </p:cNvPr>
          <p:cNvSpPr txBox="1"/>
          <p:nvPr/>
        </p:nvSpPr>
        <p:spPr>
          <a:xfrm>
            <a:off x="170596" y="4544649"/>
            <a:ext cx="3644704" cy="1384995"/>
          </a:xfrm>
          <a:prstGeom prst="rect">
            <a:avLst/>
          </a:prstGeom>
          <a:noFill/>
          <a:ln>
            <a:solidFill>
              <a:schemeClr val="bg2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400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sz="14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We need to filter products that satisfy two conditions simultaneously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The 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</a:rPr>
              <a:t>WHERE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 clause with 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</a:rPr>
              <a:t>AND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 operator ensures both conditions are met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Only </a:t>
            </a:r>
            <a:r>
              <a:rPr lang="en-US" sz="1400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 is required in the output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62F4CF-B71A-6806-05A5-8DC4DBC28B4A}"/>
              </a:ext>
            </a:extLst>
          </p:cNvPr>
          <p:cNvSpPr txBox="1"/>
          <p:nvPr/>
        </p:nvSpPr>
        <p:spPr>
          <a:xfrm>
            <a:off x="3981253" y="158832"/>
            <a:ext cx="2767894" cy="1169551"/>
          </a:xfrm>
          <a:prstGeom prst="rect">
            <a:avLst/>
          </a:prstGeom>
          <a:noFill/>
          <a:ln>
            <a:solidFill>
              <a:schemeClr val="bg2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400" b="1" dirty="0">
                <a:solidFill>
                  <a:srgbClr val="0F1115"/>
                </a:solidFill>
                <a:effectLst/>
                <a:latin typeface="quote-cjk-patch"/>
              </a:rPr>
              <a:t>Problem 2: </a:t>
            </a:r>
            <a:r>
              <a:rPr lang="en-US" sz="1400" b="1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Find Customer Referee</a:t>
            </a:r>
            <a:endParaRPr lang="en-US" sz="1400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400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sz="14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</a:rPr>
              <a:t>Id int   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  <a:sym typeface="Wingdings" panose="05000000000000000000" pitchFamily="2" charset="2"/>
              </a:rPr>
              <a:t> primary key</a:t>
            </a:r>
            <a:endParaRPr lang="en-US" sz="14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buNone/>
            </a:pPr>
            <a:r>
              <a:rPr lang="en-US" sz="1400" dirty="0">
                <a:solidFill>
                  <a:srgbClr val="0F1115"/>
                </a:solidFill>
                <a:latin typeface="Menlo"/>
              </a:rPr>
              <a:t>name varchar</a:t>
            </a:r>
          </a:p>
          <a:p>
            <a:pPr algn="l">
              <a:buNone/>
            </a:pPr>
            <a:r>
              <a:rPr lang="en-US" sz="1400" dirty="0" err="1">
                <a:solidFill>
                  <a:srgbClr val="0F1115"/>
                </a:solidFill>
                <a:latin typeface="quote-cjk-patch"/>
              </a:rPr>
              <a:t>r</a:t>
            </a:r>
            <a:r>
              <a:rPr lang="en-US" sz="1400" b="0" i="0" dirty="0" err="1">
                <a:solidFill>
                  <a:srgbClr val="0F1115"/>
                </a:solidFill>
                <a:effectLst/>
                <a:latin typeface="quote-cjk-patch"/>
              </a:rPr>
              <a:t>eferee_id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 int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6FB4D1-F4AA-AC2D-4D04-6855F6FD1C9B}"/>
              </a:ext>
            </a:extLst>
          </p:cNvPr>
          <p:cNvSpPr txBox="1"/>
          <p:nvPr/>
        </p:nvSpPr>
        <p:spPr>
          <a:xfrm>
            <a:off x="3981253" y="1343772"/>
            <a:ext cx="2767893" cy="1815882"/>
          </a:xfrm>
          <a:prstGeom prst="rect">
            <a:avLst/>
          </a:prstGeom>
          <a:noFill/>
          <a:ln>
            <a:solidFill>
              <a:schemeClr val="bg2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latinLnBrk="1"/>
            <a:r>
              <a:rPr lang="en-US" sz="1400" b="1" dirty="0">
                <a:solidFill>
                  <a:srgbClr val="0F1115"/>
                </a:solidFill>
                <a:latin typeface="quote-cjk-patch"/>
              </a:rPr>
              <a:t>Question:</a:t>
            </a:r>
            <a:r>
              <a:rPr lang="en-US" sz="1400" dirty="0">
                <a:solidFill>
                  <a:srgbClr val="0F1115"/>
                </a:solidFill>
                <a:latin typeface="quote-cjk-patch"/>
              </a:rPr>
              <a:t> Find the names of customers that are not referred by the customer with id = 2. </a:t>
            </a:r>
          </a:p>
          <a:p>
            <a:pPr latinLnBrk="1"/>
            <a:r>
              <a:rPr lang="en-US" sz="1400" b="1" dirty="0">
                <a:solidFill>
                  <a:srgbClr val="0F1115"/>
                </a:solidFill>
                <a:latin typeface="quote-cjk-patch"/>
              </a:rPr>
              <a:t>Solution:</a:t>
            </a:r>
            <a:endParaRPr lang="en-US" sz="1400" dirty="0">
              <a:solidFill>
                <a:srgbClr val="0F1115"/>
              </a:solidFill>
              <a:latin typeface="quote-cjk-patch"/>
            </a:endParaRPr>
          </a:p>
          <a:p>
            <a:pPr algn="l" latinLnBrk="1">
              <a:buNone/>
            </a:pPr>
            <a:r>
              <a:rPr lang="en-US" sz="1400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name</a:t>
            </a:r>
          </a:p>
          <a:p>
            <a:pPr algn="l" latinLnBrk="1">
              <a:buNone/>
            </a:pPr>
            <a:r>
              <a:rPr lang="en-US" sz="1400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Customer</a:t>
            </a:r>
          </a:p>
          <a:p>
            <a:pPr algn="l" latinLnBrk="1">
              <a:buNone/>
            </a:pPr>
            <a:r>
              <a:rPr lang="en-US" sz="1400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400" b="0" dirty="0" err="1">
                <a:solidFill>
                  <a:srgbClr val="0F1115"/>
                </a:solidFill>
                <a:effectLst/>
                <a:latin typeface="Menlo"/>
              </a:rPr>
              <a:t>referee_id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400" b="0" dirty="0">
                <a:solidFill>
                  <a:srgbClr val="4078F2"/>
                </a:solidFill>
                <a:effectLst/>
                <a:latin typeface="Menlo"/>
              </a:rPr>
              <a:t>!=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400" b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400" b="0" dirty="0">
                <a:solidFill>
                  <a:srgbClr val="4078F2"/>
                </a:solidFill>
                <a:effectLst/>
                <a:latin typeface="Menlo"/>
              </a:rPr>
              <a:t>OR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400" b="0" dirty="0" err="1">
                <a:solidFill>
                  <a:srgbClr val="0F1115"/>
                </a:solidFill>
                <a:effectLst/>
                <a:latin typeface="Menlo"/>
              </a:rPr>
              <a:t>referee_id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400" b="0" dirty="0">
                <a:solidFill>
                  <a:srgbClr val="4078F2"/>
                </a:solidFill>
                <a:effectLst/>
                <a:latin typeface="Menlo"/>
              </a:rPr>
              <a:t>IS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400" b="0" dirty="0">
                <a:solidFill>
                  <a:srgbClr val="B76B01"/>
                </a:solidFill>
                <a:effectLst/>
                <a:latin typeface="Menlo"/>
              </a:rPr>
              <a:t>NULL</a:t>
            </a:r>
            <a:r>
              <a:rPr lang="en-US" sz="1400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sz="1400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635870-D21B-B4A5-5C99-34403DD7976C}"/>
              </a:ext>
            </a:extLst>
          </p:cNvPr>
          <p:cNvSpPr txBox="1"/>
          <p:nvPr/>
        </p:nvSpPr>
        <p:spPr>
          <a:xfrm>
            <a:off x="3981253" y="3196814"/>
            <a:ext cx="2767892" cy="3323987"/>
          </a:xfrm>
          <a:prstGeom prst="rect">
            <a:avLst/>
          </a:prstGeom>
          <a:noFill/>
          <a:ln>
            <a:solidFill>
              <a:schemeClr val="bg2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400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sz="14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1" i="0" dirty="0">
                <a:solidFill>
                  <a:srgbClr val="0F1115"/>
                </a:solidFill>
                <a:effectLst/>
                <a:latin typeface="quote-cjk-patch"/>
              </a:rPr>
              <a:t>Key Challenge: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 In SQL, 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</a:rPr>
              <a:t>NULL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 represents unknown/missing data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</a:rPr>
              <a:t>NULL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 cannot be compared using 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</a:rPr>
              <a:t>=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 or 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</a:rPr>
              <a:t>!=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 (these comparisons always return 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</a:rPr>
              <a:t>NULL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, which is treated as FALSE)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We must explicitly check for 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</a:rPr>
              <a:t>NULL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 values using 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</a:rPr>
              <a:t>IS NULL</a:t>
            </a:r>
            <a:endParaRPr lang="en-US" sz="14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The condition </a:t>
            </a:r>
            <a:r>
              <a:rPr lang="en-US" sz="1400" b="0" i="0" dirty="0" err="1">
                <a:solidFill>
                  <a:srgbClr val="0F1115"/>
                </a:solidFill>
                <a:effectLst/>
                <a:latin typeface="Menlo"/>
              </a:rPr>
              <a:t>referee_id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</a:rPr>
              <a:t> != 2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 handles non-NULL values not equal to 2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</a:rPr>
              <a:t>OR </a:t>
            </a:r>
            <a:r>
              <a:rPr lang="en-US" sz="1400" b="0" i="0" dirty="0" err="1">
                <a:solidFill>
                  <a:srgbClr val="0F1115"/>
                </a:solidFill>
                <a:effectLst/>
                <a:latin typeface="Menlo"/>
              </a:rPr>
              <a:t>referee_id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</a:rPr>
              <a:t> IS NULL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 includes customers with no referee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D55C4E8-59B5-BB31-FFAF-60197CFF1894}"/>
              </a:ext>
            </a:extLst>
          </p:cNvPr>
          <p:cNvSpPr txBox="1"/>
          <p:nvPr/>
        </p:nvSpPr>
        <p:spPr>
          <a:xfrm>
            <a:off x="559558" y="327546"/>
            <a:ext cx="1623521" cy="369332"/>
          </a:xfrm>
          <a:prstGeom prst="rect">
            <a:avLst/>
          </a:prstGeom>
          <a:noFill/>
          <a:ln>
            <a:solidFill>
              <a:schemeClr val="bg2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Section 1 Easy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1617AB-C44C-262C-9C00-A3D80794E911}"/>
              </a:ext>
            </a:extLst>
          </p:cNvPr>
          <p:cNvSpPr txBox="1"/>
          <p:nvPr/>
        </p:nvSpPr>
        <p:spPr>
          <a:xfrm>
            <a:off x="6915097" y="158832"/>
            <a:ext cx="2918042" cy="1600438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400" b="1" dirty="0">
                <a:solidFill>
                  <a:srgbClr val="0F1115"/>
                </a:solidFill>
                <a:effectLst/>
                <a:latin typeface="quote-cjk-patch"/>
              </a:rPr>
              <a:t>Problem 3: </a:t>
            </a:r>
            <a:r>
              <a:rPr lang="en-US" sz="1400" b="1" u="none" strike="noStrike" dirty="0">
                <a:solidFill>
                  <a:srgbClr val="3964FE"/>
                </a:solidFill>
                <a:effectLst/>
                <a:latin typeface="quote-cjk-patch"/>
                <a:hlinkClick r:id="rId4"/>
              </a:rPr>
              <a:t>Big Countries</a:t>
            </a:r>
            <a:endParaRPr lang="en-US" sz="1400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400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sz="14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</a:rPr>
              <a:t>name  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  <a:sym typeface="Wingdings" panose="05000000000000000000" pitchFamily="2" charset="2"/>
              </a:rPr>
              <a:t> varchar    primary key</a:t>
            </a:r>
          </a:p>
          <a:p>
            <a:pPr algn="l">
              <a:buNone/>
            </a:pPr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  <a:sym typeface="Wingdings" panose="05000000000000000000" pitchFamily="2" charset="2"/>
              </a:rPr>
              <a:t>content  varchar</a:t>
            </a:r>
          </a:p>
          <a:p>
            <a:pPr algn="l">
              <a:buNone/>
            </a:pPr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  <a:sym typeface="Wingdings" panose="05000000000000000000" pitchFamily="2" charset="2"/>
              </a:rPr>
              <a:t>area </a:t>
            </a:r>
            <a:r>
              <a:rPr lang="en-US" sz="1400" dirty="0">
                <a:solidFill>
                  <a:srgbClr val="0F1115"/>
                </a:solidFill>
                <a:latin typeface="Menlo"/>
                <a:sym typeface="Wingdings" panose="05000000000000000000" pitchFamily="2" charset="2"/>
              </a:rPr>
              <a:t> Int</a:t>
            </a:r>
          </a:p>
          <a:p>
            <a:pPr algn="l">
              <a:buNone/>
            </a:pPr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  <a:sym typeface="Wingdings" panose="05000000000000000000" pitchFamily="2" charset="2"/>
              </a:rPr>
              <a:t>population  Int </a:t>
            </a:r>
          </a:p>
          <a:p>
            <a:pPr algn="l">
              <a:buNone/>
            </a:pPr>
            <a:r>
              <a:rPr lang="en-US" sz="1400" b="0" i="0" dirty="0" err="1">
                <a:solidFill>
                  <a:srgbClr val="0F1115"/>
                </a:solidFill>
                <a:effectLst/>
                <a:latin typeface="Menlo"/>
                <a:sym typeface="Wingdings" panose="05000000000000000000" pitchFamily="2" charset="2"/>
              </a:rPr>
              <a:t>gdp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  <a:sym typeface="Wingdings" panose="05000000000000000000" pitchFamily="2" charset="2"/>
              </a:rPr>
              <a:t>  </a:t>
            </a:r>
            <a:r>
              <a:rPr lang="en-US" sz="1400" b="0" i="0" dirty="0" err="1">
                <a:solidFill>
                  <a:srgbClr val="0F1115"/>
                </a:solidFill>
                <a:effectLst/>
                <a:latin typeface="Menlo"/>
                <a:sym typeface="Wingdings" panose="05000000000000000000" pitchFamily="2" charset="2"/>
              </a:rPr>
              <a:t>big</a:t>
            </a:r>
            <a:r>
              <a:rPr lang="en-US" sz="1400" dirty="0" err="1">
                <a:solidFill>
                  <a:srgbClr val="0F1115"/>
                </a:solidFill>
                <a:latin typeface="Menlo"/>
                <a:sym typeface="Wingdings" panose="05000000000000000000" pitchFamily="2" charset="2"/>
              </a:rPr>
              <a:t>int</a:t>
            </a:r>
            <a:r>
              <a:rPr lang="en-US" sz="1400" dirty="0">
                <a:solidFill>
                  <a:srgbClr val="0F1115"/>
                </a:solidFill>
                <a:latin typeface="Menlo"/>
                <a:sym typeface="Wingdings" panose="05000000000000000000" pitchFamily="2" charset="2"/>
              </a:rPr>
              <a:t> </a:t>
            </a:r>
            <a:endParaRPr lang="en-US" sz="1400" b="0" i="0" dirty="0">
              <a:solidFill>
                <a:srgbClr val="0F1115"/>
              </a:solidFill>
              <a:effectLst/>
              <a:latin typeface="quote-cjk-patch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A1B2235-108F-411E-54C4-47CF9923E556}"/>
              </a:ext>
            </a:extLst>
          </p:cNvPr>
          <p:cNvSpPr txBox="1"/>
          <p:nvPr/>
        </p:nvSpPr>
        <p:spPr>
          <a:xfrm>
            <a:off x="6915097" y="1783835"/>
            <a:ext cx="2918042" cy="2893100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0F1115"/>
                </a:solidFill>
                <a:latin typeface="quote-cjk-patch"/>
              </a:rPr>
              <a:t>Question:</a:t>
            </a:r>
            <a:r>
              <a:rPr lang="en-US" sz="1400" dirty="0">
                <a:solidFill>
                  <a:srgbClr val="0F1115"/>
                </a:solidFill>
                <a:latin typeface="quote-cjk-patch"/>
              </a:rPr>
              <a:t> A country is big if: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F1115"/>
                </a:solidFill>
                <a:latin typeface="quote-cjk-patch"/>
              </a:rPr>
              <a:t>It has an area of at least three million square km (3,000,000 km²), OR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F1115"/>
                </a:solidFill>
                <a:latin typeface="quote-cjk-patch"/>
              </a:rPr>
              <a:t>It has a population of at least twenty-five million (25,000,000)</a:t>
            </a:r>
            <a:br>
              <a:rPr lang="en-US" sz="1400" dirty="0">
                <a:solidFill>
                  <a:srgbClr val="0F1115"/>
                </a:solidFill>
                <a:latin typeface="quote-cjk-patch"/>
              </a:rPr>
            </a:br>
            <a:r>
              <a:rPr lang="en-US" sz="1400" dirty="0">
                <a:solidFill>
                  <a:srgbClr val="0F1115"/>
                </a:solidFill>
                <a:latin typeface="quote-cjk-patch"/>
              </a:rPr>
              <a:t>Find the name, population, and area of the big countries.</a:t>
            </a:r>
          </a:p>
          <a:p>
            <a:r>
              <a:rPr lang="en-US" sz="1400" b="1" dirty="0">
                <a:solidFill>
                  <a:srgbClr val="0F1115"/>
                </a:solidFill>
                <a:latin typeface="quote-cjk-patch"/>
              </a:rPr>
              <a:t>Solution:</a:t>
            </a:r>
            <a:endParaRPr lang="en-US" sz="1400" dirty="0">
              <a:solidFill>
                <a:srgbClr val="A626A4"/>
              </a:solidFill>
              <a:latin typeface="Menlo"/>
            </a:endParaRPr>
          </a:p>
          <a:p>
            <a:pPr algn="l" latinLnBrk="1">
              <a:buNone/>
            </a:pPr>
            <a:r>
              <a:rPr lang="en-US" sz="1400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name</a:t>
            </a:r>
            <a:r>
              <a:rPr lang="en-US" sz="1400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population</a:t>
            </a:r>
            <a:r>
              <a:rPr lang="en-US" sz="1400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area</a:t>
            </a:r>
          </a:p>
          <a:p>
            <a:pPr algn="l" latinLnBrk="1">
              <a:buNone/>
            </a:pPr>
            <a:r>
              <a:rPr lang="en-US" sz="1400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World</a:t>
            </a:r>
          </a:p>
          <a:p>
            <a:pPr algn="l" latinLnBrk="1">
              <a:buNone/>
            </a:pPr>
            <a:r>
              <a:rPr lang="en-US" sz="1400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area </a:t>
            </a:r>
            <a:r>
              <a:rPr lang="en-US" sz="1400" b="0" dirty="0">
                <a:solidFill>
                  <a:srgbClr val="4078F2"/>
                </a:solidFill>
                <a:effectLst/>
                <a:latin typeface="Menlo"/>
              </a:rPr>
              <a:t>&gt;=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400" b="0" dirty="0">
                <a:solidFill>
                  <a:srgbClr val="B76B01"/>
                </a:solidFill>
                <a:effectLst/>
                <a:latin typeface="Menlo"/>
              </a:rPr>
              <a:t>3000000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400" b="0" dirty="0">
                <a:solidFill>
                  <a:srgbClr val="4078F2"/>
                </a:solidFill>
                <a:effectLst/>
                <a:latin typeface="Menlo"/>
              </a:rPr>
              <a:t>OR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population </a:t>
            </a:r>
            <a:r>
              <a:rPr lang="en-US" sz="1400" b="0" dirty="0">
                <a:solidFill>
                  <a:srgbClr val="4078F2"/>
                </a:solidFill>
                <a:effectLst/>
                <a:latin typeface="Menlo"/>
              </a:rPr>
              <a:t>&gt;=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400" b="0" dirty="0">
                <a:solidFill>
                  <a:srgbClr val="B76B01"/>
                </a:solidFill>
                <a:effectLst/>
                <a:latin typeface="Menlo"/>
              </a:rPr>
              <a:t>25000000</a:t>
            </a:r>
            <a:r>
              <a:rPr lang="en-US" sz="1400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sz="1400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01B851-4880-9FD0-868C-F7C88027CD5F}"/>
              </a:ext>
            </a:extLst>
          </p:cNvPr>
          <p:cNvSpPr txBox="1"/>
          <p:nvPr/>
        </p:nvSpPr>
        <p:spPr>
          <a:xfrm>
            <a:off x="6915097" y="4676935"/>
            <a:ext cx="2918042" cy="1384995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400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sz="14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Simple filtering with 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</a:rPr>
              <a:t>OR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 condition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Both conditions are checked independently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If either condition is true, the country is included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1573936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4D29A-B4F1-7845-01A9-9FC7E064E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8A4DBECA-4019-8F60-AA68-AEAC390234A6}"/>
              </a:ext>
            </a:extLst>
          </p:cNvPr>
          <p:cNvSpPr txBox="1"/>
          <p:nvPr/>
        </p:nvSpPr>
        <p:spPr>
          <a:xfrm>
            <a:off x="139403" y="95027"/>
            <a:ext cx="2565778" cy="1754326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F1115"/>
                </a:solidFill>
                <a:effectLst/>
                <a:latin typeface="quote-cjk-patch"/>
              </a:rPr>
              <a:t>Problem 4: </a:t>
            </a:r>
            <a:r>
              <a:rPr lang="en-US" sz="1200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Article Views I</a:t>
            </a:r>
            <a:endParaRPr lang="en-US" sz="1200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Article_id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int</a:t>
            </a:r>
          </a:p>
          <a:p>
            <a:pPr algn="l">
              <a:buNone/>
            </a:pPr>
            <a:r>
              <a:rPr lang="en-US" sz="1200" dirty="0" err="1">
                <a:solidFill>
                  <a:srgbClr val="0F1115"/>
                </a:solidFill>
                <a:latin typeface="Menlo"/>
              </a:rPr>
              <a:t>Authr_id</a:t>
            </a:r>
            <a:r>
              <a:rPr lang="en-US" sz="1200" dirty="0">
                <a:solidFill>
                  <a:srgbClr val="0F1115"/>
                </a:solidFill>
                <a:latin typeface="Menlo"/>
              </a:rPr>
              <a:t> int</a:t>
            </a:r>
          </a:p>
          <a:p>
            <a:pPr algn="l">
              <a:buNone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Viewer_id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int </a:t>
            </a:r>
          </a:p>
          <a:p>
            <a:pPr algn="l">
              <a:buNone/>
            </a:pPr>
            <a:r>
              <a:rPr lang="en-US" sz="1200" dirty="0" err="1">
                <a:solidFill>
                  <a:srgbClr val="0F1115"/>
                </a:solidFill>
                <a:latin typeface="Menlo"/>
              </a:rPr>
              <a:t>View_date</a:t>
            </a:r>
            <a:r>
              <a:rPr lang="en-US" sz="1200" dirty="0">
                <a:solidFill>
                  <a:srgbClr val="0F1115"/>
                </a:solidFill>
                <a:latin typeface="Menlo"/>
              </a:rPr>
              <a:t>  date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There is no primary key (may have duplicate rows)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CE0BA9-F0C9-742F-56A4-3B1F58AEE4B3}"/>
              </a:ext>
            </a:extLst>
          </p:cNvPr>
          <p:cNvSpPr txBox="1"/>
          <p:nvPr/>
        </p:nvSpPr>
        <p:spPr>
          <a:xfrm>
            <a:off x="139403" y="1851966"/>
            <a:ext cx="2565778" cy="193899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F1115"/>
                </a:solidFill>
                <a:latin typeface="quote-cjk-patch"/>
              </a:rPr>
              <a:t>Question:</a:t>
            </a:r>
            <a:r>
              <a:rPr lang="en-US" sz="1200" dirty="0">
                <a:solidFill>
                  <a:srgbClr val="0F1115"/>
                </a:solidFill>
                <a:latin typeface="quote-cjk-patch"/>
              </a:rPr>
              <a:t> Find all authors who viewed at least one of their own articles. Return the result table sorted by id in ascending order.</a:t>
            </a:r>
          </a:p>
          <a:p>
            <a:r>
              <a:rPr lang="en-US" sz="1200" b="1" dirty="0">
                <a:solidFill>
                  <a:srgbClr val="0F1115"/>
                </a:solidFill>
                <a:latin typeface="quote-cjk-patch"/>
              </a:rPr>
              <a:t>Solution:</a:t>
            </a:r>
            <a:endParaRPr lang="en-US" sz="1200" dirty="0">
              <a:solidFill>
                <a:srgbClr val="0F1115"/>
              </a:solidFill>
              <a:latin typeface="quote-cjk-patch"/>
            </a:endParaRPr>
          </a:p>
          <a:p>
            <a:pPr algn="l" latinLnBrk="1">
              <a:buNone/>
            </a:pPr>
            <a:endParaRPr lang="en-US" sz="1200" b="0" dirty="0">
              <a:solidFill>
                <a:srgbClr val="A626A4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dirty="0">
                <a:solidFill>
                  <a:srgbClr val="A626A4"/>
                </a:solidFill>
                <a:effectLst/>
                <a:latin typeface="Menlo"/>
              </a:rPr>
              <a:t>DISTINCT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dirty="0" err="1">
                <a:solidFill>
                  <a:srgbClr val="0F1115"/>
                </a:solidFill>
                <a:effectLst/>
                <a:latin typeface="Menlo"/>
              </a:rPr>
              <a:t>author_id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id</a:t>
            </a:r>
          </a:p>
          <a:p>
            <a:pPr algn="l" latinLnBrk="1">
              <a:buNone/>
            </a:pPr>
            <a:r>
              <a:rPr lang="en-US" sz="1200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Views</a:t>
            </a:r>
          </a:p>
          <a:p>
            <a:pPr algn="l" latinLnBrk="1">
              <a:buNone/>
            </a:pPr>
            <a:r>
              <a:rPr lang="en-US" sz="1200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dirty="0" err="1">
                <a:solidFill>
                  <a:srgbClr val="0F1115"/>
                </a:solidFill>
                <a:effectLst/>
                <a:latin typeface="Menlo"/>
              </a:rPr>
              <a:t>author_id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dirty="0" err="1">
                <a:solidFill>
                  <a:srgbClr val="0F1115"/>
                </a:solidFill>
                <a:effectLst/>
                <a:latin typeface="Menlo"/>
              </a:rPr>
              <a:t>viewer_id</a:t>
            </a:r>
            <a:endParaRPr lang="en-US" sz="1200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dirty="0" err="1">
                <a:solidFill>
                  <a:srgbClr val="0F1115"/>
                </a:solidFill>
                <a:effectLst/>
                <a:latin typeface="Menlo"/>
              </a:rPr>
              <a:t>author_id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dirty="0">
                <a:solidFill>
                  <a:srgbClr val="A626A4"/>
                </a:solidFill>
                <a:effectLst/>
                <a:latin typeface="Menlo"/>
              </a:rPr>
              <a:t>ASC</a:t>
            </a:r>
            <a:r>
              <a:rPr lang="en-US" sz="1200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sz="1200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D580B2-F849-054B-1588-4794EDD9E4A3}"/>
              </a:ext>
            </a:extLst>
          </p:cNvPr>
          <p:cNvSpPr txBox="1"/>
          <p:nvPr/>
        </p:nvSpPr>
        <p:spPr>
          <a:xfrm>
            <a:off x="139404" y="3790958"/>
            <a:ext cx="2565778" cy="193899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Condition: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When 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author_id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equals 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viewer_id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, an author viewed their own article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DISTINCT: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Needed because an author might have viewed multiple articles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Alias: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Rename 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author_id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to 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as required by the output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ORDER BY: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Sort results in ascending order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780588-46FA-E1C0-0B91-DF8F75FCEEC2}"/>
              </a:ext>
            </a:extLst>
          </p:cNvPr>
          <p:cNvSpPr txBox="1"/>
          <p:nvPr/>
        </p:nvSpPr>
        <p:spPr>
          <a:xfrm>
            <a:off x="2822814" y="131129"/>
            <a:ext cx="2021331" cy="830997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F1115"/>
                </a:solidFill>
                <a:effectLst/>
                <a:latin typeface="quote-cjk-patch"/>
              </a:rPr>
              <a:t>Problem 5: </a:t>
            </a:r>
            <a:r>
              <a:rPr lang="en-US" sz="1200" b="1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Invalid Tweets</a:t>
            </a:r>
            <a:endParaRPr lang="en-US" sz="1200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Tweet_id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int primary key</a:t>
            </a:r>
          </a:p>
          <a:p>
            <a:pPr algn="l">
              <a:buNone/>
            </a:pPr>
            <a:r>
              <a:rPr lang="en-US" sz="1200" dirty="0">
                <a:solidFill>
                  <a:srgbClr val="0F1115"/>
                </a:solidFill>
                <a:latin typeface="Menlo"/>
              </a:rPr>
              <a:t>Content varchar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D06F62-1C7B-5AE1-B862-2019232B912D}"/>
              </a:ext>
            </a:extLst>
          </p:cNvPr>
          <p:cNvSpPr txBox="1"/>
          <p:nvPr/>
        </p:nvSpPr>
        <p:spPr>
          <a:xfrm>
            <a:off x="2822814" y="981548"/>
            <a:ext cx="2500302" cy="3416320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Question: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 Find the IDs of invalid tweets. A tweet is invalid if the number of characters in the content exceeds 15.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Solution: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F1115"/>
              </a:solidFill>
              <a:effectLst/>
              <a:uLnTx/>
              <a:uFillTx/>
              <a:latin typeface="quote-cjk-patch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F1115"/>
              </a:solidFill>
              <a:effectLst/>
              <a:uLnTx/>
              <a:uFillTx/>
              <a:latin typeface="Menlo"/>
              <a:ea typeface="+mn-ea"/>
              <a:cs typeface="+mn-cs"/>
            </a:endParaRPr>
          </a:p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A626A4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SELECT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tweet_id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F1115"/>
              </a:solidFill>
              <a:effectLst/>
              <a:uLnTx/>
              <a:uFillTx/>
              <a:latin typeface="Menlo"/>
              <a:ea typeface="+mn-ea"/>
              <a:cs typeface="+mn-cs"/>
            </a:endParaRPr>
          </a:p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A626A4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FROM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 Tweets</a:t>
            </a:r>
          </a:p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A626A4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WHERE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 LENGTH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383A42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(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content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383A42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)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078F2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&gt;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B76B01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15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383A42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;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F1115"/>
              </a:solidFill>
              <a:effectLst/>
              <a:uLnTx/>
              <a:uFillTx/>
              <a:latin typeface="Menlo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Explanation: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F1115"/>
              </a:solidFill>
              <a:effectLst/>
              <a:uLnTx/>
              <a:uFillTx/>
              <a:latin typeface="quote-cjk-patch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Use the 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LENGTH()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 function to count characters in the content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Filter tweets where character count exceeds the limit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Note: In MySQL, 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LENGTH()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 returns bytes, while 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CHAR_LENGTH()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 returns characters. For this problem, either works as content is English text</a:t>
            </a:r>
          </a:p>
        </p:txBody>
      </p:sp>
    </p:spTree>
    <p:extLst>
      <p:ext uri="{BB962C8B-B14F-4D97-AF65-F5344CB8AC3E}">
        <p14:creationId xmlns:p14="http://schemas.microsoft.com/office/powerpoint/2010/main" val="30037378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7EBBE-70C4-1F8D-8A27-CED0ABFBD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AE51E21-A15E-7751-A3CD-681AA2EB18BA}"/>
              </a:ext>
            </a:extLst>
          </p:cNvPr>
          <p:cNvSpPr txBox="1"/>
          <p:nvPr/>
        </p:nvSpPr>
        <p:spPr>
          <a:xfrm>
            <a:off x="183109" y="91841"/>
            <a:ext cx="4531131" cy="5632311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F1115"/>
                </a:solidFill>
                <a:effectLst/>
                <a:latin typeface="quote-cjk-patch"/>
              </a:rPr>
              <a:t>Section 2: Basic Joins</a:t>
            </a:r>
            <a:br>
              <a:rPr lang="en-US" sz="1200" b="1" dirty="0">
                <a:solidFill>
                  <a:srgbClr val="0F1115"/>
                </a:solidFill>
                <a:effectLst/>
                <a:latin typeface="quote-cjk-patch"/>
              </a:rPr>
            </a:br>
            <a:br>
              <a:rPr lang="en-US" sz="1200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en-US" sz="1200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dirty="0">
                <a:solidFill>
                  <a:srgbClr val="0F1115"/>
                </a:solidFill>
                <a:effectLst/>
                <a:latin typeface="quote-cjk-patch"/>
              </a:rPr>
              <a:t>Problem 6: </a:t>
            </a:r>
            <a:r>
              <a:rPr lang="en-US" sz="1200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Replace Employee ID With The Unique Identifier</a:t>
            </a:r>
            <a:endParaRPr lang="en-US" sz="1200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Table Structures: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Employees: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dirty="0">
                <a:solidFill>
                  <a:srgbClr val="0F1115"/>
                </a:solidFill>
                <a:latin typeface="Menlo"/>
              </a:rPr>
              <a:t>Id int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Name varchar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/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buNone/>
            </a:pPr>
            <a:r>
              <a:rPr lang="en-US" sz="1200" b="1" i="0" dirty="0" err="1">
                <a:solidFill>
                  <a:srgbClr val="0F1115"/>
                </a:solidFill>
                <a:effectLst/>
                <a:latin typeface="quote-cjk-patch"/>
              </a:rPr>
              <a:t>EmployeeUNI</a:t>
            </a: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Id int</a:t>
            </a:r>
          </a:p>
          <a:p>
            <a:pPr algn="l">
              <a:buNone/>
            </a:pPr>
            <a:r>
              <a:rPr lang="en-US" sz="1200" dirty="0" err="1">
                <a:solidFill>
                  <a:srgbClr val="0F1115"/>
                </a:solidFill>
                <a:latin typeface="Menlo"/>
              </a:rPr>
              <a:t>Unique_id</a:t>
            </a:r>
            <a:r>
              <a:rPr lang="en-US" sz="1200" dirty="0">
                <a:solidFill>
                  <a:srgbClr val="0F1115"/>
                </a:solidFill>
                <a:latin typeface="Menlo"/>
              </a:rPr>
              <a:t> int 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(id,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quote-cjk-patch"/>
              </a:rPr>
              <a:t>unique_id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) is the primary key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Show the unique ID of each user. If a user doesn't have a unique ID, show null.</a:t>
            </a:r>
          </a:p>
          <a:p>
            <a:pPr algn="l">
              <a:buNone/>
            </a:pP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endParaRPr lang="en-US" sz="1200" dirty="0">
              <a:solidFill>
                <a:srgbClr val="0F1115"/>
              </a:solidFill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eu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unique_id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e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name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Employees e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LEFT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EmployeeUNI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eu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e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id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eu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</a:p>
          <a:p>
            <a:pPr algn="l" latinLnBrk="1">
              <a:buNone/>
            </a:pPr>
            <a:endParaRPr lang="en-US" sz="1200" dirty="0">
              <a:solidFill>
                <a:srgbClr val="383A42"/>
              </a:solidFill>
              <a:latin typeface="Menlo"/>
            </a:endParaRPr>
          </a:p>
          <a:p>
            <a:pPr algn="l" latinLnBrk="1">
              <a:buNone/>
            </a:pP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LEFT JOIN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ensures all employees are included, even those without a matching unique ID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The 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ON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clause matches records based on the 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field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When there's no match, 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unique_id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will be 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NULL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Order of tables matters: 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Employees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is the left table (all records kept)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BAF03E-3CDA-C920-145F-0E3B1C961244}"/>
              </a:ext>
            </a:extLst>
          </p:cNvPr>
          <p:cNvSpPr txBox="1"/>
          <p:nvPr/>
        </p:nvSpPr>
        <p:spPr>
          <a:xfrm>
            <a:off x="4880744" y="68004"/>
            <a:ext cx="4954136" cy="5447645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F1115"/>
                </a:solidFill>
                <a:effectLst/>
                <a:latin typeface="quote-cjk-patch"/>
              </a:rPr>
              <a:t>Problem 7: </a:t>
            </a:r>
            <a:r>
              <a:rPr lang="en-US" sz="1200" b="1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Product Sales Analysis I</a:t>
            </a:r>
            <a:endParaRPr lang="en-US" sz="1200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Table Structures: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Sales: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Sale_id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int</a:t>
            </a:r>
          </a:p>
          <a:p>
            <a:pPr algn="l">
              <a:buNone/>
            </a:pPr>
            <a:r>
              <a:rPr lang="en-US" sz="1200" dirty="0" err="1">
                <a:solidFill>
                  <a:srgbClr val="0F1115"/>
                </a:solidFill>
                <a:latin typeface="Menlo"/>
              </a:rPr>
              <a:t>Product_id</a:t>
            </a:r>
            <a:r>
              <a:rPr lang="en-US" sz="1200" dirty="0">
                <a:solidFill>
                  <a:srgbClr val="0F1115"/>
                </a:solidFill>
                <a:latin typeface="Menlo"/>
              </a:rPr>
              <a:t> int,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Year int,</a:t>
            </a:r>
          </a:p>
          <a:p>
            <a:pPr algn="l">
              <a:buNone/>
            </a:pPr>
            <a:r>
              <a:rPr lang="en-US" sz="1200" dirty="0">
                <a:solidFill>
                  <a:srgbClr val="0F1115"/>
                </a:solidFill>
                <a:latin typeface="Menlo"/>
              </a:rPr>
              <a:t>Quantity int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Price int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/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quote-cjk-patch"/>
              </a:rPr>
              <a:t>sale_id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, year) is the primary key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Product: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int</a:t>
            </a:r>
          </a:p>
          <a:p>
            <a:pPr algn="l">
              <a:buNone/>
            </a:pPr>
            <a:r>
              <a:rPr lang="en-US" sz="1200" dirty="0" err="1">
                <a:solidFill>
                  <a:srgbClr val="0F1115"/>
                </a:solidFill>
                <a:latin typeface="Menlo"/>
              </a:rPr>
              <a:t>Product_name</a:t>
            </a:r>
            <a:r>
              <a:rPr lang="en-US" sz="1200" dirty="0">
                <a:solidFill>
                  <a:srgbClr val="0F1115"/>
                </a:solidFill>
                <a:latin typeface="Menlo"/>
              </a:rPr>
              <a:t> varchar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Report the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quote-cjk-patch"/>
              </a:rPr>
              <a:t>product_name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, year, and price for each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quote-cjk-patch"/>
              </a:rPr>
              <a:t>sale_id</a:t>
            </a:r>
            <a:r>
              <a:rPr lang="en-US" sz="1200" b="0" i="0">
                <a:solidFill>
                  <a:srgbClr val="0F1115"/>
                </a:solidFill>
                <a:effectLst/>
                <a:latin typeface="quote-cjk-patch"/>
              </a:rPr>
              <a:t>.</a:t>
            </a:r>
          </a:p>
          <a:p>
            <a:pPr algn="l">
              <a:buNone/>
            </a:pP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</a:p>
          <a:p>
            <a:pPr algn="l">
              <a:buNone/>
            </a:pP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product_name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A626A4"/>
                </a:solidFill>
                <a:effectLst/>
                <a:latin typeface="Menlo"/>
              </a:rPr>
              <a:t>year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price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Sales s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Product p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</a:p>
          <a:p>
            <a:pPr algn="l" latinLnBrk="1">
              <a:buNone/>
            </a:pPr>
            <a:endParaRPr lang="en-US" sz="1200" dirty="0">
              <a:solidFill>
                <a:srgbClr val="383A42"/>
              </a:solidFill>
              <a:latin typeface="Menlo"/>
            </a:endParaRPr>
          </a:p>
          <a:p>
            <a:pPr algn="l" latinLnBrk="1">
              <a:buNone/>
            </a:pP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INNER JOIN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(or just JOIN) connects sales with their corresponding products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We need product names from the Product table and sale details from Sales table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The join condition links matching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quote-cjk-patch"/>
              </a:rPr>
              <a:t>product_ids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All sales have products (foreign key constraint likely), so INNER JOIN works fine</a:t>
            </a:r>
          </a:p>
        </p:txBody>
      </p:sp>
    </p:spTree>
    <p:extLst>
      <p:ext uri="{BB962C8B-B14F-4D97-AF65-F5344CB8AC3E}">
        <p14:creationId xmlns:p14="http://schemas.microsoft.com/office/powerpoint/2010/main" val="29283656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DA10F-2D85-0FDB-FDC3-AC4C4EFA2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D849D9A-DFD3-6814-7A01-0E6021C185EC}"/>
              </a:ext>
            </a:extLst>
          </p:cNvPr>
          <p:cNvSpPr txBox="1"/>
          <p:nvPr/>
        </p:nvSpPr>
        <p:spPr>
          <a:xfrm>
            <a:off x="67330" y="60960"/>
            <a:ext cx="4900910" cy="6924973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F1115"/>
                </a:solidFill>
                <a:effectLst/>
                <a:latin typeface="quote-cjk-patch"/>
              </a:rPr>
              <a:t>Problem 8: </a:t>
            </a:r>
            <a:r>
              <a:rPr lang="en-US" sz="1200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Customer Who Visited but Did Not Make Any Transactions</a:t>
            </a:r>
            <a:endParaRPr lang="en-US" sz="1200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Table Structures: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Visits: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visit_id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customer_id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visit_id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Transactions: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Column Name    | Type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transaction_id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visit_id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 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amount       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transaction_id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Find customers who visited but did not make any transactions. Count how many times they made these types of visits.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v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customer_id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v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visit_id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count_no_trans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Visits v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LEFT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Transactions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t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v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visit_id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t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visit_id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t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transaction_id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IS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B76B01"/>
                </a:solidFill>
                <a:effectLst/>
                <a:latin typeface="Menlo"/>
              </a:rPr>
              <a:t>NULL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v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customer_id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LEFT JOIN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keeps all visits, even those without transactions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WHERE </a:t>
            </a:r>
            <a:r>
              <a:rPr lang="en-US" sz="1200" b="1" i="0" dirty="0" err="1">
                <a:solidFill>
                  <a:srgbClr val="0F1115"/>
                </a:solidFill>
                <a:effectLst/>
                <a:latin typeface="quote-cjk-patch"/>
              </a:rPr>
              <a:t>t.transaction_id</a:t>
            </a: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 IS NULL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filters for visits with no matching transaction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GROUP BY </a:t>
            </a:r>
            <a:r>
              <a:rPr lang="en-US" sz="1200" b="1" i="0" dirty="0" err="1">
                <a:solidFill>
                  <a:srgbClr val="0F1115"/>
                </a:solidFill>
                <a:effectLst/>
                <a:latin typeface="quote-cjk-patch"/>
              </a:rPr>
              <a:t>customer_id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groups visits by customer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COUNT(</a:t>
            </a:r>
            <a:r>
              <a:rPr lang="en-US" sz="1200" b="1" i="0" dirty="0" err="1">
                <a:solidFill>
                  <a:srgbClr val="0F1115"/>
                </a:solidFill>
                <a:effectLst/>
                <a:latin typeface="quote-cjk-patch"/>
              </a:rPr>
              <a:t>v.visit_id</a:t>
            </a: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counts how many such visits each customer had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ACFFC7-CC81-037C-0129-AFACD4F56C47}"/>
              </a:ext>
            </a:extLst>
          </p:cNvPr>
          <p:cNvSpPr txBox="1"/>
          <p:nvPr/>
        </p:nvSpPr>
        <p:spPr>
          <a:xfrm>
            <a:off x="5080000" y="807064"/>
            <a:ext cx="4573136" cy="5078313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F1115"/>
                </a:solidFill>
                <a:effectLst/>
                <a:latin typeface="quote-cjk-patch"/>
              </a:rPr>
              <a:t>Problem 9: </a:t>
            </a:r>
            <a:r>
              <a:rPr lang="en-US" sz="1200" b="1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Rising Temperature</a:t>
            </a:r>
            <a:endParaRPr lang="en-US" sz="1200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Weather: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id        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recordDate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| date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temperature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+---------+---------+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Find dates where the temperature was higher than the previous day's temperature.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w1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Weather w1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Weather w2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DATEDIFF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w1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recordDate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w2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recordDate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w1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temperature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&gt;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w2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temperature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SELF JOIN: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Join the Weather table with itself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w1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represents today's weather, 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w2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represents yesterday's weather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DATEDIFF(w1.recordDate, w2.recordDate) = 1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ensures w2 is exactly one day before w1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WHERE w1.temperature &gt; w2.temperature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checks if today is warmer than yesterday</a:t>
            </a:r>
          </a:p>
        </p:txBody>
      </p:sp>
    </p:spTree>
    <p:extLst>
      <p:ext uri="{BB962C8B-B14F-4D97-AF65-F5344CB8AC3E}">
        <p14:creationId xmlns:p14="http://schemas.microsoft.com/office/powerpoint/2010/main" val="1327046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EF776-5122-9D9C-1832-6BA7A8725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084E4CD-511C-B2B6-892B-EE894F6B2123}"/>
              </a:ext>
            </a:extLst>
          </p:cNvPr>
          <p:cNvSpPr txBox="1"/>
          <p:nvPr/>
        </p:nvSpPr>
        <p:spPr>
          <a:xfrm>
            <a:off x="5506720" y="1241534"/>
            <a:ext cx="4165600" cy="3970318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a1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machine_id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ROUND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AVG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a2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timestamp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a1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timestamp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B76B01"/>
                </a:solidFill>
                <a:effectLst/>
                <a:latin typeface="Menlo"/>
              </a:rPr>
              <a:t>3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processing_time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Activity a1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Activity a2 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a1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machine_id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a2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machine_id 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a1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process_id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a2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process_id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a1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activity_type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50A14F"/>
                </a:solidFill>
                <a:effectLst/>
                <a:latin typeface="Menlo"/>
              </a:rPr>
              <a:t>'start'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a2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activity_type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50A14F"/>
                </a:solidFill>
                <a:effectLst/>
                <a:latin typeface="Menlo"/>
              </a:rPr>
              <a:t>'end'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a1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machine_id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SELF JOIN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with multiple conditions:</a:t>
            </a:r>
          </a:p>
          <a:p>
            <a:pPr marL="0" lvl="1" indent="-285750"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Same machine and process</a:t>
            </a:r>
          </a:p>
          <a:p>
            <a:pPr marL="0" lvl="1" indent="-285750"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a1 is the start activity, a2 is the end activity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Calculate processing time: end timestamp - start timestamp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AVG()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averages across all processes for each machine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ROUND(..., 3)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rounds to 3 decimal places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GROUP BY </a:t>
            </a:r>
            <a:r>
              <a:rPr lang="en-US" sz="1200" b="1" i="0" dirty="0" err="1">
                <a:solidFill>
                  <a:srgbClr val="0F1115"/>
                </a:solidFill>
                <a:effectLst/>
                <a:latin typeface="quote-cjk-patch"/>
              </a:rPr>
              <a:t>machine_id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gives per-machine averages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D62BAE-3807-19E9-A850-A635714DBC7B}"/>
              </a:ext>
            </a:extLst>
          </p:cNvPr>
          <p:cNvSpPr txBox="1"/>
          <p:nvPr/>
        </p:nvSpPr>
        <p:spPr>
          <a:xfrm>
            <a:off x="312420" y="1355080"/>
            <a:ext cx="4953000" cy="3416320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Problem 10: 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3964FE"/>
                </a:solidFill>
                <a:effectLst/>
                <a:uLnTx/>
                <a:uFillTx/>
                <a:latin typeface="quote-cjk-patch"/>
                <a:ea typeface="+mn-ea"/>
                <a:cs typeface="+mn-cs"/>
                <a:hlinkClick r:id="rId2"/>
              </a:rPr>
              <a:t>Average Time of Process per Machine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srgbClr val="0F1115"/>
              </a:solidFill>
              <a:effectLst/>
              <a:uLnTx/>
              <a:uFillTx/>
              <a:latin typeface="quote-cjk-patch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Table Structure: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F1115"/>
              </a:solidFill>
              <a:effectLst/>
              <a:uLnTx/>
              <a:uFillTx/>
              <a:latin typeface="quote-cjk-patch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Activity: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F1115"/>
              </a:solidFill>
              <a:effectLst/>
              <a:uLnTx/>
              <a:uFillTx/>
              <a:latin typeface="quote-cjk-patch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text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F1115"/>
              </a:solidFill>
              <a:effectLst/>
              <a:uLnTx/>
              <a:uFillTx/>
              <a:latin typeface="quote-cjk-patch"/>
              <a:ea typeface="+mn-ea"/>
              <a:cs typeface="+mn-cs"/>
            </a:endParaRPr>
          </a:p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+----------------+---------+</a:t>
            </a:r>
          </a:p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| Column Name    | Type    |</a:t>
            </a:r>
          </a:p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+----------------+---------+</a:t>
            </a:r>
          </a:p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|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machine_id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     | int     |</a:t>
            </a:r>
          </a:p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|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process_id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     | int     |</a:t>
            </a:r>
          </a:p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|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activity_type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  |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enum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    |</a:t>
            </a:r>
          </a:p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| timestamp      | float   |</a:t>
            </a:r>
          </a:p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+----------------+---------+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(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machine_id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,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process_id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,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activity_type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) is the primary key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activity_type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 is ('start', 'end')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Question: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 Find the average time each machine takes to complete a process. The time to complete a process is the 'end' timestamp minus the 'start' timestamp.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F1115"/>
              </a:solidFill>
              <a:effectLst/>
              <a:uLnTx/>
              <a:uFillTx/>
              <a:latin typeface="quote-cjk-patch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168516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8850C-60AC-D4E2-7DD4-5BCAF1DB2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C932569-8DE6-0AD2-53D9-56D75C612BB3}"/>
              </a:ext>
            </a:extLst>
          </p:cNvPr>
          <p:cNvSpPr txBox="1"/>
          <p:nvPr/>
        </p:nvSpPr>
        <p:spPr>
          <a:xfrm>
            <a:off x="162560" y="95746"/>
            <a:ext cx="4185920" cy="6463308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800" b="1" dirty="0">
                <a:solidFill>
                  <a:srgbClr val="0F1115"/>
                </a:solidFill>
                <a:effectLst/>
                <a:latin typeface="quote-cjk-patch"/>
              </a:rPr>
              <a:t>Section 2: Basic Joins (Continued)</a:t>
            </a:r>
          </a:p>
          <a:p>
            <a:pPr algn="l">
              <a:buNone/>
            </a:pPr>
            <a:r>
              <a:rPr lang="en-US" sz="1800" b="1" dirty="0">
                <a:solidFill>
                  <a:srgbClr val="0F1115"/>
                </a:solidFill>
                <a:effectLst/>
                <a:latin typeface="quote-cjk-patch"/>
              </a:rPr>
              <a:t>Problem 11: </a:t>
            </a:r>
            <a:r>
              <a:rPr lang="en-US" sz="1800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Employee Bonus</a:t>
            </a:r>
            <a:endParaRPr lang="en-US" sz="1800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800" b="1" i="0" dirty="0">
                <a:solidFill>
                  <a:srgbClr val="0F1115"/>
                </a:solidFill>
                <a:effectLst/>
                <a:latin typeface="quote-cjk-patch"/>
              </a:rPr>
              <a:t>Table Structures:</a:t>
            </a:r>
            <a:endParaRPr lang="en-US" sz="18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800" b="1" i="0" dirty="0">
                <a:solidFill>
                  <a:srgbClr val="0F1115"/>
                </a:solidFill>
                <a:effectLst/>
                <a:latin typeface="quote-cjk-patch"/>
              </a:rPr>
              <a:t>Employee:</a:t>
            </a:r>
            <a:endParaRPr lang="en-US" sz="18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800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sz="18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800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buNone/>
            </a:pPr>
            <a:r>
              <a:rPr lang="en-US" sz="1800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buNone/>
            </a:pPr>
            <a:r>
              <a:rPr lang="en-US" sz="1800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buNone/>
            </a:pPr>
            <a:r>
              <a:rPr lang="en-US" sz="18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800" b="0" i="0" dirty="0" err="1">
                <a:solidFill>
                  <a:srgbClr val="0F1115"/>
                </a:solidFill>
                <a:effectLst/>
                <a:latin typeface="Menlo"/>
              </a:rPr>
              <a:t>empId</a:t>
            </a:r>
            <a:r>
              <a:rPr lang="en-US" sz="1800" b="0" i="0" dirty="0">
                <a:solidFill>
                  <a:srgbClr val="0F1115"/>
                </a:solidFill>
                <a:effectLst/>
                <a:latin typeface="Menlo"/>
              </a:rPr>
              <a:t>       | int     |</a:t>
            </a:r>
          </a:p>
          <a:p>
            <a:pPr algn="l" latinLnBrk="1">
              <a:buNone/>
            </a:pPr>
            <a:r>
              <a:rPr lang="en-US" sz="1800" b="0" i="0" dirty="0">
                <a:solidFill>
                  <a:srgbClr val="0F1115"/>
                </a:solidFill>
                <a:effectLst/>
                <a:latin typeface="Menlo"/>
              </a:rPr>
              <a:t>| name        | varchar |</a:t>
            </a:r>
          </a:p>
          <a:p>
            <a:pPr algn="l" latinLnBrk="1">
              <a:buNone/>
            </a:pPr>
            <a:r>
              <a:rPr lang="en-US" sz="1800" b="0" i="0" dirty="0">
                <a:solidFill>
                  <a:srgbClr val="0F1115"/>
                </a:solidFill>
                <a:effectLst/>
                <a:latin typeface="Menlo"/>
              </a:rPr>
              <a:t>| supervisor  | int     |</a:t>
            </a:r>
          </a:p>
          <a:p>
            <a:pPr algn="l" latinLnBrk="1">
              <a:buNone/>
            </a:pPr>
            <a:r>
              <a:rPr lang="en-US" sz="1800" b="0" i="0" dirty="0">
                <a:solidFill>
                  <a:srgbClr val="0F1115"/>
                </a:solidFill>
                <a:effectLst/>
                <a:latin typeface="Menlo"/>
              </a:rPr>
              <a:t>| salary      | int     |</a:t>
            </a:r>
          </a:p>
          <a:p>
            <a:pPr algn="l" latinLnBrk="1">
              <a:buNone/>
            </a:pPr>
            <a:r>
              <a:rPr lang="en-US" sz="1800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800" b="0" i="0" dirty="0" err="1">
                <a:solidFill>
                  <a:srgbClr val="0F1115"/>
                </a:solidFill>
                <a:effectLst/>
                <a:latin typeface="Menlo"/>
              </a:rPr>
              <a:t>empId</a:t>
            </a:r>
            <a:r>
              <a:rPr lang="en-US" sz="1800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buNone/>
            </a:pPr>
            <a:r>
              <a:rPr lang="en-US" sz="1800" b="1" i="0" dirty="0">
                <a:solidFill>
                  <a:srgbClr val="0F1115"/>
                </a:solidFill>
                <a:effectLst/>
                <a:latin typeface="quote-cjk-patch"/>
              </a:rPr>
              <a:t>Bonus:</a:t>
            </a:r>
            <a:endParaRPr lang="en-US" sz="18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800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sz="18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800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 latinLnBrk="1">
              <a:buNone/>
            </a:pPr>
            <a:r>
              <a:rPr lang="en-US" sz="1800" b="0" i="0" dirty="0">
                <a:solidFill>
                  <a:srgbClr val="0F1115"/>
                </a:solidFill>
                <a:effectLst/>
                <a:latin typeface="Menlo"/>
              </a:rPr>
              <a:t>| Column Name | Type |</a:t>
            </a:r>
          </a:p>
          <a:p>
            <a:pPr algn="l" latinLnBrk="1">
              <a:buNone/>
            </a:pPr>
            <a:r>
              <a:rPr lang="en-US" sz="1800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 latinLnBrk="1">
              <a:buNone/>
            </a:pPr>
            <a:r>
              <a:rPr lang="en-US" sz="18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800" b="0" i="0" dirty="0" err="1">
                <a:solidFill>
                  <a:srgbClr val="0F1115"/>
                </a:solidFill>
                <a:effectLst/>
                <a:latin typeface="Menlo"/>
              </a:rPr>
              <a:t>empId</a:t>
            </a:r>
            <a:r>
              <a:rPr lang="en-US" sz="1800" b="0" i="0" dirty="0">
                <a:solidFill>
                  <a:srgbClr val="0F1115"/>
                </a:solidFill>
                <a:effectLst/>
                <a:latin typeface="Menlo"/>
              </a:rPr>
              <a:t>       | int  |</a:t>
            </a:r>
          </a:p>
          <a:p>
            <a:pPr algn="l" latinLnBrk="1">
              <a:buNone/>
            </a:pPr>
            <a:r>
              <a:rPr lang="en-US" sz="1800" b="0" i="0" dirty="0">
                <a:solidFill>
                  <a:srgbClr val="0F1115"/>
                </a:solidFill>
                <a:effectLst/>
                <a:latin typeface="Menlo"/>
              </a:rPr>
              <a:t>| bonus       | int  |</a:t>
            </a:r>
          </a:p>
          <a:p>
            <a:pPr algn="l" latinLnBrk="1">
              <a:buNone/>
            </a:pPr>
            <a:r>
              <a:rPr lang="en-US" sz="1800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800" b="0" i="0" dirty="0" err="1">
                <a:solidFill>
                  <a:srgbClr val="0F1115"/>
                </a:solidFill>
                <a:effectLst/>
                <a:latin typeface="Menlo"/>
              </a:rPr>
              <a:t>empId</a:t>
            </a:r>
            <a:r>
              <a:rPr lang="en-US" sz="1800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E7244F-2676-917E-BBE1-8913413BB10D}"/>
              </a:ext>
            </a:extLst>
          </p:cNvPr>
          <p:cNvSpPr txBox="1"/>
          <p:nvPr/>
        </p:nvSpPr>
        <p:spPr>
          <a:xfrm>
            <a:off x="4437380" y="858133"/>
            <a:ext cx="4953000" cy="3231654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Select all employees whose bonus is less than 1000 or employees who don't have a bonus at all.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e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name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b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bonus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Employee e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LEFT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Bonus b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empId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b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empId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b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bonus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B76B01"/>
                </a:solidFill>
                <a:effectLst/>
                <a:latin typeface="Menlo"/>
              </a:rPr>
              <a:t>1000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OR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b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bonus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IS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B76B01"/>
                </a:solidFill>
                <a:effectLst/>
                <a:latin typeface="Menlo"/>
              </a:rPr>
              <a:t>NULL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LEFT JOIN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ensures all employees are included, even those without bonus records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WHERE clause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handles two scenarios:</a:t>
            </a:r>
          </a:p>
          <a:p>
            <a:pPr marL="0" lvl="1" indent="-285750" algn="l">
              <a:buFont typeface="Arial" panose="020B0604020202020204" pitchFamily="34" charset="0"/>
              <a:buChar char="•"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b.bonus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&lt; 1000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: Employees with bonus less than 1000</a:t>
            </a:r>
          </a:p>
          <a:p>
            <a:pPr marL="0" lvl="1" indent="-285750" algn="l">
              <a:buFont typeface="Arial" panose="020B0604020202020204" pitchFamily="34" charset="0"/>
              <a:buChar char="•"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b.bonus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IS NULL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: Employees with no bonus record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Key Insight: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Simply using 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b.bonus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&lt; 1000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would exclude employees with NULL bonuses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NULL represents "no bonus," which should be included in the result</a:t>
            </a:r>
          </a:p>
        </p:txBody>
      </p:sp>
    </p:spTree>
    <p:extLst>
      <p:ext uri="{BB962C8B-B14F-4D97-AF65-F5344CB8AC3E}">
        <p14:creationId xmlns:p14="http://schemas.microsoft.com/office/powerpoint/2010/main" val="30433643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A56DC-4F95-0F27-C495-4C63757B1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C758093-56D3-8A57-79A7-62896A14D4BC}"/>
              </a:ext>
            </a:extLst>
          </p:cNvPr>
          <p:cNvSpPr txBox="1"/>
          <p:nvPr/>
        </p:nvSpPr>
        <p:spPr>
          <a:xfrm>
            <a:off x="4549140" y="1150769"/>
            <a:ext cx="4953000" cy="4154984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Find each student and each subject they are enrolled in, along with how many examinations they attended for each subject.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student_id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student_name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sub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subject_name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subject_name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attended_exams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Students s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CROSS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Subjects sub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LEFT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Examinations e 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student_id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student_id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sub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subject_name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subject_name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student_id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student_name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sub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subject_name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student_id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sub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subject_name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CROSS JOIN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creates all possible combinations of students and subjects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LEFT JOIN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with Examinations counts actual exam attempts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COUNT(</a:t>
            </a:r>
            <a:r>
              <a:rPr lang="en-US" sz="1200" b="1" i="0" dirty="0" err="1">
                <a:solidFill>
                  <a:srgbClr val="0F1115"/>
                </a:solidFill>
                <a:effectLst/>
                <a:latin typeface="quote-cjk-patch"/>
              </a:rPr>
              <a:t>e.subject_name</a:t>
            </a: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counts exams per student-subject combination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GROUP BY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ensures one row per student-subject pair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ORDER BY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makes output readable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899351-7177-4728-1125-78D233D11C76}"/>
              </a:ext>
            </a:extLst>
          </p:cNvPr>
          <p:cNvSpPr txBox="1"/>
          <p:nvPr/>
        </p:nvSpPr>
        <p:spPr>
          <a:xfrm>
            <a:off x="271780" y="424051"/>
            <a:ext cx="3436620" cy="5262979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F1115"/>
                </a:solidFill>
                <a:effectLst/>
                <a:latin typeface="quote-cjk-patch"/>
              </a:rPr>
              <a:t>Problem 12: </a:t>
            </a:r>
            <a:r>
              <a:rPr lang="en-US" sz="1200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Students and Examinations</a:t>
            </a:r>
            <a:endParaRPr lang="en-US" sz="1200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Table Structures: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Students: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student_id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student_name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varchar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student_id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Subjects: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subject_name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varchar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subject_name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Examinations: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student_id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subject_name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varchar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No primary key (may have duplicates)</a:t>
            </a:r>
          </a:p>
        </p:txBody>
      </p:sp>
    </p:spTree>
    <p:extLst>
      <p:ext uri="{BB962C8B-B14F-4D97-AF65-F5344CB8AC3E}">
        <p14:creationId xmlns:p14="http://schemas.microsoft.com/office/powerpoint/2010/main" val="21457615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7B41F-6114-4AA2-952A-6083A34CF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1D89176-807F-6F56-4C22-39FBE2B8E479}"/>
              </a:ext>
            </a:extLst>
          </p:cNvPr>
          <p:cNvSpPr txBox="1"/>
          <p:nvPr/>
        </p:nvSpPr>
        <p:spPr>
          <a:xfrm>
            <a:off x="113429" y="125272"/>
            <a:ext cx="3439161" cy="6186309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F1115"/>
                </a:solidFill>
                <a:effectLst/>
                <a:latin typeface="quote-cjk-patch"/>
              </a:rPr>
              <a:t>Problem 13: </a:t>
            </a:r>
            <a:r>
              <a:rPr lang="en-US" sz="1200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Managers with at Least 5 Direct Reports</a:t>
            </a:r>
            <a:endParaRPr lang="en-US" sz="1200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Employee: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id        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name        | varchar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department  | varchar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managerId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Find managers who have at least five direct reports.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e1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name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Employee e1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INNER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Employee e2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e1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id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e2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managerId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e1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e1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name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HAVING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e2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&gt;=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B76B01"/>
                </a:solidFill>
                <a:effectLst/>
                <a:latin typeface="Menlo"/>
              </a:rPr>
              <a:t>5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SELF JOIN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where e1 are managers, e2 are their direct reports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ON e1.id = e2.managerId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connects managers with their reports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GROUP BY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groups by manager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HAVING COUNT(e2.id) &gt;= 5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filters managers with at least 5 reports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HAVING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is used instead of WHERE because we're filtering after aggregation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C50470-808B-A9EA-5975-5F2E01F96CAF}"/>
              </a:ext>
            </a:extLst>
          </p:cNvPr>
          <p:cNvSpPr txBox="1"/>
          <p:nvPr/>
        </p:nvSpPr>
        <p:spPr>
          <a:xfrm>
            <a:off x="5745915" y="215154"/>
            <a:ext cx="3743525" cy="4708981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Calculate the confirmation rate of each user. Confirmation rate = number of 'confirmed' messages / total number of requested confirmation messages.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ROUND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AVG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CASE</a:t>
            </a:r>
          </a:p>
          <a:p>
            <a:pPr algn="l" latinLnBrk="1">
              <a:buNone/>
            </a:pPr>
            <a:r>
              <a:rPr lang="en-US" sz="1200" dirty="0">
                <a:solidFill>
                  <a:srgbClr val="A626A4"/>
                </a:solidFill>
                <a:latin typeface="Menlo"/>
              </a:rPr>
              <a:t>	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      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c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A626A4"/>
                </a:solidFill>
                <a:effectLst/>
                <a:latin typeface="Menlo"/>
              </a:rPr>
              <a:t>action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50A14F"/>
                </a:solidFill>
                <a:effectLst/>
                <a:latin typeface="Menlo"/>
              </a:rPr>
              <a:t>'confirmed'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B76B01"/>
                </a:solidFill>
                <a:effectLst/>
                <a:latin typeface="Menlo"/>
              </a:rPr>
              <a:t>1.0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buNone/>
            </a:pPr>
            <a:r>
              <a:rPr lang="en-US" sz="1200" dirty="0">
                <a:solidFill>
                  <a:srgbClr val="0F1115"/>
                </a:solidFill>
                <a:latin typeface="Menlo"/>
              </a:rPr>
              <a:t>                        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B76B01"/>
                </a:solidFill>
                <a:effectLst/>
                <a:latin typeface="Menlo"/>
              </a:rPr>
              <a:t>0.0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buNone/>
            </a:pPr>
            <a:r>
              <a:rPr lang="en-US" sz="1200" dirty="0">
                <a:solidFill>
                  <a:srgbClr val="0F1115"/>
                </a:solidFill>
                <a:latin typeface="Menlo"/>
              </a:rPr>
              <a:t>              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END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sz="1200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confirmation_rate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Signups s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LEFT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Confirmations c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c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LEFT JOIN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keeps all users, even those with no confirmations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CASE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converts 'confirmed' to 1, everything else to 0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AVG()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calculates the confirmation rate (sum of 1's divided by count)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ROUND(..., 2)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formats to 2 decimal places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Users with no confirmations will have rate = 0.00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9C85DC-B13C-1FF9-6322-0B2578C7E3D0}"/>
              </a:ext>
            </a:extLst>
          </p:cNvPr>
          <p:cNvSpPr txBox="1"/>
          <p:nvPr/>
        </p:nvSpPr>
        <p:spPr>
          <a:xfrm>
            <a:off x="3663115" y="125512"/>
            <a:ext cx="2082800" cy="4893647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F1115"/>
                </a:solidFill>
                <a:effectLst/>
                <a:latin typeface="quote-cjk-patch"/>
              </a:rPr>
              <a:t>Problem 14: </a:t>
            </a:r>
            <a:r>
              <a:rPr lang="en-US" sz="1200" b="1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Confirmation Rate</a:t>
            </a:r>
            <a:endParaRPr lang="en-US" sz="1200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Table Structures: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Signups: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Column Name    | Type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  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time_stamp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 | datetime|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quote-cjk-patch"/>
              </a:rPr>
              <a:t>user_id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quote-cjk-patch"/>
              </a:rPr>
              <a:t>time_stamp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) is the primary key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Confirmations: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Column Name    | Type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  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time_stamp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 | datetime|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action         | ENUM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quote-cjk-patch"/>
              </a:rPr>
              <a:t>user_id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quote-cjk-patch"/>
              </a:rPr>
              <a:t>time_stamp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) is the primary key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action is ('confirmed', 'timeout')</a:t>
            </a:r>
          </a:p>
        </p:txBody>
      </p:sp>
    </p:spTree>
    <p:extLst>
      <p:ext uri="{BB962C8B-B14F-4D97-AF65-F5344CB8AC3E}">
        <p14:creationId xmlns:p14="http://schemas.microsoft.com/office/powerpoint/2010/main" val="25550331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5E068-DA3F-7C9A-61FF-2FCD6CDF2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48149D0-8467-15A6-7D5F-351BF7C9CD90}"/>
              </a:ext>
            </a:extLst>
          </p:cNvPr>
          <p:cNvSpPr txBox="1"/>
          <p:nvPr/>
        </p:nvSpPr>
        <p:spPr>
          <a:xfrm>
            <a:off x="126772" y="100024"/>
            <a:ext cx="3246348" cy="526297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F1115"/>
                </a:solidFill>
                <a:effectLst/>
                <a:latin typeface="quote-cjk-patch"/>
              </a:rPr>
              <a:t>Section 3: Basic Aggregate Functions</a:t>
            </a:r>
          </a:p>
          <a:p>
            <a:pPr algn="l">
              <a:buNone/>
            </a:pPr>
            <a:r>
              <a:rPr lang="en-US" sz="1200" b="1" dirty="0">
                <a:solidFill>
                  <a:srgbClr val="0F1115"/>
                </a:solidFill>
                <a:effectLst/>
                <a:latin typeface="quote-cjk-patch"/>
              </a:rPr>
              <a:t>Problem 15: </a:t>
            </a:r>
            <a:r>
              <a:rPr lang="en-US" sz="1200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Not Boring Movies</a:t>
            </a:r>
            <a:endParaRPr lang="en-US" sz="1200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Cinema: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Column Name    | Type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id           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movie          | varchar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description    | varchar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rating         | float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Report movies with an odd-numbered ID and a description that is not "boring". Order by rating in descending order.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Cinema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id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%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description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!=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50A14F"/>
                </a:solidFill>
                <a:effectLst/>
                <a:latin typeface="Menlo"/>
              </a:rPr>
              <a:t>'boring'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rating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DESC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id % 2 = 1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checks for odd IDs (modulo operator)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description != 'boring'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filters out boring movies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ORDER BY rating DESC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shows highest-rated movies first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93C59A-8A80-201A-986F-F958B179C003}"/>
              </a:ext>
            </a:extLst>
          </p:cNvPr>
          <p:cNvSpPr txBox="1"/>
          <p:nvPr/>
        </p:nvSpPr>
        <p:spPr>
          <a:xfrm>
            <a:off x="5628640" y="100024"/>
            <a:ext cx="4150588" cy="43396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Find the average selling price for each product. Average price = total price / total units sold.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ROUND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SUM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price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u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units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/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SUM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u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units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average_price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Prices p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UnitsSold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u 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u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u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purchase_date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BETWEEN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start_date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end_date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JOIN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matches sales with the correct price based on purchase date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BETWEEN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ensures the price used is valid for that purchase date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SUM(</a:t>
            </a:r>
            <a:r>
              <a:rPr lang="en-US" sz="1200" b="1" i="0" dirty="0" err="1">
                <a:solidFill>
                  <a:srgbClr val="0F1115"/>
                </a:solidFill>
                <a:effectLst/>
                <a:latin typeface="quote-cjk-patch"/>
              </a:rPr>
              <a:t>p.price</a:t>
            </a: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 * </a:t>
            </a:r>
            <a:r>
              <a:rPr lang="en-US" sz="1200" b="1" i="0" dirty="0" err="1">
                <a:solidFill>
                  <a:srgbClr val="0F1115"/>
                </a:solidFill>
                <a:effectLst/>
                <a:latin typeface="quote-cjk-patch"/>
              </a:rPr>
              <a:t>u.units</a:t>
            </a: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calculates total revenue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SUM(</a:t>
            </a:r>
            <a:r>
              <a:rPr lang="en-US" sz="1200" b="1" i="0" dirty="0" err="1">
                <a:solidFill>
                  <a:srgbClr val="0F1115"/>
                </a:solidFill>
                <a:effectLst/>
                <a:latin typeface="quote-cjk-patch"/>
              </a:rPr>
              <a:t>u.units</a:t>
            </a: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calculates total units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Division gives weighted average price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ROUND(..., 2)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formats to 2 decimal places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A8510D-A1E0-6622-6E94-0871FB82D73D}"/>
              </a:ext>
            </a:extLst>
          </p:cNvPr>
          <p:cNvSpPr txBox="1"/>
          <p:nvPr/>
        </p:nvSpPr>
        <p:spPr>
          <a:xfrm>
            <a:off x="3373120" y="100024"/>
            <a:ext cx="2255520" cy="4893647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F1115"/>
                </a:solidFill>
                <a:effectLst/>
                <a:latin typeface="quote-cjk-patch"/>
              </a:rPr>
              <a:t>Problem 16: </a:t>
            </a:r>
            <a:r>
              <a:rPr lang="en-US" sz="1200" b="1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Average Selling Price</a:t>
            </a:r>
            <a:endParaRPr lang="en-US" sz="1200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Table Structures: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Prices: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Column Name    | Type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start_date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 | date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end_date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   | date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price        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quote-cjk-patch"/>
              </a:rPr>
              <a:t>product_id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quote-cjk-patch"/>
              </a:rPr>
              <a:t>start_date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quote-cjk-patch"/>
              </a:rPr>
              <a:t>end_date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) is the primary key</a:t>
            </a:r>
          </a:p>
          <a:p>
            <a:pPr algn="l">
              <a:buNone/>
            </a:pPr>
            <a:r>
              <a:rPr lang="en-US" sz="1200" b="1" i="0" dirty="0" err="1">
                <a:solidFill>
                  <a:srgbClr val="0F1115"/>
                </a:solidFill>
                <a:effectLst/>
                <a:latin typeface="quote-cjk-patch"/>
              </a:rPr>
              <a:t>UnitsSold</a:t>
            </a: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Column Name    | Type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purchase_date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| date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units        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No primary key (may have duplicates)</a:t>
            </a:r>
          </a:p>
        </p:txBody>
      </p:sp>
    </p:spTree>
    <p:extLst>
      <p:ext uri="{BB962C8B-B14F-4D97-AF65-F5344CB8AC3E}">
        <p14:creationId xmlns:p14="http://schemas.microsoft.com/office/powerpoint/2010/main" val="21688457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8208D-0985-00C8-9982-1D94173FE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C1DF4D0-FD55-7D35-ECBD-C91C3FC37470}"/>
              </a:ext>
            </a:extLst>
          </p:cNvPr>
          <p:cNvSpPr txBox="1"/>
          <p:nvPr/>
        </p:nvSpPr>
        <p:spPr>
          <a:xfrm>
            <a:off x="143302" y="-6045389"/>
            <a:ext cx="4954136" cy="18948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17: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Project Employees I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Project: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project_id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project_id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employee_id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) 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Employee: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    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name        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experience_years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the average experience years of all employees for each project.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project_id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ROUND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AVG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experience_years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average_years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Project p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 e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project_id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connects projects with employee experience data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AVG(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e.experience_years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calculates average across all project members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GROUP BY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gives per-project averages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ROUND(..., 2)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formats to 2 decimal places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5332BF-50C2-D451-17EF-F0550C65EDA1}"/>
              </a:ext>
            </a:extLst>
          </p:cNvPr>
          <p:cNvSpPr txBox="1"/>
          <p:nvPr/>
        </p:nvSpPr>
        <p:spPr>
          <a:xfrm>
            <a:off x="4647063" y="-6163402"/>
            <a:ext cx="4954136" cy="195874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18: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Percentage of Users Attended a Contest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Users: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user_name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Register: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contest_id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contest_id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) 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the percentage of users registered for each contest, sorted by percentage descending, then by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contest_id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 ascending.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contest_id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ROUND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100.0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/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Users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percentage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Register r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contest_id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percentage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DESC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contest_id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ASC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Subquery (SELECT COUNT(*) FROM Users)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total users count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COUNT(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r.user_id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registrations per contest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Multiplication by 100.0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ensures decimal division (not integer division)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ORDER BY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first by percentage (highest first), then by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contest_id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ROUND(..., 2)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formats to 2 decimal places</a:t>
            </a:r>
          </a:p>
        </p:txBody>
      </p:sp>
    </p:spTree>
    <p:extLst>
      <p:ext uri="{BB962C8B-B14F-4D97-AF65-F5344CB8AC3E}">
        <p14:creationId xmlns:p14="http://schemas.microsoft.com/office/powerpoint/2010/main" val="20263430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A536A-EED8-A427-E116-F5A6BD812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EEC1F6C-4DB6-8309-F916-63F4CC4E7C79}"/>
              </a:ext>
            </a:extLst>
          </p:cNvPr>
          <p:cNvSpPr txBox="1"/>
          <p:nvPr/>
        </p:nvSpPr>
        <p:spPr>
          <a:xfrm>
            <a:off x="225189" y="-5063069"/>
            <a:ext cx="4954136" cy="16984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19: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Queries Quality and Percentage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Queries: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query_name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result 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position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rating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No primary key (may have duplicates)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query quality (average of rating/position) and poor query percentage (queries with rating &lt; 3).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query_name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ROUND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AVG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rating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1.0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/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position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quality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ROUND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SUM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CASE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rating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3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100.0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/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poor_query_percentage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Queries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query_name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IS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NOT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NULL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query_name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Quality: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AVG(rating/position) - dividing before averaging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Poor queries: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CASE WHEN rating &lt; 3 THEN 1 ELSE 0 END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Percentage: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(count of poor queries * 100.0) / total queries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WHERE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query_name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 IS NOT NULL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handles potential nulls 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LeetCode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 requirement)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GROUP BY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groups by query name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55439C-501A-8CA3-9575-D0FC831CF795}"/>
              </a:ext>
            </a:extLst>
          </p:cNvPr>
          <p:cNvSpPr txBox="1"/>
          <p:nvPr/>
        </p:nvSpPr>
        <p:spPr>
          <a:xfrm>
            <a:off x="4483289" y="-5730876"/>
            <a:ext cx="4954136" cy="191590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20: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Monthly Transactions I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Transactions: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  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id     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country   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state          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enum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amount 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trans_date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| date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state is ('approved', 'declined')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monthly, country-wise transaction counts, approved counts, total amounts, and approved amounts.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DATE_FORMAT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trans_date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'%Y-%m'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month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country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trans_count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SUM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CASE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state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'approved'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approved_count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SUM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amount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trans_total_amount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SUM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CASE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state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'approved'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amount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approved_total_amount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Transactions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month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country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DATE_FORMAT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converts dates to YYYY-MM format for monthly grouping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COUNT(*)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counts all transactions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CASE for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approved_count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counts only approved transactions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SUM(amount)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totals all amounts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CASE for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approved_total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sums only approved transaction amounts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GROUP BY month, country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gives one row per month-country combination</a:t>
            </a:r>
          </a:p>
        </p:txBody>
      </p:sp>
    </p:spTree>
    <p:extLst>
      <p:ext uri="{BB962C8B-B14F-4D97-AF65-F5344CB8AC3E}">
        <p14:creationId xmlns:p14="http://schemas.microsoft.com/office/powerpoint/2010/main" val="42493771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16295-F736-4541-E380-60D1680D5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C459A2C-2211-59FA-D29A-FC99B5B75040}"/>
              </a:ext>
            </a:extLst>
          </p:cNvPr>
          <p:cNvSpPr txBox="1"/>
          <p:nvPr/>
        </p:nvSpPr>
        <p:spPr>
          <a:xfrm>
            <a:off x="-443552" y="-7985664"/>
            <a:ext cx="4954136" cy="22829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Section 3: Basic Aggregate Functions (Continued)</a:t>
            </a:r>
          </a:p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21: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Immediate Food Delivery II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Delivery: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               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delivery_id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customer_id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order_date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| date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customer_pref_delivery_date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date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delivery_id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the percentage of immediate orders on a customer's first order. An order is immediate if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order_date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 =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customer_pref_delivery_date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WITH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first_orders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customer_id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MIN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order_date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first_order_date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Delivery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customer_id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ROUND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SUM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CASE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order_date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customer_pref_delivery_date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100.0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/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immediate_percentage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Delivery d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first_orders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fo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customer_id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fo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customer_id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order_date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fo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first_order_date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CTE (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first_orders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finds each customer's first order date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with original table to get only first orders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CASE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checks if first order was immediate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Percentage calculation: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(immediate first orders * 100.0) / total first orders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ROUND(..., 2)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formats to 2 decimal places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6A8199-F42E-1F19-7593-204251A433B2}"/>
              </a:ext>
            </a:extLst>
          </p:cNvPr>
          <p:cNvSpPr txBox="1"/>
          <p:nvPr/>
        </p:nvSpPr>
        <p:spPr>
          <a:xfrm>
            <a:off x="4706204" y="-7844061"/>
            <a:ext cx="5199796" cy="22075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22: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Game Play Analysis IV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Activity: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player_id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device_id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event_date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| date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games_played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player_id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event_date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) 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the fraction of players who logged in again the day after their first login.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WITH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first_login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player_id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MIN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event_date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first_date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Activity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player_id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ROUND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DISTINCT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player_id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1.0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/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DISTINCT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player_id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Activity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fraction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Activity a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first_login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fl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player_id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fl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player_id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event_date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DATE_ADD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fl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first_date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INTERVAL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DAY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CTE (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first_login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finds each player's first login date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DATE_ADD(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fl.first_date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, INTERVAL 1 DAY)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gives the next day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finds players who played exactly on that next day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COUNT(DISTINCT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a.player_id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counts players who returned next day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Subquery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total distinct players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Division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gives the fraction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ROUND(..., 2)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formats to 2 decimal places</a:t>
            </a:r>
          </a:p>
        </p:txBody>
      </p:sp>
    </p:spTree>
    <p:extLst>
      <p:ext uri="{BB962C8B-B14F-4D97-AF65-F5344CB8AC3E}">
        <p14:creationId xmlns:p14="http://schemas.microsoft.com/office/powerpoint/2010/main" val="32279331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7C126-04A2-CF97-FE38-E47FAAC33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8E74146-207E-2104-3EEA-E3C4D63CAB12}"/>
              </a:ext>
            </a:extLst>
          </p:cNvPr>
          <p:cNvSpPr txBox="1"/>
          <p:nvPr/>
        </p:nvSpPr>
        <p:spPr>
          <a:xfrm>
            <a:off x="320722" y="-3321093"/>
            <a:ext cx="4954136" cy="13834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Section 4: Sorting and Grouping</a:t>
            </a:r>
          </a:p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23: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Number of Unique Subjects Taught by Each Teacher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Teacher: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teacher_id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| int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subject_id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| int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dept_id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| int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subject_id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dept_id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) 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Count the number of unique subjects each teacher teaches.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teacher_id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DISTINCT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subject_id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cnt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Teacher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teacher_id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COUNT(DISTINCT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subject_id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counts unique subjects per teacher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GROUP BY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teacher_id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groups by each teacher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Simple aggregation without joins needed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3ABCDD-3C7C-FE75-6495-28FBB0B557E6}"/>
              </a:ext>
            </a:extLst>
          </p:cNvPr>
          <p:cNvSpPr txBox="1"/>
          <p:nvPr/>
        </p:nvSpPr>
        <p:spPr>
          <a:xfrm>
            <a:off x="4810837" y="-3965289"/>
            <a:ext cx="4954136" cy="15873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br>
              <a:rPr lang="en-US" dirty="0"/>
            </a:br>
            <a:endParaRPr lang="en-US" dirty="0"/>
          </a:p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24: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User Activity for the Past 30 Days I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Activity: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 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session_id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activity_date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date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activity_type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enum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No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daily active user counts for the last 30 days ending on 2019-07-27.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activity_date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day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DISTINCT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active_users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Activity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activity_date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BETWEEN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DATE_SUB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'2019-07-27'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INTERVAL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29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DAY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'2019-07-27'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activity_date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WHERE clause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filters dates in the 30-day period (including 2019-07-27)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DATE_SUB('2019-07-27', INTERVAL 29 DAY)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gives the start date (30 days inclusive)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COUNT(DISTINCT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user_id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counts unique users per day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GROUP BY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activity_date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gives daily counts</a:t>
            </a:r>
          </a:p>
        </p:txBody>
      </p:sp>
    </p:spTree>
    <p:extLst>
      <p:ext uri="{BB962C8B-B14F-4D97-AF65-F5344CB8AC3E}">
        <p14:creationId xmlns:p14="http://schemas.microsoft.com/office/powerpoint/2010/main" val="2482244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42B9A-8337-6E47-F8F4-F1FF3D654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75ED16F-452C-BFD0-C163-25C15B831BF4}"/>
              </a:ext>
            </a:extLst>
          </p:cNvPr>
          <p:cNvSpPr txBox="1"/>
          <p:nvPr/>
        </p:nvSpPr>
        <p:spPr>
          <a:xfrm>
            <a:off x="-348017" y="-7948474"/>
            <a:ext cx="4954136" cy="227549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25: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Product Sales Analysis III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Sales: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sale_id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| int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| int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year        | int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quantity    | int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price       | int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sale_id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, year) 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Product: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product_name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the first year of sale for each product, along with quantity and price.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year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first_year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quantity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price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Sales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year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MIN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year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Sales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Subquery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finds the minimum (first) year for each product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WHERE 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selects only rows matching those product-year combinations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Returns all columns for the first sale of each product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Alternative using window functions: ROW_NUMBER() PARTITION BY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product_id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 ORDER BY year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27579A-679C-9731-A0E2-3358A418D424}"/>
              </a:ext>
            </a:extLst>
          </p:cNvPr>
          <p:cNvSpPr txBox="1"/>
          <p:nvPr/>
        </p:nvSpPr>
        <p:spPr>
          <a:xfrm>
            <a:off x="2180230" y="-2485828"/>
            <a:ext cx="5152030" cy="11795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26: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Classes More Than 5 Students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Courses: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student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class  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(student, class) 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classes with at least 5 students.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class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Courses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class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HAVING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student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5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GROUP BY class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groups students by class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HAVING COUNT(student) &gt;= 5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filters classes with 5+ students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HAVING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used instead of WHERE because we're filtering after aggregation</a:t>
            </a:r>
          </a:p>
        </p:txBody>
      </p:sp>
    </p:spTree>
    <p:extLst>
      <p:ext uri="{BB962C8B-B14F-4D97-AF65-F5344CB8AC3E}">
        <p14:creationId xmlns:p14="http://schemas.microsoft.com/office/powerpoint/2010/main" val="39824342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D39D9-771D-1A99-8C9D-AF905F417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977ADCF-9D85-46D2-8DC3-0CDEDFE3741F}"/>
              </a:ext>
            </a:extLst>
          </p:cNvPr>
          <p:cNvSpPr txBox="1"/>
          <p:nvPr/>
        </p:nvSpPr>
        <p:spPr>
          <a:xfrm>
            <a:off x="129654" y="-2956082"/>
            <a:ext cx="4954136" cy="12770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27: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Find Followers Count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Followers: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| int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follower_id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int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follower_id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) 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Count followers for each user, ordered by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follower_id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followers_count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Followers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COUNT(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follower_id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counts followers per user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GROUP BY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groups by the user being followed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ORDER BY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sorts results as required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90E610-ADE0-E5DB-6591-66286A836370}"/>
              </a:ext>
            </a:extLst>
          </p:cNvPr>
          <p:cNvSpPr txBox="1"/>
          <p:nvPr/>
        </p:nvSpPr>
        <p:spPr>
          <a:xfrm>
            <a:off x="2477069" y="-3359144"/>
            <a:ext cx="4954136" cy="135421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28: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Biggest Single Number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MyNumbers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num         | int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Contains only one column, may have duplicates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the largest number that appears only once. Return null if no such number.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MAX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num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num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MyNumbers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num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HAVING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single_numbers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Subquery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finds numbers that appear exactly once (HAVING COUNT = 1)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MAX()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the largest such number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If no numbers appear once, MAX returns NULL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Outer SELECT ensures NULL is returned when no single numbers exist</a:t>
            </a:r>
          </a:p>
        </p:txBody>
      </p:sp>
    </p:spTree>
    <p:extLst>
      <p:ext uri="{BB962C8B-B14F-4D97-AF65-F5344CB8AC3E}">
        <p14:creationId xmlns:p14="http://schemas.microsoft.com/office/powerpoint/2010/main" val="32114950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F51D3-0345-00B0-8AB0-A45023E74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C078FCE-CFA2-91E8-DE28-174AF8E94761}"/>
              </a:ext>
            </a:extLst>
          </p:cNvPr>
          <p:cNvSpPr txBox="1"/>
          <p:nvPr/>
        </p:nvSpPr>
        <p:spPr>
          <a:xfrm>
            <a:off x="0" y="-5238758"/>
            <a:ext cx="4954136" cy="17335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29: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Customers Who Bought All Products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Customer: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customer_id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product_key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No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Product: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product_key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product_key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customers who bought every product in the Product table.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customer_id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Customer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customer_id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HAVING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DISTINCT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product_key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Product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Subquery (SELECT COUNT(*) FROM Product)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total number of products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COUNT(DISTINCT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product_key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counts distinct products each customer bought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HAVING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compares - customer must have bought all products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GROUP BY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customer_id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groups purchases by customer</a:t>
            </a:r>
          </a:p>
        </p:txBody>
      </p:sp>
    </p:spTree>
    <p:extLst>
      <p:ext uri="{BB962C8B-B14F-4D97-AF65-F5344CB8AC3E}">
        <p14:creationId xmlns:p14="http://schemas.microsoft.com/office/powerpoint/2010/main" val="32966014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5CCC6-E6E7-B7C6-6CCC-9091F85AE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E85710-1601-8271-67D0-78BD47E98EEF}"/>
              </a:ext>
            </a:extLst>
          </p:cNvPr>
          <p:cNvSpPr txBox="1"/>
          <p:nvPr/>
        </p:nvSpPr>
        <p:spPr>
          <a:xfrm>
            <a:off x="2477069" y="-6158675"/>
            <a:ext cx="4954136" cy="19182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Section 5: Advanced Select and Joins</a:t>
            </a:r>
          </a:p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30: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The Number of Employees Which Report to Each Employee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Employees: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int 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name        | varchar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reports_to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| int 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age         | int 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reports_to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contains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employee_id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 of the manager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For each manager, report their ID, name, number of direct reports, and average age of reports.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e1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e1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e2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reports_count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ROUND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AVG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e2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age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1.0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average_age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Employees e1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Employees e2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employee_id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reports_to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name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SELF JOIN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where e1 are managers, e2 are their reports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ON e1.employee_id = e2.reports_to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connects managers with reports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COUNT(e2.employee_id)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counts reports per manager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AVG(e2.age)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calculates average age of reports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ROUND(..., 0)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rounds to nearest integer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GROUP BY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groups by manager</a:t>
            </a:r>
          </a:p>
        </p:txBody>
      </p:sp>
    </p:spTree>
    <p:extLst>
      <p:ext uri="{BB962C8B-B14F-4D97-AF65-F5344CB8AC3E}">
        <p14:creationId xmlns:p14="http://schemas.microsoft.com/office/powerpoint/2010/main" val="1894340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98316-616B-E845-43AD-535703B17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77A1A84-AB4D-62D3-B500-BAEEF6378A88}"/>
              </a:ext>
            </a:extLst>
          </p:cNvPr>
          <p:cNvSpPr txBox="1"/>
          <p:nvPr/>
        </p:nvSpPr>
        <p:spPr>
          <a:xfrm>
            <a:off x="116007" y="-5719659"/>
            <a:ext cx="4954136" cy="1829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31: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Primary Department for Each Employee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Employee: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department_id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int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primary_flag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enum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employee_id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department_id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) is the primary key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primary_flag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 is ('Y', 'N')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the primary department for each employee. If an employee belongs to only one department, that department is primary.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department_id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primary_flag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'Y'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UNION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department_id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HAVING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department_id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First query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employees with explicitly marked primary department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Second query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employees in only one department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UNION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combines both sets (removes duplicates)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HAVING COUNT(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department_id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) = 1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finds employees with single department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6BBD76-5126-D071-6DDB-4D03361D0A22}"/>
              </a:ext>
            </a:extLst>
          </p:cNvPr>
          <p:cNvSpPr txBox="1"/>
          <p:nvPr/>
        </p:nvSpPr>
        <p:spPr>
          <a:xfrm>
            <a:off x="4951864" y="-4568562"/>
            <a:ext cx="4954136" cy="14937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32: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Triangle Judgement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Triangle: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x           | int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y           | int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z           | int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(x, y, z) 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Report for three line segments whether they can form a triangle.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x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z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CASE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x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y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z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x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z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y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y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z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x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'Yes'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'No'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triangle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Triangle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Triangle Inequality Theorem: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Sum of any two sides must be greater than the third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CASE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checks all three conditions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If all conditions true, 'Yes', otherwise 'No'</a:t>
            </a:r>
          </a:p>
        </p:txBody>
      </p:sp>
    </p:spTree>
    <p:extLst>
      <p:ext uri="{BB962C8B-B14F-4D97-AF65-F5344CB8AC3E}">
        <p14:creationId xmlns:p14="http://schemas.microsoft.com/office/powerpoint/2010/main" val="41643242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FC741-BE3B-1381-C1C3-531DD4C16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8F5DA7-DF98-632C-FD11-8C85B6706E22}"/>
              </a:ext>
            </a:extLst>
          </p:cNvPr>
          <p:cNvSpPr txBox="1"/>
          <p:nvPr/>
        </p:nvSpPr>
        <p:spPr>
          <a:xfrm>
            <a:off x="211541" y="-3425441"/>
            <a:ext cx="4954136" cy="13708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33: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Consecutive Numbers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Logs: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id  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num    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 (automatically increments)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numbers that appear at least three times consecutively.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DISTINCT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num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ConsecutiveNums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Logs l1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Logs l2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Logs l3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l3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num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num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num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l3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Three-way SELF JOIN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with offset conditions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l1, l2, l3 represent current, next, and next+1 rows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ON l1.id = l2.id - 1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ensures l2 is the next row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ON l1.id = l3.id - 2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ensures l3 is two rows ahead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checks if all three have the same number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DISTINCT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handles cases where number appears more than 3 times consecutively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1D73E8-93CE-E5E1-E45B-8892DFE6C558}"/>
              </a:ext>
            </a:extLst>
          </p:cNvPr>
          <p:cNvSpPr txBox="1"/>
          <p:nvPr/>
        </p:nvSpPr>
        <p:spPr>
          <a:xfrm>
            <a:off x="2477069" y="-7403841"/>
            <a:ext cx="4954136" cy="216315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34: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Product Price at a Given Date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Products: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new_price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change_date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date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product_id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change_date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) 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prices of all products on 2019-08-16. If a product had no price change by that date, price is 10.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WITH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last_price_before_date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new_price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Products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change_date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MAX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change_date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Products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change_date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'2019-08-16'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DISTINCT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COALESCE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new_price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price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Products p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LEFT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last_price_before_date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Subquery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finds latest price change date &lt;= target date for each product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CTE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the actual price for that latest change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LEFT JOIN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with DISTINCT products ensures all products included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COALESCE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sets default price 10 for products with no price change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DISTINCT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prevents duplicate products</a:t>
            </a:r>
          </a:p>
        </p:txBody>
      </p:sp>
    </p:spTree>
    <p:extLst>
      <p:ext uri="{BB962C8B-B14F-4D97-AF65-F5344CB8AC3E}">
        <p14:creationId xmlns:p14="http://schemas.microsoft.com/office/powerpoint/2010/main" val="19809076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1F3F0-8E3C-9EC2-08A0-4468CCE58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F649319-397D-92BD-8E56-352D268E4BD6}"/>
              </a:ext>
            </a:extLst>
          </p:cNvPr>
          <p:cNvSpPr txBox="1"/>
          <p:nvPr/>
        </p:nvSpPr>
        <p:spPr>
          <a:xfrm>
            <a:off x="443553" y="-5971009"/>
            <a:ext cx="4954136" cy="188000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35: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Last Person to Fit in the Bus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Queue: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person_id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person_name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weight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turn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turn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determines boarding order (1 to n)</a:t>
            </a:r>
          </a:p>
          <a:p>
            <a:pPr algn="l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person_id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the last person who can board the bus without exceeding 1000 kg total weight.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WITH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cumulative_weight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person_name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weight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turn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SUM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weight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OVER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turn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total_weight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Queue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person_name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cumulative_weight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total_weight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1000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turn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DESC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LIMIT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Window function SUM() OVER (ORDER BY turn)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calculates running total weight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WHERE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total_weight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 &lt;= 1000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filters those who can board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ORDER BY turn DESC, LIMIT 1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the last person who can board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This ensures we don't exceed the weight limit</a:t>
            </a:r>
          </a:p>
        </p:txBody>
      </p:sp>
    </p:spTree>
    <p:extLst>
      <p:ext uri="{BB962C8B-B14F-4D97-AF65-F5344CB8AC3E}">
        <p14:creationId xmlns:p14="http://schemas.microsoft.com/office/powerpoint/2010/main" val="10298206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392F3-1F7B-EAA1-D24C-5CD66DFD5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71F7D1E-1586-9C93-7B08-50EDCD4F0DFF}"/>
              </a:ext>
            </a:extLst>
          </p:cNvPr>
          <p:cNvSpPr txBox="1"/>
          <p:nvPr/>
        </p:nvSpPr>
        <p:spPr>
          <a:xfrm>
            <a:off x="2477069" y="-10031530"/>
            <a:ext cx="4954136" cy="26927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36: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Count Salary Categories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Accounts: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account_id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| int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income      | int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account_id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Count accounts in each salary category: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"Low Salary": income &lt; 20000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"Average Salary": 20000 &lt;= income &lt;= 50000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"High Salary": income &gt; 50000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WITH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categories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'Low Salary'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category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UNION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'Average Salary'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UNION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'High Salary'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category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account_id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accounts_count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categories c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LEFT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Accounts a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CASE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category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'Low Salary'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income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20000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category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'Average Salary'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income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BETWEEN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20000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50000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category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'High Salary'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income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50000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category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CASE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category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'Low Salary'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'Average Salary'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'High Salary'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3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CTE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creates all three category names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LEFT JOIN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with conditional matching based on income ranges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CASE in JOIN condition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ensures accounts go to correct categories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COUNT(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a.account_id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counts accounts per category (0 if none)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ORDER BY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maintains specified category order</a:t>
            </a:r>
          </a:p>
        </p:txBody>
      </p:sp>
    </p:spTree>
    <p:extLst>
      <p:ext uri="{BB962C8B-B14F-4D97-AF65-F5344CB8AC3E}">
        <p14:creationId xmlns:p14="http://schemas.microsoft.com/office/powerpoint/2010/main" val="537445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F4734-C1A0-211C-519C-3E66DD658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74B7F9B-E05C-A91B-9BCB-A49D5E7001A6}"/>
              </a:ext>
            </a:extLst>
          </p:cNvPr>
          <p:cNvSpPr txBox="1"/>
          <p:nvPr/>
        </p:nvSpPr>
        <p:spPr>
          <a:xfrm>
            <a:off x="2477069" y="-5092999"/>
            <a:ext cx="4954136" cy="170508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Section 6: Subqueries</a:t>
            </a:r>
          </a:p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37: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Employees Whose Manager Left the Company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Employees: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int 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name        | varchar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manager_id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| int 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salary      | int 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employees whose managers have left the company (manager's record is missing from employees table).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manager_id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NOT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manager_id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IS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NOT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NULL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Subquery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all valid employee IDs (managers who still work there)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NOT 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finds employees whose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manager_id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 is not in that list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AND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manager_id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 IS NOT NULL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excludes employees with no manager (CEO)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ORDER BY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sorts results as required</a:t>
            </a:r>
          </a:p>
        </p:txBody>
      </p:sp>
    </p:spTree>
    <p:extLst>
      <p:ext uri="{BB962C8B-B14F-4D97-AF65-F5344CB8AC3E}">
        <p14:creationId xmlns:p14="http://schemas.microsoft.com/office/powerpoint/2010/main" val="42684021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A05F5-03AA-D92D-60A8-B08A3E4A0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83C5C8C-D049-5D45-A9B0-70F10230A488}"/>
              </a:ext>
            </a:extLst>
          </p:cNvPr>
          <p:cNvSpPr txBox="1"/>
          <p:nvPr/>
        </p:nvSpPr>
        <p:spPr>
          <a:xfrm>
            <a:off x="197892" y="-4936078"/>
            <a:ext cx="4954136" cy="1632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38: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Exchange Seats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Seat: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id  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student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 (consecutive values)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Swap seat IDs of every two consecutive students. If odd number of students, last student stays.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CASE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%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MAX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Seat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%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id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student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Seat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CASE statement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handles three scenarios:</a:t>
            </a:r>
          </a:p>
          <a:p>
            <a:pPr marL="742950" lvl="1" indent="-285750" algn="l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Odd ID but not last: swap with next (id + 1)</a:t>
            </a:r>
          </a:p>
          <a:p>
            <a:pPr marL="74295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Even ID: swap with previous (id - 1)</a:t>
            </a:r>
          </a:p>
          <a:p>
            <a:pPr marL="74295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Last odd ID: keep same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Subquery (SELECT MAX(id))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total count to identify last row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ORDER BY 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ensures correct ordering after swapping</a:t>
            </a:r>
          </a:p>
        </p:txBody>
      </p:sp>
    </p:spTree>
    <p:extLst>
      <p:ext uri="{BB962C8B-B14F-4D97-AF65-F5344CB8AC3E}">
        <p14:creationId xmlns:p14="http://schemas.microsoft.com/office/powerpoint/2010/main" val="40776458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89E505-40D9-4ED7-D016-8A821BFA1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6324199-6AA4-26B8-5947-C7089BEBE2B3}"/>
              </a:ext>
            </a:extLst>
          </p:cNvPr>
          <p:cNvSpPr txBox="1"/>
          <p:nvPr/>
        </p:nvSpPr>
        <p:spPr>
          <a:xfrm>
            <a:off x="2477069" y="-13381165"/>
            <a:ext cx="4954136" cy="336271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39: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Movie Rating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Movies: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movie_id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title  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movie_id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Users: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name   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MovieRating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movie_id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rating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created_at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| date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movie_id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) 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Find: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User who rated most movies (if tie, alphabetically smaller name)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Movie with highest average rating in February 2020 (if tie, alphabetically smaller title)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u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name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results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Users u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MovieRating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mr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u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name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DESC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u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name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ASC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LIMIT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UNION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ALL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title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results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Movies m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MovieRating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movie_id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mr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movie_id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mr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created_at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BETWEEN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'2020-02-01'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'2020-02-29'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movie_id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title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AVG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mr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rating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DESC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title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ASC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LIMIT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First query: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marL="742950" lvl="1" indent="-285750" algn="l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Join Users with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MovieRating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marL="74295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GROUP BY user to count ratings</a:t>
            </a:r>
          </a:p>
          <a:p>
            <a:pPr marL="74295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ORDER BY count DESC, then name ASC</a:t>
            </a:r>
          </a:p>
          <a:p>
            <a:pPr marL="74295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LIMIT 1 gets the top user</a:t>
            </a:r>
          </a:p>
          <a:p>
            <a:pPr algn="l">
              <a:spcBef>
                <a:spcPts val="45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Second query: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marL="742950" lvl="1" indent="-285750" algn="l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Join Movies with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MovieRating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marL="74295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WHERE filters for February 2020</a:t>
            </a:r>
          </a:p>
          <a:p>
            <a:pPr marL="74295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GROUP BY movie to calculate average rating</a:t>
            </a:r>
          </a:p>
          <a:p>
            <a:pPr marL="74295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ORDER BY avg rating DESC, then title ASC</a:t>
            </a:r>
          </a:p>
          <a:p>
            <a:pPr marL="74295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LIMIT 1 gets top movie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UNION ALL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combines both results</a:t>
            </a:r>
          </a:p>
        </p:txBody>
      </p:sp>
    </p:spTree>
    <p:extLst>
      <p:ext uri="{BB962C8B-B14F-4D97-AF65-F5344CB8AC3E}">
        <p14:creationId xmlns:p14="http://schemas.microsoft.com/office/powerpoint/2010/main" val="35282200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09C2D-F040-78E6-DD9B-00AC84CAA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BDA1725-F5FE-6D62-7D33-CAC0EF058BE9}"/>
              </a:ext>
            </a:extLst>
          </p:cNvPr>
          <p:cNvSpPr txBox="1"/>
          <p:nvPr/>
        </p:nvSpPr>
        <p:spPr>
          <a:xfrm>
            <a:off x="2477069" y="-9310820"/>
            <a:ext cx="4954136" cy="25486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40: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Restaurant Growth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Customer: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customer_id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name   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visited_on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| date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amount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customer_id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visited_on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) 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Calculate 7-day moving average of amount paid, from minimum date to 6 days after.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WITH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daily_sum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visited_on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SUM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amount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amount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Customer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visited_on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moving_avg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d1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visited_on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SUM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d2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amount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amount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ROUND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AVG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d2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amount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1.0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average_amount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daily_sum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d1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daily_sum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d2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visited_on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BETWEEN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DATE_SUB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d1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visited_on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INTERVAL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6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DAY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visited_on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visited_on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HAVING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d2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visited_on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7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visited_on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amount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average_amount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moving_avg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visited_on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CTE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daily_sum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aggregates amounts by date (handles multiple customers same day)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SELF JOIN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on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daily_sum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 to get 7-day windows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BETWEEN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condition gets current day and previous 6 days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SUM(d2.amount)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gives 7-day total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AVG(d2.amount)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gives 7-day moving average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HAVING COUNT(d2.visited_on) = 7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ensures complete 7-day window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ORDER BY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chronological order</a:t>
            </a:r>
          </a:p>
        </p:txBody>
      </p:sp>
    </p:spTree>
    <p:extLst>
      <p:ext uri="{BB962C8B-B14F-4D97-AF65-F5344CB8AC3E}">
        <p14:creationId xmlns:p14="http://schemas.microsoft.com/office/powerpoint/2010/main" val="1250078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263D5-F352-EAA7-74F0-A6DE67CBD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5C9D8A3-44EA-732E-A44A-F59BD2C527E2}"/>
              </a:ext>
            </a:extLst>
          </p:cNvPr>
          <p:cNvSpPr txBox="1"/>
          <p:nvPr/>
        </p:nvSpPr>
        <p:spPr>
          <a:xfrm>
            <a:off x="2477069" y="-5467460"/>
            <a:ext cx="4954136" cy="177997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41: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Friend Requests II: Who Has the Most Friends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RequestAccepted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  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requester_id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accepter_id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accept_date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| date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requester_id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accepter_id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) 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person with most friends and their friend count.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WITH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all_friends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requester_id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id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RequestAccepted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UNION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ALL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accepter_id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id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RequestAccepted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num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all_friends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id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num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DESC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LIMIT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UNION ALL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combines both sides of friendships</a:t>
            </a:r>
          </a:p>
          <a:p>
            <a:pPr marL="742950" lvl="1" indent="-285750" algn="l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requester_id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 counts as friend for requester</a:t>
            </a:r>
          </a:p>
          <a:p>
            <a:pPr marL="74295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accepter_id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 counts as friend for accepter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GROUP BY 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counts total friends for each person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ORDER BY num DESC, LIMIT 1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person with most friends</a:t>
            </a:r>
          </a:p>
        </p:txBody>
      </p:sp>
    </p:spTree>
    <p:extLst>
      <p:ext uri="{BB962C8B-B14F-4D97-AF65-F5344CB8AC3E}">
        <p14:creationId xmlns:p14="http://schemas.microsoft.com/office/powerpoint/2010/main" val="7630640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B1E5E-CDE1-A6B0-BC87-662752729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E97C391-017C-2EC5-F350-45B4CE6B602C}"/>
              </a:ext>
            </a:extLst>
          </p:cNvPr>
          <p:cNvSpPr txBox="1"/>
          <p:nvPr/>
        </p:nvSpPr>
        <p:spPr>
          <a:xfrm>
            <a:off x="2477069" y="-7020449"/>
            <a:ext cx="4954136" cy="20905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42: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Investments in 2016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Insurance: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  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tiv_2015       | float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tiv_2016       | float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lat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| float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| float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sum of tiv_2016 for policies where: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tiv_2015 matches at least one other policy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lat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lon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) is unique (no other policy in same location)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ROUND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SUM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tiv_2016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tiv_2016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Insurance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tiv_2015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tiv_2015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Insurance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tiv_2015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HAVING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lat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lon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lat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lon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Insurance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lat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lon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HAVING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First subquery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finds tiv_2015 values that appear more than once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Second subquery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finds unique location pairs (appear exactly once)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combines both conditions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SUM(tiv_2016)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totals qualifying policies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ROUND(..., 2)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formats to 2 decimals</a:t>
            </a:r>
          </a:p>
        </p:txBody>
      </p:sp>
    </p:spTree>
    <p:extLst>
      <p:ext uri="{BB962C8B-B14F-4D97-AF65-F5344CB8AC3E}">
        <p14:creationId xmlns:p14="http://schemas.microsoft.com/office/powerpoint/2010/main" val="216510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BC157C-7E71-00DD-B11C-77BDBC4BF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B0293D6-322F-A3AC-EE5C-021D23E2D609}"/>
              </a:ext>
            </a:extLst>
          </p:cNvPr>
          <p:cNvSpPr txBox="1"/>
          <p:nvPr/>
        </p:nvSpPr>
        <p:spPr>
          <a:xfrm>
            <a:off x="2477069" y="-9839170"/>
            <a:ext cx="4954136" cy="26543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43: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Department Top Three Salaries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Employee: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id   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name    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salary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departmentId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Department: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id  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name   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employees in top three 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unique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salaries per department.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WITH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ranked_employees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name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Department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name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salary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Salary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DENSE_RANK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OVER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PARTITION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departmentId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salary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DESC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salary_rank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 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Department d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departmentId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Department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Employee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Salary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ranked_employees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salary_rank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3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Department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Salary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DESC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DENSE_RANK()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assigns ranks without gaps (1,2,2,3,3...)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PARTITION BY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departmentId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resets ranking per department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ORDER BY salary DESC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ranks highest salaries first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WHERE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salary_rank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 &lt;= 3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filters top three unique salaries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department names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ORDER BY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for clean output</a:t>
            </a:r>
          </a:p>
        </p:txBody>
      </p:sp>
    </p:spTree>
    <p:extLst>
      <p:ext uri="{BB962C8B-B14F-4D97-AF65-F5344CB8AC3E}">
        <p14:creationId xmlns:p14="http://schemas.microsoft.com/office/powerpoint/2010/main" val="26236135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93A60-7F4A-4075-E419-85EE761A0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05056A7-C8E2-35EB-631D-818CF0A9586B}"/>
              </a:ext>
            </a:extLst>
          </p:cNvPr>
          <p:cNvSpPr txBox="1"/>
          <p:nvPr/>
        </p:nvSpPr>
        <p:spPr>
          <a:xfrm>
            <a:off x="2477069" y="-4691607"/>
            <a:ext cx="4954136" cy="162480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Section 7: Advanced String Functions / Regex / Clause</a:t>
            </a:r>
          </a:p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44: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Fix Names in a Table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Users: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  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name      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Fix name format: first character uppercase, rest lowercase.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CONCAT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UPPER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LEFT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)),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LOWER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SUBSTRING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name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Users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LEFT(name, 1)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first character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UPPER()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capitalizes it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SUBSTRING(name, 2)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all characters from position 2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LOWER()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makes them lowercase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CONCAT()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combines both parts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ORDER BY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sorts results</a:t>
            </a:r>
          </a:p>
        </p:txBody>
      </p:sp>
    </p:spTree>
    <p:extLst>
      <p:ext uri="{BB962C8B-B14F-4D97-AF65-F5344CB8AC3E}">
        <p14:creationId xmlns:p14="http://schemas.microsoft.com/office/powerpoint/2010/main" val="10081883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2FCAA-5208-4115-0033-78F3F505C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02294F1-C6D9-F392-736C-C517F136012C}"/>
              </a:ext>
            </a:extLst>
          </p:cNvPr>
          <p:cNvSpPr txBox="1"/>
          <p:nvPr/>
        </p:nvSpPr>
        <p:spPr>
          <a:xfrm>
            <a:off x="2477069" y="-3313024"/>
            <a:ext cx="4954136" cy="13490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0Problem 45: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Patients With a Condition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Patients: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patient_id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patient_name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conditions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patient_id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conditions contains ICD codes separated by spaces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patients with Type I Diabetes (codes starting with "DIAB1").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Patients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conditions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LIKE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'DIAB1%'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conditions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LIKE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'% DIAB1%'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LIKE 'DIAB1%'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finds codes at the very beginning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LIKE '% DIAB1%'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finds codes with space before them (middle/end)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The space ensures we match whole codes, not substrings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Covers all positions where DIAB1 can appear</a:t>
            </a:r>
          </a:p>
        </p:txBody>
      </p:sp>
    </p:spTree>
    <p:extLst>
      <p:ext uri="{BB962C8B-B14F-4D97-AF65-F5344CB8AC3E}">
        <p14:creationId xmlns:p14="http://schemas.microsoft.com/office/powerpoint/2010/main" val="23357814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C0856-9563-310D-DEF0-85E9C971E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156FD06-9B2F-1445-142A-4171735C26A0}"/>
              </a:ext>
            </a:extLst>
          </p:cNvPr>
          <p:cNvSpPr txBox="1"/>
          <p:nvPr/>
        </p:nvSpPr>
        <p:spPr>
          <a:xfrm>
            <a:off x="156950" y="-3024559"/>
            <a:ext cx="4954136" cy="12231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46: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Delete Duplicate Emails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Person: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id  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email  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Delete duplicate emails, keeping only the one with smallest ID.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DELETE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p1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Person p1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Person p2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email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email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SELF JOIN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matches duplicate emails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WHERE p1.id &gt; p2.id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identifies duplicates with larger IDs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DELETE p1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removes those larger ID duplicates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Keeps the smallest ID for each email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360741-4D54-0C98-8070-61CFECECDC93}"/>
              </a:ext>
            </a:extLst>
          </p:cNvPr>
          <p:cNvSpPr txBox="1"/>
          <p:nvPr/>
        </p:nvSpPr>
        <p:spPr>
          <a:xfrm>
            <a:off x="4292221" y="-2683365"/>
            <a:ext cx="4954136" cy="129445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47: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Second Highest Salary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Employee: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id          | int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salary      | int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 second highest distinct salary. Return NULL if none.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MAX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salary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SecondHighestSalary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salary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MAX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salary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Subquery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finds highest salary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WHERE salary &lt;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all salaries less than max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MAX()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of those gives second highest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Returns NULL if no second highest exists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Alternative with LIMIT/OFFSET handles ties automatically</a:t>
            </a:r>
          </a:p>
        </p:txBody>
      </p:sp>
    </p:spTree>
    <p:extLst>
      <p:ext uri="{BB962C8B-B14F-4D97-AF65-F5344CB8AC3E}">
        <p14:creationId xmlns:p14="http://schemas.microsoft.com/office/powerpoint/2010/main" val="27264838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3E893-EB80-1190-5E28-1A084D7EE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D5DD107-F8F1-02BF-FD4E-B529CC06A4FA}"/>
              </a:ext>
            </a:extLst>
          </p:cNvPr>
          <p:cNvSpPr txBox="1"/>
          <p:nvPr/>
        </p:nvSpPr>
        <p:spPr>
          <a:xfrm>
            <a:off x="2477069" y="-4382548"/>
            <a:ext cx="4954136" cy="15629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48: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Group Sold Products By The Date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Activities: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sell_date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| date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product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No primary key (may have duplicates)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For each date, count distinct products and list them sorted.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sell_date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DISTINCT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product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num_sold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GROUP_CONCAT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DISTINCT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product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product SEPARATOR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','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products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Activities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sell_date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sell_date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COUNT(DISTINCT product)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counts unique products per date</a:t>
            </a:r>
          </a:p>
          <a:p>
            <a:pPr algn="l">
              <a:spcBef>
                <a:spcPts val="45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GROUP_CONCAT()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concatenates product names</a:t>
            </a:r>
          </a:p>
          <a:p>
            <a:pPr marL="742950" lvl="1" indent="-285750" algn="l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DISTINCT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ensures uniqueness</a:t>
            </a:r>
          </a:p>
          <a:p>
            <a:pPr marL="74295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ORDER BY product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sorts alphabetically</a:t>
            </a:r>
          </a:p>
          <a:p>
            <a:pPr marL="74295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SEPARATOR ','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uses comma between products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GROUP BY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sell_date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groups by date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ORDER BY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sell_date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chronological order</a:t>
            </a:r>
          </a:p>
        </p:txBody>
      </p:sp>
    </p:spTree>
    <p:extLst>
      <p:ext uri="{BB962C8B-B14F-4D97-AF65-F5344CB8AC3E}">
        <p14:creationId xmlns:p14="http://schemas.microsoft.com/office/powerpoint/2010/main" val="25516141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4B80D-341B-56C8-4F0C-D26AC95F9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358F3A2-D66A-C3AB-242A-A860D3A24FA9}"/>
              </a:ext>
            </a:extLst>
          </p:cNvPr>
          <p:cNvSpPr txBox="1"/>
          <p:nvPr/>
        </p:nvSpPr>
        <p:spPr>
          <a:xfrm>
            <a:off x="2477069" y="-6988389"/>
            <a:ext cx="4954136" cy="208416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49: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List the Products Ordered in a Period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Products: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product_name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product_category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Orders: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 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order_date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| date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unit  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No primary key (may have duplicates)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products with at least 100 units ordered in February 2020.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SUM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o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unit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unit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Products p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Orders o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o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o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order_date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BETWEEN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'2020-02-01'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'2020-02-29'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product_name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HAVING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SUM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o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unit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100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connects products with orders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filters for February 2020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GROUP BY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groups by product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SUM(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o.unit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calculates total units ordered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HAVING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filters products with 100+ units</a:t>
            </a:r>
          </a:p>
          <a:p>
            <a:pPr>
              <a:buNone/>
            </a:pP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08049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234C0-6502-085A-59CD-B3BA280AD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4B4813A-DD0C-84F9-A3ED-EFC70B569030}"/>
              </a:ext>
            </a:extLst>
          </p:cNvPr>
          <p:cNvSpPr txBox="1"/>
          <p:nvPr/>
        </p:nvSpPr>
        <p:spPr>
          <a:xfrm>
            <a:off x="2477069" y="-3841374"/>
            <a:ext cx="4954136" cy="145475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50: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Find Users With Valid E-Mails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Users: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  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name      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mail      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users with valid email addresses (prefix starts with letter, only letters, numbers, underscore, period, dash; domain @</a:t>
            </a:r>
            <a:r>
              <a:rPr lang="en-US" b="0" i="0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leetcode.com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).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Users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mail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REGEXP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'^[a-</a:t>
            </a:r>
            <a:r>
              <a:rPr lang="en-US" b="0" i="0" dirty="0" err="1">
                <a:solidFill>
                  <a:srgbClr val="50A14F"/>
                </a:solidFill>
                <a:effectLst/>
                <a:latin typeface="Menlo"/>
              </a:rPr>
              <a:t>zA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-Z][a-zA-Z0-9_.-]*@leetcode\\.com$'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REGEXP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uses regular expression for pattern matching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^[a-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zA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-Z]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- starts with a letter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[a-zA-Z0-9_.-]*$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- followed by zero or more allowed characters until end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@leetcode\.com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- must end with exactly @</a:t>
            </a:r>
            <a:r>
              <a:rPr lang="en-US" b="0" i="0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leetcode.com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\.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escapes the dot in domain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^*$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ensures full string match, not substring</a:t>
            </a:r>
          </a:p>
        </p:txBody>
      </p:sp>
    </p:spTree>
    <p:extLst>
      <p:ext uri="{BB962C8B-B14F-4D97-AF65-F5344CB8AC3E}">
        <p14:creationId xmlns:p14="http://schemas.microsoft.com/office/powerpoint/2010/main" val="41301174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051C90-DE80-B1CD-912A-A7A37C5C7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905752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7" y="0"/>
            <a:ext cx="9905753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D89CC02C-CED9-7BAC-B2E8-0D1E09999C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4912" y="4267832"/>
            <a:ext cx="3904872" cy="1297115"/>
          </a:xfrm>
          <a:prstGeom prst="rect">
            <a:avLst/>
          </a:prstGeom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eaLnBrk="1" fontAlgn="base" hangingPunct="1">
              <a:lnSpc>
                <a:spcPct val="90000"/>
              </a:lnSpc>
              <a:spcAft>
                <a:spcPts val="600"/>
              </a:spcAft>
              <a:buClrTx/>
              <a:buSzTx/>
              <a:tabLst/>
            </a:pPr>
            <a:r>
              <a:rPr kumimoji="0" lang="en-US" altLang="en-US" sz="2800" b="1" i="0" u="none" strike="noStrike" kern="1200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rPr>
              <a:t>🎯 Summary of Key SQL Concepts Covered</a:t>
            </a:r>
          </a:p>
          <a:p>
            <a:pPr marL="0" marR="0" lvl="0" indent="0" defTabSz="914400" eaLnBrk="1" fontAlgn="base" hangingPunct="1">
              <a:lnSpc>
                <a:spcPct val="90000"/>
              </a:lnSpc>
              <a:spcAft>
                <a:spcPts val="600"/>
              </a:spcAft>
              <a:buClrTx/>
              <a:buSzTx/>
              <a:tabLst/>
            </a:pPr>
            <a:endParaRPr kumimoji="0" lang="en-US" altLang="en-US" sz="2800" b="0" i="0" u="none" strike="noStrike" kern="1200" cap="none" normalizeH="0" baseline="0">
              <a:ln>
                <a:noFill/>
              </a:ln>
              <a:solidFill>
                <a:schemeClr val="tx2"/>
              </a:solidFill>
              <a:effectLst/>
              <a:latin typeface="+mj-lt"/>
              <a:ea typeface="+mj-ea"/>
              <a:cs typeface="+mj-cs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455" y="-5977"/>
            <a:ext cx="5068922" cy="6863979"/>
            <a:chOff x="305" y="-5977"/>
            <a:chExt cx="6238675" cy="6863979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66B6268-5F1F-D403-E6B6-3389991A8C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9716737"/>
              </p:ext>
            </p:extLst>
          </p:nvPr>
        </p:nvGraphicFramePr>
        <p:xfrm>
          <a:off x="153799" y="752074"/>
          <a:ext cx="3365181" cy="5707188"/>
        </p:xfrm>
        <a:graphic>
          <a:graphicData uri="http://schemas.openxmlformats.org/drawingml/2006/table">
            <a:tbl>
              <a:tblPr/>
              <a:tblGrid>
                <a:gridCol w="1475258">
                  <a:extLst>
                    <a:ext uri="{9D8B030D-6E8A-4147-A177-3AD203B41FA5}">
                      <a16:colId xmlns:a16="http://schemas.microsoft.com/office/drawing/2014/main" val="1814854620"/>
                    </a:ext>
                  </a:extLst>
                </a:gridCol>
                <a:gridCol w="1889923">
                  <a:extLst>
                    <a:ext uri="{9D8B030D-6E8A-4147-A177-3AD203B41FA5}">
                      <a16:colId xmlns:a16="http://schemas.microsoft.com/office/drawing/2014/main" val="47403906"/>
                    </a:ext>
                  </a:extLst>
                </a:gridCol>
              </a:tblGrid>
              <a:tr h="230513"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Section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065" marR="64087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Concepts Mastered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4087" marR="64087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8514306"/>
                  </a:ext>
                </a:extLst>
              </a:tr>
              <a:tr h="357351"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Select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065" marR="64087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WHERE, AND/OR, NULL handling, DISTINCT, ORDER BY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4087" marR="48065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9471062"/>
                  </a:ext>
                </a:extLst>
              </a:tr>
              <a:tr h="357351"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Basic Joins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065" marR="64087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 dirty="0">
                          <a:effectLst/>
                          <a:latin typeface="quote-cjk-patch"/>
                        </a:rPr>
                        <a:t>INNER JOIN, LEFT JOIN, SELF JOIN, multiple join conditions</a:t>
                      </a:r>
                      <a:endParaRPr lang="en-US" sz="9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4087" marR="48065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292846"/>
                  </a:ext>
                </a:extLst>
              </a:tr>
              <a:tr h="357351"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Aggregate Functions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065" marR="64087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COUNT, SUM, AVG, GROUP BY, HAVING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4087" marR="48065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247206"/>
                  </a:ext>
                </a:extLst>
              </a:tr>
              <a:tr h="357351"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Sorting &amp; Grouping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065" marR="64087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GROUP BY with HAVING, COUNT DISTINCT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4087" marR="48065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3373126"/>
                  </a:ext>
                </a:extLst>
              </a:tr>
              <a:tr h="357351"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Advanced Joins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065" marR="64087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fr-FR" sz="900" b="0" i="0" u="none" strike="noStrike">
                          <a:effectLst/>
                          <a:latin typeface="quote-cjk-patch"/>
                        </a:rPr>
                        <a:t>Multiple JOINs, UNION, complex conditions</a:t>
                      </a:r>
                      <a:endParaRPr lang="fr-FR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4087" marR="48065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059907"/>
                  </a:ext>
                </a:extLst>
              </a:tr>
              <a:tr h="357351"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Subqueries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065" marR="64087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Correlated subqueries, IN/NOT IN, EXISTS/NOT EXISTS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4087" marR="48065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2757692"/>
                  </a:ext>
                </a:extLst>
              </a:tr>
              <a:tr h="357351"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Window Functions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065" marR="64087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ROW_NUMBER, RANK, DENSE_RANK, SUM OVER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4087" marR="48065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8571822"/>
                  </a:ext>
                </a:extLst>
              </a:tr>
              <a:tr h="357351"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String Functions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065" marR="64087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CONCAT, UPPER/LOWER, LEFT, SUBSTRING, GROUP_CONCAT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4087" marR="48065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9536463"/>
                  </a:ext>
                </a:extLst>
              </a:tr>
              <a:tr h="357351"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Date Functions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065" marR="64087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DATE_FORMAT, DATE_ADD, DATEDIFF, BETWEEN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4087" marR="48065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59557430"/>
                  </a:ext>
                </a:extLst>
              </a:tr>
              <a:tr h="230513"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Regular Expressions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065" marR="64087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 dirty="0">
                          <a:effectLst/>
                          <a:latin typeface="quote-cjk-patch"/>
                        </a:rPr>
                        <a:t>REGEXP pattern matching</a:t>
                      </a:r>
                      <a:endParaRPr lang="en-US" sz="9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4087" marR="48065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94072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31954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tx1">
              <a:lumMod val="85000"/>
              <a:lumOff val="15000"/>
            </a:schemeClr>
          </a:solidFill>
        </a:ln>
      </a:spPr>
      <a:bodyPr wrap="square">
        <a:spAutoFit/>
      </a:bodyPr>
      <a:lstStyle>
        <a:defPPr algn="l">
          <a:buNone/>
          <a:defRPr sz="1200" b="1" dirty="0">
            <a:solidFill>
              <a:srgbClr val="0F1115"/>
            </a:solidFill>
            <a:effectLst/>
            <a:latin typeface="quote-cjk-patch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1907</TotalTime>
  <Words>9541</Words>
  <Application>Microsoft Office PowerPoint</Application>
  <PresentationFormat>A4 Paper (210x297 mm)</PresentationFormat>
  <Paragraphs>1630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2" baseType="lpstr">
      <vt:lpstr>Aptos</vt:lpstr>
      <vt:lpstr>Aptos Display</vt:lpstr>
      <vt:lpstr>Arial</vt:lpstr>
      <vt:lpstr>Menlo</vt:lpstr>
      <vt:lpstr>quote-cjk-patch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umalavanya7@gmail.com</dc:creator>
  <cp:lastModifiedBy>umalavanya7@gmail.com</cp:lastModifiedBy>
  <cp:revision>68</cp:revision>
  <dcterms:created xsi:type="dcterms:W3CDTF">2026-02-06T21:19:28Z</dcterms:created>
  <dcterms:modified xsi:type="dcterms:W3CDTF">2026-02-28T03:33:07Z</dcterms:modified>
</cp:coreProperties>
</file>