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85" autoAdjust="0"/>
    <p:restoredTop sz="94660"/>
  </p:normalViewPr>
  <p:slideViewPr>
    <p:cSldViewPr snapToGrid="0">
      <p:cViewPr varScale="1">
        <p:scale>
          <a:sx n="56" d="100"/>
          <a:sy n="56" d="100"/>
        </p:scale>
        <p:origin x="53" y="3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05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447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833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600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3811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0241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24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19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613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61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650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6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find-customer-referee/" TargetMode="External"/><Relationship Id="rId2" Type="http://schemas.openxmlformats.org/officeDocument/2006/relationships/hyperlink" Target="https://leetcode.com/problems/recyclable-and-low-fat-products/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article-views-i/" TargetMode="External"/><Relationship Id="rId2" Type="http://schemas.openxmlformats.org/officeDocument/2006/relationships/hyperlink" Target="https://leetcode.com/problems/big-countries/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invalid-tweets/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product-sales-analysis-i/" TargetMode="External"/><Relationship Id="rId2" Type="http://schemas.openxmlformats.org/officeDocument/2006/relationships/hyperlink" Target="https://leetcode.com/problems/replace-employee-id-with-the-unique-identifier/" TargetMode="Externa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rising-temperature/" TargetMode="External"/><Relationship Id="rId2" Type="http://schemas.openxmlformats.org/officeDocument/2006/relationships/hyperlink" Target="https://leetcode.com/problems/customer-who-visited-but-did-not-make-any-transactions/" TargetMode="Externa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employee-bonus/" TargetMode="External"/><Relationship Id="rId2" Type="http://schemas.openxmlformats.org/officeDocument/2006/relationships/hyperlink" Target="https://leetcode.com/problems/average-time-of-process-per-machine/" TargetMode="Externa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students-and-examinations/" TargetMode="Externa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confirmation-rate/" TargetMode="External"/><Relationship Id="rId2" Type="http://schemas.openxmlformats.org/officeDocument/2006/relationships/hyperlink" Target="https://leetcode.com/problems/managers-with-at-least-5-direct-reports/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average-selling-price/" TargetMode="External"/><Relationship Id="rId2" Type="http://schemas.openxmlformats.org/officeDocument/2006/relationships/hyperlink" Target="https://leetcode.com/problems/not-boring-movies/" TargetMode="Externa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percentage-of-users-attended-a-contest/" TargetMode="External"/><Relationship Id="rId2" Type="http://schemas.openxmlformats.org/officeDocument/2006/relationships/hyperlink" Target="https://leetcode.com/problems/project-employees-i/" TargetMode="Externa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monthly-transactions-i/" TargetMode="External"/><Relationship Id="rId2" Type="http://schemas.openxmlformats.org/officeDocument/2006/relationships/hyperlink" Target="https://leetcode.com/problems/queries-quality-and-percentage/" TargetMode="Externa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game-play-analysis-iv/" TargetMode="External"/><Relationship Id="rId2" Type="http://schemas.openxmlformats.org/officeDocument/2006/relationships/hyperlink" Target="https://leetcode.com/problems/immediate-food-delivery-ii/" TargetMode="Externa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user-activity-for-the-past-30-days-i/" TargetMode="External"/><Relationship Id="rId2" Type="http://schemas.openxmlformats.org/officeDocument/2006/relationships/hyperlink" Target="https://leetcode.com/problems/number-of-unique-subjects-taught-by-each-teacher/" TargetMode="Externa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classes-more-than-5-students/" TargetMode="External"/><Relationship Id="rId2" Type="http://schemas.openxmlformats.org/officeDocument/2006/relationships/hyperlink" Target="https://leetcode.com/problems/product-sales-analysis-iii/" TargetMode="Externa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biggest-single-number/" TargetMode="External"/><Relationship Id="rId2" Type="http://schemas.openxmlformats.org/officeDocument/2006/relationships/hyperlink" Target="https://leetcode.com/problems/find-followers-count/" TargetMode="Externa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customers-who-bought-all-products/" TargetMode="Externa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the-number-of-employees-which-report-to-each-employee/" TargetMode="Externa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triangle-judgement/" TargetMode="External"/><Relationship Id="rId2" Type="http://schemas.openxmlformats.org/officeDocument/2006/relationships/hyperlink" Target="https://leetcode.com/problems/primary-department-for-each-employee/" TargetMode="Externa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product-price-at-a-given-date/" TargetMode="External"/><Relationship Id="rId2" Type="http://schemas.openxmlformats.org/officeDocument/2006/relationships/hyperlink" Target="https://leetcode.com/problems/consecutive-numbers/" TargetMode="Externa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last-person-to-fit-in-the-bus/" TargetMode="Externa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count-salary-categories/" TargetMode="Externa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employees-whose-manager-left-the-company/" TargetMode="Externa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exchange-seats/" TargetMode="Externa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movie-rating/" TargetMode="Externa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restaurant-growth/" TargetMode="Externa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friend-requests-ii-who-has-the-most-friends/" TargetMode="Externa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investments-in-2016/" TargetMode="Externa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department-top-three-salaries/" TargetMode="Externa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fix-names-in-a-table/" TargetMode="Externa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patients-with-a-condition/" TargetMode="Externa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second-highest-salary/" TargetMode="External"/><Relationship Id="rId2" Type="http://schemas.openxmlformats.org/officeDocument/2006/relationships/hyperlink" Target="https://leetcode.com/problems/delete-duplicate-emails/" TargetMode="Externa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group-sold-products-by-the-date/" TargetMode="Externa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list-the-products-ordered-in-a-period/" TargetMode="Externa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" TargetMode="External"/><Relationship Id="rId2" Type="http://schemas.openxmlformats.org/officeDocument/2006/relationships/hyperlink" Target="https://leetcode.com/problems/find-users-with-valid-e-mails/" TargetMode="Externa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406F4A-CD67-2C7A-01D3-42C5DD6007B6}"/>
              </a:ext>
            </a:extLst>
          </p:cNvPr>
          <p:cNvSpPr txBox="1"/>
          <p:nvPr/>
        </p:nvSpPr>
        <p:spPr>
          <a:xfrm>
            <a:off x="191068" y="163773"/>
            <a:ext cx="36150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Leet Code Problems and Solutions</a:t>
            </a:r>
          </a:p>
          <a:p>
            <a:r>
              <a:rPr lang="en-US" dirty="0"/>
              <a:t>SQL 50</a:t>
            </a:r>
          </a:p>
        </p:txBody>
      </p:sp>
    </p:spTree>
    <p:extLst>
      <p:ext uri="{BB962C8B-B14F-4D97-AF65-F5344CB8AC3E}">
        <p14:creationId xmlns:p14="http://schemas.microsoft.com/office/powerpoint/2010/main" val="6867814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047F0-2EEC-3B96-C431-447C7F2D0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34F9183-AD99-2D38-22AF-ADD9EADE7908}"/>
              </a:ext>
            </a:extLst>
          </p:cNvPr>
          <p:cNvSpPr txBox="1"/>
          <p:nvPr/>
        </p:nvSpPr>
        <p:spPr>
          <a:xfrm>
            <a:off x="170597" y="1048179"/>
            <a:ext cx="415574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1: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Recyclable and Low Fat Products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low_fats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enum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recyclable  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enum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low_fats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an ENUM of ('Y', 'N') meaning 'Yes' or 'No'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recyclable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an ENUM of ('Y', 'N') meaning 'Yes' or 'No’</a:t>
            </a:r>
          </a:p>
          <a:p>
            <a:r>
              <a:rPr lang="en-US" sz="1200" b="1" dirty="0"/>
              <a:t>Question:</a:t>
            </a:r>
            <a:r>
              <a:rPr lang="en-US" sz="1200" dirty="0"/>
              <a:t> Write a solution to find the IDs of products that are both low fat and recyclable.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DDA391-8E2C-0F73-F3DB-B8133E8B1617}"/>
              </a:ext>
            </a:extLst>
          </p:cNvPr>
          <p:cNvSpPr txBox="1"/>
          <p:nvPr/>
        </p:nvSpPr>
        <p:spPr>
          <a:xfrm>
            <a:off x="170597" y="3910501"/>
            <a:ext cx="4954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buNone/>
            </a:pP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endParaRPr lang="en-US" sz="1200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Products</a:t>
            </a:r>
          </a:p>
          <a:p>
            <a:pPr algn="l" latinLnBrk="1">
              <a:buNone/>
            </a:pP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 err="1">
                <a:solidFill>
                  <a:srgbClr val="0F1115"/>
                </a:solidFill>
                <a:effectLst/>
                <a:latin typeface="Menlo"/>
              </a:rPr>
              <a:t>low_fats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50A14F"/>
                </a:solidFill>
                <a:effectLst/>
                <a:latin typeface="Menlo"/>
              </a:rPr>
              <a:t>'Y'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recyclable </a:t>
            </a:r>
            <a:r>
              <a:rPr lang="en-US" sz="1200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50A14F"/>
                </a:solidFill>
                <a:effectLst/>
                <a:latin typeface="Menlo"/>
              </a:rPr>
              <a:t>'Y'</a:t>
            </a:r>
            <a:r>
              <a:rPr lang="en-US" sz="1200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261206-7C16-9CA8-E443-34DA078EC3EA}"/>
              </a:ext>
            </a:extLst>
          </p:cNvPr>
          <p:cNvSpPr txBox="1"/>
          <p:nvPr/>
        </p:nvSpPr>
        <p:spPr>
          <a:xfrm>
            <a:off x="170597" y="4858198"/>
            <a:ext cx="415574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We need to filter products that satisfy two conditions simultaneously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The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WHERE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clause with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AND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operator ensures both conditions are met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Only 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required in the 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62F4CF-B71A-6806-05A5-8DC4DBC28B4A}"/>
              </a:ext>
            </a:extLst>
          </p:cNvPr>
          <p:cNvSpPr txBox="1"/>
          <p:nvPr/>
        </p:nvSpPr>
        <p:spPr>
          <a:xfrm>
            <a:off x="4808562" y="39722"/>
            <a:ext cx="481311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2: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Find Customer Referee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id   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name        | varchar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referee_id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Find the names of customers that are not referred by the customer with id = 2.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6FB4D1-F4AA-AC2D-4D04-6855F6FD1C9B}"/>
              </a:ext>
            </a:extLst>
          </p:cNvPr>
          <p:cNvSpPr txBox="1"/>
          <p:nvPr/>
        </p:nvSpPr>
        <p:spPr>
          <a:xfrm>
            <a:off x="4808562" y="3145571"/>
            <a:ext cx="3584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buNone/>
            </a:pP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name</a:t>
            </a:r>
          </a:p>
          <a:p>
            <a:pPr algn="l" latinLnBrk="1">
              <a:buNone/>
            </a:pP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Customer</a:t>
            </a:r>
          </a:p>
          <a:p>
            <a:pPr algn="l" latinLnBrk="1">
              <a:buNone/>
            </a:pP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 err="1">
                <a:solidFill>
                  <a:srgbClr val="0F1115"/>
                </a:solidFill>
                <a:effectLst/>
                <a:latin typeface="Menlo"/>
              </a:rPr>
              <a:t>referee_id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4078F2"/>
                </a:solidFill>
                <a:effectLst/>
                <a:latin typeface="Menlo"/>
              </a:rPr>
              <a:t>OR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 err="1">
                <a:solidFill>
                  <a:srgbClr val="0F1115"/>
                </a:solidFill>
                <a:effectLst/>
                <a:latin typeface="Menlo"/>
              </a:rPr>
              <a:t>referee_id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4078F2"/>
                </a:solidFill>
                <a:effectLst/>
                <a:latin typeface="Menlo"/>
              </a:rPr>
              <a:t>IS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r>
              <a:rPr lang="en-US" sz="1200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635870-D21B-B4A5-5C99-34403DD7976C}"/>
              </a:ext>
            </a:extLst>
          </p:cNvPr>
          <p:cNvSpPr txBox="1"/>
          <p:nvPr/>
        </p:nvSpPr>
        <p:spPr>
          <a:xfrm>
            <a:off x="4808562" y="5124976"/>
            <a:ext cx="495413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Key Challenge: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In SQL,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NULL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represents unknown/missing data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NULL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cannot be compared using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or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!=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(these comparisons always return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NULL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, which is treated as FALSE)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We must explicitly check for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NULL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values using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IS NULL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The condition 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referee_id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!= 2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handles non-NULL values not equal to 2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OR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referee_id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IS NULL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includes customers with no referee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D55C4E8-59B5-BB31-FFAF-60197CFF1894}"/>
              </a:ext>
            </a:extLst>
          </p:cNvPr>
          <p:cNvSpPr txBox="1"/>
          <p:nvPr/>
        </p:nvSpPr>
        <p:spPr>
          <a:xfrm>
            <a:off x="559558" y="327546"/>
            <a:ext cx="1623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1 Easy</a:t>
            </a:r>
          </a:p>
        </p:txBody>
      </p:sp>
    </p:spTree>
    <p:extLst>
      <p:ext uri="{BB962C8B-B14F-4D97-AF65-F5344CB8AC3E}">
        <p14:creationId xmlns:p14="http://schemas.microsoft.com/office/powerpoint/2010/main" val="1157393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4D29A-B4F1-7845-01A9-9FC7E064E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1617AB-C44C-262C-9C00-A3D80794E911}"/>
              </a:ext>
            </a:extLst>
          </p:cNvPr>
          <p:cNvSpPr txBox="1"/>
          <p:nvPr/>
        </p:nvSpPr>
        <p:spPr>
          <a:xfrm>
            <a:off x="211540" y="116798"/>
            <a:ext cx="495413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3: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Big Countries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   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name            | varchar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continent       | varchar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area     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population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gdp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        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bigint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A country is big if: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It has an area of at least three million square km (3,000,000 km²), OR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It has a population of at least twenty-five million (25,000,000)</a:t>
            </a:r>
            <a:b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Find the name, population, and area of the big countries.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1B2235-108F-411E-54C4-47CF9923E556}"/>
              </a:ext>
            </a:extLst>
          </p:cNvPr>
          <p:cNvSpPr txBox="1"/>
          <p:nvPr/>
        </p:nvSpPr>
        <p:spPr>
          <a:xfrm>
            <a:off x="211540" y="3581896"/>
            <a:ext cx="40147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buNone/>
            </a:pP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name</a:t>
            </a:r>
            <a:r>
              <a:rPr lang="en-US" sz="1200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population</a:t>
            </a:r>
            <a:r>
              <a:rPr lang="en-US" sz="1200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area</a:t>
            </a:r>
          </a:p>
          <a:p>
            <a:pPr algn="l" latinLnBrk="1">
              <a:buNone/>
            </a:pP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World</a:t>
            </a:r>
          </a:p>
          <a:p>
            <a:pPr algn="l" latinLnBrk="1">
              <a:buNone/>
            </a:pP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area </a:t>
            </a:r>
            <a:r>
              <a:rPr lang="en-US" sz="1200" b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B76B01"/>
                </a:solidFill>
                <a:effectLst/>
                <a:latin typeface="Menlo"/>
              </a:rPr>
              <a:t>3000000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4078F2"/>
                </a:solidFill>
                <a:effectLst/>
                <a:latin typeface="Menlo"/>
              </a:rPr>
              <a:t>OR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population </a:t>
            </a:r>
            <a:r>
              <a:rPr lang="en-US" sz="1200" b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B76B01"/>
                </a:solidFill>
                <a:effectLst/>
                <a:latin typeface="Menlo"/>
              </a:rPr>
              <a:t>25000000</a:t>
            </a:r>
            <a:r>
              <a:rPr lang="en-US" sz="1200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01B851-4880-9FD0-868C-F7C88027CD5F}"/>
              </a:ext>
            </a:extLst>
          </p:cNvPr>
          <p:cNvSpPr txBox="1"/>
          <p:nvPr/>
        </p:nvSpPr>
        <p:spPr>
          <a:xfrm>
            <a:off x="184244" y="5156843"/>
            <a:ext cx="498143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Simple filtering with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OR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condition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Both conditions are checked independently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If either condition is true, the country is included</a:t>
            </a:r>
          </a:p>
          <a:p>
            <a:pPr>
              <a:buNone/>
            </a:pPr>
            <a:br>
              <a:rPr lang="en-US" sz="1200" dirty="0"/>
            </a:b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4DBECA-4019-8F60-AA68-AEAC390234A6}"/>
              </a:ext>
            </a:extLst>
          </p:cNvPr>
          <p:cNvSpPr txBox="1"/>
          <p:nvPr/>
        </p:nvSpPr>
        <p:spPr>
          <a:xfrm>
            <a:off x="6605517" y="116798"/>
            <a:ext cx="281143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4: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Article Views I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 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article_id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author_id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viewer_id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view_date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| date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There is no primary key (may have duplicate rows)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Find all authors who viewed at least one of their own articles. Return the result table sorted by id in ascending order.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CE0BA9-F0C9-742F-56A4-3B1F58AEE4B3}"/>
              </a:ext>
            </a:extLst>
          </p:cNvPr>
          <p:cNvSpPr txBox="1"/>
          <p:nvPr/>
        </p:nvSpPr>
        <p:spPr>
          <a:xfrm>
            <a:off x="6728345" y="3812729"/>
            <a:ext cx="256577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buNone/>
            </a:pP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 err="1">
                <a:solidFill>
                  <a:srgbClr val="0F1115"/>
                </a:solidFill>
                <a:effectLst/>
                <a:latin typeface="Menlo"/>
              </a:rPr>
              <a:t>author_id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id</a:t>
            </a:r>
          </a:p>
          <a:p>
            <a:pPr algn="l" latinLnBrk="1">
              <a:buNone/>
            </a:pP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Views</a:t>
            </a:r>
          </a:p>
          <a:p>
            <a:pPr algn="l" latinLnBrk="1">
              <a:buNone/>
            </a:pP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 err="1">
                <a:solidFill>
                  <a:srgbClr val="0F1115"/>
                </a:solidFill>
                <a:effectLst/>
                <a:latin typeface="Menlo"/>
              </a:rPr>
              <a:t>author_id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 err="1">
                <a:solidFill>
                  <a:srgbClr val="0F1115"/>
                </a:solidFill>
                <a:effectLst/>
                <a:latin typeface="Menlo"/>
              </a:rPr>
              <a:t>viewer_id</a:t>
            </a:r>
            <a:endParaRPr lang="en-US" sz="1200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 err="1">
                <a:solidFill>
                  <a:srgbClr val="0F1115"/>
                </a:solidFill>
                <a:effectLst/>
                <a:latin typeface="Menlo"/>
              </a:rPr>
              <a:t>author_id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ASC</a:t>
            </a:r>
            <a:r>
              <a:rPr lang="en-US" sz="1200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D580B2-F849-054B-1588-4794EDD9E4A3}"/>
              </a:ext>
            </a:extLst>
          </p:cNvPr>
          <p:cNvSpPr txBox="1"/>
          <p:nvPr/>
        </p:nvSpPr>
        <p:spPr>
          <a:xfrm>
            <a:off x="6275694" y="4923337"/>
            <a:ext cx="347108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Condition: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When 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author_id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equals 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viewer_id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, an author viewed their own article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DISTINCT: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Needed because an author might have viewed multiple articles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Alias: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Rename 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author_id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to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as required by the output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ORDER BY: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Sort results in ascending order</a:t>
            </a:r>
          </a:p>
        </p:txBody>
      </p:sp>
    </p:spTree>
    <p:extLst>
      <p:ext uri="{BB962C8B-B14F-4D97-AF65-F5344CB8AC3E}">
        <p14:creationId xmlns:p14="http://schemas.microsoft.com/office/powerpoint/2010/main" val="30037378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FD1ED-AE24-6A7F-06AD-E8D52398C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8780588-46FA-E1C0-0B91-DF8F75FCEEC2}"/>
              </a:ext>
            </a:extLst>
          </p:cNvPr>
          <p:cNvSpPr txBox="1"/>
          <p:nvPr/>
        </p:nvSpPr>
        <p:spPr>
          <a:xfrm>
            <a:off x="232012" y="283531"/>
            <a:ext cx="4954136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5: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Invalid Tweets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tweet_id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content        | varchar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tweet_id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Find the IDs of invalid tweets. A tweet is invalid if the number of characters in the content exceeds 15.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tweet_id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Tweets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LENGTH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content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15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Use the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LENGTH()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function to count characters in the content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Filter tweets where character count exceeds the limit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Note: In MySQL,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LENGTH()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returns bytes, while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CHAR_LENGTH()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returns characters. For this problem, either works as content is English text</a:t>
            </a:r>
          </a:p>
        </p:txBody>
      </p:sp>
    </p:spTree>
    <p:extLst>
      <p:ext uri="{BB962C8B-B14F-4D97-AF65-F5344CB8AC3E}">
        <p14:creationId xmlns:p14="http://schemas.microsoft.com/office/powerpoint/2010/main" val="3258457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EBBE-70C4-1F8D-8A27-CED0ABFBD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AE51E21-A15E-7751-A3CD-681AA2EB18BA}"/>
              </a:ext>
            </a:extLst>
          </p:cNvPr>
          <p:cNvSpPr txBox="1"/>
          <p:nvPr/>
        </p:nvSpPr>
        <p:spPr>
          <a:xfrm>
            <a:off x="184245" y="315361"/>
            <a:ext cx="4954136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Section 2: Basic Joins</a:t>
            </a:r>
          </a:p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6: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Replace Employee ID With The Unique Identifier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Employees: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 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id     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name          | varchar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200" b="1" i="0" dirty="0" err="1">
                <a:solidFill>
                  <a:srgbClr val="0F1115"/>
                </a:solidFill>
                <a:effectLst/>
                <a:latin typeface="quote-cjk-patch"/>
              </a:rPr>
              <a:t>EmployeeUNI</a:t>
            </a: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 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id     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unique_id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(id,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unique_id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Show the unique ID of each user. If a user doesn't have a unique ID, show null.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eu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unique_id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Employees e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EmployeeUNI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eu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eu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LEFT 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ensures all employees are included, even those without a matching unique ID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The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clause matches records based on the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field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When there's no match, 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unique_id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will be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NULL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Order of tables matters: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Employees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left table (all records kept)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BAF03E-3CDA-C920-145F-0E3B1C961244}"/>
              </a:ext>
            </a:extLst>
          </p:cNvPr>
          <p:cNvSpPr txBox="1"/>
          <p:nvPr/>
        </p:nvSpPr>
        <p:spPr>
          <a:xfrm>
            <a:off x="4953000" y="88324"/>
            <a:ext cx="4954136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7: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Product Sales Analysis I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Sales: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| Type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sale_id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| int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| int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year        | int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quantity    | int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price       | int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sale_id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, year) 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Product: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product_name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| varchar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Report the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product_name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, year, and price for each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sale_id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.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product_name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A626A4"/>
                </a:solidFill>
                <a:effectLst/>
                <a:latin typeface="Menlo"/>
              </a:rPr>
              <a:t>year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price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Sales s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Product p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INNER 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(or just JOIN) connects sales with their corresponding products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We need product names from the Product table and sale details from Sales table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The join condition links matching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product_ids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All sales have products (foreign key constraint likely), so INNER JOIN works fine</a:t>
            </a:r>
          </a:p>
        </p:txBody>
      </p:sp>
    </p:spTree>
    <p:extLst>
      <p:ext uri="{BB962C8B-B14F-4D97-AF65-F5344CB8AC3E}">
        <p14:creationId xmlns:p14="http://schemas.microsoft.com/office/powerpoint/2010/main" val="29283656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DA10F-2D85-0FDB-FDC3-AC4C4EFA2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D849D9A-DFD3-6814-7A01-0E6021C185EC}"/>
              </a:ext>
            </a:extLst>
          </p:cNvPr>
          <p:cNvSpPr txBox="1"/>
          <p:nvPr/>
        </p:nvSpPr>
        <p:spPr>
          <a:xfrm>
            <a:off x="402610" y="-5865932"/>
            <a:ext cx="4954136" cy="19033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8: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Customer Who Visited but Did Not Make Any Transactions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Visits: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visit_id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visit_id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Transactions: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transaction_id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visit_id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amount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transaction_id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customers who visited but did not make any transactions. Count how many times they made these types of visits.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visit_id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count_no_trans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Visits v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Transactions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visit_id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visit_id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transaction_id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LEFT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keeps all visits, even those without transactions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t.transaction_id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 IS NULL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filters for visits with no matching transaction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customer_id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visits by customer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v.visit_id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how many such visits each customer had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ACFFC7-CC81-037C-0129-AFACD4F56C47}"/>
              </a:ext>
            </a:extLst>
          </p:cNvPr>
          <p:cNvSpPr txBox="1"/>
          <p:nvPr/>
        </p:nvSpPr>
        <p:spPr>
          <a:xfrm>
            <a:off x="4183039" y="-3597250"/>
            <a:ext cx="4954136" cy="136498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9: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Rising Temperature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Weather: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id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recordDate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temperature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dates where the temperature was higher than the previous day's temperature.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w1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Weather w1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Weather w2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DATEDIFF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w1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recordDate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w2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recordDate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w1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temperature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w2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temperature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SELF JOIN: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Join the Weather table with itself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w1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represents today's weather, 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w2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represents yesterday's weather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DATEDIFF(w1.recordDate, w2.recordDate) = 1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w2 is exactly one day before w1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 w1.temperature &gt; w2.temperature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checks if today is warmer than yesterday</a:t>
            </a:r>
          </a:p>
        </p:txBody>
      </p:sp>
    </p:spTree>
    <p:extLst>
      <p:ext uri="{BB962C8B-B14F-4D97-AF65-F5344CB8AC3E}">
        <p14:creationId xmlns:p14="http://schemas.microsoft.com/office/powerpoint/2010/main" val="1327046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EF776-5122-9D9C-1832-6BA7A8725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719BFC9-5BB6-AEC5-C4A0-1C2089D4F78F}"/>
              </a:ext>
            </a:extLst>
          </p:cNvPr>
          <p:cNvSpPr txBox="1"/>
          <p:nvPr/>
        </p:nvSpPr>
        <p:spPr>
          <a:xfrm>
            <a:off x="0" y="-6224910"/>
            <a:ext cx="4954136" cy="19669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10: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Average Time of Process per Machine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Activity: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machine_id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process_id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activity_type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enum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timestamp      | float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machine_id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process_id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activity_type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activity_type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is ('start', 'end')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average time each machine takes to complete a process. The time to complete a process is the 'end' timestamp minus the 'start' timestamp.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a1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machine_id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a2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timestamp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timestamp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3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processing_time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Activity a1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Activity a2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machine_id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machine_id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process_id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process_id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activity_type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'start'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activity_type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'end'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machine_id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SELF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with multiple conditions:</a:t>
            </a: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Same machine and process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a1 is the start activity, a2 is the end activity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Calculate processing time: end timestamp - start timestamp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AVG()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averages across all processes for each machine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ROUND(..., 3)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rounds to 3 decimal places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machine_id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per-machine averages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9BF4D1-7E27-8D3A-1E89-42D175A5C56D}"/>
              </a:ext>
            </a:extLst>
          </p:cNvPr>
          <p:cNvSpPr txBox="1"/>
          <p:nvPr/>
        </p:nvSpPr>
        <p:spPr>
          <a:xfrm>
            <a:off x="5493225" y="-6932796"/>
            <a:ext cx="4981432" cy="203773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Section 2: Basic Joins (Continued)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11: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Employee Bonus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Employee: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supervisor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salary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Bonus: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bonus  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Select all employees whose bonus is less than 1000 or employees who don't have a bonus at all.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b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bonus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 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Bonus b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b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b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bonus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b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bonus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LEFT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all employees are included, even those without bonus records</a:t>
            </a:r>
          </a:p>
          <a:p>
            <a:pPr algn="l">
              <a:spcBef>
                <a:spcPts val="45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 clause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handles two scenarios:</a:t>
            </a:r>
          </a:p>
          <a:p>
            <a:pPr marL="742950" lvl="1" indent="-285750" algn="l">
              <a:lnSpc>
                <a:spcPts val="1650"/>
              </a:lnSpc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b.bonus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&lt; 1000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Employees with bonus less than 1000</a:t>
            </a:r>
          </a:p>
          <a:p>
            <a:pPr marL="742950" lvl="1" indent="-285750"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b.bonus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IS NULL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Employees with no bonus record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Key Insight: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Simply using 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b.bonus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&lt; 1000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would exclude employees with NULL bonuses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NULL represents "no bonus," which should be included in the result</a:t>
            </a:r>
          </a:p>
        </p:txBody>
      </p:sp>
    </p:spTree>
    <p:extLst>
      <p:ext uri="{BB962C8B-B14F-4D97-AF65-F5344CB8AC3E}">
        <p14:creationId xmlns:p14="http://schemas.microsoft.com/office/powerpoint/2010/main" val="816851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56DC-4F95-0F27-C495-4C63757B1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96FA963-3B0C-4487-9B76-97B6D343582C}"/>
              </a:ext>
            </a:extLst>
          </p:cNvPr>
          <p:cNvSpPr txBox="1"/>
          <p:nvPr/>
        </p:nvSpPr>
        <p:spPr>
          <a:xfrm>
            <a:off x="2477069" y="-9812239"/>
            <a:ext cx="4954136" cy="26489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12: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Students and Examinations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Students: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student_id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student_name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student_id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Subjects: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Examinations: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student_id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No primary key (may have duplicates)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each student and each subject they are enrolled in, along with how many examinations they attended for each subject.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student_id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student_name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sub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attended_exams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Students 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CROSS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Subjects sub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Examinations e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student_id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student_id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sub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student_id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student_name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sub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student_id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sub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CROSS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creates all possible combinations of students and subjects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LEFT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with Examinations counts actual exam attempts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e.subject_name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exams per student-subject combination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one row per student-subject pair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makes output readable</a:t>
            </a:r>
          </a:p>
        </p:txBody>
      </p:sp>
    </p:spTree>
    <p:extLst>
      <p:ext uri="{BB962C8B-B14F-4D97-AF65-F5344CB8AC3E}">
        <p14:creationId xmlns:p14="http://schemas.microsoft.com/office/powerpoint/2010/main" val="2145761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7B41F-6114-4AA2-952A-6083A34C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1D89176-807F-6F56-4C22-39FBE2B8E479}"/>
              </a:ext>
            </a:extLst>
          </p:cNvPr>
          <p:cNvSpPr txBox="1"/>
          <p:nvPr/>
        </p:nvSpPr>
        <p:spPr>
          <a:xfrm>
            <a:off x="225189" y="-4228225"/>
            <a:ext cx="4954136" cy="15314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13: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Managers with at Least 5 Direct Reports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Employee: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id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department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managerId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managers who have at least five direct reports.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 e1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INNER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 e2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managerId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5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SELF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where e1 are managers, e2 are their direct reports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ON e1.id = e2.managerId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connects managers with their reports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by manager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HAVING COUNT(e2.id) &gt;= 5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filters managers with at least 5 reports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used instead of WHERE because we're filtering after aggregation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C50470-808B-A9EA-5975-5F2E01F96CAF}"/>
              </a:ext>
            </a:extLst>
          </p:cNvPr>
          <p:cNvSpPr txBox="1"/>
          <p:nvPr/>
        </p:nvSpPr>
        <p:spPr>
          <a:xfrm>
            <a:off x="4237630" y="-7460640"/>
            <a:ext cx="4954136" cy="22072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14: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Confirmation Rate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Signups: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time_stamp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datetime|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time_stamp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Confirmations: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time_stamp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datetime|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action         | ENUM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time_stamp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action is ('confirmed', 'timeout')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Calculate the confirmation rate of each user. Confirmation rate = number of 'confirmed' messages / total number of requested confirmation messages.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action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'confirmed'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1.0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0.0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confirmation_rate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Signups 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Confirmations c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LEFT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keeps all users, even those with no confirmations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converts 'confirmed' to 1, everything else to 0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AVG()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calculates the confirmation rate (sum of 1's divided by count)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ROUND(..., 2)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formats to 2 decimal places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Users with no confirmations will have rate = 0.00</a:t>
            </a:r>
          </a:p>
        </p:txBody>
      </p:sp>
    </p:spTree>
    <p:extLst>
      <p:ext uri="{BB962C8B-B14F-4D97-AF65-F5344CB8AC3E}">
        <p14:creationId xmlns:p14="http://schemas.microsoft.com/office/powerpoint/2010/main" val="2555033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5E068-DA3F-7C9A-61FF-2FCD6CDF2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48149D0-8467-15A6-7D5F-351BF7C9CD90}"/>
              </a:ext>
            </a:extLst>
          </p:cNvPr>
          <p:cNvSpPr txBox="1"/>
          <p:nvPr/>
        </p:nvSpPr>
        <p:spPr>
          <a:xfrm>
            <a:off x="197892" y="-3268973"/>
            <a:ext cx="4954136" cy="137576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Section 3: Basic Aggregate Functions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15: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Not Boring Movies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Cinema: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id   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movie  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description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rating         | float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Report movies with an odd-numbered ID and a description that is not "boring". Order by rating in descending order.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Cinema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%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description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'boring'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rating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id % 2 = 1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checks for odd IDs (modulo operator)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description != 'boring'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filters out boring movies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rating DESC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shows highest-rated movies first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93C59A-8A80-201A-986F-F958B179C003}"/>
              </a:ext>
            </a:extLst>
          </p:cNvPr>
          <p:cNvSpPr txBox="1"/>
          <p:nvPr/>
        </p:nvSpPr>
        <p:spPr>
          <a:xfrm>
            <a:off x="4333165" y="-7347256"/>
            <a:ext cx="4954136" cy="22501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16: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Average Selling Price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Prices: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start_date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end_date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price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start_date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end_date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UnitsSold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purchase_date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units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No primary key (may have duplicates)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average selling price for each product. Average price = total price / total units sold.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price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units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units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average_price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Prices p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UnitsSold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purchase_date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BETWEEN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start_date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end_date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matches sales with the correct price based on purchase date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BETWEEN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the price used is valid for that purchase date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SUM(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p.price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 *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u.units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calculates total revenue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SUM(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u.units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calculates total units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Division gives weighted average price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ROUND(..., 2)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formats to 2 decimal places</a:t>
            </a:r>
          </a:p>
        </p:txBody>
      </p:sp>
    </p:spTree>
    <p:extLst>
      <p:ext uri="{BB962C8B-B14F-4D97-AF65-F5344CB8AC3E}">
        <p14:creationId xmlns:p14="http://schemas.microsoft.com/office/powerpoint/2010/main" val="21688457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8208D-0985-00C8-9982-1D94173F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1DF4D0-FD55-7D35-ECBD-C91C3FC37470}"/>
              </a:ext>
            </a:extLst>
          </p:cNvPr>
          <p:cNvSpPr txBox="1"/>
          <p:nvPr/>
        </p:nvSpPr>
        <p:spPr>
          <a:xfrm>
            <a:off x="143302" y="-6045389"/>
            <a:ext cx="4954136" cy="18948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17: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Project Employees I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Project: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project_id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project_id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Employee: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experience_years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average experience years of all employees for each project.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project_id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experience_years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average_years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Project p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 e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project_id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connects projects with employee experience data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AVG(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e.experience_years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calculates average across all project members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per-project averages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ROUND(..., 2)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formats to 2 decimal places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5332BF-50C2-D451-17EF-F0550C65EDA1}"/>
              </a:ext>
            </a:extLst>
          </p:cNvPr>
          <p:cNvSpPr txBox="1"/>
          <p:nvPr/>
        </p:nvSpPr>
        <p:spPr>
          <a:xfrm>
            <a:off x="4647063" y="-6163402"/>
            <a:ext cx="4954136" cy="19587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18: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Percentage of Users Attended a Contest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Users: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Register: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contest_id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contest_id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percentage of users registered for each contest, sorted by percentage descending, then by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contest_id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ascending.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contest_id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100.0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Users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percentage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Register r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contest_id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percentage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contest_id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 (SELECT COUNT(*) FROM Users)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total users count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r.user_id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registrations per contest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Multiplication by 100.0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decimal division (not integer division)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first by percentage (highest first), then by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contest_id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ROUND(..., 2)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formats to 2 decimal places</a:t>
            </a:r>
          </a:p>
        </p:txBody>
      </p:sp>
    </p:spTree>
    <p:extLst>
      <p:ext uri="{BB962C8B-B14F-4D97-AF65-F5344CB8AC3E}">
        <p14:creationId xmlns:p14="http://schemas.microsoft.com/office/powerpoint/2010/main" val="2026343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A536A-EED8-A427-E116-F5A6BD812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EEC1F6C-4DB6-8309-F916-63F4CC4E7C79}"/>
              </a:ext>
            </a:extLst>
          </p:cNvPr>
          <p:cNvSpPr txBox="1"/>
          <p:nvPr/>
        </p:nvSpPr>
        <p:spPr>
          <a:xfrm>
            <a:off x="225189" y="-5063069"/>
            <a:ext cx="4954136" cy="1698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19: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Queries Quality and Percentage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Queries: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query_name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result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position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rating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No primary key (may have duplicates)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query quality (average of rating/position) and poor query percentage (queries with rating &lt; 3).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query_name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rating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1.0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position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quality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rating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3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100.0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poor_query_percentage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Queries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query_name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NOT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query_name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Quality: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AVG(rating/position) - dividing before averaging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Poor queries: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CASE WHEN rating &lt; 3 THEN 1 ELSE 0 END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Percentage: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(count of poor queries * 100.0) / total queries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query_name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 IS NOT NULL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handles potential nulls 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LeetCode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requirement)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by query name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55439C-501A-8CA3-9575-D0FC831CF795}"/>
              </a:ext>
            </a:extLst>
          </p:cNvPr>
          <p:cNvSpPr txBox="1"/>
          <p:nvPr/>
        </p:nvSpPr>
        <p:spPr>
          <a:xfrm>
            <a:off x="4483289" y="-5730876"/>
            <a:ext cx="4954136" cy="19159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20: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Monthly Transactions I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Transactions: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id   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country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state          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enum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amount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trans_date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state is ('approved', 'declined')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monthly, country-wise transaction counts, approved counts, total amounts, and approved amounts.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DATE_FORMAT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trans_date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'%Y-%m'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month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country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trans_count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state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'approved'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approved_count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amount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trans_total_amount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state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'approved'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amount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approved_total_amount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Transactions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month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country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DATE_FORMAT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converts dates to YYYY-MM format for monthly grouping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COUNT(*)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all transactions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CASE for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approved_count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only approved transactions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SUM(amount)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totals all amounts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CASE for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approved_total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sums only approved transaction amounts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month, country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one row per month-country combination</a:t>
            </a:r>
          </a:p>
        </p:txBody>
      </p:sp>
    </p:spTree>
    <p:extLst>
      <p:ext uri="{BB962C8B-B14F-4D97-AF65-F5344CB8AC3E}">
        <p14:creationId xmlns:p14="http://schemas.microsoft.com/office/powerpoint/2010/main" val="42493771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16295-F736-4541-E380-60D1680D5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C459A2C-2211-59FA-D29A-FC99B5B75040}"/>
              </a:ext>
            </a:extLst>
          </p:cNvPr>
          <p:cNvSpPr txBox="1"/>
          <p:nvPr/>
        </p:nvSpPr>
        <p:spPr>
          <a:xfrm>
            <a:off x="-443552" y="-7985664"/>
            <a:ext cx="4954136" cy="22829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Section 3: Basic Aggregate Functions (Continued)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21: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Immediate Food Delivery II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Delivery: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         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delivery_id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order_date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customer_pref_delivery_date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delivery_id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percentage of immediate orders on a customer's first order. An order is immediate if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order_date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=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customer_pref_delivery_date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first_orders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MIN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order_date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first_order_date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Delivery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order_date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customer_pref_delivery_date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100.0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immediate_percentage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Delivery d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first_orders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order_date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first_order_date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CTE 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first_orders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each customer's first order date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with original table to get only first orders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checks if first order was immediate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Percentage calculation: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(immediate first orders * 100.0) / total first orders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ROUND(..., 2)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formats to 2 decimal places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6A8199-F42E-1F19-7593-204251A433B2}"/>
              </a:ext>
            </a:extLst>
          </p:cNvPr>
          <p:cNvSpPr txBox="1"/>
          <p:nvPr/>
        </p:nvSpPr>
        <p:spPr>
          <a:xfrm>
            <a:off x="4706204" y="-7844061"/>
            <a:ext cx="5199796" cy="22075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22: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Game Play Analysis IV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Activity: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player_id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device_id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event_date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games_played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player_id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event_date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fraction of players who logged in again the day after their first login.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first_login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player_id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MIN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event_date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first_date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Activity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player_id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player_id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1.0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player_id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Activity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fraction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Activity a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first_login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player_id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fl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player_id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event_date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DATE_ADD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fl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INTERVAL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DAY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CTE 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first_login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each player's first login date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DATE_ADD(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fl.first_date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, INTERVAL 1 DAY)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the next day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players who played exactly on that next day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COUNT(DISTINCT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a.player_id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players who returned next day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total distinct players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Division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the fraction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ROUND(..., 2)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formats to 2 decimal places</a:t>
            </a:r>
          </a:p>
        </p:txBody>
      </p:sp>
    </p:spTree>
    <p:extLst>
      <p:ext uri="{BB962C8B-B14F-4D97-AF65-F5344CB8AC3E}">
        <p14:creationId xmlns:p14="http://schemas.microsoft.com/office/powerpoint/2010/main" val="3227933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7C126-04A2-CF97-FE38-E47FAAC33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E74146-207E-2104-3EEA-E3C4D63CAB12}"/>
              </a:ext>
            </a:extLst>
          </p:cNvPr>
          <p:cNvSpPr txBox="1"/>
          <p:nvPr/>
        </p:nvSpPr>
        <p:spPr>
          <a:xfrm>
            <a:off x="320722" y="-3321093"/>
            <a:ext cx="4954136" cy="13834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Section 4: Sorting and Grouping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23: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Number of Unique Subjects Taught by Each Teacher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Teacher: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teacher_id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subject_id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subject_id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dept_id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 the number of unique subjects each teacher teaches.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teacher_id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subject_id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cnt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Teacher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teacher_id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COUNT(DISTINCT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subject_id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unique subjects per teacher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teacher_id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by each teacher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Simple aggregation without joins needed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3ABCDD-3C7C-FE75-6495-28FBB0B557E6}"/>
              </a:ext>
            </a:extLst>
          </p:cNvPr>
          <p:cNvSpPr txBox="1"/>
          <p:nvPr/>
        </p:nvSpPr>
        <p:spPr>
          <a:xfrm>
            <a:off x="4810837" y="-3965289"/>
            <a:ext cx="4954136" cy="15873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en-US" dirty="0"/>
            </a:br>
            <a:endParaRPr lang="en-US" dirty="0"/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24: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User Activity for the Past 30 Days I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Activity: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session_id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activity_date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activity_type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enum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No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daily active user counts for the last 30 days ending on 2019-07-27.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activity_date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day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active_users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Activity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activity_date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BETWEEN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DATE_SUB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'2019-07-27'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INTERVAL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29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DAY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'2019-07-27'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activity_date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 clause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filters dates in the 30-day period (including 2019-07-27)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DATE_SUB('2019-07-27', INTERVAL 29 DAY)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the start date (30 days inclusive)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COUNT(DISTINCT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unique users per day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activity_date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daily counts</a:t>
            </a:r>
          </a:p>
        </p:txBody>
      </p:sp>
    </p:spTree>
    <p:extLst>
      <p:ext uri="{BB962C8B-B14F-4D97-AF65-F5344CB8AC3E}">
        <p14:creationId xmlns:p14="http://schemas.microsoft.com/office/powerpoint/2010/main" val="2482244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42B9A-8337-6E47-F8F4-F1FF3D654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75ED16F-452C-BFD0-C163-25C15B831BF4}"/>
              </a:ext>
            </a:extLst>
          </p:cNvPr>
          <p:cNvSpPr txBox="1"/>
          <p:nvPr/>
        </p:nvSpPr>
        <p:spPr>
          <a:xfrm>
            <a:off x="-348017" y="-7948474"/>
            <a:ext cx="4954136" cy="227549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25: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Product Sales Analysis III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Sales: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sale_id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year        | int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quantity    | int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price       | int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sale_id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year)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Product: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first year of sale for each product, along with quantity and price.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year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first_year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quantity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price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Sales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year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MIN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year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Sales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the minimum (first) year for each product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 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selects only rows matching those product-year combinations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Returns all columns for the first sale of each product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Alternative using window functions: ROW_NUMBER() PARTITION BY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ORDER BY year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27579A-679C-9731-A0E2-3358A418D424}"/>
              </a:ext>
            </a:extLst>
          </p:cNvPr>
          <p:cNvSpPr txBox="1"/>
          <p:nvPr/>
        </p:nvSpPr>
        <p:spPr>
          <a:xfrm>
            <a:off x="2180230" y="-2485828"/>
            <a:ext cx="5152030" cy="11795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26: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Classes More Than 5 Students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Courses: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student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class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(student, class)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classes with at least 5 students.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class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Courses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class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student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5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class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students by class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HAVING COUNT(student) &gt;= 5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filters classes with 5+ students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used instead of WHERE because we're filtering after aggregation</a:t>
            </a:r>
          </a:p>
        </p:txBody>
      </p:sp>
    </p:spTree>
    <p:extLst>
      <p:ext uri="{BB962C8B-B14F-4D97-AF65-F5344CB8AC3E}">
        <p14:creationId xmlns:p14="http://schemas.microsoft.com/office/powerpoint/2010/main" val="3982434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D39D9-771D-1A99-8C9D-AF905F417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977ADCF-9D85-46D2-8DC3-0CDEDFE3741F}"/>
              </a:ext>
            </a:extLst>
          </p:cNvPr>
          <p:cNvSpPr txBox="1"/>
          <p:nvPr/>
        </p:nvSpPr>
        <p:spPr>
          <a:xfrm>
            <a:off x="129654" y="-2956082"/>
            <a:ext cx="4954136" cy="12770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27: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Find Followers Count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Followers: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follower_id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 followers for each user, ordered by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followers_count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Followers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follower_id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followers per user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by the user being followed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sorts results as required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90E610-ADE0-E5DB-6591-66286A836370}"/>
              </a:ext>
            </a:extLst>
          </p:cNvPr>
          <p:cNvSpPr txBox="1"/>
          <p:nvPr/>
        </p:nvSpPr>
        <p:spPr>
          <a:xfrm>
            <a:off x="2477069" y="-3359144"/>
            <a:ext cx="4954136" cy="135421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28: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Biggest Single Number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MyNumbers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num    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Contains only one column, may have duplicates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largest number that appears only once. Return null if no such number.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MyNumbers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single_numbers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numbers that appear exactly once (HAVING COUNT = 1)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MAX()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the largest such number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If no numbers appear once, MAX returns NULL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Outer SELECT ensures NULL is returned when no single numbers exist</a:t>
            </a:r>
          </a:p>
        </p:txBody>
      </p:sp>
    </p:spTree>
    <p:extLst>
      <p:ext uri="{BB962C8B-B14F-4D97-AF65-F5344CB8AC3E}">
        <p14:creationId xmlns:p14="http://schemas.microsoft.com/office/powerpoint/2010/main" val="32114950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51D3-0345-00B0-8AB0-A45023E74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C078FCE-CFA2-91E8-DE28-174AF8E94761}"/>
              </a:ext>
            </a:extLst>
          </p:cNvPr>
          <p:cNvSpPr txBox="1"/>
          <p:nvPr/>
        </p:nvSpPr>
        <p:spPr>
          <a:xfrm>
            <a:off x="0" y="-5238758"/>
            <a:ext cx="4954136" cy="17335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29: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Customers Who Bought All Products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Customer: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product_key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No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Product: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product_key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product_key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customers who bought every product in the Product table.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Customer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 (SELECT COUNT(*) FROM Product)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total number of products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COUNT(DISTINCT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product_key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distinct products each customer bought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compares - customer must have bought all products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customer_id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purchases by customer</a:t>
            </a:r>
          </a:p>
        </p:txBody>
      </p:sp>
    </p:spTree>
    <p:extLst>
      <p:ext uri="{BB962C8B-B14F-4D97-AF65-F5344CB8AC3E}">
        <p14:creationId xmlns:p14="http://schemas.microsoft.com/office/powerpoint/2010/main" val="32966014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5CCC6-E6E7-B7C6-6CCC-9091F85AE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E85710-1601-8271-67D0-78BD47E98EEF}"/>
              </a:ext>
            </a:extLst>
          </p:cNvPr>
          <p:cNvSpPr txBox="1"/>
          <p:nvPr/>
        </p:nvSpPr>
        <p:spPr>
          <a:xfrm>
            <a:off x="2477069" y="-6158675"/>
            <a:ext cx="4954136" cy="19182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Section 5: Advanced Select and Joins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30: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The Number of Employees Which Report to Each Employee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Employees: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| varchar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reports_to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age         | int 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reports_to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contains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of the manager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 each manager, report their ID, name, number of direct reports, and average age of reports.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e1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e1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reports_count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age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1.0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average_age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 e1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 e2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employee_id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reports_to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SELF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where e1 are managers, e2 are their reports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ON e1.employee_id = e2.reports_to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connects managers with reports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COUNT(e2.employee_id)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reports per manager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AVG(e2.age)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calculates average age of reports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ROUND(..., 0)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rounds to nearest integer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by manager</a:t>
            </a:r>
          </a:p>
        </p:txBody>
      </p:sp>
    </p:spTree>
    <p:extLst>
      <p:ext uri="{BB962C8B-B14F-4D97-AF65-F5344CB8AC3E}">
        <p14:creationId xmlns:p14="http://schemas.microsoft.com/office/powerpoint/2010/main" val="1894340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8316-616B-E845-43AD-535703B17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7A1A84-AB4D-62D3-B500-BAEEF6378A88}"/>
              </a:ext>
            </a:extLst>
          </p:cNvPr>
          <p:cNvSpPr txBox="1"/>
          <p:nvPr/>
        </p:nvSpPr>
        <p:spPr>
          <a:xfrm>
            <a:off x="116007" y="-5719659"/>
            <a:ext cx="4954136" cy="1829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31: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Primary Department for Each Employee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Employee: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department_id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primary_flag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enum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department_id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primary_flag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is ('Y', 'N')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primary department for each employee. If an employee belongs to only one department, that department is primary.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department_id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primary_flag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'Y'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UNION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department_id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department_id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First 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employees with explicitly marked primary department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Second 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employees in only one department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UNION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combines both sets (removes duplicates)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HAVING COUNT(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department_id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 = 1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employees with single department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6BBD76-5126-D071-6DDB-4D03361D0A22}"/>
              </a:ext>
            </a:extLst>
          </p:cNvPr>
          <p:cNvSpPr txBox="1"/>
          <p:nvPr/>
        </p:nvSpPr>
        <p:spPr>
          <a:xfrm>
            <a:off x="4951864" y="-4568562"/>
            <a:ext cx="4954136" cy="14937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32: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Triangle Judgement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Triangle: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x      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y      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z      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(x, y, z)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Report for three line segments whether they can form a triangle.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z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x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y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z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x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z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y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y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z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x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'Yes'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'No'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triangle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Triangle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Triangle Inequality Theorem: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Sum of any two sides must be greater than the third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checks all three conditions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If all conditions true, 'Yes', otherwise 'No'</a:t>
            </a:r>
          </a:p>
        </p:txBody>
      </p:sp>
    </p:spTree>
    <p:extLst>
      <p:ext uri="{BB962C8B-B14F-4D97-AF65-F5344CB8AC3E}">
        <p14:creationId xmlns:p14="http://schemas.microsoft.com/office/powerpoint/2010/main" val="41643242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FC741-BE3B-1381-C1C3-531DD4C16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8F5DA7-DF98-632C-FD11-8C85B6706E22}"/>
              </a:ext>
            </a:extLst>
          </p:cNvPr>
          <p:cNvSpPr txBox="1"/>
          <p:nvPr/>
        </p:nvSpPr>
        <p:spPr>
          <a:xfrm>
            <a:off x="211541" y="-3425441"/>
            <a:ext cx="4954136" cy="13708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33: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Consecutive Numbers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Logs: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id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num 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 (automatically increments)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numbers that appear at least three times consecutively.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ConsecutiveNums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Logs l1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Logs l2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Logs l3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l3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l3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Three-way SELF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with offset conditions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l1, l2, l3 represent current, next, and next+1 rows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ON l1.id = l2.id - 1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l2 is the next row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ON l1.id = l3.id - 2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l3 is two rows ahead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checks if all three have the same number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handles cases where number appears more than 3 times consecutively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1D73E8-93CE-E5E1-E45B-8892DFE6C558}"/>
              </a:ext>
            </a:extLst>
          </p:cNvPr>
          <p:cNvSpPr txBox="1"/>
          <p:nvPr/>
        </p:nvSpPr>
        <p:spPr>
          <a:xfrm>
            <a:off x="2477069" y="-7403841"/>
            <a:ext cx="4954136" cy="216315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34: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Product Price at a Given Date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Products: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new_price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change_date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change_date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prices of all products on 2019-08-16. If a product had no price change by that date, price is 10.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last_price_before_date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new_price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change_date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change_date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change_date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'2019-08-16'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COALESCE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new_price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price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Products p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last_price_before_date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latest price change date &lt;= target date for each product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the actual price for that latest change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LEFT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with DISTINCT products ensures all products included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COALESCE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sets default price 10 for products with no price change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prevents duplicate products</a:t>
            </a:r>
          </a:p>
        </p:txBody>
      </p:sp>
    </p:spTree>
    <p:extLst>
      <p:ext uri="{BB962C8B-B14F-4D97-AF65-F5344CB8AC3E}">
        <p14:creationId xmlns:p14="http://schemas.microsoft.com/office/powerpoint/2010/main" val="1980907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1F3F0-8E3C-9EC2-08A0-4468CCE5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F649319-397D-92BD-8E56-352D268E4BD6}"/>
              </a:ext>
            </a:extLst>
          </p:cNvPr>
          <p:cNvSpPr txBox="1"/>
          <p:nvPr/>
        </p:nvSpPr>
        <p:spPr>
          <a:xfrm>
            <a:off x="443553" y="-5971009"/>
            <a:ext cx="4954136" cy="188000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35: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Last Person to Fit in the Bus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Queue: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person_id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person_name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weight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turn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turn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determines boarding order (1 to n)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person_id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last person who can board the bus without exceeding 1000 kg total weight.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cumulative_weight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person_name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weight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turn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weight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OVER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turn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total_weight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Queue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person_name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cumulative_weight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total_weight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1000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turn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LIMIT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Window function SUM() OVER (ORDER BY turn)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calculates running total weight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total_weight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 &lt;= 1000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filters those who can board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turn DESC, LIMIT 1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the last person who can board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This ensures we don't exceed the weight limit</a:t>
            </a:r>
          </a:p>
        </p:txBody>
      </p:sp>
    </p:spTree>
    <p:extLst>
      <p:ext uri="{BB962C8B-B14F-4D97-AF65-F5344CB8AC3E}">
        <p14:creationId xmlns:p14="http://schemas.microsoft.com/office/powerpoint/2010/main" val="1029820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392F3-1F7B-EAA1-D24C-5CD66DFD5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71F7D1E-1586-9C93-7B08-50EDCD4F0DFF}"/>
              </a:ext>
            </a:extLst>
          </p:cNvPr>
          <p:cNvSpPr txBox="1"/>
          <p:nvPr/>
        </p:nvSpPr>
        <p:spPr>
          <a:xfrm>
            <a:off x="2477069" y="-10031530"/>
            <a:ext cx="4954136" cy="26927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36: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Count Salary Categories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Accounts: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account_id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income 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account_id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 accounts in each salary category: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"Low Salary": income &lt; 20000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"Average Salary": 20000 &lt;= income &lt;= 50000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"High Salary": income &gt; 50000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categories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'Low Salary'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category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UNION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'Average Salary'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UNION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'High Salary'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category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account_id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accounts_count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categories c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Accounts a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category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'Low Salary'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income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20000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category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'Average Salary'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income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BETWEEN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20000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50000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category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'High Salary'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income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50000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category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category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'Low Salary'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'Average Salary'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'High Salary'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3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creates all three category names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LEFT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with conditional matching based on income ranges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CASE in JOIN condition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accounts go to correct categories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a.account_id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accounts per category (0 if none)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maintains specified category order</a:t>
            </a:r>
          </a:p>
        </p:txBody>
      </p:sp>
    </p:spTree>
    <p:extLst>
      <p:ext uri="{BB962C8B-B14F-4D97-AF65-F5344CB8AC3E}">
        <p14:creationId xmlns:p14="http://schemas.microsoft.com/office/powerpoint/2010/main" val="53744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F4734-C1A0-211C-519C-3E66DD658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4B7F9B-E05C-A91B-9BCB-A49D5E7001A6}"/>
              </a:ext>
            </a:extLst>
          </p:cNvPr>
          <p:cNvSpPr txBox="1"/>
          <p:nvPr/>
        </p:nvSpPr>
        <p:spPr>
          <a:xfrm>
            <a:off x="2477069" y="-5092999"/>
            <a:ext cx="4954136" cy="170508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Section 6: Subqueries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37: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Employees Whose Manager Left the Company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Employees: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| varchar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manager_id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salary      | int 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employees whose managers have left the company (manager's record is missing from employees table).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manager_id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NOT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manager_id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NOT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all valid employee IDs (managers who still work there)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NOT 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employees whose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manager_id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is not in that list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AND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manager_id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 IS NOT NULL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excludes employees with no manager (CEO)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sorts results as required</a:t>
            </a:r>
          </a:p>
        </p:txBody>
      </p:sp>
    </p:spTree>
    <p:extLst>
      <p:ext uri="{BB962C8B-B14F-4D97-AF65-F5344CB8AC3E}">
        <p14:creationId xmlns:p14="http://schemas.microsoft.com/office/powerpoint/2010/main" val="42684021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A05F5-03AA-D92D-60A8-B08A3E4A0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3C5C8C-D049-5D45-A9B0-70F10230A488}"/>
              </a:ext>
            </a:extLst>
          </p:cNvPr>
          <p:cNvSpPr txBox="1"/>
          <p:nvPr/>
        </p:nvSpPr>
        <p:spPr>
          <a:xfrm>
            <a:off x="197892" y="-4936078"/>
            <a:ext cx="4954136" cy="1632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38: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Exchange Seats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Seat: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id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student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 (consecutive values)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Swap seat IDs of every two consecutive students. If odd number of students, last student stays.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%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Seat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%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student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Seat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CASE statement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handles three scenarios:</a:t>
            </a: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Odd ID but not last: swap with next (id + 1)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Even ID: swap with previous (id - 1)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Last odd ID: keep same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 (SELECT MAX(id))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total count to identify last row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correct ordering after swapping</a:t>
            </a:r>
          </a:p>
        </p:txBody>
      </p:sp>
    </p:spTree>
    <p:extLst>
      <p:ext uri="{BB962C8B-B14F-4D97-AF65-F5344CB8AC3E}">
        <p14:creationId xmlns:p14="http://schemas.microsoft.com/office/powerpoint/2010/main" val="40776458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9E505-40D9-4ED7-D016-8A821BFA1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6324199-6AA4-26B8-5947-C7089BEBE2B3}"/>
              </a:ext>
            </a:extLst>
          </p:cNvPr>
          <p:cNvSpPr txBox="1"/>
          <p:nvPr/>
        </p:nvSpPr>
        <p:spPr>
          <a:xfrm>
            <a:off x="2477069" y="-13381165"/>
            <a:ext cx="4954136" cy="33627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39: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Movie Rating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Movies: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title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Users: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MovieRating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rating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created_at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movie_id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Find: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User who rated most movies (if tie, alphabetically smaller name)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Movie with highest average rating in February 2020 (if tie, alphabetically smaller title)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Users u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MovieRating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ASC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LIMIT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UNION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ALL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title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Movies m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MovieRating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movie_id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created_at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BETWEEN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'2020-02-01'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'2020-02-29'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title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rating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title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ASC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LIMIT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First query: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Join Users with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MovieRating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GROUP BY user to count ratings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ORDER BY count DESC, then name ASC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LIMIT 1 gets the top user</a:t>
            </a:r>
          </a:p>
          <a:p>
            <a:pPr algn="l">
              <a:spcBef>
                <a:spcPts val="45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Second query: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Join Movies with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MovieRating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WHERE filters for February 2020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GROUP BY movie to calculate average rating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ORDER BY avg rating DESC, then title ASC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LIMIT 1 gets top movie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UNION ALL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combines both results</a:t>
            </a:r>
          </a:p>
        </p:txBody>
      </p:sp>
    </p:spTree>
    <p:extLst>
      <p:ext uri="{BB962C8B-B14F-4D97-AF65-F5344CB8AC3E}">
        <p14:creationId xmlns:p14="http://schemas.microsoft.com/office/powerpoint/2010/main" val="35282200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09C2D-F040-78E6-DD9B-00AC84CAA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BDA1725-F5FE-6D62-7D33-CAC0EF058BE9}"/>
              </a:ext>
            </a:extLst>
          </p:cNvPr>
          <p:cNvSpPr txBox="1"/>
          <p:nvPr/>
        </p:nvSpPr>
        <p:spPr>
          <a:xfrm>
            <a:off x="2477069" y="-9310820"/>
            <a:ext cx="4954136" cy="2548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40: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Restaurant Growth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Customer: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visited_on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amount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customer_id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visited_on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Calculate 7-day moving average of amount paid, from minimum date to 6 days after.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daily_sum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visited_on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amount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amount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Customer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visited_on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moving_avg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d1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visited_on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d2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amount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amount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d2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amount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1.0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average_amount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daily_sum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d1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daily_sum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d2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visited_on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BETWEEN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DATE_SUB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d1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visited_on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INTERVAL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6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DAY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visited_on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visited_on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d2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visited_on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7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visited_on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amount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average_amount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moving_avg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visited_on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CTE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daily_sum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aggregates amounts by date (handles multiple customers same day)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SELF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on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daily_sum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to get 7-day windows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BETWEEN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condition gets current day and previous 6 days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SUM(d2.amount)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7-day total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AVG(d2.amount)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7-day moving average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HAVING COUNT(d2.visited_on) = 7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complete 7-day window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chronological order</a:t>
            </a:r>
          </a:p>
        </p:txBody>
      </p:sp>
    </p:spTree>
    <p:extLst>
      <p:ext uri="{BB962C8B-B14F-4D97-AF65-F5344CB8AC3E}">
        <p14:creationId xmlns:p14="http://schemas.microsoft.com/office/powerpoint/2010/main" val="1250078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263D5-F352-EAA7-74F0-A6DE67CB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C9D8A3-44EA-732E-A44A-F59BD2C527E2}"/>
              </a:ext>
            </a:extLst>
          </p:cNvPr>
          <p:cNvSpPr txBox="1"/>
          <p:nvPr/>
        </p:nvSpPr>
        <p:spPr>
          <a:xfrm>
            <a:off x="2477069" y="-5467460"/>
            <a:ext cx="4954136" cy="17799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41: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Friend Requests II: Who Has the Most Friends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RequestAccepted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requester_id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accepter_id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accept_date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requester_id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accepter_id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person with most friends and their friend count.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all_friends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requester_id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RequestAccepted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UNION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ALL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accepter_id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RequestAccepted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all_friends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LIMIT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UNION ALL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combines both sides of friendships</a:t>
            </a: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requester_id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counts as friend for requester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accepter_id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counts as friend for accepter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total friends for each person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num DESC, LIMIT 1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person with most friends</a:t>
            </a:r>
          </a:p>
        </p:txBody>
      </p:sp>
    </p:spTree>
    <p:extLst>
      <p:ext uri="{BB962C8B-B14F-4D97-AF65-F5344CB8AC3E}">
        <p14:creationId xmlns:p14="http://schemas.microsoft.com/office/powerpoint/2010/main" val="7630640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1E5E-CDE1-A6B0-BC87-662752729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E97C391-017C-2EC5-F350-45B4CE6B602C}"/>
              </a:ext>
            </a:extLst>
          </p:cNvPr>
          <p:cNvSpPr txBox="1"/>
          <p:nvPr/>
        </p:nvSpPr>
        <p:spPr>
          <a:xfrm>
            <a:off x="2477069" y="-7020449"/>
            <a:ext cx="4954136" cy="20905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42: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Investments in 2016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Insurance: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tiv_2015       | float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tiv_2016       | float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lat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| float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| float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sum of tiv_2016 for policies where: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tiv_2015 matches at least one other policy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lat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lon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unique (no other policy in same location)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tiv_2016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tiv_2016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Insurance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tiv_2015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tiv_2015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Insurance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tiv_2015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lon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Insurance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lon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First subquery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tiv_2015 values that appear more than once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Second subquery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unique location pairs (appear exactly once)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combines both conditions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SUM(tiv_2016)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totals qualifying policies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ROUND(..., 2)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formats to 2 decimals</a:t>
            </a:r>
          </a:p>
        </p:txBody>
      </p:sp>
    </p:spTree>
    <p:extLst>
      <p:ext uri="{BB962C8B-B14F-4D97-AF65-F5344CB8AC3E}">
        <p14:creationId xmlns:p14="http://schemas.microsoft.com/office/powerpoint/2010/main" val="216510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C157C-7E71-00DD-B11C-77BDBC4BF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B0293D6-322F-A3AC-EE5C-021D23E2D609}"/>
              </a:ext>
            </a:extLst>
          </p:cNvPr>
          <p:cNvSpPr txBox="1"/>
          <p:nvPr/>
        </p:nvSpPr>
        <p:spPr>
          <a:xfrm>
            <a:off x="2477069" y="-9839170"/>
            <a:ext cx="4954136" cy="2654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43: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Department Top Three Salaries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Employee: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id 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salary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departmentId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Department: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id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employees in top three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unique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salaries per department.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ranked_employees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Department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Salary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DENSE_RANK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OVER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PARTITION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departmentId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salary_rank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 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Department d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departmentId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Department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Employee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Salary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ranked_employees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salary_rank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3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Department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DENSE_RANK()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assigns ranks without gaps (1,2,2,3,3...)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PARTITION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departmentId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resets ranking per department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salary DESC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ranks highest salaries first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salary_rank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 &lt;= 3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filters top three unique salaries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department names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 clean output</a:t>
            </a:r>
          </a:p>
        </p:txBody>
      </p:sp>
    </p:spTree>
    <p:extLst>
      <p:ext uri="{BB962C8B-B14F-4D97-AF65-F5344CB8AC3E}">
        <p14:creationId xmlns:p14="http://schemas.microsoft.com/office/powerpoint/2010/main" val="26236135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3A60-7F4A-4075-E419-85EE761A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5056A7-C8E2-35EB-631D-818CF0A9586B}"/>
              </a:ext>
            </a:extLst>
          </p:cNvPr>
          <p:cNvSpPr txBox="1"/>
          <p:nvPr/>
        </p:nvSpPr>
        <p:spPr>
          <a:xfrm>
            <a:off x="2477069" y="-4691607"/>
            <a:ext cx="4954136" cy="162480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Section 7: Advanced String Functions / Regex / Clause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44: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Fix Names in a Table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Users: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Fix name format: first character uppercase, rest lowercase.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CONCAT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UPPER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LOWER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SUBSTRING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name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Users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LEFT(name, 1)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first character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UPPER()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capitalizes it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SUBSTRING(name, 2)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all characters from position 2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LOWER()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makes them lowercase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CONCAT()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combines both parts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sorts results</a:t>
            </a:r>
          </a:p>
        </p:txBody>
      </p:sp>
    </p:spTree>
    <p:extLst>
      <p:ext uri="{BB962C8B-B14F-4D97-AF65-F5344CB8AC3E}">
        <p14:creationId xmlns:p14="http://schemas.microsoft.com/office/powerpoint/2010/main" val="10081883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2FCAA-5208-4115-0033-78F3F505C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02294F1-C6D9-F392-736C-C517F136012C}"/>
              </a:ext>
            </a:extLst>
          </p:cNvPr>
          <p:cNvSpPr txBox="1"/>
          <p:nvPr/>
        </p:nvSpPr>
        <p:spPr>
          <a:xfrm>
            <a:off x="2477069" y="-3313024"/>
            <a:ext cx="4954136" cy="1349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0Problem 45: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Patients With a Condition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Patients: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patient_id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patient_name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conditions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patient_id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conditions contains ICD codes separated by spaces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patients with Type I Diabetes (codes starting with "DIAB1").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Patients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conditions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LIKE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'DIAB1%'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conditions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LIKE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'% DIAB1%'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LIKE 'DIAB1%'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codes at the very beginning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LIKE '% DIAB1%'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codes with space before them (middle/end)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The space ensures we match whole codes, not substrings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Covers all positions where DIAB1 can appear</a:t>
            </a:r>
          </a:p>
        </p:txBody>
      </p:sp>
    </p:spTree>
    <p:extLst>
      <p:ext uri="{BB962C8B-B14F-4D97-AF65-F5344CB8AC3E}">
        <p14:creationId xmlns:p14="http://schemas.microsoft.com/office/powerpoint/2010/main" val="23357814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C0856-9563-310D-DEF0-85E9C971E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156FD06-9B2F-1445-142A-4171735C26A0}"/>
              </a:ext>
            </a:extLst>
          </p:cNvPr>
          <p:cNvSpPr txBox="1"/>
          <p:nvPr/>
        </p:nvSpPr>
        <p:spPr>
          <a:xfrm>
            <a:off x="156950" y="-3024559"/>
            <a:ext cx="4954136" cy="12231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46: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Delete Duplicate Emails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Person: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id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email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Delete duplicate emails, keeping only the one with smallest ID.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DELETE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p1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Person p1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Person p2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email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email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SELF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matches duplicate emails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 p1.id &gt; p2.id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identifies duplicates with larger IDs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DELETE p1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removes those larger ID duplicates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Keeps the smallest ID for each email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360741-4D54-0C98-8070-61CFECECDC93}"/>
              </a:ext>
            </a:extLst>
          </p:cNvPr>
          <p:cNvSpPr txBox="1"/>
          <p:nvPr/>
        </p:nvSpPr>
        <p:spPr>
          <a:xfrm>
            <a:off x="4292221" y="-2683365"/>
            <a:ext cx="4954136" cy="129445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47: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Second Highest Salary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Employee: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id     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salary 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 second highest distinct salary. Return NULL if none.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SecondHighestSalary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highest salary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 salary &lt;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all salaries less than max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MAX()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of those gives second highest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Returns NULL if no second highest exists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Alternative with LIMIT/OFFSET handles ties automatically</a:t>
            </a:r>
          </a:p>
        </p:txBody>
      </p:sp>
    </p:spTree>
    <p:extLst>
      <p:ext uri="{BB962C8B-B14F-4D97-AF65-F5344CB8AC3E}">
        <p14:creationId xmlns:p14="http://schemas.microsoft.com/office/powerpoint/2010/main" val="27264838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3E893-EB80-1190-5E28-1A084D7E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5DD107-F8F1-02BF-FD4E-B529CC06A4FA}"/>
              </a:ext>
            </a:extLst>
          </p:cNvPr>
          <p:cNvSpPr txBox="1"/>
          <p:nvPr/>
        </p:nvSpPr>
        <p:spPr>
          <a:xfrm>
            <a:off x="2477069" y="-4382548"/>
            <a:ext cx="4954136" cy="1562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48: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Group Sold Products By The Date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Activities: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sell_date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product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No primary key (may have duplicates)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 each date, count distinct products and list them sorted.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sell_date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num_sold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GROUP_CONCAT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 SEPARATOR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','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Activities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sell_date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sell_date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COUNT(DISTINCT product)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unique products per date</a:t>
            </a:r>
          </a:p>
          <a:p>
            <a:pPr algn="l">
              <a:spcBef>
                <a:spcPts val="45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GROUP_CONCAT()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concatenates product names</a:t>
            </a: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uniqueness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product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sorts alphabetically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SEPARATOR ','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uses comma between products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sell_date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by date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sell_date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chronological order</a:t>
            </a:r>
          </a:p>
        </p:txBody>
      </p:sp>
    </p:spTree>
    <p:extLst>
      <p:ext uri="{BB962C8B-B14F-4D97-AF65-F5344CB8AC3E}">
        <p14:creationId xmlns:p14="http://schemas.microsoft.com/office/powerpoint/2010/main" val="25516141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4B80D-341B-56C8-4F0C-D26AC95F9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358F3A2-D66A-C3AB-242A-A860D3A24FA9}"/>
              </a:ext>
            </a:extLst>
          </p:cNvPr>
          <p:cNvSpPr txBox="1"/>
          <p:nvPr/>
        </p:nvSpPr>
        <p:spPr>
          <a:xfrm>
            <a:off x="2477069" y="-6988389"/>
            <a:ext cx="4954136" cy="208416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49: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List the Products Ordered in a Period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Products: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product_category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order_date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unit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No primary key (may have duplicates)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products with at least 100 units ordered in February 2020.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unit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unit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Products p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Orders o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order_date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BETWEEN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'2020-02-01'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'2020-02-29'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product_name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unit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connects products with orders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filters for February 2020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by product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SUM(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o.unit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calculates total units ordered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filters products with 100+ units</a:t>
            </a: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0804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234C0-6502-085A-59CD-B3BA280AD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B4813A-DD0C-84F9-A3ED-EFC70B569030}"/>
              </a:ext>
            </a:extLst>
          </p:cNvPr>
          <p:cNvSpPr txBox="1"/>
          <p:nvPr/>
        </p:nvSpPr>
        <p:spPr>
          <a:xfrm>
            <a:off x="2477069" y="-3841374"/>
            <a:ext cx="4954136" cy="14547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50: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Find Users With Valid E-Mails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Users: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mail   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users with valid email addresses (prefix starts with letter, only letters, numbers, underscore, period, dash; domain @</a:t>
            </a:r>
            <a:r>
              <a:rPr lang="en-US" b="0" i="0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leetcode.com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Users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mail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REGEXP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'^[a-</a:t>
            </a:r>
            <a:r>
              <a:rPr lang="en-US" b="0" i="0" dirty="0" err="1">
                <a:solidFill>
                  <a:srgbClr val="50A14F"/>
                </a:solidFill>
                <a:effectLst/>
                <a:latin typeface="Menlo"/>
              </a:rPr>
              <a:t>zA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-Z][a-zA-Z0-9_.-]*@leetcode\\.com$'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REGEXP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uses regular expression for pattern matching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^[a-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zA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-Z]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- starts with a letter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[a-zA-Z0-9_.-]*$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- followed by zero or more allowed characters until end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@leetcode\.com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- must end with exactly @</a:t>
            </a:r>
            <a:r>
              <a:rPr lang="en-US" b="0" i="0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leetcode.com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\.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escapes the dot in domain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^*$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full string match, not substring</a:t>
            </a:r>
          </a:p>
        </p:txBody>
      </p:sp>
    </p:spTree>
    <p:extLst>
      <p:ext uri="{BB962C8B-B14F-4D97-AF65-F5344CB8AC3E}">
        <p14:creationId xmlns:p14="http://schemas.microsoft.com/office/powerpoint/2010/main" val="41301174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051C90-DE80-B1CD-912A-A7A37C5C7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905752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7" y="0"/>
            <a:ext cx="990575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89CC02C-CED9-7BAC-B2E8-0D1E09999C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4912" y="4267832"/>
            <a:ext cx="3904872" cy="1297115"/>
          </a:xfrm>
          <a:prstGeom prst="rect">
            <a:avLst/>
          </a:prstGeom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1" fontAlgn="base" hangingPunct="1">
              <a:lnSpc>
                <a:spcPct val="90000"/>
              </a:lnSpc>
              <a:spcAft>
                <a:spcPts val="600"/>
              </a:spcAft>
              <a:buClrTx/>
              <a:buSzTx/>
              <a:tabLst/>
            </a:pPr>
            <a:r>
              <a:rPr kumimoji="0" lang="en-US" altLang="en-US" sz="2800" b="1" i="0" u="none" strike="noStrike" kern="1200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rPr>
              <a:t>🎯 Summary of Key SQL Concepts Covered</a:t>
            </a:r>
          </a:p>
          <a:p>
            <a:pPr marL="0" marR="0" lvl="0" indent="0" defTabSz="914400" eaLnBrk="1" fontAlgn="base" hangingPunct="1">
              <a:lnSpc>
                <a:spcPct val="90000"/>
              </a:lnSpc>
              <a:spcAft>
                <a:spcPts val="600"/>
              </a:spcAft>
              <a:buClrTx/>
              <a:buSzTx/>
              <a:tabLst/>
            </a:pPr>
            <a:endParaRPr kumimoji="0" lang="en-US" altLang="en-US" sz="2800" b="0" i="0" u="none" strike="noStrike" kern="1200" cap="none" normalizeH="0" baseline="0">
              <a:ln>
                <a:noFill/>
              </a:ln>
              <a:solidFill>
                <a:schemeClr val="tx2"/>
              </a:solidFill>
              <a:effectLst/>
              <a:latin typeface="+mj-lt"/>
              <a:ea typeface="+mj-ea"/>
              <a:cs typeface="+mj-cs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455" y="-5977"/>
            <a:ext cx="5068922" cy="6863979"/>
            <a:chOff x="305" y="-5977"/>
            <a:chExt cx="6238675" cy="6863979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66B6268-5F1F-D403-E6B6-3389991A8C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9716737"/>
              </p:ext>
            </p:extLst>
          </p:nvPr>
        </p:nvGraphicFramePr>
        <p:xfrm>
          <a:off x="153799" y="752074"/>
          <a:ext cx="3365181" cy="5707188"/>
        </p:xfrm>
        <a:graphic>
          <a:graphicData uri="http://schemas.openxmlformats.org/drawingml/2006/table">
            <a:tbl>
              <a:tblPr/>
              <a:tblGrid>
                <a:gridCol w="1475258">
                  <a:extLst>
                    <a:ext uri="{9D8B030D-6E8A-4147-A177-3AD203B41FA5}">
                      <a16:colId xmlns:a16="http://schemas.microsoft.com/office/drawing/2014/main" val="1814854620"/>
                    </a:ext>
                  </a:extLst>
                </a:gridCol>
                <a:gridCol w="1889923">
                  <a:extLst>
                    <a:ext uri="{9D8B030D-6E8A-4147-A177-3AD203B41FA5}">
                      <a16:colId xmlns:a16="http://schemas.microsoft.com/office/drawing/2014/main" val="47403906"/>
                    </a:ext>
                  </a:extLst>
                </a:gridCol>
              </a:tblGrid>
              <a:tr h="230513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Section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Concepts Mastered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8514306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Select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WHERE, AND/OR, NULL handling, DISTINCT, ORDER BY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9471062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Basic Joins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 dirty="0">
                          <a:effectLst/>
                          <a:latin typeface="quote-cjk-patch"/>
                        </a:rPr>
                        <a:t>INNER JOIN, LEFT JOIN, SELF JOIN, multiple join conditions</a:t>
                      </a:r>
                      <a:endParaRPr lang="en-US" sz="9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292846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Aggregate Functions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COUNT, SUM, AVG, GROUP BY, HAVING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247206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Sorting &amp; Grouping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GROUP BY with HAVING, COUNT DISTINCT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3373126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Advanced Joins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fr-FR" sz="900" b="0" i="0" u="none" strike="noStrike">
                          <a:effectLst/>
                          <a:latin typeface="quote-cjk-patch"/>
                        </a:rPr>
                        <a:t>Multiple JOINs, UNION, complex conditions</a:t>
                      </a:r>
                      <a:endParaRPr lang="fr-FR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059907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Subqueries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Correlated subqueries, IN/NOT IN, EXISTS/NOT EXISTS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2757692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Window Functions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ROW_NUMBER, RANK, DENSE_RANK, SUM OVER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8571822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String Functions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CONCAT, UPPER/LOWER, LEFT, SUBSTRING, GROUP_CONCAT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9536463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Date Functions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DATE_FORMAT, DATE_ADD, DATEDIFF, BETWEEN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9557430"/>
                  </a:ext>
                </a:extLst>
              </a:tr>
              <a:tr h="230513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Regular Expressions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 dirty="0">
                          <a:effectLst/>
                          <a:latin typeface="quote-cjk-patch"/>
                        </a:rPr>
                        <a:t>REGEXP pattern matching</a:t>
                      </a:r>
                      <a:endParaRPr lang="en-US" sz="9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94072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31954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57C93-02CB-83DE-E1F8-98A3723CE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85885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CB1A1-0DEC-6A82-7852-7AC16BEEC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39317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61950-3DA7-C568-07AB-C3FB6F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80790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B8FA2-6EE9-149C-BAA5-4FFE22C58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6702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97DF-8BB5-DE2D-7CE6-B2DAADF3E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5599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24DFC-0410-FAEF-2FD3-2EFE4E34C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01438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3DD83-FC48-35DC-EE12-F4F024213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36620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5D96C-C62F-EB3B-7E8E-E40D8A48B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31530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7EA5B-5860-8236-5200-570E15993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96822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87591-80CB-26EA-34F3-73F841B64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19321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29448-9945-8A2D-3E98-C1980A160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07807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925CC-42D1-6EEB-DB87-1B280C3ED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88033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30842-FD4D-9C8C-D56A-B4C3542A7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52370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1AC70-F469-28D6-0E0E-BA1071CB9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527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06E0F-50CD-3B11-1DFD-FC7299033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08476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11B39-F064-775A-9411-E73929C1D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3603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65BB2-BFB1-CCC2-B55F-CF392C3DE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48526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386E9-3127-3EDA-6557-CEF76A86D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5128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B79DE-BA72-F671-6D57-9F372D222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906123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C9F7E-9983-7851-B4B5-4B43F29EA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78588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CDBD1-6A27-5F93-91B3-91C2B7F6A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0496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7AA9C-661F-B1F3-C775-9B8565CE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13279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CA5E3-BD05-87C9-6C1C-F7FAAF33B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04524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69677-3E7F-9607-7299-044FAC57B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84244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AF79C-90CB-21CE-4937-EB56E77B5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757512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DF3B4-10A3-F97C-DE8D-A21ED2B1B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25177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B5A51-AA7F-ECAF-41AE-666585F46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99127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408AB-3FEA-D9E8-2260-D0EB5D40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762487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D11B9-028C-5DD4-A32D-5F68742A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668196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433DC-6598-AE34-6561-657045E65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60760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A9814-5741-BF68-57BD-61191B08B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64529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B12D9-7743-8E75-BF87-F74CE4157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74730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C3C42-195E-1AA6-666E-9DDDDC729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1467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DCFC9-20DE-11FF-066F-212F321A7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7654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3B9AB-DD08-57A9-3937-3178F40B8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20340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31B59-6FFA-DE4E-A87E-7C2F448F3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938158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A4660-17B1-E4B5-CE8C-A6BA4F03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084530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D92DC-5F54-1150-3E2B-D0217D6B4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94175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69C64-8DDE-13EF-04ED-E030FEAF9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964938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08D3A-A235-1877-D051-FCC3A9ADA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76342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26905-7CCD-FCB2-1A7E-E8BB36BCA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25737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6F266-AAFE-19DB-00DC-19E75491F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321972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0D1BF-A172-3FF0-903F-2AD081E8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40371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0E42-E71B-A766-657B-A4466062A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582018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E7962-935A-C6CA-3B98-1DCA17640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481836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C3D3E-7A80-5937-D445-0BC611F6D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905273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39288-3934-3EE8-8DA0-8B55FB44D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356114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44358-7458-9EBA-410C-00B1A20E7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276075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474C8-E1F0-54A0-7DB7-A4F186252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41363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8BA5F-0737-1C9E-B34A-C8D0C6CC1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6260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D7587-E788-2173-9FCE-ABF5926BA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86601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C10DC-3F44-09D6-0EF4-E117C7AF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822331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B0F-A5F4-4582-FC01-5E689CFFF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998718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84FF4-E87B-CEE7-4340-4A8CF2BFB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1273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430E2-575B-DE05-1E7C-0285A3ECC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037317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C7C7E-2D31-F5DA-2FCC-908AF031C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909895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DCCDD-1A76-AF1A-CCB5-9A78AF6F8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989250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D685A-5937-3C52-2F3B-74955B1FF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505623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9A74E-5113-4DFD-160C-4238D2609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886103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71383-6B34-E468-1316-F7BB6A02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07572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2D463-FC14-8CA8-6D2C-26A46C353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6847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045A3-7F9A-3D1E-9952-CB829B421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770600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BD669-6DBE-F77D-D40F-7C6D96C5C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671968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E25A9-6E07-F074-80C0-B8D1E6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321289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65A7-8CF5-3E06-19C9-4886680E1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31665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5E8E8-9926-55CC-14D3-10A08BDEC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795131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8A96-9E7C-76A2-3967-042D834D1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88747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5AA9C-307F-F804-9057-56F9D9873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6626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405</TotalTime>
  <Words>9719</Words>
  <Application>Microsoft Office PowerPoint</Application>
  <PresentationFormat>A4 Paper (210x297 mm)</PresentationFormat>
  <Paragraphs>1668</Paragraphs>
  <Slides>104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104</vt:i4>
      </vt:variant>
    </vt:vector>
  </HeadingPairs>
  <TitlesOfParts>
    <vt:vector size="110" baseType="lpstr">
      <vt:lpstr>Aptos</vt:lpstr>
      <vt:lpstr>Aptos Display</vt:lpstr>
      <vt:lpstr>Arial</vt:lpstr>
      <vt:lpstr>Menlo</vt:lpstr>
      <vt:lpstr>quote-cjk-patch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umalavanya7@gmail.com</dc:creator>
  <cp:lastModifiedBy>umalavanya7@gmail.com</cp:lastModifiedBy>
  <cp:revision>58</cp:revision>
  <dcterms:created xsi:type="dcterms:W3CDTF">2026-02-06T21:19:28Z</dcterms:created>
  <dcterms:modified xsi:type="dcterms:W3CDTF">2026-02-26T19:22:25Z</dcterms:modified>
</cp:coreProperties>
</file>