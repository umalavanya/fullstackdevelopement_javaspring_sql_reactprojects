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6" d="100"/>
          <a:sy n="56" d="100"/>
        </p:scale>
        <p:origin x="58" y="4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tableStyles" Target="tableStyle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2/22/2026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intellipaat.com/blog/data-control-language-dcl/" TargetMode="External"/><Relationship Id="rId2" Type="http://schemas.openxmlformats.org/officeDocument/2006/relationships/hyperlink" Target="https://intellipaat.com/blog/ddl-and-dml-commands/" TargetMode="External"/><Relationship Id="rId1" Type="http://schemas.openxmlformats.org/officeDocument/2006/relationships/slideLayout" Target="../slideLayouts/slideLayout1.xml"/><Relationship Id="rId5" Type="http://schemas.openxmlformats.org/officeDocument/2006/relationships/hyperlink" Target="https://intellipaat.com/blog/tcl-commands-in-sql/" TargetMode="External"/><Relationship Id="rId4" Type="http://schemas.openxmlformats.org/officeDocument/2006/relationships/hyperlink" Target="https://intellipaat.com/blog/revoke-command-in-sq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intellipaat.com/blog/constraints-in-sql/"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intellipaat.com/blog/coalesce-in-sql/"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intellipaat.com/blog/tutorial/sql-tutorial/sql-features/"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intellipaat.com/blog/tutorial/sql-tutorial/acid-properties-normalization/"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https://intellipaat.com/blog/how-to-add-user-input-to-sql-statement/"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intellipaat.com/blog/what-is-database/"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intellipaat.com/blog/integrity-constraints-in-dbms/" TargetMode="External"/><Relationship Id="rId2" Type="http://schemas.openxmlformats.org/officeDocument/2006/relationships/hyperlink" Target="https://intellipaat.com/blog/what-is-normalization-in-sql/"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intellipaat.com/blog/case-statement-in-sql/"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intellipaat.com/blog/tutorial/sql-tutorial/tables-in-sql/" TargetMode="External"/><Relationship Id="rId2" Type="http://schemas.openxmlformats.org/officeDocument/2006/relationships/hyperlink" Target="https://intellipaat.com/blog/tutorial/sql-tutorial/sql-joins/"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intellipaat.com/blog/tutorial/sql-tutorial/right-join-sql/" TargetMode="External"/><Relationship Id="rId2" Type="http://schemas.openxmlformats.org/officeDocument/2006/relationships/hyperlink" Target="https://intellipaat.com/blog/tutorial/sql-tutorial/inner-join-in-sql/" TargetMode="External"/><Relationship Id="rId1" Type="http://schemas.openxmlformats.org/officeDocument/2006/relationships/slideLayout" Target="../slideLayouts/slideLayout1.xml"/><Relationship Id="rId5" Type="http://schemas.openxmlformats.org/officeDocument/2006/relationships/hyperlink" Target="https://intellipaat.com/blog/sql-cross-join/" TargetMode="External"/><Relationship Id="rId4" Type="http://schemas.openxmlformats.org/officeDocument/2006/relationships/hyperlink" Target="https://intellipaat.com/blog/self-join-in-sq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hyperlink" Target="https://intellipaat.com/blog/tutorial/sql-tutorial/sql-delete-query/" TargetMode="External"/><Relationship Id="rId2" Type="http://schemas.openxmlformats.org/officeDocument/2006/relationships/hyperlink" Target="https://intellipaat.com/blog/tutorial/sql-tutorial/update-statement/" TargetMode="Externa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hyperlink" Target="https://intellipaat.com/blog/hierarchical-recursive-query-mysql/" TargetMode="Externa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hyperlink" Target="https://intellipaat.com/blog/what-is-median-in-statistics/" TargetMode="Externa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hyperlink" Target="https://intellipaat.com/blog/tutorial/sql-tutorial/sql-order-by/" TargetMode="Externa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hyperlink" Target="https://intellipaat.com/blog/database-partitioning-techniques/" TargetMode="Externa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hyperlink" Target="https://intellipaat.com/blog/stored-procedure-in-sql/" TargetMode="Externa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hyperlink" Target="https://intellipaat.com/blog/nested-query-in-sql/" TargetMode="Externa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hyperlink" Target="https://intellipaat.com/blog/calculate-running-total-in-sql-server/" TargetMode="Externa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hyperlink" Target="https://intellipaat.com/blog/tutorial/sql-server-tutorial/triggers-in-sql-server/" TargetMode="Externa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61EEE20-C743-3CC4-C4E7-893B29281812}"/>
              </a:ext>
            </a:extLst>
          </p:cNvPr>
          <p:cNvGraphicFramePr>
            <a:graphicFrameLocks noGrp="1"/>
          </p:cNvGraphicFramePr>
          <p:nvPr>
            <p:extLst>
              <p:ext uri="{D42A27DB-BD31-4B8C-83A1-F6EECF244321}">
                <p14:modId xmlns:p14="http://schemas.microsoft.com/office/powerpoint/2010/main" val="294985239"/>
              </p:ext>
            </p:extLst>
          </p:nvPr>
        </p:nvGraphicFramePr>
        <p:xfrm>
          <a:off x="476320" y="2289865"/>
          <a:ext cx="8543925" cy="3169242"/>
        </p:xfrm>
        <a:graphic>
          <a:graphicData uri="http://schemas.openxmlformats.org/drawingml/2006/table">
            <a:tbl>
              <a:tblPr/>
              <a:tblGrid>
                <a:gridCol w="2847975">
                  <a:extLst>
                    <a:ext uri="{9D8B030D-6E8A-4147-A177-3AD203B41FA5}">
                      <a16:colId xmlns:a16="http://schemas.microsoft.com/office/drawing/2014/main" val="1235680504"/>
                    </a:ext>
                  </a:extLst>
                </a:gridCol>
                <a:gridCol w="2847975">
                  <a:extLst>
                    <a:ext uri="{9D8B030D-6E8A-4147-A177-3AD203B41FA5}">
                      <a16:colId xmlns:a16="http://schemas.microsoft.com/office/drawing/2014/main" val="212011890"/>
                    </a:ext>
                  </a:extLst>
                </a:gridCol>
                <a:gridCol w="2847975">
                  <a:extLst>
                    <a:ext uri="{9D8B030D-6E8A-4147-A177-3AD203B41FA5}">
                      <a16:colId xmlns:a16="http://schemas.microsoft.com/office/drawing/2014/main" val="1159811969"/>
                    </a:ext>
                  </a:extLst>
                </a:gridCol>
              </a:tblGrid>
              <a:tr h="528207">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Primary Key</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Unique Key</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236721932"/>
                  </a:ext>
                </a:extLst>
              </a:tr>
              <a:tr h="528207">
                <a:tc>
                  <a:txBody>
                    <a:bodyPr/>
                    <a:lstStyle/>
                    <a:p>
                      <a:pPr fontAlgn="t">
                        <a:buNone/>
                      </a:pPr>
                      <a:r>
                        <a:rPr lang="en-US">
                          <a:effectLst/>
                        </a:rPr>
                        <a:t>Uniqueness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Must be unique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Must be unique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81112123"/>
                  </a:ext>
                </a:extLst>
              </a:tr>
              <a:tr h="528207">
                <a:tc>
                  <a:txBody>
                    <a:bodyPr/>
                    <a:lstStyle/>
                    <a:p>
                      <a:pPr fontAlgn="t">
                        <a:buNone/>
                      </a:pPr>
                      <a:r>
                        <a:rPr lang="en-US">
                          <a:effectLst/>
                        </a:rPr>
                        <a:t>NULL Values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Not allowed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One NULL allowed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67253881"/>
                  </a:ext>
                </a:extLst>
              </a:tr>
              <a:tr h="528207">
                <a:tc>
                  <a:txBody>
                    <a:bodyPr/>
                    <a:lstStyle/>
                    <a:p>
                      <a:pPr fontAlgn="t">
                        <a:buNone/>
                      </a:pPr>
                      <a:r>
                        <a:rPr lang="en-US">
                          <a:effectLst/>
                        </a:rPr>
                        <a:t>Number per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Only one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Multiple allowed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47787678"/>
                  </a:ext>
                </a:extLst>
              </a:tr>
              <a:tr h="528207">
                <a:tc>
                  <a:txBody>
                    <a:bodyPr/>
                    <a:lstStyle/>
                    <a:p>
                      <a:pPr fontAlgn="t">
                        <a:buNone/>
                      </a:pPr>
                      <a:r>
                        <a:rPr lang="en-US">
                          <a:effectLst/>
                        </a:rPr>
                        <a:t>Purpose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Record identification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Data uniqueness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76629042"/>
                  </a:ext>
                </a:extLst>
              </a:tr>
              <a:tr h="528207">
                <a:tc>
                  <a:txBody>
                    <a:bodyPr/>
                    <a:lstStyle/>
                    <a:p>
                      <a:pPr fontAlgn="t">
                        <a:buNone/>
                      </a:pPr>
                      <a:r>
                        <a:rPr lang="en-US">
                          <a:effectLst/>
                        </a:rPr>
                        <a:t>Index Created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Automatically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Automatically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8173013"/>
                  </a:ext>
                </a:extLst>
              </a:tr>
            </a:tbl>
          </a:graphicData>
        </a:graphic>
      </p:graphicFrame>
      <p:sp>
        <p:nvSpPr>
          <p:cNvPr id="3" name="Rectangle 1">
            <a:extLst>
              <a:ext uri="{FF2B5EF4-FFF2-40B4-BE49-F238E27FC236}">
                <a16:creationId xmlns:a16="http://schemas.microsoft.com/office/drawing/2014/main" id="{89970861-5B97-7633-F815-0B5FC0030613}"/>
              </a:ext>
            </a:extLst>
          </p:cNvPr>
          <p:cNvSpPr>
            <a:spLocks noChangeArrowheads="1"/>
          </p:cNvSpPr>
          <p:nvPr/>
        </p:nvSpPr>
        <p:spPr bwMode="auto">
          <a:xfrm>
            <a:off x="476320" y="798729"/>
            <a:ext cx="8744589" cy="6001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2C37"/>
                </a:solidFill>
                <a:effectLst/>
                <a:latin typeface="Roboto" panose="02000000000000000000" pitchFamily="2" charset="0"/>
              </a:rPr>
              <a:t>1. What is the difference between a primary key and a unique key?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A3A3A"/>
                </a:solidFill>
                <a:effectLst/>
                <a:latin typeface="Roboto" panose="02000000000000000000" pitchFamily="2" charset="0"/>
              </a:rPr>
              <a:t>A Primary Key uniquely identifies each record in a table and cannot be NULL, whereas a Unique Key ensures uniqueness but allows one NULL value.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EC8631-673F-DC0A-8840-8075314282F2}"/>
              </a:ext>
            </a:extLst>
          </p:cNvPr>
          <p:cNvSpPr txBox="1"/>
          <p:nvPr/>
        </p:nvSpPr>
        <p:spPr>
          <a:xfrm>
            <a:off x="388961" y="374987"/>
            <a:ext cx="8918811"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 What is the difference Between WHERE Clause and the HAVING Clause</a:t>
            </a:r>
          </a:p>
          <a:p>
            <a:pPr algn="just">
              <a:lnSpc>
                <a:spcPts val="2100"/>
              </a:lnSpc>
              <a:spcBef>
                <a:spcPts val="1650"/>
              </a:spcBef>
              <a:buNone/>
            </a:pPr>
            <a:r>
              <a:rPr lang="en-US" b="0" i="0" dirty="0">
                <a:solidFill>
                  <a:srgbClr val="3A3A3A"/>
                </a:solidFill>
                <a:effectLst/>
                <a:latin typeface="Roboto" panose="02000000000000000000" pitchFamily="2" charset="0"/>
              </a:rPr>
              <a:t>The WHERE clause filters rows before grouping, while HAVING filters grouped data after aggregation.</a:t>
            </a:r>
          </a:p>
        </p:txBody>
      </p:sp>
      <p:graphicFrame>
        <p:nvGraphicFramePr>
          <p:cNvPr id="4" name="Table 3">
            <a:extLst>
              <a:ext uri="{FF2B5EF4-FFF2-40B4-BE49-F238E27FC236}">
                <a16:creationId xmlns:a16="http://schemas.microsoft.com/office/drawing/2014/main" id="{01C8A787-1BF8-16D7-E249-F46D3DDA9B7B}"/>
              </a:ext>
            </a:extLst>
          </p:cNvPr>
          <p:cNvGraphicFramePr>
            <a:graphicFrameLocks noGrp="1"/>
          </p:cNvGraphicFramePr>
          <p:nvPr/>
        </p:nvGraphicFramePr>
        <p:xfrm>
          <a:off x="681038" y="2142014"/>
          <a:ext cx="8543925" cy="3718560"/>
        </p:xfrm>
        <a:graphic>
          <a:graphicData uri="http://schemas.openxmlformats.org/drawingml/2006/table">
            <a:tbl>
              <a:tblPr/>
              <a:tblGrid>
                <a:gridCol w="2847975">
                  <a:extLst>
                    <a:ext uri="{9D8B030D-6E8A-4147-A177-3AD203B41FA5}">
                      <a16:colId xmlns:a16="http://schemas.microsoft.com/office/drawing/2014/main" val="968221648"/>
                    </a:ext>
                  </a:extLst>
                </a:gridCol>
                <a:gridCol w="2847975">
                  <a:extLst>
                    <a:ext uri="{9D8B030D-6E8A-4147-A177-3AD203B41FA5}">
                      <a16:colId xmlns:a16="http://schemas.microsoft.com/office/drawing/2014/main" val="3368418221"/>
                    </a:ext>
                  </a:extLst>
                </a:gridCol>
                <a:gridCol w="2847975">
                  <a:extLst>
                    <a:ext uri="{9D8B030D-6E8A-4147-A177-3AD203B41FA5}">
                      <a16:colId xmlns:a16="http://schemas.microsoft.com/office/drawing/2014/main" val="445543568"/>
                    </a:ext>
                  </a:extLst>
                </a:gridCol>
              </a:tblGrid>
              <a:tr h="0">
                <a:tc>
                  <a:txBody>
                    <a:bodyPr/>
                    <a:lstStyle/>
                    <a:p>
                      <a:pPr algn="ctr" fontAlgn="t">
                        <a:buNone/>
                      </a:pPr>
                      <a:r>
                        <a:rPr lang="en-US" b="0">
                          <a:solidFill>
                            <a:srgbClr val="FFFFFF"/>
                          </a:solidFill>
                          <a:effectLst/>
                        </a:rPr>
                        <a:t>Aspect</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WHERE Clause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HAVING Clause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109647793"/>
                  </a:ext>
                </a:extLst>
              </a:tr>
              <a:tr h="426720">
                <a:tc>
                  <a:txBody>
                    <a:bodyPr/>
                    <a:lstStyle/>
                    <a:p>
                      <a:pPr fontAlgn="t">
                        <a:buNone/>
                      </a:pPr>
                      <a:r>
                        <a:rPr lang="en-US" b="0">
                          <a:effectLst/>
                        </a:rPr>
                        <a:t>Purpose</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Filters rows before grouping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Filters groups after grouping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77300554"/>
                  </a:ext>
                </a:extLst>
              </a:tr>
              <a:tr h="426720">
                <a:tc>
                  <a:txBody>
                    <a:bodyPr/>
                    <a:lstStyle/>
                    <a:p>
                      <a:pPr fontAlgn="t">
                        <a:buNone/>
                      </a:pPr>
                      <a:r>
                        <a:rPr lang="en-US" b="0">
                          <a:effectLst/>
                        </a:rPr>
                        <a:t>Used With</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SELECT, UPDATE, DELETE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Only with SELECT (usually with GROUP BY)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03226912"/>
                  </a:ext>
                </a:extLst>
              </a:tr>
              <a:tr h="213360">
                <a:tc>
                  <a:txBody>
                    <a:bodyPr/>
                    <a:lstStyle/>
                    <a:p>
                      <a:pPr fontAlgn="t">
                        <a:buNone/>
                      </a:pPr>
                      <a:r>
                        <a:rPr lang="en-US" b="0">
                          <a:effectLst/>
                        </a:rPr>
                        <a:t>Works On</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Individual rows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Aggregate/grouped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79092553"/>
                  </a:ext>
                </a:extLst>
              </a:tr>
              <a:tr h="426720">
                <a:tc>
                  <a:txBody>
                    <a:bodyPr/>
                    <a:lstStyle/>
                    <a:p>
                      <a:pPr fontAlgn="t">
                        <a:buNone/>
                      </a:pPr>
                      <a:r>
                        <a:rPr lang="en-US" b="0">
                          <a:effectLst/>
                        </a:rPr>
                        <a:t>Aggregate Functions</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Cannot be used with aggregate functions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Can be used with aggregate functions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743276999"/>
                  </a:ext>
                </a:extLst>
              </a:tr>
              <a:tr h="426720">
                <a:tc>
                  <a:txBody>
                    <a:bodyPr/>
                    <a:lstStyle/>
                    <a:p>
                      <a:pPr fontAlgn="t">
                        <a:buNone/>
                      </a:pPr>
                      <a:r>
                        <a:rPr lang="en-US" b="0">
                          <a:effectLst/>
                        </a:rPr>
                        <a:t>Execution Order</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Evaluated before GROUP BY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Evaluated after GROUP BY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5106225"/>
                  </a:ext>
                </a:extLst>
              </a:tr>
              <a:tr h="426720">
                <a:tc>
                  <a:txBody>
                    <a:bodyPr/>
                    <a:lstStyle/>
                    <a:p>
                      <a:pPr fontAlgn="t">
                        <a:buNone/>
                      </a:pPr>
                      <a:r>
                        <a:rPr lang="en-US" b="0">
                          <a:effectLst/>
                        </a:rPr>
                        <a:t>Example</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WHERE salary &gt; 50000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HAVING COUNT(*) &gt; 3</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75815008"/>
                  </a:ext>
                </a:extLst>
              </a:tr>
            </a:tbl>
          </a:graphicData>
        </a:graphic>
      </p:graphicFrame>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2490F8-5DB6-80F0-4105-EE6CEECAFDD8}"/>
              </a:ext>
            </a:extLst>
          </p:cNvPr>
          <p:cNvSpPr txBox="1"/>
          <p:nvPr/>
        </p:nvSpPr>
        <p:spPr>
          <a:xfrm>
            <a:off x="327546" y="414072"/>
            <a:ext cx="8925636" cy="60298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 What are DDL, DML, DCL, TCL, and DQL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DDL: </a:t>
            </a:r>
            <a:r>
              <a:rPr lang="en-US" b="0" i="0" u="none" strike="noStrike" dirty="0">
                <a:solidFill>
                  <a:srgbClr val="0F5A9E"/>
                </a:solidFill>
                <a:effectLst/>
                <a:latin typeface="Roboto" panose="02000000000000000000" pitchFamily="2" charset="0"/>
                <a:hlinkClick r:id="rId2"/>
              </a:rPr>
              <a:t>Data Definition Language</a:t>
            </a:r>
            <a:r>
              <a:rPr lang="en-US" b="0" i="0" dirty="0">
                <a:solidFill>
                  <a:srgbClr val="3A3A3A"/>
                </a:solidFill>
                <a:effectLst/>
                <a:latin typeface="Roboto" panose="02000000000000000000" pitchFamily="2" charset="0"/>
              </a:rPr>
              <a:t> is used to create, modify, and drop the schema of database objects. CREATE, ALTER TABLE, DROP, TRUNCATE, and ADD COLUMN are DDL commands.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DML: Data Manipulation Language allows for changing or manipulating the existing data of the tables. UPDATE, DELETE, and INSERT are DML commands.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DCL: </a:t>
            </a:r>
            <a:r>
              <a:rPr lang="en-US" b="0" i="0" u="none" strike="noStrike" dirty="0">
                <a:solidFill>
                  <a:srgbClr val="0F5A9E"/>
                </a:solidFill>
                <a:effectLst/>
                <a:latin typeface="Roboto" panose="02000000000000000000" pitchFamily="2" charset="0"/>
                <a:hlinkClick r:id="rId3"/>
              </a:rPr>
              <a:t>Data Control Language</a:t>
            </a:r>
            <a:r>
              <a:rPr lang="en-US" b="0" i="0" dirty="0">
                <a:solidFill>
                  <a:srgbClr val="3A3A3A"/>
                </a:solidFill>
                <a:effectLst/>
                <a:latin typeface="Roboto" panose="02000000000000000000" pitchFamily="2" charset="0"/>
              </a:rPr>
              <a:t> allows the administrator of the database to manage the rights and permissions of the users in the database. GRANT and </a:t>
            </a:r>
            <a:r>
              <a:rPr lang="en-US" b="0" i="0" u="none" strike="noStrike" dirty="0">
                <a:solidFill>
                  <a:srgbClr val="0F5A9E"/>
                </a:solidFill>
                <a:effectLst/>
                <a:latin typeface="Roboto" panose="02000000000000000000" pitchFamily="2" charset="0"/>
                <a:hlinkClick r:id="rId4"/>
              </a:rPr>
              <a:t>REVOKE</a:t>
            </a:r>
            <a:r>
              <a:rPr lang="en-US" b="0" i="0" dirty="0">
                <a:solidFill>
                  <a:srgbClr val="3A3A3A"/>
                </a:solidFill>
                <a:effectLst/>
                <a:latin typeface="Roboto" panose="02000000000000000000" pitchFamily="2" charset="0"/>
              </a:rPr>
              <a:t> are DCL commands.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TCL: </a:t>
            </a:r>
            <a:r>
              <a:rPr lang="en-US" b="0" i="0" u="none" strike="noStrike" dirty="0">
                <a:solidFill>
                  <a:srgbClr val="0F5A9E"/>
                </a:solidFill>
                <a:effectLst/>
                <a:latin typeface="Roboto" panose="02000000000000000000" pitchFamily="2" charset="0"/>
                <a:hlinkClick r:id="rId5"/>
              </a:rPr>
              <a:t>Transaction Control Language</a:t>
            </a:r>
            <a:r>
              <a:rPr lang="en-US" b="0" i="0" dirty="0">
                <a:solidFill>
                  <a:srgbClr val="3A3A3A"/>
                </a:solidFill>
                <a:effectLst/>
                <a:latin typeface="Roboto" panose="02000000000000000000" pitchFamily="2" charset="0"/>
              </a:rPr>
              <a:t> is used to maintain the SQL operations within the database. It also allows the changes to be saved, which are made by the DML commands. COMMIT, SET TRANSACTION, ROLLBACK, and SAVEPOINT are examples of TCL commands.</a:t>
            </a:r>
          </a:p>
          <a:p>
            <a:pPr algn="just">
              <a:lnSpc>
                <a:spcPts val="2100"/>
              </a:lnSpc>
              <a:spcBef>
                <a:spcPts val="1650"/>
              </a:spcBef>
              <a:spcAft>
                <a:spcPts val="600"/>
              </a:spcAft>
              <a:buFont typeface="+mj-lt"/>
              <a:buAutoNum type="arabicPeriod"/>
            </a:pPr>
            <a:r>
              <a:rPr lang="en-US" b="0" i="0" dirty="0">
                <a:solidFill>
                  <a:srgbClr val="3A3A3A"/>
                </a:solidFill>
                <a:effectLst/>
                <a:latin typeface="Roboto" panose="02000000000000000000" pitchFamily="2" charset="0"/>
              </a:rPr>
              <a:t>DQL: Data Query Language is used to retrieve data from databases using the SELECT statement.</a:t>
            </a:r>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F302E7-1678-D76D-9D59-BB83D5A5D8CC}"/>
              </a:ext>
            </a:extLst>
          </p:cNvPr>
          <p:cNvSpPr txBox="1"/>
          <p:nvPr/>
        </p:nvSpPr>
        <p:spPr>
          <a:xfrm>
            <a:off x="320722" y="318570"/>
            <a:ext cx="9164471"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What is the difference between the Drop vs Delete commands?</a:t>
            </a:r>
          </a:p>
          <a:p>
            <a:pPr algn="just">
              <a:lnSpc>
                <a:spcPts val="2100"/>
              </a:lnSpc>
              <a:spcBef>
                <a:spcPts val="1650"/>
              </a:spcBef>
              <a:buNone/>
            </a:pPr>
            <a:r>
              <a:rPr lang="en-US" b="0" i="0" dirty="0">
                <a:solidFill>
                  <a:srgbClr val="3A3A3A"/>
                </a:solidFill>
                <a:effectLst/>
                <a:latin typeface="Roboto" panose="02000000000000000000" pitchFamily="2" charset="0"/>
              </a:rPr>
              <a:t>DELETE removes rows from a table, while DROP removes the entire table structure permanently.</a:t>
            </a:r>
          </a:p>
        </p:txBody>
      </p:sp>
      <p:graphicFrame>
        <p:nvGraphicFramePr>
          <p:cNvPr id="4" name="Table 3">
            <a:extLst>
              <a:ext uri="{FF2B5EF4-FFF2-40B4-BE49-F238E27FC236}">
                <a16:creationId xmlns:a16="http://schemas.microsoft.com/office/drawing/2014/main" id="{D1798C6C-EE9D-05BF-BCFB-60530E5E8D0D}"/>
              </a:ext>
            </a:extLst>
          </p:cNvPr>
          <p:cNvGraphicFramePr>
            <a:graphicFrameLocks noGrp="1"/>
          </p:cNvGraphicFramePr>
          <p:nvPr>
            <p:extLst>
              <p:ext uri="{D42A27DB-BD31-4B8C-83A1-F6EECF244321}">
                <p14:modId xmlns:p14="http://schemas.microsoft.com/office/powerpoint/2010/main" val="829245655"/>
              </p:ext>
            </p:extLst>
          </p:nvPr>
        </p:nvGraphicFramePr>
        <p:xfrm>
          <a:off x="517265" y="1935253"/>
          <a:ext cx="8543925" cy="2727275"/>
        </p:xfrm>
        <a:graphic>
          <a:graphicData uri="http://schemas.openxmlformats.org/drawingml/2006/table">
            <a:tbl>
              <a:tblPr/>
              <a:tblGrid>
                <a:gridCol w="2847975">
                  <a:extLst>
                    <a:ext uri="{9D8B030D-6E8A-4147-A177-3AD203B41FA5}">
                      <a16:colId xmlns:a16="http://schemas.microsoft.com/office/drawing/2014/main" val="373226628"/>
                    </a:ext>
                  </a:extLst>
                </a:gridCol>
                <a:gridCol w="2847975">
                  <a:extLst>
                    <a:ext uri="{9D8B030D-6E8A-4147-A177-3AD203B41FA5}">
                      <a16:colId xmlns:a16="http://schemas.microsoft.com/office/drawing/2014/main" val="2120321652"/>
                    </a:ext>
                  </a:extLst>
                </a:gridCol>
                <a:gridCol w="2847975">
                  <a:extLst>
                    <a:ext uri="{9D8B030D-6E8A-4147-A177-3AD203B41FA5}">
                      <a16:colId xmlns:a16="http://schemas.microsoft.com/office/drawing/2014/main" val="1570917238"/>
                    </a:ext>
                  </a:extLst>
                </a:gridCol>
              </a:tblGrid>
              <a:tr h="624155">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DELETE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DROP</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390332721"/>
                  </a:ext>
                </a:extLst>
              </a:tr>
              <a:tr h="0">
                <a:tc>
                  <a:txBody>
                    <a:bodyPr/>
                    <a:lstStyle/>
                    <a:p>
                      <a:pPr fontAlgn="t">
                        <a:buNone/>
                      </a:pPr>
                      <a:r>
                        <a:rPr lang="en-US">
                          <a:effectLst/>
                        </a:rPr>
                        <a:t>Removes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84399059"/>
                  </a:ext>
                </a:extLst>
              </a:tr>
              <a:tr h="0">
                <a:tc>
                  <a:txBody>
                    <a:bodyPr/>
                    <a:lstStyle/>
                    <a:p>
                      <a:pPr fontAlgn="t">
                        <a:buNone/>
                      </a:pPr>
                      <a:r>
                        <a:rPr lang="en-US">
                          <a:effectLst/>
                        </a:rPr>
                        <a:t>Removes Structure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25021388"/>
                  </a:ext>
                </a:extLst>
              </a:tr>
              <a:tr h="0">
                <a:tc>
                  <a:txBody>
                    <a:bodyPr/>
                    <a:lstStyle/>
                    <a:p>
                      <a:pPr fontAlgn="t">
                        <a:buNone/>
                      </a:pPr>
                      <a:r>
                        <a:rPr lang="en-US">
                          <a:effectLst/>
                        </a:rPr>
                        <a:t>WHERE Clause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40376369"/>
                  </a:ext>
                </a:extLst>
              </a:tr>
              <a:tr h="0">
                <a:tc>
                  <a:txBody>
                    <a:bodyPr/>
                    <a:lstStyle/>
                    <a:p>
                      <a:pPr fontAlgn="t">
                        <a:buNone/>
                      </a:pPr>
                      <a:r>
                        <a:rPr lang="en-US">
                          <a:effectLst/>
                        </a:rPr>
                        <a:t>Rollback Possible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 (with transaction)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833885775"/>
                  </a:ext>
                </a:extLst>
              </a:tr>
              <a:tr h="0">
                <a:tc>
                  <a:txBody>
                    <a:bodyPr/>
                    <a:lstStyle/>
                    <a:p>
                      <a:pPr fontAlgn="t">
                        <a:buNone/>
                      </a:pPr>
                      <a:r>
                        <a:rPr lang="en-US">
                          <a:effectLst/>
                        </a:rPr>
                        <a:t>Use Case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Delete specific records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Remove the table completely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54643739"/>
                  </a:ext>
                </a:extLst>
              </a:tr>
            </a:tbl>
          </a:graphicData>
        </a:graphic>
      </p:graphicFrame>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695CCA-8DBC-6E34-3384-1E18110A2461}"/>
              </a:ext>
            </a:extLst>
          </p:cNvPr>
          <p:cNvSpPr txBox="1"/>
          <p:nvPr/>
        </p:nvSpPr>
        <p:spPr>
          <a:xfrm>
            <a:off x="225188" y="346446"/>
            <a:ext cx="9478369" cy="3616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What is the difference between </a:t>
            </a:r>
            <a:r>
              <a:rPr lang="en-US" b="0" i="0" dirty="0" err="1">
                <a:solidFill>
                  <a:srgbClr val="272C37"/>
                </a:solidFill>
                <a:effectLst/>
                <a:latin typeface="Roboto" panose="02000000000000000000" pitchFamily="2" charset="0"/>
              </a:rPr>
              <a:t>BETWEEN</a:t>
            </a:r>
            <a:r>
              <a:rPr lang="en-US" b="0" i="0" dirty="0">
                <a:solidFill>
                  <a:srgbClr val="272C37"/>
                </a:solidFill>
                <a:effectLst/>
                <a:latin typeface="Roboto" panose="02000000000000000000" pitchFamily="2" charset="0"/>
              </a:rPr>
              <a:t> and IN Operators</a:t>
            </a:r>
          </a:p>
        </p:txBody>
      </p:sp>
      <p:graphicFrame>
        <p:nvGraphicFramePr>
          <p:cNvPr id="4" name="Table 3">
            <a:extLst>
              <a:ext uri="{FF2B5EF4-FFF2-40B4-BE49-F238E27FC236}">
                <a16:creationId xmlns:a16="http://schemas.microsoft.com/office/drawing/2014/main" id="{DC4073FB-6B3C-CFB3-FD86-DD1D94F56D0A}"/>
              </a:ext>
            </a:extLst>
          </p:cNvPr>
          <p:cNvGraphicFramePr>
            <a:graphicFrameLocks noGrp="1"/>
          </p:cNvGraphicFramePr>
          <p:nvPr>
            <p:extLst>
              <p:ext uri="{D42A27DB-BD31-4B8C-83A1-F6EECF244321}">
                <p14:modId xmlns:p14="http://schemas.microsoft.com/office/powerpoint/2010/main" val="3370129865"/>
              </p:ext>
            </p:extLst>
          </p:nvPr>
        </p:nvGraphicFramePr>
        <p:xfrm>
          <a:off x="571856" y="2002579"/>
          <a:ext cx="8543925" cy="2468880"/>
        </p:xfrm>
        <a:graphic>
          <a:graphicData uri="http://schemas.openxmlformats.org/drawingml/2006/table">
            <a:tbl>
              <a:tblPr/>
              <a:tblGrid>
                <a:gridCol w="2847975">
                  <a:extLst>
                    <a:ext uri="{9D8B030D-6E8A-4147-A177-3AD203B41FA5}">
                      <a16:colId xmlns:a16="http://schemas.microsoft.com/office/drawing/2014/main" val="2937377016"/>
                    </a:ext>
                  </a:extLst>
                </a:gridCol>
                <a:gridCol w="2847975">
                  <a:extLst>
                    <a:ext uri="{9D8B030D-6E8A-4147-A177-3AD203B41FA5}">
                      <a16:colId xmlns:a16="http://schemas.microsoft.com/office/drawing/2014/main" val="2575336184"/>
                    </a:ext>
                  </a:extLst>
                </a:gridCol>
                <a:gridCol w="2847975">
                  <a:extLst>
                    <a:ext uri="{9D8B030D-6E8A-4147-A177-3AD203B41FA5}">
                      <a16:colId xmlns:a16="http://schemas.microsoft.com/office/drawing/2014/main" val="2177654895"/>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BETWEEN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347650390"/>
                  </a:ext>
                </a:extLst>
              </a:tr>
              <a:tr h="0">
                <a:tc>
                  <a:txBody>
                    <a:bodyPr/>
                    <a:lstStyle/>
                    <a:p>
                      <a:pPr fontAlgn="t">
                        <a:buNone/>
                      </a:pPr>
                      <a:r>
                        <a:rPr lang="en-US">
                          <a:effectLst/>
                        </a:rPr>
                        <a:t>Type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Range-based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List-based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938359607"/>
                  </a:ext>
                </a:extLst>
              </a:tr>
              <a:tr h="0">
                <a:tc>
                  <a:txBody>
                    <a:bodyPr/>
                    <a:lstStyle/>
                    <a:p>
                      <a:pPr fontAlgn="t">
                        <a:buNone/>
                      </a:pPr>
                      <a:r>
                        <a:rPr lang="en-US">
                          <a:effectLst/>
                        </a:rPr>
                        <a:t>Inclusive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740891761"/>
                  </a:ext>
                </a:extLst>
              </a:tr>
              <a:tr h="0">
                <a:tc>
                  <a:txBody>
                    <a:bodyPr/>
                    <a:lstStyle/>
                    <a:p>
                      <a:pPr fontAlgn="t">
                        <a:buNone/>
                      </a:pPr>
                      <a:r>
                        <a:rPr lang="en-US">
                          <a:effectLst/>
                        </a:rPr>
                        <a:t>Readability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Best for ranges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Best for multiple values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7724048"/>
                  </a:ext>
                </a:extLst>
              </a:tr>
              <a:tr h="0">
                <a:tc>
                  <a:txBody>
                    <a:bodyPr/>
                    <a:lstStyle/>
                    <a:p>
                      <a:pPr fontAlgn="t">
                        <a:buNone/>
                      </a:pPr>
                      <a:r>
                        <a:rPr lang="en-US">
                          <a:effectLst/>
                        </a:rPr>
                        <a:t>Performance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Efficient for ranges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Efficient for lists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12057179"/>
                  </a:ext>
                </a:extLst>
              </a:tr>
              <a:tr h="0">
                <a:tc>
                  <a:txBody>
                    <a:bodyPr/>
                    <a:lstStyle/>
                    <a:p>
                      <a:pPr fontAlgn="t">
                        <a:buNone/>
                      </a:pPr>
                      <a:r>
                        <a:rPr lang="en-US">
                          <a:effectLst/>
                        </a:rPr>
                        <a:t>Example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Salary BETWEEN 10k AND 50k</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ID IN (1,2,3)</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7217035"/>
                  </a:ext>
                </a:extLst>
              </a:tr>
            </a:tbl>
          </a:graphicData>
        </a:graphic>
      </p:graphicFrame>
      <p:sp>
        <p:nvSpPr>
          <p:cNvPr id="6" name="TextBox 5">
            <a:extLst>
              <a:ext uri="{FF2B5EF4-FFF2-40B4-BE49-F238E27FC236}">
                <a16:creationId xmlns:a16="http://schemas.microsoft.com/office/drawing/2014/main" id="{DF1408CC-8417-680E-2D01-5331F21CC0D4}"/>
              </a:ext>
            </a:extLst>
          </p:cNvPr>
          <p:cNvSpPr txBox="1"/>
          <p:nvPr/>
        </p:nvSpPr>
        <p:spPr>
          <a:xfrm>
            <a:off x="470847" y="1091137"/>
            <a:ext cx="9082585" cy="369332"/>
          </a:xfrm>
          <a:prstGeom prst="rect">
            <a:avLst/>
          </a:prstGeom>
          <a:noFill/>
        </p:spPr>
        <p:txBody>
          <a:bodyPr wrap="square">
            <a:spAutoFit/>
          </a:bodyPr>
          <a:lstStyle/>
          <a:p>
            <a:r>
              <a:rPr lang="en-US" b="0" i="0" dirty="0">
                <a:solidFill>
                  <a:srgbClr val="3A3A3A"/>
                </a:solidFill>
                <a:effectLst/>
                <a:latin typeface="Roboto" panose="02000000000000000000" pitchFamily="2" charset="0"/>
              </a:rPr>
              <a:t>BETWEEN selects values within a range, while IN matches values from a specified list.</a:t>
            </a:r>
            <a:endParaRPr lang="en-US" dirty="0"/>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26D138-9E2A-B349-17D9-C08F79D47B30}"/>
              </a:ext>
            </a:extLst>
          </p:cNvPr>
          <p:cNvSpPr txBox="1"/>
          <p:nvPr/>
        </p:nvSpPr>
        <p:spPr>
          <a:xfrm>
            <a:off x="279778" y="427752"/>
            <a:ext cx="9000699"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What is the difference between UNION and UNION ALL</a:t>
            </a:r>
          </a:p>
          <a:p>
            <a:pPr algn="just">
              <a:lnSpc>
                <a:spcPts val="2100"/>
              </a:lnSpc>
              <a:spcBef>
                <a:spcPts val="1650"/>
              </a:spcBef>
              <a:buNone/>
            </a:pPr>
            <a:r>
              <a:rPr lang="en-US" b="0" i="0" dirty="0">
                <a:solidFill>
                  <a:srgbClr val="3A3A3A"/>
                </a:solidFill>
                <a:effectLst/>
                <a:latin typeface="Roboto" panose="02000000000000000000" pitchFamily="2" charset="0"/>
              </a:rPr>
              <a:t>UNION removes duplicate records, whereas UNION ALL includes all records, including duplicates.</a:t>
            </a:r>
          </a:p>
        </p:txBody>
      </p:sp>
      <p:graphicFrame>
        <p:nvGraphicFramePr>
          <p:cNvPr id="4" name="Table 3">
            <a:extLst>
              <a:ext uri="{FF2B5EF4-FFF2-40B4-BE49-F238E27FC236}">
                <a16:creationId xmlns:a16="http://schemas.microsoft.com/office/drawing/2014/main" id="{A2E4FB4E-BD73-B7D0-DEC3-A7FE761AF87A}"/>
              </a:ext>
            </a:extLst>
          </p:cNvPr>
          <p:cNvGraphicFramePr>
            <a:graphicFrameLocks noGrp="1"/>
          </p:cNvGraphicFramePr>
          <p:nvPr/>
        </p:nvGraphicFramePr>
        <p:xfrm>
          <a:off x="681038" y="2904014"/>
          <a:ext cx="8543925" cy="2194560"/>
        </p:xfrm>
        <a:graphic>
          <a:graphicData uri="http://schemas.openxmlformats.org/drawingml/2006/table">
            <a:tbl>
              <a:tblPr/>
              <a:tblGrid>
                <a:gridCol w="2847975">
                  <a:extLst>
                    <a:ext uri="{9D8B030D-6E8A-4147-A177-3AD203B41FA5}">
                      <a16:colId xmlns:a16="http://schemas.microsoft.com/office/drawing/2014/main" val="61168638"/>
                    </a:ext>
                  </a:extLst>
                </a:gridCol>
                <a:gridCol w="2847975">
                  <a:extLst>
                    <a:ext uri="{9D8B030D-6E8A-4147-A177-3AD203B41FA5}">
                      <a16:colId xmlns:a16="http://schemas.microsoft.com/office/drawing/2014/main" val="569711638"/>
                    </a:ext>
                  </a:extLst>
                </a:gridCol>
                <a:gridCol w="2847975">
                  <a:extLst>
                    <a:ext uri="{9D8B030D-6E8A-4147-A177-3AD203B41FA5}">
                      <a16:colId xmlns:a16="http://schemas.microsoft.com/office/drawing/2014/main" val="2122676501"/>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UNION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UNION ALL</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384035568"/>
                  </a:ext>
                </a:extLst>
              </a:tr>
              <a:tr h="0">
                <a:tc>
                  <a:txBody>
                    <a:bodyPr/>
                    <a:lstStyle/>
                    <a:p>
                      <a:pPr fontAlgn="t">
                        <a:buNone/>
                      </a:pPr>
                      <a:r>
                        <a:rPr lang="en-US">
                          <a:effectLst/>
                        </a:rPr>
                        <a:t>Duplicate Rows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Removed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Included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60737990"/>
                  </a:ext>
                </a:extLst>
              </a:tr>
              <a:tr h="0">
                <a:tc>
                  <a:txBody>
                    <a:bodyPr/>
                    <a:lstStyle/>
                    <a:p>
                      <a:pPr fontAlgn="t">
                        <a:buNone/>
                      </a:pPr>
                      <a:r>
                        <a:rPr lang="en-US">
                          <a:effectLst/>
                        </a:rPr>
                        <a:t>Performance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Slower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Faster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768900625"/>
                  </a:ext>
                </a:extLst>
              </a:tr>
              <a:tr h="0">
                <a:tc>
                  <a:txBody>
                    <a:bodyPr/>
                    <a:lstStyle/>
                    <a:p>
                      <a:pPr fontAlgn="t">
                        <a:buNone/>
                      </a:pPr>
                      <a:r>
                        <a:rPr lang="en-US">
                          <a:effectLst/>
                        </a:rPr>
                        <a:t>Sorting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Automatic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 sorting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42355877"/>
                  </a:ext>
                </a:extLst>
              </a:tr>
              <a:tr h="0">
                <a:tc>
                  <a:txBody>
                    <a:bodyPr/>
                    <a:lstStyle/>
                    <a:p>
                      <a:pPr fontAlgn="t">
                        <a:buNone/>
                      </a:pPr>
                      <a:r>
                        <a:rPr lang="en-US">
                          <a:effectLst/>
                        </a:rPr>
                        <a:t>Use Case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Clean, unique results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Large datasets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99612468"/>
                  </a:ext>
                </a:extLst>
              </a:tr>
              <a:tr h="0">
                <a:tc>
                  <a:txBody>
                    <a:bodyPr/>
                    <a:lstStyle/>
                    <a:p>
                      <a:pPr fontAlgn="t">
                        <a:buNone/>
                      </a:pPr>
                      <a:r>
                        <a:rPr lang="en-US">
                          <a:effectLst/>
                        </a:rPr>
                        <a:t>Data Accuracy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High</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Raw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72820106"/>
                  </a:ext>
                </a:extLst>
              </a:tr>
            </a:tbl>
          </a:graphicData>
        </a:graphic>
      </p:graphicFrame>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CD51E0-8927-558D-C7A7-86037B2F9447}"/>
              </a:ext>
            </a:extLst>
          </p:cNvPr>
          <p:cNvSpPr txBox="1"/>
          <p:nvPr/>
        </p:nvSpPr>
        <p:spPr>
          <a:xfrm>
            <a:off x="429903" y="320396"/>
            <a:ext cx="9328245"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What is the difference between SQL and NoSQL Databases</a:t>
            </a:r>
          </a:p>
          <a:p>
            <a:pPr algn="just">
              <a:lnSpc>
                <a:spcPts val="2100"/>
              </a:lnSpc>
              <a:spcBef>
                <a:spcPts val="1650"/>
              </a:spcBef>
              <a:buNone/>
            </a:pPr>
            <a:r>
              <a:rPr lang="en-US" b="0" i="0" dirty="0">
                <a:solidFill>
                  <a:srgbClr val="3A3A3A"/>
                </a:solidFill>
                <a:effectLst/>
                <a:latin typeface="Roboto" panose="02000000000000000000" pitchFamily="2" charset="0"/>
              </a:rPr>
              <a:t>SQL databases are relational, table-based, and schema-driven, while NoSQL databases are non-relational, schema-flexible, and designed for high scalability.</a:t>
            </a:r>
          </a:p>
        </p:txBody>
      </p:sp>
      <p:graphicFrame>
        <p:nvGraphicFramePr>
          <p:cNvPr id="4" name="Table 3">
            <a:extLst>
              <a:ext uri="{FF2B5EF4-FFF2-40B4-BE49-F238E27FC236}">
                <a16:creationId xmlns:a16="http://schemas.microsoft.com/office/drawing/2014/main" id="{F8C37E1A-C633-B0E6-BB1F-EC38A1368D06}"/>
              </a:ext>
            </a:extLst>
          </p:cNvPr>
          <p:cNvGraphicFramePr>
            <a:graphicFrameLocks noGrp="1"/>
          </p:cNvGraphicFramePr>
          <p:nvPr>
            <p:extLst>
              <p:ext uri="{D42A27DB-BD31-4B8C-83A1-F6EECF244321}">
                <p14:modId xmlns:p14="http://schemas.microsoft.com/office/powerpoint/2010/main" val="2719201001"/>
              </p:ext>
            </p:extLst>
          </p:nvPr>
        </p:nvGraphicFramePr>
        <p:xfrm>
          <a:off x="681037" y="2070818"/>
          <a:ext cx="8543925" cy="2468880"/>
        </p:xfrm>
        <a:graphic>
          <a:graphicData uri="http://schemas.openxmlformats.org/drawingml/2006/table">
            <a:tbl>
              <a:tblPr/>
              <a:tblGrid>
                <a:gridCol w="2847975">
                  <a:extLst>
                    <a:ext uri="{9D8B030D-6E8A-4147-A177-3AD203B41FA5}">
                      <a16:colId xmlns:a16="http://schemas.microsoft.com/office/drawing/2014/main" val="1322251310"/>
                    </a:ext>
                  </a:extLst>
                </a:gridCol>
                <a:gridCol w="2847975">
                  <a:extLst>
                    <a:ext uri="{9D8B030D-6E8A-4147-A177-3AD203B41FA5}">
                      <a16:colId xmlns:a16="http://schemas.microsoft.com/office/drawing/2014/main" val="239039719"/>
                    </a:ext>
                  </a:extLst>
                </a:gridCol>
                <a:gridCol w="2847975">
                  <a:extLst>
                    <a:ext uri="{9D8B030D-6E8A-4147-A177-3AD203B41FA5}">
                      <a16:colId xmlns:a16="http://schemas.microsoft.com/office/drawing/2014/main" val="4237577493"/>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SQL Databases</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NoSQL Databases</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271346298"/>
                  </a:ext>
                </a:extLst>
              </a:tr>
              <a:tr h="0">
                <a:tc>
                  <a:txBody>
                    <a:bodyPr/>
                    <a:lstStyle/>
                    <a:p>
                      <a:pPr fontAlgn="t">
                        <a:buNone/>
                      </a:pPr>
                      <a:r>
                        <a:rPr lang="en-US">
                          <a:effectLst/>
                        </a:rPr>
                        <a:t>Data Structure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Tables (rows &amp; columns)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Documents, Key-Value, Graph</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54911092"/>
                  </a:ext>
                </a:extLst>
              </a:tr>
              <a:tr h="0">
                <a:tc>
                  <a:txBody>
                    <a:bodyPr/>
                    <a:lstStyle/>
                    <a:p>
                      <a:pPr fontAlgn="t">
                        <a:buNone/>
                      </a:pPr>
                      <a:r>
                        <a:rPr lang="en-US">
                          <a:effectLst/>
                        </a:rPr>
                        <a:t>Schema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Fixed schema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Dynamic schema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069259831"/>
                  </a:ext>
                </a:extLst>
              </a:tr>
              <a:tr h="0">
                <a:tc>
                  <a:txBody>
                    <a:bodyPr/>
                    <a:lstStyle/>
                    <a:p>
                      <a:pPr fontAlgn="t">
                        <a:buNone/>
                      </a:pPr>
                      <a:r>
                        <a:rPr lang="en-US">
                          <a:effectLst/>
                        </a:rPr>
                        <a:t>Scalability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Vertical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Horizontal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28965851"/>
                  </a:ext>
                </a:extLst>
              </a:tr>
              <a:tr h="0">
                <a:tc>
                  <a:txBody>
                    <a:bodyPr/>
                    <a:lstStyle/>
                    <a:p>
                      <a:pPr fontAlgn="t">
                        <a:buNone/>
                      </a:pPr>
                      <a:r>
                        <a:rPr lang="en-US">
                          <a:effectLst/>
                        </a:rPr>
                        <a:t>ACID Compliance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Fully 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Limited / Eventual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09427184"/>
                  </a:ext>
                </a:extLst>
              </a:tr>
              <a:tr h="0">
                <a:tc>
                  <a:txBody>
                    <a:bodyPr/>
                    <a:lstStyle/>
                    <a:p>
                      <a:pPr fontAlgn="t">
                        <a:buNone/>
                      </a:pPr>
                      <a:r>
                        <a:rPr lang="en-US">
                          <a:effectLst/>
                        </a:rPr>
                        <a:t>Use Case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Complex queries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Big data, real-time apps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413258348"/>
                  </a:ext>
                </a:extLst>
              </a:tr>
            </a:tbl>
          </a:graphicData>
        </a:graphic>
      </p:graphicFrame>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DAD4F5-92DC-0C86-3164-A9818BFD85EA}"/>
              </a:ext>
            </a:extLst>
          </p:cNvPr>
          <p:cNvSpPr txBox="1"/>
          <p:nvPr/>
        </p:nvSpPr>
        <p:spPr>
          <a:xfrm>
            <a:off x="375313" y="223036"/>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What is the difference between SQL and PL/SQL</a:t>
            </a:r>
          </a:p>
          <a:p>
            <a:pPr algn="just">
              <a:lnSpc>
                <a:spcPts val="2100"/>
              </a:lnSpc>
              <a:spcBef>
                <a:spcPts val="1650"/>
              </a:spcBef>
              <a:buNone/>
            </a:pPr>
            <a:r>
              <a:rPr lang="en-US" b="0" i="0" dirty="0">
                <a:solidFill>
                  <a:srgbClr val="3A3A3A"/>
                </a:solidFill>
                <a:effectLst/>
                <a:latin typeface="Roboto" panose="02000000000000000000" pitchFamily="2" charset="0"/>
              </a:rPr>
              <a:t>SQL is used to query and manage data, whereas PL/SQL adds procedural capabilities like loops, conditions, and exception handling.</a:t>
            </a:r>
          </a:p>
        </p:txBody>
      </p:sp>
      <p:graphicFrame>
        <p:nvGraphicFramePr>
          <p:cNvPr id="4" name="Table 3">
            <a:extLst>
              <a:ext uri="{FF2B5EF4-FFF2-40B4-BE49-F238E27FC236}">
                <a16:creationId xmlns:a16="http://schemas.microsoft.com/office/drawing/2014/main" id="{56D38B25-3F93-16A9-6315-0721D97A98A5}"/>
              </a:ext>
            </a:extLst>
          </p:cNvPr>
          <p:cNvGraphicFramePr>
            <a:graphicFrameLocks noGrp="1"/>
          </p:cNvGraphicFramePr>
          <p:nvPr/>
        </p:nvGraphicFramePr>
        <p:xfrm>
          <a:off x="681038" y="2904014"/>
          <a:ext cx="8543925" cy="2194560"/>
        </p:xfrm>
        <a:graphic>
          <a:graphicData uri="http://schemas.openxmlformats.org/drawingml/2006/table">
            <a:tbl>
              <a:tblPr/>
              <a:tblGrid>
                <a:gridCol w="2847975">
                  <a:extLst>
                    <a:ext uri="{9D8B030D-6E8A-4147-A177-3AD203B41FA5}">
                      <a16:colId xmlns:a16="http://schemas.microsoft.com/office/drawing/2014/main" val="733117686"/>
                    </a:ext>
                  </a:extLst>
                </a:gridCol>
                <a:gridCol w="2847975">
                  <a:extLst>
                    <a:ext uri="{9D8B030D-6E8A-4147-A177-3AD203B41FA5}">
                      <a16:colId xmlns:a16="http://schemas.microsoft.com/office/drawing/2014/main" val="1504514658"/>
                    </a:ext>
                  </a:extLst>
                </a:gridCol>
                <a:gridCol w="2847975">
                  <a:extLst>
                    <a:ext uri="{9D8B030D-6E8A-4147-A177-3AD203B41FA5}">
                      <a16:colId xmlns:a16="http://schemas.microsoft.com/office/drawing/2014/main" val="1789364539"/>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SQL</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PL/SQL</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534906665"/>
                  </a:ext>
                </a:extLst>
              </a:tr>
              <a:tr h="0">
                <a:tc>
                  <a:txBody>
                    <a:bodyPr/>
                    <a:lstStyle/>
                    <a:p>
                      <a:pPr fontAlgn="t">
                        <a:buNone/>
                      </a:pPr>
                      <a:r>
                        <a:rPr lang="en-US">
                          <a:effectLst/>
                        </a:rPr>
                        <a:t>Type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Query language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Procedural extension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88983731"/>
                  </a:ext>
                </a:extLst>
              </a:tr>
              <a:tr h="0">
                <a:tc>
                  <a:txBody>
                    <a:bodyPr/>
                    <a:lstStyle/>
                    <a:p>
                      <a:pPr fontAlgn="t">
                        <a:buNone/>
                      </a:pPr>
                      <a:r>
                        <a:rPr lang="en-US">
                          <a:effectLst/>
                        </a:rPr>
                        <a:t>Control Structures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49171258"/>
                  </a:ext>
                </a:extLst>
              </a:tr>
              <a:tr h="0">
                <a:tc>
                  <a:txBody>
                    <a:bodyPr/>
                    <a:lstStyle/>
                    <a:p>
                      <a:pPr fontAlgn="t">
                        <a:buNone/>
                      </a:pPr>
                      <a:r>
                        <a:rPr lang="en-US">
                          <a:effectLst/>
                        </a:rPr>
                        <a:t>Execution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One statement at a time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Block execution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286055679"/>
                  </a:ext>
                </a:extLst>
              </a:tr>
              <a:tr h="0">
                <a:tc>
                  <a:txBody>
                    <a:bodyPr/>
                    <a:lstStyle/>
                    <a:p>
                      <a:pPr fontAlgn="t">
                        <a:buNone/>
                      </a:pPr>
                      <a:r>
                        <a:rPr lang="en-US">
                          <a:effectLst/>
                        </a:rPr>
                        <a:t>Error Handling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Limited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Advanced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37344743"/>
                  </a:ext>
                </a:extLst>
              </a:tr>
              <a:tr h="0">
                <a:tc>
                  <a:txBody>
                    <a:bodyPr/>
                    <a:lstStyle/>
                    <a:p>
                      <a:pPr fontAlgn="t">
                        <a:buNone/>
                      </a:pPr>
                      <a:r>
                        <a:rPr lang="en-US">
                          <a:effectLst/>
                        </a:rPr>
                        <a:t>Usage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Data manipulation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Business logic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60415015"/>
                  </a:ext>
                </a:extLst>
              </a:tr>
            </a:tbl>
          </a:graphicData>
        </a:graphic>
      </p:graphicFrame>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A4A21E-0726-7B11-9BF6-1E3824F3CC37}"/>
              </a:ext>
            </a:extLst>
          </p:cNvPr>
          <p:cNvSpPr txBox="1"/>
          <p:nvPr/>
        </p:nvSpPr>
        <p:spPr>
          <a:xfrm>
            <a:off x="0" y="182093"/>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What is the difference between On-Premise SQL and Cloud SQL</a:t>
            </a:r>
          </a:p>
          <a:p>
            <a:pPr algn="just">
              <a:lnSpc>
                <a:spcPts val="2100"/>
              </a:lnSpc>
              <a:spcBef>
                <a:spcPts val="1650"/>
              </a:spcBef>
              <a:buNone/>
            </a:pPr>
            <a:r>
              <a:rPr lang="en-US" b="0" i="0" dirty="0">
                <a:solidFill>
                  <a:srgbClr val="3A3A3A"/>
                </a:solidFill>
                <a:effectLst/>
                <a:latin typeface="Roboto" panose="02000000000000000000" pitchFamily="2" charset="0"/>
              </a:rPr>
              <a:t>On-premise SQL runs on local infrastructure, while Cloud SQL is managed, scalable, and hosted on cloud platforms.</a:t>
            </a:r>
          </a:p>
        </p:txBody>
      </p:sp>
      <p:graphicFrame>
        <p:nvGraphicFramePr>
          <p:cNvPr id="4" name="Table 3">
            <a:extLst>
              <a:ext uri="{FF2B5EF4-FFF2-40B4-BE49-F238E27FC236}">
                <a16:creationId xmlns:a16="http://schemas.microsoft.com/office/drawing/2014/main" id="{E9B0B402-94A0-0416-AB34-5D4C34B74B6B}"/>
              </a:ext>
            </a:extLst>
          </p:cNvPr>
          <p:cNvGraphicFramePr>
            <a:graphicFrameLocks noGrp="1"/>
          </p:cNvGraphicFramePr>
          <p:nvPr/>
        </p:nvGraphicFramePr>
        <p:xfrm>
          <a:off x="681038" y="2904014"/>
          <a:ext cx="8543925" cy="2194560"/>
        </p:xfrm>
        <a:graphic>
          <a:graphicData uri="http://schemas.openxmlformats.org/drawingml/2006/table">
            <a:tbl>
              <a:tblPr/>
              <a:tblGrid>
                <a:gridCol w="2847975">
                  <a:extLst>
                    <a:ext uri="{9D8B030D-6E8A-4147-A177-3AD203B41FA5}">
                      <a16:colId xmlns:a16="http://schemas.microsoft.com/office/drawing/2014/main" val="2189885412"/>
                    </a:ext>
                  </a:extLst>
                </a:gridCol>
                <a:gridCol w="2847975">
                  <a:extLst>
                    <a:ext uri="{9D8B030D-6E8A-4147-A177-3AD203B41FA5}">
                      <a16:colId xmlns:a16="http://schemas.microsoft.com/office/drawing/2014/main" val="1370254728"/>
                    </a:ext>
                  </a:extLst>
                </a:gridCol>
                <a:gridCol w="2847975">
                  <a:extLst>
                    <a:ext uri="{9D8B030D-6E8A-4147-A177-3AD203B41FA5}">
                      <a16:colId xmlns:a16="http://schemas.microsoft.com/office/drawing/2014/main" val="3683749042"/>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On-Premise SQL</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Cloud SQL</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105738665"/>
                  </a:ext>
                </a:extLst>
              </a:tr>
              <a:tr h="0">
                <a:tc>
                  <a:txBody>
                    <a:bodyPr/>
                    <a:lstStyle/>
                    <a:p>
                      <a:pPr fontAlgn="t">
                        <a:buNone/>
                      </a:pPr>
                      <a:r>
                        <a:rPr lang="en-US">
                          <a:effectLst/>
                        </a:rPr>
                        <a:t>Infrastructure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Local servers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Cloud-hosted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085044984"/>
                  </a:ext>
                </a:extLst>
              </a:tr>
              <a:tr h="0">
                <a:tc>
                  <a:txBody>
                    <a:bodyPr/>
                    <a:lstStyle/>
                    <a:p>
                      <a:pPr fontAlgn="t">
                        <a:buNone/>
                      </a:pPr>
                      <a:r>
                        <a:rPr lang="en-US">
                          <a:effectLst/>
                        </a:rPr>
                        <a:t>Scalability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Limited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High</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848885658"/>
                  </a:ext>
                </a:extLst>
              </a:tr>
              <a:tr h="0">
                <a:tc>
                  <a:txBody>
                    <a:bodyPr/>
                    <a:lstStyle/>
                    <a:p>
                      <a:pPr fontAlgn="t">
                        <a:buNone/>
                      </a:pPr>
                      <a:r>
                        <a:rPr lang="en-US">
                          <a:effectLst/>
                        </a:rPr>
                        <a:t>Maintenance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Manual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Managed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57328965"/>
                  </a:ext>
                </a:extLst>
              </a:tr>
              <a:tr h="0">
                <a:tc>
                  <a:txBody>
                    <a:bodyPr/>
                    <a:lstStyle/>
                    <a:p>
                      <a:pPr fontAlgn="t">
                        <a:buNone/>
                      </a:pPr>
                      <a:r>
                        <a:rPr lang="en-US">
                          <a:effectLst/>
                        </a:rPr>
                        <a:t>Cost Model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High upfront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Pay-as-you-go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9833925"/>
                  </a:ext>
                </a:extLst>
              </a:tr>
              <a:tr h="0">
                <a:tc>
                  <a:txBody>
                    <a:bodyPr/>
                    <a:lstStyle/>
                    <a:p>
                      <a:pPr fontAlgn="t">
                        <a:buNone/>
                      </a:pPr>
                      <a:r>
                        <a:rPr lang="en-US">
                          <a:effectLst/>
                        </a:rPr>
                        <a:t>Availability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Local access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Global access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7668193"/>
                  </a:ext>
                </a:extLst>
              </a:tr>
            </a:tbl>
          </a:graphicData>
        </a:graphic>
      </p:graphicFrame>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8E7A97-4004-C275-999E-361EA366665E}"/>
              </a:ext>
            </a:extLst>
          </p:cNvPr>
          <p:cNvSpPr txBox="1"/>
          <p:nvPr/>
        </p:nvSpPr>
        <p:spPr>
          <a:xfrm>
            <a:off x="293427" y="141149"/>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What is the difference between INNER JOIN and SELF JOIN</a:t>
            </a:r>
          </a:p>
          <a:p>
            <a:pPr algn="just">
              <a:lnSpc>
                <a:spcPts val="2100"/>
              </a:lnSpc>
              <a:spcBef>
                <a:spcPts val="1650"/>
              </a:spcBef>
              <a:buNone/>
            </a:pPr>
            <a:r>
              <a:rPr lang="en-US" b="0" i="0" dirty="0">
                <a:solidFill>
                  <a:srgbClr val="3A3A3A"/>
                </a:solidFill>
                <a:effectLst/>
                <a:latin typeface="Roboto" panose="02000000000000000000" pitchFamily="2" charset="0"/>
              </a:rPr>
              <a:t>INNER JOIN combines rows from two tables based on a condition, while SELF JOIN joins a table with itself.</a:t>
            </a:r>
          </a:p>
        </p:txBody>
      </p:sp>
      <p:graphicFrame>
        <p:nvGraphicFramePr>
          <p:cNvPr id="4" name="Table 3">
            <a:extLst>
              <a:ext uri="{FF2B5EF4-FFF2-40B4-BE49-F238E27FC236}">
                <a16:creationId xmlns:a16="http://schemas.microsoft.com/office/drawing/2014/main" id="{B7AB7FB0-A244-FA13-29A0-D5685AFCDF05}"/>
              </a:ext>
            </a:extLst>
          </p:cNvPr>
          <p:cNvGraphicFramePr>
            <a:graphicFrameLocks noGrp="1"/>
          </p:cNvGraphicFramePr>
          <p:nvPr>
            <p:extLst>
              <p:ext uri="{D42A27DB-BD31-4B8C-83A1-F6EECF244321}">
                <p14:modId xmlns:p14="http://schemas.microsoft.com/office/powerpoint/2010/main" val="3602108126"/>
              </p:ext>
            </p:extLst>
          </p:nvPr>
        </p:nvGraphicFramePr>
        <p:xfrm>
          <a:off x="681037" y="2194560"/>
          <a:ext cx="8543925" cy="2468880"/>
        </p:xfrm>
        <a:graphic>
          <a:graphicData uri="http://schemas.openxmlformats.org/drawingml/2006/table">
            <a:tbl>
              <a:tblPr/>
              <a:tblGrid>
                <a:gridCol w="2847975">
                  <a:extLst>
                    <a:ext uri="{9D8B030D-6E8A-4147-A177-3AD203B41FA5}">
                      <a16:colId xmlns:a16="http://schemas.microsoft.com/office/drawing/2014/main" val="235675556"/>
                    </a:ext>
                  </a:extLst>
                </a:gridCol>
                <a:gridCol w="2847975">
                  <a:extLst>
                    <a:ext uri="{9D8B030D-6E8A-4147-A177-3AD203B41FA5}">
                      <a16:colId xmlns:a16="http://schemas.microsoft.com/office/drawing/2014/main" val="2600322352"/>
                    </a:ext>
                  </a:extLst>
                </a:gridCol>
                <a:gridCol w="2847975">
                  <a:extLst>
                    <a:ext uri="{9D8B030D-6E8A-4147-A177-3AD203B41FA5}">
                      <a16:colId xmlns:a16="http://schemas.microsoft.com/office/drawing/2014/main" val="1716092710"/>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INNER 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SELF 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439253590"/>
                  </a:ext>
                </a:extLst>
              </a:tr>
              <a:tr h="0">
                <a:tc>
                  <a:txBody>
                    <a:bodyPr/>
                    <a:lstStyle/>
                    <a:p>
                      <a:pPr fontAlgn="t">
                        <a:buNone/>
                      </a:pPr>
                      <a:r>
                        <a:rPr lang="en-US">
                          <a:effectLst/>
                        </a:rPr>
                        <a:t>Tables Used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Two different tables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Same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45488444"/>
                  </a:ext>
                </a:extLst>
              </a:tr>
              <a:tr h="0">
                <a:tc>
                  <a:txBody>
                    <a:bodyPr/>
                    <a:lstStyle/>
                    <a:p>
                      <a:pPr fontAlgn="t">
                        <a:buNone/>
                      </a:pPr>
                      <a:r>
                        <a:rPr lang="en-US">
                          <a:effectLst/>
                        </a:rPr>
                        <a:t>Purpose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Match related records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Hierarchical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678410205"/>
                  </a:ext>
                </a:extLst>
              </a:tr>
              <a:tr h="0">
                <a:tc>
                  <a:txBody>
                    <a:bodyPr/>
                    <a:lstStyle/>
                    <a:p>
                      <a:pPr fontAlgn="t">
                        <a:buNone/>
                      </a:pPr>
                      <a:r>
                        <a:rPr lang="en-US">
                          <a:effectLst/>
                        </a:rPr>
                        <a:t>Syntax</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Simple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Uses aliases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65122508"/>
                  </a:ext>
                </a:extLst>
              </a:tr>
              <a:tr h="0">
                <a:tc>
                  <a:txBody>
                    <a:bodyPr/>
                    <a:lstStyle/>
                    <a:p>
                      <a:pPr fontAlgn="t">
                        <a:buNone/>
                      </a:pPr>
                      <a:r>
                        <a:rPr lang="en-US">
                          <a:effectLst/>
                        </a:rPr>
                        <a:t>Common Use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Relational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Employee–manager relation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795492244"/>
                  </a:ext>
                </a:extLst>
              </a:tr>
              <a:tr h="0">
                <a:tc>
                  <a:txBody>
                    <a:bodyPr/>
                    <a:lstStyle/>
                    <a:p>
                      <a:pPr fontAlgn="t">
                        <a:buNone/>
                      </a:pPr>
                      <a:r>
                        <a:rPr lang="en-US">
                          <a:effectLst/>
                        </a:rPr>
                        <a:t>Complexity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Low</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Moderate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976413770"/>
                  </a:ext>
                </a:extLst>
              </a:tr>
            </a:tbl>
          </a:graphicData>
        </a:graphic>
      </p:graphicFrame>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03FE91-8591-7890-3CB5-EA71C68B5982}"/>
              </a:ext>
            </a:extLst>
          </p:cNvPr>
          <p:cNvSpPr txBox="1"/>
          <p:nvPr/>
        </p:nvSpPr>
        <p:spPr>
          <a:xfrm>
            <a:off x="252484" y="253983"/>
            <a:ext cx="9328244" cy="16183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What is the difference between LEFT JOIN and RIGHT JOIN</a:t>
            </a:r>
          </a:p>
          <a:p>
            <a:pPr algn="just">
              <a:lnSpc>
                <a:spcPts val="2100"/>
              </a:lnSpc>
              <a:spcBef>
                <a:spcPts val="1650"/>
              </a:spcBef>
              <a:buNone/>
            </a:pPr>
            <a:r>
              <a:rPr lang="en-US" b="0" i="0" dirty="0">
                <a:solidFill>
                  <a:srgbClr val="3A3A3A"/>
                </a:solidFill>
                <a:effectLst/>
                <a:latin typeface="Roboto" panose="02000000000000000000" pitchFamily="2" charset="0"/>
              </a:rPr>
              <a:t>A LEFT JOIN returns all records from the left table and matching records from the right, whereas a RIGHT JOIN returns all records from the right table and matching records from the left.</a:t>
            </a:r>
          </a:p>
        </p:txBody>
      </p:sp>
      <p:graphicFrame>
        <p:nvGraphicFramePr>
          <p:cNvPr id="4" name="Table 3">
            <a:extLst>
              <a:ext uri="{FF2B5EF4-FFF2-40B4-BE49-F238E27FC236}">
                <a16:creationId xmlns:a16="http://schemas.microsoft.com/office/drawing/2014/main" id="{B50B6FD0-8224-BE05-6E64-94C948B995E4}"/>
              </a:ext>
            </a:extLst>
          </p:cNvPr>
          <p:cNvGraphicFramePr>
            <a:graphicFrameLocks noGrp="1"/>
          </p:cNvGraphicFramePr>
          <p:nvPr/>
        </p:nvGraphicFramePr>
        <p:xfrm>
          <a:off x="681038" y="2904014"/>
          <a:ext cx="8543925" cy="2194560"/>
        </p:xfrm>
        <a:graphic>
          <a:graphicData uri="http://schemas.openxmlformats.org/drawingml/2006/table">
            <a:tbl>
              <a:tblPr/>
              <a:tblGrid>
                <a:gridCol w="2847975">
                  <a:extLst>
                    <a:ext uri="{9D8B030D-6E8A-4147-A177-3AD203B41FA5}">
                      <a16:colId xmlns:a16="http://schemas.microsoft.com/office/drawing/2014/main" val="943902353"/>
                    </a:ext>
                  </a:extLst>
                </a:gridCol>
                <a:gridCol w="2847975">
                  <a:extLst>
                    <a:ext uri="{9D8B030D-6E8A-4147-A177-3AD203B41FA5}">
                      <a16:colId xmlns:a16="http://schemas.microsoft.com/office/drawing/2014/main" val="2559573207"/>
                    </a:ext>
                  </a:extLst>
                </a:gridCol>
                <a:gridCol w="2847975">
                  <a:extLst>
                    <a:ext uri="{9D8B030D-6E8A-4147-A177-3AD203B41FA5}">
                      <a16:colId xmlns:a16="http://schemas.microsoft.com/office/drawing/2014/main" val="1257034311"/>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LEFT 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RIGHT 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60823753"/>
                  </a:ext>
                </a:extLst>
              </a:tr>
              <a:tr h="0">
                <a:tc>
                  <a:txBody>
                    <a:bodyPr/>
                    <a:lstStyle/>
                    <a:p>
                      <a:pPr fontAlgn="t">
                        <a:buNone/>
                      </a:pPr>
                      <a:r>
                        <a:rPr lang="en-US">
                          <a:effectLst/>
                        </a:rPr>
                        <a:t>Base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Left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Right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788804997"/>
                  </a:ext>
                </a:extLst>
              </a:tr>
              <a:tr h="0">
                <a:tc>
                  <a:txBody>
                    <a:bodyPr/>
                    <a:lstStyle/>
                    <a:p>
                      <a:pPr fontAlgn="t">
                        <a:buNone/>
                      </a:pPr>
                      <a:r>
                        <a:rPr lang="en-US">
                          <a:effectLst/>
                        </a:rPr>
                        <a:t>Non-matching Rows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From the left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From the right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72268842"/>
                  </a:ext>
                </a:extLst>
              </a:tr>
              <a:tr h="0">
                <a:tc>
                  <a:txBody>
                    <a:bodyPr/>
                    <a:lstStyle/>
                    <a:p>
                      <a:pPr fontAlgn="t">
                        <a:buNone/>
                      </a:pPr>
                      <a:r>
                        <a:rPr lang="en-US">
                          <a:effectLst/>
                        </a:rPr>
                        <a:t>NULL Values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Right side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Left side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463475654"/>
                  </a:ext>
                </a:extLst>
              </a:tr>
              <a:tr h="0">
                <a:tc>
                  <a:txBody>
                    <a:bodyPr/>
                    <a:lstStyle/>
                    <a:p>
                      <a:pPr fontAlgn="t">
                        <a:buNone/>
                      </a:pPr>
                      <a:r>
                        <a:rPr lang="en-US">
                          <a:effectLst/>
                        </a:rPr>
                        <a:t>Usage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More commonly used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Less commonly used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667543987"/>
                  </a:ext>
                </a:extLst>
              </a:tr>
              <a:tr h="0">
                <a:tc>
                  <a:txBody>
                    <a:bodyPr/>
                    <a:lstStyle/>
                    <a:p>
                      <a:pPr fontAlgn="t">
                        <a:buNone/>
                      </a:pPr>
                      <a:r>
                        <a:rPr lang="en-US">
                          <a:effectLst/>
                        </a:rPr>
                        <a:t>Logic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 ← B</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A → B</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916560348"/>
                  </a:ext>
                </a:extLst>
              </a:tr>
            </a:tbl>
          </a:graphicData>
        </a:graphic>
      </p:graphicFrame>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41C518-99DB-2D19-0A24-78842E9127E6}"/>
              </a:ext>
            </a:extLst>
          </p:cNvPr>
          <p:cNvSpPr txBox="1"/>
          <p:nvPr/>
        </p:nvSpPr>
        <p:spPr>
          <a:xfrm>
            <a:off x="225188" y="170270"/>
            <a:ext cx="9382835"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What is the difference between a FULL JOIN and a CARTESIAN JOIN</a:t>
            </a:r>
          </a:p>
          <a:p>
            <a:pPr algn="just">
              <a:lnSpc>
                <a:spcPts val="2100"/>
              </a:lnSpc>
              <a:spcBef>
                <a:spcPts val="1650"/>
              </a:spcBef>
              <a:buNone/>
            </a:pPr>
            <a:r>
              <a:rPr lang="en-US" b="0" i="0" dirty="0">
                <a:solidFill>
                  <a:srgbClr val="3A3A3A"/>
                </a:solidFill>
                <a:effectLst/>
                <a:latin typeface="Roboto" panose="02000000000000000000" pitchFamily="2" charset="0"/>
              </a:rPr>
              <a:t>A FULL JOIN returns all matching and non-matching rows from both tables, while a CARTESIAN JOIN returns every possible row combination.</a:t>
            </a:r>
          </a:p>
        </p:txBody>
      </p:sp>
      <p:graphicFrame>
        <p:nvGraphicFramePr>
          <p:cNvPr id="4" name="Table 3">
            <a:extLst>
              <a:ext uri="{FF2B5EF4-FFF2-40B4-BE49-F238E27FC236}">
                <a16:creationId xmlns:a16="http://schemas.microsoft.com/office/drawing/2014/main" id="{6C0678D2-CE75-46D6-81DC-2C17987EBC7C}"/>
              </a:ext>
            </a:extLst>
          </p:cNvPr>
          <p:cNvGraphicFramePr>
            <a:graphicFrameLocks noGrp="1"/>
          </p:cNvGraphicFramePr>
          <p:nvPr>
            <p:extLst>
              <p:ext uri="{D42A27DB-BD31-4B8C-83A1-F6EECF244321}">
                <p14:modId xmlns:p14="http://schemas.microsoft.com/office/powerpoint/2010/main" val="4098254180"/>
              </p:ext>
            </p:extLst>
          </p:nvPr>
        </p:nvGraphicFramePr>
        <p:xfrm>
          <a:off x="462674" y="1921375"/>
          <a:ext cx="8543925" cy="2194560"/>
        </p:xfrm>
        <a:graphic>
          <a:graphicData uri="http://schemas.openxmlformats.org/drawingml/2006/table">
            <a:tbl>
              <a:tblPr/>
              <a:tblGrid>
                <a:gridCol w="2847975">
                  <a:extLst>
                    <a:ext uri="{9D8B030D-6E8A-4147-A177-3AD203B41FA5}">
                      <a16:colId xmlns:a16="http://schemas.microsoft.com/office/drawing/2014/main" val="3533975766"/>
                    </a:ext>
                  </a:extLst>
                </a:gridCol>
                <a:gridCol w="2847975">
                  <a:extLst>
                    <a:ext uri="{9D8B030D-6E8A-4147-A177-3AD203B41FA5}">
                      <a16:colId xmlns:a16="http://schemas.microsoft.com/office/drawing/2014/main" val="708538718"/>
                    </a:ext>
                  </a:extLst>
                </a:gridCol>
                <a:gridCol w="2847975">
                  <a:extLst>
                    <a:ext uri="{9D8B030D-6E8A-4147-A177-3AD203B41FA5}">
                      <a16:colId xmlns:a16="http://schemas.microsoft.com/office/drawing/2014/main" val="2554708130"/>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FULL 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CARTESIAN 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541144966"/>
                  </a:ext>
                </a:extLst>
              </a:tr>
              <a:tr h="0">
                <a:tc>
                  <a:txBody>
                    <a:bodyPr/>
                    <a:lstStyle/>
                    <a:p>
                      <a:pPr fontAlgn="t">
                        <a:buNone/>
                      </a:pPr>
                      <a:r>
                        <a:rPr lang="en-US">
                          <a:effectLst/>
                        </a:rPr>
                        <a:t>Matching Condition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Required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required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196627891"/>
                  </a:ext>
                </a:extLst>
              </a:tr>
              <a:tr h="0">
                <a:tc>
                  <a:txBody>
                    <a:bodyPr/>
                    <a:lstStyle/>
                    <a:p>
                      <a:pPr fontAlgn="t">
                        <a:buNone/>
                      </a:pPr>
                      <a:r>
                        <a:rPr lang="en-US">
                          <a:effectLst/>
                        </a:rPr>
                        <a:t>Output Size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Controlled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Very large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3476850"/>
                  </a:ext>
                </a:extLst>
              </a:tr>
              <a:tr h="0">
                <a:tc>
                  <a:txBody>
                    <a:bodyPr/>
                    <a:lstStyle/>
                    <a:p>
                      <a:pPr fontAlgn="t">
                        <a:buNone/>
                      </a:pPr>
                      <a:r>
                        <a:rPr lang="en-US">
                          <a:effectLst/>
                        </a:rPr>
                        <a:t>NULL Handling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For non-matches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 NULL logic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12789153"/>
                  </a:ext>
                </a:extLst>
              </a:tr>
              <a:tr h="0">
                <a:tc>
                  <a:txBody>
                    <a:bodyPr/>
                    <a:lstStyle/>
                    <a:p>
                      <a:pPr fontAlgn="t">
                        <a:buNone/>
                      </a:pPr>
                      <a:r>
                        <a:rPr lang="en-US">
                          <a:effectLst/>
                        </a:rPr>
                        <a:t>Performance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Moderate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Very slow</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231927244"/>
                  </a:ext>
                </a:extLst>
              </a:tr>
              <a:tr h="0">
                <a:tc>
                  <a:txBody>
                    <a:bodyPr/>
                    <a:lstStyle/>
                    <a:p>
                      <a:pPr fontAlgn="t">
                        <a:buNone/>
                      </a:pPr>
                      <a:r>
                        <a:rPr lang="en-US">
                          <a:effectLst/>
                        </a:rPr>
                        <a:t>Use Case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Complete comparison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Rare / testing only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58546221"/>
                  </a:ext>
                </a:extLst>
              </a:tr>
            </a:tbl>
          </a:graphicData>
        </a:graphic>
      </p:graphicFrame>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35F68F-899E-D244-DD00-FD85B0311909}"/>
              </a:ext>
            </a:extLst>
          </p:cNvPr>
          <p:cNvSpPr txBox="1"/>
          <p:nvPr/>
        </p:nvSpPr>
        <p:spPr>
          <a:xfrm>
            <a:off x="307074" y="345865"/>
            <a:ext cx="9273653"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What is the difference between JOINs and the UNION Clause</a:t>
            </a:r>
          </a:p>
          <a:p>
            <a:pPr algn="just">
              <a:lnSpc>
                <a:spcPts val="2100"/>
              </a:lnSpc>
              <a:spcBef>
                <a:spcPts val="1650"/>
              </a:spcBef>
              <a:buNone/>
            </a:pPr>
            <a:r>
              <a:rPr lang="en-US" b="0" i="0" dirty="0">
                <a:solidFill>
                  <a:srgbClr val="3A3A3A"/>
                </a:solidFill>
                <a:effectLst/>
                <a:latin typeface="Roboto" panose="02000000000000000000" pitchFamily="2" charset="0"/>
              </a:rPr>
              <a:t>JOINs combine columns from multiple tables, while UNION combines rows from multiple SELECT queries</a:t>
            </a:r>
          </a:p>
        </p:txBody>
      </p:sp>
      <p:graphicFrame>
        <p:nvGraphicFramePr>
          <p:cNvPr id="4" name="Table 3">
            <a:extLst>
              <a:ext uri="{FF2B5EF4-FFF2-40B4-BE49-F238E27FC236}">
                <a16:creationId xmlns:a16="http://schemas.microsoft.com/office/drawing/2014/main" id="{6CC5B163-5E6C-46B5-0DB6-095C01F04A36}"/>
              </a:ext>
            </a:extLst>
          </p:cNvPr>
          <p:cNvGraphicFramePr>
            <a:graphicFrameLocks noGrp="1"/>
          </p:cNvGraphicFramePr>
          <p:nvPr/>
        </p:nvGraphicFramePr>
        <p:xfrm>
          <a:off x="681038" y="2904014"/>
          <a:ext cx="8543925" cy="2194560"/>
        </p:xfrm>
        <a:graphic>
          <a:graphicData uri="http://schemas.openxmlformats.org/drawingml/2006/table">
            <a:tbl>
              <a:tblPr/>
              <a:tblGrid>
                <a:gridCol w="2847975">
                  <a:extLst>
                    <a:ext uri="{9D8B030D-6E8A-4147-A177-3AD203B41FA5}">
                      <a16:colId xmlns:a16="http://schemas.microsoft.com/office/drawing/2014/main" val="1771777826"/>
                    </a:ext>
                  </a:extLst>
                </a:gridCol>
                <a:gridCol w="2847975">
                  <a:extLst>
                    <a:ext uri="{9D8B030D-6E8A-4147-A177-3AD203B41FA5}">
                      <a16:colId xmlns:a16="http://schemas.microsoft.com/office/drawing/2014/main" val="194133021"/>
                    </a:ext>
                  </a:extLst>
                </a:gridCol>
                <a:gridCol w="2847975">
                  <a:extLst>
                    <a:ext uri="{9D8B030D-6E8A-4147-A177-3AD203B41FA5}">
                      <a16:colId xmlns:a16="http://schemas.microsoft.com/office/drawing/2014/main" val="2303874657"/>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JOIN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UNION</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445097532"/>
                  </a:ext>
                </a:extLst>
              </a:tr>
              <a:tr h="0">
                <a:tc>
                  <a:txBody>
                    <a:bodyPr/>
                    <a:lstStyle/>
                    <a:p>
                      <a:pPr fontAlgn="t">
                        <a:buNone/>
                      </a:pPr>
                      <a:r>
                        <a:rPr lang="en-US">
                          <a:effectLst/>
                        </a:rPr>
                        <a:t>Combines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Columns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Rows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1035715"/>
                  </a:ext>
                </a:extLst>
              </a:tr>
              <a:tr h="0">
                <a:tc>
                  <a:txBody>
                    <a:bodyPr/>
                    <a:lstStyle/>
                    <a:p>
                      <a:pPr fontAlgn="t">
                        <a:buNone/>
                      </a:pPr>
                      <a:r>
                        <a:rPr lang="en-US">
                          <a:effectLst/>
                        </a:rPr>
                        <a:t>Tables Required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Related tables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Same column structure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60983738"/>
                  </a:ext>
                </a:extLst>
              </a:tr>
              <a:tr h="0">
                <a:tc>
                  <a:txBody>
                    <a:bodyPr/>
                    <a:lstStyle/>
                    <a:p>
                      <a:pPr fontAlgn="t">
                        <a:buNone/>
                      </a:pPr>
                      <a:r>
                        <a:rPr lang="en-US">
                          <a:effectLst/>
                        </a:rPr>
                        <a:t>Duplicate Handling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Allowed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Removed (UNION)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779134986"/>
                  </a:ext>
                </a:extLst>
              </a:tr>
              <a:tr h="0">
                <a:tc>
                  <a:txBody>
                    <a:bodyPr/>
                    <a:lstStyle/>
                    <a:p>
                      <a:pPr fontAlgn="t">
                        <a:buNone/>
                      </a:pPr>
                      <a:r>
                        <a:rPr lang="en-US">
                          <a:effectLst/>
                        </a:rPr>
                        <a:t>WHERE Condition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Used across tables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Used per query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333026512"/>
                  </a:ext>
                </a:extLst>
              </a:tr>
              <a:tr h="0">
                <a:tc>
                  <a:txBody>
                    <a:bodyPr/>
                    <a:lstStyle/>
                    <a:p>
                      <a:pPr fontAlgn="t">
                        <a:buNone/>
                      </a:pPr>
                      <a:r>
                        <a:rPr lang="en-US">
                          <a:effectLst/>
                        </a:rPr>
                        <a:t>Use Case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Relational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Merging results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346548088"/>
                  </a:ext>
                </a:extLst>
              </a:tr>
            </a:tbl>
          </a:graphicData>
        </a:graphic>
      </p:graphicFrame>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96E39E-83BC-41CA-8F74-BDA7EC112F8A}"/>
              </a:ext>
            </a:extLst>
          </p:cNvPr>
          <p:cNvSpPr txBox="1"/>
          <p:nvPr/>
        </p:nvSpPr>
        <p:spPr>
          <a:xfrm>
            <a:off x="238835" y="427752"/>
            <a:ext cx="8946107"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What is the difference between NULL, 0, and Empty String (“”)?</a:t>
            </a:r>
          </a:p>
          <a:p>
            <a:pPr algn="just">
              <a:lnSpc>
                <a:spcPts val="2100"/>
              </a:lnSpc>
              <a:spcBef>
                <a:spcPts val="1650"/>
              </a:spcBef>
              <a:buNone/>
            </a:pPr>
            <a:r>
              <a:rPr lang="en-US" b="0" i="0" dirty="0">
                <a:solidFill>
                  <a:srgbClr val="3A3A3A"/>
                </a:solidFill>
                <a:effectLst/>
                <a:latin typeface="Roboto" panose="02000000000000000000" pitchFamily="2" charset="0"/>
              </a:rPr>
              <a:t>NULL means no value, 0 is a numeric value, and an empty string represents a value with no characters.</a:t>
            </a:r>
          </a:p>
        </p:txBody>
      </p:sp>
      <p:graphicFrame>
        <p:nvGraphicFramePr>
          <p:cNvPr id="4" name="Table 3">
            <a:extLst>
              <a:ext uri="{FF2B5EF4-FFF2-40B4-BE49-F238E27FC236}">
                <a16:creationId xmlns:a16="http://schemas.microsoft.com/office/drawing/2014/main" id="{EAF86F17-98C8-5F1E-F053-1EEC959C47D5}"/>
              </a:ext>
            </a:extLst>
          </p:cNvPr>
          <p:cNvGraphicFramePr>
            <a:graphicFrameLocks noGrp="1"/>
          </p:cNvGraphicFramePr>
          <p:nvPr/>
        </p:nvGraphicFramePr>
        <p:xfrm>
          <a:off x="681038" y="2629694"/>
          <a:ext cx="8543924" cy="2743200"/>
        </p:xfrm>
        <a:graphic>
          <a:graphicData uri="http://schemas.openxmlformats.org/drawingml/2006/table">
            <a:tbl>
              <a:tblPr/>
              <a:tblGrid>
                <a:gridCol w="2135981">
                  <a:extLst>
                    <a:ext uri="{9D8B030D-6E8A-4147-A177-3AD203B41FA5}">
                      <a16:colId xmlns:a16="http://schemas.microsoft.com/office/drawing/2014/main" val="3218547258"/>
                    </a:ext>
                  </a:extLst>
                </a:gridCol>
                <a:gridCol w="2135981">
                  <a:extLst>
                    <a:ext uri="{9D8B030D-6E8A-4147-A177-3AD203B41FA5}">
                      <a16:colId xmlns:a16="http://schemas.microsoft.com/office/drawing/2014/main" val="726163673"/>
                    </a:ext>
                  </a:extLst>
                </a:gridCol>
                <a:gridCol w="2135981">
                  <a:extLst>
                    <a:ext uri="{9D8B030D-6E8A-4147-A177-3AD203B41FA5}">
                      <a16:colId xmlns:a16="http://schemas.microsoft.com/office/drawing/2014/main" val="1644359877"/>
                    </a:ext>
                  </a:extLst>
                </a:gridCol>
                <a:gridCol w="2135981">
                  <a:extLst>
                    <a:ext uri="{9D8B030D-6E8A-4147-A177-3AD203B41FA5}">
                      <a16:colId xmlns:a16="http://schemas.microsoft.com/office/drawing/2014/main" val="1333690106"/>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NULL</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0</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Empty String (“”)</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60830780"/>
                  </a:ext>
                </a:extLst>
              </a:tr>
              <a:tr h="0">
                <a:tc>
                  <a:txBody>
                    <a:bodyPr/>
                    <a:lstStyle/>
                    <a:p>
                      <a:pPr fontAlgn="t">
                        <a:buNone/>
                      </a:pPr>
                      <a:r>
                        <a:rPr lang="en-US">
                          <a:effectLst/>
                        </a:rPr>
                        <a:t>Meaning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Numeric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Blank text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1182102"/>
                  </a:ext>
                </a:extLst>
              </a:tr>
              <a:tr h="0">
                <a:tc>
                  <a:txBody>
                    <a:bodyPr/>
                    <a:lstStyle/>
                    <a:p>
                      <a:pPr fontAlgn="t">
                        <a:buNone/>
                      </a:pPr>
                      <a:r>
                        <a:rPr lang="en-US">
                          <a:effectLst/>
                        </a:rPr>
                        <a:t>Data Type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Any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Numeric</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String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73575270"/>
                  </a:ext>
                </a:extLst>
              </a:tr>
              <a:tr h="0">
                <a:tc>
                  <a:txBody>
                    <a:bodyPr/>
                    <a:lstStyle/>
                    <a:p>
                      <a:pPr fontAlgn="t">
                        <a:buNone/>
                      </a:pPr>
                      <a:r>
                        <a:rPr lang="en-US">
                          <a:effectLst/>
                        </a:rPr>
                        <a:t>Comparison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Needs IS NULL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Normal comparison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Normal comparison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355019582"/>
                  </a:ext>
                </a:extLst>
              </a:tr>
              <a:tr h="0">
                <a:tc>
                  <a:txBody>
                    <a:bodyPr/>
                    <a:lstStyle/>
                    <a:p>
                      <a:pPr fontAlgn="t">
                        <a:buNone/>
                      </a:pPr>
                      <a:r>
                        <a:rPr lang="en-US">
                          <a:effectLst/>
                        </a:rPr>
                        <a:t>Storage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 memory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Stored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Stored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41631348"/>
                  </a:ext>
                </a:extLst>
              </a:tr>
              <a:tr h="0">
                <a:tc>
                  <a:txBody>
                    <a:bodyPr/>
                    <a:lstStyle/>
                    <a:p>
                      <a:pPr fontAlgn="t">
                        <a:buNone/>
                      </a:pPr>
                      <a:r>
                        <a:rPr lang="en-US">
                          <a:effectLst/>
                        </a:rPr>
                        <a:t>Common Mistake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Treated as zero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Confused with NULL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Confused with NULL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606618298"/>
                  </a:ext>
                </a:extLst>
              </a:tr>
            </a:tbl>
          </a:graphicData>
        </a:graphic>
      </p:graphicFrame>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4E8F58-6FF9-326B-E475-C9BB0F4FD1F0}"/>
              </a:ext>
            </a:extLst>
          </p:cNvPr>
          <p:cNvSpPr txBox="1"/>
          <p:nvPr/>
        </p:nvSpPr>
        <p:spPr>
          <a:xfrm>
            <a:off x="348017" y="238509"/>
            <a:ext cx="9191767"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Difference between CHAR, VARCHAR, and VARCHAR2</a:t>
            </a:r>
          </a:p>
          <a:p>
            <a:pPr algn="just">
              <a:lnSpc>
                <a:spcPts val="2100"/>
              </a:lnSpc>
              <a:spcBef>
                <a:spcPts val="1650"/>
              </a:spcBef>
              <a:buNone/>
            </a:pPr>
            <a:r>
              <a:rPr lang="en-US" b="0" i="0" dirty="0">
                <a:solidFill>
                  <a:srgbClr val="3A3A3A"/>
                </a:solidFill>
                <a:effectLst/>
                <a:latin typeface="Roboto" panose="02000000000000000000" pitchFamily="2" charset="0"/>
              </a:rPr>
              <a:t>CHAR is a fixed-length datatype, VARCHAR is a variable-length datatype, and VARCHAR2 is an Oracle-specific datatype recommended for safe and efficient string storage.</a:t>
            </a:r>
          </a:p>
        </p:txBody>
      </p:sp>
      <p:graphicFrame>
        <p:nvGraphicFramePr>
          <p:cNvPr id="4" name="Table 3">
            <a:extLst>
              <a:ext uri="{FF2B5EF4-FFF2-40B4-BE49-F238E27FC236}">
                <a16:creationId xmlns:a16="http://schemas.microsoft.com/office/drawing/2014/main" id="{6EB23249-A135-C63A-A3AE-31A9EA271850}"/>
              </a:ext>
            </a:extLst>
          </p:cNvPr>
          <p:cNvGraphicFramePr>
            <a:graphicFrameLocks noGrp="1"/>
          </p:cNvGraphicFramePr>
          <p:nvPr/>
        </p:nvGraphicFramePr>
        <p:xfrm>
          <a:off x="681038" y="2492534"/>
          <a:ext cx="8543924" cy="3017520"/>
        </p:xfrm>
        <a:graphic>
          <a:graphicData uri="http://schemas.openxmlformats.org/drawingml/2006/table">
            <a:tbl>
              <a:tblPr/>
              <a:tblGrid>
                <a:gridCol w="2135981">
                  <a:extLst>
                    <a:ext uri="{9D8B030D-6E8A-4147-A177-3AD203B41FA5}">
                      <a16:colId xmlns:a16="http://schemas.microsoft.com/office/drawing/2014/main" val="3349844992"/>
                    </a:ext>
                  </a:extLst>
                </a:gridCol>
                <a:gridCol w="2135981">
                  <a:extLst>
                    <a:ext uri="{9D8B030D-6E8A-4147-A177-3AD203B41FA5}">
                      <a16:colId xmlns:a16="http://schemas.microsoft.com/office/drawing/2014/main" val="4184266325"/>
                    </a:ext>
                  </a:extLst>
                </a:gridCol>
                <a:gridCol w="2135981">
                  <a:extLst>
                    <a:ext uri="{9D8B030D-6E8A-4147-A177-3AD203B41FA5}">
                      <a16:colId xmlns:a16="http://schemas.microsoft.com/office/drawing/2014/main" val="3014927114"/>
                    </a:ext>
                  </a:extLst>
                </a:gridCol>
                <a:gridCol w="2135981">
                  <a:extLst>
                    <a:ext uri="{9D8B030D-6E8A-4147-A177-3AD203B41FA5}">
                      <a16:colId xmlns:a16="http://schemas.microsoft.com/office/drawing/2014/main" val="805761242"/>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CHAR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VARCHAR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VARCHAR2</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726415349"/>
                  </a:ext>
                </a:extLst>
              </a:tr>
              <a:tr h="0">
                <a:tc>
                  <a:txBody>
                    <a:bodyPr/>
                    <a:lstStyle/>
                    <a:p>
                      <a:pPr fontAlgn="t">
                        <a:buNone/>
                      </a:pPr>
                      <a:r>
                        <a:rPr lang="en-US">
                          <a:effectLst/>
                        </a:rPr>
                        <a:t>Length Type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Fixed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Variable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Variable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88955018"/>
                  </a:ext>
                </a:extLst>
              </a:tr>
              <a:tr h="0">
                <a:tc>
                  <a:txBody>
                    <a:bodyPr/>
                    <a:lstStyle/>
                    <a:p>
                      <a:pPr fontAlgn="t">
                        <a:buNone/>
                      </a:pPr>
                      <a:r>
                        <a:rPr lang="en-US">
                          <a:effectLst/>
                        </a:rPr>
                        <a:t>Storage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Wastes unused space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Efficient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More efficient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6860004"/>
                  </a:ext>
                </a:extLst>
              </a:tr>
              <a:tr h="0">
                <a:tc>
                  <a:txBody>
                    <a:bodyPr/>
                    <a:lstStyle/>
                    <a:p>
                      <a:pPr fontAlgn="t">
                        <a:buNone/>
                      </a:pPr>
                      <a:r>
                        <a:rPr lang="en-US">
                          <a:effectLst/>
                        </a:rPr>
                        <a:t>Trailing Spaces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Padded automatically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padded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padded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49341871"/>
                  </a:ext>
                </a:extLst>
              </a:tr>
              <a:tr h="0">
                <a:tc>
                  <a:txBody>
                    <a:bodyPr/>
                    <a:lstStyle/>
                    <a:p>
                      <a:pPr fontAlgn="t">
                        <a:buNone/>
                      </a:pPr>
                      <a:r>
                        <a:rPr lang="en-US">
                          <a:effectLst/>
                        </a:rPr>
                        <a:t>Database Support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All databases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Most databases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Oracle only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34553677"/>
                  </a:ext>
                </a:extLst>
              </a:tr>
              <a:tr h="0">
                <a:tc>
                  <a:txBody>
                    <a:bodyPr/>
                    <a:lstStyle/>
                    <a:p>
                      <a:pPr fontAlgn="t">
                        <a:buNone/>
                      </a:pPr>
                      <a:r>
                        <a:rPr lang="en-US">
                          <a:effectLst/>
                        </a:rPr>
                        <a:t>Recommended Usage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Rare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Conditional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Yes (Oracle)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60506067"/>
                  </a:ext>
                </a:extLst>
              </a:tr>
            </a:tbl>
          </a:graphicData>
        </a:graphic>
      </p:graphicFrame>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E03B62-C3CB-0FF0-9B07-0A1F56CC5242}"/>
              </a:ext>
            </a:extLst>
          </p:cNvPr>
          <p:cNvSpPr txBox="1"/>
          <p:nvPr/>
        </p:nvSpPr>
        <p:spPr>
          <a:xfrm>
            <a:off x="238836" y="347691"/>
            <a:ext cx="9451074"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Difference between Clustered and Non-Clustered Indexes</a:t>
            </a:r>
          </a:p>
          <a:p>
            <a:pPr algn="just">
              <a:lnSpc>
                <a:spcPts val="2100"/>
              </a:lnSpc>
              <a:spcBef>
                <a:spcPts val="1650"/>
              </a:spcBef>
              <a:buNone/>
            </a:pPr>
            <a:r>
              <a:rPr lang="en-US" b="0" i="0" dirty="0">
                <a:solidFill>
                  <a:srgbClr val="3A3A3A"/>
                </a:solidFill>
                <a:effectLst/>
                <a:latin typeface="Roboto" panose="02000000000000000000" pitchFamily="2" charset="0"/>
              </a:rPr>
              <a:t>A clustered index defines the physical order of data in a table, while a non-clustered index maintains a separate structure with pointers to data rows.</a:t>
            </a:r>
          </a:p>
        </p:txBody>
      </p:sp>
      <p:graphicFrame>
        <p:nvGraphicFramePr>
          <p:cNvPr id="4" name="Table 3">
            <a:extLst>
              <a:ext uri="{FF2B5EF4-FFF2-40B4-BE49-F238E27FC236}">
                <a16:creationId xmlns:a16="http://schemas.microsoft.com/office/drawing/2014/main" id="{E318DC24-C241-0C81-FC57-E6CA02A35362}"/>
              </a:ext>
            </a:extLst>
          </p:cNvPr>
          <p:cNvGraphicFramePr>
            <a:graphicFrameLocks noGrp="1"/>
          </p:cNvGraphicFramePr>
          <p:nvPr/>
        </p:nvGraphicFramePr>
        <p:xfrm>
          <a:off x="681038" y="2766854"/>
          <a:ext cx="8543925" cy="2468880"/>
        </p:xfrm>
        <a:graphic>
          <a:graphicData uri="http://schemas.openxmlformats.org/drawingml/2006/table">
            <a:tbl>
              <a:tblPr/>
              <a:tblGrid>
                <a:gridCol w="2847975">
                  <a:extLst>
                    <a:ext uri="{9D8B030D-6E8A-4147-A177-3AD203B41FA5}">
                      <a16:colId xmlns:a16="http://schemas.microsoft.com/office/drawing/2014/main" val="1822886024"/>
                    </a:ext>
                  </a:extLst>
                </a:gridCol>
                <a:gridCol w="2847975">
                  <a:extLst>
                    <a:ext uri="{9D8B030D-6E8A-4147-A177-3AD203B41FA5}">
                      <a16:colId xmlns:a16="http://schemas.microsoft.com/office/drawing/2014/main" val="1456407986"/>
                    </a:ext>
                  </a:extLst>
                </a:gridCol>
                <a:gridCol w="2847975">
                  <a:extLst>
                    <a:ext uri="{9D8B030D-6E8A-4147-A177-3AD203B41FA5}">
                      <a16:colId xmlns:a16="http://schemas.microsoft.com/office/drawing/2014/main" val="3961214312"/>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Clustered Index</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Non-Clustered Index</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578289447"/>
                  </a:ext>
                </a:extLst>
              </a:tr>
              <a:tr h="0">
                <a:tc>
                  <a:txBody>
                    <a:bodyPr/>
                    <a:lstStyle/>
                    <a:p>
                      <a:pPr fontAlgn="t">
                        <a:buNone/>
                      </a:pPr>
                      <a:r>
                        <a:rPr lang="en-US">
                          <a:effectLst/>
                        </a:rPr>
                        <a:t>Data Storage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Physically sorted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Logical structure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58857944"/>
                  </a:ext>
                </a:extLst>
              </a:tr>
              <a:tr h="0">
                <a:tc>
                  <a:txBody>
                    <a:bodyPr/>
                    <a:lstStyle/>
                    <a:p>
                      <a:pPr fontAlgn="t">
                        <a:buNone/>
                      </a:pPr>
                      <a:r>
                        <a:rPr lang="en-US">
                          <a:effectLst/>
                        </a:rPr>
                        <a:t>Indexes per Table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Only one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Multiple allowed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549536"/>
                  </a:ext>
                </a:extLst>
              </a:tr>
              <a:tr h="0">
                <a:tc>
                  <a:txBody>
                    <a:bodyPr/>
                    <a:lstStyle/>
                    <a:p>
                      <a:pPr fontAlgn="t">
                        <a:buNone/>
                      </a:pPr>
                      <a:r>
                        <a:rPr lang="en-US">
                          <a:effectLst/>
                        </a:rPr>
                        <a:t>Search Speed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Faster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Slightly slower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25757423"/>
                  </a:ext>
                </a:extLst>
              </a:tr>
              <a:tr h="0">
                <a:tc>
                  <a:txBody>
                    <a:bodyPr/>
                    <a:lstStyle/>
                    <a:p>
                      <a:pPr fontAlgn="t">
                        <a:buNone/>
                      </a:pPr>
                      <a:r>
                        <a:rPr lang="en-US">
                          <a:effectLst/>
                        </a:rPr>
                        <a:t>Extra Storage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807119071"/>
                  </a:ext>
                </a:extLst>
              </a:tr>
              <a:tr h="0">
                <a:tc>
                  <a:txBody>
                    <a:bodyPr/>
                    <a:lstStyle/>
                    <a:p>
                      <a:pPr fontAlgn="t">
                        <a:buNone/>
                      </a:pPr>
                      <a:r>
                        <a:rPr lang="en-US">
                          <a:effectLst/>
                        </a:rPr>
                        <a:t>Common Use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Primary key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Frequently queried columns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327772690"/>
                  </a:ext>
                </a:extLst>
              </a:tr>
            </a:tbl>
          </a:graphicData>
        </a:graphic>
      </p:graphicFrame>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A50C2D-06D5-F4D9-9A76-BEE794DEF3C3}"/>
              </a:ext>
            </a:extLst>
          </p:cNvPr>
          <p:cNvSpPr txBox="1"/>
          <p:nvPr/>
        </p:nvSpPr>
        <p:spPr>
          <a:xfrm>
            <a:off x="402610" y="277626"/>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Difference between OLTP and OLAP</a:t>
            </a:r>
          </a:p>
          <a:p>
            <a:pPr algn="just">
              <a:lnSpc>
                <a:spcPts val="2100"/>
              </a:lnSpc>
              <a:spcBef>
                <a:spcPts val="1650"/>
              </a:spcBef>
              <a:buNone/>
            </a:pPr>
            <a:r>
              <a:rPr lang="en-US" b="0" i="0" dirty="0">
                <a:solidFill>
                  <a:srgbClr val="3A3A3A"/>
                </a:solidFill>
                <a:effectLst/>
                <a:latin typeface="Roboto" panose="02000000000000000000" pitchFamily="2" charset="0"/>
              </a:rPr>
              <a:t>OLTP systems handle real-time transactional operations, whereas OLAP systems are designed for complex analytical queries and reporting.</a:t>
            </a:r>
          </a:p>
        </p:txBody>
      </p:sp>
      <p:graphicFrame>
        <p:nvGraphicFramePr>
          <p:cNvPr id="4" name="Table 3">
            <a:extLst>
              <a:ext uri="{FF2B5EF4-FFF2-40B4-BE49-F238E27FC236}">
                <a16:creationId xmlns:a16="http://schemas.microsoft.com/office/drawing/2014/main" id="{AC028DE7-C721-F53C-036D-3948C4D80313}"/>
              </a:ext>
            </a:extLst>
          </p:cNvPr>
          <p:cNvGraphicFramePr>
            <a:graphicFrameLocks noGrp="1"/>
          </p:cNvGraphicFramePr>
          <p:nvPr/>
        </p:nvGraphicFramePr>
        <p:xfrm>
          <a:off x="681038" y="2766854"/>
          <a:ext cx="8543925" cy="2468880"/>
        </p:xfrm>
        <a:graphic>
          <a:graphicData uri="http://schemas.openxmlformats.org/drawingml/2006/table">
            <a:tbl>
              <a:tblPr/>
              <a:tblGrid>
                <a:gridCol w="2847975">
                  <a:extLst>
                    <a:ext uri="{9D8B030D-6E8A-4147-A177-3AD203B41FA5}">
                      <a16:colId xmlns:a16="http://schemas.microsoft.com/office/drawing/2014/main" val="1847772217"/>
                    </a:ext>
                  </a:extLst>
                </a:gridCol>
                <a:gridCol w="2847975">
                  <a:extLst>
                    <a:ext uri="{9D8B030D-6E8A-4147-A177-3AD203B41FA5}">
                      <a16:colId xmlns:a16="http://schemas.microsoft.com/office/drawing/2014/main" val="3000602869"/>
                    </a:ext>
                  </a:extLst>
                </a:gridCol>
                <a:gridCol w="2847975">
                  <a:extLst>
                    <a:ext uri="{9D8B030D-6E8A-4147-A177-3AD203B41FA5}">
                      <a16:colId xmlns:a16="http://schemas.microsoft.com/office/drawing/2014/main" val="4023377434"/>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OLTP</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OLAP</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788105486"/>
                  </a:ext>
                </a:extLst>
              </a:tr>
              <a:tr h="0">
                <a:tc>
                  <a:txBody>
                    <a:bodyPr/>
                    <a:lstStyle/>
                    <a:p>
                      <a:pPr fontAlgn="t">
                        <a:buNone/>
                      </a:pPr>
                      <a:r>
                        <a:rPr lang="en-US">
                          <a:effectLst/>
                        </a:rPr>
                        <a:t>Primary Purpose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Transaction processing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Data analysis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75654068"/>
                  </a:ext>
                </a:extLst>
              </a:tr>
              <a:tr h="0">
                <a:tc>
                  <a:txBody>
                    <a:bodyPr/>
                    <a:lstStyle/>
                    <a:p>
                      <a:pPr fontAlgn="t">
                        <a:buNone/>
                      </a:pPr>
                      <a:r>
                        <a:rPr lang="en-US">
                          <a:effectLst/>
                        </a:rPr>
                        <a:t>Operations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INSERT, UPDATE, DELETE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Complex SELECT queries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327399323"/>
                  </a:ext>
                </a:extLst>
              </a:tr>
              <a:tr h="0">
                <a:tc>
                  <a:txBody>
                    <a:bodyPr/>
                    <a:lstStyle/>
                    <a:p>
                      <a:pPr fontAlgn="t">
                        <a:buNone/>
                      </a:pPr>
                      <a:r>
                        <a:rPr lang="en-US">
                          <a:effectLst/>
                        </a:rPr>
                        <a:t>Data Volume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Small per transaction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Very large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403901306"/>
                  </a:ext>
                </a:extLst>
              </a:tr>
              <a:tr h="0">
                <a:tc>
                  <a:txBody>
                    <a:bodyPr/>
                    <a:lstStyle/>
                    <a:p>
                      <a:pPr fontAlgn="t">
                        <a:buNone/>
                      </a:pPr>
                      <a:r>
                        <a:rPr lang="en-US">
                          <a:effectLst/>
                        </a:rPr>
                        <a:t>Response Time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Very fast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Moderate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71738519"/>
                  </a:ext>
                </a:extLst>
              </a:tr>
              <a:tr h="0">
                <a:tc>
                  <a:txBody>
                    <a:bodyPr/>
                    <a:lstStyle/>
                    <a:p>
                      <a:pPr fontAlgn="t">
                        <a:buNone/>
                      </a:pPr>
                      <a:r>
                        <a:rPr lang="en-US">
                          <a:effectLst/>
                        </a:rPr>
                        <a:t>Examples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Banking systems, e-commerce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Reporting, business intelligence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591739388"/>
                  </a:ext>
                </a:extLst>
              </a:tr>
            </a:tbl>
          </a:graphicData>
        </a:graphic>
      </p:graphicFrame>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7088BD-2D19-11E9-8BF0-E86B8CB6D28A}"/>
              </a:ext>
            </a:extLst>
          </p:cNvPr>
          <p:cNvSpPr txBox="1"/>
          <p:nvPr/>
        </p:nvSpPr>
        <p:spPr>
          <a:xfrm>
            <a:off x="266132" y="234858"/>
            <a:ext cx="4954136" cy="16183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Difference between RDBMS and DBMS</a:t>
            </a:r>
          </a:p>
          <a:p>
            <a:pPr algn="just">
              <a:lnSpc>
                <a:spcPts val="2100"/>
              </a:lnSpc>
              <a:spcBef>
                <a:spcPts val="1650"/>
              </a:spcBef>
              <a:buNone/>
            </a:pPr>
            <a:r>
              <a:rPr lang="en-US" b="0" i="0" dirty="0">
                <a:solidFill>
                  <a:srgbClr val="3A3A3A"/>
                </a:solidFill>
                <a:effectLst/>
                <a:latin typeface="Roboto" panose="02000000000000000000" pitchFamily="2" charset="0"/>
              </a:rPr>
              <a:t>A DBMS stores and manages data, while an RDBMS organizes data into relational tables with keys, constraints, and relationships.</a:t>
            </a:r>
          </a:p>
        </p:txBody>
      </p:sp>
      <p:graphicFrame>
        <p:nvGraphicFramePr>
          <p:cNvPr id="4" name="Table 3">
            <a:extLst>
              <a:ext uri="{FF2B5EF4-FFF2-40B4-BE49-F238E27FC236}">
                <a16:creationId xmlns:a16="http://schemas.microsoft.com/office/drawing/2014/main" id="{B6E9A5C0-705F-DFE8-95E1-F505518A0953}"/>
              </a:ext>
            </a:extLst>
          </p:cNvPr>
          <p:cNvGraphicFramePr>
            <a:graphicFrameLocks noGrp="1"/>
          </p:cNvGraphicFramePr>
          <p:nvPr/>
        </p:nvGraphicFramePr>
        <p:xfrm>
          <a:off x="681038" y="2766854"/>
          <a:ext cx="8543925" cy="2468880"/>
        </p:xfrm>
        <a:graphic>
          <a:graphicData uri="http://schemas.openxmlformats.org/drawingml/2006/table">
            <a:tbl>
              <a:tblPr/>
              <a:tblGrid>
                <a:gridCol w="2847975">
                  <a:extLst>
                    <a:ext uri="{9D8B030D-6E8A-4147-A177-3AD203B41FA5}">
                      <a16:colId xmlns:a16="http://schemas.microsoft.com/office/drawing/2014/main" val="3904544064"/>
                    </a:ext>
                  </a:extLst>
                </a:gridCol>
                <a:gridCol w="2847975">
                  <a:extLst>
                    <a:ext uri="{9D8B030D-6E8A-4147-A177-3AD203B41FA5}">
                      <a16:colId xmlns:a16="http://schemas.microsoft.com/office/drawing/2014/main" val="3424228261"/>
                    </a:ext>
                  </a:extLst>
                </a:gridCol>
                <a:gridCol w="2847975">
                  <a:extLst>
                    <a:ext uri="{9D8B030D-6E8A-4147-A177-3AD203B41FA5}">
                      <a16:colId xmlns:a16="http://schemas.microsoft.com/office/drawing/2014/main" val="1938759210"/>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DBMS</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RDBMS</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544044192"/>
                  </a:ext>
                </a:extLst>
              </a:tr>
              <a:tr h="0">
                <a:tc>
                  <a:txBody>
                    <a:bodyPr/>
                    <a:lstStyle/>
                    <a:p>
                      <a:pPr fontAlgn="t">
                        <a:buNone/>
                      </a:pPr>
                      <a:r>
                        <a:rPr lang="en-US">
                          <a:effectLst/>
                        </a:rPr>
                        <a:t>Data Storage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Files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Tables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75096170"/>
                  </a:ext>
                </a:extLst>
              </a:tr>
              <a:tr h="0">
                <a:tc>
                  <a:txBody>
                    <a:bodyPr/>
                    <a:lstStyle/>
                    <a:p>
                      <a:pPr fontAlgn="t">
                        <a:buNone/>
                      </a:pPr>
                      <a:r>
                        <a:rPr lang="en-US">
                          <a:effectLst/>
                        </a:rPr>
                        <a:t>Relationships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Supported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99607288"/>
                  </a:ext>
                </a:extLst>
              </a:tr>
              <a:tr h="0">
                <a:tc>
                  <a:txBody>
                    <a:bodyPr/>
                    <a:lstStyle/>
                    <a:p>
                      <a:pPr fontAlgn="t">
                        <a:buNone/>
                      </a:pPr>
                      <a:r>
                        <a:rPr lang="en-US">
                          <a:effectLst/>
                        </a:rPr>
                        <a:t>Normalization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available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Available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24847882"/>
                  </a:ext>
                </a:extLst>
              </a:tr>
              <a:tr h="0">
                <a:tc>
                  <a:txBody>
                    <a:bodyPr/>
                    <a:lstStyle/>
                    <a:p>
                      <a:pPr fontAlgn="t">
                        <a:buNone/>
                      </a:pPr>
                      <a:r>
                        <a:rPr lang="en-US">
                          <a:effectLst/>
                        </a:rPr>
                        <a:t>Multi-User Support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Limited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Advanced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230205273"/>
                  </a:ext>
                </a:extLst>
              </a:tr>
              <a:tr h="0">
                <a:tc>
                  <a:txBody>
                    <a:bodyPr/>
                    <a:lstStyle/>
                    <a:p>
                      <a:pPr fontAlgn="t">
                        <a:buNone/>
                      </a:pPr>
                      <a:r>
                        <a:rPr lang="en-US">
                          <a:effectLst/>
                        </a:rPr>
                        <a:t>Examples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File-based systems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MySQL, PostgreSQL, Oracle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36195392"/>
                  </a:ext>
                </a:extLst>
              </a:tr>
            </a:tbl>
          </a:graphicData>
        </a:graphic>
      </p:graphicFrame>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705192-9FE2-898D-EBFB-EDA6D7036B66}"/>
              </a:ext>
            </a:extLst>
          </p:cNvPr>
          <p:cNvSpPr txBox="1"/>
          <p:nvPr/>
        </p:nvSpPr>
        <p:spPr>
          <a:xfrm>
            <a:off x="655093" y="866325"/>
            <a:ext cx="8666328" cy="40549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What is a constraint, and why use constraints?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SQL constraints</a:t>
            </a:r>
            <a:r>
              <a:rPr lang="en-US" b="0" i="0" dirty="0">
                <a:solidFill>
                  <a:srgbClr val="3A3A3A"/>
                </a:solidFill>
                <a:effectLst/>
                <a:latin typeface="Roboto" panose="02000000000000000000" pitchFamily="2" charset="0"/>
              </a:rPr>
              <a:t> are a set of rules applied to a column or table to maintain data integrity. SQL consists of many constraints, which are as follows: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DEFAULT: It sets a default value for a column.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UNIQUE: It ensures all values are unique.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NOT NULL: It prevents NULL values.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PRIMARY KEY: It enables the unique identification of each record in a table. We can say that it combines NOT NULL and UNIQUE.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FOREIGN KEY: Links records in two tables.</a:t>
            </a: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188923-CD99-2C3B-1F1A-81C5ADA75118}"/>
              </a:ext>
            </a:extLst>
          </p:cNvPr>
          <p:cNvSpPr txBox="1"/>
          <p:nvPr/>
        </p:nvSpPr>
        <p:spPr>
          <a:xfrm>
            <a:off x="586852" y="726787"/>
            <a:ext cx="8693625" cy="240835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What is the COALESCE function?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u="none" strike="noStrike" dirty="0">
                <a:solidFill>
                  <a:srgbClr val="0F5A9E"/>
                </a:solidFill>
                <a:effectLst/>
                <a:latin typeface="Roboto" panose="02000000000000000000" pitchFamily="2" charset="0"/>
                <a:hlinkClick r:id="rId2"/>
              </a:rPr>
              <a:t>COALESCE</a:t>
            </a:r>
            <a:r>
              <a:rPr lang="en-US" b="0" i="0" dirty="0">
                <a:solidFill>
                  <a:srgbClr val="3A3A3A"/>
                </a:solidFill>
                <a:effectLst/>
                <a:latin typeface="Roboto" panose="02000000000000000000" pitchFamily="2" charset="0"/>
              </a:rPr>
              <a:t> function is used to take a set of input values and return the first non-null value from the record.</a:t>
            </a:r>
          </a:p>
          <a:p>
            <a:pPr algn="just">
              <a:lnSpc>
                <a:spcPts val="2100"/>
              </a:lnSpc>
              <a:spcBef>
                <a:spcPts val="750"/>
              </a:spcBef>
              <a:buNone/>
            </a:pPr>
            <a:r>
              <a:rPr lang="en-US" b="0" i="0" dirty="0">
                <a:solidFill>
                  <a:srgbClr val="3A3A3A"/>
                </a:solidFill>
                <a:effectLst/>
                <a:latin typeface="Roboto" panose="02000000000000000000" pitchFamily="2" charset="0"/>
              </a:rPr>
              <a:t>Syntax:</a:t>
            </a:r>
          </a:p>
          <a:p>
            <a:pPr algn="l">
              <a:spcBef>
                <a:spcPts val="1125"/>
              </a:spcBef>
              <a:spcAft>
                <a:spcPts val="375"/>
              </a:spcAft>
              <a:buNone/>
            </a:pPr>
            <a:r>
              <a:rPr lang="en-US" b="0" i="0" dirty="0">
                <a:solidFill>
                  <a:srgbClr val="212529"/>
                </a:solidFill>
                <a:effectLst/>
                <a:latin typeface="Courier New" panose="02070309020205020404" pitchFamily="49" charset="0"/>
              </a:rPr>
              <a:t>COALESCE(val1,val2,val3,……,nth </a:t>
            </a:r>
            <a:r>
              <a:rPr lang="en-US" b="0" i="0" dirty="0" err="1">
                <a:solidFill>
                  <a:srgbClr val="212529"/>
                </a:solidFill>
                <a:effectLst/>
                <a:latin typeface="Courier New" panose="02070309020205020404" pitchFamily="49" charset="0"/>
              </a:rPr>
              <a:t>val</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B27BA6-8670-5C54-C44A-602D6C5E3B0E}"/>
              </a:ext>
            </a:extLst>
          </p:cNvPr>
          <p:cNvSpPr txBox="1"/>
          <p:nvPr/>
        </p:nvSpPr>
        <p:spPr>
          <a:xfrm>
            <a:off x="532262" y="553672"/>
            <a:ext cx="9075762" cy="4503797"/>
          </a:xfrm>
          <a:prstGeom prst="rect">
            <a:avLst/>
          </a:prstGeom>
          <a:noFill/>
        </p:spPr>
        <p:txBody>
          <a:bodyPr wrap="square">
            <a:spAutoFit/>
          </a:bodyPr>
          <a:lstStyle/>
          <a:p>
            <a:pPr>
              <a:lnSpc>
                <a:spcPts val="2100"/>
              </a:lnSpc>
              <a:spcBef>
                <a:spcPts val="2400"/>
              </a:spcBef>
              <a:spcAft>
                <a:spcPts val="1800"/>
              </a:spcAft>
              <a:buNone/>
            </a:pPr>
            <a:r>
              <a:rPr lang="en-US" b="0" i="0" dirty="0">
                <a:solidFill>
                  <a:srgbClr val="272C37"/>
                </a:solidFill>
                <a:effectLst/>
                <a:latin typeface="Roboto" panose="02000000000000000000" pitchFamily="2" charset="0"/>
              </a:rPr>
              <a:t>21. What are UNION, MINUS, and INTERSECT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nSpc>
                <a:spcPts val="2100"/>
              </a:lnSpc>
              <a:spcBef>
                <a:spcPts val="1650"/>
              </a:spcBef>
              <a:buNone/>
            </a:pPr>
            <a:r>
              <a:rPr lang="en-US" b="0" i="0" dirty="0">
                <a:solidFill>
                  <a:srgbClr val="3A3A3A"/>
                </a:solidFill>
                <a:effectLst/>
                <a:latin typeface="Roboto" panose="02000000000000000000" pitchFamily="2" charset="0"/>
              </a:rPr>
              <a:t>In SQL, UNION, MINUS, and INTERSECT are set operators used to combine or compare results from multiple SELECT queries:</a:t>
            </a:r>
          </a:p>
          <a:p>
            <a:pPr>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UNION:</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Combines the results of two SELECT statements and removes duplicate rows.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Use when you want to merge datasets without duplicates.</a:t>
            </a:r>
          </a:p>
          <a:p>
            <a:pPr>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MINUS: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Returns rows from the first SELECT that are not found in the second.</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Used to identify differences between two datasets.</a:t>
            </a:r>
          </a:p>
          <a:p>
            <a:pPr>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INTERSECT: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Returns only the rows that are common to both SELECT statements.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Use when you need data that appears in both datasets.</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69F20D-C03B-1ABE-2486-E68473BC7687}"/>
              </a:ext>
            </a:extLst>
          </p:cNvPr>
          <p:cNvSpPr txBox="1"/>
          <p:nvPr/>
        </p:nvSpPr>
        <p:spPr>
          <a:xfrm>
            <a:off x="614149" y="231536"/>
            <a:ext cx="8707272" cy="478592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What is a view in SQL, and what are its types?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view is a virtual table representing data from one or more tables without physically storing it. It can simplify complex queries.</a:t>
            </a:r>
          </a:p>
          <a:p>
            <a:pPr algn="just">
              <a:lnSpc>
                <a:spcPts val="2100"/>
              </a:lnSpc>
              <a:spcBef>
                <a:spcPts val="750"/>
              </a:spcBef>
              <a:buNone/>
            </a:pPr>
            <a:r>
              <a:rPr lang="en-US" b="0" i="0" dirty="0">
                <a:solidFill>
                  <a:srgbClr val="3A3A3A"/>
                </a:solidFill>
                <a:effectLst/>
                <a:latin typeface="Roboto" panose="02000000000000000000" pitchFamily="2" charset="0"/>
              </a:rPr>
              <a:t>There are four types of views in SQL:</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Simple View: It is a view based on a single table and does not have a GROUP BY clause or other </a:t>
            </a:r>
            <a:r>
              <a:rPr lang="en-US" b="0" i="0" u="none" strike="noStrike" dirty="0">
                <a:solidFill>
                  <a:srgbClr val="0F5A9E"/>
                </a:solidFill>
                <a:effectLst/>
                <a:latin typeface="Roboto" panose="02000000000000000000" pitchFamily="2" charset="0"/>
                <a:hlinkClick r:id="rId2"/>
              </a:rPr>
              <a:t>SQL features.</a:t>
            </a:r>
            <a:endParaRPr lang="en-US" b="0" i="0" dirty="0">
              <a:solidFill>
                <a:srgbClr val="3A3A3A"/>
              </a:solidFill>
              <a:effectLst/>
              <a:latin typeface="Roboto" panose="02000000000000000000" pitchFamily="2" charset="0"/>
            </a:endParaRP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Complex View: This is a view built from several tables and includes a GROUP BY clause as well as functions.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Inline View: It is a view built on a subquery in the FROM clause, which provides a temporary table and simplifies a complicated query.</a:t>
            </a:r>
          </a:p>
          <a:p>
            <a:pPr algn="just">
              <a:lnSpc>
                <a:spcPts val="2100"/>
              </a:lnSpc>
              <a:spcBef>
                <a:spcPts val="750"/>
              </a:spcBef>
              <a:spcAft>
                <a:spcPts val="600"/>
              </a:spcAft>
              <a:buFont typeface="+mj-lt"/>
              <a:buAutoNum type="arabicPeriod"/>
            </a:pPr>
            <a:r>
              <a:rPr lang="en-US" b="0" i="0" dirty="0" err="1">
                <a:solidFill>
                  <a:srgbClr val="3A3A3A"/>
                </a:solidFill>
                <a:effectLst/>
                <a:latin typeface="Roboto" panose="02000000000000000000" pitchFamily="2" charset="0"/>
              </a:rPr>
              <a:t>Materialised</a:t>
            </a:r>
            <a:r>
              <a:rPr lang="en-US" b="0" i="0" dirty="0">
                <a:solidFill>
                  <a:srgbClr val="3A3A3A"/>
                </a:solidFill>
                <a:effectLst/>
                <a:latin typeface="Roboto" panose="02000000000000000000" pitchFamily="2" charset="0"/>
              </a:rPr>
              <a:t> View: This is a view that saves both the definition and the details. It builds data replicas by physically preserving them.</a:t>
            </a:r>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EF90F0-83B8-6E5D-0AA0-45EADEB89991}"/>
              </a:ext>
            </a:extLst>
          </p:cNvPr>
          <p:cNvSpPr txBox="1"/>
          <p:nvPr/>
        </p:nvSpPr>
        <p:spPr>
          <a:xfrm>
            <a:off x="531125" y="337667"/>
            <a:ext cx="8843749" cy="539634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What do you understand about a temporary table? Write a query to create it.</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temporary table is a table that is created to store data temporarily during a session. It exists only while the session is active or until it is dropped manually.</a:t>
            </a:r>
          </a:p>
          <a:p>
            <a:pPr algn="just">
              <a:lnSpc>
                <a:spcPts val="2100"/>
              </a:lnSpc>
              <a:spcBef>
                <a:spcPts val="750"/>
              </a:spcBef>
              <a:buNone/>
            </a:pPr>
            <a:r>
              <a:rPr lang="en-US" b="0" i="0" dirty="0">
                <a:solidFill>
                  <a:srgbClr val="3A3A3A"/>
                </a:solidFill>
                <a:effectLst/>
                <a:latin typeface="Roboto" panose="02000000000000000000" pitchFamily="2" charset="0"/>
              </a:rPr>
              <a:t>It’s useful for storing intermediate results when working with complex queries or large data.</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 Create a temporary table named '</a:t>
            </a:r>
            <a:r>
              <a:rPr lang="en-US" b="0" i="0" dirty="0" err="1">
                <a:solidFill>
                  <a:srgbClr val="212529"/>
                </a:solidFill>
                <a:effectLst/>
                <a:latin typeface="Courier New" panose="02070309020205020404" pitchFamily="49" charset="0"/>
              </a:rPr>
              <a:t>TempEmployees</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CREATE TEMPORARY TABLE </a:t>
            </a:r>
            <a:r>
              <a:rPr lang="en-US" b="0" i="0" dirty="0" err="1">
                <a:solidFill>
                  <a:srgbClr val="212529"/>
                </a:solidFill>
                <a:effectLst/>
                <a:latin typeface="Courier New" panose="02070309020205020404" pitchFamily="49" charset="0"/>
              </a:rPr>
              <a:t>TempEmployees</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 Define a column 'ID' of integer type</a:t>
            </a:r>
          </a:p>
          <a:p>
            <a:pPr algn="l">
              <a:spcBef>
                <a:spcPts val="1125"/>
              </a:spcBef>
              <a:spcAft>
                <a:spcPts val="375"/>
              </a:spcAft>
              <a:buNone/>
            </a:pPr>
            <a:r>
              <a:rPr lang="en-US" b="0" i="0" dirty="0">
                <a:solidFill>
                  <a:srgbClr val="212529"/>
                </a:solidFill>
                <a:effectLst/>
                <a:latin typeface="Courier New" panose="02070309020205020404" pitchFamily="49" charset="0"/>
              </a:rPr>
              <a:t>ID INT,</a:t>
            </a:r>
          </a:p>
          <a:p>
            <a:pPr algn="l">
              <a:spcBef>
                <a:spcPts val="1125"/>
              </a:spcBef>
              <a:spcAft>
                <a:spcPts val="375"/>
              </a:spcAft>
              <a:buNone/>
            </a:pPr>
            <a:r>
              <a:rPr lang="en-US" b="0" i="0" dirty="0">
                <a:solidFill>
                  <a:srgbClr val="212529"/>
                </a:solidFill>
                <a:effectLst/>
                <a:latin typeface="Courier New" panose="02070309020205020404" pitchFamily="49" charset="0"/>
              </a:rPr>
              <a:t>-- Define a column 'Name' that can store up to 50 characters</a:t>
            </a:r>
          </a:p>
          <a:p>
            <a:pPr algn="l">
              <a:spcBef>
                <a:spcPts val="1125"/>
              </a:spcBef>
              <a:spcAft>
                <a:spcPts val="375"/>
              </a:spcAft>
              <a:buNone/>
            </a:pPr>
            <a:r>
              <a:rPr lang="en-US" b="0" i="0" dirty="0">
                <a:solidFill>
                  <a:srgbClr val="212529"/>
                </a:solidFill>
                <a:effectLst/>
                <a:latin typeface="Courier New" panose="02070309020205020404" pitchFamily="49" charset="0"/>
              </a:rPr>
              <a:t>Name VARCHAR(50) );</a:t>
            </a:r>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7F3B9E-5D04-180C-BF41-5E9EBC8E78E4}"/>
              </a:ext>
            </a:extLst>
          </p:cNvPr>
          <p:cNvSpPr txBox="1"/>
          <p:nvPr/>
        </p:nvSpPr>
        <p:spPr>
          <a:xfrm>
            <a:off x="470847" y="470521"/>
            <a:ext cx="8714095" cy="16183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What are ACID properties?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ACID</a:t>
            </a:r>
            <a:r>
              <a:rPr lang="en-US" b="0" i="0" dirty="0">
                <a:solidFill>
                  <a:srgbClr val="3A3A3A"/>
                </a:solidFill>
                <a:effectLst/>
                <a:latin typeface="Roboto" panose="02000000000000000000" pitchFamily="2" charset="0"/>
              </a:rPr>
              <a:t> stands for atomicity, consistency, isolation, and durability. These properties ensure the reliable processing of database transactions.</a:t>
            </a:r>
          </a:p>
        </p:txBody>
      </p:sp>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E8C9C8-F345-75FD-C536-51F912481BC5}"/>
              </a:ext>
            </a:extLst>
          </p:cNvPr>
          <p:cNvSpPr txBox="1"/>
          <p:nvPr/>
        </p:nvSpPr>
        <p:spPr>
          <a:xfrm>
            <a:off x="409433" y="412790"/>
            <a:ext cx="9062113" cy="274690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When will you use the DISTINCT keyword?</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DISTINCT is used to eliminate duplicate rows.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SELECT COUNT (DISTINCT </a:t>
            </a:r>
            <a:r>
              <a:rPr lang="en-US" b="0" i="0" dirty="0" err="1">
                <a:solidFill>
                  <a:srgbClr val="3A3A3A"/>
                </a:solidFill>
                <a:effectLst/>
                <a:latin typeface="Roboto" panose="02000000000000000000" pitchFamily="2" charset="0"/>
              </a:rPr>
              <a:t>Table_name</a:t>
            </a:r>
            <a:r>
              <a:rPr lang="en-US" b="0" i="0" dirty="0">
                <a:solidFill>
                  <a:srgbClr val="3A3A3A"/>
                </a:solidFill>
                <a:effectLst/>
                <a:latin typeface="Roboto" panose="02000000000000000000" pitchFamily="2" charset="0"/>
              </a:rPr>
              <a:t>). This can be used to count the unique records.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However, using it multiple times can impact the table’s performance.</a:t>
            </a:r>
          </a:p>
        </p:txBody>
      </p:sp>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7DD7B7-38A5-6532-79AF-563653FE6492}"/>
              </a:ext>
            </a:extLst>
          </p:cNvPr>
          <p:cNvSpPr txBox="1"/>
          <p:nvPr/>
        </p:nvSpPr>
        <p:spPr>
          <a:xfrm>
            <a:off x="354841" y="680713"/>
            <a:ext cx="8952932" cy="215700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26. What do you mean by foreign key?</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foreign key is a table column or a set of columns in a relational database system that establishes a link between data in two tables. It is used to implement referential integrity by ensuring that the value in the foreign key column matches a primary key value in another table.</a:t>
            </a:r>
          </a:p>
        </p:txBody>
      </p:sp>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3B7C20-5371-E66C-EA93-8BD7E03A9A12}"/>
              </a:ext>
            </a:extLst>
          </p:cNvPr>
          <p:cNvSpPr txBox="1"/>
          <p:nvPr/>
        </p:nvSpPr>
        <p:spPr>
          <a:xfrm>
            <a:off x="477671" y="430281"/>
            <a:ext cx="8693624" cy="498085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27. How will you prevent SQL injection?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injection can be prevented very efficiently if we use parameterized queries or prepared statements instead of dynamic SQL, where we concatenate strings.</a:t>
            </a:r>
          </a:p>
          <a:p>
            <a:pPr algn="just">
              <a:lnSpc>
                <a:spcPts val="2100"/>
              </a:lnSpc>
              <a:spcBef>
                <a:spcPts val="750"/>
              </a:spcBef>
              <a:buNone/>
            </a:pPr>
            <a:r>
              <a:rPr lang="en-US" b="0" i="0" dirty="0">
                <a:solidFill>
                  <a:srgbClr val="3A3A3A"/>
                </a:solidFill>
                <a:effectLst/>
                <a:latin typeface="Roboto" panose="02000000000000000000" pitchFamily="2" charset="0"/>
              </a:rPr>
              <a:t>So instead of writing:</a:t>
            </a:r>
          </a:p>
          <a:p>
            <a:pPr algn="l">
              <a:spcBef>
                <a:spcPts val="1125"/>
              </a:spcBef>
              <a:spcAft>
                <a:spcPts val="375"/>
              </a:spcAft>
              <a:buNone/>
            </a:pPr>
            <a:r>
              <a:rPr lang="en-US" b="0" i="0" dirty="0">
                <a:solidFill>
                  <a:srgbClr val="212529"/>
                </a:solidFill>
                <a:effectLst/>
                <a:latin typeface="Courier New" panose="02070309020205020404" pitchFamily="49" charset="0"/>
              </a:rPr>
              <a:t>"SELECT * FROM users WHERE id = " + </a:t>
            </a:r>
            <a:r>
              <a:rPr lang="en-US" b="0" i="0" dirty="0" err="1">
                <a:solidFill>
                  <a:srgbClr val="212529"/>
                </a:solidFill>
                <a:effectLst/>
                <a:latin typeface="Courier New" panose="02070309020205020404" pitchFamily="49" charset="0"/>
              </a:rPr>
              <a:t>user_input</a:t>
            </a:r>
            <a:r>
              <a:rPr lang="en-US" b="0" i="0" dirty="0">
                <a:solidFill>
                  <a:srgbClr val="212529"/>
                </a:solidFill>
                <a:effectLst/>
                <a:latin typeface="Courier New" panose="02070309020205020404" pitchFamily="49" charset="0"/>
              </a:rPr>
              <a:t>;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You should write:</a:t>
            </a:r>
          </a:p>
          <a:p>
            <a:pPr algn="l">
              <a:spcBef>
                <a:spcPts val="1125"/>
              </a:spcBef>
              <a:spcAft>
                <a:spcPts val="375"/>
              </a:spcAft>
              <a:buNone/>
            </a:pPr>
            <a:r>
              <a:rPr lang="en-US" b="0" i="0" dirty="0">
                <a:solidFill>
                  <a:srgbClr val="212529"/>
                </a:solidFill>
                <a:effectLst/>
                <a:latin typeface="Courier New" panose="02070309020205020404" pitchFamily="49" charset="0"/>
              </a:rPr>
              <a:t>"SELECT * FROM users WHERE id = %s"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Now, </a:t>
            </a:r>
            <a:r>
              <a:rPr lang="en-US" b="0" i="0" u="none" strike="noStrike" dirty="0">
                <a:solidFill>
                  <a:srgbClr val="0F5A9E"/>
                </a:solidFill>
                <a:effectLst/>
                <a:latin typeface="Roboto" panose="02000000000000000000" pitchFamily="2" charset="0"/>
                <a:hlinkClick r:id="rId2"/>
              </a:rPr>
              <a:t>user input</a:t>
            </a:r>
            <a:r>
              <a:rPr lang="en-US" b="0" i="0" dirty="0">
                <a:solidFill>
                  <a:srgbClr val="3A3A3A"/>
                </a:solidFill>
                <a:effectLst/>
                <a:latin typeface="Roboto" panose="02000000000000000000" pitchFamily="2" charset="0"/>
              </a:rPr>
              <a:t> is only data, no matter how the code is executed. This method makes sure that even if the user decides to insert some illegal SQL commands, they will not be executed. Prepared statements are available in most SQL libraries of today, and they are regarded as the most suitable method for implementing application security against SQL injection attacks.</a:t>
            </a:r>
          </a:p>
        </p:txBody>
      </p:sp>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19AFC4-DF0A-F5B5-1C13-9E8E1083132C}"/>
              </a:ext>
            </a:extLst>
          </p:cNvPr>
          <p:cNvSpPr txBox="1"/>
          <p:nvPr/>
        </p:nvSpPr>
        <p:spPr>
          <a:xfrm>
            <a:off x="764275" y="2084607"/>
            <a:ext cx="8297838"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28. What is a function in SQL, and why do we use functions?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function is a </a:t>
            </a:r>
            <a:r>
              <a:rPr lang="en-US" b="0" i="0" u="none" strike="noStrike" dirty="0">
                <a:solidFill>
                  <a:srgbClr val="0F5A9E"/>
                </a:solidFill>
                <a:effectLst/>
                <a:latin typeface="Roboto" panose="02000000000000000000" pitchFamily="2" charset="0"/>
                <a:hlinkClick r:id="rId2"/>
              </a:rPr>
              <a:t>database</a:t>
            </a:r>
            <a:r>
              <a:rPr lang="en-US" b="0" i="0" dirty="0">
                <a:solidFill>
                  <a:srgbClr val="3A3A3A"/>
                </a:solidFill>
                <a:effectLst/>
                <a:latin typeface="Roboto" panose="02000000000000000000" pitchFamily="2" charset="0"/>
              </a:rPr>
              <a:t> object that encapsulates a set of SQL statements that perform operations and return a specific result. SQL functions are used to increase the readability and reusability of code.</a:t>
            </a:r>
          </a:p>
        </p:txBody>
      </p:sp>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E13FAF3-34FF-6D85-A430-C609FB584379}"/>
              </a:ext>
            </a:extLst>
          </p:cNvPr>
          <p:cNvSpPr txBox="1"/>
          <p:nvPr/>
        </p:nvSpPr>
        <p:spPr>
          <a:xfrm>
            <a:off x="491318" y="500840"/>
            <a:ext cx="8898341" cy="424731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29. What is normalization? Explain its types.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Normalization is used to reduce data redundancy and improve data integrity. </a:t>
            </a:r>
            <a:r>
              <a:rPr lang="en-US" b="0" i="0" u="none" strike="noStrike" dirty="0">
                <a:solidFill>
                  <a:srgbClr val="0F5A9E"/>
                </a:solidFill>
                <a:effectLst/>
                <a:latin typeface="Roboto" panose="02000000000000000000" pitchFamily="2" charset="0"/>
                <a:hlinkClick r:id="rId2"/>
              </a:rPr>
              <a:t>Normalization </a:t>
            </a:r>
            <a:r>
              <a:rPr lang="en-US" b="0" i="0" dirty="0">
                <a:solidFill>
                  <a:srgbClr val="3A3A3A"/>
                </a:solidFill>
                <a:effectLst/>
                <a:latin typeface="Roboto" panose="02000000000000000000" pitchFamily="2" charset="0"/>
              </a:rPr>
              <a:t>splits the big table into multiple </a:t>
            </a:r>
            <a:r>
              <a:rPr lang="en-US" b="0" i="0" dirty="0" err="1">
                <a:solidFill>
                  <a:srgbClr val="3A3A3A"/>
                </a:solidFill>
                <a:effectLst/>
                <a:latin typeface="Roboto" panose="02000000000000000000" pitchFamily="2" charset="0"/>
              </a:rPr>
              <a:t>subtables</a:t>
            </a:r>
            <a:r>
              <a:rPr lang="en-US" b="0" i="0" dirty="0">
                <a:solidFill>
                  <a:srgbClr val="3A3A3A"/>
                </a:solidFill>
                <a:effectLst/>
                <a:latin typeface="Roboto" panose="02000000000000000000" pitchFamily="2" charset="0"/>
              </a:rPr>
              <a:t> and ensures that database </a:t>
            </a:r>
            <a:r>
              <a:rPr lang="en-US" b="0" i="0" u="none" strike="noStrike" dirty="0">
                <a:solidFill>
                  <a:srgbClr val="0F5A9E"/>
                </a:solidFill>
                <a:effectLst/>
                <a:latin typeface="Roboto" panose="02000000000000000000" pitchFamily="2" charset="0"/>
                <a:hlinkClick r:id="rId3"/>
              </a:rPr>
              <a:t>integrity constraints</a:t>
            </a:r>
            <a:r>
              <a:rPr lang="en-US" b="0" i="0" dirty="0">
                <a:solidFill>
                  <a:srgbClr val="3A3A3A"/>
                </a:solidFill>
                <a:effectLst/>
                <a:latin typeface="Roboto" panose="02000000000000000000" pitchFamily="2" charset="0"/>
              </a:rPr>
              <a:t> are intact in their relationship with each other. It is a process of decomposing tables to eliminate data redundancy.</a:t>
            </a:r>
          </a:p>
          <a:p>
            <a:pPr algn="just">
              <a:lnSpc>
                <a:spcPts val="2100"/>
              </a:lnSpc>
              <a:spcBef>
                <a:spcPts val="750"/>
              </a:spcBef>
              <a:buNone/>
            </a:pPr>
            <a:r>
              <a:rPr lang="en-US" b="0" i="0" dirty="0">
                <a:solidFill>
                  <a:srgbClr val="3A3A3A"/>
                </a:solidFill>
                <a:effectLst/>
                <a:latin typeface="Roboto" panose="02000000000000000000" pitchFamily="2" charset="0"/>
              </a:rPr>
              <a:t>Types of normalization: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1NF: Ensures that each column contains only atomic (indivisible) values.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2NF: Remove partial dependencies.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3NF: Remove transitive dependencies.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BCNF: Ensures that every determinant is a candidate key.</a:t>
            </a:r>
          </a:p>
        </p:txBody>
      </p:sp>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C1132C-4943-32E0-80EA-4DB6333FE20D}"/>
              </a:ext>
            </a:extLst>
          </p:cNvPr>
          <p:cNvSpPr txBox="1"/>
          <p:nvPr/>
        </p:nvSpPr>
        <p:spPr>
          <a:xfrm>
            <a:off x="408295" y="0"/>
            <a:ext cx="9089409" cy="671722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30. What is AUTO_INCREMENT?</a:t>
            </a:r>
            <a:br>
              <a:rPr lang="en-US" b="0" i="0" dirty="0">
                <a:solidFill>
                  <a:srgbClr val="272C37"/>
                </a:solidFill>
                <a:effectLst/>
                <a:latin typeface="Roboto" panose="02000000000000000000" pitchFamily="2" charset="0"/>
              </a:rPr>
            </a:br>
            <a:r>
              <a:rPr lang="en-US" b="0" i="0" dirty="0">
                <a:solidFill>
                  <a:srgbClr val="3A3A3A"/>
                </a:solidFill>
                <a:effectLst/>
                <a:latin typeface="Roboto" panose="02000000000000000000" pitchFamily="2" charset="0"/>
              </a:rPr>
              <a:t>AUTO_INCREMENT is used in SQL to automatically generate a unique number whenever a new record is inserted into a table. This is mainly used in scenarios where individual columns or groups of columns cannot be used as primary keys.</a:t>
            </a:r>
          </a:p>
          <a:p>
            <a:pPr algn="just">
              <a:lnSpc>
                <a:spcPts val="2100"/>
              </a:lnSpc>
              <a:spcBef>
                <a:spcPts val="750"/>
              </a:spcBef>
              <a:buNone/>
            </a:pPr>
            <a:r>
              <a:rPr lang="en-US" b="0" i="0" dirty="0">
                <a:solidFill>
                  <a:srgbClr val="3A3A3A"/>
                </a:solidFill>
                <a:effectLst/>
                <a:latin typeface="Roboto" panose="02000000000000000000" pitchFamily="2" charset="0"/>
              </a:rPr>
              <a:t>For Example:</a:t>
            </a:r>
          </a:p>
          <a:p>
            <a:pPr algn="l">
              <a:spcBef>
                <a:spcPts val="1125"/>
              </a:spcBef>
              <a:spcAft>
                <a:spcPts val="375"/>
              </a:spcAft>
              <a:buNone/>
            </a:pPr>
            <a:r>
              <a:rPr lang="en-US" b="0" i="0" dirty="0">
                <a:solidFill>
                  <a:srgbClr val="212529"/>
                </a:solidFill>
                <a:effectLst/>
                <a:latin typeface="Courier New" panose="02070309020205020404" pitchFamily="49" charset="0"/>
              </a:rPr>
              <a:t>-- Create a table named 'Employee'</a:t>
            </a:r>
          </a:p>
          <a:p>
            <a:pPr algn="l">
              <a:spcBef>
                <a:spcPts val="1125"/>
              </a:spcBef>
              <a:spcAft>
                <a:spcPts val="375"/>
              </a:spcAft>
              <a:buNone/>
            </a:pPr>
            <a:r>
              <a:rPr lang="en-US" b="0" i="0" dirty="0">
                <a:solidFill>
                  <a:srgbClr val="212529"/>
                </a:solidFill>
                <a:effectLst/>
                <a:latin typeface="Courier New" panose="02070309020205020404" pitchFamily="49" charset="0"/>
              </a:rPr>
              <a:t>CREATE TABLE Employee (</a:t>
            </a:r>
          </a:p>
          <a:p>
            <a:pPr algn="l">
              <a:spcBef>
                <a:spcPts val="1125"/>
              </a:spcBef>
              <a:spcAft>
                <a:spcPts val="375"/>
              </a:spcAft>
              <a:buNone/>
            </a:pPr>
            <a:r>
              <a:rPr lang="en-US" b="0" i="0" dirty="0">
                <a:solidFill>
                  <a:srgbClr val="212529"/>
                </a:solidFill>
                <a:effectLst/>
                <a:latin typeface="Courier New" panose="02070309020205020404" pitchFamily="49" charset="0"/>
              </a:rPr>
              <a:t>-- Use AUTO_INCREMENT to automatically generate a unique ID for each new record</a:t>
            </a:r>
          </a:p>
          <a:p>
            <a:pPr algn="l">
              <a:spcBef>
                <a:spcPts val="1125"/>
              </a:spcBef>
              <a:spcAft>
                <a:spcPts val="375"/>
              </a:spcAft>
              <a:buNone/>
            </a:pP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INT NOT NULL AUTO_INCREMENT,</a:t>
            </a:r>
          </a:p>
          <a:p>
            <a:pPr algn="l">
              <a:spcBef>
                <a:spcPts val="1125"/>
              </a:spcBef>
              <a:spcAft>
                <a:spcPts val="375"/>
              </a:spcAft>
              <a:buNone/>
            </a:pP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VARCHAR(255) NOT NULL,</a:t>
            </a:r>
          </a:p>
          <a:p>
            <a:pPr algn="l">
              <a:spcBef>
                <a:spcPts val="1125"/>
              </a:spcBef>
              <a:spcAft>
                <a:spcPts val="375"/>
              </a:spcAft>
              <a:buNone/>
            </a:pPr>
            <a:r>
              <a:rPr lang="en-US" b="0" i="0" dirty="0" err="1">
                <a:solidFill>
                  <a:srgbClr val="212529"/>
                </a:solidFill>
                <a:effectLst/>
                <a:latin typeface="Courier New" panose="02070309020205020404" pitchFamily="49" charset="0"/>
              </a:rPr>
              <a:t>Employee_designation</a:t>
            </a:r>
            <a:r>
              <a:rPr lang="en-US" b="0" i="0" dirty="0">
                <a:solidFill>
                  <a:srgbClr val="212529"/>
                </a:solidFill>
                <a:effectLst/>
                <a:latin typeface="Courier New" panose="02070309020205020404" pitchFamily="49" charset="0"/>
              </a:rPr>
              <a:t> VARCHAR(255),</a:t>
            </a:r>
          </a:p>
          <a:p>
            <a:pPr algn="l">
              <a:spcBef>
                <a:spcPts val="1125"/>
              </a:spcBef>
              <a:spcAft>
                <a:spcPts val="375"/>
              </a:spcAft>
              <a:buNone/>
            </a:pPr>
            <a:r>
              <a:rPr lang="en-US" b="0" i="0" dirty="0">
                <a:solidFill>
                  <a:srgbClr val="212529"/>
                </a:solidFill>
                <a:effectLst/>
                <a:latin typeface="Courier New" panose="02070309020205020404" pitchFamily="49" charset="0"/>
              </a:rPr>
              <a:t>Age INT,</a:t>
            </a:r>
          </a:p>
          <a:p>
            <a:pPr algn="l">
              <a:spcBef>
                <a:spcPts val="1125"/>
              </a:spcBef>
              <a:spcAft>
                <a:spcPts val="375"/>
              </a:spcAft>
              <a:buNone/>
            </a:pPr>
            <a:r>
              <a:rPr lang="en-US" b="0" i="0" dirty="0">
                <a:solidFill>
                  <a:srgbClr val="212529"/>
                </a:solidFill>
                <a:effectLst/>
                <a:latin typeface="Courier New" panose="02070309020205020404" pitchFamily="49" charset="0"/>
              </a:rPr>
              <a:t>-- Set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as the AUTO_INCREMENT Primary Key of the table</a:t>
            </a:r>
          </a:p>
          <a:p>
            <a:pPr algn="l">
              <a:spcBef>
                <a:spcPts val="1125"/>
              </a:spcBef>
              <a:spcAft>
                <a:spcPts val="375"/>
              </a:spcAft>
              <a:buNone/>
            </a:pPr>
            <a:r>
              <a:rPr lang="en-US" b="0" i="0" dirty="0">
                <a:solidFill>
                  <a:srgbClr val="212529"/>
                </a:solidFill>
                <a:effectLst/>
                <a:latin typeface="Courier New" panose="02070309020205020404" pitchFamily="49" charset="0"/>
              </a:rPr>
              <a:t>PRIMARY KEY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 </a:t>
            </a:r>
          </a:p>
        </p:txBody>
      </p:sp>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8D18D0-A949-953D-9703-42F480D1D1D6}"/>
              </a:ext>
            </a:extLst>
          </p:cNvPr>
          <p:cNvSpPr txBox="1"/>
          <p:nvPr/>
        </p:nvSpPr>
        <p:spPr>
          <a:xfrm>
            <a:off x="354841" y="254581"/>
            <a:ext cx="6830704" cy="387542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31. What are aggregate functions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Aggregate functions in SQL carry out a computation over a collection of values and produce a single outcome. Typical instances encompass: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COUNT(): Returns the number of rows.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SUM(): Returns the total sum.</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AVG(): Returns the average value.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MIN() / MAX(): Return the minimum or maximum value, respectively.</a:t>
            </a:r>
          </a:p>
        </p:txBody>
      </p:sp>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F437B2-5177-B60E-9830-452950D7BADD}"/>
              </a:ext>
            </a:extLst>
          </p:cNvPr>
          <p:cNvSpPr txBox="1"/>
          <p:nvPr/>
        </p:nvSpPr>
        <p:spPr>
          <a:xfrm>
            <a:off x="655093" y="673965"/>
            <a:ext cx="6776112" cy="497828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32. What are SQL dialects?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dialects are generally the variations of standard SQL syntax and features that are implemented by different database vendors. Examples include: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T-SQL for Microsoft SQL Server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PL/SQL for Oracle</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pgSQL</a:t>
            </a:r>
            <a:r>
              <a:rPr lang="en-US" b="0" i="0" dirty="0">
                <a:solidFill>
                  <a:srgbClr val="3A3A3A"/>
                </a:solidFill>
                <a:effectLst/>
                <a:latin typeface="Roboto" panose="02000000000000000000" pitchFamily="2" charset="0"/>
              </a:rPr>
              <a:t> for PostgreSQL</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MySQL’s extended SQL</a:t>
            </a:r>
          </a:p>
          <a:p>
            <a:pPr algn="just">
              <a:lnSpc>
                <a:spcPts val="2100"/>
              </a:lnSpc>
              <a:spcBef>
                <a:spcPts val="1650"/>
              </a:spcBef>
              <a:buNone/>
            </a:pPr>
            <a:r>
              <a:rPr lang="en-US" b="0" i="0" dirty="0">
                <a:solidFill>
                  <a:srgbClr val="3A3A3A"/>
                </a:solidFill>
                <a:effectLst/>
                <a:latin typeface="Roboto" panose="02000000000000000000" pitchFamily="2" charset="0"/>
              </a:rPr>
              <a:t>Though the main SQL syntax is still fairly the same, these dialects bring in proprietary functions, procedural abilities, and performance features that are designed specifically for particular systems.</a:t>
            </a:r>
          </a:p>
        </p:txBody>
      </p:sp>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845A14-EB12-A5DD-5E05-DAB63E9C4577}"/>
              </a:ext>
            </a:extLst>
          </p:cNvPr>
          <p:cNvSpPr txBox="1"/>
          <p:nvPr/>
        </p:nvSpPr>
        <p:spPr>
          <a:xfrm>
            <a:off x="2477069" y="673965"/>
            <a:ext cx="4954136" cy="551689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33. What are the different types of SQL operators?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supports several operator categories: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Arithmetic Operators: +, -, *, / (perform calculations)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Comparison Operators: =, &lt;, &gt;, &lt;=, &gt;=, &lt;&gt; (used in WHERE clauses)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Logical Operators: AND, OR, NOT (combine multiple conditions)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Set Operators: UNION, INTERSECT, EXCEPT (combine result sets)</a:t>
            </a:r>
          </a:p>
          <a:p>
            <a:pPr algn="just">
              <a:lnSpc>
                <a:spcPts val="2100"/>
              </a:lnSpc>
              <a:spcBef>
                <a:spcPts val="1650"/>
              </a:spcBef>
              <a:buNone/>
            </a:pPr>
            <a:r>
              <a:rPr lang="en-US" b="0" i="0" dirty="0">
                <a:solidFill>
                  <a:srgbClr val="3A3A3A"/>
                </a:solidFill>
                <a:effectLst/>
                <a:latin typeface="Roboto" panose="02000000000000000000" pitchFamily="2" charset="0"/>
              </a:rPr>
              <a:t>Understanding how to use these operators is crucial for writing efficient and readable SQL queries.</a:t>
            </a:r>
          </a:p>
        </p:txBody>
      </p:sp>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27E4E2-4388-B487-EA19-D3F09D94FE81}"/>
              </a:ext>
            </a:extLst>
          </p:cNvPr>
          <p:cNvSpPr txBox="1"/>
          <p:nvPr/>
        </p:nvSpPr>
        <p:spPr>
          <a:xfrm>
            <a:off x="2477069" y="1606271"/>
            <a:ext cx="4954136" cy="365228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34. How to select all columns from a table?</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In SQL, to get all the columns from a table, you can use the wildcard character asterisk (*)</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table_name</a:t>
            </a:r>
            <a:r>
              <a:rPr lang="en-US" b="0" i="0" dirty="0">
                <a:solidFill>
                  <a:srgbClr val="212529"/>
                </a:solidFill>
                <a:effectLst/>
                <a:latin typeface="Courier New" panose="02070309020205020404" pitchFamily="49" charset="0"/>
              </a:rPr>
              <a:t>;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 above query retrieves all the columns of a table. Although it is a good practice during development, in production, it is advisable to explicitly mention the columns to be retrieved so as to increase performance and readability.</a:t>
            </a:r>
          </a:p>
        </p:txBody>
      </p:sp>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CEDABF-1DA3-542D-5605-18DDA1397360}"/>
              </a:ext>
            </a:extLst>
          </p:cNvPr>
          <p:cNvSpPr txBox="1"/>
          <p:nvPr/>
        </p:nvSpPr>
        <p:spPr>
          <a:xfrm>
            <a:off x="2477069" y="404660"/>
            <a:ext cx="4954136" cy="60555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35. What are scalar functions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Scalar functions in SQL are built-in functions that take one or more inputs and return a single value. Some of the common Scalar functions.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UPPER() / LOWER() – Converts text to uppercase or lowercase, respectively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LEN() – Returns the number of characters in a string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ROUND() – Rounds a numeric value to the specified number of decimal places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GETDATE() – Retrieves the current system date and time</a:t>
            </a:r>
          </a:p>
          <a:p>
            <a:pPr algn="just">
              <a:lnSpc>
                <a:spcPts val="2100"/>
              </a:lnSpc>
              <a:spcBef>
                <a:spcPts val="1650"/>
              </a:spcBef>
              <a:buNone/>
            </a:pPr>
            <a:r>
              <a:rPr lang="en-US" b="0" i="0" dirty="0">
                <a:solidFill>
                  <a:srgbClr val="3A3A3A"/>
                </a:solidFill>
                <a:effectLst/>
                <a:latin typeface="Roboto" panose="02000000000000000000" pitchFamily="2" charset="0"/>
              </a:rPr>
              <a:t>These functions are useful for data formatting, transformation, and validation within SQL queries.</a:t>
            </a:r>
          </a:p>
        </p:txBody>
      </p:sp>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6565BD-8EDA-6D2B-7630-B9C85A2C343C}"/>
              </a:ext>
            </a:extLst>
          </p:cNvPr>
          <p:cNvSpPr txBox="1"/>
          <p:nvPr/>
        </p:nvSpPr>
        <p:spPr>
          <a:xfrm>
            <a:off x="2477069" y="1680651"/>
            <a:ext cx="4954136" cy="350352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36. What are indexed views?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An indexed view is a view in SQL that has a unique clustered index created on it, thus only the data of the view result is physically stored on the disk. In comparison to traditional views, indexed views improve performance by calculating the joins and aggregations before execution. Indexed views are most beneficial in SQL Server to improve performance in OLAP scenarios.</a:t>
            </a:r>
          </a:p>
        </p:txBody>
      </p:sp>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AD92BC-5D7E-D6F3-18C5-AF19B5755E76}"/>
              </a:ext>
            </a:extLst>
          </p:cNvPr>
          <p:cNvSpPr txBox="1"/>
          <p:nvPr/>
        </p:nvSpPr>
        <p:spPr>
          <a:xfrm>
            <a:off x="2477069" y="449544"/>
            <a:ext cx="4954136" cy="596573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37. What are the different isolation levels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supports five isolation levels to handle concurrency in transactions: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Read Uncommitted: Allows dirty reads.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Read Committed: Default in most databases, and it avoids dirty reads.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Repeatable Read: Prevents dirty and non-repeatable reads.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Serializable: Highest isolation in order to prevent phantom reads.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Snapshot: Maintains versioned data to avoid locking.</a:t>
            </a:r>
          </a:p>
          <a:p>
            <a:pPr algn="just">
              <a:lnSpc>
                <a:spcPts val="2100"/>
              </a:lnSpc>
              <a:spcBef>
                <a:spcPts val="1650"/>
              </a:spcBef>
              <a:buNone/>
            </a:pPr>
            <a:r>
              <a:rPr lang="en-US" b="0" i="0" dirty="0">
                <a:solidFill>
                  <a:srgbClr val="3A3A3A"/>
                </a:solidFill>
                <a:effectLst/>
                <a:latin typeface="Roboto" panose="02000000000000000000" pitchFamily="2" charset="0"/>
              </a:rPr>
              <a:t>These levels balance between data consistency and performance in SQL</a:t>
            </a:r>
          </a:p>
        </p:txBody>
      </p:sp>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290F1F-7360-1F50-B5F0-90B1E1E0B419}"/>
              </a:ext>
            </a:extLst>
          </p:cNvPr>
          <p:cNvSpPr txBox="1"/>
          <p:nvPr/>
        </p:nvSpPr>
        <p:spPr>
          <a:xfrm>
            <a:off x="764275" y="1545998"/>
            <a:ext cx="8775510" cy="24263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38. What is SQL Server Integration Services (SSIS)?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Server Integration Services (SSIS) is a platform developed by Microsoft to carry out ETL (Extract, Transform, Load) functions. It generally allows data migration, transformation, and workflow automation across various data sources. Typically, SSIS is very useful for building data warehouses, which makes it essential for Business Intelligence(BI) projects.</a:t>
            </a:r>
          </a:p>
        </p:txBody>
      </p:sp>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09F5A6-C432-CB5C-7B37-F67E0C181AB3}"/>
              </a:ext>
            </a:extLst>
          </p:cNvPr>
          <p:cNvSpPr txBox="1"/>
          <p:nvPr/>
        </p:nvSpPr>
        <p:spPr>
          <a:xfrm>
            <a:off x="709684" y="449544"/>
            <a:ext cx="8679976" cy="461921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39. What are the applications of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is a popular language in various sectors and career roles. Its most important applications are: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Handling and searching in relational databases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Carrying out data analysis and generating reports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Creating backend logic in apps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Helping ETL pipelines in data warehousing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Maintaining data integrity and setting up access control</a:t>
            </a:r>
          </a:p>
          <a:p>
            <a:pPr algn="just">
              <a:lnSpc>
                <a:spcPts val="2100"/>
              </a:lnSpc>
              <a:spcBef>
                <a:spcPts val="1650"/>
              </a:spcBef>
              <a:buNone/>
            </a:pPr>
            <a:r>
              <a:rPr lang="en-US" b="0" i="0" dirty="0">
                <a:solidFill>
                  <a:srgbClr val="3A3A3A"/>
                </a:solidFill>
                <a:effectLst/>
                <a:latin typeface="Roboto" panose="02000000000000000000" pitchFamily="2" charset="0"/>
              </a:rPr>
              <a:t>SQL flexibility turns it into a fundamental skill that data analysts, software developers, DBAs, and BI professionals all have in common.</a:t>
            </a:r>
          </a:p>
        </p:txBody>
      </p:sp>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51BA09-EA47-80DD-69AD-1F16896C99F8}"/>
              </a:ext>
            </a:extLst>
          </p:cNvPr>
          <p:cNvSpPr txBox="1"/>
          <p:nvPr/>
        </p:nvSpPr>
        <p:spPr>
          <a:xfrm>
            <a:off x="545910" y="1871729"/>
            <a:ext cx="8666329" cy="230575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40. What is DESC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In SQL, DESC stands for descending. It is used to sort records in descending order, i.e., highest to lowest. It is usually clubbed with the ORDER BY clause to sort records. Here is an example of the same:</a:t>
            </a:r>
          </a:p>
          <a:p>
            <a:pPr algn="l">
              <a:spcBef>
                <a:spcPts val="1125"/>
              </a:spcBef>
              <a:spcAft>
                <a:spcPts val="375"/>
              </a:spcAft>
              <a:buNone/>
            </a:pPr>
            <a:r>
              <a:rPr lang="en-US" b="0" i="0" dirty="0">
                <a:solidFill>
                  <a:srgbClr val="212529"/>
                </a:solidFill>
                <a:effectLst/>
                <a:latin typeface="Courier New" panose="02070309020205020404" pitchFamily="49" charset="0"/>
              </a:rPr>
              <a:t>SELECT * FROM employees ORDER BY salary DESC; </a:t>
            </a:r>
          </a:p>
        </p:txBody>
      </p:sp>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613CC1-3860-F61E-1600-D12C5C19710C}"/>
              </a:ext>
            </a:extLst>
          </p:cNvPr>
          <p:cNvSpPr txBox="1"/>
          <p:nvPr/>
        </p:nvSpPr>
        <p:spPr>
          <a:xfrm>
            <a:off x="586854" y="1171537"/>
            <a:ext cx="8720919" cy="37138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41. What is a schema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In SQL, a schema can be termed as a structure that groups tables, views, databases, and stored procedures. Using a schema prevents conflict and allows two names to exist in parallel, divided by the schema. Here is an example of the same:</a:t>
            </a:r>
          </a:p>
          <a:p>
            <a:pPr algn="l">
              <a:spcBef>
                <a:spcPts val="1125"/>
              </a:spcBef>
              <a:spcAft>
                <a:spcPts val="375"/>
              </a:spcAft>
              <a:buNone/>
            </a:pPr>
            <a:r>
              <a:rPr lang="en-US" b="0" i="0" dirty="0">
                <a:solidFill>
                  <a:srgbClr val="212529"/>
                </a:solidFill>
                <a:effectLst/>
                <a:latin typeface="Courier New" panose="02070309020205020404" pitchFamily="49" charset="0"/>
              </a:rPr>
              <a:t>CREATE SCHEMA sales;</a:t>
            </a:r>
          </a:p>
          <a:p>
            <a:pPr algn="l">
              <a:spcBef>
                <a:spcPts val="1125"/>
              </a:spcBef>
              <a:spcAft>
                <a:spcPts val="375"/>
              </a:spcAft>
              <a:buNone/>
            </a:pPr>
            <a:r>
              <a:rPr lang="en-US" b="0" i="0" dirty="0">
                <a:solidFill>
                  <a:srgbClr val="212529"/>
                </a:solidFill>
                <a:effectLst/>
                <a:latin typeface="Courier New" panose="02070309020205020404" pitchFamily="49" charset="0"/>
              </a:rPr>
              <a:t>CREATE TABLE </a:t>
            </a:r>
            <a:r>
              <a:rPr lang="en-US" b="0" i="0" dirty="0" err="1">
                <a:solidFill>
                  <a:srgbClr val="212529"/>
                </a:solidFill>
                <a:effectLst/>
                <a:latin typeface="Courier New" panose="02070309020205020404" pitchFamily="49" charset="0"/>
              </a:rPr>
              <a:t>sales.orders</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err="1">
                <a:solidFill>
                  <a:srgbClr val="212529"/>
                </a:solidFill>
                <a:effectLst/>
                <a:latin typeface="Courier New" panose="02070309020205020404" pitchFamily="49" charset="0"/>
              </a:rPr>
              <a:t>order_id</a:t>
            </a:r>
            <a:r>
              <a:rPr lang="en-US" b="0" i="0" dirty="0">
                <a:solidFill>
                  <a:srgbClr val="212529"/>
                </a:solidFill>
                <a:effectLst/>
                <a:latin typeface="Courier New" panose="02070309020205020404" pitchFamily="49" charset="0"/>
              </a:rPr>
              <a:t> INT,</a:t>
            </a:r>
          </a:p>
          <a:p>
            <a:pPr algn="l">
              <a:spcBef>
                <a:spcPts val="1125"/>
              </a:spcBef>
              <a:spcAft>
                <a:spcPts val="375"/>
              </a:spcAft>
              <a:buNone/>
            </a:pPr>
            <a:r>
              <a:rPr lang="en-US" b="0" i="0" dirty="0" err="1">
                <a:solidFill>
                  <a:srgbClr val="212529"/>
                </a:solidFill>
                <a:effectLst/>
                <a:latin typeface="Courier New" panose="02070309020205020404" pitchFamily="49" charset="0"/>
              </a:rPr>
              <a:t>order_date</a:t>
            </a:r>
            <a:r>
              <a:rPr lang="en-US" b="0" i="0" dirty="0">
                <a:solidFill>
                  <a:srgbClr val="212529"/>
                </a:solidFill>
                <a:effectLst/>
                <a:latin typeface="Courier New" panose="02070309020205020404" pitchFamily="49" charset="0"/>
              </a:rPr>
              <a:t> DATE );</a:t>
            </a:r>
          </a:p>
        </p:txBody>
      </p:sp>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F73509-527B-6F51-8973-21A8CCDECD3D}"/>
              </a:ext>
            </a:extLst>
          </p:cNvPr>
          <p:cNvSpPr txBox="1"/>
          <p:nvPr/>
        </p:nvSpPr>
        <p:spPr>
          <a:xfrm>
            <a:off x="2477069" y="894538"/>
            <a:ext cx="4954136" cy="507574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42. Can we rollback DELETE?</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Yes, after using the DELETE command, you can roll back if you are using the TRANSACTION command. DELETE is a DML command, so when you rollback, all the transactions are undone and the records are restored. Here is an example of the same:</a:t>
            </a:r>
          </a:p>
          <a:p>
            <a:pPr algn="l">
              <a:spcBef>
                <a:spcPts val="1125"/>
              </a:spcBef>
              <a:spcAft>
                <a:spcPts val="375"/>
              </a:spcAft>
              <a:buNone/>
            </a:pPr>
            <a:r>
              <a:rPr lang="en-US" b="0" i="0" dirty="0">
                <a:solidFill>
                  <a:srgbClr val="212529"/>
                </a:solidFill>
                <a:effectLst/>
                <a:latin typeface="Courier New" panose="02070309020205020404" pitchFamily="49" charset="0"/>
              </a:rPr>
              <a:t>BEGIN TRANSACTION; -- Start a transaction</a:t>
            </a:r>
          </a:p>
          <a:p>
            <a:pPr algn="l">
              <a:spcBef>
                <a:spcPts val="1125"/>
              </a:spcBef>
              <a:spcAft>
                <a:spcPts val="375"/>
              </a:spcAft>
              <a:buNone/>
            </a:pPr>
            <a:r>
              <a:rPr lang="en-US" b="0" i="0" dirty="0">
                <a:solidFill>
                  <a:srgbClr val="212529"/>
                </a:solidFill>
                <a:effectLst/>
                <a:latin typeface="Courier New" panose="02070309020205020404" pitchFamily="49" charset="0"/>
              </a:rPr>
              <a:t>DELETE FROM employees</a:t>
            </a: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 101; -- This delete happens temporarily</a:t>
            </a:r>
          </a:p>
          <a:p>
            <a:pPr algn="l">
              <a:spcBef>
                <a:spcPts val="1125"/>
              </a:spcBef>
              <a:spcAft>
                <a:spcPts val="375"/>
              </a:spcAft>
              <a:buNone/>
            </a:pPr>
            <a:r>
              <a:rPr lang="en-US" b="0" i="0" dirty="0">
                <a:solidFill>
                  <a:srgbClr val="212529"/>
                </a:solidFill>
                <a:effectLst/>
                <a:latin typeface="Courier New" panose="02070309020205020404" pitchFamily="49" charset="0"/>
              </a:rPr>
              <a:t>ROLLBACK; -- Undo the delete</a:t>
            </a:r>
          </a:p>
        </p:txBody>
      </p:sp>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0239F0-2DFE-3B26-0467-390B314DB3B2}"/>
              </a:ext>
            </a:extLst>
          </p:cNvPr>
          <p:cNvSpPr txBox="1"/>
          <p:nvPr/>
        </p:nvSpPr>
        <p:spPr>
          <a:xfrm>
            <a:off x="2477069" y="1571646"/>
            <a:ext cx="4954136" cy="372153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43. Explain how CASE statements work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CASE</a:t>
            </a:r>
            <a:r>
              <a:rPr lang="en-US" b="0" i="0" dirty="0">
                <a:solidFill>
                  <a:srgbClr val="3A3A3A"/>
                </a:solidFill>
                <a:effectLst/>
                <a:latin typeface="Roboto" panose="02000000000000000000" pitchFamily="2" charset="0"/>
              </a:rPr>
              <a:t> provides if-then-else logic in SQL like this:</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 CASE</a:t>
            </a:r>
          </a:p>
          <a:p>
            <a:pPr algn="l">
              <a:spcBef>
                <a:spcPts val="1125"/>
              </a:spcBef>
              <a:spcAft>
                <a:spcPts val="375"/>
              </a:spcAft>
              <a:buNone/>
            </a:pPr>
            <a:r>
              <a:rPr lang="en-US" b="0" i="0" dirty="0">
                <a:solidFill>
                  <a:srgbClr val="212529"/>
                </a:solidFill>
                <a:effectLst/>
                <a:latin typeface="Courier New" panose="02070309020205020404" pitchFamily="49" charset="0"/>
              </a:rPr>
              <a:t>WHEN price &gt; 100 THEN 'Premium'</a:t>
            </a:r>
          </a:p>
          <a:p>
            <a:pPr algn="l">
              <a:spcBef>
                <a:spcPts val="1125"/>
              </a:spcBef>
              <a:spcAft>
                <a:spcPts val="375"/>
              </a:spcAft>
              <a:buNone/>
            </a:pPr>
            <a:r>
              <a:rPr lang="en-US" b="0" i="0" dirty="0">
                <a:solidFill>
                  <a:srgbClr val="212529"/>
                </a:solidFill>
                <a:effectLst/>
                <a:latin typeface="Courier New" panose="02070309020205020404" pitchFamily="49" charset="0"/>
              </a:rPr>
              <a:t>WHEN price &gt; 50 THEN 'Standard'</a:t>
            </a:r>
          </a:p>
          <a:p>
            <a:pPr algn="l">
              <a:spcBef>
                <a:spcPts val="1125"/>
              </a:spcBef>
              <a:spcAft>
                <a:spcPts val="375"/>
              </a:spcAft>
              <a:buNone/>
            </a:pPr>
            <a:r>
              <a:rPr lang="en-US" b="0" i="0" dirty="0">
                <a:solidFill>
                  <a:srgbClr val="212529"/>
                </a:solidFill>
                <a:effectLst/>
                <a:latin typeface="Courier New" panose="02070309020205020404" pitchFamily="49" charset="0"/>
              </a:rPr>
              <a:t>ELSE 'Budget' END AS tier FROM products </a:t>
            </a:r>
          </a:p>
        </p:txBody>
      </p:sp>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954783-65E4-5AC5-9B3F-972CEFF06203}"/>
              </a:ext>
            </a:extLst>
          </p:cNvPr>
          <p:cNvSpPr txBox="1"/>
          <p:nvPr/>
        </p:nvSpPr>
        <p:spPr>
          <a:xfrm>
            <a:off x="416257" y="361339"/>
            <a:ext cx="3514298" cy="269561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44. What is a pivot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 PIVOT command is used to </a:t>
            </a:r>
            <a:r>
              <a:rPr lang="en-US" b="0" i="0" dirty="0" err="1">
                <a:solidFill>
                  <a:srgbClr val="3A3A3A"/>
                </a:solidFill>
                <a:effectLst/>
                <a:latin typeface="Roboto" panose="02000000000000000000" pitchFamily="2" charset="0"/>
              </a:rPr>
              <a:t>summarise</a:t>
            </a:r>
            <a:r>
              <a:rPr lang="en-US" b="0" i="0" dirty="0">
                <a:solidFill>
                  <a:srgbClr val="3A3A3A"/>
                </a:solidFill>
                <a:effectLst/>
                <a:latin typeface="Roboto" panose="02000000000000000000" pitchFamily="2" charset="0"/>
              </a:rPr>
              <a:t> the data. It converts rows into columns, which helps in better analysis. Let’s understand this using an example:</a:t>
            </a:r>
          </a:p>
        </p:txBody>
      </p:sp>
      <p:graphicFrame>
        <p:nvGraphicFramePr>
          <p:cNvPr id="4" name="Table 3">
            <a:extLst>
              <a:ext uri="{FF2B5EF4-FFF2-40B4-BE49-F238E27FC236}">
                <a16:creationId xmlns:a16="http://schemas.microsoft.com/office/drawing/2014/main" id="{B8E4C53F-2EBC-E829-22EE-3AEDE80CDBC1}"/>
              </a:ext>
            </a:extLst>
          </p:cNvPr>
          <p:cNvGraphicFramePr>
            <a:graphicFrameLocks noGrp="1"/>
          </p:cNvGraphicFramePr>
          <p:nvPr>
            <p:extLst>
              <p:ext uri="{D42A27DB-BD31-4B8C-83A1-F6EECF244321}">
                <p14:modId xmlns:p14="http://schemas.microsoft.com/office/powerpoint/2010/main" val="4077217913"/>
              </p:ext>
            </p:extLst>
          </p:nvPr>
        </p:nvGraphicFramePr>
        <p:xfrm>
          <a:off x="571857" y="3496331"/>
          <a:ext cx="3249516" cy="1828800"/>
        </p:xfrm>
        <a:graphic>
          <a:graphicData uri="http://schemas.openxmlformats.org/drawingml/2006/table">
            <a:tbl>
              <a:tblPr/>
              <a:tblGrid>
                <a:gridCol w="1083172">
                  <a:extLst>
                    <a:ext uri="{9D8B030D-6E8A-4147-A177-3AD203B41FA5}">
                      <a16:colId xmlns:a16="http://schemas.microsoft.com/office/drawing/2014/main" val="1695613222"/>
                    </a:ext>
                  </a:extLst>
                </a:gridCol>
                <a:gridCol w="1083172">
                  <a:extLst>
                    <a:ext uri="{9D8B030D-6E8A-4147-A177-3AD203B41FA5}">
                      <a16:colId xmlns:a16="http://schemas.microsoft.com/office/drawing/2014/main" val="572564295"/>
                    </a:ext>
                  </a:extLst>
                </a:gridCol>
                <a:gridCol w="1083172">
                  <a:extLst>
                    <a:ext uri="{9D8B030D-6E8A-4147-A177-3AD203B41FA5}">
                      <a16:colId xmlns:a16="http://schemas.microsoft.com/office/drawing/2014/main" val="132109695"/>
                    </a:ext>
                  </a:extLst>
                </a:gridCol>
              </a:tblGrid>
              <a:tr h="0">
                <a:tc>
                  <a:txBody>
                    <a:bodyPr/>
                    <a:lstStyle/>
                    <a:p>
                      <a:pPr algn="ctr" fontAlgn="t">
                        <a:buNone/>
                      </a:pPr>
                      <a:r>
                        <a:rPr lang="en-US" b="0">
                          <a:solidFill>
                            <a:srgbClr val="FFFFFF"/>
                          </a:solidFill>
                          <a:effectLst/>
                        </a:rPr>
                        <a:t>Product</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Year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Sales</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067418993"/>
                  </a:ext>
                </a:extLst>
              </a:tr>
              <a:tr h="0">
                <a:tc>
                  <a:txBody>
                    <a:bodyPr/>
                    <a:lstStyle/>
                    <a:p>
                      <a:pPr fontAlgn="t">
                        <a:buNone/>
                      </a:pPr>
                      <a:r>
                        <a:rPr lang="en-US" b="0">
                          <a:effectLst/>
                        </a:rPr>
                        <a:t>A</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2022</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100</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96799477"/>
                  </a:ext>
                </a:extLst>
              </a:tr>
              <a:tr h="0">
                <a:tc>
                  <a:txBody>
                    <a:bodyPr/>
                    <a:lstStyle/>
                    <a:p>
                      <a:pPr fontAlgn="t">
                        <a:buNone/>
                      </a:pPr>
                      <a:r>
                        <a:rPr lang="en-US" b="0">
                          <a:effectLst/>
                        </a:rPr>
                        <a:t>B</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2022</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150</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16457725"/>
                  </a:ext>
                </a:extLst>
              </a:tr>
              <a:tr h="0">
                <a:tc>
                  <a:txBody>
                    <a:bodyPr/>
                    <a:lstStyle/>
                    <a:p>
                      <a:pPr fontAlgn="t">
                        <a:buNone/>
                      </a:pPr>
                      <a:r>
                        <a:rPr lang="en-US" b="0">
                          <a:effectLst/>
                        </a:rPr>
                        <a:t>A</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2023</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200</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53005358"/>
                  </a:ext>
                </a:extLst>
              </a:tr>
              <a:tr h="0">
                <a:tc>
                  <a:txBody>
                    <a:bodyPr/>
                    <a:lstStyle/>
                    <a:p>
                      <a:pPr fontAlgn="t">
                        <a:buNone/>
                      </a:pPr>
                      <a:r>
                        <a:rPr lang="en-US" b="0">
                          <a:effectLst/>
                        </a:rPr>
                        <a:t>B</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2023</a:t>
                      </a:r>
                      <a:endParaRPr lang="en-US">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dirty="0">
                          <a:effectLst/>
                        </a:rPr>
                        <a:t>250</a:t>
                      </a:r>
                      <a:endParaRPr lang="en-US" dirty="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206080192"/>
                  </a:ext>
                </a:extLst>
              </a:tr>
            </a:tbl>
          </a:graphicData>
        </a:graphic>
      </p:graphicFrame>
      <p:sp>
        <p:nvSpPr>
          <p:cNvPr id="6" name="TextBox 5">
            <a:extLst>
              <a:ext uri="{FF2B5EF4-FFF2-40B4-BE49-F238E27FC236}">
                <a16:creationId xmlns:a16="http://schemas.microsoft.com/office/drawing/2014/main" id="{E327CB31-FDC6-69B9-E310-A1040D0FBB50}"/>
              </a:ext>
            </a:extLst>
          </p:cNvPr>
          <p:cNvSpPr txBox="1"/>
          <p:nvPr/>
        </p:nvSpPr>
        <p:spPr>
          <a:xfrm>
            <a:off x="416257" y="5511548"/>
            <a:ext cx="4954136" cy="646331"/>
          </a:xfrm>
          <a:prstGeom prst="rect">
            <a:avLst/>
          </a:prstGeom>
          <a:noFill/>
        </p:spPr>
        <p:txBody>
          <a:bodyPr wrap="square">
            <a:spAutoFit/>
          </a:bodyPr>
          <a:lstStyle/>
          <a:p>
            <a:r>
              <a:rPr lang="en-US" b="0" i="0" dirty="0">
                <a:solidFill>
                  <a:srgbClr val="3A3A3A"/>
                </a:solidFill>
                <a:effectLst/>
                <a:latin typeface="Roboto" panose="02000000000000000000" pitchFamily="2" charset="0"/>
              </a:rPr>
              <a:t>Question: Find the sales of Product A and Product B in 2022 and 2023</a:t>
            </a:r>
            <a:endParaRPr lang="en-US" dirty="0"/>
          </a:p>
        </p:txBody>
      </p:sp>
      <p:graphicFrame>
        <p:nvGraphicFramePr>
          <p:cNvPr id="7" name="Table 6">
            <a:extLst>
              <a:ext uri="{FF2B5EF4-FFF2-40B4-BE49-F238E27FC236}">
                <a16:creationId xmlns:a16="http://schemas.microsoft.com/office/drawing/2014/main" id="{CEEE7761-73B7-AAB1-3A2C-87E08540817F}"/>
              </a:ext>
            </a:extLst>
          </p:cNvPr>
          <p:cNvGraphicFramePr>
            <a:graphicFrameLocks noGrp="1"/>
          </p:cNvGraphicFramePr>
          <p:nvPr>
            <p:extLst>
              <p:ext uri="{D42A27DB-BD31-4B8C-83A1-F6EECF244321}">
                <p14:modId xmlns:p14="http://schemas.microsoft.com/office/powerpoint/2010/main" val="2025644330"/>
              </p:ext>
            </p:extLst>
          </p:nvPr>
        </p:nvGraphicFramePr>
        <p:xfrm>
          <a:off x="4953000" y="5286073"/>
          <a:ext cx="4768497" cy="1097280"/>
        </p:xfrm>
        <a:graphic>
          <a:graphicData uri="http://schemas.openxmlformats.org/drawingml/2006/table">
            <a:tbl>
              <a:tblPr/>
              <a:tblGrid>
                <a:gridCol w="1589499">
                  <a:extLst>
                    <a:ext uri="{9D8B030D-6E8A-4147-A177-3AD203B41FA5}">
                      <a16:colId xmlns:a16="http://schemas.microsoft.com/office/drawing/2014/main" val="2492351693"/>
                    </a:ext>
                  </a:extLst>
                </a:gridCol>
                <a:gridCol w="1589499">
                  <a:extLst>
                    <a:ext uri="{9D8B030D-6E8A-4147-A177-3AD203B41FA5}">
                      <a16:colId xmlns:a16="http://schemas.microsoft.com/office/drawing/2014/main" val="2639932527"/>
                    </a:ext>
                  </a:extLst>
                </a:gridCol>
                <a:gridCol w="1589499">
                  <a:extLst>
                    <a:ext uri="{9D8B030D-6E8A-4147-A177-3AD203B41FA5}">
                      <a16:colId xmlns:a16="http://schemas.microsoft.com/office/drawing/2014/main" val="1763559708"/>
                    </a:ext>
                  </a:extLst>
                </a:gridCol>
              </a:tblGrid>
              <a:tr h="0">
                <a:tc>
                  <a:txBody>
                    <a:bodyPr/>
                    <a:lstStyle/>
                    <a:p>
                      <a:pPr algn="ctr" fontAlgn="t">
                        <a:buNone/>
                      </a:pPr>
                      <a:r>
                        <a:rPr lang="en-US">
                          <a:solidFill>
                            <a:srgbClr val="FFFFFF"/>
                          </a:solidFill>
                          <a:effectLst/>
                        </a:rPr>
                        <a:t>Product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a:solidFill>
                            <a:srgbClr val="FFFFFF"/>
                          </a:solidFill>
                          <a:effectLst/>
                        </a:rPr>
                        <a:t>sales_2022</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a:solidFill>
                            <a:srgbClr val="FFFFFF"/>
                          </a:solidFill>
                          <a:effectLst/>
                        </a:rPr>
                        <a:t>sales_2023</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154159730"/>
                  </a:ext>
                </a:extLst>
              </a:tr>
              <a:tr h="0">
                <a:tc>
                  <a:txBody>
                    <a:bodyPr/>
                    <a:lstStyle/>
                    <a:p>
                      <a:pPr fontAlgn="t">
                        <a:buNone/>
                      </a:pPr>
                      <a:r>
                        <a:rPr lang="en-US">
                          <a:effectLst/>
                        </a:rPr>
                        <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a:effectLst/>
                        </a:rPr>
                        <a:t>100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a:effectLst/>
                        </a:rPr>
                        <a:t>200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591574770"/>
                  </a:ext>
                </a:extLst>
              </a:tr>
              <a:tr h="0">
                <a:tc>
                  <a:txBody>
                    <a:bodyPr/>
                    <a:lstStyle/>
                    <a:p>
                      <a:pPr fontAlgn="t">
                        <a:buNone/>
                      </a:pPr>
                      <a:r>
                        <a:rPr lang="en-US">
                          <a:effectLst/>
                        </a:rPr>
                        <a:t>B</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a:effectLst/>
                        </a:rPr>
                        <a:t>150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dirty="0">
                          <a:effectLst/>
                        </a:rPr>
                        <a:t>250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2770028605"/>
                  </a:ext>
                </a:extLst>
              </a:tr>
            </a:tbl>
          </a:graphicData>
        </a:graphic>
      </p:graphicFrame>
      <p:sp>
        <p:nvSpPr>
          <p:cNvPr id="8" name="Rectangle 1">
            <a:extLst>
              <a:ext uri="{FF2B5EF4-FFF2-40B4-BE49-F238E27FC236}">
                <a16:creationId xmlns:a16="http://schemas.microsoft.com/office/drawing/2014/main" id="{78DB418A-0FCD-9863-7CFE-560E98321511}"/>
              </a:ext>
            </a:extLst>
          </p:cNvPr>
          <p:cNvSpPr>
            <a:spLocks noChangeArrowheads="1"/>
          </p:cNvSpPr>
          <p:nvPr/>
        </p:nvSpPr>
        <p:spPr bwMode="auto">
          <a:xfrm>
            <a:off x="4109780" y="242921"/>
            <a:ext cx="5528693"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A3A3A"/>
                </a:solidFill>
                <a:effectLst/>
                <a:latin typeface="Roboto" panose="02000000000000000000" pitchFamily="2" charset="0"/>
              </a:rPr>
              <a:t>Output Data:</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AFCCCA52-078E-B129-F562-96DC74E48B29}"/>
              </a:ext>
            </a:extLst>
          </p:cNvPr>
          <p:cNvSpPr txBox="1"/>
          <p:nvPr/>
        </p:nvSpPr>
        <p:spPr>
          <a:xfrm>
            <a:off x="4684338" y="242921"/>
            <a:ext cx="4954136" cy="2972609"/>
          </a:xfrm>
          <a:prstGeom prst="rect">
            <a:avLst/>
          </a:prstGeom>
          <a:noFill/>
        </p:spPr>
        <p:txBody>
          <a:bodyPr wrap="square">
            <a:spAutoFit/>
          </a:bodyPr>
          <a:lstStyle/>
          <a:p>
            <a:pPr algn="just">
              <a:lnSpc>
                <a:spcPts val="2100"/>
              </a:lnSpc>
              <a:spcBef>
                <a:spcPts val="1650"/>
              </a:spcBef>
              <a:buNone/>
            </a:pPr>
            <a:r>
              <a:rPr lang="en-US" sz="1400" b="0" i="0" dirty="0">
                <a:solidFill>
                  <a:srgbClr val="3A3A3A"/>
                </a:solidFill>
                <a:effectLst/>
                <a:latin typeface="Roboto" panose="02000000000000000000" pitchFamily="2" charset="0"/>
              </a:rPr>
              <a:t>Query Used:</a:t>
            </a:r>
          </a:p>
          <a:p>
            <a:pPr algn="l">
              <a:spcBef>
                <a:spcPts val="1125"/>
              </a:spcBef>
              <a:spcAft>
                <a:spcPts val="375"/>
              </a:spcAft>
              <a:buNone/>
            </a:pPr>
            <a:r>
              <a:rPr lang="en-US" sz="1400" b="0" i="0" dirty="0">
                <a:solidFill>
                  <a:srgbClr val="212529"/>
                </a:solidFill>
                <a:effectLst/>
                <a:latin typeface="Courier New" panose="02070309020205020404" pitchFamily="49" charset="0"/>
              </a:rPr>
              <a:t>SELECT</a:t>
            </a:r>
          </a:p>
          <a:p>
            <a:pPr algn="l">
              <a:spcBef>
                <a:spcPts val="1125"/>
              </a:spcBef>
              <a:spcAft>
                <a:spcPts val="375"/>
              </a:spcAft>
              <a:buNone/>
            </a:pPr>
            <a:r>
              <a:rPr lang="en-US" sz="1400" b="0" i="0" dirty="0">
                <a:solidFill>
                  <a:srgbClr val="212529"/>
                </a:solidFill>
                <a:effectLst/>
                <a:latin typeface="Courier New" panose="02070309020205020404" pitchFamily="49" charset="0"/>
              </a:rPr>
              <a:t>product, [2022] AS sales_2022, [2023]</a:t>
            </a:r>
          </a:p>
          <a:p>
            <a:pPr algn="l">
              <a:spcBef>
                <a:spcPts val="1125"/>
              </a:spcBef>
              <a:spcAft>
                <a:spcPts val="375"/>
              </a:spcAft>
              <a:buNone/>
            </a:pPr>
            <a:r>
              <a:rPr lang="en-US" sz="1400" b="0" i="0" dirty="0">
                <a:solidFill>
                  <a:srgbClr val="212529"/>
                </a:solidFill>
                <a:effectLst/>
                <a:latin typeface="Courier New" panose="02070309020205020404" pitchFamily="49" charset="0"/>
              </a:rPr>
              <a:t>AS sales_2023 FROM</a:t>
            </a:r>
          </a:p>
          <a:p>
            <a:pPr algn="l">
              <a:spcBef>
                <a:spcPts val="1125"/>
              </a:spcBef>
              <a:spcAft>
                <a:spcPts val="375"/>
              </a:spcAft>
              <a:buNone/>
            </a:pPr>
            <a:r>
              <a:rPr lang="en-US" sz="1400" b="0" i="0" dirty="0">
                <a:solidFill>
                  <a:srgbClr val="212529"/>
                </a:solidFill>
                <a:effectLst/>
                <a:latin typeface="Courier New" panose="02070309020205020404" pitchFamily="49" charset="0"/>
              </a:rPr>
              <a:t>( SELECT product, year, sales FROM sales )</a:t>
            </a:r>
          </a:p>
          <a:p>
            <a:pPr algn="l">
              <a:spcBef>
                <a:spcPts val="1125"/>
              </a:spcBef>
              <a:spcAft>
                <a:spcPts val="375"/>
              </a:spcAft>
              <a:buNone/>
            </a:pPr>
            <a:r>
              <a:rPr lang="en-US" sz="1400" b="0" i="0" dirty="0">
                <a:solidFill>
                  <a:srgbClr val="212529"/>
                </a:solidFill>
                <a:effectLst/>
                <a:latin typeface="Courier New" panose="02070309020205020404" pitchFamily="49" charset="0"/>
              </a:rPr>
              <a:t>AS </a:t>
            </a:r>
            <a:r>
              <a:rPr lang="en-US" sz="1400" b="0" i="0" dirty="0" err="1">
                <a:solidFill>
                  <a:srgbClr val="212529"/>
                </a:solidFill>
                <a:effectLst/>
                <a:latin typeface="Courier New" panose="02070309020205020404" pitchFamily="49" charset="0"/>
              </a:rPr>
              <a:t>SourceTable</a:t>
            </a:r>
            <a:r>
              <a:rPr lang="en-US" sz="1400" b="0" i="0" dirty="0">
                <a:solidFill>
                  <a:srgbClr val="212529"/>
                </a:solidFill>
                <a:effectLst/>
                <a:latin typeface="Courier New" panose="02070309020205020404" pitchFamily="49" charset="0"/>
              </a:rPr>
              <a:t> PIVOT ( SUM(sales) FOR year IN ([2022], [2023]) )</a:t>
            </a:r>
          </a:p>
          <a:p>
            <a:pPr algn="l">
              <a:spcBef>
                <a:spcPts val="1125"/>
              </a:spcBef>
              <a:spcAft>
                <a:spcPts val="375"/>
              </a:spcAft>
              <a:buNone/>
            </a:pPr>
            <a:r>
              <a:rPr lang="en-US" sz="1400" b="0" i="0" dirty="0">
                <a:solidFill>
                  <a:srgbClr val="212529"/>
                </a:solidFill>
                <a:effectLst/>
                <a:latin typeface="Courier New" panose="02070309020205020404" pitchFamily="49" charset="0"/>
              </a:rPr>
              <a:t>AS PivotTable;    </a:t>
            </a:r>
            <a:r>
              <a:rPr lang="en-US" sz="1400" b="0" i="0" dirty="0" err="1">
                <a:solidFill>
                  <a:srgbClr val="212529"/>
                </a:solidFill>
                <a:effectLst/>
                <a:latin typeface="Courier New" panose="02070309020205020404" pitchFamily="49" charset="0"/>
              </a:rPr>
              <a:t>xse</a:t>
            </a:r>
            <a:endParaRPr lang="en-US" sz="1400" b="0" i="0" dirty="0">
              <a:solidFill>
                <a:srgbClr val="212529"/>
              </a:solidFill>
              <a:effectLst/>
              <a:latin typeface="Courier New" panose="02070309020205020404" pitchFamily="49" charset="0"/>
            </a:endParaRPr>
          </a:p>
        </p:txBody>
      </p:sp>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6A8D11-DD99-9799-2A0A-8ADACA7A47D7}"/>
              </a:ext>
            </a:extLst>
          </p:cNvPr>
          <p:cNvSpPr txBox="1"/>
          <p:nvPr/>
        </p:nvSpPr>
        <p:spPr>
          <a:xfrm>
            <a:off x="2477069" y="890691"/>
            <a:ext cx="4954136" cy="508344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45. What is a dynamic SQL query?</a:t>
            </a:r>
          </a:p>
          <a:p>
            <a:pPr algn="just">
              <a:lnSpc>
                <a:spcPts val="2100"/>
              </a:lnSpc>
              <a:spcBef>
                <a:spcPts val="1650"/>
              </a:spcBef>
              <a:buNone/>
            </a:pPr>
            <a:r>
              <a:rPr lang="en-US" b="0" i="0" dirty="0">
                <a:solidFill>
                  <a:srgbClr val="3A3A3A"/>
                </a:solidFill>
                <a:effectLst/>
                <a:latin typeface="Roboto" panose="02000000000000000000" pitchFamily="2" charset="0"/>
              </a:rPr>
              <a:t>A Dynamic SQL query is a technique in SQL wherein the query is built during runtime, giving dynamic inputs in the query. This makes the query flexible enough to create multiple use cases using the same query. Here is an example of the same:</a:t>
            </a:r>
          </a:p>
          <a:p>
            <a:pPr algn="l">
              <a:spcBef>
                <a:spcPts val="1125"/>
              </a:spcBef>
              <a:spcAft>
                <a:spcPts val="375"/>
              </a:spcAft>
              <a:buNone/>
            </a:pPr>
            <a:r>
              <a:rPr lang="en-US" b="0" i="0" dirty="0">
                <a:solidFill>
                  <a:srgbClr val="212529"/>
                </a:solidFill>
                <a:effectLst/>
                <a:latin typeface="Courier New" panose="02070309020205020404" pitchFamily="49" charset="0"/>
              </a:rPr>
              <a:t>DECLARE @tableName NVARCHAR(50) = 'employees';</a:t>
            </a:r>
          </a:p>
          <a:p>
            <a:pPr algn="l">
              <a:spcBef>
                <a:spcPts val="1125"/>
              </a:spcBef>
              <a:spcAft>
                <a:spcPts val="375"/>
              </a:spcAft>
              <a:buNone/>
            </a:pPr>
            <a:r>
              <a:rPr lang="en-US" b="0" i="0" dirty="0">
                <a:solidFill>
                  <a:srgbClr val="212529"/>
                </a:solidFill>
                <a:effectLst/>
                <a:latin typeface="Courier New" panose="02070309020205020404" pitchFamily="49" charset="0"/>
              </a:rPr>
              <a:t>DECLARE @query NVARCHAR(MAX);</a:t>
            </a:r>
          </a:p>
          <a:p>
            <a:pPr algn="l">
              <a:spcBef>
                <a:spcPts val="1125"/>
              </a:spcBef>
              <a:spcAft>
                <a:spcPts val="375"/>
              </a:spcAft>
              <a:buNone/>
            </a:pPr>
            <a:r>
              <a:rPr lang="en-US" b="0" i="0" dirty="0">
                <a:solidFill>
                  <a:srgbClr val="212529"/>
                </a:solidFill>
                <a:effectLst/>
                <a:latin typeface="Courier New" panose="02070309020205020404" pitchFamily="49" charset="0"/>
              </a:rPr>
              <a:t>SET @query = 'SELECT * FROM ' + @tableName + '</a:t>
            </a:r>
          </a:p>
          <a:p>
            <a:pPr algn="l">
              <a:spcBef>
                <a:spcPts val="1125"/>
              </a:spcBef>
              <a:spcAft>
                <a:spcPts val="375"/>
              </a:spcAft>
              <a:buNone/>
            </a:pPr>
            <a:r>
              <a:rPr lang="en-US" b="0" i="0" dirty="0">
                <a:solidFill>
                  <a:srgbClr val="212529"/>
                </a:solidFill>
                <a:effectLst/>
                <a:latin typeface="Courier New" panose="02070309020205020404" pitchFamily="49" charset="0"/>
              </a:rPr>
              <a:t>WHERE department = ''HR'''; EXEC(@query); </a:t>
            </a:r>
          </a:p>
        </p:txBody>
      </p:sp>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84F0AF-B974-A549-810E-206E244A3361}"/>
              </a:ext>
            </a:extLst>
          </p:cNvPr>
          <p:cNvSpPr txBox="1"/>
          <p:nvPr/>
        </p:nvSpPr>
        <p:spPr>
          <a:xfrm>
            <a:off x="2477069" y="539313"/>
            <a:ext cx="4954136" cy="578619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46. What is RDBMS? How is it different from a standard DBMS?</a:t>
            </a:r>
          </a:p>
          <a:p>
            <a:pPr algn="just">
              <a:lnSpc>
                <a:spcPts val="2100"/>
              </a:lnSpc>
              <a:spcBef>
                <a:spcPts val="1650"/>
              </a:spcBef>
              <a:buNone/>
            </a:pPr>
            <a:r>
              <a:rPr lang="en-US" b="0" i="0" dirty="0">
                <a:solidFill>
                  <a:srgbClr val="3A3A3A"/>
                </a:solidFill>
                <a:effectLst/>
                <a:latin typeface="Roboto" panose="02000000000000000000" pitchFamily="2" charset="0"/>
              </a:rPr>
              <a:t>An RDBMS (Relational Database Management System) stores data in structured tables with rows and columns and maintains relationships using keys, whereas a DBMS stores data without enforcing relationships.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RDBMS supports primary keys, foreign keys, and normalization</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DBMS does not enforce relationships between data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RDBMS ensures better data integrity and consistency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RDBMS supports multi-user access efficiently</a:t>
            </a:r>
          </a:p>
          <a:p>
            <a:pPr algn="just">
              <a:lnSpc>
                <a:spcPts val="2100"/>
              </a:lnSpc>
              <a:spcBef>
                <a:spcPts val="1650"/>
              </a:spcBef>
              <a:buNone/>
            </a:pPr>
            <a:r>
              <a:rPr lang="en-US" b="0" i="0" dirty="0">
                <a:solidFill>
                  <a:srgbClr val="3A3A3A"/>
                </a:solidFill>
                <a:effectLst/>
                <a:latin typeface="Roboto" panose="02000000000000000000" pitchFamily="2" charset="0"/>
              </a:rPr>
              <a:t>Examples of RDBMS include MySQL, PostgreSQL, and Oracle.</a:t>
            </a:r>
          </a:p>
        </p:txBody>
      </p:sp>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153A91-C4B2-F84C-EC21-EDD19B8EBDB2}"/>
              </a:ext>
            </a:extLst>
          </p:cNvPr>
          <p:cNvSpPr txBox="1"/>
          <p:nvPr/>
        </p:nvSpPr>
        <p:spPr>
          <a:xfrm>
            <a:off x="2477069" y="1347226"/>
            <a:ext cx="4954136" cy="417037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47. What is an Alias in SQL?</a:t>
            </a:r>
          </a:p>
          <a:p>
            <a:pPr algn="just">
              <a:lnSpc>
                <a:spcPts val="2100"/>
              </a:lnSpc>
              <a:spcBef>
                <a:spcPts val="1650"/>
              </a:spcBef>
              <a:buNone/>
            </a:pPr>
            <a:r>
              <a:rPr lang="en-US" b="0" i="0" dirty="0">
                <a:solidFill>
                  <a:srgbClr val="3A3A3A"/>
                </a:solidFill>
                <a:effectLst/>
                <a:latin typeface="Roboto" panose="02000000000000000000" pitchFamily="2" charset="0"/>
              </a:rPr>
              <a:t>An Alias in SQL is a temporary name assigned to a table or column to make SQL queries more readable and easier to understand.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Improves query readability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Helps simplify complex column names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Useful in joins and calculated columns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Exists only during query execution</a:t>
            </a:r>
          </a:p>
          <a:p>
            <a:pPr algn="just">
              <a:lnSpc>
                <a:spcPts val="2100"/>
              </a:lnSpc>
              <a:spcBef>
                <a:spcPts val="1650"/>
              </a:spcBef>
              <a:buNone/>
            </a:pPr>
            <a:r>
              <a:rPr lang="en-US" b="0" i="0" dirty="0">
                <a:solidFill>
                  <a:srgbClr val="3A3A3A"/>
                </a:solidFill>
                <a:effectLst/>
                <a:latin typeface="Roboto" panose="02000000000000000000" pitchFamily="2" charset="0"/>
              </a:rPr>
              <a:t>Aliases do not change the actual table or column names in the database.</a:t>
            </a:r>
          </a:p>
        </p:txBody>
      </p:sp>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7C6ACD-CDD2-18D0-C62C-896B4CE58815}"/>
              </a:ext>
            </a:extLst>
          </p:cNvPr>
          <p:cNvSpPr txBox="1"/>
          <p:nvPr/>
        </p:nvSpPr>
        <p:spPr>
          <a:xfrm>
            <a:off x="2477069" y="629081"/>
            <a:ext cx="4954136" cy="560666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48. What is the order of execution in an SQL query?</a:t>
            </a:r>
          </a:p>
          <a:p>
            <a:pPr algn="just">
              <a:lnSpc>
                <a:spcPts val="2100"/>
              </a:lnSpc>
              <a:spcBef>
                <a:spcPts val="1650"/>
              </a:spcBef>
              <a:buNone/>
            </a:pPr>
            <a:r>
              <a:rPr lang="en-US" b="0" i="0" dirty="0">
                <a:solidFill>
                  <a:srgbClr val="3A3A3A"/>
                </a:solidFill>
                <a:effectLst/>
                <a:latin typeface="Roboto" panose="02000000000000000000" pitchFamily="2" charset="0"/>
              </a:rPr>
              <a:t>The order of execution in SQL defines how a query is processed internally by the database engine, which is different from how the query is written.</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FROM – Identifies the source tables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WHERE – Filters rows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GROUP BY – Groups rows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HAVING – Filters grouped data</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SELECT – Selects columns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ORDER BY – Sorts the final result</a:t>
            </a:r>
          </a:p>
          <a:p>
            <a:pPr algn="just">
              <a:lnSpc>
                <a:spcPts val="2100"/>
              </a:lnSpc>
              <a:spcBef>
                <a:spcPts val="1650"/>
              </a:spcBef>
              <a:buNone/>
            </a:pPr>
            <a:r>
              <a:rPr lang="en-US" b="0" i="0" dirty="0">
                <a:solidFill>
                  <a:srgbClr val="3A3A3A"/>
                </a:solidFill>
                <a:effectLst/>
                <a:latin typeface="Roboto" panose="02000000000000000000" pitchFamily="2" charset="0"/>
              </a:rPr>
              <a:t>Understanding this order helps write correct and optimized SQL queries.</a:t>
            </a:r>
          </a:p>
        </p:txBody>
      </p:sp>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E47668-9905-F327-C24A-4F972FF899FD}"/>
              </a:ext>
            </a:extLst>
          </p:cNvPr>
          <p:cNvSpPr txBox="1"/>
          <p:nvPr/>
        </p:nvSpPr>
        <p:spPr>
          <a:xfrm>
            <a:off x="2477069" y="1077922"/>
            <a:ext cx="4954136" cy="470898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49. What is the NULL value? Is it the same as zero or a blank space?</a:t>
            </a:r>
          </a:p>
          <a:p>
            <a:pPr algn="just">
              <a:lnSpc>
                <a:spcPts val="2100"/>
              </a:lnSpc>
              <a:spcBef>
                <a:spcPts val="1650"/>
              </a:spcBef>
              <a:buNone/>
            </a:pPr>
            <a:r>
              <a:rPr lang="en-US" b="0" i="0" dirty="0">
                <a:solidFill>
                  <a:srgbClr val="3A3A3A"/>
                </a:solidFill>
                <a:effectLst/>
                <a:latin typeface="Roboto" panose="02000000000000000000" pitchFamily="2" charset="0"/>
              </a:rPr>
              <a:t>A NULL value represents the absence of data and is not the same as zero or a blank space.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NULL means unknown or missing value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Zero (</a:t>
            </a:r>
            <a:r>
              <a:rPr lang="en-US" b="0" i="0" dirty="0">
                <a:solidFill>
                  <a:srgbClr val="3A3A3A"/>
                </a:solidFill>
                <a:effectLst/>
                <a:latin typeface="Courier New" panose="02070309020205020404" pitchFamily="49" charset="0"/>
              </a:rPr>
              <a:t>0</a:t>
            </a:r>
            <a:r>
              <a:rPr lang="en-US" b="0" i="0" dirty="0">
                <a:solidFill>
                  <a:srgbClr val="3A3A3A"/>
                </a:solidFill>
                <a:effectLst/>
                <a:latin typeface="Roboto" panose="02000000000000000000" pitchFamily="2" charset="0"/>
              </a:rPr>
              <a:t>) is a numeric value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Blank space (</a:t>
            </a:r>
            <a:r>
              <a:rPr lang="en-US" b="0" i="0" dirty="0">
                <a:solidFill>
                  <a:srgbClr val="3A3A3A"/>
                </a:solidFill>
                <a:effectLst/>
                <a:latin typeface="Courier New" panose="02070309020205020404" pitchFamily="49" charset="0"/>
              </a:rPr>
              <a:t>""</a:t>
            </a:r>
            <a:r>
              <a:rPr lang="en-US" b="0" i="0" dirty="0">
                <a:solidFill>
                  <a:srgbClr val="3A3A3A"/>
                </a:solidFill>
                <a:effectLst/>
                <a:latin typeface="Roboto" panose="02000000000000000000" pitchFamily="2" charset="0"/>
              </a:rPr>
              <a:t>) is an empty string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NULL cannot be compared using </a:t>
            </a:r>
            <a:r>
              <a:rPr lang="en-US" b="0" i="0" dirty="0">
                <a:solidFill>
                  <a:srgbClr val="3A3A3A"/>
                </a:solidFill>
                <a:effectLst/>
                <a:latin typeface="Courier New" panose="02070309020205020404" pitchFamily="49" charset="0"/>
              </a:rPr>
              <a:t>=</a:t>
            </a:r>
            <a:r>
              <a:rPr lang="en-US" b="0" i="0" dirty="0">
                <a:solidFill>
                  <a:srgbClr val="3A3A3A"/>
                </a:solidFill>
                <a:effectLst/>
                <a:latin typeface="Roboto" panose="02000000000000000000" pitchFamily="2" charset="0"/>
              </a:rPr>
              <a:t> and requires </a:t>
            </a:r>
            <a:r>
              <a:rPr lang="en-US" b="0" i="0" dirty="0">
                <a:solidFill>
                  <a:srgbClr val="3A3A3A"/>
                </a:solidFill>
                <a:effectLst/>
                <a:latin typeface="Courier New" panose="02070309020205020404" pitchFamily="49" charset="0"/>
              </a:rPr>
              <a:t>IS NULL</a:t>
            </a:r>
            <a:endParaRPr lang="en-US" b="0" i="0" dirty="0">
              <a:solidFill>
                <a:srgbClr val="3A3A3A"/>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NULL behaves differently in calculations and comparisons and does not represent any actual value.</a:t>
            </a:r>
          </a:p>
        </p:txBody>
      </p:sp>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70FC06-5D11-33A7-029F-E378E35A8516}"/>
              </a:ext>
            </a:extLst>
          </p:cNvPr>
          <p:cNvSpPr txBox="1"/>
          <p:nvPr/>
        </p:nvSpPr>
        <p:spPr>
          <a:xfrm>
            <a:off x="2477069" y="2219260"/>
            <a:ext cx="4954136" cy="24263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50. What is SQL JOIN?</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u="none" strike="noStrike" dirty="0">
                <a:solidFill>
                  <a:srgbClr val="0F5A9E"/>
                </a:solidFill>
                <a:effectLst/>
                <a:latin typeface="Roboto" panose="02000000000000000000" pitchFamily="2" charset="0"/>
                <a:hlinkClick r:id="rId2"/>
              </a:rPr>
              <a:t>SQL JOIN</a:t>
            </a:r>
            <a:r>
              <a:rPr lang="en-US" b="0" i="0" dirty="0">
                <a:solidFill>
                  <a:srgbClr val="3A3A3A"/>
                </a:solidFill>
                <a:effectLst/>
                <a:latin typeface="Roboto" panose="02000000000000000000" pitchFamily="2" charset="0"/>
              </a:rPr>
              <a:t> component joins rows from one or more tables in a relational database. Create sets that can be stored in tabular form or used routinely. JOIN is to combine columns from one </a:t>
            </a:r>
            <a:r>
              <a:rPr lang="en-US" b="0" i="0" u="none" strike="noStrike" dirty="0">
                <a:solidFill>
                  <a:srgbClr val="0F5A9E"/>
                </a:solidFill>
                <a:effectLst/>
                <a:latin typeface="Roboto" panose="02000000000000000000" pitchFamily="2" charset="0"/>
                <a:hlinkClick r:id="rId3"/>
              </a:rPr>
              <a:t>table</a:t>
            </a:r>
            <a:r>
              <a:rPr lang="en-US" b="0" i="0" dirty="0">
                <a:solidFill>
                  <a:srgbClr val="3A3A3A"/>
                </a:solidFill>
                <a:effectLst/>
                <a:latin typeface="Roboto" panose="02000000000000000000" pitchFamily="2" charset="0"/>
              </a:rPr>
              <a:t> or multiple tables using the same value.</a:t>
            </a:r>
          </a:p>
        </p:txBody>
      </p:sp>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47613F-E1C1-553F-2B75-FCF50424686C}"/>
              </a:ext>
            </a:extLst>
          </p:cNvPr>
          <p:cNvSpPr txBox="1"/>
          <p:nvPr/>
        </p:nvSpPr>
        <p:spPr>
          <a:xfrm>
            <a:off x="491319" y="383553"/>
            <a:ext cx="8338781" cy="58503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51. What are the different types of JOINs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There are six different types of JOINs in SQL, which are:</a:t>
            </a:r>
          </a:p>
          <a:p>
            <a:pPr algn="just">
              <a:lnSpc>
                <a:spcPts val="2100"/>
              </a:lnSpc>
              <a:spcBef>
                <a:spcPts val="750"/>
              </a:spcBef>
              <a:spcAft>
                <a:spcPts val="600"/>
              </a:spcAft>
              <a:buFont typeface="Arial" panose="020B0604020202020204" pitchFamily="34" charset="0"/>
              <a:buChar char="•"/>
            </a:pPr>
            <a:r>
              <a:rPr lang="en-US" b="0" i="0" u="none" strike="noStrike" dirty="0">
                <a:solidFill>
                  <a:srgbClr val="0F5A9E"/>
                </a:solidFill>
                <a:effectLst/>
                <a:latin typeface="Roboto" panose="02000000000000000000" pitchFamily="2" charset="0"/>
                <a:hlinkClick r:id="rId2"/>
              </a:rPr>
              <a:t>INNER JOIN</a:t>
            </a:r>
            <a:r>
              <a:rPr lang="en-US" b="0" i="0" dirty="0">
                <a:solidFill>
                  <a:srgbClr val="3A3A3A"/>
                </a:solidFill>
                <a:effectLst/>
                <a:latin typeface="Roboto" panose="02000000000000000000" pitchFamily="2" charset="0"/>
              </a:rPr>
              <a:t>: An INNER JOIN is used to return records of the same value in two tables.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LEFT JOIN: LEFT JOIN is used to join all the rows in the left table with matching rows in the right table.</a:t>
            </a:r>
          </a:p>
          <a:p>
            <a:pPr algn="just">
              <a:lnSpc>
                <a:spcPts val="2100"/>
              </a:lnSpc>
              <a:spcBef>
                <a:spcPts val="750"/>
              </a:spcBef>
              <a:spcAft>
                <a:spcPts val="600"/>
              </a:spcAft>
              <a:buFont typeface="Arial" panose="020B0604020202020204" pitchFamily="34" charset="0"/>
              <a:buChar char="•"/>
            </a:pPr>
            <a:r>
              <a:rPr lang="en-US" b="0" i="0" u="none" strike="noStrike" dirty="0">
                <a:solidFill>
                  <a:srgbClr val="0F5A9E"/>
                </a:solidFill>
                <a:effectLst/>
                <a:latin typeface="Roboto" panose="02000000000000000000" pitchFamily="2" charset="0"/>
                <a:hlinkClick r:id="rId3"/>
              </a:rPr>
              <a:t>RIGHT JOIN</a:t>
            </a:r>
            <a:r>
              <a:rPr lang="en-US" b="0" i="0" dirty="0">
                <a:solidFill>
                  <a:srgbClr val="3A3A3A"/>
                </a:solidFill>
                <a:effectLst/>
                <a:latin typeface="Roboto" panose="02000000000000000000" pitchFamily="2" charset="0"/>
              </a:rPr>
              <a:t>: RIGHT JOIN is used to join all the rows in the right table with the corresponding rows in the left table.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FULL JOIN: A FULL JOIN is used to return all records from two tables, if there are matching records in each table.</a:t>
            </a:r>
          </a:p>
          <a:p>
            <a:pPr algn="just">
              <a:lnSpc>
                <a:spcPts val="2100"/>
              </a:lnSpc>
              <a:spcBef>
                <a:spcPts val="750"/>
              </a:spcBef>
              <a:spcAft>
                <a:spcPts val="600"/>
              </a:spcAft>
              <a:buFont typeface="Arial" panose="020B0604020202020204" pitchFamily="34" charset="0"/>
              <a:buChar char="•"/>
            </a:pPr>
            <a:r>
              <a:rPr lang="en-US" b="0" i="0" u="none" strike="noStrike" dirty="0">
                <a:solidFill>
                  <a:srgbClr val="0F5A9E"/>
                </a:solidFill>
                <a:effectLst/>
                <a:latin typeface="Roboto" panose="02000000000000000000" pitchFamily="2" charset="0"/>
                <a:hlinkClick r:id="rId4"/>
              </a:rPr>
              <a:t>SELF JOIN</a:t>
            </a:r>
            <a:r>
              <a:rPr lang="en-US" b="0" i="0" dirty="0">
                <a:solidFill>
                  <a:srgbClr val="3A3A3A"/>
                </a:solidFill>
                <a:effectLst/>
                <a:latin typeface="Roboto" panose="02000000000000000000" pitchFamily="2" charset="0"/>
              </a:rPr>
              <a:t>: A SELF JOIN is a join used to join a table to itself. SELF JOINS treats one table as two tables.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CARTESIAN JOIN: A CARTESIAN Integral is used to multiply the number of rows in the first table by the number of rows in the second table. It is also called a </a:t>
            </a:r>
            <a:r>
              <a:rPr lang="en-US" b="0" i="0" u="none" strike="noStrike" dirty="0">
                <a:solidFill>
                  <a:srgbClr val="0F5A9E"/>
                </a:solidFill>
                <a:effectLst/>
                <a:latin typeface="Roboto" panose="02000000000000000000" pitchFamily="2" charset="0"/>
                <a:hlinkClick r:id="rId5"/>
              </a:rPr>
              <a:t>CROSS JOIN</a:t>
            </a:r>
            <a:r>
              <a:rPr lang="en-US" b="0" i="0" dirty="0">
                <a:solidFill>
                  <a:srgbClr val="3A3A3A"/>
                </a:solidFill>
                <a:effectLst/>
                <a:latin typeface="Roboto" panose="02000000000000000000" pitchFamily="2" charset="0"/>
              </a:rPr>
              <a:t>.</a:t>
            </a:r>
          </a:p>
        </p:txBody>
      </p:sp>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9A83E3-FCE1-0648-198E-0A1FB2E80D1D}"/>
              </a:ext>
            </a:extLst>
          </p:cNvPr>
          <p:cNvSpPr txBox="1"/>
          <p:nvPr/>
        </p:nvSpPr>
        <p:spPr>
          <a:xfrm>
            <a:off x="586853" y="513290"/>
            <a:ext cx="7431205"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52. Is a SELF JOIN an INNER JOIN or an OUTER JOIN?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 SELF JOIN can be an INNER JOIN, OUTER JOIN, or a CROSS JOIN. SELF JOIN is used to link tables automatically based on columns that contain duplicate data in multiple rows.</a:t>
            </a:r>
          </a:p>
        </p:txBody>
      </p:sp>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44987E-6575-7F91-4A09-5C8089FFF3BA}"/>
              </a:ext>
            </a:extLst>
          </p:cNvPr>
          <p:cNvSpPr txBox="1"/>
          <p:nvPr/>
        </p:nvSpPr>
        <p:spPr>
          <a:xfrm>
            <a:off x="532262" y="1629355"/>
            <a:ext cx="9089409" cy="279820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53. What is NATURAL JOIN?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NATURAL JOIN in SQL is a kind of join that automatically combines two tables only by the common columns that have the same name and compatible data types. Unlike INNER JOIN or EQUI JOIN, a NATURAL JOIN doesn’t require an explicit join condition using the ON clause.</a:t>
            </a:r>
          </a:p>
          <a:p>
            <a:pPr algn="just">
              <a:lnSpc>
                <a:spcPts val="2100"/>
              </a:lnSpc>
              <a:spcBef>
                <a:spcPts val="750"/>
              </a:spcBef>
              <a:buNone/>
            </a:pPr>
            <a:r>
              <a:rPr lang="en-US" b="0" i="0" dirty="0">
                <a:solidFill>
                  <a:srgbClr val="3A3A3A"/>
                </a:solidFill>
                <a:effectLst/>
                <a:latin typeface="Roboto" panose="02000000000000000000" pitchFamily="2" charset="0"/>
              </a:rPr>
              <a:t>It implicitly matches columns with identical names in both tables and returns rows where the values in those columns are equal.</a:t>
            </a:r>
          </a:p>
        </p:txBody>
      </p:sp>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FDA42A-784B-7E06-03A3-830D00DFE87C}"/>
              </a:ext>
            </a:extLst>
          </p:cNvPr>
          <p:cNvSpPr txBox="1"/>
          <p:nvPr/>
        </p:nvSpPr>
        <p:spPr>
          <a:xfrm>
            <a:off x="614148" y="435438"/>
            <a:ext cx="9007523" cy="40857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54. What is an EQUI JOIN?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An EQUI JOIN is a type of join operation in a database that combines rows from two or more tables based on a matching condition using the equality operator (=). It is used to retrieve data where values in specified columns are equal.</a:t>
            </a:r>
          </a:p>
          <a:p>
            <a:pPr algn="just">
              <a:lnSpc>
                <a:spcPts val="2100"/>
              </a:lnSpc>
              <a:spcBef>
                <a:spcPts val="750"/>
              </a:spcBef>
              <a:buNone/>
            </a:pPr>
            <a:r>
              <a:rPr lang="en-US" b="0" i="0" dirty="0">
                <a:solidFill>
                  <a:srgbClr val="3A3A3A"/>
                </a:solidFill>
                <a:effectLst/>
                <a:latin typeface="Roboto" panose="02000000000000000000" pitchFamily="2" charset="0"/>
              </a:rPr>
              <a:t>Here is an example of the syntax for an EQUI JOIN:</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column_name</a:t>
            </a:r>
            <a:r>
              <a:rPr lang="en-US" b="0" i="0" dirty="0">
                <a:solidFill>
                  <a:srgbClr val="212529"/>
                </a:solidFill>
                <a:effectLst/>
                <a:latin typeface="Courier New" panose="02070309020205020404" pitchFamily="49" charset="0"/>
              </a:rPr>
              <a:t>(s) FROM table1 JOIN table2</a:t>
            </a:r>
          </a:p>
          <a:p>
            <a:pPr algn="l">
              <a:spcBef>
                <a:spcPts val="1125"/>
              </a:spcBef>
              <a:spcAft>
                <a:spcPts val="375"/>
              </a:spcAft>
              <a:buNone/>
            </a:pPr>
            <a:r>
              <a:rPr lang="en-US" b="0" i="0" dirty="0">
                <a:solidFill>
                  <a:srgbClr val="212529"/>
                </a:solidFill>
                <a:effectLst/>
                <a:latin typeface="Courier New" panose="02070309020205020404" pitchFamily="49" charset="0"/>
              </a:rPr>
              <a:t>-- Matches rows</a:t>
            </a:r>
          </a:p>
          <a:p>
            <a:pPr algn="l">
              <a:spcBef>
                <a:spcPts val="1125"/>
              </a:spcBef>
              <a:spcAft>
                <a:spcPts val="375"/>
              </a:spcAft>
              <a:buNone/>
            </a:pPr>
            <a:r>
              <a:rPr lang="en-US" b="0" i="0" dirty="0">
                <a:solidFill>
                  <a:srgbClr val="212529"/>
                </a:solidFill>
                <a:effectLst/>
                <a:latin typeface="Courier New" panose="02070309020205020404" pitchFamily="49" charset="0"/>
              </a:rPr>
              <a:t>where values in the specified columns are equal ON</a:t>
            </a:r>
          </a:p>
          <a:p>
            <a:pPr algn="l">
              <a:spcBef>
                <a:spcPts val="1125"/>
              </a:spcBef>
              <a:spcAft>
                <a:spcPts val="375"/>
              </a:spcAft>
              <a:buNone/>
            </a:pPr>
            <a:r>
              <a:rPr lang="en-US" b="0" i="0" dirty="0">
                <a:solidFill>
                  <a:srgbClr val="212529"/>
                </a:solidFill>
                <a:effectLst/>
                <a:latin typeface="Courier New" panose="02070309020205020404" pitchFamily="49" charset="0"/>
              </a:rPr>
              <a:t>table1.column_name = table2.column_name. </a:t>
            </a:r>
          </a:p>
        </p:txBody>
      </p:sp>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1A70D1-6A05-79DD-DF48-968E2D60402A}"/>
              </a:ext>
            </a:extLst>
          </p:cNvPr>
          <p:cNvSpPr txBox="1"/>
          <p:nvPr/>
        </p:nvSpPr>
        <p:spPr>
          <a:xfrm>
            <a:off x="2477069" y="1815303"/>
            <a:ext cx="4954136" cy="32342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55. Can you join a table to itself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Yes, in SQL, it is possible to join a table to itself, which is known as a self-join. By using table aliases, you can treat the same table as two separate entities and perform a join operation on them based on specified conditions. Self-joins are used when you need to retrieve information by comparing rows within the same table.</a:t>
            </a:r>
          </a:p>
        </p:txBody>
      </p:sp>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0D5053-4D8B-DBFE-DD82-31C4B28A983E}"/>
              </a:ext>
            </a:extLst>
          </p:cNvPr>
          <p:cNvSpPr txBox="1"/>
          <p:nvPr/>
        </p:nvSpPr>
        <p:spPr>
          <a:xfrm>
            <a:off x="2477069" y="1815303"/>
            <a:ext cx="4954136" cy="32342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56. What is a HASH JOIN?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HASH JOIN requires two inputs, an INNER table and an OUTER table. HASH JOINS involve using a HASH table to identify matching rows between two tables. HASH JOINS are an option when other joins are not recommended. When joining large data sets that are unsorted or non-indexed, HASH JOINS are better.</a:t>
            </a:r>
          </a:p>
        </p:txBody>
      </p:sp>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896F9A-79BE-EC52-B693-954A38900F40}"/>
              </a:ext>
            </a:extLst>
          </p:cNvPr>
          <p:cNvSpPr txBox="1"/>
          <p:nvPr/>
        </p:nvSpPr>
        <p:spPr>
          <a:xfrm>
            <a:off x="2477069" y="1949955"/>
            <a:ext cx="4954136" cy="296491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57. What is MERGE JOIN?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MERGE JOIN is one of the most important join types in SQL Server. In MERGE JOIN, your query plan is effective, and you don’t need to make many changes to improve query performance because the MERGE JOIN operator uses ordered data entry, it can use two large data sets.</a:t>
            </a:r>
          </a:p>
        </p:txBody>
      </p:sp>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325757-A120-877F-B858-B09B8C214143}"/>
              </a:ext>
            </a:extLst>
          </p:cNvPr>
          <p:cNvSpPr txBox="1"/>
          <p:nvPr/>
        </p:nvSpPr>
        <p:spPr>
          <a:xfrm>
            <a:off x="2477069" y="1360050"/>
            <a:ext cx="4954136" cy="414472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58. Can you explain NESTED JOIN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In SQL, a Nested Join (also referred to as a Nested Loop Join) is the basic method that most relational databases employ for connecting two tables. It is the default approach that database engines frequently use for joining small or medium datasets.</a:t>
            </a:r>
          </a:p>
          <a:p>
            <a:pPr algn="just">
              <a:lnSpc>
                <a:spcPts val="2100"/>
              </a:lnSpc>
              <a:spcBef>
                <a:spcPts val="750"/>
              </a:spcBef>
              <a:buNone/>
            </a:pPr>
            <a:r>
              <a:rPr lang="en-US" b="0" i="0" dirty="0">
                <a:solidFill>
                  <a:srgbClr val="3A3A3A"/>
                </a:solidFill>
                <a:effectLst/>
                <a:latin typeface="Roboto" panose="02000000000000000000" pitchFamily="2" charset="0"/>
              </a:rPr>
              <a:t>In a Nested Join, one table is treated as the outer table, and for each row in this outer table, the system searches for matching rows in the inner table. This process repeats until all matching combinations are found.</a:t>
            </a:r>
          </a:p>
        </p:txBody>
      </p:sp>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36887D-53AF-FA46-784E-B583FBAA0B38}"/>
              </a:ext>
            </a:extLst>
          </p:cNvPr>
          <p:cNvSpPr txBox="1"/>
          <p:nvPr/>
        </p:nvSpPr>
        <p:spPr>
          <a:xfrm>
            <a:off x="2477069" y="231536"/>
            <a:ext cx="4954136" cy="64017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59. How do you map a Many-to-Many relationship?</a:t>
            </a:r>
          </a:p>
          <a:p>
            <a:pPr algn="just">
              <a:lnSpc>
                <a:spcPts val="2100"/>
              </a:lnSpc>
              <a:spcBef>
                <a:spcPts val="1650"/>
              </a:spcBef>
              <a:buNone/>
            </a:pPr>
            <a:r>
              <a:rPr lang="en-US" b="0" i="0" dirty="0">
                <a:solidFill>
                  <a:srgbClr val="3A3A3A"/>
                </a:solidFill>
                <a:effectLst/>
                <a:latin typeface="Roboto" panose="02000000000000000000" pitchFamily="2" charset="0"/>
              </a:rPr>
              <a:t>A Many-to-Many relationship is mapped using a Junction Table (also called a Bridge Table) that stores the relationships between two tables.</a:t>
            </a:r>
          </a:p>
          <a:p>
            <a:pPr algn="just">
              <a:lnSpc>
                <a:spcPts val="2100"/>
              </a:lnSpc>
              <a:spcBef>
                <a:spcPts val="750"/>
              </a:spcBef>
              <a:buNone/>
            </a:pPr>
            <a:r>
              <a:rPr lang="en-US" b="0" i="0" dirty="0">
                <a:solidFill>
                  <a:srgbClr val="3A3A3A"/>
                </a:solidFill>
                <a:effectLst/>
                <a:latin typeface="Roboto" panose="02000000000000000000" pitchFamily="2" charset="0"/>
              </a:rPr>
              <a:t>In a many-to-many relationship, multiple records in one table can be related to multiple records in another table. Since relational databases do not support many-to-many relationships directly, a junction table is used to resolve this.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 junction table contains foreign keys from both related tables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Each foreign key references the primary key of a parent table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 combination of foreign keys usually forms a composite primary key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Ensures data integrity and avoids redundancy</a:t>
            </a:r>
          </a:p>
        </p:txBody>
      </p:sp>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77F09A-586C-870C-AA1E-D3BD10B53B66}"/>
              </a:ext>
            </a:extLst>
          </p:cNvPr>
          <p:cNvSpPr txBox="1"/>
          <p:nvPr/>
        </p:nvSpPr>
        <p:spPr>
          <a:xfrm>
            <a:off x="2477069" y="1174102"/>
            <a:ext cx="4954136" cy="451662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60. What is a Cross-Join (Cartesian Product)?</a:t>
            </a:r>
          </a:p>
          <a:p>
            <a:pPr algn="just">
              <a:lnSpc>
                <a:spcPts val="2100"/>
              </a:lnSpc>
              <a:spcBef>
                <a:spcPts val="1650"/>
              </a:spcBef>
              <a:buNone/>
            </a:pPr>
            <a:r>
              <a:rPr lang="en-US" b="0" i="0" dirty="0">
                <a:solidFill>
                  <a:srgbClr val="3A3A3A"/>
                </a:solidFill>
                <a:effectLst/>
                <a:latin typeface="Roboto" panose="02000000000000000000" pitchFamily="2" charset="0"/>
              </a:rPr>
              <a:t>A Cross Join produces a Cartesian Product by combining every row from one table with every row from another table.</a:t>
            </a:r>
          </a:p>
          <a:p>
            <a:pPr algn="just">
              <a:lnSpc>
                <a:spcPts val="2100"/>
              </a:lnSpc>
              <a:spcBef>
                <a:spcPts val="750"/>
              </a:spcBef>
              <a:buNone/>
            </a:pPr>
            <a:r>
              <a:rPr lang="en-US" b="0" i="0" dirty="0">
                <a:solidFill>
                  <a:srgbClr val="3A3A3A"/>
                </a:solidFill>
                <a:effectLst/>
                <a:latin typeface="Roboto" panose="02000000000000000000" pitchFamily="2" charset="0"/>
              </a:rPr>
              <a:t>If the first table has </a:t>
            </a:r>
            <a:r>
              <a:rPr lang="en-US" b="0" i="1" dirty="0">
                <a:solidFill>
                  <a:srgbClr val="3A3A3A"/>
                </a:solidFill>
                <a:effectLst/>
                <a:latin typeface="Roboto" panose="02000000000000000000" pitchFamily="2" charset="0"/>
              </a:rPr>
              <a:t>N</a:t>
            </a:r>
            <a:r>
              <a:rPr lang="en-US" b="0" i="0" dirty="0">
                <a:solidFill>
                  <a:srgbClr val="3A3A3A"/>
                </a:solidFill>
                <a:effectLst/>
                <a:latin typeface="Roboto" panose="02000000000000000000" pitchFamily="2" charset="0"/>
              </a:rPr>
              <a:t> rows and the second table has </a:t>
            </a:r>
            <a:r>
              <a:rPr lang="en-US" b="0" i="1" dirty="0">
                <a:solidFill>
                  <a:srgbClr val="3A3A3A"/>
                </a:solidFill>
                <a:effectLst/>
                <a:latin typeface="Roboto" panose="02000000000000000000" pitchFamily="2" charset="0"/>
              </a:rPr>
              <a:t>M</a:t>
            </a:r>
            <a:r>
              <a:rPr lang="en-US" b="0" i="0" dirty="0">
                <a:solidFill>
                  <a:srgbClr val="3A3A3A"/>
                </a:solidFill>
                <a:effectLst/>
                <a:latin typeface="Roboto" panose="02000000000000000000" pitchFamily="2" charset="0"/>
              </a:rPr>
              <a:t> rows, the result of a cross join will contain </a:t>
            </a:r>
            <a:r>
              <a:rPr lang="en-US" b="0" i="1" dirty="0">
                <a:solidFill>
                  <a:srgbClr val="3A3A3A"/>
                </a:solidFill>
                <a:effectLst/>
                <a:latin typeface="Roboto" panose="02000000000000000000" pitchFamily="2" charset="0"/>
              </a:rPr>
              <a:t>N × M</a:t>
            </a:r>
            <a:r>
              <a:rPr lang="en-US" b="0" i="0" dirty="0">
                <a:solidFill>
                  <a:srgbClr val="3A3A3A"/>
                </a:solidFill>
                <a:effectLst/>
                <a:latin typeface="Roboto" panose="02000000000000000000" pitchFamily="2" charset="0"/>
              </a:rPr>
              <a:t> rows.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No join condition is required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Produces all possible row combinations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Can generate very large result sets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Mostly used for testing or generating combinations</a:t>
            </a:r>
          </a:p>
        </p:txBody>
      </p:sp>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223C0F-4D7B-3820-9D76-8553D848FC00}"/>
              </a:ext>
            </a:extLst>
          </p:cNvPr>
          <p:cNvSpPr txBox="1"/>
          <p:nvPr/>
        </p:nvSpPr>
        <p:spPr>
          <a:xfrm>
            <a:off x="2477069" y="1545998"/>
            <a:ext cx="4954136" cy="377282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61. Explain Common Table Expressions in SQL.</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In general, a Common Table Expressions (CTEs) is a temporary, named result set that can be used to refer to an UPDATE, INSERT, SELECT, or DELETE statement. A CTE can be specified by adding WITH before an </a:t>
            </a:r>
            <a:r>
              <a:rPr lang="en-US" b="0" i="0" u="none" strike="noStrike" dirty="0">
                <a:solidFill>
                  <a:srgbClr val="0F5A9E"/>
                </a:solidFill>
                <a:effectLst/>
                <a:latin typeface="Roboto" panose="02000000000000000000" pitchFamily="2" charset="0"/>
                <a:hlinkClick r:id="rId2"/>
              </a:rPr>
              <a:t>UPDATE</a:t>
            </a:r>
            <a:r>
              <a:rPr lang="en-US" b="0" i="0" dirty="0">
                <a:solidFill>
                  <a:srgbClr val="3A3A3A"/>
                </a:solidFill>
                <a:effectLst/>
                <a:latin typeface="Roboto" panose="02000000000000000000" pitchFamily="2" charset="0"/>
              </a:rPr>
              <a:t>, INSERT, </a:t>
            </a:r>
            <a:r>
              <a:rPr lang="en-US" b="0" i="0" u="none" strike="noStrike" dirty="0">
                <a:solidFill>
                  <a:srgbClr val="0F5A9E"/>
                </a:solidFill>
                <a:effectLst/>
                <a:latin typeface="Roboto" panose="02000000000000000000" pitchFamily="2" charset="0"/>
                <a:hlinkClick r:id="rId3"/>
              </a:rPr>
              <a:t>DELETE</a:t>
            </a:r>
            <a:r>
              <a:rPr lang="en-US" b="0" i="0" dirty="0">
                <a:solidFill>
                  <a:srgbClr val="3A3A3A"/>
                </a:solidFill>
                <a:effectLst/>
                <a:latin typeface="Roboto" panose="02000000000000000000" pitchFamily="2" charset="0"/>
              </a:rPr>
              <a:t>, SELECT, or MERGE statement. Multiple CTEs can be used in the WITH clause by separating them with commas.</a:t>
            </a:r>
          </a:p>
        </p:txBody>
      </p:sp>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CE6C2C-E0CD-2419-DCD7-E2D2960BB6F0}"/>
              </a:ext>
            </a:extLst>
          </p:cNvPr>
          <p:cNvSpPr txBox="1"/>
          <p:nvPr/>
        </p:nvSpPr>
        <p:spPr>
          <a:xfrm>
            <a:off x="292289" y="243583"/>
            <a:ext cx="9321421" cy="571695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62. What is a recursive CTE?</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recursive CTE (Common Table Expression) is a SQL construct that enables a query to refer to itself in order to carry out iterative tasks. Generally, it is used to handle hierarchical or tree-like data, such as employee-management hierarchies or category-subcategory structure</a:t>
            </a:r>
          </a:p>
          <a:p>
            <a:pPr algn="just">
              <a:lnSpc>
                <a:spcPts val="2100"/>
              </a:lnSpc>
              <a:spcBef>
                <a:spcPts val="750"/>
              </a:spcBef>
              <a:buNone/>
            </a:pPr>
            <a:r>
              <a:rPr lang="en-US" b="0" i="0" dirty="0">
                <a:solidFill>
                  <a:srgbClr val="3A3A3A"/>
                </a:solidFill>
                <a:effectLst/>
                <a:latin typeface="Roboto" panose="02000000000000000000" pitchFamily="2" charset="0"/>
              </a:rPr>
              <a:t>Example syntax:</a:t>
            </a:r>
          </a:p>
          <a:p>
            <a:pPr algn="l">
              <a:spcBef>
                <a:spcPts val="1125"/>
              </a:spcBef>
              <a:spcAft>
                <a:spcPts val="375"/>
              </a:spcAft>
              <a:buNone/>
            </a:pPr>
            <a:r>
              <a:rPr lang="en-US" b="0" i="0" dirty="0">
                <a:solidFill>
                  <a:srgbClr val="212529"/>
                </a:solidFill>
                <a:effectLst/>
                <a:latin typeface="Courier New" panose="02070309020205020404" pitchFamily="49" charset="0"/>
              </a:rPr>
              <a:t>WITH RECURSIVE </a:t>
            </a:r>
            <a:r>
              <a:rPr lang="en-US" b="0" i="0" dirty="0" err="1">
                <a:solidFill>
                  <a:srgbClr val="212529"/>
                </a:solidFill>
                <a:effectLst/>
                <a:latin typeface="Courier New" panose="02070309020205020404" pitchFamily="49" charset="0"/>
              </a:rPr>
              <a:t>employee_hierarchy</a:t>
            </a:r>
            <a:r>
              <a:rPr lang="en-US" b="0" i="0" dirty="0">
                <a:solidFill>
                  <a:srgbClr val="212529"/>
                </a:solidFill>
                <a:effectLst/>
                <a:latin typeface="Courier New" panose="02070309020205020404" pitchFamily="49" charset="0"/>
              </a:rPr>
              <a:t> AS (</a:t>
            </a:r>
          </a:p>
          <a:p>
            <a:pPr algn="l">
              <a:spcBef>
                <a:spcPts val="1125"/>
              </a:spcBef>
              <a:spcAft>
                <a:spcPts val="375"/>
              </a:spcAft>
              <a:buNone/>
            </a:pPr>
            <a:r>
              <a:rPr lang="en-US" b="0" i="0" dirty="0">
                <a:solidFill>
                  <a:srgbClr val="212529"/>
                </a:solidFill>
                <a:effectLst/>
                <a:latin typeface="Courier New" panose="02070309020205020404" pitchFamily="49" charset="0"/>
              </a:rPr>
              <a:t>SELECT id, name, </a:t>
            </a:r>
            <a:r>
              <a:rPr lang="en-US" b="0" i="0" dirty="0" err="1">
                <a:solidFill>
                  <a:srgbClr val="212529"/>
                </a:solidFill>
                <a:effectLst/>
                <a:latin typeface="Courier New" panose="02070309020205020404" pitchFamily="49" charset="0"/>
              </a:rPr>
              <a:t>manager_id</a:t>
            </a:r>
            <a:r>
              <a:rPr lang="en-US" b="0" i="0" dirty="0">
                <a:solidFill>
                  <a:srgbClr val="212529"/>
                </a:solidFill>
                <a:effectLst/>
                <a:latin typeface="Courier New" panose="02070309020205020404" pitchFamily="49" charset="0"/>
              </a:rPr>
              <a:t> FROM employees</a:t>
            </a: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manager_id</a:t>
            </a:r>
            <a:r>
              <a:rPr lang="en-US" b="0" i="0" dirty="0">
                <a:solidFill>
                  <a:srgbClr val="212529"/>
                </a:solidFill>
                <a:effectLst/>
                <a:latin typeface="Courier New" panose="02070309020205020404" pitchFamily="49" charset="0"/>
              </a:rPr>
              <a:t> IS NULL UNION ALL</a:t>
            </a:r>
          </a:p>
          <a:p>
            <a:pPr algn="l">
              <a:spcBef>
                <a:spcPts val="1125"/>
              </a:spcBef>
              <a:spcAft>
                <a:spcPts val="375"/>
              </a:spcAft>
              <a:buNone/>
            </a:pPr>
            <a:r>
              <a:rPr lang="en-US" b="0" i="0" dirty="0">
                <a:solidFill>
                  <a:srgbClr val="212529"/>
                </a:solidFill>
                <a:effectLst/>
                <a:latin typeface="Courier New" panose="02070309020205020404" pitchFamily="49" charset="0"/>
              </a:rPr>
              <a:t>SELECT e.id, e.name, </a:t>
            </a:r>
            <a:r>
              <a:rPr lang="en-US" b="0" i="0" dirty="0" err="1">
                <a:solidFill>
                  <a:srgbClr val="212529"/>
                </a:solidFill>
                <a:effectLst/>
                <a:latin typeface="Courier New" panose="02070309020205020404" pitchFamily="49" charset="0"/>
              </a:rPr>
              <a:t>e.manager_id</a:t>
            </a:r>
            <a:r>
              <a:rPr lang="en-US" b="0" i="0" dirty="0">
                <a:solidFill>
                  <a:srgbClr val="212529"/>
                </a:solidFill>
                <a:effectLst/>
                <a:latin typeface="Courier New" panose="02070309020205020404" pitchFamily="49" charset="0"/>
              </a:rPr>
              <a:t> FROM employees e</a:t>
            </a:r>
          </a:p>
          <a:p>
            <a:pPr algn="l">
              <a:spcBef>
                <a:spcPts val="1125"/>
              </a:spcBef>
              <a:spcAft>
                <a:spcPts val="375"/>
              </a:spcAft>
              <a:buNone/>
            </a:pPr>
            <a:r>
              <a:rPr lang="en-US" b="0" i="0" dirty="0">
                <a:solidFill>
                  <a:srgbClr val="212529"/>
                </a:solidFill>
                <a:effectLst/>
                <a:latin typeface="Courier New" panose="02070309020205020404" pitchFamily="49" charset="0"/>
              </a:rPr>
              <a:t>INNER JOIN </a:t>
            </a:r>
            <a:r>
              <a:rPr lang="en-US" b="0" i="0" dirty="0" err="1">
                <a:solidFill>
                  <a:srgbClr val="212529"/>
                </a:solidFill>
                <a:effectLst/>
                <a:latin typeface="Courier New" panose="02070309020205020404" pitchFamily="49" charset="0"/>
              </a:rPr>
              <a:t>employee_hierarchy</a:t>
            </a:r>
            <a:r>
              <a:rPr lang="en-US" b="0" i="0" dirty="0">
                <a:solidFill>
                  <a:srgbClr val="212529"/>
                </a:solidFill>
                <a:effectLst/>
                <a:latin typeface="Courier New" panose="02070309020205020404" pitchFamily="49" charset="0"/>
              </a:rPr>
              <a:t> eh ON </a:t>
            </a:r>
            <a:r>
              <a:rPr lang="en-US" b="0" i="0" dirty="0" err="1">
                <a:solidFill>
                  <a:srgbClr val="212529"/>
                </a:solidFill>
                <a:effectLst/>
                <a:latin typeface="Courier New" panose="02070309020205020404" pitchFamily="49" charset="0"/>
              </a:rPr>
              <a:t>e.manager_id</a:t>
            </a:r>
            <a:r>
              <a:rPr lang="en-US" b="0" i="0" dirty="0">
                <a:solidFill>
                  <a:srgbClr val="212529"/>
                </a:solidFill>
                <a:effectLst/>
                <a:latin typeface="Courier New" panose="02070309020205020404" pitchFamily="49" charset="0"/>
              </a:rPr>
              <a:t> = eh.id )</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employee_hierarchy</a:t>
            </a:r>
            <a:r>
              <a:rPr lang="en-US" b="0" i="0" dirty="0">
                <a:solidFill>
                  <a:srgbClr val="212529"/>
                </a:solidFill>
                <a:effectLst/>
                <a:latin typeface="Courier New" panose="02070309020205020404" pitchFamily="49" charset="0"/>
              </a:rPr>
              <a:t>;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Understand how </a:t>
            </a:r>
            <a:r>
              <a:rPr lang="en-US" b="0" i="0" u="none" strike="noStrike" dirty="0">
                <a:solidFill>
                  <a:srgbClr val="0F5A9E"/>
                </a:solidFill>
                <a:effectLst/>
                <a:latin typeface="Roboto" panose="02000000000000000000" pitchFamily="2" charset="0"/>
                <a:hlinkClick r:id="rId2"/>
              </a:rPr>
              <a:t>hierarchical recursive queries work in MySQL</a:t>
            </a:r>
            <a:r>
              <a:rPr lang="en-US" b="0" i="0" dirty="0">
                <a:solidFill>
                  <a:srgbClr val="3A3A3A"/>
                </a:solidFill>
                <a:effectLst/>
                <a:latin typeface="Roboto" panose="02000000000000000000" pitchFamily="2" charset="0"/>
              </a:rPr>
              <a:t> through this blog. </a:t>
            </a:r>
          </a:p>
        </p:txBody>
      </p:sp>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B15783-377B-B098-0A87-9702E0F17CA7}"/>
              </a:ext>
            </a:extLst>
          </p:cNvPr>
          <p:cNvSpPr txBox="1"/>
          <p:nvPr/>
        </p:nvSpPr>
        <p:spPr>
          <a:xfrm>
            <a:off x="2477069" y="1815303"/>
            <a:ext cx="4954136" cy="32342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63. How will you structure data to perform a JOIN Operation in a one-to-many relationship situation?</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To create a one-to-many relationship, you need to add the primary key from one side to many sides as a column. To create a many-to-many relationship, you need a middle table that contains the primary keys from the many-to-many tables.</a:t>
            </a:r>
          </a:p>
        </p:txBody>
      </p:sp>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1B6DCE-B269-FD01-A352-F45920D2BA68}"/>
              </a:ext>
            </a:extLst>
          </p:cNvPr>
          <p:cNvSpPr txBox="1"/>
          <p:nvPr/>
        </p:nvSpPr>
        <p:spPr>
          <a:xfrm>
            <a:off x="162636" y="230900"/>
            <a:ext cx="9580728" cy="746614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64. Given a Supervision table with </a:t>
            </a:r>
            <a:r>
              <a:rPr lang="en-US" b="0" i="0" dirty="0" err="1">
                <a:solidFill>
                  <a:srgbClr val="272C37"/>
                </a:solidFill>
                <a:effectLst/>
                <a:latin typeface="Roboto" panose="02000000000000000000" pitchFamily="2" charset="0"/>
              </a:rPr>
              <a:t>employee_id</a:t>
            </a:r>
            <a:r>
              <a:rPr lang="en-US" b="0" i="0" dirty="0">
                <a:solidFill>
                  <a:srgbClr val="272C37"/>
                </a:solidFill>
                <a:effectLst/>
                <a:latin typeface="Roboto" panose="02000000000000000000" pitchFamily="2" charset="0"/>
              </a:rPr>
              <a:t> and </a:t>
            </a:r>
            <a:r>
              <a:rPr lang="en-US" b="0" i="0" dirty="0" err="1">
                <a:solidFill>
                  <a:srgbClr val="272C37"/>
                </a:solidFill>
                <a:effectLst/>
                <a:latin typeface="Roboto" panose="02000000000000000000" pitchFamily="2" charset="0"/>
              </a:rPr>
              <a:t>manager_id</a:t>
            </a:r>
            <a:r>
              <a:rPr lang="en-US" b="0" i="0" dirty="0">
                <a:solidFill>
                  <a:srgbClr val="272C37"/>
                </a:solidFill>
                <a:effectLst/>
                <a:latin typeface="Roboto" panose="02000000000000000000" pitchFamily="2" charset="0"/>
              </a:rPr>
              <a:t>, write a query to detect if there is a cycle in the reporting hierarchy.</a:t>
            </a:r>
          </a:p>
          <a:p>
            <a:pPr algn="l">
              <a:spcBef>
                <a:spcPts val="1125"/>
              </a:spcBef>
              <a:spcAft>
                <a:spcPts val="375"/>
              </a:spcAft>
              <a:buNone/>
            </a:pPr>
            <a:r>
              <a:rPr lang="en-US" b="0" i="0" dirty="0">
                <a:solidFill>
                  <a:srgbClr val="212529"/>
                </a:solidFill>
                <a:effectLst/>
                <a:latin typeface="Courier New" panose="02070309020205020404" pitchFamily="49" charset="0"/>
              </a:rPr>
              <a:t>WITH RECURSIVE Hierarchy AS (</a:t>
            </a:r>
          </a:p>
          <a:p>
            <a:pPr algn="l">
              <a:spcBef>
                <a:spcPts val="1125"/>
              </a:spcBef>
              <a:spcAft>
                <a:spcPts val="375"/>
              </a:spcAft>
              <a:buNone/>
            </a:pPr>
            <a:r>
              <a:rPr lang="en-US" b="0" i="0" dirty="0">
                <a:solidFill>
                  <a:srgbClr val="212529"/>
                </a:solidFill>
                <a:effectLst/>
                <a:latin typeface="Courier New" panose="02070309020205020404" pitchFamily="49" charset="0"/>
              </a:rPr>
              <a:t>-- Base case SELECT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manager_id</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CAST(</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AS VARCHAR(200))</a:t>
            </a:r>
          </a:p>
          <a:p>
            <a:pPr algn="l">
              <a:spcBef>
                <a:spcPts val="1125"/>
              </a:spcBef>
              <a:spcAft>
                <a:spcPts val="375"/>
              </a:spcAft>
              <a:buNone/>
            </a:pPr>
            <a:r>
              <a:rPr lang="en-US" b="0" i="0" dirty="0">
                <a:solidFill>
                  <a:srgbClr val="212529"/>
                </a:solidFill>
                <a:effectLst/>
                <a:latin typeface="Courier New" panose="02070309020205020404" pitchFamily="49" charset="0"/>
              </a:rPr>
              <a:t>AS path FROM Supervision UNION ALL</a:t>
            </a:r>
          </a:p>
          <a:p>
            <a:pPr algn="l">
              <a:spcBef>
                <a:spcPts val="1125"/>
              </a:spcBef>
              <a:spcAft>
                <a:spcPts val="375"/>
              </a:spcAft>
              <a:buNone/>
            </a:pPr>
            <a:r>
              <a:rPr lang="en-US" b="0" i="0" dirty="0">
                <a:solidFill>
                  <a:srgbClr val="212529"/>
                </a:solidFill>
                <a:effectLst/>
                <a:latin typeface="Courier New" panose="02070309020205020404" pitchFamily="49" charset="0"/>
              </a:rPr>
              <a:t>-- Recursive step</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s.employee_id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s.manager_id</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CONCAT(</a:t>
            </a:r>
            <a:r>
              <a:rPr lang="en-US" b="0" i="0" dirty="0" err="1">
                <a:solidFill>
                  <a:srgbClr val="212529"/>
                </a:solidFill>
                <a:effectLst/>
                <a:latin typeface="Courier New" panose="02070309020205020404" pitchFamily="49" charset="0"/>
              </a:rPr>
              <a:t>h.path</a:t>
            </a:r>
            <a:r>
              <a:rPr lang="en-US" b="0" i="0" dirty="0">
                <a:solidFill>
                  <a:srgbClr val="212529"/>
                </a:solidFill>
                <a:effectLst/>
                <a:latin typeface="Courier New" panose="02070309020205020404" pitchFamily="49" charset="0"/>
              </a:rPr>
              <a:t>, '-&gt;', </a:t>
            </a:r>
            <a:r>
              <a:rPr lang="en-US" b="0" i="0" dirty="0" err="1">
                <a:solidFill>
                  <a:srgbClr val="212529"/>
                </a:solidFill>
                <a:effectLst/>
                <a:latin typeface="Courier New" panose="02070309020205020404" pitchFamily="49" charset="0"/>
              </a:rPr>
              <a:t>s.employee_id</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AS path FROM Supervision s INNER JOIN Hierarchy h ON </a:t>
            </a:r>
            <a:r>
              <a:rPr lang="en-US" b="0" i="0" dirty="0" err="1">
                <a:solidFill>
                  <a:srgbClr val="212529"/>
                </a:solidFill>
                <a:effectLst/>
                <a:latin typeface="Courier New" panose="02070309020205020404" pitchFamily="49" charset="0"/>
              </a:rPr>
              <a:t>s.manager_id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h.employee_id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Stop recursion if cycle detected</a:t>
            </a: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h.path</a:t>
            </a:r>
            <a:r>
              <a:rPr lang="en-US" b="0" i="0" dirty="0">
                <a:solidFill>
                  <a:srgbClr val="212529"/>
                </a:solidFill>
                <a:effectLst/>
                <a:latin typeface="Courier New" panose="02070309020205020404" pitchFamily="49" charset="0"/>
              </a:rPr>
              <a:t> NOT LIKE CONCAT('%', </a:t>
            </a:r>
            <a:r>
              <a:rPr lang="en-US" b="0" i="0" dirty="0" err="1">
                <a:solidFill>
                  <a:srgbClr val="212529"/>
                </a:solidFill>
                <a:effectLst/>
                <a:latin typeface="Courier New" panose="02070309020205020404" pitchFamily="49" charset="0"/>
              </a:rPr>
              <a:t>s.employee_id</a:t>
            </a:r>
            <a:r>
              <a:rPr lang="en-US" b="0" i="0" dirty="0">
                <a:solidFill>
                  <a:srgbClr val="212529"/>
                </a:solidFill>
                <a:effectLst/>
                <a:latin typeface="Courier New" panose="02070309020205020404" pitchFamily="49" charset="0"/>
              </a:rPr>
              <a:t>, '%') )</a:t>
            </a:r>
          </a:p>
          <a:p>
            <a:pPr algn="l">
              <a:spcBef>
                <a:spcPts val="1125"/>
              </a:spcBef>
              <a:spcAft>
                <a:spcPts val="375"/>
              </a:spcAft>
              <a:buNone/>
            </a:pPr>
            <a:r>
              <a:rPr lang="en-US" b="0" i="0" dirty="0">
                <a:solidFill>
                  <a:srgbClr val="212529"/>
                </a:solidFill>
                <a:effectLst/>
                <a:latin typeface="Courier New" panose="02070309020205020404" pitchFamily="49" charset="0"/>
              </a:rPr>
              <a:t>-- Detect cycles where employee appears again in path</a:t>
            </a:r>
          </a:p>
          <a:p>
            <a:pPr algn="l">
              <a:spcBef>
                <a:spcPts val="1125"/>
              </a:spcBef>
              <a:spcAft>
                <a:spcPts val="375"/>
              </a:spcAft>
              <a:buNone/>
            </a:pPr>
            <a:r>
              <a:rPr lang="en-US" b="0" i="0" dirty="0">
                <a:solidFill>
                  <a:srgbClr val="212529"/>
                </a:solidFill>
                <a:effectLst/>
                <a:latin typeface="Courier New" panose="02070309020205020404" pitchFamily="49" charset="0"/>
              </a:rPr>
              <a:t>SELECT DISTINCT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path FROM Hierarchy</a:t>
            </a:r>
          </a:p>
          <a:p>
            <a:pPr algn="l">
              <a:spcBef>
                <a:spcPts val="1125"/>
              </a:spcBef>
              <a:spcAft>
                <a:spcPts val="375"/>
              </a:spcAft>
              <a:buNone/>
            </a:pPr>
            <a:r>
              <a:rPr lang="en-US" b="0" i="0" dirty="0">
                <a:solidFill>
                  <a:srgbClr val="212529"/>
                </a:solidFill>
                <a:effectLst/>
                <a:latin typeface="Courier New" panose="02070309020205020404" pitchFamily="49" charset="0"/>
              </a:rPr>
              <a:t>WHERE path LIKE CONCAT('%',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 </a:t>
            </a:r>
          </a:p>
        </p:txBody>
      </p:sp>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25F165-47CF-5263-C05B-168C7251E036}"/>
              </a:ext>
            </a:extLst>
          </p:cNvPr>
          <p:cNvSpPr txBox="1"/>
          <p:nvPr/>
        </p:nvSpPr>
        <p:spPr>
          <a:xfrm>
            <a:off x="2477069" y="-227564"/>
            <a:ext cx="4954136" cy="73199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65. Write an UPDATE query to set the </a:t>
            </a:r>
            <a:r>
              <a:rPr lang="en-US" b="0" i="0" dirty="0" err="1">
                <a:solidFill>
                  <a:srgbClr val="272C37"/>
                </a:solidFill>
                <a:effectLst/>
                <a:latin typeface="Roboto" panose="02000000000000000000" pitchFamily="2" charset="0"/>
              </a:rPr>
              <a:t>total_sales</a:t>
            </a:r>
            <a:r>
              <a:rPr lang="en-US" b="0" i="0" dirty="0">
                <a:solidFill>
                  <a:srgbClr val="272C37"/>
                </a:solidFill>
                <a:effectLst/>
                <a:latin typeface="Roboto" panose="02000000000000000000" pitchFamily="2" charset="0"/>
              </a:rPr>
              <a:t> to the sum of individual sales amounts for each employee in the employee table.</a:t>
            </a:r>
          </a:p>
          <a:p>
            <a:pPr algn="l">
              <a:spcBef>
                <a:spcPts val="1125"/>
              </a:spcBef>
              <a:spcAft>
                <a:spcPts val="375"/>
              </a:spcAft>
              <a:buNone/>
            </a:pPr>
            <a:r>
              <a:rPr lang="en-US" b="0" i="0" dirty="0">
                <a:solidFill>
                  <a:srgbClr val="212529"/>
                </a:solidFill>
                <a:effectLst/>
                <a:latin typeface="Courier New" panose="02070309020205020404" pitchFamily="49" charset="0"/>
              </a:rPr>
              <a:t>-- Update </a:t>
            </a:r>
            <a:r>
              <a:rPr lang="en-US" b="0" i="0" dirty="0" err="1">
                <a:solidFill>
                  <a:srgbClr val="212529"/>
                </a:solidFill>
                <a:effectLst/>
                <a:latin typeface="Courier New" panose="02070309020205020404" pitchFamily="49" charset="0"/>
              </a:rPr>
              <a:t>total_sales</a:t>
            </a:r>
            <a:r>
              <a:rPr lang="en-US" b="0" i="0" dirty="0">
                <a:solidFill>
                  <a:srgbClr val="212529"/>
                </a:solidFill>
                <a:effectLst/>
                <a:latin typeface="Courier New" panose="02070309020205020404" pitchFamily="49" charset="0"/>
              </a:rPr>
              <a:t> column in the employee table</a:t>
            </a:r>
          </a:p>
          <a:p>
            <a:pPr algn="l">
              <a:spcBef>
                <a:spcPts val="1125"/>
              </a:spcBef>
              <a:spcAft>
                <a:spcPts val="375"/>
              </a:spcAft>
              <a:buNone/>
            </a:pPr>
            <a:r>
              <a:rPr lang="en-US" b="0" i="0" dirty="0">
                <a:solidFill>
                  <a:srgbClr val="212529"/>
                </a:solidFill>
                <a:effectLst/>
                <a:latin typeface="Courier New" panose="02070309020205020404" pitchFamily="49" charset="0"/>
              </a:rPr>
              <a:t>UPDATE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e SET </a:t>
            </a:r>
            <a:r>
              <a:rPr lang="en-US" b="0" i="0" dirty="0" err="1">
                <a:solidFill>
                  <a:srgbClr val="212529"/>
                </a:solidFill>
                <a:effectLst/>
                <a:latin typeface="Courier New" panose="02070309020205020404" pitchFamily="49" charset="0"/>
              </a:rPr>
              <a:t>total_sales</a:t>
            </a:r>
            <a:r>
              <a:rPr lang="en-US" b="0" i="0" dirty="0">
                <a:solidFill>
                  <a:srgbClr val="212529"/>
                </a:solidFill>
                <a:effectLst/>
                <a:latin typeface="Courier New" panose="02070309020205020404" pitchFamily="49" charset="0"/>
              </a:rPr>
              <a:t> = (</a:t>
            </a:r>
          </a:p>
          <a:p>
            <a:pPr algn="l">
              <a:spcBef>
                <a:spcPts val="1125"/>
              </a:spcBef>
              <a:spcAft>
                <a:spcPts val="375"/>
              </a:spcAft>
              <a:buNone/>
            </a:pPr>
            <a:r>
              <a:rPr lang="en-US" b="0" i="0" dirty="0">
                <a:solidFill>
                  <a:srgbClr val="212529"/>
                </a:solidFill>
                <a:effectLst/>
                <a:latin typeface="Courier New" panose="02070309020205020404" pitchFamily="49" charset="0"/>
              </a:rPr>
              <a:t>-- Calculate total sales per employee</a:t>
            </a:r>
          </a:p>
          <a:p>
            <a:pPr algn="l">
              <a:spcBef>
                <a:spcPts val="1125"/>
              </a:spcBef>
              <a:spcAft>
                <a:spcPts val="375"/>
              </a:spcAft>
              <a:buNone/>
            </a:pPr>
            <a:r>
              <a:rPr lang="en-US" b="0" i="0" dirty="0">
                <a:solidFill>
                  <a:srgbClr val="212529"/>
                </a:solidFill>
                <a:effectLst/>
                <a:latin typeface="Courier New" panose="02070309020205020404" pitchFamily="49" charset="0"/>
              </a:rPr>
              <a:t>SELECT COALESCE(SUM(</a:t>
            </a:r>
            <a:r>
              <a:rPr lang="en-US" b="0" i="0" dirty="0" err="1">
                <a:solidFill>
                  <a:srgbClr val="212529"/>
                </a:solidFill>
                <a:effectLst/>
                <a:latin typeface="Courier New" panose="02070309020205020404" pitchFamily="49" charset="0"/>
              </a:rPr>
              <a:t>s.sale_amount</a:t>
            </a:r>
            <a:r>
              <a:rPr lang="en-US" b="0" i="0" dirty="0">
                <a:solidFill>
                  <a:srgbClr val="212529"/>
                </a:solidFill>
                <a:effectLst/>
                <a:latin typeface="Courier New" panose="02070309020205020404" pitchFamily="49" charset="0"/>
              </a:rPr>
              <a:t>), 0)</a:t>
            </a:r>
          </a:p>
          <a:p>
            <a:pPr algn="l">
              <a:spcBef>
                <a:spcPts val="1125"/>
              </a:spcBef>
              <a:spcAft>
                <a:spcPts val="375"/>
              </a:spcAft>
              <a:buNone/>
            </a:pPr>
            <a:r>
              <a:rPr lang="en-US" b="0" i="0" dirty="0">
                <a:solidFill>
                  <a:srgbClr val="212529"/>
                </a:solidFill>
                <a:effectLst/>
                <a:latin typeface="Courier New" panose="02070309020205020404" pitchFamily="49" charset="0"/>
              </a:rPr>
              <a:t>FROM sales s WHERE </a:t>
            </a:r>
            <a:r>
              <a:rPr lang="en-US" b="0" i="0" dirty="0" err="1">
                <a:solidFill>
                  <a:srgbClr val="212529"/>
                </a:solidFill>
                <a:effectLst/>
                <a:latin typeface="Courier New" panose="02070309020205020404" pitchFamily="49" charset="0"/>
              </a:rPr>
              <a:t>s.employee_id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e.employee_id</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 Update only employees who have sales records</a:t>
            </a:r>
          </a:p>
          <a:p>
            <a:pPr algn="l">
              <a:spcBef>
                <a:spcPts val="1125"/>
              </a:spcBef>
              <a:spcAft>
                <a:spcPts val="375"/>
              </a:spcAft>
              <a:buNone/>
            </a:pPr>
            <a:r>
              <a:rPr lang="en-US" b="0" i="0" dirty="0">
                <a:solidFill>
                  <a:srgbClr val="212529"/>
                </a:solidFill>
                <a:effectLst/>
                <a:latin typeface="Courier New" panose="02070309020205020404" pitchFamily="49" charset="0"/>
              </a:rPr>
              <a:t>WHERE EXISTS ( SELECT 1 FROM sales s</a:t>
            </a: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s.employee_id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e.employee_id</a:t>
            </a:r>
            <a:r>
              <a:rPr lang="en-US" b="0" i="0" dirty="0">
                <a:solidFill>
                  <a:srgbClr val="212529"/>
                </a:solidFill>
                <a:effectLst/>
                <a:latin typeface="Courier New" panose="02070309020205020404" pitchFamily="49" charset="0"/>
              </a:rPr>
              <a:t> ); </a:t>
            </a:r>
          </a:p>
        </p:txBody>
      </p:sp>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20FFC4-6257-6755-4B2B-7DEA320B3D2C}"/>
              </a:ext>
            </a:extLst>
          </p:cNvPr>
          <p:cNvSpPr txBox="1"/>
          <p:nvPr/>
        </p:nvSpPr>
        <p:spPr>
          <a:xfrm>
            <a:off x="2477069" y="1199750"/>
            <a:ext cx="4954136" cy="446532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66. Write an SQL syntax for joining 3 tables.</a:t>
            </a:r>
          </a:p>
          <a:p>
            <a:pPr algn="l">
              <a:spcBef>
                <a:spcPts val="1125"/>
              </a:spcBef>
              <a:spcAft>
                <a:spcPts val="375"/>
              </a:spcAft>
              <a:buNone/>
            </a:pPr>
            <a:r>
              <a:rPr lang="en-US" b="0" i="0" dirty="0">
                <a:solidFill>
                  <a:srgbClr val="212529"/>
                </a:solidFill>
                <a:effectLst/>
                <a:latin typeface="Courier New" panose="02070309020205020404" pitchFamily="49" charset="0"/>
              </a:rPr>
              <a:t>SELECT tab1.col1, tab2.col2, tab3.col3</a:t>
            </a:r>
          </a:p>
          <a:p>
            <a:pPr algn="l">
              <a:spcBef>
                <a:spcPts val="1125"/>
              </a:spcBef>
              <a:spcAft>
                <a:spcPts val="375"/>
              </a:spcAft>
              <a:buNone/>
            </a:pPr>
            <a:r>
              <a:rPr lang="en-US" b="0" i="0" dirty="0">
                <a:solidFill>
                  <a:srgbClr val="212529"/>
                </a:solidFill>
                <a:effectLst/>
                <a:latin typeface="Courier New" panose="02070309020205020404" pitchFamily="49" charset="0"/>
              </a:rPr>
              <a:t>-- Columns to display FROM table1 tab1</a:t>
            </a:r>
          </a:p>
          <a:p>
            <a:pPr algn="l">
              <a:spcBef>
                <a:spcPts val="1125"/>
              </a:spcBef>
              <a:spcAft>
                <a:spcPts val="375"/>
              </a:spcAft>
              <a:buNone/>
            </a:pPr>
            <a:r>
              <a:rPr lang="en-US" b="0" i="0" dirty="0">
                <a:solidFill>
                  <a:srgbClr val="212529"/>
                </a:solidFill>
                <a:effectLst/>
                <a:latin typeface="Courier New" panose="02070309020205020404" pitchFamily="49" charset="0"/>
              </a:rPr>
              <a:t>JOIN table2 tab2 ON tab1.col1 = tab2.col1</a:t>
            </a:r>
          </a:p>
          <a:p>
            <a:pPr algn="l">
              <a:spcBef>
                <a:spcPts val="1125"/>
              </a:spcBef>
              <a:spcAft>
                <a:spcPts val="375"/>
              </a:spcAft>
              <a:buNone/>
            </a:pPr>
            <a:r>
              <a:rPr lang="en-US" b="0" i="0" dirty="0">
                <a:solidFill>
                  <a:srgbClr val="212529"/>
                </a:solidFill>
                <a:effectLst/>
                <a:latin typeface="Courier New" panose="02070309020205020404" pitchFamily="49" charset="0"/>
              </a:rPr>
              <a:t>-- Matching condition</a:t>
            </a:r>
          </a:p>
          <a:p>
            <a:pPr algn="l">
              <a:spcBef>
                <a:spcPts val="1125"/>
              </a:spcBef>
              <a:spcAft>
                <a:spcPts val="375"/>
              </a:spcAft>
              <a:buNone/>
            </a:pPr>
            <a:r>
              <a:rPr lang="en-US" b="0" i="0" dirty="0">
                <a:solidFill>
                  <a:srgbClr val="212529"/>
                </a:solidFill>
                <a:effectLst/>
                <a:latin typeface="Courier New" panose="02070309020205020404" pitchFamily="49" charset="0"/>
              </a:rPr>
              <a:t>JOIN table3 tab3 ON tab2.col1 = tab3.col1;</a:t>
            </a:r>
          </a:p>
          <a:p>
            <a:pPr algn="l">
              <a:spcBef>
                <a:spcPts val="1125"/>
              </a:spcBef>
              <a:spcAft>
                <a:spcPts val="375"/>
              </a:spcAft>
              <a:buNone/>
            </a:pPr>
            <a:r>
              <a:rPr lang="en-US" b="0" i="0" dirty="0">
                <a:solidFill>
                  <a:srgbClr val="212529"/>
                </a:solidFill>
                <a:effectLst/>
                <a:latin typeface="Courier New" panose="02070309020205020404" pitchFamily="49" charset="0"/>
              </a:rPr>
              <a:t>-- Matching condition </a:t>
            </a:r>
          </a:p>
        </p:txBody>
      </p:sp>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F9BCA9-515F-80BB-BD18-6362DD265620}"/>
              </a:ext>
            </a:extLst>
          </p:cNvPr>
          <p:cNvSpPr txBox="1"/>
          <p:nvPr/>
        </p:nvSpPr>
        <p:spPr>
          <a:xfrm>
            <a:off x="2477069" y="2049983"/>
            <a:ext cx="4954136" cy="276485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67. Write a query to select specific columns, say name and age, from a table called Employees.</a:t>
            </a:r>
          </a:p>
          <a:p>
            <a:pPr algn="l">
              <a:spcBef>
                <a:spcPts val="1125"/>
              </a:spcBef>
              <a:spcAft>
                <a:spcPts val="375"/>
              </a:spcAft>
              <a:buNone/>
            </a:pPr>
            <a:r>
              <a:rPr lang="en-US" b="0" i="0" dirty="0">
                <a:solidFill>
                  <a:srgbClr val="212529"/>
                </a:solidFill>
                <a:effectLst/>
                <a:latin typeface="Courier New" panose="02070309020205020404" pitchFamily="49" charset="0"/>
              </a:rPr>
              <a:t>SELECT name, age</a:t>
            </a:r>
          </a:p>
          <a:p>
            <a:pPr algn="l">
              <a:spcBef>
                <a:spcPts val="1125"/>
              </a:spcBef>
              <a:spcAft>
                <a:spcPts val="375"/>
              </a:spcAft>
              <a:buNone/>
            </a:pPr>
            <a:r>
              <a:rPr lang="en-US" b="0" i="0" dirty="0">
                <a:solidFill>
                  <a:srgbClr val="212529"/>
                </a:solidFill>
                <a:effectLst/>
                <a:latin typeface="Courier New" panose="02070309020205020404" pitchFamily="49" charset="0"/>
              </a:rPr>
              <a:t>-- Select specific columns FROM Employees;</a:t>
            </a:r>
          </a:p>
          <a:p>
            <a:pPr algn="l">
              <a:spcBef>
                <a:spcPts val="1125"/>
              </a:spcBef>
              <a:spcAft>
                <a:spcPts val="375"/>
              </a:spcAft>
              <a:buNone/>
            </a:pPr>
            <a:r>
              <a:rPr lang="en-US" b="0" i="0" dirty="0">
                <a:solidFill>
                  <a:srgbClr val="212529"/>
                </a:solidFill>
                <a:effectLst/>
                <a:latin typeface="Courier New" panose="02070309020205020404" pitchFamily="49" charset="0"/>
              </a:rPr>
              <a:t>-- Table name </a:t>
            </a:r>
          </a:p>
        </p:txBody>
      </p:sp>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933194-ECDA-0D3C-ABD1-456F6FC5BBC6}"/>
              </a:ext>
            </a:extLst>
          </p:cNvPr>
          <p:cNvSpPr txBox="1"/>
          <p:nvPr/>
        </p:nvSpPr>
        <p:spPr>
          <a:xfrm>
            <a:off x="2477069" y="2184635"/>
            <a:ext cx="4954136" cy="249555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68. Write a query to get employees older than 35 and working in the operations department.</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Intellipaat_Emp</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Table name WHERE age &gt; 35</a:t>
            </a:r>
          </a:p>
          <a:p>
            <a:pPr algn="l">
              <a:spcBef>
                <a:spcPts val="1125"/>
              </a:spcBef>
              <a:spcAft>
                <a:spcPts val="375"/>
              </a:spcAft>
              <a:buNone/>
            </a:pPr>
            <a:r>
              <a:rPr lang="en-US" b="0" i="0" dirty="0">
                <a:solidFill>
                  <a:srgbClr val="212529"/>
                </a:solidFill>
                <a:effectLst/>
                <a:latin typeface="Courier New" panose="02070309020205020404" pitchFamily="49" charset="0"/>
              </a:rPr>
              <a:t>-- Age greater than 35 AND department = 'operations';</a:t>
            </a:r>
          </a:p>
        </p:txBody>
      </p:sp>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D7D87B-F464-F2C6-43BA-47B4490DBD65}"/>
              </a:ext>
            </a:extLst>
          </p:cNvPr>
          <p:cNvSpPr txBox="1"/>
          <p:nvPr/>
        </p:nvSpPr>
        <p:spPr>
          <a:xfrm>
            <a:off x="2477069" y="1907636"/>
            <a:ext cx="4954136" cy="30495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69. Write a query to find the average salary for each department.</a:t>
            </a:r>
          </a:p>
          <a:p>
            <a:pPr algn="l">
              <a:spcBef>
                <a:spcPts val="1125"/>
              </a:spcBef>
              <a:spcAft>
                <a:spcPts val="375"/>
              </a:spcAft>
              <a:buNone/>
            </a:pPr>
            <a:r>
              <a:rPr lang="en-US" b="0" i="0" dirty="0">
                <a:solidFill>
                  <a:srgbClr val="212529"/>
                </a:solidFill>
                <a:effectLst/>
                <a:latin typeface="Courier New" panose="02070309020205020404" pitchFamily="49" charset="0"/>
              </a:rPr>
              <a:t>SELECT department, AVG(salary) AS </a:t>
            </a:r>
            <a:r>
              <a:rPr lang="en-US" b="0" i="0" dirty="0" err="1">
                <a:solidFill>
                  <a:srgbClr val="212529"/>
                </a:solidFill>
                <a:effectLst/>
                <a:latin typeface="Courier New" panose="02070309020205020404" pitchFamily="49" charset="0"/>
              </a:rPr>
              <a:t>avg_salary</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Calculate the average salary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GROUP BY department;</a:t>
            </a:r>
          </a:p>
          <a:p>
            <a:pPr algn="l">
              <a:spcBef>
                <a:spcPts val="1125"/>
              </a:spcBef>
              <a:spcAft>
                <a:spcPts val="375"/>
              </a:spcAft>
              <a:buNone/>
            </a:pPr>
            <a:r>
              <a:rPr lang="en-US" b="0" i="0" dirty="0">
                <a:solidFill>
                  <a:srgbClr val="212529"/>
                </a:solidFill>
                <a:effectLst/>
                <a:latin typeface="Courier New" panose="02070309020205020404" pitchFamily="49" charset="0"/>
              </a:rPr>
              <a:t>-- Group results by department</a:t>
            </a:r>
          </a:p>
        </p:txBody>
      </p:sp>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BDFB3E-D6B7-82F7-7776-8E98F2E69B6B}"/>
              </a:ext>
            </a:extLst>
          </p:cNvPr>
          <p:cNvSpPr txBox="1"/>
          <p:nvPr/>
        </p:nvSpPr>
        <p:spPr>
          <a:xfrm>
            <a:off x="2477069" y="2323134"/>
            <a:ext cx="4954136" cy="22185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70. Write a query to find employees whose names start with ‘Int’.</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Intellipaat_Emp</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LIKE 'Int%';</a:t>
            </a:r>
          </a:p>
          <a:p>
            <a:pPr algn="l">
              <a:spcBef>
                <a:spcPts val="1125"/>
              </a:spcBef>
              <a:spcAft>
                <a:spcPts val="375"/>
              </a:spcAft>
              <a:buNone/>
            </a:pPr>
            <a:r>
              <a:rPr lang="en-US" b="0" i="0" dirty="0">
                <a:solidFill>
                  <a:srgbClr val="212529"/>
                </a:solidFill>
                <a:effectLst/>
                <a:latin typeface="Courier New" panose="02070309020205020404" pitchFamily="49" charset="0"/>
              </a:rPr>
              <a:t>-- Names starting with 'Int' </a:t>
            </a:r>
          </a:p>
        </p:txBody>
      </p:sp>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21F293-CC69-CCC3-3183-D56BB2B13B66}"/>
              </a:ext>
            </a:extLst>
          </p:cNvPr>
          <p:cNvSpPr txBox="1"/>
          <p:nvPr/>
        </p:nvSpPr>
        <p:spPr>
          <a:xfrm>
            <a:off x="2477069" y="2046135"/>
            <a:ext cx="4954136" cy="277255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71. Write a query to add a new employee record.</a:t>
            </a:r>
          </a:p>
          <a:p>
            <a:pPr algn="l">
              <a:spcBef>
                <a:spcPts val="1125"/>
              </a:spcBef>
              <a:spcAft>
                <a:spcPts val="375"/>
              </a:spcAft>
              <a:buNone/>
            </a:pPr>
            <a:r>
              <a:rPr lang="en-US" b="0" i="0" dirty="0">
                <a:solidFill>
                  <a:srgbClr val="212529"/>
                </a:solidFill>
                <a:effectLst/>
                <a:latin typeface="Courier New" panose="02070309020205020404" pitchFamily="49" charset="0"/>
              </a:rPr>
              <a:t>INSERT INTO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Age, Department, Salary)</a:t>
            </a:r>
          </a:p>
          <a:p>
            <a:pPr algn="l">
              <a:spcBef>
                <a:spcPts val="1125"/>
              </a:spcBef>
              <a:spcAft>
                <a:spcPts val="375"/>
              </a:spcAft>
              <a:buNone/>
            </a:pPr>
            <a:r>
              <a:rPr lang="en-US" b="0" i="0" dirty="0">
                <a:solidFill>
                  <a:srgbClr val="212529"/>
                </a:solidFill>
                <a:effectLst/>
                <a:latin typeface="Courier New" panose="02070309020205020404" pitchFamily="49" charset="0"/>
              </a:rPr>
              <a:t>VALUES ('John Doe', 28, 'Marketing', 50000); </a:t>
            </a:r>
          </a:p>
        </p:txBody>
      </p:sp>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2EE35F-0184-62A4-B94A-E5E1F3F2464C}"/>
              </a:ext>
            </a:extLst>
          </p:cNvPr>
          <p:cNvSpPr txBox="1"/>
          <p:nvPr/>
        </p:nvSpPr>
        <p:spPr>
          <a:xfrm>
            <a:off x="2477069" y="1911483"/>
            <a:ext cx="4954136" cy="304185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72. Write a query to retrieve the last five records from the Employees table based on the ID column.</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ORDER BY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DESC</a:t>
            </a:r>
          </a:p>
          <a:p>
            <a:pPr algn="l">
              <a:spcBef>
                <a:spcPts val="1125"/>
              </a:spcBef>
              <a:spcAft>
                <a:spcPts val="375"/>
              </a:spcAft>
              <a:buNone/>
            </a:pPr>
            <a:r>
              <a:rPr lang="en-US" b="0" i="0" dirty="0">
                <a:solidFill>
                  <a:srgbClr val="212529"/>
                </a:solidFill>
                <a:effectLst/>
                <a:latin typeface="Courier New" panose="02070309020205020404" pitchFamily="49" charset="0"/>
              </a:rPr>
              <a:t>-- Sort by ID in descending order LIMIT 5;</a:t>
            </a:r>
          </a:p>
          <a:p>
            <a:pPr algn="l">
              <a:spcBef>
                <a:spcPts val="1125"/>
              </a:spcBef>
              <a:spcAft>
                <a:spcPts val="375"/>
              </a:spcAft>
              <a:buNone/>
            </a:pPr>
            <a:r>
              <a:rPr lang="en-US" b="0" i="0" dirty="0">
                <a:solidFill>
                  <a:srgbClr val="212529"/>
                </a:solidFill>
                <a:effectLst/>
                <a:latin typeface="Courier New" panose="02070309020205020404" pitchFamily="49" charset="0"/>
              </a:rPr>
              <a:t>-- Return last 5 records </a:t>
            </a:r>
          </a:p>
        </p:txBody>
      </p:sp>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0280C9-05AC-E8C5-B0F1-AEA1AAAE8772}"/>
              </a:ext>
            </a:extLst>
          </p:cNvPr>
          <p:cNvSpPr txBox="1"/>
          <p:nvPr/>
        </p:nvSpPr>
        <p:spPr>
          <a:xfrm>
            <a:off x="2477069" y="1907636"/>
            <a:ext cx="4954136" cy="30495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73. Write a query to label employees with salaries above 5000 as “High Salary.”</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Salary, CASE WHEN Salary &gt; 5000</a:t>
            </a:r>
          </a:p>
          <a:p>
            <a:pPr algn="l">
              <a:spcBef>
                <a:spcPts val="1125"/>
              </a:spcBef>
              <a:spcAft>
                <a:spcPts val="375"/>
              </a:spcAft>
              <a:buNone/>
            </a:pPr>
            <a:r>
              <a:rPr lang="en-US" b="0" i="0" dirty="0">
                <a:solidFill>
                  <a:srgbClr val="212529"/>
                </a:solidFill>
                <a:effectLst/>
                <a:latin typeface="Courier New" panose="02070309020205020404" pitchFamily="49" charset="0"/>
              </a:rPr>
              <a:t>THEN 'High Salary' ELSE 'Low Salary' END</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salary_category</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86A30C-93FF-580E-B96F-A4C288FC54BF}"/>
              </a:ext>
            </a:extLst>
          </p:cNvPr>
          <p:cNvSpPr txBox="1"/>
          <p:nvPr/>
        </p:nvSpPr>
        <p:spPr>
          <a:xfrm>
            <a:off x="2477069" y="1634484"/>
            <a:ext cx="4954136" cy="35958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74. Write a query to get all employees and their project names, showing NULL if an employee is not assigned a project.</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e.Employee_name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p.project_name</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e LEFT JOIN Projects p ON </a:t>
            </a:r>
            <a:r>
              <a:rPr lang="en-US" b="0" i="0" dirty="0" err="1">
                <a:solidFill>
                  <a:srgbClr val="212529"/>
                </a:solidFill>
                <a:effectLst/>
                <a:latin typeface="Courier New" panose="02070309020205020404" pitchFamily="49" charset="0"/>
              </a:rPr>
              <a:t>e.project_id</a:t>
            </a:r>
            <a:r>
              <a:rPr lang="en-US" b="0" i="0" dirty="0">
                <a:solidFill>
                  <a:srgbClr val="212529"/>
                </a:solidFill>
                <a:effectLst/>
                <a:latin typeface="Courier New" panose="02070309020205020404" pitchFamily="49" charset="0"/>
              </a:rPr>
              <a:t> = p.id;</a:t>
            </a:r>
          </a:p>
          <a:p>
            <a:pPr algn="l">
              <a:spcBef>
                <a:spcPts val="1125"/>
              </a:spcBef>
              <a:spcAft>
                <a:spcPts val="375"/>
              </a:spcAft>
              <a:buNone/>
            </a:pPr>
            <a:r>
              <a:rPr lang="en-US" b="0" i="0" dirty="0">
                <a:solidFill>
                  <a:srgbClr val="212529"/>
                </a:solidFill>
                <a:effectLst/>
                <a:latin typeface="Courier New" panose="02070309020205020404" pitchFamily="49" charset="0"/>
              </a:rPr>
              <a:t>-- LEFT JOIN ensures NULL if no project </a:t>
            </a:r>
          </a:p>
        </p:txBody>
      </p:sp>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2083BB-85EE-5BF3-85A5-763C3D614F13}"/>
              </a:ext>
            </a:extLst>
          </p:cNvPr>
          <p:cNvSpPr txBox="1"/>
          <p:nvPr/>
        </p:nvSpPr>
        <p:spPr>
          <a:xfrm>
            <a:off x="2477069" y="1272847"/>
            <a:ext cx="4954136" cy="431913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75. Write an SQL query to display each department along with the name of any employee who works in that department. If a department has no employees, show the department with NULL for the employee’s name.</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dept.DepartmentName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emp.Employee_name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Departments dept</a:t>
            </a:r>
          </a:p>
          <a:p>
            <a:pPr algn="l">
              <a:spcBef>
                <a:spcPts val="1125"/>
              </a:spcBef>
              <a:spcAft>
                <a:spcPts val="375"/>
              </a:spcAft>
              <a:buNone/>
            </a:pPr>
            <a:r>
              <a:rPr lang="en-US" b="0" i="0" dirty="0">
                <a:solidFill>
                  <a:srgbClr val="212529"/>
                </a:solidFill>
                <a:effectLst/>
                <a:latin typeface="Courier New" panose="02070309020205020404" pitchFamily="49" charset="0"/>
              </a:rPr>
              <a:t>LEFT JOIN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emp ON </a:t>
            </a:r>
            <a:r>
              <a:rPr lang="en-US" b="0" i="0" dirty="0" err="1">
                <a:solidFill>
                  <a:srgbClr val="212529"/>
                </a:solidFill>
                <a:effectLst/>
                <a:latin typeface="Courier New" panose="02070309020205020404" pitchFamily="49" charset="0"/>
              </a:rPr>
              <a:t>emp.DepartmentID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dept.DepartmentID</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75F689-21C3-FC2E-59B3-C1232E4FBD7A}"/>
              </a:ext>
            </a:extLst>
          </p:cNvPr>
          <p:cNvSpPr txBox="1"/>
          <p:nvPr/>
        </p:nvSpPr>
        <p:spPr>
          <a:xfrm>
            <a:off x="2477069" y="2419314"/>
            <a:ext cx="4954136" cy="20261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76. Write a query to increase the salary of all employees in the ‘HR’ department by 10%.</a:t>
            </a:r>
          </a:p>
          <a:p>
            <a:pPr algn="l">
              <a:spcBef>
                <a:spcPts val="1125"/>
              </a:spcBef>
              <a:spcAft>
                <a:spcPts val="375"/>
              </a:spcAft>
              <a:buNone/>
            </a:pPr>
            <a:r>
              <a:rPr lang="en-US" b="0" i="0" dirty="0">
                <a:solidFill>
                  <a:srgbClr val="212529"/>
                </a:solidFill>
                <a:effectLst/>
                <a:latin typeface="Courier New" panose="02070309020205020404" pitchFamily="49" charset="0"/>
              </a:rPr>
              <a:t>UPDATE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SET Salary</a:t>
            </a:r>
          </a:p>
          <a:p>
            <a:pPr algn="l">
              <a:spcBef>
                <a:spcPts val="1125"/>
              </a:spcBef>
              <a:spcAft>
                <a:spcPts val="375"/>
              </a:spcAft>
              <a:buNone/>
            </a:pPr>
            <a:r>
              <a:rPr lang="en-US" b="0" i="0" dirty="0">
                <a:solidFill>
                  <a:srgbClr val="212529"/>
                </a:solidFill>
                <a:effectLst/>
                <a:latin typeface="Courier New" panose="02070309020205020404" pitchFamily="49" charset="0"/>
              </a:rPr>
              <a:t>= Salary * 1.1 WHERE Department = 'HR'; </a:t>
            </a:r>
          </a:p>
        </p:txBody>
      </p:sp>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CA0C13-2146-71FA-ECC9-824FC40C65FB}"/>
              </a:ext>
            </a:extLst>
          </p:cNvPr>
          <p:cNvSpPr txBox="1"/>
          <p:nvPr/>
        </p:nvSpPr>
        <p:spPr>
          <a:xfrm>
            <a:off x="2477069" y="2146163"/>
            <a:ext cx="4954136" cy="257249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77. Write a query to fetch unique employee names where duplicate names exist in the Employees table.</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GROUP BY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HAVING COUNT(*) &gt; 1; </a:t>
            </a:r>
          </a:p>
        </p:txBody>
      </p:sp>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F741C0-D9AE-8F1B-E334-E4FFA6256D43}"/>
              </a:ext>
            </a:extLst>
          </p:cNvPr>
          <p:cNvSpPr txBox="1"/>
          <p:nvPr/>
        </p:nvSpPr>
        <p:spPr>
          <a:xfrm>
            <a:off x="2477069" y="1907636"/>
            <a:ext cx="4954136" cy="30495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78. Find all duplicate rows in the table Employees, considering all columns.</a:t>
            </a:r>
          </a:p>
          <a:p>
            <a:pPr algn="l">
              <a:spcBef>
                <a:spcPts val="1125"/>
              </a:spcBef>
              <a:spcAft>
                <a:spcPts val="375"/>
              </a:spcAft>
              <a:buNone/>
            </a:pPr>
            <a:r>
              <a:rPr lang="en-US" b="0" i="0" dirty="0">
                <a:solidFill>
                  <a:srgbClr val="212529"/>
                </a:solidFill>
                <a:effectLst/>
                <a:latin typeface="Courier New" panose="02070309020205020404" pitchFamily="49" charset="0"/>
              </a:rPr>
              <a:t>SELECT * FROM ( SELECT *, ROW_NUMBER() OVER</a:t>
            </a:r>
          </a:p>
          <a:p>
            <a:pPr algn="l">
              <a:spcBef>
                <a:spcPts val="1125"/>
              </a:spcBef>
              <a:spcAft>
                <a:spcPts val="375"/>
              </a:spcAft>
              <a:buNone/>
            </a:pPr>
            <a:r>
              <a:rPr lang="en-US" b="0" i="0" dirty="0">
                <a:solidFill>
                  <a:srgbClr val="212529"/>
                </a:solidFill>
                <a:effectLst/>
                <a:latin typeface="Courier New" panose="02070309020205020404" pitchFamily="49" charset="0"/>
              </a:rPr>
              <a:t>( PARTITION BY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Age, Department, Salary )</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rn</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 t WHERE </a:t>
            </a:r>
            <a:r>
              <a:rPr lang="en-US" b="0" i="0" dirty="0" err="1">
                <a:solidFill>
                  <a:srgbClr val="212529"/>
                </a:solidFill>
                <a:effectLst/>
                <a:latin typeface="Courier New" panose="02070309020205020404" pitchFamily="49" charset="0"/>
              </a:rPr>
              <a:t>rn</a:t>
            </a:r>
            <a:r>
              <a:rPr lang="en-US" b="0" i="0" dirty="0">
                <a:solidFill>
                  <a:srgbClr val="212529"/>
                </a:solidFill>
                <a:effectLst/>
                <a:latin typeface="Courier New" panose="02070309020205020404" pitchFamily="49" charset="0"/>
              </a:rPr>
              <a:t> &gt; 1; </a:t>
            </a:r>
          </a:p>
        </p:txBody>
      </p:sp>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1A5370-D235-0D90-C507-DB36B2574C7D}"/>
              </a:ext>
            </a:extLst>
          </p:cNvPr>
          <p:cNvSpPr txBox="1"/>
          <p:nvPr/>
        </p:nvSpPr>
        <p:spPr>
          <a:xfrm>
            <a:off x="2477069" y="1125370"/>
            <a:ext cx="4954136" cy="461408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79. How will you calculate the total sales in each category of a product sales table?</a:t>
            </a:r>
          </a:p>
          <a:p>
            <a:pPr algn="just">
              <a:lnSpc>
                <a:spcPts val="2100"/>
              </a:lnSpc>
              <a:spcBef>
                <a:spcPts val="1650"/>
              </a:spcBef>
              <a:buNone/>
            </a:pPr>
            <a:r>
              <a:rPr lang="en-US" b="0" i="0" dirty="0">
                <a:solidFill>
                  <a:srgbClr val="3A3A3A"/>
                </a:solidFill>
                <a:effectLst/>
                <a:latin typeface="Roboto" panose="02000000000000000000" pitchFamily="2" charset="0"/>
              </a:rPr>
              <a:t>To calculate the total sales in each category of a product sales table, we can use the aggregate function (SUM) with the sales amount column and group it by the category column.</a:t>
            </a:r>
          </a:p>
          <a:p>
            <a:pPr algn="l">
              <a:spcBef>
                <a:spcPts val="1125"/>
              </a:spcBef>
              <a:spcAft>
                <a:spcPts val="375"/>
              </a:spcAft>
              <a:buNone/>
            </a:pPr>
            <a:r>
              <a:rPr lang="en-US" b="0" i="0" dirty="0">
                <a:solidFill>
                  <a:srgbClr val="212529"/>
                </a:solidFill>
                <a:effectLst/>
                <a:latin typeface="Courier New" panose="02070309020205020404" pitchFamily="49" charset="0"/>
              </a:rPr>
              <a:t>SELECT category, SUM(</a:t>
            </a:r>
            <a:r>
              <a:rPr lang="en-US" b="0" i="0" dirty="0" err="1">
                <a:solidFill>
                  <a:srgbClr val="212529"/>
                </a:solidFill>
                <a:effectLst/>
                <a:latin typeface="Courier New" panose="02070309020205020404" pitchFamily="49" charset="0"/>
              </a:rPr>
              <a:t>sales_amt</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Total_Sales</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Calculate total sales per category FROM sales</a:t>
            </a:r>
          </a:p>
          <a:p>
            <a:pPr algn="l">
              <a:spcBef>
                <a:spcPts val="1125"/>
              </a:spcBef>
              <a:spcAft>
                <a:spcPts val="375"/>
              </a:spcAft>
              <a:buNone/>
            </a:pPr>
            <a:r>
              <a:rPr lang="en-US" b="0" i="0" dirty="0">
                <a:solidFill>
                  <a:srgbClr val="212529"/>
                </a:solidFill>
                <a:effectLst/>
                <a:latin typeface="Courier New" panose="02070309020205020404" pitchFamily="49" charset="0"/>
              </a:rPr>
              <a:t>GROUP BY category; -- Group totals by category </a:t>
            </a:r>
          </a:p>
        </p:txBody>
      </p:sp>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EA30B1-A6EF-F92C-E015-818B6EF1A92C}"/>
              </a:ext>
            </a:extLst>
          </p:cNvPr>
          <p:cNvSpPr txBox="1"/>
          <p:nvPr/>
        </p:nvSpPr>
        <p:spPr>
          <a:xfrm>
            <a:off x="2477069" y="2280815"/>
            <a:ext cx="4954136" cy="230319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80. How can you copy data from one table to another table?</a:t>
            </a:r>
          </a:p>
          <a:p>
            <a:pPr algn="l">
              <a:spcBef>
                <a:spcPts val="1125"/>
              </a:spcBef>
              <a:spcAft>
                <a:spcPts val="375"/>
              </a:spcAft>
              <a:buNone/>
            </a:pPr>
            <a:r>
              <a:rPr lang="en-US" b="0" i="0" dirty="0">
                <a:solidFill>
                  <a:srgbClr val="212529"/>
                </a:solidFill>
                <a:effectLst/>
                <a:latin typeface="Courier New" panose="02070309020205020404" pitchFamily="49" charset="0"/>
              </a:rPr>
              <a:t>--We can use the INSERT INTO SELECT operator.</a:t>
            </a:r>
          </a:p>
          <a:p>
            <a:pPr algn="l">
              <a:spcBef>
                <a:spcPts val="1125"/>
              </a:spcBef>
              <a:spcAft>
                <a:spcPts val="375"/>
              </a:spcAft>
              <a:buNone/>
            </a:pPr>
            <a:r>
              <a:rPr lang="en-US" b="0" i="0" dirty="0">
                <a:solidFill>
                  <a:srgbClr val="212529"/>
                </a:solidFill>
                <a:effectLst/>
                <a:latin typeface="Courier New" panose="02070309020205020404" pitchFamily="49" charset="0"/>
              </a:rPr>
              <a:t>INSERT INTO </a:t>
            </a:r>
            <a:r>
              <a:rPr lang="en-US" b="0" i="0" dirty="0" err="1">
                <a:solidFill>
                  <a:srgbClr val="212529"/>
                </a:solidFill>
                <a:effectLst/>
                <a:latin typeface="Courier New" panose="02070309020205020404" pitchFamily="49" charset="0"/>
              </a:rPr>
              <a:t>employee_duplicate</a:t>
            </a:r>
            <a:r>
              <a:rPr lang="en-US" b="0" i="0" dirty="0">
                <a:solidFill>
                  <a:srgbClr val="212529"/>
                </a:solidFill>
                <a:effectLst/>
                <a:latin typeface="Courier New" panose="02070309020205020404" pitchFamily="49" charset="0"/>
              </a:rPr>
              <a:t> SELECT * FROM employees; </a:t>
            </a:r>
          </a:p>
        </p:txBody>
      </p:sp>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F75D4C-4E53-A0FD-5E39-E1EECBF539A2}"/>
              </a:ext>
            </a:extLst>
          </p:cNvPr>
          <p:cNvSpPr txBox="1"/>
          <p:nvPr/>
        </p:nvSpPr>
        <p:spPr>
          <a:xfrm>
            <a:off x="2477069" y="2046135"/>
            <a:ext cx="4954136" cy="277255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81. Write a query to fetch employees who earn more than the average salary.</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Intellipaat_Emp</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Compare each employee's salary to the average salary</a:t>
            </a:r>
          </a:p>
          <a:p>
            <a:pPr algn="l">
              <a:spcBef>
                <a:spcPts val="1125"/>
              </a:spcBef>
              <a:spcAft>
                <a:spcPts val="375"/>
              </a:spcAft>
              <a:buNone/>
            </a:pPr>
            <a:r>
              <a:rPr lang="en-US" b="0" i="0" dirty="0">
                <a:solidFill>
                  <a:srgbClr val="212529"/>
                </a:solidFill>
                <a:effectLst/>
                <a:latin typeface="Courier New" panose="02070309020205020404" pitchFamily="49" charset="0"/>
              </a:rPr>
              <a:t>WHERE salary &gt; (SELECT AVG(salary)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178B72-2F74-852E-1323-371FE67FEEBD}"/>
              </a:ext>
            </a:extLst>
          </p:cNvPr>
          <p:cNvSpPr txBox="1"/>
          <p:nvPr/>
        </p:nvSpPr>
        <p:spPr>
          <a:xfrm>
            <a:off x="736979" y="-1861"/>
            <a:ext cx="6694226" cy="576824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82. How would you find the 2nd-highest salary from a table called Employees?</a:t>
            </a:r>
          </a:p>
          <a:p>
            <a:pPr algn="l">
              <a:spcBef>
                <a:spcPts val="1125"/>
              </a:spcBef>
              <a:spcAft>
                <a:spcPts val="375"/>
              </a:spcAft>
              <a:buNone/>
            </a:pPr>
            <a:r>
              <a:rPr lang="en-US" b="0" i="0" dirty="0">
                <a:solidFill>
                  <a:srgbClr val="212529"/>
                </a:solidFill>
                <a:effectLst/>
                <a:latin typeface="Courier New" panose="02070309020205020404" pitchFamily="49" charset="0"/>
              </a:rPr>
              <a:t>SELECT MAX(salary)</a:t>
            </a:r>
          </a:p>
          <a:p>
            <a:pPr algn="l">
              <a:spcBef>
                <a:spcPts val="1125"/>
              </a:spcBef>
              <a:spcAft>
                <a:spcPts val="375"/>
              </a:spcAft>
              <a:buNone/>
            </a:pPr>
            <a:r>
              <a:rPr lang="en-US" b="0" i="0" dirty="0">
                <a:solidFill>
                  <a:srgbClr val="212529"/>
                </a:solidFill>
                <a:effectLst/>
                <a:latin typeface="Courier New" panose="02070309020205020404" pitchFamily="49" charset="0"/>
              </a:rPr>
              <a:t>-- Filter out the top salary FROM </a:t>
            </a:r>
            <a:r>
              <a:rPr lang="en-US" b="0" i="0" dirty="0" err="1">
                <a:solidFill>
                  <a:srgbClr val="212529"/>
                </a:solidFill>
                <a:effectLst/>
                <a:latin typeface="Courier New" panose="02070309020205020404" pitchFamily="49" charset="0"/>
              </a:rPr>
              <a:t>Intellipaat</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_Emp WHERE salary &lt; (SELECT MAX(salary)</a:t>
            </a:r>
          </a:p>
          <a:p>
            <a:pPr algn="l">
              <a:spcBef>
                <a:spcPts val="1125"/>
              </a:spcBef>
              <a:spcAft>
                <a:spcPts val="375"/>
              </a:spcAft>
              <a:buNone/>
            </a:pPr>
            <a:r>
              <a:rPr lang="en-US" b="0" i="0" dirty="0">
                <a:solidFill>
                  <a:srgbClr val="212529"/>
                </a:solidFill>
                <a:effectLst/>
                <a:latin typeface="Courier New" panose="02070309020205020404" pitchFamily="49" charset="0"/>
              </a:rPr>
              <a:t>-- Filter out the top salary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For the Nth highest salary, replace MAX with LIMIT:</a:t>
            </a:r>
          </a:p>
          <a:p>
            <a:pPr algn="l">
              <a:spcBef>
                <a:spcPts val="1125"/>
              </a:spcBef>
              <a:spcAft>
                <a:spcPts val="375"/>
              </a:spcAft>
              <a:buNone/>
            </a:pPr>
            <a:r>
              <a:rPr lang="en-US" b="0" i="0" dirty="0">
                <a:solidFill>
                  <a:srgbClr val="212529"/>
                </a:solidFill>
                <a:effectLst/>
                <a:latin typeface="Courier New" panose="02070309020205020404" pitchFamily="49" charset="0"/>
              </a:rPr>
              <a:t>SELECT DISTINCT salary FROM </a:t>
            </a:r>
            <a:r>
              <a:rPr lang="en-US" b="0" i="0" dirty="0" err="1">
                <a:solidFill>
                  <a:srgbClr val="212529"/>
                </a:solidFill>
                <a:effectLst/>
                <a:latin typeface="Courier New" panose="02070309020205020404" pitchFamily="49" charset="0"/>
              </a:rPr>
              <a:t>Intellipaat</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_Emp ORDER BY salary DESC</a:t>
            </a:r>
          </a:p>
          <a:p>
            <a:pPr algn="l">
              <a:spcBef>
                <a:spcPts val="1125"/>
              </a:spcBef>
              <a:spcAft>
                <a:spcPts val="375"/>
              </a:spcAft>
              <a:buNone/>
            </a:pPr>
            <a:r>
              <a:rPr lang="en-US" b="0" i="0" dirty="0">
                <a:solidFill>
                  <a:srgbClr val="212529"/>
                </a:solidFill>
                <a:effectLst/>
                <a:latin typeface="Courier New" panose="02070309020205020404" pitchFamily="49" charset="0"/>
              </a:rPr>
              <a:t>-- Sort salaries from highest to lowest LIMIT N-1, 1;</a:t>
            </a:r>
          </a:p>
          <a:p>
            <a:pPr algn="l">
              <a:spcBef>
                <a:spcPts val="1125"/>
              </a:spcBef>
              <a:spcAft>
                <a:spcPts val="375"/>
              </a:spcAft>
              <a:buNone/>
            </a:pPr>
            <a:r>
              <a:rPr lang="en-US" b="0" i="0" dirty="0">
                <a:solidFill>
                  <a:srgbClr val="212529"/>
                </a:solidFill>
                <a:effectLst/>
                <a:latin typeface="Courier New" panose="02070309020205020404" pitchFamily="49" charset="0"/>
              </a:rPr>
              <a:t>-- Skip the top (N-1) salaries and return the Nth highest one </a:t>
            </a:r>
          </a:p>
        </p:txBody>
      </p:sp>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5DC2D5-BC14-7787-FD1E-0B2D904A4F18}"/>
              </a:ext>
            </a:extLst>
          </p:cNvPr>
          <p:cNvSpPr txBox="1"/>
          <p:nvPr/>
        </p:nvSpPr>
        <p:spPr>
          <a:xfrm>
            <a:off x="2477069" y="1065098"/>
            <a:ext cx="4954136" cy="473462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83. Write a query to select only even or odd rows from a table based on an ID field.</a:t>
            </a:r>
          </a:p>
          <a:p>
            <a:pPr algn="l">
              <a:spcBef>
                <a:spcPts val="1125"/>
              </a:spcBef>
              <a:spcAft>
                <a:spcPts val="375"/>
              </a:spcAft>
              <a:buNone/>
            </a:pPr>
            <a:r>
              <a:rPr lang="en-US" b="0" i="0" dirty="0">
                <a:solidFill>
                  <a:srgbClr val="212529"/>
                </a:solidFill>
                <a:effectLst/>
                <a:latin typeface="Courier New" panose="02070309020205020404" pitchFamily="49" charset="0"/>
              </a:rPr>
              <a:t>-- Select employees with EVEN </a:t>
            </a:r>
            <a:r>
              <a:rPr lang="en-US" b="0" i="0" dirty="0" err="1">
                <a:solidFill>
                  <a:srgbClr val="212529"/>
                </a:solidFill>
                <a:effectLst/>
                <a:latin typeface="Courier New" panose="02070309020205020404" pitchFamily="49" charset="0"/>
              </a:rPr>
              <a:t>Employee_id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 2 = 0;</a:t>
            </a:r>
          </a:p>
          <a:p>
            <a:pPr algn="l">
              <a:spcBef>
                <a:spcPts val="1125"/>
              </a:spcBef>
              <a:spcAft>
                <a:spcPts val="375"/>
              </a:spcAft>
              <a:buNone/>
            </a:pPr>
            <a:r>
              <a:rPr lang="en-US" b="0" i="0" dirty="0">
                <a:solidFill>
                  <a:srgbClr val="212529"/>
                </a:solidFill>
                <a:effectLst/>
                <a:latin typeface="Courier New" panose="02070309020205020404" pitchFamily="49" charset="0"/>
              </a:rPr>
              <a:t>-- IDs divisible by 2 are even</a:t>
            </a:r>
          </a:p>
          <a:p>
            <a:pPr algn="l">
              <a:spcBef>
                <a:spcPts val="1125"/>
              </a:spcBef>
              <a:spcAft>
                <a:spcPts val="375"/>
              </a:spcAft>
              <a:buNone/>
            </a:pPr>
            <a:r>
              <a:rPr lang="en-US" b="0" i="0" dirty="0">
                <a:solidFill>
                  <a:srgbClr val="212529"/>
                </a:solidFill>
                <a:effectLst/>
                <a:latin typeface="Courier New" panose="02070309020205020404" pitchFamily="49" charset="0"/>
              </a:rPr>
              <a:t>-- Select employees with ODD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SELECT * FROM</a:t>
            </a:r>
          </a:p>
          <a:p>
            <a:pPr algn="l">
              <a:spcBef>
                <a:spcPts val="1125"/>
              </a:spcBef>
              <a:spcAft>
                <a:spcPts val="375"/>
              </a:spcAft>
              <a:buNone/>
            </a:pP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 2 = 1;</a:t>
            </a:r>
          </a:p>
          <a:p>
            <a:pPr algn="l">
              <a:spcBef>
                <a:spcPts val="1125"/>
              </a:spcBef>
              <a:spcAft>
                <a:spcPts val="375"/>
              </a:spcAft>
              <a:buNone/>
            </a:pPr>
            <a:r>
              <a:rPr lang="en-US" b="0" i="0" dirty="0">
                <a:solidFill>
                  <a:srgbClr val="212529"/>
                </a:solidFill>
                <a:effectLst/>
                <a:latin typeface="Courier New" panose="02070309020205020404" pitchFamily="49" charset="0"/>
              </a:rPr>
              <a:t>-- IDs not divisible by 2 are odd  </a:t>
            </a:r>
          </a:p>
        </p:txBody>
      </p:sp>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36A43B-3A9F-68AC-0A19-04D515EE2323}"/>
              </a:ext>
            </a:extLst>
          </p:cNvPr>
          <p:cNvSpPr txBox="1"/>
          <p:nvPr/>
        </p:nvSpPr>
        <p:spPr>
          <a:xfrm>
            <a:off x="2477069" y="884279"/>
            <a:ext cx="4954136" cy="509626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84. Write a query to select the top 2 salaries from each department in the Employees table.</a:t>
            </a:r>
          </a:p>
          <a:p>
            <a:pPr algn="l">
              <a:spcBef>
                <a:spcPts val="1125"/>
              </a:spcBef>
              <a:spcAft>
                <a:spcPts val="375"/>
              </a:spcAft>
              <a:buNone/>
            </a:pPr>
            <a:r>
              <a:rPr lang="en-US" b="0" i="0" dirty="0">
                <a:solidFill>
                  <a:srgbClr val="212529"/>
                </a:solidFill>
                <a:effectLst/>
                <a:latin typeface="Courier New" panose="02070309020205020404" pitchFamily="49" charset="0"/>
              </a:rPr>
              <a:t>-- Select top 2 highest-paid employees per department</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Department, Salary FROM</a:t>
            </a:r>
          </a:p>
          <a:p>
            <a:pPr algn="l">
              <a:spcBef>
                <a:spcPts val="1125"/>
              </a:spcBef>
              <a:spcAft>
                <a:spcPts val="375"/>
              </a:spcAft>
              <a:buNone/>
            </a:pPr>
            <a:r>
              <a:rPr lang="en-US" b="0" i="0" dirty="0">
                <a:solidFill>
                  <a:srgbClr val="212529"/>
                </a:solidFill>
                <a:effectLst/>
                <a:latin typeface="Courier New" panose="02070309020205020404" pitchFamily="49" charset="0"/>
              </a:rPr>
              <a:t>( SELECT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Department, Salary, ROW_NUMBER() OVER</a:t>
            </a:r>
          </a:p>
          <a:p>
            <a:pPr algn="l">
              <a:spcBef>
                <a:spcPts val="1125"/>
              </a:spcBef>
              <a:spcAft>
                <a:spcPts val="375"/>
              </a:spcAft>
              <a:buNone/>
            </a:pPr>
            <a:r>
              <a:rPr lang="en-US" b="0" i="0" dirty="0">
                <a:solidFill>
                  <a:srgbClr val="212529"/>
                </a:solidFill>
                <a:effectLst/>
                <a:latin typeface="Courier New" panose="02070309020205020404" pitchFamily="49" charset="0"/>
              </a:rPr>
              <a:t>( PARTITION BY Department ORDER BY Salary DESC )</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salary_rank</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 ranked WHERE </a:t>
            </a:r>
            <a:r>
              <a:rPr lang="en-US" b="0" i="0" dirty="0" err="1">
                <a:solidFill>
                  <a:srgbClr val="212529"/>
                </a:solidFill>
                <a:effectLst/>
                <a:latin typeface="Courier New" panose="02070309020205020404" pitchFamily="49" charset="0"/>
              </a:rPr>
              <a:t>salary_rank</a:t>
            </a:r>
            <a:r>
              <a:rPr lang="en-US" b="0" i="0" dirty="0">
                <a:solidFill>
                  <a:srgbClr val="212529"/>
                </a:solidFill>
                <a:effectLst/>
                <a:latin typeface="Courier New" panose="02070309020205020404" pitchFamily="49" charset="0"/>
              </a:rPr>
              <a:t> &lt;= 2; </a:t>
            </a:r>
          </a:p>
        </p:txBody>
      </p:sp>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E541CD-15C0-5C59-A8B2-C163FA75723F}"/>
              </a:ext>
            </a:extLst>
          </p:cNvPr>
          <p:cNvSpPr txBox="1"/>
          <p:nvPr/>
        </p:nvSpPr>
        <p:spPr>
          <a:xfrm>
            <a:off x="2477069" y="1399805"/>
            <a:ext cx="4954136" cy="40652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85. If you have an ID column with sequential numbers but some values are missing, write a query to find the missing numbers.</a:t>
            </a:r>
          </a:p>
          <a:p>
            <a:pPr algn="l">
              <a:spcBef>
                <a:spcPts val="1125"/>
              </a:spcBef>
              <a:spcAft>
                <a:spcPts val="375"/>
              </a:spcAft>
              <a:buNone/>
            </a:pPr>
            <a:r>
              <a:rPr lang="en-US" b="0" i="0" dirty="0">
                <a:solidFill>
                  <a:srgbClr val="212529"/>
                </a:solidFill>
                <a:effectLst/>
                <a:latin typeface="Courier New" panose="02070309020205020404" pitchFamily="49" charset="0"/>
              </a:rPr>
              <a:t>-- Find missing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values in sequence</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e.Employee_id</a:t>
            </a:r>
            <a:r>
              <a:rPr lang="en-US" b="0" i="0" dirty="0">
                <a:solidFill>
                  <a:srgbClr val="212529"/>
                </a:solidFill>
                <a:effectLst/>
                <a:latin typeface="Courier New" panose="02070309020205020404" pitchFamily="49" charset="0"/>
              </a:rPr>
              <a:t> + 1) AS </a:t>
            </a:r>
            <a:r>
              <a:rPr lang="en-US" b="0" i="0" dirty="0" err="1">
                <a:solidFill>
                  <a:srgbClr val="212529"/>
                </a:solidFill>
                <a:effectLst/>
                <a:latin typeface="Courier New" panose="02070309020205020404" pitchFamily="49" charset="0"/>
              </a:rPr>
              <a:t>missing_id</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_Emp e WHERE (</a:t>
            </a:r>
            <a:r>
              <a:rPr lang="en-US" b="0" i="0" dirty="0" err="1">
                <a:solidFill>
                  <a:srgbClr val="212529"/>
                </a:solidFill>
                <a:effectLst/>
                <a:latin typeface="Courier New" panose="02070309020205020404" pitchFamily="49" charset="0"/>
              </a:rPr>
              <a:t>e.Employee_id</a:t>
            </a:r>
            <a:r>
              <a:rPr lang="en-US" b="0" i="0" dirty="0">
                <a:solidFill>
                  <a:srgbClr val="212529"/>
                </a:solidFill>
                <a:effectLst/>
                <a:latin typeface="Courier New" panose="02070309020205020404" pitchFamily="49" charset="0"/>
              </a:rPr>
              <a:t> + 1) NOT IN</a:t>
            </a:r>
          </a:p>
          <a:p>
            <a:pPr algn="l">
              <a:spcBef>
                <a:spcPts val="1125"/>
              </a:spcBef>
              <a:spcAft>
                <a:spcPts val="375"/>
              </a:spcAft>
              <a:buNone/>
            </a:pPr>
            <a:r>
              <a:rPr lang="en-US" b="0" i="0" dirty="0">
                <a:solidFill>
                  <a:srgbClr val="212529"/>
                </a:solidFill>
                <a:effectLst/>
                <a:latin typeface="Courier New" panose="02070309020205020404" pitchFamily="49" charset="0"/>
              </a:rPr>
              <a:t>( SELECT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  </a:t>
            </a:r>
          </a:p>
        </p:txBody>
      </p:sp>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946693-7F80-7EF3-3022-98012C006F11}"/>
              </a:ext>
            </a:extLst>
          </p:cNvPr>
          <p:cNvSpPr txBox="1"/>
          <p:nvPr/>
        </p:nvSpPr>
        <p:spPr>
          <a:xfrm>
            <a:off x="2477069" y="1399805"/>
            <a:ext cx="4954136" cy="40652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86. Write a query to swap the values in a column, for example, changing all ‘Male’ to ‘Female’ and vice versa in the column gender.</a:t>
            </a:r>
          </a:p>
          <a:p>
            <a:pPr algn="l">
              <a:spcBef>
                <a:spcPts val="1125"/>
              </a:spcBef>
              <a:spcAft>
                <a:spcPts val="375"/>
              </a:spcAft>
              <a:buNone/>
            </a:pPr>
            <a:r>
              <a:rPr lang="en-US" b="0" i="0" dirty="0">
                <a:solidFill>
                  <a:srgbClr val="212529"/>
                </a:solidFill>
                <a:effectLst/>
                <a:latin typeface="Courier New" panose="02070309020205020404" pitchFamily="49" charset="0"/>
              </a:rPr>
              <a:t>-- Swap Male to Female and Female to Male</a:t>
            </a:r>
          </a:p>
          <a:p>
            <a:pPr algn="l">
              <a:spcBef>
                <a:spcPts val="1125"/>
              </a:spcBef>
              <a:spcAft>
                <a:spcPts val="375"/>
              </a:spcAft>
              <a:buNone/>
            </a:pPr>
            <a:r>
              <a:rPr lang="en-US" b="0" i="0" dirty="0">
                <a:solidFill>
                  <a:srgbClr val="212529"/>
                </a:solidFill>
                <a:effectLst/>
                <a:latin typeface="Courier New" panose="02070309020205020404" pitchFamily="49" charset="0"/>
              </a:rPr>
              <a:t>UPDATE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SET Gender = CASE</a:t>
            </a:r>
          </a:p>
          <a:p>
            <a:pPr algn="l">
              <a:spcBef>
                <a:spcPts val="1125"/>
              </a:spcBef>
              <a:spcAft>
                <a:spcPts val="375"/>
              </a:spcAft>
              <a:buNone/>
            </a:pPr>
            <a:r>
              <a:rPr lang="en-US" b="0" i="0" dirty="0">
                <a:solidFill>
                  <a:srgbClr val="212529"/>
                </a:solidFill>
                <a:effectLst/>
                <a:latin typeface="Courier New" panose="02070309020205020404" pitchFamily="49" charset="0"/>
              </a:rPr>
              <a:t>WHEN Gender = 'Male' THEN 'Female' WHEN Gender = 'Female'</a:t>
            </a:r>
          </a:p>
          <a:p>
            <a:pPr algn="l">
              <a:spcBef>
                <a:spcPts val="1125"/>
              </a:spcBef>
              <a:spcAft>
                <a:spcPts val="375"/>
              </a:spcAft>
              <a:buNone/>
            </a:pPr>
            <a:r>
              <a:rPr lang="en-US" b="0" i="0" dirty="0">
                <a:solidFill>
                  <a:srgbClr val="212529"/>
                </a:solidFill>
                <a:effectLst/>
                <a:latin typeface="Courier New" panose="02070309020205020404" pitchFamily="49" charset="0"/>
              </a:rPr>
              <a:t>THEN 'Male' ELSE Gender -- Keep other values unchanged END;  </a:t>
            </a:r>
          </a:p>
        </p:txBody>
      </p:sp>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EF0199-693A-D5EE-D5A3-1ADDD13CA806}"/>
              </a:ext>
            </a:extLst>
          </p:cNvPr>
          <p:cNvSpPr txBox="1"/>
          <p:nvPr/>
        </p:nvSpPr>
        <p:spPr>
          <a:xfrm>
            <a:off x="2477069" y="788099"/>
            <a:ext cx="4954136" cy="528862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87. Write a query to find pairs of employees who have the same salary.</a:t>
            </a:r>
          </a:p>
          <a:p>
            <a:pPr algn="l">
              <a:spcBef>
                <a:spcPts val="1125"/>
              </a:spcBef>
              <a:spcAft>
                <a:spcPts val="375"/>
              </a:spcAft>
              <a:buNone/>
            </a:pPr>
            <a:r>
              <a:rPr lang="en-US" b="0" i="0" dirty="0">
                <a:solidFill>
                  <a:srgbClr val="212529"/>
                </a:solidFill>
                <a:effectLst/>
                <a:latin typeface="Courier New" panose="02070309020205020404" pitchFamily="49" charset="0"/>
              </a:rPr>
              <a:t>-- Find employee pairs who earn the same salary</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A.Employee_name</a:t>
            </a:r>
            <a:r>
              <a:rPr lang="en-US" b="0" i="0" dirty="0">
                <a:solidFill>
                  <a:srgbClr val="212529"/>
                </a:solidFill>
                <a:effectLst/>
                <a:latin typeface="Courier New" panose="02070309020205020404" pitchFamily="49" charset="0"/>
              </a:rPr>
              <a:t> AS employee1,</a:t>
            </a:r>
          </a:p>
          <a:p>
            <a:pPr algn="l">
              <a:spcBef>
                <a:spcPts val="1125"/>
              </a:spcBef>
              <a:spcAft>
                <a:spcPts val="375"/>
              </a:spcAft>
              <a:buNone/>
            </a:pPr>
            <a:r>
              <a:rPr lang="en-US" b="0" i="0" dirty="0" err="1">
                <a:solidFill>
                  <a:srgbClr val="212529"/>
                </a:solidFill>
                <a:effectLst/>
                <a:latin typeface="Courier New" panose="02070309020205020404" pitchFamily="49" charset="0"/>
              </a:rPr>
              <a:t>B.Employee_name</a:t>
            </a:r>
            <a:r>
              <a:rPr lang="en-US" b="0" i="0" dirty="0">
                <a:solidFill>
                  <a:srgbClr val="212529"/>
                </a:solidFill>
                <a:effectLst/>
                <a:latin typeface="Courier New" panose="02070309020205020404" pitchFamily="49" charset="0"/>
              </a:rPr>
              <a:t> AS employee2, </a:t>
            </a:r>
            <a:r>
              <a:rPr lang="en-US" b="0" i="0" dirty="0" err="1">
                <a:solidFill>
                  <a:srgbClr val="212529"/>
                </a:solidFill>
                <a:effectLst/>
                <a:latin typeface="Courier New" panose="02070309020205020404" pitchFamily="49" charset="0"/>
              </a:rPr>
              <a:t>A.Salary</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_Emp A JOIN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B ON </a:t>
            </a:r>
            <a:r>
              <a:rPr lang="en-US" b="0" i="0" dirty="0" err="1">
                <a:solidFill>
                  <a:srgbClr val="212529"/>
                </a:solidFill>
                <a:effectLst/>
                <a:latin typeface="Courier New" panose="02070309020205020404" pitchFamily="49" charset="0"/>
              </a:rPr>
              <a:t>A.Salary</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B.Salary</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AND </a:t>
            </a:r>
            <a:r>
              <a:rPr lang="en-US" b="0" i="0" dirty="0" err="1">
                <a:solidFill>
                  <a:srgbClr val="212529"/>
                </a:solidFill>
                <a:effectLst/>
                <a:latin typeface="Courier New" panose="02070309020205020404" pitchFamily="49" charset="0"/>
              </a:rPr>
              <a:t>A.Employee_name</a:t>
            </a:r>
            <a:r>
              <a:rPr lang="en-US" b="0" i="0" dirty="0">
                <a:solidFill>
                  <a:srgbClr val="212529"/>
                </a:solidFill>
                <a:effectLst/>
                <a:latin typeface="Courier New" panose="02070309020205020404" pitchFamily="49" charset="0"/>
              </a:rPr>
              <a:t> &lt; </a:t>
            </a:r>
            <a:r>
              <a:rPr lang="en-US" b="0" i="0" dirty="0" err="1">
                <a:solidFill>
                  <a:srgbClr val="212529"/>
                </a:solidFill>
                <a:effectLst/>
                <a:latin typeface="Courier New" panose="02070309020205020404" pitchFamily="49" charset="0"/>
              </a:rPr>
              <a:t>B.Employee_name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Avoid self-match &amp; duplicate pairs </a:t>
            </a:r>
          </a:p>
        </p:txBody>
      </p:sp>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4D4E9C-4E67-13A3-80A4-1525D4FC24DA}"/>
              </a:ext>
            </a:extLst>
          </p:cNvPr>
          <p:cNvSpPr txBox="1"/>
          <p:nvPr/>
        </p:nvSpPr>
        <p:spPr>
          <a:xfrm>
            <a:off x="2477069" y="2238496"/>
            <a:ext cx="4954136" cy="238783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88. Write a query to find the number of days an employee has been with the company.</a:t>
            </a:r>
          </a:p>
          <a:p>
            <a:pPr algn="l">
              <a:spcBef>
                <a:spcPts val="1125"/>
              </a:spcBef>
              <a:spcAft>
                <a:spcPts val="375"/>
              </a:spcAft>
              <a:buNone/>
            </a:pPr>
            <a:r>
              <a:rPr lang="en-US" b="0" i="0" dirty="0">
                <a:solidFill>
                  <a:srgbClr val="212529"/>
                </a:solidFill>
                <a:effectLst/>
                <a:latin typeface="Courier New" panose="02070309020205020404" pitchFamily="49" charset="0"/>
              </a:rPr>
              <a:t>-- Calculate number of days since employee joined SELECT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DATEDIFF(CURDATE(), </a:t>
            </a:r>
            <a:r>
              <a:rPr lang="en-US" b="0" i="0" dirty="0" err="1">
                <a:solidFill>
                  <a:srgbClr val="212529"/>
                </a:solidFill>
                <a:effectLst/>
                <a:latin typeface="Courier New" panose="02070309020205020404" pitchFamily="49" charset="0"/>
              </a:rPr>
              <a:t>Joining_date</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days_with_company</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92CD63-057B-92B8-49CB-74DADF7B411A}"/>
              </a:ext>
            </a:extLst>
          </p:cNvPr>
          <p:cNvSpPr txBox="1"/>
          <p:nvPr/>
        </p:nvSpPr>
        <p:spPr>
          <a:xfrm>
            <a:off x="2477069" y="788099"/>
            <a:ext cx="4954136" cy="528862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89. Find pairs of employees who were hired on the same day.</a:t>
            </a:r>
          </a:p>
          <a:p>
            <a:pPr algn="l">
              <a:spcBef>
                <a:spcPts val="1125"/>
              </a:spcBef>
              <a:spcAft>
                <a:spcPts val="375"/>
              </a:spcAft>
              <a:buNone/>
            </a:pPr>
            <a:r>
              <a:rPr lang="en-US" b="0" i="0" dirty="0">
                <a:solidFill>
                  <a:srgbClr val="212529"/>
                </a:solidFill>
                <a:effectLst/>
                <a:latin typeface="Courier New" panose="02070309020205020404" pitchFamily="49" charset="0"/>
              </a:rPr>
              <a:t>-- Find employee pairs hired on the same date</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A.Employee_name</a:t>
            </a:r>
            <a:r>
              <a:rPr lang="en-US" b="0" i="0" dirty="0">
                <a:solidFill>
                  <a:srgbClr val="212529"/>
                </a:solidFill>
                <a:effectLst/>
                <a:latin typeface="Courier New" panose="02070309020205020404" pitchFamily="49" charset="0"/>
              </a:rPr>
              <a:t> AS employee1, B.</a:t>
            </a:r>
          </a:p>
          <a:p>
            <a:pPr algn="l">
              <a:spcBef>
                <a:spcPts val="1125"/>
              </a:spcBef>
              <a:spcAft>
                <a:spcPts val="375"/>
              </a:spcAft>
              <a:buNone/>
            </a:pP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AS employee2, </a:t>
            </a:r>
            <a:r>
              <a:rPr lang="en-US" b="0" i="0" dirty="0" err="1">
                <a:solidFill>
                  <a:srgbClr val="212529"/>
                </a:solidFill>
                <a:effectLst/>
                <a:latin typeface="Courier New" panose="02070309020205020404" pitchFamily="49" charset="0"/>
              </a:rPr>
              <a:t>A.Joining_date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 JOIN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B</a:t>
            </a:r>
          </a:p>
          <a:p>
            <a:pPr algn="l">
              <a:spcBef>
                <a:spcPts val="1125"/>
              </a:spcBef>
              <a:spcAft>
                <a:spcPts val="375"/>
              </a:spcAft>
              <a:buNone/>
            </a:pPr>
            <a:r>
              <a:rPr lang="en-US" b="0" i="0" dirty="0">
                <a:solidFill>
                  <a:srgbClr val="212529"/>
                </a:solidFill>
                <a:effectLst/>
                <a:latin typeface="Courier New" panose="02070309020205020404" pitchFamily="49" charset="0"/>
              </a:rPr>
              <a:t>ON </a:t>
            </a:r>
            <a:r>
              <a:rPr lang="en-US" b="0" i="0" dirty="0" err="1">
                <a:solidFill>
                  <a:srgbClr val="212529"/>
                </a:solidFill>
                <a:effectLst/>
                <a:latin typeface="Courier New" panose="02070309020205020404" pitchFamily="49" charset="0"/>
              </a:rPr>
              <a:t>A.Joining_date</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B.Joining_date</a:t>
            </a:r>
            <a:r>
              <a:rPr lang="en-US" b="0" i="0" dirty="0">
                <a:solidFill>
                  <a:srgbClr val="212529"/>
                </a:solidFill>
                <a:effectLst/>
                <a:latin typeface="Courier New" panose="02070309020205020404" pitchFamily="49" charset="0"/>
              </a:rPr>
              <a:t> AND A.</a:t>
            </a:r>
          </a:p>
          <a:p>
            <a:pPr algn="l">
              <a:spcBef>
                <a:spcPts val="1125"/>
              </a:spcBef>
              <a:spcAft>
                <a:spcPts val="375"/>
              </a:spcAft>
              <a:buNone/>
            </a:pP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&lt; </a:t>
            </a:r>
            <a:r>
              <a:rPr lang="en-US" b="0" i="0" dirty="0" err="1">
                <a:solidFill>
                  <a:srgbClr val="212529"/>
                </a:solidFill>
                <a:effectLst/>
                <a:latin typeface="Courier New" panose="02070309020205020404" pitchFamily="49" charset="0"/>
              </a:rPr>
              <a:t>B.Employee_name</a:t>
            </a:r>
            <a:r>
              <a:rPr lang="en-US" b="0" i="0" dirty="0">
                <a:solidFill>
                  <a:srgbClr val="212529"/>
                </a:solidFill>
                <a:effectLst/>
                <a:latin typeface="Courier New" panose="02070309020205020404" pitchFamily="49" charset="0"/>
              </a:rPr>
              <a:t>; -- Avoid duplicate pairs </a:t>
            </a:r>
          </a:p>
        </p:txBody>
      </p:sp>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2B69B3-B946-C7A2-0755-C36C7A90FEA7}"/>
              </a:ext>
            </a:extLst>
          </p:cNvPr>
          <p:cNvSpPr txBox="1"/>
          <p:nvPr/>
        </p:nvSpPr>
        <p:spPr>
          <a:xfrm>
            <a:off x="655093" y="202041"/>
            <a:ext cx="8543498" cy="425244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90. Write a query to find the median salary in each department from the Employee table.</a:t>
            </a:r>
          </a:p>
          <a:p>
            <a:pPr algn="just">
              <a:lnSpc>
                <a:spcPts val="2100"/>
              </a:lnSpc>
              <a:spcBef>
                <a:spcPts val="1650"/>
              </a:spcBef>
              <a:buNone/>
            </a:pPr>
            <a:r>
              <a:rPr lang="en-US" b="0" i="0" dirty="0">
                <a:solidFill>
                  <a:srgbClr val="3A3A3A"/>
                </a:solidFill>
                <a:effectLst/>
                <a:latin typeface="Roboto" panose="02000000000000000000" pitchFamily="2" charset="0"/>
              </a:rPr>
              <a:t>Hint: You may use ROW_NUMBER() or PERCENT_RANK() to determine </a:t>
            </a:r>
            <a:r>
              <a:rPr lang="en-US" b="0" i="0" u="none" strike="noStrike" dirty="0">
                <a:solidFill>
                  <a:srgbClr val="0F5A9E"/>
                </a:solidFill>
                <a:effectLst/>
                <a:latin typeface="Roboto" panose="02000000000000000000" pitchFamily="2" charset="0"/>
                <a:hlinkClick r:id="rId2"/>
              </a:rPr>
              <a:t>median</a:t>
            </a:r>
            <a:r>
              <a:rPr lang="en-US" b="0" i="0" dirty="0">
                <a:solidFill>
                  <a:srgbClr val="3A3A3A"/>
                </a:solidFill>
                <a:effectLst/>
                <a:latin typeface="Roboto" panose="02000000000000000000" pitchFamily="2" charset="0"/>
              </a:rPr>
              <a:t> values.</a:t>
            </a:r>
          </a:p>
          <a:p>
            <a:pPr algn="l">
              <a:spcBef>
                <a:spcPts val="1125"/>
              </a:spcBef>
              <a:spcAft>
                <a:spcPts val="375"/>
              </a:spcAft>
              <a:buNone/>
            </a:pPr>
            <a:r>
              <a:rPr lang="en-US" b="0" i="0" dirty="0">
                <a:solidFill>
                  <a:srgbClr val="212529"/>
                </a:solidFill>
                <a:effectLst/>
                <a:latin typeface="Courier New" panose="02070309020205020404" pitchFamily="49" charset="0"/>
              </a:rPr>
              <a:t>-- Calculate median salary per department WITH </a:t>
            </a:r>
            <a:r>
              <a:rPr lang="en-US" b="0" i="0" dirty="0" err="1">
                <a:solidFill>
                  <a:srgbClr val="212529"/>
                </a:solidFill>
                <a:effectLst/>
                <a:latin typeface="Courier New" panose="02070309020205020404" pitchFamily="49" charset="0"/>
              </a:rPr>
              <a:t>RankedSalaries</a:t>
            </a:r>
            <a:r>
              <a:rPr lang="en-US" b="0" i="0" dirty="0">
                <a:solidFill>
                  <a:srgbClr val="212529"/>
                </a:solidFill>
                <a:effectLst/>
                <a:latin typeface="Courier New" panose="02070309020205020404" pitchFamily="49" charset="0"/>
              </a:rPr>
              <a:t> AS ( SELECT Department, Salary, -- Rank salaries in ascending order ROW_NUMBER() OVER (PARTITION BY Department ORDER BY Salary) AS </a:t>
            </a:r>
            <a:r>
              <a:rPr lang="en-US" b="0" i="0" dirty="0" err="1">
                <a:solidFill>
                  <a:srgbClr val="212529"/>
                </a:solidFill>
                <a:effectLst/>
                <a:latin typeface="Courier New" panose="02070309020205020404" pitchFamily="49" charset="0"/>
              </a:rPr>
              <a:t>rn_asc</a:t>
            </a:r>
            <a:r>
              <a:rPr lang="en-US" b="0" i="0" dirty="0">
                <a:solidFill>
                  <a:srgbClr val="212529"/>
                </a:solidFill>
                <a:effectLst/>
                <a:latin typeface="Courier New" panose="02070309020205020404" pitchFamily="49" charset="0"/>
              </a:rPr>
              <a:t>, -- Rank salaries in descending order ROW_NUMBER() OVER (PARTITION BY Department ORDER BY Salary DESC) AS </a:t>
            </a:r>
            <a:r>
              <a:rPr lang="en-US" b="0" i="0" dirty="0" err="1">
                <a:solidFill>
                  <a:srgbClr val="212529"/>
                </a:solidFill>
                <a:effectLst/>
                <a:latin typeface="Courier New" panose="02070309020205020404" pitchFamily="49" charset="0"/>
              </a:rPr>
              <a:t>rn_desc</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 -- Select middle salary (median) SELECT Department, AVG(Salary) AS </a:t>
            </a:r>
            <a:r>
              <a:rPr lang="en-US" b="0" i="0" dirty="0" err="1">
                <a:solidFill>
                  <a:srgbClr val="212529"/>
                </a:solidFill>
                <a:effectLst/>
                <a:latin typeface="Courier New" panose="02070309020205020404" pitchFamily="49" charset="0"/>
              </a:rPr>
              <a:t>median_salary</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RankedSalaries</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rn_asc</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rn_desc</a:t>
            </a:r>
            <a:r>
              <a:rPr lang="en-US" b="0" i="0" dirty="0">
                <a:solidFill>
                  <a:srgbClr val="212529"/>
                </a:solidFill>
                <a:effectLst/>
                <a:latin typeface="Courier New" panose="02070309020205020404" pitchFamily="49" charset="0"/>
              </a:rPr>
              <a:t> OR </a:t>
            </a:r>
            <a:r>
              <a:rPr lang="en-US" b="0" i="0" dirty="0" err="1">
                <a:solidFill>
                  <a:srgbClr val="212529"/>
                </a:solidFill>
                <a:effectLst/>
                <a:latin typeface="Courier New" panose="02070309020205020404" pitchFamily="49" charset="0"/>
              </a:rPr>
              <a:t>rn_asc</a:t>
            </a:r>
            <a:r>
              <a:rPr lang="en-US" b="0" i="0" dirty="0">
                <a:solidFill>
                  <a:srgbClr val="212529"/>
                </a:solidFill>
                <a:effectLst/>
                <a:latin typeface="Courier New" panose="02070309020205020404" pitchFamily="49" charset="0"/>
              </a:rPr>
              <a:t> + 1 = </a:t>
            </a:r>
            <a:r>
              <a:rPr lang="en-US" b="0" i="0" dirty="0" err="1">
                <a:solidFill>
                  <a:srgbClr val="212529"/>
                </a:solidFill>
                <a:effectLst/>
                <a:latin typeface="Courier New" panose="02070309020205020404" pitchFamily="49" charset="0"/>
              </a:rPr>
              <a:t>rn_desc</a:t>
            </a:r>
            <a:r>
              <a:rPr lang="en-US" b="0" i="0" dirty="0">
                <a:solidFill>
                  <a:srgbClr val="212529"/>
                </a:solidFill>
                <a:effectLst/>
                <a:latin typeface="Courier New" panose="02070309020205020404" pitchFamily="49" charset="0"/>
              </a:rPr>
              <a:t> GROUP BY Department; </a:t>
            </a:r>
          </a:p>
        </p:txBody>
      </p:sp>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2C4CA0-94F4-2D0D-EF1F-2E016CDE7116}"/>
              </a:ext>
            </a:extLst>
          </p:cNvPr>
          <p:cNvSpPr txBox="1"/>
          <p:nvPr/>
        </p:nvSpPr>
        <p:spPr>
          <a:xfrm>
            <a:off x="2477069" y="1306189"/>
            <a:ext cx="4954136" cy="425244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91. Write a query to get the top 10% of employees by salary.</a:t>
            </a:r>
          </a:p>
          <a:p>
            <a:pPr algn="just">
              <a:lnSpc>
                <a:spcPts val="2100"/>
              </a:lnSpc>
              <a:spcBef>
                <a:spcPts val="1650"/>
              </a:spcBef>
              <a:buNone/>
            </a:pPr>
            <a:r>
              <a:rPr lang="en-US" b="0" i="0" dirty="0">
                <a:solidFill>
                  <a:srgbClr val="3A3A3A"/>
                </a:solidFill>
                <a:effectLst/>
                <a:latin typeface="Roboto" panose="02000000000000000000" pitchFamily="2" charset="0"/>
              </a:rPr>
              <a:t>Hint: Use PERCENT_RANK() to filter out top percentages.</a:t>
            </a:r>
          </a:p>
          <a:p>
            <a:pPr algn="l">
              <a:spcBef>
                <a:spcPts val="1125"/>
              </a:spcBef>
              <a:spcAft>
                <a:spcPts val="375"/>
              </a:spcAft>
              <a:buNone/>
            </a:pPr>
            <a:r>
              <a:rPr lang="en-US" b="0" i="0" dirty="0">
                <a:solidFill>
                  <a:srgbClr val="212529"/>
                </a:solidFill>
                <a:effectLst/>
                <a:latin typeface="Courier New" panose="02070309020205020404" pitchFamily="49" charset="0"/>
              </a:rPr>
              <a:t>-- Select top 10% highest-paid employees SELECT * FROM ( SELECT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Salary, -- Rank employees by descending salary percentage PERCENT_RANK() OVER (ORDER BY Salary DESC) AS </a:t>
            </a:r>
            <a:r>
              <a:rPr lang="en-US" b="0" i="0" dirty="0" err="1">
                <a:solidFill>
                  <a:srgbClr val="212529"/>
                </a:solidFill>
                <a:effectLst/>
                <a:latin typeface="Courier New" panose="02070309020205020404" pitchFamily="49" charset="0"/>
              </a:rPr>
              <a:t>pct_rank</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 Ranked WHERE </a:t>
            </a:r>
            <a:r>
              <a:rPr lang="en-US" b="0" i="0" dirty="0" err="1">
                <a:solidFill>
                  <a:srgbClr val="212529"/>
                </a:solidFill>
                <a:effectLst/>
                <a:latin typeface="Courier New" panose="02070309020205020404" pitchFamily="49" charset="0"/>
              </a:rPr>
              <a:t>pct_rank</a:t>
            </a:r>
            <a:r>
              <a:rPr lang="en-US" b="0" i="0" dirty="0">
                <a:solidFill>
                  <a:srgbClr val="212529"/>
                </a:solidFill>
                <a:effectLst/>
                <a:latin typeface="Courier New" panose="02070309020205020404" pitchFamily="49" charset="0"/>
              </a:rPr>
              <a:t> &lt;= 0.1; -- Top 10% earners </a:t>
            </a:r>
          </a:p>
        </p:txBody>
      </p:sp>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CF3F2C-8369-E09D-3D4F-363B8816636C}"/>
              </a:ext>
            </a:extLst>
          </p:cNvPr>
          <p:cNvSpPr txBox="1"/>
          <p:nvPr/>
        </p:nvSpPr>
        <p:spPr>
          <a:xfrm>
            <a:off x="2477069" y="1684498"/>
            <a:ext cx="4954136" cy="349582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92. Write a query to calculate the cumulative salary (running total) within each department.</a:t>
            </a:r>
          </a:p>
          <a:p>
            <a:pPr algn="l">
              <a:spcBef>
                <a:spcPts val="1125"/>
              </a:spcBef>
              <a:spcAft>
                <a:spcPts val="375"/>
              </a:spcAft>
              <a:buNone/>
            </a:pPr>
            <a:r>
              <a:rPr lang="en-US" b="0" i="0" dirty="0">
                <a:solidFill>
                  <a:srgbClr val="212529"/>
                </a:solidFill>
                <a:effectLst/>
                <a:latin typeface="Courier New" panose="02070309020205020404" pitchFamily="49" charset="0"/>
              </a:rPr>
              <a:t>-- Calculate running total salary within each department SELECT Department,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Salary, -- Running total ordered by salary SUM(Salary) OVER ( PARTITION BY Department ORDER BY Salary ROWS BETWEEN UNBOUNDED PRECEDING AND CURRENT ROW ) AS </a:t>
            </a:r>
            <a:r>
              <a:rPr lang="en-US" b="0" i="0" dirty="0" err="1">
                <a:solidFill>
                  <a:srgbClr val="212529"/>
                </a:solidFill>
                <a:effectLst/>
                <a:latin typeface="Courier New" panose="02070309020205020404" pitchFamily="49" charset="0"/>
              </a:rPr>
              <a:t>cumulative_salary</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Intellipaat_Emp</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EFAE90-E7B3-0D92-4ECD-A414EA1320DD}"/>
              </a:ext>
            </a:extLst>
          </p:cNvPr>
          <p:cNvSpPr txBox="1"/>
          <p:nvPr/>
        </p:nvSpPr>
        <p:spPr>
          <a:xfrm>
            <a:off x="2477069" y="514947"/>
            <a:ext cx="4954136" cy="583493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93. Write a query to calculate the time gap (in hours) between consecutive logins for each user.</a:t>
            </a:r>
          </a:p>
          <a:p>
            <a:pPr algn="l">
              <a:spcBef>
                <a:spcPts val="1125"/>
              </a:spcBef>
              <a:spcAft>
                <a:spcPts val="375"/>
              </a:spcAft>
              <a:buNone/>
            </a:pPr>
            <a:r>
              <a:rPr lang="en-US" b="0" i="0" dirty="0">
                <a:solidFill>
                  <a:srgbClr val="212529"/>
                </a:solidFill>
                <a:effectLst/>
                <a:latin typeface="Courier New" panose="02070309020205020404" pitchFamily="49" charset="0"/>
              </a:rPr>
              <a:t>-- Calculate time difference in hours between consecutive logins per user</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user_id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login_time</a:t>
            </a:r>
            <a:r>
              <a:rPr lang="en-US" b="0" i="0" dirty="0">
                <a:solidFill>
                  <a:srgbClr val="212529"/>
                </a:solidFill>
                <a:effectLst/>
                <a:latin typeface="Courier New" panose="02070309020205020404" pitchFamily="49" charset="0"/>
              </a:rPr>
              <a:t>, TIMESTAMPDIFF( HOUR, LAG(</a:t>
            </a:r>
            <a:r>
              <a:rPr lang="en-US" b="0" i="0" dirty="0" err="1">
                <a:solidFill>
                  <a:srgbClr val="212529"/>
                </a:solidFill>
                <a:effectLst/>
                <a:latin typeface="Courier New" panose="02070309020205020404" pitchFamily="49" charset="0"/>
              </a:rPr>
              <a:t>login_time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OVER ( PARTITION BY </a:t>
            </a:r>
            <a:r>
              <a:rPr lang="en-US" b="0" i="0" dirty="0" err="1">
                <a:solidFill>
                  <a:srgbClr val="212529"/>
                </a:solidFill>
                <a:effectLst/>
                <a:latin typeface="Courier New" panose="02070309020205020404" pitchFamily="49" charset="0"/>
              </a:rPr>
              <a:t>user_id</a:t>
            </a:r>
            <a:r>
              <a:rPr lang="en-US" b="0" i="0" dirty="0">
                <a:solidFill>
                  <a:srgbClr val="212529"/>
                </a:solidFill>
                <a:effectLst/>
                <a:latin typeface="Courier New" panose="02070309020205020404" pitchFamily="49" charset="0"/>
              </a:rPr>
              <a:t> -- Restart for each user</a:t>
            </a: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login_time</a:t>
            </a:r>
            <a:r>
              <a:rPr lang="en-US" b="0" i="0" dirty="0">
                <a:solidFill>
                  <a:srgbClr val="212529"/>
                </a:solidFill>
                <a:effectLst/>
                <a:latin typeface="Courier New" panose="02070309020205020404" pitchFamily="49" charset="0"/>
              </a:rPr>
              <a:t> -- Compare chronologically ),</a:t>
            </a:r>
          </a:p>
          <a:p>
            <a:pPr algn="l">
              <a:spcBef>
                <a:spcPts val="1125"/>
              </a:spcBef>
              <a:spcAft>
                <a:spcPts val="375"/>
              </a:spcAft>
              <a:buNone/>
            </a:pPr>
            <a:r>
              <a:rPr lang="en-US" b="0" i="0" dirty="0" err="1">
                <a:solidFill>
                  <a:srgbClr val="212529"/>
                </a:solidFill>
                <a:effectLst/>
                <a:latin typeface="Courier New" panose="02070309020205020404" pitchFamily="49" charset="0"/>
              </a:rPr>
              <a:t>login_time</a:t>
            </a:r>
            <a:r>
              <a:rPr lang="en-US" b="0" i="0" dirty="0">
                <a:solidFill>
                  <a:srgbClr val="212529"/>
                </a:solidFill>
                <a:effectLst/>
                <a:latin typeface="Courier New" panose="02070309020205020404" pitchFamily="49" charset="0"/>
              </a:rPr>
              <a:t> -- Current login time )</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hours_since_last_login</a:t>
            </a:r>
            <a:r>
              <a:rPr lang="en-US" b="0" i="0" dirty="0">
                <a:solidFill>
                  <a:srgbClr val="212529"/>
                </a:solidFill>
                <a:effectLst/>
                <a:latin typeface="Courier New" panose="02070309020205020404" pitchFamily="49" charset="0"/>
              </a:rPr>
              <a:t> FROM Logins;  </a:t>
            </a:r>
          </a:p>
        </p:txBody>
      </p:sp>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10E829-0E47-EF6A-6652-671A16FB7469}"/>
              </a:ext>
            </a:extLst>
          </p:cNvPr>
          <p:cNvSpPr txBox="1"/>
          <p:nvPr/>
        </p:nvSpPr>
        <p:spPr>
          <a:xfrm>
            <a:off x="2477069" y="1553693"/>
            <a:ext cx="4954136" cy="37574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94. Write a query to get a full list of products, including products that have no sales, by performing a full outer join between </a:t>
            </a:r>
            <a:r>
              <a:rPr lang="en-US" b="0" i="0" dirty="0" err="1">
                <a:solidFill>
                  <a:srgbClr val="272C37"/>
                </a:solidFill>
                <a:effectLst/>
                <a:latin typeface="Roboto" panose="02000000000000000000" pitchFamily="2" charset="0"/>
              </a:rPr>
              <a:t>product_dim</a:t>
            </a:r>
            <a:r>
              <a:rPr lang="en-US" b="0" i="0" dirty="0">
                <a:solidFill>
                  <a:srgbClr val="272C37"/>
                </a:solidFill>
                <a:effectLst/>
                <a:latin typeface="Roboto" panose="02000000000000000000" pitchFamily="2" charset="0"/>
              </a:rPr>
              <a:t> and </a:t>
            </a:r>
            <a:r>
              <a:rPr lang="en-US" b="0" i="0" dirty="0" err="1">
                <a:solidFill>
                  <a:srgbClr val="272C37"/>
                </a:solidFill>
                <a:effectLst/>
                <a:latin typeface="Roboto" panose="02000000000000000000" pitchFamily="2" charset="0"/>
              </a:rPr>
              <a:t>sales_fact</a:t>
            </a:r>
            <a:r>
              <a:rPr lang="en-US" b="0" i="0" dirty="0">
                <a:solidFill>
                  <a:srgbClr val="272C37"/>
                </a:solidFill>
                <a:effectLst/>
                <a:latin typeface="Roboto" panose="02000000000000000000" pitchFamily="2"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Return all products, including those with no sales SELECT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p.product_name</a:t>
            </a:r>
            <a:r>
              <a:rPr lang="en-US" b="0" i="0" dirty="0">
                <a:solidFill>
                  <a:srgbClr val="212529"/>
                </a:solidFill>
                <a:effectLst/>
                <a:latin typeface="Courier New" panose="02070309020205020404" pitchFamily="49" charset="0"/>
              </a:rPr>
              <a:t>, COALESCE(SUM(</a:t>
            </a:r>
            <a:r>
              <a:rPr lang="en-US" b="0" i="0" dirty="0" err="1">
                <a:solidFill>
                  <a:srgbClr val="212529"/>
                </a:solidFill>
                <a:effectLst/>
                <a:latin typeface="Courier New" panose="02070309020205020404" pitchFamily="49" charset="0"/>
              </a:rPr>
              <a:t>s.sale_amount</a:t>
            </a:r>
            <a:r>
              <a:rPr lang="en-US" b="0" i="0" dirty="0">
                <a:solidFill>
                  <a:srgbClr val="212529"/>
                </a:solidFill>
                <a:effectLst/>
                <a:latin typeface="Courier New" panose="02070309020205020404" pitchFamily="49" charset="0"/>
              </a:rPr>
              <a:t>), 0) AS </a:t>
            </a:r>
            <a:r>
              <a:rPr lang="en-US" b="0" i="0" dirty="0" err="1">
                <a:solidFill>
                  <a:srgbClr val="212529"/>
                </a:solidFill>
                <a:effectLst/>
                <a:latin typeface="Courier New" panose="02070309020205020404" pitchFamily="49" charset="0"/>
              </a:rPr>
              <a:t>total_sales</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product_dim</a:t>
            </a:r>
            <a:r>
              <a:rPr lang="en-US" b="0" i="0" dirty="0">
                <a:solidFill>
                  <a:srgbClr val="212529"/>
                </a:solidFill>
                <a:effectLst/>
                <a:latin typeface="Courier New" panose="02070309020205020404" pitchFamily="49" charset="0"/>
              </a:rPr>
              <a:t> p LEFT JOIN </a:t>
            </a:r>
            <a:r>
              <a:rPr lang="en-US" b="0" i="0" dirty="0" err="1">
                <a:solidFill>
                  <a:srgbClr val="212529"/>
                </a:solidFill>
                <a:effectLst/>
                <a:latin typeface="Courier New" panose="02070309020205020404" pitchFamily="49" charset="0"/>
              </a:rPr>
              <a:t>sales_fact</a:t>
            </a:r>
            <a:r>
              <a:rPr lang="en-US" b="0" i="0" dirty="0">
                <a:solidFill>
                  <a:srgbClr val="212529"/>
                </a:solidFill>
                <a:effectLst/>
                <a:latin typeface="Courier New" panose="02070309020205020404" pitchFamily="49" charset="0"/>
              </a:rPr>
              <a:t> s ON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s.product_id</a:t>
            </a:r>
            <a:r>
              <a:rPr lang="en-US" b="0" i="0" dirty="0">
                <a:solidFill>
                  <a:srgbClr val="212529"/>
                </a:solidFill>
                <a:effectLst/>
                <a:latin typeface="Courier New" panose="02070309020205020404" pitchFamily="49" charset="0"/>
              </a:rPr>
              <a:t> GROUP BY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p.product_name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71FCE5-7570-5D45-A743-9842E770A5F6}"/>
              </a:ext>
            </a:extLst>
          </p:cNvPr>
          <p:cNvSpPr txBox="1"/>
          <p:nvPr/>
        </p:nvSpPr>
        <p:spPr>
          <a:xfrm>
            <a:off x="2477069" y="1068945"/>
            <a:ext cx="4954136" cy="472693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95. Write a query to calculate the year-to-date (YTD) sales for each product up to the current date in the </a:t>
            </a:r>
            <a:r>
              <a:rPr lang="en-US" b="0" i="0" dirty="0" err="1">
                <a:solidFill>
                  <a:srgbClr val="272C37"/>
                </a:solidFill>
                <a:effectLst/>
                <a:latin typeface="Roboto" panose="02000000000000000000" pitchFamily="2" charset="0"/>
              </a:rPr>
              <a:t>sales_fact</a:t>
            </a:r>
            <a:r>
              <a:rPr lang="en-US" b="0" i="0" dirty="0">
                <a:solidFill>
                  <a:srgbClr val="272C37"/>
                </a:solidFill>
                <a:effectLst/>
                <a:latin typeface="Roboto" panose="02000000000000000000" pitchFamily="2" charset="0"/>
              </a:rPr>
              <a:t> table.</a:t>
            </a:r>
          </a:p>
          <a:p>
            <a:pPr algn="l">
              <a:spcBef>
                <a:spcPts val="1125"/>
              </a:spcBef>
              <a:spcAft>
                <a:spcPts val="375"/>
              </a:spcAft>
              <a:buNone/>
            </a:pPr>
            <a:r>
              <a:rPr lang="en-US" b="0" i="0" dirty="0">
                <a:solidFill>
                  <a:srgbClr val="212529"/>
                </a:solidFill>
                <a:effectLst/>
                <a:latin typeface="Courier New" panose="02070309020205020404" pitchFamily="49" charset="0"/>
              </a:rPr>
              <a:t>-- Calculate Year-To-Date sales per product</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product_id</a:t>
            </a:r>
            <a:r>
              <a:rPr lang="en-US" b="0" i="0" dirty="0">
                <a:solidFill>
                  <a:srgbClr val="212529"/>
                </a:solidFill>
                <a:effectLst/>
                <a:latin typeface="Courier New" panose="02070309020205020404" pitchFamily="49" charset="0"/>
              </a:rPr>
              <a:t>, SUM(</a:t>
            </a:r>
            <a:r>
              <a:rPr lang="en-US" b="0" i="0" dirty="0" err="1">
                <a:solidFill>
                  <a:srgbClr val="212529"/>
                </a:solidFill>
                <a:effectLst/>
                <a:latin typeface="Courier New" panose="02070309020205020404" pitchFamily="49" charset="0"/>
              </a:rPr>
              <a:t>sale_amount</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ytd_sales</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a:t>
            </a:r>
            <a:r>
              <a:rPr lang="en-US" b="0" i="0" dirty="0" err="1">
                <a:solidFill>
                  <a:srgbClr val="212529"/>
                </a:solidFill>
                <a:effectLst/>
                <a:latin typeface="Courier New" panose="02070309020205020404" pitchFamily="49" charset="0"/>
              </a:rPr>
              <a:t>sales_fact</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&gt;=</a:t>
            </a:r>
          </a:p>
          <a:p>
            <a:pPr algn="l">
              <a:spcBef>
                <a:spcPts val="1125"/>
              </a:spcBef>
              <a:spcAft>
                <a:spcPts val="375"/>
              </a:spcAft>
              <a:buNone/>
            </a:pPr>
            <a:r>
              <a:rPr lang="en-US" b="0" i="0" dirty="0">
                <a:solidFill>
                  <a:srgbClr val="212529"/>
                </a:solidFill>
                <a:effectLst/>
                <a:latin typeface="Courier New" panose="02070309020205020404" pitchFamily="49" charset="0"/>
              </a:rPr>
              <a:t>DATE_FORMAT(CURRENT_DATE, '%Y-01-01')</a:t>
            </a:r>
          </a:p>
          <a:p>
            <a:pPr algn="l">
              <a:spcBef>
                <a:spcPts val="1125"/>
              </a:spcBef>
              <a:spcAft>
                <a:spcPts val="375"/>
              </a:spcAft>
              <a:buNone/>
            </a:pPr>
            <a:r>
              <a:rPr lang="en-US" b="0" i="0" dirty="0">
                <a:solidFill>
                  <a:srgbClr val="212529"/>
                </a:solidFill>
                <a:effectLst/>
                <a:latin typeface="Courier New" panose="02070309020205020404" pitchFamily="49" charset="0"/>
              </a:rPr>
              <a:t>AND </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&lt;= CURRENT_DATE</a:t>
            </a:r>
          </a:p>
          <a:p>
            <a:pPr algn="l">
              <a:spcBef>
                <a:spcPts val="1125"/>
              </a:spcBef>
              <a:spcAft>
                <a:spcPts val="375"/>
              </a:spcAft>
              <a:buNone/>
            </a:pPr>
            <a:r>
              <a:rPr lang="en-US" b="0" i="0" dirty="0">
                <a:solidFill>
                  <a:srgbClr val="212529"/>
                </a:solidFill>
                <a:effectLst/>
                <a:latin typeface="Courier New" panose="02070309020205020404" pitchFamily="49" charset="0"/>
              </a:rPr>
              <a:t>GROUP BY </a:t>
            </a:r>
            <a:r>
              <a:rPr lang="en-US" b="0" i="0" dirty="0" err="1">
                <a:solidFill>
                  <a:srgbClr val="212529"/>
                </a:solidFill>
                <a:effectLst/>
                <a:latin typeface="Courier New" panose="02070309020205020404" pitchFamily="49" charset="0"/>
              </a:rPr>
              <a:t>product_id</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E7D37F-149E-9FCD-230D-305822C586A2}"/>
              </a:ext>
            </a:extLst>
          </p:cNvPr>
          <p:cNvSpPr txBox="1"/>
          <p:nvPr/>
        </p:nvSpPr>
        <p:spPr>
          <a:xfrm>
            <a:off x="2477069" y="1672956"/>
            <a:ext cx="4954136" cy="351891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96. How would you find the second-highest salary from a table?</a:t>
            </a:r>
          </a:p>
          <a:p>
            <a:pPr algn="l">
              <a:spcBef>
                <a:spcPts val="1125"/>
              </a:spcBef>
              <a:spcAft>
                <a:spcPts val="375"/>
              </a:spcAft>
              <a:buNone/>
            </a:pPr>
            <a:r>
              <a:rPr lang="en-US" b="0" i="0" dirty="0">
                <a:solidFill>
                  <a:srgbClr val="212529"/>
                </a:solidFill>
                <a:effectLst/>
                <a:latin typeface="Courier New" panose="02070309020205020404" pitchFamily="49" charset="0"/>
              </a:rPr>
              <a:t>-- Second-highest salary using ranking</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e_salary</a:t>
            </a:r>
            <a:r>
              <a:rPr lang="en-US" b="0" i="0" dirty="0">
                <a:solidFill>
                  <a:srgbClr val="212529"/>
                </a:solidFill>
                <a:effectLst/>
                <a:latin typeface="Courier New" panose="02070309020205020404" pitchFamily="49" charset="0"/>
              </a:rPr>
              <a:t> FROM ( SELECT </a:t>
            </a:r>
            <a:r>
              <a:rPr lang="en-US" b="0" i="0" dirty="0" err="1">
                <a:solidFill>
                  <a:srgbClr val="212529"/>
                </a:solidFill>
                <a:effectLst/>
                <a:latin typeface="Courier New" panose="02070309020205020404" pitchFamily="49" charset="0"/>
              </a:rPr>
              <a:t>e_salary</a:t>
            </a:r>
            <a:r>
              <a:rPr lang="en-US" b="0" i="0" dirty="0">
                <a:solidFill>
                  <a:srgbClr val="212529"/>
                </a:solidFill>
                <a:effectLst/>
                <a:latin typeface="Courier New" panose="02070309020205020404" pitchFamily="49" charset="0"/>
              </a:rPr>
              <a:t>, DENSE_RANK() OVER (</a:t>
            </a: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e_salary</a:t>
            </a:r>
            <a:r>
              <a:rPr lang="en-US" b="0" i="0" dirty="0">
                <a:solidFill>
                  <a:srgbClr val="212529"/>
                </a:solidFill>
                <a:effectLst/>
                <a:latin typeface="Courier New" panose="02070309020205020404" pitchFamily="49" charset="0"/>
              </a:rPr>
              <a:t> DESC) AS </a:t>
            </a:r>
            <a:r>
              <a:rPr lang="en-US" b="0" i="0" dirty="0" err="1">
                <a:solidFill>
                  <a:srgbClr val="212529"/>
                </a:solidFill>
                <a:effectLst/>
                <a:latin typeface="Courier New" panose="02070309020205020404" pitchFamily="49" charset="0"/>
              </a:rPr>
              <a:t>rnk</a:t>
            </a:r>
            <a:r>
              <a:rPr lang="en-US" b="0" i="0" dirty="0">
                <a:solidFill>
                  <a:srgbClr val="212529"/>
                </a:solidFill>
                <a:effectLst/>
                <a:latin typeface="Courier New" panose="02070309020205020404" pitchFamily="49" charset="0"/>
              </a:rPr>
              <a:t> FROM employee ) ranked</a:t>
            </a: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rnk</a:t>
            </a:r>
            <a:r>
              <a:rPr lang="en-US" b="0" i="0" dirty="0">
                <a:solidFill>
                  <a:srgbClr val="212529"/>
                </a:solidFill>
                <a:effectLst/>
                <a:latin typeface="Courier New" panose="02070309020205020404" pitchFamily="49" charset="0"/>
              </a:rPr>
              <a:t> = 2; </a:t>
            </a:r>
          </a:p>
        </p:txBody>
      </p:sp>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9A098E-EA4D-7526-71A1-5794FC16FD23}"/>
              </a:ext>
            </a:extLst>
          </p:cNvPr>
          <p:cNvSpPr txBox="1"/>
          <p:nvPr/>
        </p:nvSpPr>
        <p:spPr>
          <a:xfrm>
            <a:off x="2477069" y="1537022"/>
            <a:ext cx="4954136" cy="379078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97. How will you fetch the most recent entries in a database?</a:t>
            </a:r>
          </a:p>
          <a:p>
            <a:pPr algn="just">
              <a:lnSpc>
                <a:spcPts val="2100"/>
              </a:lnSpc>
              <a:spcBef>
                <a:spcPts val="1650"/>
              </a:spcBef>
              <a:buNone/>
            </a:pPr>
            <a:r>
              <a:rPr lang="en-US" b="0" i="0" dirty="0">
                <a:solidFill>
                  <a:srgbClr val="3A3A3A"/>
                </a:solidFill>
                <a:effectLst/>
                <a:latin typeface="Roboto" panose="02000000000000000000" pitchFamily="2" charset="0"/>
              </a:rPr>
              <a:t>We can fetch the most recent entries in a database by using the </a:t>
            </a:r>
            <a:r>
              <a:rPr lang="en-US" b="0" i="0" u="none" strike="noStrike" dirty="0">
                <a:solidFill>
                  <a:srgbClr val="0F5A9E"/>
                </a:solidFill>
                <a:effectLst/>
                <a:latin typeface="Roboto" panose="02000000000000000000" pitchFamily="2" charset="0"/>
                <a:hlinkClick r:id="rId2"/>
              </a:rPr>
              <a:t>ORDER BY</a:t>
            </a:r>
            <a:r>
              <a:rPr lang="en-US" b="0" i="0" dirty="0">
                <a:solidFill>
                  <a:srgbClr val="3A3A3A"/>
                </a:solidFill>
                <a:effectLst/>
                <a:latin typeface="Roboto" panose="02000000000000000000" pitchFamily="2" charset="0"/>
              </a:rPr>
              <a:t> clause along with the timestamp column in descending order.</a:t>
            </a:r>
          </a:p>
          <a:p>
            <a:pPr algn="l">
              <a:spcBef>
                <a:spcPts val="1125"/>
              </a:spcBef>
              <a:spcAft>
                <a:spcPts val="375"/>
              </a:spcAft>
              <a:buNone/>
            </a:pPr>
            <a:r>
              <a:rPr lang="en-US" b="0" i="0" dirty="0">
                <a:solidFill>
                  <a:srgbClr val="212529"/>
                </a:solidFill>
                <a:effectLst/>
                <a:latin typeface="Courier New" panose="02070309020205020404" pitchFamily="49" charset="0"/>
              </a:rPr>
              <a:t>SELECT * FROM </a:t>
            </a:r>
            <a:r>
              <a:rPr lang="en-US" b="0" i="0" dirty="0" err="1">
                <a:solidFill>
                  <a:srgbClr val="212529"/>
                </a:solidFill>
                <a:effectLst/>
                <a:latin typeface="Courier New" panose="02070309020205020404" pitchFamily="49" charset="0"/>
              </a:rPr>
              <a:t>table_name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timestamp_column</a:t>
            </a:r>
            <a:r>
              <a:rPr lang="en-US" b="0" i="0" dirty="0">
                <a:solidFill>
                  <a:srgbClr val="212529"/>
                </a:solidFill>
                <a:effectLst/>
                <a:latin typeface="Courier New" panose="02070309020205020404" pitchFamily="49" charset="0"/>
              </a:rPr>
              <a:t> DESC;</a:t>
            </a:r>
          </a:p>
          <a:p>
            <a:pPr algn="l">
              <a:spcBef>
                <a:spcPts val="1125"/>
              </a:spcBef>
              <a:spcAft>
                <a:spcPts val="375"/>
              </a:spcAft>
              <a:buNone/>
            </a:pPr>
            <a:r>
              <a:rPr lang="en-US" b="0" i="0" dirty="0">
                <a:solidFill>
                  <a:srgbClr val="212529"/>
                </a:solidFill>
                <a:effectLst/>
                <a:latin typeface="Courier New" panose="02070309020205020404" pitchFamily="49" charset="0"/>
              </a:rPr>
              <a:t>-- Sort by timestamp in descending order </a:t>
            </a:r>
          </a:p>
        </p:txBody>
      </p:sp>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EC1D65-BACE-5CEE-156F-6BF10B323BE4}"/>
              </a:ext>
            </a:extLst>
          </p:cNvPr>
          <p:cNvSpPr txBox="1"/>
          <p:nvPr/>
        </p:nvSpPr>
        <p:spPr>
          <a:xfrm>
            <a:off x="292289" y="314294"/>
            <a:ext cx="9321421" cy="579389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98. How will you find the IDs or details where there have been no entries in terms of sales?</a:t>
            </a:r>
          </a:p>
          <a:p>
            <a:pPr algn="just">
              <a:lnSpc>
                <a:spcPts val="2100"/>
              </a:lnSpc>
              <a:spcBef>
                <a:spcPts val="1650"/>
              </a:spcBef>
              <a:buNone/>
            </a:pPr>
            <a:r>
              <a:rPr lang="en-US" b="0" i="0" dirty="0">
                <a:solidFill>
                  <a:srgbClr val="3A3A3A"/>
                </a:solidFill>
                <a:effectLst/>
                <a:latin typeface="Roboto" panose="02000000000000000000" pitchFamily="2" charset="0"/>
              </a:rPr>
              <a:t>To find the IDs or details where there have been no entries in terms of sales, we can use the LEFT JOIN or NOT EXISTS clause.</a:t>
            </a:r>
          </a:p>
          <a:p>
            <a:pPr algn="just">
              <a:lnSpc>
                <a:spcPts val="2100"/>
              </a:lnSpc>
              <a:spcBef>
                <a:spcPts val="750"/>
              </a:spcBef>
              <a:buNone/>
            </a:pPr>
            <a:r>
              <a:rPr lang="en-US" b="0" i="0" dirty="0">
                <a:solidFill>
                  <a:srgbClr val="3A3A3A"/>
                </a:solidFill>
                <a:effectLst/>
                <a:latin typeface="Roboto" panose="02000000000000000000" pitchFamily="2" charset="0"/>
              </a:rPr>
              <a:t>Assume we have two tables: product with product details and sales with sales data.</a:t>
            </a:r>
          </a:p>
          <a:p>
            <a:pPr algn="just">
              <a:lnSpc>
                <a:spcPts val="2100"/>
              </a:lnSpc>
              <a:spcBef>
                <a:spcPts val="750"/>
              </a:spcBef>
              <a:buNone/>
            </a:pPr>
            <a:r>
              <a:rPr lang="en-US" b="0" i="0" dirty="0">
                <a:solidFill>
                  <a:srgbClr val="3A3A3A"/>
                </a:solidFill>
                <a:effectLst/>
                <a:latin typeface="Roboto" panose="02000000000000000000" pitchFamily="2" charset="0"/>
              </a:rPr>
              <a:t>Left Joins:</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p.product_name</a:t>
            </a:r>
            <a:r>
              <a:rPr lang="en-US" b="0" i="0" dirty="0">
                <a:solidFill>
                  <a:srgbClr val="212529"/>
                </a:solidFill>
                <a:effectLst/>
                <a:latin typeface="Courier New" panose="02070309020205020404" pitchFamily="49" charset="0"/>
              </a:rPr>
              <a:t> FROM product p LEFT JOIN sales s ON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s.product_id</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s.product_id</a:t>
            </a:r>
            <a:r>
              <a:rPr lang="en-US" b="0" i="0" dirty="0">
                <a:solidFill>
                  <a:srgbClr val="212529"/>
                </a:solidFill>
                <a:effectLst/>
                <a:latin typeface="Courier New" panose="02070309020205020404" pitchFamily="49" charset="0"/>
              </a:rPr>
              <a:t> IS NULL;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Here, the WHERE </a:t>
            </a:r>
            <a:r>
              <a:rPr lang="en-US" b="0" i="0" dirty="0" err="1">
                <a:solidFill>
                  <a:srgbClr val="3A3A3A"/>
                </a:solidFill>
                <a:effectLst/>
                <a:latin typeface="Roboto" panose="02000000000000000000" pitchFamily="2" charset="0"/>
              </a:rPr>
              <a:t>s.product_id</a:t>
            </a:r>
            <a:r>
              <a:rPr lang="en-US" b="0" i="0" dirty="0">
                <a:solidFill>
                  <a:srgbClr val="3A3A3A"/>
                </a:solidFill>
                <a:effectLst/>
                <a:latin typeface="Roboto" panose="02000000000000000000" pitchFamily="2" charset="0"/>
              </a:rPr>
              <a:t> is NULL condition helps us filter out the rows where a match in the sales table is not found.</a:t>
            </a:r>
          </a:p>
          <a:p>
            <a:pPr algn="just">
              <a:lnSpc>
                <a:spcPts val="2100"/>
              </a:lnSpc>
              <a:spcBef>
                <a:spcPts val="750"/>
              </a:spcBef>
              <a:buNone/>
            </a:pPr>
            <a:r>
              <a:rPr lang="en-US" b="0" i="0" dirty="0">
                <a:solidFill>
                  <a:srgbClr val="3A3A3A"/>
                </a:solidFill>
                <a:effectLst/>
                <a:latin typeface="Roboto" panose="02000000000000000000" pitchFamily="2" charset="0"/>
              </a:rPr>
              <a:t>Not Exists:</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p.product_name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products p WHERE NOT EXISTS (</a:t>
            </a:r>
          </a:p>
          <a:p>
            <a:pPr algn="l">
              <a:spcBef>
                <a:spcPts val="1125"/>
              </a:spcBef>
              <a:spcAft>
                <a:spcPts val="375"/>
              </a:spcAft>
              <a:buNone/>
            </a:pPr>
            <a:r>
              <a:rPr lang="en-US" b="0" i="0" dirty="0">
                <a:solidFill>
                  <a:srgbClr val="212529"/>
                </a:solidFill>
                <a:effectLst/>
                <a:latin typeface="Courier New" panose="02070309020205020404" pitchFamily="49" charset="0"/>
              </a:rPr>
              <a:t>SELECT 1 FROM sales s</a:t>
            </a: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s.product_id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p.product_id</a:t>
            </a:r>
            <a:r>
              <a:rPr lang="en-US" b="0" i="0" dirty="0">
                <a:solidFill>
                  <a:srgbClr val="212529"/>
                </a:solidFill>
                <a:effectLst/>
                <a:latin typeface="Courier New" panose="02070309020205020404" pitchFamily="49" charset="0"/>
              </a:rPr>
              <a:t> );  </a:t>
            </a:r>
          </a:p>
        </p:txBody>
      </p:sp>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B9F04C-DE94-4C77-CD8D-9880E944D67E}"/>
              </a:ext>
            </a:extLst>
          </p:cNvPr>
          <p:cNvSpPr txBox="1"/>
          <p:nvPr/>
        </p:nvSpPr>
        <p:spPr>
          <a:xfrm>
            <a:off x="2477069" y="-271166"/>
            <a:ext cx="4954136" cy="74071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99. Suppose there is a database where information about the employees in various verticals is stored. Your task is to find the average salary of each vertical and the highest salary among the lot.</a:t>
            </a:r>
          </a:p>
          <a:p>
            <a:pPr algn="just">
              <a:lnSpc>
                <a:spcPts val="2100"/>
              </a:lnSpc>
              <a:spcBef>
                <a:spcPts val="1650"/>
              </a:spcBef>
              <a:buNone/>
            </a:pPr>
            <a:r>
              <a:rPr lang="en-US" b="0" i="0" dirty="0">
                <a:solidFill>
                  <a:srgbClr val="3A3A3A"/>
                </a:solidFill>
                <a:effectLst/>
                <a:latin typeface="Roboto" panose="02000000000000000000" pitchFamily="2" charset="0"/>
              </a:rPr>
              <a:t>To find the average salary of each vertical and the highest salary among the employees, we can use the group by clause along with the aggregate functions (AVG and MAX).</a:t>
            </a:r>
          </a:p>
          <a:p>
            <a:pPr algn="l">
              <a:spcBef>
                <a:spcPts val="1125"/>
              </a:spcBef>
              <a:spcAft>
                <a:spcPts val="375"/>
              </a:spcAft>
              <a:buNone/>
            </a:pPr>
            <a:r>
              <a:rPr lang="en-US" b="0" i="0" dirty="0">
                <a:solidFill>
                  <a:srgbClr val="212529"/>
                </a:solidFill>
                <a:effectLst/>
                <a:latin typeface="Courier New" panose="02070309020205020404" pitchFamily="49" charset="0"/>
              </a:rPr>
              <a:t>SELECT vertical,    -- Grouping by vertical AVG(salary) AS </a:t>
            </a:r>
            <a:r>
              <a:rPr lang="en-US" b="0" i="0" dirty="0" err="1">
                <a:solidFill>
                  <a:srgbClr val="212529"/>
                </a:solidFill>
                <a:effectLst/>
                <a:latin typeface="Courier New" panose="02070309020205020404" pitchFamily="49" charset="0"/>
              </a:rPr>
              <a:t>average_salary</a:t>
            </a:r>
            <a:r>
              <a:rPr lang="en-US" b="0" i="0" dirty="0">
                <a:solidFill>
                  <a:srgbClr val="212529"/>
                </a:solidFill>
                <a:effectLst/>
                <a:latin typeface="Courier New" panose="02070309020205020404" pitchFamily="49" charset="0"/>
              </a:rPr>
              <a:t>,    -- Calculate average salary for each vertical MAX(salary) AS </a:t>
            </a:r>
            <a:r>
              <a:rPr lang="en-US" b="0" i="0" dirty="0" err="1">
                <a:solidFill>
                  <a:srgbClr val="212529"/>
                </a:solidFill>
                <a:effectLst/>
                <a:latin typeface="Courier New" panose="02070309020205020404" pitchFamily="49" charset="0"/>
              </a:rPr>
              <a:t>highest_salary</a:t>
            </a:r>
            <a:r>
              <a:rPr lang="en-US" b="0" i="0" dirty="0">
                <a:solidFill>
                  <a:srgbClr val="212529"/>
                </a:solidFill>
                <a:effectLst/>
                <a:latin typeface="Courier New" panose="02070309020205020404" pitchFamily="49" charset="0"/>
              </a:rPr>
              <a:t>    -- Find the highest salary in each vertical FROM employees GROUP BY vertical;    -- Group the results by vertical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Where,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vertical: column that you want to group</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salary: column in the table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employees: table name</a:t>
            </a:r>
          </a:p>
        </p:txBody>
      </p:sp>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DEC6CB-BF93-1D58-E025-D62EB0E3681C}"/>
              </a:ext>
            </a:extLst>
          </p:cNvPr>
          <p:cNvSpPr txBox="1"/>
          <p:nvPr/>
        </p:nvSpPr>
        <p:spPr>
          <a:xfrm>
            <a:off x="2477069" y="767580"/>
            <a:ext cx="4954136" cy="532966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100. Given data on where the store inventory is stored, your task is to find the top 3 products in each category in terms of price.</a:t>
            </a:r>
          </a:p>
          <a:p>
            <a:pPr algn="just">
              <a:lnSpc>
                <a:spcPts val="2100"/>
              </a:lnSpc>
              <a:spcBef>
                <a:spcPts val="1650"/>
              </a:spcBef>
              <a:buNone/>
            </a:pPr>
            <a:r>
              <a:rPr lang="en-US" b="0" i="0" dirty="0">
                <a:solidFill>
                  <a:srgbClr val="3A3A3A"/>
                </a:solidFill>
                <a:effectLst/>
                <a:latin typeface="Roboto" panose="02000000000000000000" pitchFamily="2" charset="0"/>
              </a:rPr>
              <a:t>To find the top 3 products in each category in terms of price, we can group by clause along with the aggregate function (MAX) with the price column, and set the limit as 3 in descending order.</a:t>
            </a:r>
          </a:p>
          <a:p>
            <a:pPr algn="l">
              <a:spcBef>
                <a:spcPts val="1125"/>
              </a:spcBef>
              <a:spcAft>
                <a:spcPts val="375"/>
              </a:spcAft>
              <a:buNone/>
            </a:pPr>
            <a:r>
              <a:rPr lang="en-US" b="0" i="0" dirty="0">
                <a:solidFill>
                  <a:srgbClr val="212529"/>
                </a:solidFill>
                <a:effectLst/>
                <a:latin typeface="Courier New" panose="02070309020205020404" pitchFamily="49" charset="0"/>
              </a:rPr>
              <a:t>-- Get top 3 highest-priced products in each category SELECT category, </a:t>
            </a: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 price FROM ( SELECT category, </a:t>
            </a: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 price, ROW_NUMBER() OVER ( PARTITION BY category ORDER BY price DESC ) AS </a:t>
            </a:r>
            <a:r>
              <a:rPr lang="en-US" b="0" i="0" dirty="0" err="1">
                <a:solidFill>
                  <a:srgbClr val="212529"/>
                </a:solidFill>
                <a:effectLst/>
                <a:latin typeface="Courier New" panose="02070309020205020404" pitchFamily="49" charset="0"/>
              </a:rPr>
              <a:t>price_rank</a:t>
            </a:r>
            <a:r>
              <a:rPr lang="en-US" b="0" i="0" dirty="0">
                <a:solidFill>
                  <a:srgbClr val="212529"/>
                </a:solidFill>
                <a:effectLst/>
                <a:latin typeface="Courier New" panose="02070309020205020404" pitchFamily="49" charset="0"/>
              </a:rPr>
              <a:t> FROM inventory ) ranked WHERE </a:t>
            </a:r>
            <a:r>
              <a:rPr lang="en-US" b="0" i="0" dirty="0" err="1">
                <a:solidFill>
                  <a:srgbClr val="212529"/>
                </a:solidFill>
                <a:effectLst/>
                <a:latin typeface="Courier New" panose="02070309020205020404" pitchFamily="49" charset="0"/>
              </a:rPr>
              <a:t>price_rank</a:t>
            </a:r>
            <a:r>
              <a:rPr lang="en-US" b="0" i="0" dirty="0">
                <a:solidFill>
                  <a:srgbClr val="212529"/>
                </a:solidFill>
                <a:effectLst/>
                <a:latin typeface="Courier New" panose="02070309020205020404" pitchFamily="49" charset="0"/>
              </a:rPr>
              <a:t> &lt;= 3;  </a:t>
            </a:r>
          </a:p>
        </p:txBody>
      </p:sp>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3839C4-5A08-D96F-F6AD-F14F90994930}"/>
              </a:ext>
            </a:extLst>
          </p:cNvPr>
          <p:cNvSpPr txBox="1"/>
          <p:nvPr/>
        </p:nvSpPr>
        <p:spPr>
          <a:xfrm>
            <a:off x="2477069" y="989436"/>
            <a:ext cx="4954136" cy="488595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101. Write an SQL query to find the month-on-month sales of a specific product in a store.</a:t>
            </a:r>
          </a:p>
          <a:p>
            <a:pPr algn="just">
              <a:lnSpc>
                <a:spcPts val="2100"/>
              </a:lnSpc>
              <a:spcBef>
                <a:spcPts val="1650"/>
              </a:spcBef>
              <a:buNone/>
            </a:pPr>
            <a:r>
              <a:rPr lang="en-US" b="0" i="0" dirty="0">
                <a:solidFill>
                  <a:srgbClr val="3A3A3A"/>
                </a:solidFill>
                <a:effectLst/>
                <a:latin typeface="Roboto" panose="02000000000000000000" pitchFamily="2" charset="0"/>
              </a:rPr>
              <a:t>To calculate the month-on-month sales of a specific product in a store, we can use a combination of date functions and aggregate functions.</a:t>
            </a:r>
          </a:p>
          <a:p>
            <a:pPr algn="just">
              <a:lnSpc>
                <a:spcPts val="2100"/>
              </a:lnSpc>
              <a:spcBef>
                <a:spcPts val="750"/>
              </a:spcBef>
              <a:buNone/>
            </a:pPr>
            <a:r>
              <a:rPr lang="en-US" b="0" i="0" dirty="0">
                <a:solidFill>
                  <a:srgbClr val="3A3A3A"/>
                </a:solidFill>
                <a:effectLst/>
                <a:latin typeface="Roboto" panose="02000000000000000000" pitchFamily="2" charset="0"/>
              </a:rPr>
              <a:t>— Extract year and month from the sale date</a:t>
            </a:r>
          </a:p>
          <a:p>
            <a:pPr algn="l">
              <a:spcBef>
                <a:spcPts val="1125"/>
              </a:spcBef>
              <a:spcAft>
                <a:spcPts val="375"/>
              </a:spcAft>
              <a:buNone/>
            </a:pPr>
            <a:r>
              <a:rPr lang="en-US" b="0" i="0" dirty="0">
                <a:solidFill>
                  <a:srgbClr val="212529"/>
                </a:solidFill>
                <a:effectLst/>
                <a:latin typeface="Courier New" panose="02070309020205020404" pitchFamily="49" charset="0"/>
              </a:rPr>
              <a:t>-- Calculate month-on-month sales for a specific product SELECT DATE_FORMAT(</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'%Y-%m') AS </a:t>
            </a:r>
            <a:r>
              <a:rPr lang="en-US" b="0" i="0" dirty="0" err="1">
                <a:solidFill>
                  <a:srgbClr val="212529"/>
                </a:solidFill>
                <a:effectLst/>
                <a:latin typeface="Courier New" panose="02070309020205020404" pitchFamily="49" charset="0"/>
              </a:rPr>
              <a:t>year_month</a:t>
            </a:r>
            <a:r>
              <a:rPr lang="en-US" b="0" i="0" dirty="0">
                <a:solidFill>
                  <a:srgbClr val="212529"/>
                </a:solidFill>
                <a:effectLst/>
                <a:latin typeface="Courier New" panose="02070309020205020404" pitchFamily="49" charset="0"/>
              </a:rPr>
              <a:t>, SUM(</a:t>
            </a:r>
            <a:r>
              <a:rPr lang="en-US" b="0" i="0" dirty="0" err="1">
                <a:solidFill>
                  <a:srgbClr val="212529"/>
                </a:solidFill>
                <a:effectLst/>
                <a:latin typeface="Courier New" panose="02070309020205020404" pitchFamily="49" charset="0"/>
              </a:rPr>
              <a:t>quantity_sold</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total_sales</a:t>
            </a:r>
            <a:r>
              <a:rPr lang="en-US" b="0" i="0" dirty="0">
                <a:solidFill>
                  <a:srgbClr val="212529"/>
                </a:solidFill>
                <a:effectLst/>
                <a:latin typeface="Courier New" panose="02070309020205020404" pitchFamily="49" charset="0"/>
              </a:rPr>
              <a:t> FROM sales WHERE </a:t>
            </a:r>
            <a:r>
              <a:rPr lang="en-US" b="0" i="0" dirty="0" err="1">
                <a:solidFill>
                  <a:srgbClr val="212529"/>
                </a:solidFill>
                <a:effectLst/>
                <a:latin typeface="Courier New" panose="02070309020205020404" pitchFamily="49" charset="0"/>
              </a:rPr>
              <a:t>product_id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your_product_id</a:t>
            </a:r>
            <a:r>
              <a:rPr lang="en-US" b="0" i="0" dirty="0">
                <a:solidFill>
                  <a:srgbClr val="212529"/>
                </a:solidFill>
                <a:effectLst/>
                <a:latin typeface="Courier New" panose="02070309020205020404" pitchFamily="49" charset="0"/>
              </a:rPr>
              <a:t>' GROUP BY </a:t>
            </a:r>
            <a:r>
              <a:rPr lang="en-US" b="0" i="0" dirty="0" err="1">
                <a:solidFill>
                  <a:srgbClr val="212529"/>
                </a:solidFill>
                <a:effectLst/>
                <a:latin typeface="Courier New" panose="02070309020205020404" pitchFamily="49" charset="0"/>
              </a:rPr>
              <a:t>year_month</a:t>
            </a:r>
            <a:r>
              <a:rPr lang="en-US" b="0" i="0" dirty="0">
                <a:solidFill>
                  <a:srgbClr val="212529"/>
                </a:solidFill>
                <a:effectLst/>
                <a:latin typeface="Courier New" panose="02070309020205020404" pitchFamily="49" charset="0"/>
              </a:rPr>
              <a:t> ORDER BY </a:t>
            </a:r>
            <a:r>
              <a:rPr lang="en-US" b="0" i="0" dirty="0" err="1">
                <a:solidFill>
                  <a:srgbClr val="212529"/>
                </a:solidFill>
                <a:effectLst/>
                <a:latin typeface="Courier New" panose="02070309020205020404" pitchFamily="49" charset="0"/>
              </a:rPr>
              <a:t>year_month</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C48483-FD15-EB05-86A6-6B8084596A72}"/>
              </a:ext>
            </a:extLst>
          </p:cNvPr>
          <p:cNvSpPr txBox="1"/>
          <p:nvPr/>
        </p:nvSpPr>
        <p:spPr>
          <a:xfrm>
            <a:off x="2477069" y="629081"/>
            <a:ext cx="4954136" cy="560666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102. Suppose in an </a:t>
            </a:r>
            <a:r>
              <a:rPr lang="en-US" b="0" i="0" dirty="0" err="1">
                <a:solidFill>
                  <a:srgbClr val="272C37"/>
                </a:solidFill>
                <a:effectLst/>
                <a:latin typeface="Roboto" panose="02000000000000000000" pitchFamily="2" charset="0"/>
              </a:rPr>
              <a:t>organisation</a:t>
            </a:r>
            <a:r>
              <a:rPr lang="en-US" b="0" i="0" dirty="0">
                <a:solidFill>
                  <a:srgbClr val="272C37"/>
                </a:solidFill>
                <a:effectLst/>
                <a:latin typeface="Roboto" panose="02000000000000000000" pitchFamily="2" charset="0"/>
              </a:rPr>
              <a:t>, employees are mapped under managers. Write an SQL query that will fetch you the managers and employees working under them.</a:t>
            </a:r>
          </a:p>
          <a:p>
            <a:pPr algn="just">
              <a:lnSpc>
                <a:spcPts val="2100"/>
              </a:lnSpc>
              <a:spcBef>
                <a:spcPts val="1650"/>
              </a:spcBef>
              <a:buNone/>
            </a:pPr>
            <a:r>
              <a:rPr lang="en-US" b="0" i="0" dirty="0">
                <a:solidFill>
                  <a:srgbClr val="3A3A3A"/>
                </a:solidFill>
                <a:effectLst/>
                <a:latin typeface="Roboto" panose="02000000000000000000" pitchFamily="2" charset="0"/>
              </a:rPr>
              <a:t>To fetch the managers and employees working under them, we can use a self-join to fetch the managers and the employees working under them.</a:t>
            </a:r>
          </a:p>
          <a:p>
            <a:pPr algn="l">
              <a:spcBef>
                <a:spcPts val="1125"/>
              </a:spcBef>
              <a:spcAft>
                <a:spcPts val="375"/>
              </a:spcAft>
              <a:buNone/>
            </a:pPr>
            <a:r>
              <a:rPr lang="en-US" b="0" i="0" dirty="0">
                <a:solidFill>
                  <a:srgbClr val="212529"/>
                </a:solidFill>
                <a:effectLst/>
                <a:latin typeface="Courier New" panose="02070309020205020404" pitchFamily="49" charset="0"/>
              </a:rPr>
              <a:t>-- Fetch managers and their reporting employees SELECT </a:t>
            </a:r>
            <a:r>
              <a:rPr lang="en-US" b="0" i="0" dirty="0" err="1">
                <a:solidFill>
                  <a:srgbClr val="212529"/>
                </a:solidFill>
                <a:effectLst/>
                <a:latin typeface="Courier New" panose="02070309020205020404" pitchFamily="49" charset="0"/>
              </a:rPr>
              <a:t>M.employee_id</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manager_id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M.employee_name</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manager_name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E.employee_id</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employee_id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E.employee_name</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employee_name</a:t>
            </a:r>
            <a:r>
              <a:rPr lang="en-US" b="0" i="0" dirty="0">
                <a:solidFill>
                  <a:srgbClr val="212529"/>
                </a:solidFill>
                <a:effectLst/>
                <a:latin typeface="Courier New" panose="02070309020205020404" pitchFamily="49" charset="0"/>
              </a:rPr>
              <a:t> FROM employees E JOIN employees M ON </a:t>
            </a:r>
            <a:r>
              <a:rPr lang="en-US" b="0" i="0" dirty="0" err="1">
                <a:solidFill>
                  <a:srgbClr val="212529"/>
                </a:solidFill>
                <a:effectLst/>
                <a:latin typeface="Courier New" panose="02070309020205020404" pitchFamily="49" charset="0"/>
              </a:rPr>
              <a:t>E.manager_id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M.employee_id</a:t>
            </a:r>
            <a:r>
              <a:rPr lang="en-US" b="0" i="0" dirty="0">
                <a:solidFill>
                  <a:srgbClr val="212529"/>
                </a:solidFill>
                <a:effectLst/>
                <a:latin typeface="Courier New" panose="02070309020205020404" pitchFamily="49" charset="0"/>
              </a:rPr>
              <a:t> ORDER BY </a:t>
            </a:r>
            <a:r>
              <a:rPr lang="en-US" b="0" i="0" dirty="0" err="1">
                <a:solidFill>
                  <a:srgbClr val="212529"/>
                </a:solidFill>
                <a:effectLst/>
                <a:latin typeface="Courier New" panose="02070309020205020404" pitchFamily="49" charset="0"/>
              </a:rPr>
              <a:t>M.employee_id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E.employee_id</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692A7F-92FF-3EE1-4DFB-1E190AAC0075}"/>
              </a:ext>
            </a:extLst>
          </p:cNvPr>
          <p:cNvSpPr txBox="1"/>
          <p:nvPr/>
        </p:nvSpPr>
        <p:spPr>
          <a:xfrm>
            <a:off x="2477069" y="421332"/>
            <a:ext cx="4954136" cy="602216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103. In a store inventory, your task is to fetch the total quantity of the top product purchased by the customers.</a:t>
            </a:r>
          </a:p>
          <a:p>
            <a:pPr algn="just">
              <a:lnSpc>
                <a:spcPts val="2100"/>
              </a:lnSpc>
              <a:spcBef>
                <a:spcPts val="1650"/>
              </a:spcBef>
              <a:buNone/>
            </a:pPr>
            <a:r>
              <a:rPr lang="en-US" b="0" i="0" dirty="0">
                <a:solidFill>
                  <a:srgbClr val="3A3A3A"/>
                </a:solidFill>
                <a:effectLst/>
                <a:latin typeface="Roboto" panose="02000000000000000000" pitchFamily="2" charset="0"/>
              </a:rPr>
              <a:t>To fetch the total quantity of the top product purchased by the customers, we can use a group by clause along with the limit in descending order.</a:t>
            </a:r>
          </a:p>
          <a:p>
            <a:pPr algn="l">
              <a:spcBef>
                <a:spcPts val="1125"/>
              </a:spcBef>
              <a:spcAft>
                <a:spcPts val="375"/>
              </a:spcAft>
              <a:buNone/>
            </a:pPr>
            <a:r>
              <a:rPr lang="en-US" b="0" i="0" dirty="0">
                <a:solidFill>
                  <a:srgbClr val="212529"/>
                </a:solidFill>
                <a:effectLst/>
                <a:latin typeface="Courier New" panose="02070309020205020404" pitchFamily="49" charset="0"/>
              </a:rPr>
              <a:t>-- Find the product with the highest total quantity purchased</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product_id</a:t>
            </a:r>
            <a:r>
              <a:rPr lang="en-US" b="0" i="0" dirty="0">
                <a:solidFill>
                  <a:srgbClr val="212529"/>
                </a:solidFill>
                <a:effectLst/>
                <a:latin typeface="Courier New" panose="02070309020205020404" pitchFamily="49" charset="0"/>
              </a:rPr>
              <a:t>, SUM(</a:t>
            </a:r>
            <a:r>
              <a:rPr lang="en-US" b="0" i="0" dirty="0" err="1">
                <a:solidFill>
                  <a:srgbClr val="212529"/>
                </a:solidFill>
                <a:effectLst/>
                <a:latin typeface="Courier New" panose="02070309020205020404" pitchFamily="49" charset="0"/>
              </a:rPr>
              <a:t>quantity_purchased</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total_quantity_purchased</a:t>
            </a:r>
            <a:r>
              <a:rPr lang="en-US" b="0" i="0" dirty="0">
                <a:solidFill>
                  <a:srgbClr val="212529"/>
                </a:solidFill>
                <a:effectLst/>
                <a:latin typeface="Courier New" panose="02070309020205020404" pitchFamily="49" charset="0"/>
              </a:rPr>
              <a:t> FROM purchases</a:t>
            </a:r>
          </a:p>
          <a:p>
            <a:pPr algn="l">
              <a:spcBef>
                <a:spcPts val="1125"/>
              </a:spcBef>
              <a:spcAft>
                <a:spcPts val="375"/>
              </a:spcAft>
              <a:buNone/>
            </a:pPr>
            <a:r>
              <a:rPr lang="en-US" b="0" i="0" dirty="0">
                <a:solidFill>
                  <a:srgbClr val="212529"/>
                </a:solidFill>
                <a:effectLst/>
                <a:latin typeface="Courier New" panose="02070309020205020404" pitchFamily="49" charset="0"/>
              </a:rPr>
              <a:t>GROUP BY </a:t>
            </a:r>
            <a:r>
              <a:rPr lang="en-US" b="0" i="0" dirty="0" err="1">
                <a:solidFill>
                  <a:srgbClr val="212529"/>
                </a:solidFill>
                <a:effectLst/>
                <a:latin typeface="Courier New" panose="02070309020205020404" pitchFamily="49" charset="0"/>
              </a:rPr>
              <a:t>product_id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total_quantity_purchased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DESC LIMIT 1;  </a:t>
            </a:r>
          </a:p>
        </p:txBody>
      </p:sp>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D9F220-E48B-0B99-58D1-126DAB172F4A}"/>
              </a:ext>
            </a:extLst>
          </p:cNvPr>
          <p:cNvSpPr txBox="1"/>
          <p:nvPr/>
        </p:nvSpPr>
        <p:spPr>
          <a:xfrm>
            <a:off x="2477069" y="795793"/>
            <a:ext cx="4954136" cy="527323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104. You need to create a </a:t>
            </a:r>
            <a:r>
              <a:rPr lang="en-US" b="0" i="0" dirty="0" err="1">
                <a:solidFill>
                  <a:srgbClr val="272C37"/>
                </a:solidFill>
                <a:effectLst/>
                <a:latin typeface="Roboto" panose="02000000000000000000" pitchFamily="2" charset="0"/>
              </a:rPr>
              <a:t>materialised</a:t>
            </a:r>
            <a:r>
              <a:rPr lang="en-US" b="0" i="0" dirty="0">
                <a:solidFill>
                  <a:srgbClr val="272C37"/>
                </a:solidFill>
                <a:effectLst/>
                <a:latin typeface="Roboto" panose="02000000000000000000" pitchFamily="2" charset="0"/>
              </a:rPr>
              <a:t> view to store the monthly total sales by product for faster reporting. Write the SQL to create this view.</a:t>
            </a:r>
          </a:p>
          <a:p>
            <a:pPr algn="l">
              <a:spcBef>
                <a:spcPts val="1125"/>
              </a:spcBef>
              <a:spcAft>
                <a:spcPts val="375"/>
              </a:spcAft>
              <a:buNone/>
            </a:pPr>
            <a:r>
              <a:rPr lang="en-US" b="0" i="0" dirty="0">
                <a:solidFill>
                  <a:srgbClr val="212529"/>
                </a:solidFill>
                <a:effectLst/>
                <a:latin typeface="Courier New" panose="02070309020205020404" pitchFamily="49" charset="0"/>
              </a:rPr>
              <a:t>CREATE MATERIALIZED VIEW </a:t>
            </a:r>
            <a:r>
              <a:rPr lang="en-US" b="0" i="0" dirty="0" err="1">
                <a:solidFill>
                  <a:srgbClr val="212529"/>
                </a:solidFill>
                <a:effectLst/>
                <a:latin typeface="Courier New" panose="02070309020205020404" pitchFamily="49" charset="0"/>
              </a:rPr>
              <a:t>mv_monthly_sales</a:t>
            </a:r>
            <a:r>
              <a:rPr lang="en-US" b="0" i="0" dirty="0">
                <a:solidFill>
                  <a:srgbClr val="212529"/>
                </a:solidFill>
                <a:effectLst/>
                <a:latin typeface="Courier New" panose="02070309020205020404" pitchFamily="49" charset="0"/>
              </a:rPr>
              <a:t> AS</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product_id</a:t>
            </a:r>
            <a:r>
              <a:rPr lang="en-US" b="0" i="0" dirty="0">
                <a:solidFill>
                  <a:srgbClr val="212529"/>
                </a:solidFill>
                <a:effectLst/>
                <a:latin typeface="Courier New" panose="02070309020205020404" pitchFamily="49" charset="0"/>
              </a:rPr>
              <a:t>, YEAR(</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AS year,</a:t>
            </a:r>
          </a:p>
          <a:p>
            <a:pPr algn="l">
              <a:spcBef>
                <a:spcPts val="1125"/>
              </a:spcBef>
              <a:spcAft>
                <a:spcPts val="375"/>
              </a:spcAft>
              <a:buNone/>
            </a:pPr>
            <a:r>
              <a:rPr lang="en-US" b="0" i="0" dirty="0">
                <a:solidFill>
                  <a:srgbClr val="212529"/>
                </a:solidFill>
                <a:effectLst/>
                <a:latin typeface="Courier New" panose="02070309020205020404" pitchFamily="49" charset="0"/>
              </a:rPr>
              <a:t>MONTH(</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AS month, SUM(</a:t>
            </a:r>
            <a:r>
              <a:rPr lang="en-US" b="0" i="0" dirty="0" err="1">
                <a:solidFill>
                  <a:srgbClr val="212529"/>
                </a:solidFill>
                <a:effectLst/>
                <a:latin typeface="Courier New" panose="02070309020205020404" pitchFamily="49" charset="0"/>
              </a:rPr>
              <a:t>sale_amount</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total_sales</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sales_fact</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GROUP BY </a:t>
            </a:r>
            <a:r>
              <a:rPr lang="en-US" b="0" i="0" dirty="0" err="1">
                <a:solidFill>
                  <a:srgbClr val="212529"/>
                </a:solidFill>
                <a:effectLst/>
                <a:latin typeface="Courier New" panose="02070309020205020404" pitchFamily="49" charset="0"/>
              </a:rPr>
              <a:t>product_id</a:t>
            </a:r>
            <a:r>
              <a:rPr lang="en-US" b="0" i="0" dirty="0">
                <a:solidFill>
                  <a:srgbClr val="212529"/>
                </a:solidFill>
                <a:effectLst/>
                <a:latin typeface="Courier New" panose="02070309020205020404" pitchFamily="49" charset="0"/>
              </a:rPr>
              <a:t>, YEAR(</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MONTH(</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3116626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4FE5-66AD-E865-0586-9ADE2C6331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52826E-8E35-DE12-F026-030517F7BA0D}"/>
              </a:ext>
            </a:extLst>
          </p:cNvPr>
          <p:cNvSpPr txBox="1"/>
          <p:nvPr/>
        </p:nvSpPr>
        <p:spPr>
          <a:xfrm>
            <a:off x="647131" y="524242"/>
            <a:ext cx="8611737" cy="530401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105. Write a query that detects missing dates in a sequence from a sales table. The sales table contains </a:t>
            </a:r>
            <a:r>
              <a:rPr lang="en-US" b="0" i="0" dirty="0" err="1">
                <a:solidFill>
                  <a:srgbClr val="272C37"/>
                </a:solidFill>
                <a:effectLst/>
                <a:latin typeface="Roboto" panose="02000000000000000000" pitchFamily="2" charset="0"/>
              </a:rPr>
              <a:t>sale_date</a:t>
            </a:r>
            <a:r>
              <a:rPr lang="en-US" b="0" i="0" dirty="0">
                <a:solidFill>
                  <a:srgbClr val="272C37"/>
                </a:solidFill>
                <a:effectLst/>
                <a:latin typeface="Roboto" panose="02000000000000000000" pitchFamily="2" charset="0"/>
              </a:rPr>
              <a:t> and </a:t>
            </a:r>
            <a:r>
              <a:rPr lang="en-US" b="0" i="0" dirty="0" err="1">
                <a:solidFill>
                  <a:srgbClr val="272C37"/>
                </a:solidFill>
                <a:effectLst/>
                <a:latin typeface="Roboto" panose="02000000000000000000" pitchFamily="2" charset="0"/>
              </a:rPr>
              <a:t>sale_amount</a:t>
            </a:r>
            <a:r>
              <a:rPr lang="en-US" b="0" i="0" dirty="0">
                <a:solidFill>
                  <a:srgbClr val="272C37"/>
                </a:solidFill>
                <a:effectLst/>
                <a:latin typeface="Roboto" panose="02000000000000000000" pitchFamily="2" charset="0"/>
              </a:rPr>
              <a:t>, and you need to find any missing dates between the earliest and latest sales dates.</a:t>
            </a:r>
          </a:p>
          <a:p>
            <a:pPr algn="l">
              <a:spcBef>
                <a:spcPts val="1125"/>
              </a:spcBef>
              <a:spcAft>
                <a:spcPts val="375"/>
              </a:spcAft>
              <a:buNone/>
            </a:pPr>
            <a:r>
              <a:rPr lang="en-US" b="0" i="0" dirty="0">
                <a:solidFill>
                  <a:srgbClr val="212529"/>
                </a:solidFill>
                <a:effectLst/>
                <a:latin typeface="Courier New" panose="02070309020205020404" pitchFamily="49" charset="0"/>
              </a:rPr>
              <a:t>-- Generate all dates between min and max </a:t>
            </a:r>
            <a:r>
              <a:rPr lang="en-US" b="0" i="0" dirty="0" err="1">
                <a:solidFill>
                  <a:srgbClr val="212529"/>
                </a:solidFill>
                <a:effectLst/>
                <a:latin typeface="Courier New" panose="02070309020205020404" pitchFamily="49" charset="0"/>
              </a:rPr>
              <a:t>sale_date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WITH RECURSIVE </a:t>
            </a:r>
            <a:r>
              <a:rPr lang="en-US" b="0" i="0" dirty="0" err="1">
                <a:solidFill>
                  <a:srgbClr val="212529"/>
                </a:solidFill>
                <a:effectLst/>
                <a:latin typeface="Courier New" panose="02070309020205020404" pitchFamily="49" charset="0"/>
              </a:rPr>
              <a:t>DateSeries</a:t>
            </a:r>
            <a:r>
              <a:rPr lang="en-US" b="0" i="0" dirty="0">
                <a:solidFill>
                  <a:srgbClr val="212529"/>
                </a:solidFill>
                <a:effectLst/>
                <a:latin typeface="Courier New" panose="02070309020205020404" pitchFamily="49" charset="0"/>
              </a:rPr>
              <a:t> AS ( SELECT MIN(</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AS </a:t>
            </a:r>
            <a:r>
              <a:rPr lang="en-US" b="0" i="0" dirty="0" err="1">
                <a:solidFill>
                  <a:srgbClr val="212529"/>
                </a:solidFill>
                <a:effectLst/>
                <a:latin typeface="Courier New" panose="02070309020205020404" pitchFamily="49" charset="0"/>
              </a:rPr>
              <a:t>date_value</a:t>
            </a:r>
            <a:r>
              <a:rPr lang="en-US" b="0" i="0" dirty="0">
                <a:solidFill>
                  <a:srgbClr val="212529"/>
                </a:solidFill>
                <a:effectLst/>
                <a:latin typeface="Courier New" panose="02070309020205020404" pitchFamily="49" charset="0"/>
              </a:rPr>
              <a:t>, MAX(</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max_date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sales UNION ALL SELECT </a:t>
            </a:r>
            <a:r>
              <a:rPr lang="en-US" b="0" i="0" dirty="0" err="1">
                <a:solidFill>
                  <a:srgbClr val="212529"/>
                </a:solidFill>
                <a:effectLst/>
                <a:latin typeface="Courier New" panose="02070309020205020404" pitchFamily="49" charset="0"/>
              </a:rPr>
              <a:t>date_value</a:t>
            </a:r>
            <a:r>
              <a:rPr lang="en-US" b="0" i="0" dirty="0">
                <a:solidFill>
                  <a:srgbClr val="212529"/>
                </a:solidFill>
                <a:effectLst/>
                <a:latin typeface="Courier New" panose="02070309020205020404" pitchFamily="49" charset="0"/>
              </a:rPr>
              <a:t> + INTERVAL 1</a:t>
            </a:r>
          </a:p>
          <a:p>
            <a:pPr algn="l">
              <a:spcBef>
                <a:spcPts val="1125"/>
              </a:spcBef>
              <a:spcAft>
                <a:spcPts val="375"/>
              </a:spcAft>
              <a:buNone/>
            </a:pPr>
            <a:r>
              <a:rPr lang="en-US" b="0" i="0" dirty="0">
                <a:solidFill>
                  <a:srgbClr val="212529"/>
                </a:solidFill>
                <a:effectLst/>
                <a:latin typeface="Courier New" panose="02070309020205020404" pitchFamily="49" charset="0"/>
              </a:rPr>
              <a:t>DAY, </a:t>
            </a:r>
            <a:r>
              <a:rPr lang="en-US" b="0" i="0" dirty="0" err="1">
                <a:solidFill>
                  <a:srgbClr val="212529"/>
                </a:solidFill>
                <a:effectLst/>
                <a:latin typeface="Courier New" panose="02070309020205020404" pitchFamily="49" charset="0"/>
              </a:rPr>
              <a:t>max_date</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DateSeries</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date_value</a:t>
            </a:r>
            <a:r>
              <a:rPr lang="en-US" b="0" i="0" dirty="0">
                <a:solidFill>
                  <a:srgbClr val="212529"/>
                </a:solidFill>
                <a:effectLst/>
                <a:latin typeface="Courier New" panose="02070309020205020404" pitchFamily="49" charset="0"/>
              </a:rPr>
              <a:t> &lt; </a:t>
            </a:r>
            <a:r>
              <a:rPr lang="en-US" b="0" i="0" dirty="0" err="1">
                <a:solidFill>
                  <a:srgbClr val="212529"/>
                </a:solidFill>
                <a:effectLst/>
                <a:latin typeface="Courier New" panose="02070309020205020404" pitchFamily="49" charset="0"/>
              </a:rPr>
              <a:t>max_date</a:t>
            </a:r>
            <a:r>
              <a:rPr lang="en-US" b="0" i="0" dirty="0">
                <a:solidFill>
                  <a:srgbClr val="212529"/>
                </a:solidFill>
                <a:effectLst/>
                <a:latin typeface="Courier New" panose="02070309020205020404" pitchFamily="49" charset="0"/>
              </a:rPr>
              <a:t> ) -- Find missing dates</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date_value</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missing_date</a:t>
            </a:r>
            <a:r>
              <a:rPr lang="en-US" b="0" i="0" dirty="0">
                <a:solidFill>
                  <a:srgbClr val="212529"/>
                </a:solidFill>
                <a:effectLst/>
                <a:latin typeface="Courier New" panose="02070309020205020404" pitchFamily="49" charset="0"/>
              </a:rPr>
              <a:t> FROM </a:t>
            </a:r>
            <a:r>
              <a:rPr lang="en-US" b="0" i="0" dirty="0" err="1">
                <a:solidFill>
                  <a:srgbClr val="212529"/>
                </a:solidFill>
                <a:effectLst/>
                <a:latin typeface="Courier New" panose="02070309020205020404" pitchFamily="49" charset="0"/>
              </a:rPr>
              <a:t>DateSeries</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date_value</a:t>
            </a:r>
            <a:r>
              <a:rPr lang="en-US" b="0" i="0" dirty="0">
                <a:solidFill>
                  <a:srgbClr val="212529"/>
                </a:solidFill>
                <a:effectLst/>
                <a:latin typeface="Courier New" panose="02070309020205020404" pitchFamily="49" charset="0"/>
              </a:rPr>
              <a:t> NOT IN ( SELECT </a:t>
            </a:r>
            <a:r>
              <a:rPr lang="en-US" b="0" i="0" dirty="0" err="1">
                <a:solidFill>
                  <a:srgbClr val="212529"/>
                </a:solidFill>
                <a:effectLst/>
                <a:latin typeface="Courier New" panose="02070309020205020404" pitchFamily="49" charset="0"/>
              </a:rPr>
              <a:t>sale_date</a:t>
            </a:r>
            <a:r>
              <a:rPr lang="en-US" b="0" i="0" dirty="0">
                <a:solidFill>
                  <a:srgbClr val="212529"/>
                </a:solidFill>
                <a:effectLst/>
                <a:latin typeface="Courier New" panose="02070309020205020404" pitchFamily="49" charset="0"/>
              </a:rPr>
              <a:t> FROM sales )</a:t>
            </a: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missing_date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70813493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117C6-CD26-ACF5-22AC-A6E6316A49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DE6A5B-1317-00E5-95AE-B615E5AD7539}"/>
              </a:ext>
            </a:extLst>
          </p:cNvPr>
          <p:cNvSpPr txBox="1"/>
          <p:nvPr/>
        </p:nvSpPr>
        <p:spPr>
          <a:xfrm>
            <a:off x="640307" y="798687"/>
            <a:ext cx="8625385" cy="43729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106. Write a query using a Common Table Expression (CTE) to rank customers by total purchase amount and return the top 10 customers.</a:t>
            </a:r>
          </a:p>
          <a:p>
            <a:pPr algn="l">
              <a:spcBef>
                <a:spcPts val="1125"/>
              </a:spcBef>
              <a:spcAft>
                <a:spcPts val="375"/>
              </a:spcAft>
              <a:buNone/>
            </a:pPr>
            <a:r>
              <a:rPr lang="en-US" b="0" i="0" dirty="0">
                <a:solidFill>
                  <a:srgbClr val="212529"/>
                </a:solidFill>
                <a:effectLst/>
                <a:latin typeface="Courier New" panose="02070309020205020404" pitchFamily="49" charset="0"/>
              </a:rPr>
              <a:t>-- Rank customers by total purchase amount and return</a:t>
            </a:r>
          </a:p>
          <a:p>
            <a:pPr algn="l">
              <a:spcBef>
                <a:spcPts val="1125"/>
              </a:spcBef>
              <a:spcAft>
                <a:spcPts val="375"/>
              </a:spcAft>
              <a:buNone/>
            </a:pPr>
            <a:r>
              <a:rPr lang="en-US" b="0" i="0" dirty="0">
                <a:solidFill>
                  <a:srgbClr val="212529"/>
                </a:solidFill>
                <a:effectLst/>
                <a:latin typeface="Courier New" panose="02070309020205020404" pitchFamily="49" charset="0"/>
              </a:rPr>
              <a:t>top 10 WITH </a:t>
            </a:r>
            <a:r>
              <a:rPr lang="en-US" b="0" i="0" dirty="0" err="1">
                <a:solidFill>
                  <a:srgbClr val="212529"/>
                </a:solidFill>
                <a:effectLst/>
                <a:latin typeface="Courier New" panose="02070309020205020404" pitchFamily="49" charset="0"/>
              </a:rPr>
              <a:t>RankedCustomers</a:t>
            </a:r>
            <a:r>
              <a:rPr lang="en-US" b="0" i="0" dirty="0">
                <a:solidFill>
                  <a:srgbClr val="212529"/>
                </a:solidFill>
                <a:effectLst/>
                <a:latin typeface="Courier New" panose="02070309020205020404" pitchFamily="49" charset="0"/>
              </a:rPr>
              <a:t> AS (</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SUM(</a:t>
            </a:r>
            <a:r>
              <a:rPr lang="en-US" b="0" i="0" dirty="0" err="1">
                <a:solidFill>
                  <a:srgbClr val="212529"/>
                </a:solidFill>
                <a:effectLst/>
                <a:latin typeface="Courier New" panose="02070309020205020404" pitchFamily="49" charset="0"/>
              </a:rPr>
              <a:t>purchase_amount</a:t>
            </a:r>
            <a:r>
              <a:rPr lang="en-US" b="0" i="0" dirty="0">
                <a:solidFill>
                  <a:srgbClr val="212529"/>
                </a:solidFill>
                <a:effectLst/>
                <a:latin typeface="Courier New" panose="02070309020205020404" pitchFamily="49" charset="0"/>
              </a:rPr>
              <a:t>) AS </a:t>
            </a:r>
            <a:r>
              <a:rPr lang="en-US" b="0" i="0" dirty="0" err="1">
                <a:solidFill>
                  <a:srgbClr val="212529"/>
                </a:solidFill>
                <a:effectLst/>
                <a:latin typeface="Courier New" panose="02070309020205020404" pitchFamily="49" charset="0"/>
              </a:rPr>
              <a:t>total_spent</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Rank customers by spending (highest first) DENSE_RANK() OVER (</a:t>
            </a:r>
          </a:p>
          <a:p>
            <a:pPr algn="l">
              <a:spcBef>
                <a:spcPts val="1125"/>
              </a:spcBef>
              <a:spcAft>
                <a:spcPts val="375"/>
              </a:spcAft>
              <a:buNone/>
            </a:pPr>
            <a:r>
              <a:rPr lang="en-US" b="0" i="0" dirty="0">
                <a:solidFill>
                  <a:srgbClr val="212529"/>
                </a:solidFill>
                <a:effectLst/>
                <a:latin typeface="Courier New" panose="02070309020205020404" pitchFamily="49" charset="0"/>
              </a:rPr>
              <a:t>ORDER BY SUM(</a:t>
            </a:r>
            <a:r>
              <a:rPr lang="en-US" b="0" i="0" dirty="0" err="1">
                <a:solidFill>
                  <a:srgbClr val="212529"/>
                </a:solidFill>
                <a:effectLst/>
                <a:latin typeface="Courier New" panose="02070309020205020404" pitchFamily="49" charset="0"/>
              </a:rPr>
              <a:t>purchase_amount</a:t>
            </a:r>
            <a:r>
              <a:rPr lang="en-US" b="0" i="0" dirty="0">
                <a:solidFill>
                  <a:srgbClr val="212529"/>
                </a:solidFill>
                <a:effectLst/>
                <a:latin typeface="Courier New" panose="02070309020205020404" pitchFamily="49" charset="0"/>
              </a:rPr>
              <a:t>) DESC ) AS rank FROM orders</a:t>
            </a:r>
          </a:p>
          <a:p>
            <a:pPr algn="l">
              <a:spcBef>
                <a:spcPts val="1125"/>
              </a:spcBef>
              <a:spcAft>
                <a:spcPts val="375"/>
              </a:spcAft>
              <a:buNone/>
            </a:pPr>
            <a:r>
              <a:rPr lang="en-US" b="0" i="0" dirty="0">
                <a:solidFill>
                  <a:srgbClr val="212529"/>
                </a:solidFill>
                <a:effectLst/>
                <a:latin typeface="Courier New" panose="02070309020205020404" pitchFamily="49" charset="0"/>
              </a:rPr>
              <a:t>GROUP BY </a:t>
            </a: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 SELECT </a:t>
            </a: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total_spent</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a:t>
            </a:r>
            <a:r>
              <a:rPr lang="en-US" b="0" i="0" dirty="0" err="1">
                <a:solidFill>
                  <a:srgbClr val="212529"/>
                </a:solidFill>
                <a:effectLst/>
                <a:latin typeface="Courier New" panose="02070309020205020404" pitchFamily="49" charset="0"/>
              </a:rPr>
              <a:t>RankedCustomers</a:t>
            </a:r>
            <a:r>
              <a:rPr lang="en-US" b="0" i="0" dirty="0">
                <a:solidFill>
                  <a:srgbClr val="212529"/>
                </a:solidFill>
                <a:effectLst/>
                <a:latin typeface="Courier New" panose="02070309020205020404" pitchFamily="49" charset="0"/>
              </a:rPr>
              <a:t> WHERE rank &lt;= 10; </a:t>
            </a:r>
          </a:p>
        </p:txBody>
      </p:sp>
    </p:spTree>
    <p:extLst>
      <p:ext uri="{BB962C8B-B14F-4D97-AF65-F5344CB8AC3E}">
        <p14:creationId xmlns:p14="http://schemas.microsoft.com/office/powerpoint/2010/main" val="228978405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C26F-F199-C96B-B2DF-8AB0A0DC38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14DEB5-F7C8-A8D8-0C34-4ED82D71E2E5}"/>
              </a:ext>
            </a:extLst>
          </p:cNvPr>
          <p:cNvSpPr txBox="1"/>
          <p:nvPr/>
        </p:nvSpPr>
        <p:spPr>
          <a:xfrm>
            <a:off x="232010" y="240334"/>
            <a:ext cx="9198591" cy="116955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107. Can you identify the employee who has the third-highest salary from the given employee table (with salary-related data).</a:t>
            </a:r>
            <a:br>
              <a:rPr lang="en-US" b="0" i="0" dirty="0">
                <a:solidFill>
                  <a:srgbClr val="272C37"/>
                </a:solidFill>
                <a:effectLst/>
                <a:latin typeface="Roboto" panose="02000000000000000000" pitchFamily="2" charset="0"/>
              </a:rPr>
            </a:br>
            <a:r>
              <a:rPr lang="en-US" b="0" i="0" dirty="0">
                <a:solidFill>
                  <a:srgbClr val="3A3A3A"/>
                </a:solidFill>
                <a:effectLst/>
                <a:latin typeface="Roboto" panose="02000000000000000000" pitchFamily="2" charset="0"/>
              </a:rPr>
              <a:t>Consider the following employee table. In the table, </a:t>
            </a:r>
            <a:r>
              <a:rPr lang="en-US" b="0" i="0" dirty="0" err="1">
                <a:solidFill>
                  <a:srgbClr val="3A3A3A"/>
                </a:solidFill>
                <a:effectLst/>
                <a:latin typeface="Roboto" panose="02000000000000000000" pitchFamily="2" charset="0"/>
              </a:rPr>
              <a:t>Sabid</a:t>
            </a:r>
            <a:r>
              <a:rPr lang="en-US" b="0" i="0" dirty="0">
                <a:solidFill>
                  <a:srgbClr val="3A3A3A"/>
                </a:solidFill>
                <a:effectLst/>
                <a:latin typeface="Roboto" panose="02000000000000000000" pitchFamily="2" charset="0"/>
              </a:rPr>
              <a:t> has the third-highest salary (60,000).</a:t>
            </a:r>
          </a:p>
        </p:txBody>
      </p:sp>
      <p:graphicFrame>
        <p:nvGraphicFramePr>
          <p:cNvPr id="4" name="Table 3">
            <a:extLst>
              <a:ext uri="{FF2B5EF4-FFF2-40B4-BE49-F238E27FC236}">
                <a16:creationId xmlns:a16="http://schemas.microsoft.com/office/drawing/2014/main" id="{B7366E42-5ABB-58E6-C611-CA287E22CE95}"/>
              </a:ext>
            </a:extLst>
          </p:cNvPr>
          <p:cNvGraphicFramePr>
            <a:graphicFrameLocks noGrp="1"/>
          </p:cNvGraphicFramePr>
          <p:nvPr>
            <p:extLst>
              <p:ext uri="{D42A27DB-BD31-4B8C-83A1-F6EECF244321}">
                <p14:modId xmlns:p14="http://schemas.microsoft.com/office/powerpoint/2010/main" val="1544749813"/>
              </p:ext>
            </p:extLst>
          </p:nvPr>
        </p:nvGraphicFramePr>
        <p:xfrm>
          <a:off x="216090" y="1541166"/>
          <a:ext cx="8543924" cy="1828800"/>
        </p:xfrm>
        <a:graphic>
          <a:graphicData uri="http://schemas.openxmlformats.org/drawingml/2006/table">
            <a:tbl>
              <a:tblPr/>
              <a:tblGrid>
                <a:gridCol w="4271962">
                  <a:extLst>
                    <a:ext uri="{9D8B030D-6E8A-4147-A177-3AD203B41FA5}">
                      <a16:colId xmlns:a16="http://schemas.microsoft.com/office/drawing/2014/main" val="1478238156"/>
                    </a:ext>
                  </a:extLst>
                </a:gridCol>
                <a:gridCol w="4271962">
                  <a:extLst>
                    <a:ext uri="{9D8B030D-6E8A-4147-A177-3AD203B41FA5}">
                      <a16:colId xmlns:a16="http://schemas.microsoft.com/office/drawing/2014/main" val="3673358099"/>
                    </a:ext>
                  </a:extLst>
                </a:gridCol>
              </a:tblGrid>
              <a:tr h="365760">
                <a:tc>
                  <a:txBody>
                    <a:bodyPr/>
                    <a:lstStyle/>
                    <a:p>
                      <a:pPr algn="ctr" fontAlgn="t">
                        <a:buNone/>
                      </a:pPr>
                      <a:r>
                        <a:rPr lang="en-US" sz="1800" dirty="0">
                          <a:solidFill>
                            <a:srgbClr val="FFFFFF"/>
                          </a:solidFill>
                          <a:effectLst/>
                        </a:rPr>
                        <a:t>Name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a:solidFill>
                            <a:srgbClr val="FFFFFF"/>
                          </a:solidFill>
                          <a:effectLst/>
                        </a:rPr>
                        <a:t>Salary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559474576"/>
                  </a:ext>
                </a:extLst>
              </a:tr>
              <a:tr h="365760">
                <a:tc>
                  <a:txBody>
                    <a:bodyPr/>
                    <a:lstStyle/>
                    <a:p>
                      <a:pPr fontAlgn="t">
                        <a:buNone/>
                      </a:pPr>
                      <a:r>
                        <a:rPr lang="en-US" sz="1800">
                          <a:effectLst/>
                        </a:rPr>
                        <a:t>Tarun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70,000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108743004"/>
                  </a:ext>
                </a:extLst>
              </a:tr>
              <a:tr h="365760">
                <a:tc>
                  <a:txBody>
                    <a:bodyPr/>
                    <a:lstStyle/>
                    <a:p>
                      <a:pPr fontAlgn="t">
                        <a:buNone/>
                      </a:pPr>
                      <a:r>
                        <a:rPr lang="en-US" sz="1800">
                          <a:effectLst/>
                        </a:rPr>
                        <a:t>Sabid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60,000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9541239"/>
                  </a:ext>
                </a:extLst>
              </a:tr>
              <a:tr h="365760">
                <a:tc>
                  <a:txBody>
                    <a:bodyPr/>
                    <a:lstStyle/>
                    <a:p>
                      <a:pPr fontAlgn="t">
                        <a:buNone/>
                      </a:pPr>
                      <a:r>
                        <a:rPr lang="en-US" sz="1800">
                          <a:effectLst/>
                        </a:rPr>
                        <a:t>Adarsh</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a:effectLst/>
                        </a:rPr>
                        <a:t>30,000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92908922"/>
                  </a:ext>
                </a:extLst>
              </a:tr>
              <a:tr h="365760">
                <a:tc>
                  <a:txBody>
                    <a:bodyPr/>
                    <a:lstStyle/>
                    <a:p>
                      <a:pPr fontAlgn="t">
                        <a:buNone/>
                      </a:pPr>
                      <a:r>
                        <a:rPr lang="en-US" sz="1800">
                          <a:effectLst/>
                        </a:rPr>
                        <a:t>Vaibhav</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dirty="0">
                          <a:effectLst/>
                        </a:rPr>
                        <a:t>80,000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561510434"/>
                  </a:ext>
                </a:extLst>
              </a:tr>
            </a:tbl>
          </a:graphicData>
        </a:graphic>
      </p:graphicFrame>
      <p:sp>
        <p:nvSpPr>
          <p:cNvPr id="6" name="TextBox 5">
            <a:extLst>
              <a:ext uri="{FF2B5EF4-FFF2-40B4-BE49-F238E27FC236}">
                <a16:creationId xmlns:a16="http://schemas.microsoft.com/office/drawing/2014/main" id="{5B86C29A-5E77-16F7-581B-2B05F1FCBACB}"/>
              </a:ext>
            </a:extLst>
          </p:cNvPr>
          <p:cNvSpPr txBox="1"/>
          <p:nvPr/>
        </p:nvSpPr>
        <p:spPr>
          <a:xfrm>
            <a:off x="216090" y="3428862"/>
            <a:ext cx="9430601" cy="3264996"/>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Below is a simple query to find out which employee has the third-highest salary. The functions RANK, DENSE RANK, and ROW NUMBER are used to obtain the increasing integer value by imposing the ORDER BY clause in the SELECT statement, based on the ordering of the rows. The ORDER BY clause is necessary when the RANK, DENSE RANK, or ROW NUMBER functions are used. On the other hand, the PARTITION BY clause is optional.</a:t>
            </a:r>
          </a:p>
          <a:p>
            <a:pPr algn="l">
              <a:spcBef>
                <a:spcPts val="1125"/>
              </a:spcBef>
              <a:spcAft>
                <a:spcPts val="375"/>
              </a:spcAft>
              <a:buNone/>
            </a:pPr>
            <a:r>
              <a:rPr lang="en-US" b="0" i="0" dirty="0">
                <a:solidFill>
                  <a:srgbClr val="212529"/>
                </a:solidFill>
                <a:effectLst/>
                <a:latin typeface="Courier New" panose="02070309020205020404" pitchFamily="49" charset="0"/>
              </a:rPr>
              <a:t>WITH CTE AS ( SELECT Name, Salary, ROW_NUMBER()</a:t>
            </a:r>
          </a:p>
          <a:p>
            <a:pPr algn="l">
              <a:spcBef>
                <a:spcPts val="1125"/>
              </a:spcBef>
              <a:spcAft>
                <a:spcPts val="375"/>
              </a:spcAft>
              <a:buNone/>
            </a:pPr>
            <a:r>
              <a:rPr lang="en-US" b="0" i="0" dirty="0">
                <a:solidFill>
                  <a:srgbClr val="212529"/>
                </a:solidFill>
                <a:effectLst/>
                <a:latin typeface="Courier New" panose="02070309020205020404" pitchFamily="49" charset="0"/>
              </a:rPr>
              <a:t>OVER (ORDER BY Salary DESC) AS RN</a:t>
            </a:r>
          </a:p>
          <a:p>
            <a:pPr algn="l">
              <a:spcBef>
                <a:spcPts val="1125"/>
              </a:spcBef>
              <a:spcAft>
                <a:spcPts val="375"/>
              </a:spcAft>
              <a:buNone/>
            </a:pPr>
            <a:r>
              <a:rPr lang="en-US" b="0" i="0" dirty="0">
                <a:solidFill>
                  <a:srgbClr val="212529"/>
                </a:solidFill>
                <a:effectLst/>
                <a:latin typeface="Courier New" panose="02070309020205020404" pitchFamily="49" charset="0"/>
              </a:rPr>
              <a:t>FROM EMPLOYEE ) SELECT Name,</a:t>
            </a:r>
          </a:p>
          <a:p>
            <a:pPr algn="l">
              <a:spcBef>
                <a:spcPts val="1125"/>
              </a:spcBef>
              <a:spcAft>
                <a:spcPts val="375"/>
              </a:spcAft>
              <a:buNone/>
            </a:pPr>
            <a:r>
              <a:rPr lang="en-US" b="0" i="0" dirty="0">
                <a:solidFill>
                  <a:srgbClr val="212529"/>
                </a:solidFill>
                <a:effectLst/>
                <a:latin typeface="Courier New" panose="02070309020205020404" pitchFamily="49" charset="0"/>
              </a:rPr>
              <a:t>Salary FROM CTE WHERE RN = 3; </a:t>
            </a:r>
          </a:p>
        </p:txBody>
      </p:sp>
    </p:spTree>
    <p:extLst>
      <p:ext uri="{BB962C8B-B14F-4D97-AF65-F5344CB8AC3E}">
        <p14:creationId xmlns:p14="http://schemas.microsoft.com/office/powerpoint/2010/main" val="25752402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088B9-CBBF-6584-0A8B-6AE89D8181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3436A5-B617-F420-84ED-1DB2DDB629DB}"/>
              </a:ext>
            </a:extLst>
          </p:cNvPr>
          <p:cNvSpPr txBox="1"/>
          <p:nvPr/>
        </p:nvSpPr>
        <p:spPr>
          <a:xfrm>
            <a:off x="341193" y="257212"/>
            <a:ext cx="6817056" cy="464999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108. Get the customer name and product name ordered by first name from the customer</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first_name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b.Product_name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[customer] A LEFT OUTER JOIN [Product] B</a:t>
            </a:r>
          </a:p>
          <a:p>
            <a:pPr algn="l">
              <a:spcBef>
                <a:spcPts val="1125"/>
              </a:spcBef>
              <a:spcAft>
                <a:spcPts val="375"/>
              </a:spcAft>
              <a:buNone/>
            </a:pPr>
            <a:r>
              <a:rPr lang="en-US" b="0" i="0" dirty="0">
                <a:solidFill>
                  <a:srgbClr val="212529"/>
                </a:solidFill>
                <a:effectLst/>
                <a:latin typeface="Courier New" panose="02070309020205020404" pitchFamily="49" charset="0"/>
              </a:rPr>
              <a:t>-- Left join to include customers without orders ON A.</a:t>
            </a:r>
          </a:p>
          <a:p>
            <a:pPr algn="l">
              <a:spcBef>
                <a:spcPts val="1125"/>
              </a:spcBef>
              <a:spcAft>
                <a:spcPts val="375"/>
              </a:spcAft>
              <a:buNone/>
            </a:pP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B.customer_id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Join condition on </a:t>
            </a:r>
            <a:r>
              <a:rPr lang="en-US" b="0" i="0" dirty="0" err="1">
                <a:solidFill>
                  <a:srgbClr val="212529"/>
                </a:solidFill>
                <a:effectLst/>
                <a:latin typeface="Courier New" panose="02070309020205020404" pitchFamily="49" charset="0"/>
              </a:rPr>
              <a:t>customer_id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a.first_name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Order the result by customer's first name&lt;span style="font-weight: 400"&gt; &lt;/span&gt; </a:t>
            </a:r>
          </a:p>
        </p:txBody>
      </p:sp>
    </p:spTree>
    <p:extLst>
      <p:ext uri="{BB962C8B-B14F-4D97-AF65-F5344CB8AC3E}">
        <p14:creationId xmlns:p14="http://schemas.microsoft.com/office/powerpoint/2010/main" val="3279657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2028C-B6AD-BD38-2CE3-6F64134D5D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4AD6D8-E8A8-03DF-FC27-2B5F3D666C05}"/>
              </a:ext>
            </a:extLst>
          </p:cNvPr>
          <p:cNvSpPr txBox="1"/>
          <p:nvPr/>
        </p:nvSpPr>
        <p:spPr>
          <a:xfrm>
            <a:off x="539087" y="207311"/>
            <a:ext cx="4954136" cy="445763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109. Get the customer’s name and the product name ordered by first name</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a.First_Name</a:t>
            </a:r>
            <a:r>
              <a:rPr lang="en-US" b="0" i="0" dirty="0">
                <a:solidFill>
                  <a:srgbClr val="212529"/>
                </a:solidFill>
                <a:effectLst/>
                <a:latin typeface="Courier New" panose="02070309020205020404" pitchFamily="49" charset="0"/>
              </a:rPr>
              <a:t>, ISNULL(b.</a:t>
            </a:r>
          </a:p>
          <a:p>
            <a:pPr algn="l">
              <a:spcBef>
                <a:spcPts val="1125"/>
              </a:spcBef>
              <a:spcAft>
                <a:spcPts val="375"/>
              </a:spcAft>
              <a:buNone/>
            </a:pP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,'-No Project Assigned')</a:t>
            </a:r>
          </a:p>
          <a:p>
            <a:pPr algn="l">
              <a:spcBef>
                <a:spcPts val="1125"/>
              </a:spcBef>
              <a:spcAft>
                <a:spcPts val="375"/>
              </a:spcAft>
              <a:buNone/>
            </a:pPr>
            <a:r>
              <a:rPr lang="en-US" b="0" i="0" dirty="0">
                <a:solidFill>
                  <a:srgbClr val="212529"/>
                </a:solidFill>
                <a:effectLst/>
                <a:latin typeface="Courier New" panose="02070309020205020404" pitchFamily="49" charset="0"/>
              </a:rPr>
              <a:t>&lt;span style="font-weight: 400"&gt;AS </a:t>
            </a: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&lt;/span&gt;</a:t>
            </a:r>
          </a:p>
          <a:p>
            <a:pPr algn="l">
              <a:spcBef>
                <a:spcPts val="1125"/>
              </a:spcBef>
              <a:spcAft>
                <a:spcPts val="375"/>
              </a:spcAft>
              <a:buNone/>
            </a:pPr>
            <a:r>
              <a:rPr lang="en-US" b="0" i="0" dirty="0">
                <a:solidFill>
                  <a:srgbClr val="212529"/>
                </a:solidFill>
                <a:effectLst/>
                <a:latin typeface="Courier New" panose="02070309020205020404" pitchFamily="49" charset="0"/>
              </a:rPr>
              <a:t>FROM customer A LEFT OUTER JOIN product</a:t>
            </a:r>
          </a:p>
          <a:p>
            <a:pPr algn="l">
              <a:spcBef>
                <a:spcPts val="1125"/>
              </a:spcBef>
              <a:spcAft>
                <a:spcPts val="375"/>
              </a:spcAft>
              <a:buNone/>
            </a:pPr>
            <a:r>
              <a:rPr lang="en-US" b="0" i="0" dirty="0">
                <a:solidFill>
                  <a:srgbClr val="212529"/>
                </a:solidFill>
                <a:effectLst/>
                <a:latin typeface="Courier New" panose="02070309020205020404" pitchFamily="49" charset="0"/>
              </a:rPr>
              <a:t>B ON </a:t>
            </a:r>
            <a:r>
              <a:rPr lang="en-US" b="0" i="0" dirty="0" err="1">
                <a:solidFill>
                  <a:srgbClr val="212529"/>
                </a:solidFill>
                <a:effectLst/>
                <a:latin typeface="Courier New" panose="02070309020205020404" pitchFamily="49" charset="0"/>
              </a:rPr>
              <a:t>A.customer_id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B.customer_id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a.first_name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5614398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1FE3-9D16-93A0-DBB0-28A33DC1DF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483E92-C798-97A6-8101-9DF809CE07EB}"/>
              </a:ext>
            </a:extLst>
          </p:cNvPr>
          <p:cNvSpPr txBox="1"/>
          <p:nvPr/>
        </p:nvSpPr>
        <p:spPr>
          <a:xfrm>
            <a:off x="2477069" y="1580623"/>
            <a:ext cx="4954136" cy="370357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110. Get all product names, even if they have not matched any customer ID, in the left table, order by first name</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a.first_name,b</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 FROM [customer]</a:t>
            </a:r>
          </a:p>
          <a:p>
            <a:pPr algn="l">
              <a:spcBef>
                <a:spcPts val="1125"/>
              </a:spcBef>
              <a:spcAft>
                <a:spcPts val="375"/>
              </a:spcAft>
              <a:buNone/>
            </a:pPr>
            <a:r>
              <a:rPr lang="en-US" b="0" i="0" dirty="0">
                <a:solidFill>
                  <a:srgbClr val="212529"/>
                </a:solidFill>
                <a:effectLst/>
                <a:latin typeface="Courier New" panose="02070309020205020404" pitchFamily="49" charset="0"/>
              </a:rPr>
              <a:t>A RIGHT OUTER JOIN [product] B ON a.</a:t>
            </a:r>
          </a:p>
          <a:p>
            <a:pPr algn="l">
              <a:spcBef>
                <a:spcPts val="1125"/>
              </a:spcBef>
              <a:spcAft>
                <a:spcPts val="375"/>
              </a:spcAft>
              <a:buNone/>
            </a:pP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b.customer_id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a.first_name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2108836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2BAB6-108D-280F-0634-253B4A1E73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C9A1EB-61F7-EE01-AEFA-C12300EBA975}"/>
              </a:ext>
            </a:extLst>
          </p:cNvPr>
          <p:cNvSpPr txBox="1"/>
          <p:nvPr/>
        </p:nvSpPr>
        <p:spPr>
          <a:xfrm>
            <a:off x="2477069" y="1680651"/>
            <a:ext cx="4954136" cy="350352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111. Get the complete record (customer name, product name) from both tables ([</a:t>
            </a:r>
            <a:r>
              <a:rPr lang="en-US" b="0" i="0" dirty="0" err="1">
                <a:solidFill>
                  <a:srgbClr val="272C37"/>
                </a:solidFill>
                <a:effectLst/>
                <a:latin typeface="Roboto" panose="02000000000000000000" pitchFamily="2" charset="0"/>
              </a:rPr>
              <a:t>CustomerDetail</a:t>
            </a:r>
            <a:r>
              <a:rPr lang="en-US" b="0" i="0" dirty="0">
                <a:solidFill>
                  <a:srgbClr val="272C37"/>
                </a:solidFill>
                <a:effectLst/>
                <a:latin typeface="Roboto" panose="02000000000000000000" pitchFamily="2" charset="0"/>
              </a:rPr>
              <a:t>], [</a:t>
            </a:r>
            <a:r>
              <a:rPr lang="en-US" b="0" i="0" dirty="0" err="1">
                <a:solidFill>
                  <a:srgbClr val="272C37"/>
                </a:solidFill>
                <a:effectLst/>
                <a:latin typeface="Roboto" panose="02000000000000000000" pitchFamily="2" charset="0"/>
              </a:rPr>
              <a:t>ProductDetail</a:t>
            </a:r>
            <a:r>
              <a:rPr lang="en-US" b="0" i="0" dirty="0">
                <a:solidFill>
                  <a:srgbClr val="272C37"/>
                </a:solidFill>
                <a:effectLst/>
                <a:latin typeface="Roboto" panose="02000000000000000000" pitchFamily="2" charset="0"/>
              </a:rPr>
              <a:t>]); if no match is found in any table, then show NULL.</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a.first_name,b.Product_name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[customer] A FULL OUTER JOIN [product]</a:t>
            </a:r>
          </a:p>
          <a:p>
            <a:pPr algn="l">
              <a:spcBef>
                <a:spcPts val="1125"/>
              </a:spcBef>
              <a:spcAft>
                <a:spcPts val="375"/>
              </a:spcAft>
              <a:buNone/>
            </a:pPr>
            <a:r>
              <a:rPr lang="en-US" b="0" i="0" dirty="0">
                <a:solidFill>
                  <a:srgbClr val="212529"/>
                </a:solidFill>
                <a:effectLst/>
                <a:latin typeface="Courier New" panose="02070309020205020404" pitchFamily="49" charset="0"/>
              </a:rPr>
              <a:t>B ON </a:t>
            </a:r>
            <a:r>
              <a:rPr lang="en-US" b="0" i="0" dirty="0" err="1">
                <a:solidFill>
                  <a:srgbClr val="212529"/>
                </a:solidFill>
                <a:effectLst/>
                <a:latin typeface="Courier New" panose="02070309020205020404" pitchFamily="49" charset="0"/>
              </a:rPr>
              <a:t>a.customer_id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b.customer_id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ORDER BY </a:t>
            </a:r>
            <a:r>
              <a:rPr lang="en-US" b="0" i="0" dirty="0" err="1">
                <a:solidFill>
                  <a:srgbClr val="212529"/>
                </a:solidFill>
                <a:effectLst/>
                <a:latin typeface="Courier New" panose="02070309020205020404" pitchFamily="49" charset="0"/>
              </a:rPr>
              <a:t>a.first_name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35327646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9014-9740-5A3A-6AB7-577FC9307E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B65F27-8C04-688D-52F2-B7140E216943}"/>
              </a:ext>
            </a:extLst>
          </p:cNvPr>
          <p:cNvSpPr txBox="1"/>
          <p:nvPr/>
        </p:nvSpPr>
        <p:spPr>
          <a:xfrm>
            <a:off x="2477069" y="1676803"/>
            <a:ext cx="4954136" cy="351121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112. Write a query to find out the product name that is not assigned to any employee( tables: [</a:t>
            </a:r>
            <a:r>
              <a:rPr lang="en-US" b="0" i="0" dirty="0" err="1">
                <a:solidFill>
                  <a:srgbClr val="272C37"/>
                </a:solidFill>
                <a:effectLst/>
                <a:latin typeface="Roboto" panose="02000000000000000000" pitchFamily="2" charset="0"/>
              </a:rPr>
              <a:t>CustomerDetail</a:t>
            </a:r>
            <a:r>
              <a:rPr lang="en-US" b="0" i="0" dirty="0">
                <a:solidFill>
                  <a:srgbClr val="272C37"/>
                </a:solidFill>
                <a:effectLst/>
                <a:latin typeface="Roboto" panose="02000000000000000000" pitchFamily="2" charset="0"/>
              </a:rPr>
              <a:t>],[</a:t>
            </a:r>
            <a:r>
              <a:rPr lang="en-US" b="0" i="0" dirty="0" err="1">
                <a:solidFill>
                  <a:srgbClr val="272C37"/>
                </a:solidFill>
                <a:effectLst/>
                <a:latin typeface="Roboto" panose="02000000000000000000" pitchFamily="2" charset="0"/>
              </a:rPr>
              <a:t>ProductDetail</a:t>
            </a:r>
            <a:r>
              <a:rPr lang="en-US" b="0" i="0" dirty="0">
                <a:solidFill>
                  <a:srgbClr val="272C37"/>
                </a:solidFill>
                <a:effectLst/>
                <a:latin typeface="Roboto" panose="02000000000000000000" pitchFamily="2"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b.Product_name</a:t>
            </a:r>
            <a:r>
              <a:rPr lang="en-US" b="0" i="0" dirty="0">
                <a:solidFill>
                  <a:srgbClr val="212529"/>
                </a:solidFill>
                <a:effectLst/>
                <a:latin typeface="Courier New" panose="02070309020205020404" pitchFamily="49" charset="0"/>
              </a:rPr>
              <a:t> FROM [customer]</a:t>
            </a:r>
          </a:p>
          <a:p>
            <a:pPr algn="l">
              <a:spcBef>
                <a:spcPts val="1125"/>
              </a:spcBef>
              <a:spcAft>
                <a:spcPts val="375"/>
              </a:spcAft>
              <a:buNone/>
            </a:pPr>
            <a:r>
              <a:rPr lang="en-US" b="0" i="0" dirty="0">
                <a:solidFill>
                  <a:srgbClr val="212529"/>
                </a:solidFill>
                <a:effectLst/>
                <a:latin typeface="Courier New" panose="02070309020205020404" pitchFamily="49" charset="0"/>
              </a:rPr>
              <a:t>A RIGHT OUTER JOIN [product] B ON a.</a:t>
            </a:r>
          </a:p>
          <a:p>
            <a:pPr algn="l">
              <a:spcBef>
                <a:spcPts val="1125"/>
              </a:spcBef>
              <a:spcAft>
                <a:spcPts val="375"/>
              </a:spcAft>
              <a:buNone/>
            </a:pP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b.customer_id</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WHERE </a:t>
            </a:r>
            <a:r>
              <a:rPr lang="en-US" b="0" i="0" dirty="0" err="1">
                <a:solidFill>
                  <a:srgbClr val="212529"/>
                </a:solidFill>
                <a:effectLst/>
                <a:latin typeface="Courier New" panose="02070309020205020404" pitchFamily="49" charset="0"/>
              </a:rPr>
              <a:t>a.first_name</a:t>
            </a:r>
            <a:r>
              <a:rPr lang="en-US" b="0" i="0" dirty="0">
                <a:solidFill>
                  <a:srgbClr val="212529"/>
                </a:solidFill>
                <a:effectLst/>
                <a:latin typeface="Courier New" panose="02070309020205020404" pitchFamily="49" charset="0"/>
              </a:rPr>
              <a:t> IS NULL </a:t>
            </a:r>
          </a:p>
        </p:txBody>
      </p:sp>
    </p:spTree>
    <p:extLst>
      <p:ext uri="{BB962C8B-B14F-4D97-AF65-F5344CB8AC3E}">
        <p14:creationId xmlns:p14="http://schemas.microsoft.com/office/powerpoint/2010/main" val="184532143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6E0E0-BA5A-013A-AC01-92D0AD5EAC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9B929-947C-653A-6C9A-9CFD1322EF61}"/>
              </a:ext>
            </a:extLst>
          </p:cNvPr>
          <p:cNvSpPr txBox="1"/>
          <p:nvPr/>
        </p:nvSpPr>
        <p:spPr>
          <a:xfrm>
            <a:off x="2477069" y="1030473"/>
            <a:ext cx="4954136" cy="48038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113. Write down the query to fetch the ProductName on which more than one customer is working, along with the </a:t>
            </a:r>
            <a:r>
              <a:rPr lang="en-US" b="0" i="0" dirty="0" err="1">
                <a:solidFill>
                  <a:srgbClr val="272C37"/>
                </a:solidFill>
                <a:effectLst/>
                <a:latin typeface="Roboto" panose="02000000000000000000" pitchFamily="2" charset="0"/>
              </a:rPr>
              <a:t>CustomerName</a:t>
            </a:r>
            <a:r>
              <a:rPr lang="en-US" b="0" i="0" dirty="0">
                <a:solidFill>
                  <a:srgbClr val="272C37"/>
                </a:solidFill>
                <a:effectLst/>
                <a:latin typeface="Roboto" panose="02000000000000000000" pitchFamily="2"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P.Product_name</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c.first_name</a:t>
            </a:r>
            <a:r>
              <a:rPr lang="en-US" b="0" i="0" dirty="0">
                <a:solidFill>
                  <a:srgbClr val="212529"/>
                </a:solidFill>
                <a:effectLst/>
                <a:latin typeface="Courier New" panose="02070309020205020404" pitchFamily="49" charset="0"/>
              </a:rPr>
              <a:t> from product P</a:t>
            </a:r>
          </a:p>
          <a:p>
            <a:pPr algn="l">
              <a:spcBef>
                <a:spcPts val="1125"/>
              </a:spcBef>
              <a:spcAft>
                <a:spcPts val="375"/>
              </a:spcAft>
              <a:buNone/>
            </a:pPr>
            <a:r>
              <a:rPr lang="en-US" b="0" i="0" dirty="0">
                <a:solidFill>
                  <a:srgbClr val="212529"/>
                </a:solidFill>
                <a:effectLst/>
                <a:latin typeface="Courier New" panose="02070309020205020404" pitchFamily="49" charset="0"/>
              </a:rPr>
              <a:t>INNER JOIN customer c on </a:t>
            </a:r>
            <a:r>
              <a:rPr lang="en-US" b="0" i="0" dirty="0" err="1">
                <a:solidFill>
                  <a:srgbClr val="212529"/>
                </a:solidFill>
                <a:effectLst/>
                <a:latin typeface="Courier New" panose="02070309020205020404" pitchFamily="49" charset="0"/>
              </a:rPr>
              <a:t>p.customer_id</a:t>
            </a:r>
            <a:r>
              <a:rPr lang="en-US" b="0" i="0" dirty="0">
                <a:solidFill>
                  <a:srgbClr val="212529"/>
                </a:solidFill>
                <a:effectLst/>
                <a:latin typeface="Courier New" panose="02070309020205020404" pitchFamily="49" charset="0"/>
              </a:rPr>
              <a:t> = c.</a:t>
            </a:r>
          </a:p>
          <a:p>
            <a:pPr algn="l">
              <a:spcBef>
                <a:spcPts val="1125"/>
              </a:spcBef>
              <a:spcAft>
                <a:spcPts val="375"/>
              </a:spcAft>
              <a:buNone/>
            </a:pP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P.Product_name</a:t>
            </a:r>
            <a:r>
              <a:rPr lang="en-US" b="0" i="0" dirty="0">
                <a:solidFill>
                  <a:srgbClr val="212529"/>
                </a:solidFill>
                <a:effectLst/>
                <a:latin typeface="Courier New" panose="02070309020205020404" pitchFamily="49" charset="0"/>
              </a:rPr>
              <a:t> in</a:t>
            </a:r>
          </a:p>
          <a:p>
            <a:pPr algn="l">
              <a:spcBef>
                <a:spcPts val="1125"/>
              </a:spcBef>
              <a:spcAft>
                <a:spcPts val="375"/>
              </a:spcAft>
              <a:buNone/>
            </a:pPr>
            <a:r>
              <a:rPr lang="en-US" b="0" i="0" dirty="0">
                <a:solidFill>
                  <a:srgbClr val="212529"/>
                </a:solidFill>
                <a:effectLst/>
                <a:latin typeface="Courier New" panose="02070309020205020404" pitchFamily="49" charset="0"/>
              </a:rPr>
              <a:t>(select </a:t>
            </a: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 from product</a:t>
            </a:r>
          </a:p>
          <a:p>
            <a:pPr algn="l">
              <a:spcBef>
                <a:spcPts val="1125"/>
              </a:spcBef>
              <a:spcAft>
                <a:spcPts val="375"/>
              </a:spcAft>
              <a:buNone/>
            </a:pPr>
            <a:r>
              <a:rPr lang="en-US" b="0" i="0" dirty="0">
                <a:solidFill>
                  <a:srgbClr val="212529"/>
                </a:solidFill>
                <a:effectLst/>
                <a:latin typeface="Courier New" panose="02070309020205020404" pitchFamily="49" charset="0"/>
              </a:rPr>
              <a:t>group by </a:t>
            </a:r>
            <a:r>
              <a:rPr lang="en-US" b="0" i="0" dirty="0" err="1">
                <a:solidFill>
                  <a:srgbClr val="212529"/>
                </a:solidFill>
                <a:effectLst/>
                <a:latin typeface="Courier New" panose="02070309020205020404" pitchFamily="49" charset="0"/>
              </a:rPr>
              <a:t>Product_name</a:t>
            </a:r>
            <a:r>
              <a:rPr lang="en-US" b="0" i="0" dirty="0">
                <a:solidFill>
                  <a:srgbClr val="212529"/>
                </a:solidFill>
                <a:effectLst/>
                <a:latin typeface="Courier New" panose="02070309020205020404" pitchFamily="49" charset="0"/>
              </a:rPr>
              <a:t> having COUNT(1)&gt;1)  </a:t>
            </a:r>
          </a:p>
        </p:txBody>
      </p:sp>
      <p:sp>
        <p:nvSpPr>
          <p:cNvPr id="5" name="TextBox 4">
            <a:extLst>
              <a:ext uri="{FF2B5EF4-FFF2-40B4-BE49-F238E27FC236}">
                <a16:creationId xmlns:a16="http://schemas.microsoft.com/office/drawing/2014/main" id="{D8AA55C4-5EA7-117F-5CC7-EB4827096CD0}"/>
              </a:ext>
            </a:extLst>
          </p:cNvPr>
          <p:cNvSpPr txBox="1"/>
          <p:nvPr/>
        </p:nvSpPr>
        <p:spPr>
          <a:xfrm>
            <a:off x="948520" y="5934334"/>
            <a:ext cx="4954136" cy="646331"/>
          </a:xfrm>
          <a:prstGeom prst="rect">
            <a:avLst/>
          </a:prstGeom>
          <a:noFill/>
        </p:spPr>
        <p:txBody>
          <a:bodyPr wrap="square">
            <a:spAutoFit/>
          </a:bodyPr>
          <a:lstStyle/>
          <a:p>
            <a:r>
              <a:rPr lang="en-US" b="0" i="0" dirty="0">
                <a:solidFill>
                  <a:srgbClr val="3A3A3A"/>
                </a:solidFill>
                <a:effectLst/>
                <a:latin typeface="Roboto" panose="02000000000000000000" pitchFamily="2" charset="0"/>
              </a:rPr>
              <a:t>*The output will not come as there is no duplicate record in the product table.</a:t>
            </a:r>
            <a:endParaRPr lang="en-US" dirty="0"/>
          </a:p>
        </p:txBody>
      </p:sp>
    </p:spTree>
    <p:extLst>
      <p:ext uri="{BB962C8B-B14F-4D97-AF65-F5344CB8AC3E}">
        <p14:creationId xmlns:p14="http://schemas.microsoft.com/office/powerpoint/2010/main" val="16142429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728E-D178-3CB9-1787-615850EBB5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2E5604-7DC1-FCE3-03BA-3CE0E6160A2B}"/>
              </a:ext>
            </a:extLst>
          </p:cNvPr>
          <p:cNvSpPr txBox="1"/>
          <p:nvPr/>
        </p:nvSpPr>
        <p:spPr>
          <a:xfrm>
            <a:off x="2477069" y="913774"/>
            <a:ext cx="4954136" cy="503727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114. Write a query to find the Nth highest salary from a table</a:t>
            </a:r>
          </a:p>
          <a:p>
            <a:pPr algn="just">
              <a:lnSpc>
                <a:spcPts val="2100"/>
              </a:lnSpc>
              <a:spcBef>
                <a:spcPts val="1650"/>
              </a:spcBef>
              <a:buNone/>
            </a:pPr>
            <a:r>
              <a:rPr lang="en-US" b="0" i="0" dirty="0">
                <a:solidFill>
                  <a:srgbClr val="3A3A3A"/>
                </a:solidFill>
                <a:effectLst/>
                <a:latin typeface="Roboto" panose="02000000000000000000" pitchFamily="2" charset="0"/>
              </a:rPr>
              <a:t>To find the Nth highest salary, the DENSE_RANK() window function is commonly used because it handles duplicate salaries correctly.</a:t>
            </a:r>
          </a:p>
          <a:p>
            <a:pPr algn="l">
              <a:spcBef>
                <a:spcPts val="1125"/>
              </a:spcBef>
              <a:spcAft>
                <a:spcPts val="375"/>
              </a:spcAft>
              <a:buNone/>
            </a:pPr>
            <a:r>
              <a:rPr lang="en-US" b="0" i="0" dirty="0">
                <a:solidFill>
                  <a:srgbClr val="212529"/>
                </a:solidFill>
                <a:effectLst/>
                <a:latin typeface="Courier New" panose="02070309020205020404" pitchFamily="49" charset="0"/>
              </a:rPr>
              <a:t>SELECT salary FROM ( SELECT salary, DENSE_RANK() OVER (</a:t>
            </a:r>
          </a:p>
          <a:p>
            <a:pPr algn="l">
              <a:spcBef>
                <a:spcPts val="1125"/>
              </a:spcBef>
              <a:spcAft>
                <a:spcPts val="375"/>
              </a:spcAft>
              <a:buNone/>
            </a:pPr>
            <a:r>
              <a:rPr lang="en-US" b="0" i="0" dirty="0">
                <a:solidFill>
                  <a:srgbClr val="212529"/>
                </a:solidFill>
                <a:effectLst/>
                <a:latin typeface="Courier New" panose="02070309020205020404" pitchFamily="49" charset="0"/>
              </a:rPr>
              <a:t>ORDER BY salary DESC) AS </a:t>
            </a:r>
            <a:r>
              <a:rPr lang="en-US" b="0" i="0" dirty="0" err="1">
                <a:solidFill>
                  <a:srgbClr val="212529"/>
                </a:solidFill>
                <a:effectLst/>
                <a:latin typeface="Courier New" panose="02070309020205020404" pitchFamily="49" charset="0"/>
              </a:rPr>
              <a:t>rank_num</a:t>
            </a:r>
            <a:r>
              <a:rPr lang="en-US" b="0" i="0" dirty="0">
                <a:solidFill>
                  <a:srgbClr val="212529"/>
                </a:solidFill>
                <a:effectLst/>
                <a:latin typeface="Courier New" panose="02070309020205020404" pitchFamily="49" charset="0"/>
              </a:rPr>
              <a:t> FROM employees )</a:t>
            </a:r>
          </a:p>
          <a:p>
            <a:pPr algn="l">
              <a:spcBef>
                <a:spcPts val="1125"/>
              </a:spcBef>
              <a:spcAft>
                <a:spcPts val="375"/>
              </a:spcAft>
              <a:buNone/>
            </a:pPr>
            <a:r>
              <a:rPr lang="en-US" b="0" i="0" dirty="0" err="1">
                <a:solidFill>
                  <a:srgbClr val="212529"/>
                </a:solidFill>
                <a:effectLst/>
                <a:latin typeface="Courier New" panose="02070309020205020404" pitchFamily="49" charset="0"/>
              </a:rPr>
              <a:t>ranked_salaries</a:t>
            </a:r>
            <a:r>
              <a:rPr lang="en-US" b="0" i="0" dirty="0">
                <a:solidFill>
                  <a:srgbClr val="212529"/>
                </a:solidFill>
                <a:effectLst/>
                <a:latin typeface="Courier New" panose="02070309020205020404" pitchFamily="49" charset="0"/>
              </a:rPr>
              <a:t> WHERE </a:t>
            </a:r>
            <a:r>
              <a:rPr lang="en-US" b="0" i="0" dirty="0" err="1">
                <a:solidFill>
                  <a:srgbClr val="212529"/>
                </a:solidFill>
                <a:effectLst/>
                <a:latin typeface="Courier New" panose="02070309020205020404" pitchFamily="49" charset="0"/>
              </a:rPr>
              <a:t>rank_num</a:t>
            </a:r>
            <a:r>
              <a:rPr lang="en-US" b="0" i="0" dirty="0">
                <a:solidFill>
                  <a:srgbClr val="212529"/>
                </a:solidFill>
                <a:effectLst/>
                <a:latin typeface="Courier New" panose="02070309020205020404" pitchFamily="49" charset="0"/>
              </a:rPr>
              <a:t> = N;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Replace N with the required position (for example, 2 for second highest salary).</a:t>
            </a:r>
          </a:p>
        </p:txBody>
      </p:sp>
    </p:spTree>
    <p:extLst>
      <p:ext uri="{BB962C8B-B14F-4D97-AF65-F5344CB8AC3E}">
        <p14:creationId xmlns:p14="http://schemas.microsoft.com/office/powerpoint/2010/main" val="389323788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83A8-85F8-55B6-3D2A-8E0AB7876B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B224A8-9772-FD2F-F10C-F255324AAE33}"/>
              </a:ext>
            </a:extLst>
          </p:cNvPr>
          <p:cNvSpPr txBox="1"/>
          <p:nvPr/>
        </p:nvSpPr>
        <p:spPr>
          <a:xfrm>
            <a:off x="2477069" y="1190773"/>
            <a:ext cx="4954136" cy="44832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115. Write a query to find and remove duplicate rows from a table</a:t>
            </a:r>
          </a:p>
          <a:p>
            <a:pPr algn="just">
              <a:lnSpc>
                <a:spcPts val="2100"/>
              </a:lnSpc>
              <a:spcBef>
                <a:spcPts val="1650"/>
              </a:spcBef>
              <a:buNone/>
            </a:pPr>
            <a:r>
              <a:rPr lang="en-US" b="0" i="0" dirty="0">
                <a:solidFill>
                  <a:srgbClr val="3A3A3A"/>
                </a:solidFill>
                <a:effectLst/>
                <a:latin typeface="Roboto" panose="02000000000000000000" pitchFamily="2" charset="0"/>
              </a:rPr>
              <a:t>Duplicate rows can be identified using ROW_NUMBER() and removed by keeping only the first occurrence.</a:t>
            </a:r>
          </a:p>
          <a:p>
            <a:pPr algn="l">
              <a:spcBef>
                <a:spcPts val="1125"/>
              </a:spcBef>
              <a:spcAft>
                <a:spcPts val="375"/>
              </a:spcAft>
              <a:buNone/>
            </a:pPr>
            <a:r>
              <a:rPr lang="en-US" b="0" i="0" dirty="0">
                <a:solidFill>
                  <a:srgbClr val="212529"/>
                </a:solidFill>
                <a:effectLst/>
                <a:latin typeface="Courier New" panose="02070309020205020404" pitchFamily="49" charset="0"/>
              </a:rPr>
              <a:t>DELETE FROM employees WHERE id NOT IN</a:t>
            </a:r>
          </a:p>
          <a:p>
            <a:pPr algn="l">
              <a:spcBef>
                <a:spcPts val="1125"/>
              </a:spcBef>
              <a:spcAft>
                <a:spcPts val="375"/>
              </a:spcAft>
              <a:buNone/>
            </a:pPr>
            <a:r>
              <a:rPr lang="en-US" b="0" i="0" dirty="0">
                <a:solidFill>
                  <a:srgbClr val="212529"/>
                </a:solidFill>
                <a:effectLst/>
                <a:latin typeface="Courier New" panose="02070309020205020404" pitchFamily="49" charset="0"/>
              </a:rPr>
              <a:t>( SELECT MIN(id) FROM employees</a:t>
            </a:r>
          </a:p>
          <a:p>
            <a:pPr algn="l">
              <a:spcBef>
                <a:spcPts val="1125"/>
              </a:spcBef>
              <a:spcAft>
                <a:spcPts val="375"/>
              </a:spcAft>
              <a:buNone/>
            </a:pPr>
            <a:r>
              <a:rPr lang="en-US" b="0" i="0" dirty="0">
                <a:solidFill>
                  <a:srgbClr val="212529"/>
                </a:solidFill>
                <a:effectLst/>
                <a:latin typeface="Courier New" panose="02070309020205020404" pitchFamily="49" charset="0"/>
              </a:rPr>
              <a:t>GROUP BY name, salary );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This query keeps one unique record and removes all duplicates based on the selected columns.</a:t>
            </a:r>
          </a:p>
        </p:txBody>
      </p:sp>
    </p:spTree>
    <p:extLst>
      <p:ext uri="{BB962C8B-B14F-4D97-AF65-F5344CB8AC3E}">
        <p14:creationId xmlns:p14="http://schemas.microsoft.com/office/powerpoint/2010/main" val="20970869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75E78-C9C0-7F2C-0691-FBF122846E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B0BDD9-830B-DD1C-EEF4-9AE1EDE4F1A6}"/>
              </a:ext>
            </a:extLst>
          </p:cNvPr>
          <p:cNvSpPr txBox="1"/>
          <p:nvPr/>
        </p:nvSpPr>
        <p:spPr>
          <a:xfrm>
            <a:off x="2477069" y="1698604"/>
            <a:ext cx="4954136" cy="346761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116. How do you pattern match for names starting with “A” and ending with “n”?</a:t>
            </a:r>
          </a:p>
          <a:p>
            <a:pPr algn="just">
              <a:lnSpc>
                <a:spcPts val="2100"/>
              </a:lnSpc>
              <a:spcBef>
                <a:spcPts val="1650"/>
              </a:spcBef>
              <a:buNone/>
            </a:pPr>
            <a:r>
              <a:rPr lang="en-US" b="0" i="0" dirty="0">
                <a:solidFill>
                  <a:srgbClr val="3A3A3A"/>
                </a:solidFill>
                <a:effectLst/>
                <a:latin typeface="Roboto" panose="02000000000000000000" pitchFamily="2" charset="0"/>
              </a:rPr>
              <a:t>The LIKE operator is used for pattern matching. The pattern </a:t>
            </a:r>
            <a:r>
              <a:rPr lang="en-US" b="0" i="0" dirty="0">
                <a:solidFill>
                  <a:srgbClr val="3A3A3A"/>
                </a:solidFill>
                <a:effectLst/>
                <a:latin typeface="Courier New" panose="02070309020205020404" pitchFamily="49" charset="0"/>
              </a:rPr>
              <a:t>'</a:t>
            </a:r>
            <a:r>
              <a:rPr lang="en-US" b="0" i="0" dirty="0" err="1">
                <a:solidFill>
                  <a:srgbClr val="3A3A3A"/>
                </a:solidFill>
                <a:effectLst/>
                <a:latin typeface="Courier New" panose="02070309020205020404" pitchFamily="49" charset="0"/>
              </a:rPr>
              <a:t>A%n</a:t>
            </a:r>
            <a:r>
              <a:rPr lang="en-US" b="0" i="0" dirty="0">
                <a:solidFill>
                  <a:srgbClr val="3A3A3A"/>
                </a:solidFill>
                <a:effectLst/>
                <a:latin typeface="Courier New" panose="02070309020205020404" pitchFamily="49" charset="0"/>
              </a:rPr>
              <a:t>'</a:t>
            </a:r>
            <a:r>
              <a:rPr lang="en-US" b="0" i="0" dirty="0">
                <a:solidFill>
                  <a:srgbClr val="3A3A3A"/>
                </a:solidFill>
                <a:effectLst/>
                <a:latin typeface="Roboto" panose="02000000000000000000" pitchFamily="2" charset="0"/>
              </a:rPr>
              <a:t> matches names that start with A and end with n.</a:t>
            </a:r>
          </a:p>
          <a:p>
            <a:pPr algn="l">
              <a:spcBef>
                <a:spcPts val="1125"/>
              </a:spcBef>
              <a:spcAft>
                <a:spcPts val="375"/>
              </a:spcAft>
              <a:buNone/>
            </a:pPr>
            <a:r>
              <a:rPr lang="en-US" b="0" i="0" dirty="0">
                <a:solidFill>
                  <a:srgbClr val="212529"/>
                </a:solidFill>
                <a:effectLst/>
                <a:latin typeface="Courier New" panose="02070309020205020404" pitchFamily="49" charset="0"/>
              </a:rPr>
              <a:t>SELECT * FROM employees</a:t>
            </a:r>
          </a:p>
          <a:p>
            <a:pPr algn="l">
              <a:spcBef>
                <a:spcPts val="1125"/>
              </a:spcBef>
              <a:spcAft>
                <a:spcPts val="375"/>
              </a:spcAft>
              <a:buNone/>
            </a:pPr>
            <a:r>
              <a:rPr lang="en-US" b="0" i="0" dirty="0">
                <a:solidFill>
                  <a:srgbClr val="212529"/>
                </a:solidFill>
                <a:effectLst/>
                <a:latin typeface="Courier New" panose="02070309020205020404" pitchFamily="49" charset="0"/>
              </a:rPr>
              <a:t>WHERE name LIKE '</a:t>
            </a:r>
            <a:r>
              <a:rPr lang="en-US" b="0" i="0" dirty="0" err="1">
                <a:solidFill>
                  <a:srgbClr val="212529"/>
                </a:solidFill>
                <a:effectLst/>
                <a:latin typeface="Courier New" panose="02070309020205020404" pitchFamily="49" charset="0"/>
              </a:rPr>
              <a:t>A%n</a:t>
            </a:r>
            <a:r>
              <a:rPr lang="en-US" b="0" i="0" dirty="0">
                <a:solidFill>
                  <a:srgbClr val="212529"/>
                </a:solidFill>
                <a:effectLst/>
                <a:latin typeface="Courier New" panose="02070309020205020404" pitchFamily="49" charset="0"/>
              </a:rPr>
              <a:t>';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Here, </a:t>
            </a:r>
            <a:r>
              <a:rPr lang="en-US" b="0" i="0" dirty="0">
                <a:solidFill>
                  <a:srgbClr val="3A3A3A"/>
                </a:solidFill>
                <a:effectLst/>
                <a:latin typeface="Courier New" panose="02070309020205020404" pitchFamily="49" charset="0"/>
              </a:rPr>
              <a:t>%</a:t>
            </a:r>
            <a:r>
              <a:rPr lang="en-US" b="0" i="0" dirty="0">
                <a:solidFill>
                  <a:srgbClr val="3A3A3A"/>
                </a:solidFill>
                <a:effectLst/>
                <a:latin typeface="Roboto" panose="02000000000000000000" pitchFamily="2" charset="0"/>
              </a:rPr>
              <a:t> represents zero or more characters between A and n.</a:t>
            </a:r>
          </a:p>
        </p:txBody>
      </p:sp>
    </p:spTree>
    <p:extLst>
      <p:ext uri="{BB962C8B-B14F-4D97-AF65-F5344CB8AC3E}">
        <p14:creationId xmlns:p14="http://schemas.microsoft.com/office/powerpoint/2010/main" val="358086625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29DC1-98C0-F399-4DE8-7641460CD8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70E142-CB4F-F111-4A96-DD7C8C922547}"/>
              </a:ext>
            </a:extLst>
          </p:cNvPr>
          <p:cNvSpPr txBox="1"/>
          <p:nvPr/>
        </p:nvSpPr>
        <p:spPr>
          <a:xfrm>
            <a:off x="2477069" y="1345944"/>
            <a:ext cx="4954136" cy="41729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117. Write a query to show the current date and time</a:t>
            </a:r>
          </a:p>
          <a:p>
            <a:pPr algn="just">
              <a:lnSpc>
                <a:spcPts val="2100"/>
              </a:lnSpc>
              <a:spcBef>
                <a:spcPts val="1650"/>
              </a:spcBef>
              <a:buNone/>
            </a:pPr>
            <a:r>
              <a:rPr lang="en-US" b="0" i="0" dirty="0">
                <a:solidFill>
                  <a:srgbClr val="3A3A3A"/>
                </a:solidFill>
                <a:effectLst/>
                <a:latin typeface="Roboto" panose="02000000000000000000" pitchFamily="2" charset="0"/>
              </a:rPr>
              <a:t>Different databases use different functions to return the current date and time.</a:t>
            </a:r>
          </a:p>
          <a:p>
            <a:pPr algn="just">
              <a:lnSpc>
                <a:spcPts val="2100"/>
              </a:lnSpc>
              <a:spcBef>
                <a:spcPts val="750"/>
              </a:spcBef>
              <a:buNone/>
            </a:pPr>
            <a:r>
              <a:rPr lang="en-US" b="0" i="0" dirty="0">
                <a:solidFill>
                  <a:srgbClr val="3A3A3A"/>
                </a:solidFill>
                <a:effectLst/>
                <a:latin typeface="Roboto" panose="02000000000000000000" pitchFamily="2" charset="0"/>
              </a:rPr>
              <a:t>SQL Server:</a:t>
            </a:r>
          </a:p>
          <a:p>
            <a:pPr algn="l">
              <a:spcBef>
                <a:spcPts val="1125"/>
              </a:spcBef>
              <a:spcAft>
                <a:spcPts val="375"/>
              </a:spcAft>
              <a:buNone/>
            </a:pPr>
            <a:r>
              <a:rPr lang="en-US" b="0" i="0" dirty="0">
                <a:solidFill>
                  <a:srgbClr val="212529"/>
                </a:solidFill>
                <a:effectLst/>
                <a:latin typeface="Courier New" panose="02070309020205020404" pitchFamily="49" charset="0"/>
              </a:rPr>
              <a:t>SELECT GETDATE();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MySQL:</a:t>
            </a:r>
          </a:p>
          <a:p>
            <a:pPr algn="l">
              <a:spcBef>
                <a:spcPts val="1125"/>
              </a:spcBef>
              <a:spcAft>
                <a:spcPts val="375"/>
              </a:spcAft>
              <a:buNone/>
            </a:pPr>
            <a:r>
              <a:rPr lang="en-US" b="0" i="0" dirty="0">
                <a:solidFill>
                  <a:srgbClr val="212529"/>
                </a:solidFill>
                <a:effectLst/>
                <a:latin typeface="Courier New" panose="02070309020205020404" pitchFamily="49" charset="0"/>
              </a:rPr>
              <a:t>SELECT NOW();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1650"/>
              </a:spcBef>
              <a:buNone/>
            </a:pPr>
            <a:r>
              <a:rPr lang="en-US" b="0" i="0" dirty="0">
                <a:solidFill>
                  <a:srgbClr val="3A3A3A"/>
                </a:solidFill>
                <a:effectLst/>
                <a:latin typeface="Roboto" panose="02000000000000000000" pitchFamily="2" charset="0"/>
              </a:rPr>
              <a:t>Both queries return the current system date and time of the database server.</a:t>
            </a:r>
          </a:p>
        </p:txBody>
      </p:sp>
    </p:spTree>
    <p:extLst>
      <p:ext uri="{BB962C8B-B14F-4D97-AF65-F5344CB8AC3E}">
        <p14:creationId xmlns:p14="http://schemas.microsoft.com/office/powerpoint/2010/main" val="60095605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F7A69-903A-E479-D307-9A7F2F466D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68ED77-A71B-2D33-8A97-54A267537AEB}"/>
              </a:ext>
            </a:extLst>
          </p:cNvPr>
          <p:cNvSpPr txBox="1"/>
          <p:nvPr/>
        </p:nvSpPr>
        <p:spPr>
          <a:xfrm>
            <a:off x="2477069" y="1560105"/>
            <a:ext cx="4954136" cy="37446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118. How do you create an empty table with the same structure as another table?</a:t>
            </a:r>
          </a:p>
          <a:p>
            <a:pPr algn="just">
              <a:lnSpc>
                <a:spcPts val="2100"/>
              </a:lnSpc>
              <a:spcBef>
                <a:spcPts val="1650"/>
              </a:spcBef>
              <a:buNone/>
            </a:pPr>
            <a:r>
              <a:rPr lang="en-US" b="0" i="0" dirty="0">
                <a:solidFill>
                  <a:srgbClr val="3A3A3A"/>
                </a:solidFill>
                <a:effectLst/>
                <a:latin typeface="Roboto" panose="02000000000000000000" pitchFamily="2" charset="0"/>
              </a:rPr>
              <a:t>An empty table with the same structure can be created using SELECT INTO with a condition that always evaluates to false.</a:t>
            </a:r>
          </a:p>
          <a:p>
            <a:pPr algn="l">
              <a:spcBef>
                <a:spcPts val="1125"/>
              </a:spcBef>
              <a:spcAft>
                <a:spcPts val="375"/>
              </a:spcAft>
              <a:buNone/>
            </a:pPr>
            <a:r>
              <a:rPr lang="en-US" b="0" i="0" dirty="0">
                <a:solidFill>
                  <a:srgbClr val="212529"/>
                </a:solidFill>
                <a:effectLst/>
                <a:latin typeface="Courier New" panose="02070309020205020404" pitchFamily="49" charset="0"/>
              </a:rPr>
              <a:t>SELECT * INTO </a:t>
            </a:r>
            <a:r>
              <a:rPr lang="en-US" b="0" i="0" dirty="0" err="1">
                <a:solidFill>
                  <a:srgbClr val="212529"/>
                </a:solidFill>
                <a:effectLst/>
                <a:latin typeface="Courier New" panose="02070309020205020404" pitchFamily="49" charset="0"/>
              </a:rPr>
              <a:t>new_table</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FROM </a:t>
            </a:r>
            <a:r>
              <a:rPr lang="en-US" b="0" i="0" dirty="0" err="1">
                <a:solidFill>
                  <a:srgbClr val="212529"/>
                </a:solidFill>
                <a:effectLst/>
                <a:latin typeface="Courier New" panose="02070309020205020404" pitchFamily="49" charset="0"/>
              </a:rPr>
              <a:t>existing_table</a:t>
            </a:r>
            <a:r>
              <a:rPr lang="en-US" b="0" i="0" dirty="0">
                <a:solidFill>
                  <a:srgbClr val="212529"/>
                </a:solidFill>
                <a:effectLst/>
                <a:latin typeface="Courier New" panose="02070309020205020404" pitchFamily="49" charset="0"/>
              </a:rPr>
              <a:t> WHERE 1 = 0;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This copies only the table structure, not the data.</a:t>
            </a:r>
          </a:p>
        </p:txBody>
      </p:sp>
    </p:spTree>
    <p:extLst>
      <p:ext uri="{BB962C8B-B14F-4D97-AF65-F5344CB8AC3E}">
        <p14:creationId xmlns:p14="http://schemas.microsoft.com/office/powerpoint/2010/main" val="11178091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0FB0A-2AB2-1432-39A8-45373A98B0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EC662E-432E-1418-92D0-E76FF27418EB}"/>
              </a:ext>
            </a:extLst>
          </p:cNvPr>
          <p:cNvSpPr txBox="1"/>
          <p:nvPr/>
        </p:nvSpPr>
        <p:spPr>
          <a:xfrm>
            <a:off x="1269242" y="341823"/>
            <a:ext cx="8079474" cy="481926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119. How do you check if a table exists before creating it?</a:t>
            </a:r>
          </a:p>
          <a:p>
            <a:pPr algn="just">
              <a:lnSpc>
                <a:spcPts val="2100"/>
              </a:lnSpc>
              <a:spcBef>
                <a:spcPts val="1650"/>
              </a:spcBef>
              <a:buNone/>
            </a:pPr>
            <a:r>
              <a:rPr lang="en-US" b="0" i="0" dirty="0">
                <a:solidFill>
                  <a:srgbClr val="3A3A3A"/>
                </a:solidFill>
                <a:effectLst/>
                <a:latin typeface="Roboto" panose="02000000000000000000" pitchFamily="2" charset="0"/>
              </a:rPr>
              <a:t>Checking for table existence helps prevent errors when creating tables.</a:t>
            </a:r>
          </a:p>
          <a:p>
            <a:pPr algn="just">
              <a:lnSpc>
                <a:spcPts val="2100"/>
              </a:lnSpc>
              <a:spcBef>
                <a:spcPts val="750"/>
              </a:spcBef>
              <a:buNone/>
            </a:pPr>
            <a:r>
              <a:rPr lang="en-US" b="0" i="0" dirty="0">
                <a:solidFill>
                  <a:srgbClr val="3A3A3A"/>
                </a:solidFill>
                <a:effectLst/>
                <a:latin typeface="Roboto" panose="02000000000000000000" pitchFamily="2" charset="0"/>
              </a:rPr>
              <a:t>SQL Server:</a:t>
            </a:r>
          </a:p>
          <a:p>
            <a:pPr algn="l">
              <a:spcBef>
                <a:spcPts val="1125"/>
              </a:spcBef>
              <a:spcAft>
                <a:spcPts val="375"/>
              </a:spcAft>
              <a:buNone/>
            </a:pPr>
            <a:r>
              <a:rPr lang="en-US" b="0" i="0" dirty="0">
                <a:solidFill>
                  <a:srgbClr val="212529"/>
                </a:solidFill>
                <a:effectLst/>
                <a:latin typeface="Courier New" panose="02070309020205020404" pitchFamily="49" charset="0"/>
              </a:rPr>
              <a:t>IF NOT EXISTS ( SELECT * FROM </a:t>
            </a:r>
            <a:r>
              <a:rPr lang="en-US" b="0" i="0" dirty="0" err="1">
                <a:solidFill>
                  <a:srgbClr val="212529"/>
                </a:solidFill>
                <a:effectLst/>
                <a:latin typeface="Courier New" panose="02070309020205020404" pitchFamily="49" charset="0"/>
              </a:rPr>
              <a:t>sys.tables</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WHERE name = 'employees' ) BEGIN</a:t>
            </a:r>
          </a:p>
          <a:p>
            <a:pPr algn="l">
              <a:spcBef>
                <a:spcPts val="1125"/>
              </a:spcBef>
              <a:spcAft>
                <a:spcPts val="375"/>
              </a:spcAft>
              <a:buNone/>
            </a:pPr>
            <a:r>
              <a:rPr lang="en-US" b="0" i="0" dirty="0">
                <a:solidFill>
                  <a:srgbClr val="212529"/>
                </a:solidFill>
                <a:effectLst/>
                <a:latin typeface="Courier New" panose="02070309020205020404" pitchFamily="49" charset="0"/>
              </a:rPr>
              <a:t>CREATE TABLE employees ( id INT, name VARCHAR(50) ); END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MySQL:</a:t>
            </a:r>
          </a:p>
          <a:p>
            <a:pPr algn="l">
              <a:spcBef>
                <a:spcPts val="1125"/>
              </a:spcBef>
              <a:spcAft>
                <a:spcPts val="375"/>
              </a:spcAft>
              <a:buNone/>
            </a:pPr>
            <a:r>
              <a:rPr lang="en-US" b="0" i="0" dirty="0">
                <a:solidFill>
                  <a:srgbClr val="212529"/>
                </a:solidFill>
                <a:effectLst/>
                <a:latin typeface="Courier New" panose="02070309020205020404" pitchFamily="49" charset="0"/>
              </a:rPr>
              <a:t>CREATE TABLE IF NOT EXISTS</a:t>
            </a:r>
          </a:p>
          <a:p>
            <a:pPr algn="l">
              <a:spcBef>
                <a:spcPts val="1125"/>
              </a:spcBef>
              <a:spcAft>
                <a:spcPts val="375"/>
              </a:spcAft>
              <a:buNone/>
            </a:pPr>
            <a:r>
              <a:rPr lang="en-US" b="0" i="0" dirty="0">
                <a:solidFill>
                  <a:srgbClr val="212529"/>
                </a:solidFill>
                <a:effectLst/>
                <a:latin typeface="Courier New" panose="02070309020205020404" pitchFamily="49" charset="0"/>
              </a:rPr>
              <a:t>employees ( id INT, name VARCHAR(50) );  </a:t>
            </a:r>
            <a:r>
              <a:rPr lang="en-US" b="0" i="0" dirty="0">
                <a:solidFill>
                  <a:srgbClr val="FFFFFF"/>
                </a:solidFill>
                <a:effectLst/>
                <a:latin typeface="Courier New" panose="02070309020205020404" pitchFamily="49" charset="0"/>
              </a:rPr>
              <a:t>copy</a:t>
            </a:r>
            <a:endParaRPr lang="en-US" b="0" i="0" dirty="0">
              <a:solidFill>
                <a:srgbClr val="212529"/>
              </a:solidFill>
              <a:effectLst/>
              <a:latin typeface="Courier New" panose="02070309020205020404" pitchFamily="49" charset="0"/>
            </a:endParaRPr>
          </a:p>
          <a:p>
            <a:pPr algn="just">
              <a:lnSpc>
                <a:spcPts val="2100"/>
              </a:lnSpc>
              <a:spcBef>
                <a:spcPts val="750"/>
              </a:spcBef>
              <a:buNone/>
            </a:pPr>
            <a:r>
              <a:rPr lang="en-US" b="0" i="0" dirty="0">
                <a:solidFill>
                  <a:srgbClr val="3A3A3A"/>
                </a:solidFill>
                <a:effectLst/>
                <a:latin typeface="Roboto" panose="02000000000000000000" pitchFamily="2" charset="0"/>
              </a:rPr>
              <a:t>These approaches ensure the table is created only if it does not already exist.</a:t>
            </a:r>
          </a:p>
        </p:txBody>
      </p:sp>
    </p:spTree>
    <p:extLst>
      <p:ext uri="{BB962C8B-B14F-4D97-AF65-F5344CB8AC3E}">
        <p14:creationId xmlns:p14="http://schemas.microsoft.com/office/powerpoint/2010/main" val="429426225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84AB0-81C3-E980-2BBA-2F378EA081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11E479-C5AF-BED1-5840-6E8605199218}"/>
              </a:ext>
            </a:extLst>
          </p:cNvPr>
          <p:cNvSpPr txBox="1"/>
          <p:nvPr/>
        </p:nvSpPr>
        <p:spPr>
          <a:xfrm>
            <a:off x="382137" y="349952"/>
            <a:ext cx="6939886" cy="61580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120. How would you optimize a slow-moving SQL query? List the SQL optimization techniques.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You can optimize a slow-moving SQL query by using specific performance tuning techniques.</a:t>
            </a:r>
          </a:p>
          <a:p>
            <a:pPr algn="just">
              <a:lnSpc>
                <a:spcPts val="2100"/>
              </a:lnSpc>
              <a:spcBef>
                <a:spcPts val="750"/>
              </a:spcBef>
              <a:buNone/>
            </a:pPr>
            <a:r>
              <a:rPr lang="en-US" b="0" i="0" dirty="0">
                <a:solidFill>
                  <a:srgbClr val="3A3A3A"/>
                </a:solidFill>
                <a:effectLst/>
                <a:latin typeface="Roboto" panose="02000000000000000000" pitchFamily="2" charset="0"/>
              </a:rPr>
              <a:t>There are several SQL query optimization techniques listed below:</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Use indexes on frequently filtered or joined columns.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Avoid SELECT *; select only the required columns.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Filter early with proper WHERE clauses.</a:t>
            </a:r>
          </a:p>
          <a:p>
            <a:pPr algn="just">
              <a:lnSpc>
                <a:spcPts val="2100"/>
              </a:lnSpc>
              <a:spcBef>
                <a:spcPts val="750"/>
              </a:spcBef>
              <a:spcAft>
                <a:spcPts val="600"/>
              </a:spcAft>
              <a:buFont typeface="+mj-lt"/>
              <a:buAutoNum type="arabicPeriod"/>
            </a:pPr>
            <a:r>
              <a:rPr lang="en-US" b="0" i="0" dirty="0" err="1">
                <a:solidFill>
                  <a:srgbClr val="3A3A3A"/>
                </a:solidFill>
                <a:effectLst/>
                <a:latin typeface="Roboto" panose="02000000000000000000" pitchFamily="2" charset="0"/>
              </a:rPr>
              <a:t>Analyse</a:t>
            </a:r>
            <a:r>
              <a:rPr lang="en-US" b="0" i="0" dirty="0">
                <a:solidFill>
                  <a:srgbClr val="3A3A3A"/>
                </a:solidFill>
                <a:effectLst/>
                <a:latin typeface="Roboto" panose="02000000000000000000" pitchFamily="2" charset="0"/>
              </a:rPr>
              <a:t> the query with EXPLAIN to find bottlenecks.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Replace correlated subqueries with joins or CTEs.</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Limit results using LIMIT or pagination.</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Ensure efficient joins and avoid unnecessary sorting.</a:t>
            </a:r>
          </a:p>
          <a:p>
            <a:pPr algn="just">
              <a:lnSpc>
                <a:spcPts val="2100"/>
              </a:lnSpc>
              <a:spcBef>
                <a:spcPts val="1650"/>
              </a:spcBef>
              <a:buNone/>
            </a:pPr>
            <a:r>
              <a:rPr lang="en-US" b="0" i="0" dirty="0">
                <a:solidFill>
                  <a:srgbClr val="3A3A3A"/>
                </a:solidFill>
                <a:effectLst/>
                <a:latin typeface="Roboto" panose="02000000000000000000" pitchFamily="2" charset="0"/>
              </a:rPr>
              <a:t>These steps help improve performance by reducing data scanned and </a:t>
            </a:r>
            <a:r>
              <a:rPr lang="en-US" b="0" i="0" dirty="0" err="1">
                <a:solidFill>
                  <a:srgbClr val="3A3A3A"/>
                </a:solidFill>
                <a:effectLst/>
                <a:latin typeface="Roboto" panose="02000000000000000000" pitchFamily="2" charset="0"/>
              </a:rPr>
              <a:t>optimising</a:t>
            </a:r>
            <a:r>
              <a:rPr lang="en-US" b="0" i="0" dirty="0">
                <a:solidFill>
                  <a:srgbClr val="3A3A3A"/>
                </a:solidFill>
                <a:effectLst/>
                <a:latin typeface="Roboto" panose="02000000000000000000" pitchFamily="2" charset="0"/>
              </a:rPr>
              <a:t> execution.</a:t>
            </a:r>
          </a:p>
        </p:txBody>
      </p:sp>
    </p:spTree>
    <p:extLst>
      <p:ext uri="{BB962C8B-B14F-4D97-AF65-F5344CB8AC3E}">
        <p14:creationId xmlns:p14="http://schemas.microsoft.com/office/powerpoint/2010/main" val="38811387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9C925-B1BF-02A2-9183-D615260397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74BBF0-D15E-F39E-F180-CAD9399684F5}"/>
              </a:ext>
            </a:extLst>
          </p:cNvPr>
          <p:cNvSpPr txBox="1"/>
          <p:nvPr/>
        </p:nvSpPr>
        <p:spPr>
          <a:xfrm>
            <a:off x="2477069" y="2084607"/>
            <a:ext cx="4954136" cy="269561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121. Explain the concept of database partitioning and its benefits.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Database partitioning</a:t>
            </a:r>
            <a:r>
              <a:rPr lang="en-US" b="0" i="0" dirty="0">
                <a:solidFill>
                  <a:srgbClr val="3A3A3A"/>
                </a:solidFill>
                <a:effectLst/>
                <a:latin typeface="Roboto" panose="02000000000000000000" pitchFamily="2" charset="0"/>
              </a:rPr>
              <a:t> divides a large table into smaller segments based on a chosen key. This improves the performance of the SQL queries by allowing queries to run on the specific partitions and reducing I/O operations.</a:t>
            </a:r>
          </a:p>
        </p:txBody>
      </p:sp>
    </p:spTree>
    <p:extLst>
      <p:ext uri="{BB962C8B-B14F-4D97-AF65-F5344CB8AC3E}">
        <p14:creationId xmlns:p14="http://schemas.microsoft.com/office/powerpoint/2010/main" val="9300060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525D0-24F4-E450-C01B-089CFF6EB4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FFF354-BCCC-4128-0259-81BF36DDF978}"/>
              </a:ext>
            </a:extLst>
          </p:cNvPr>
          <p:cNvSpPr txBox="1"/>
          <p:nvPr/>
        </p:nvSpPr>
        <p:spPr>
          <a:xfrm>
            <a:off x="2477069" y="1764007"/>
            <a:ext cx="4954136" cy="333681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122. Explain the difference between horizontal and vertical partitioning.</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Horizontal: Splits a table by rows (e.g., by date ranges)</a:t>
            </a:r>
          </a:p>
          <a:p>
            <a:pPr algn="just">
              <a:lnSpc>
                <a:spcPts val="2100"/>
              </a:lnSpc>
              <a:spcBef>
                <a:spcPts val="750"/>
              </a:spcBef>
              <a:buNone/>
            </a:pPr>
            <a:r>
              <a:rPr lang="en-US" b="0" i="0" dirty="0">
                <a:solidFill>
                  <a:srgbClr val="3A3A3A"/>
                </a:solidFill>
                <a:effectLst/>
                <a:latin typeface="Roboto" panose="02000000000000000000" pitchFamily="2" charset="0"/>
              </a:rPr>
              <a:t>Vertical: Splits a table by columns (e.g., separating frequently vs rarely accessed fields)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Use horizontal for distributed querying, vertical for security/performance optimization.</a:t>
            </a:r>
          </a:p>
        </p:txBody>
      </p:sp>
    </p:spTree>
    <p:extLst>
      <p:ext uri="{BB962C8B-B14F-4D97-AF65-F5344CB8AC3E}">
        <p14:creationId xmlns:p14="http://schemas.microsoft.com/office/powerpoint/2010/main" val="11454107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0C57-0114-1F16-2CBB-B2282E5C79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C2019D-29DD-E26F-31FF-E540736FD1AC}"/>
              </a:ext>
            </a:extLst>
          </p:cNvPr>
          <p:cNvSpPr txBox="1"/>
          <p:nvPr/>
        </p:nvSpPr>
        <p:spPr>
          <a:xfrm>
            <a:off x="2477069" y="1404934"/>
            <a:ext cx="4954136" cy="405495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123. What third-party tools are used in SQL Server?</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 following is the list of third-party tools that are used in SQL Server: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SQL CHECK</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SQL DOC 2</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SQL Backup 5</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SQL Prompt</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Litespeed</a:t>
            </a:r>
            <a:r>
              <a:rPr lang="en-US" b="0" i="0" dirty="0">
                <a:solidFill>
                  <a:srgbClr val="3A3A3A"/>
                </a:solidFill>
                <a:effectLst/>
                <a:latin typeface="Roboto" panose="02000000000000000000" pitchFamily="2" charset="0"/>
              </a:rPr>
              <a:t> 5.0</a:t>
            </a:r>
          </a:p>
        </p:txBody>
      </p:sp>
    </p:spTree>
    <p:extLst>
      <p:ext uri="{BB962C8B-B14F-4D97-AF65-F5344CB8AC3E}">
        <p14:creationId xmlns:p14="http://schemas.microsoft.com/office/powerpoint/2010/main" val="40011014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54A2-153C-80AA-BC80-82555DE9BC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374E6C-42A4-9891-6D03-9694D2747639}"/>
              </a:ext>
            </a:extLst>
          </p:cNvPr>
          <p:cNvSpPr txBox="1"/>
          <p:nvPr/>
        </p:nvSpPr>
        <p:spPr>
          <a:xfrm>
            <a:off x="600502" y="534618"/>
            <a:ext cx="6926238" cy="578876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124. How would you track changes to sensitive data for auditing?</a:t>
            </a:r>
          </a:p>
          <a:p>
            <a:pPr algn="l">
              <a:spcBef>
                <a:spcPts val="1125"/>
              </a:spcBef>
              <a:spcAft>
                <a:spcPts val="375"/>
              </a:spcAft>
              <a:buNone/>
            </a:pPr>
            <a:r>
              <a:rPr lang="en-US" b="0" i="0" dirty="0">
                <a:solidFill>
                  <a:srgbClr val="212529"/>
                </a:solidFill>
                <a:effectLst/>
                <a:latin typeface="Courier New" panose="02070309020205020404" pitchFamily="49" charset="0"/>
              </a:rPr>
              <a:t>-- Create a table named '</a:t>
            </a:r>
            <a:r>
              <a:rPr lang="en-US" b="0" i="0" dirty="0" err="1">
                <a:solidFill>
                  <a:srgbClr val="212529"/>
                </a:solidFill>
                <a:effectLst/>
                <a:latin typeface="Courier New" panose="02070309020205020404" pitchFamily="49" charset="0"/>
              </a:rPr>
              <a:t>audit_log</a:t>
            </a:r>
            <a:r>
              <a:rPr lang="en-US" b="0" i="0" dirty="0">
                <a:solidFill>
                  <a:srgbClr val="212529"/>
                </a:solidFill>
                <a:effectLst/>
                <a:latin typeface="Courier New" panose="02070309020205020404" pitchFamily="49" charset="0"/>
              </a:rPr>
              <a:t>' to track changes in data</a:t>
            </a:r>
          </a:p>
          <a:p>
            <a:pPr algn="l">
              <a:spcBef>
                <a:spcPts val="1125"/>
              </a:spcBef>
              <a:spcAft>
                <a:spcPts val="375"/>
              </a:spcAft>
              <a:buNone/>
            </a:pPr>
            <a:r>
              <a:rPr lang="en-US" b="0" i="0" dirty="0">
                <a:solidFill>
                  <a:srgbClr val="212529"/>
                </a:solidFill>
                <a:effectLst/>
                <a:latin typeface="Courier New" panose="02070309020205020404" pitchFamily="49" charset="0"/>
              </a:rPr>
              <a:t>CREATE TABLE </a:t>
            </a:r>
            <a:r>
              <a:rPr lang="en-US" b="0" i="0" dirty="0" err="1">
                <a:solidFill>
                  <a:srgbClr val="212529"/>
                </a:solidFill>
                <a:effectLst/>
                <a:latin typeface="Courier New" panose="02070309020205020404" pitchFamily="49" charset="0"/>
              </a:rPr>
              <a:t>audit_log</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change_time</a:t>
            </a:r>
            <a:r>
              <a:rPr lang="en-US" b="0" i="0" dirty="0">
                <a:solidFill>
                  <a:srgbClr val="212529"/>
                </a:solidFill>
                <a:effectLst/>
                <a:latin typeface="Courier New" panose="02070309020205020404" pitchFamily="49" charset="0"/>
              </a:rPr>
              <a:t> TIMESTAMP,</a:t>
            </a:r>
          </a:p>
          <a:p>
            <a:pPr algn="l">
              <a:spcBef>
                <a:spcPts val="1125"/>
              </a:spcBef>
              <a:spcAft>
                <a:spcPts val="375"/>
              </a:spcAft>
              <a:buNone/>
            </a:pPr>
            <a:r>
              <a:rPr lang="en-US" b="0" i="0" dirty="0">
                <a:solidFill>
                  <a:srgbClr val="212529"/>
                </a:solidFill>
                <a:effectLst/>
                <a:latin typeface="Courier New" panose="02070309020205020404" pitchFamily="49" charset="0"/>
              </a:rPr>
              <a:t>-- Timestamp of when the change occurred</a:t>
            </a:r>
          </a:p>
          <a:p>
            <a:pPr algn="l">
              <a:spcBef>
                <a:spcPts val="1125"/>
              </a:spcBef>
              <a:spcAft>
                <a:spcPts val="375"/>
              </a:spcAft>
              <a:buNone/>
            </a:pPr>
            <a:r>
              <a:rPr lang="en-US" b="0" i="0" dirty="0" err="1">
                <a:solidFill>
                  <a:srgbClr val="212529"/>
                </a:solidFill>
                <a:effectLst/>
                <a:latin typeface="Courier New" panose="02070309020205020404" pitchFamily="49" charset="0"/>
              </a:rPr>
              <a:t>user_id</a:t>
            </a:r>
            <a:r>
              <a:rPr lang="en-US" b="0" i="0" dirty="0">
                <a:solidFill>
                  <a:srgbClr val="212529"/>
                </a:solidFill>
                <a:effectLst/>
                <a:latin typeface="Courier New" panose="02070309020205020404" pitchFamily="49" charset="0"/>
              </a:rPr>
              <a:t> INT,</a:t>
            </a:r>
          </a:p>
          <a:p>
            <a:pPr algn="l">
              <a:spcBef>
                <a:spcPts val="1125"/>
              </a:spcBef>
              <a:spcAft>
                <a:spcPts val="375"/>
              </a:spcAft>
              <a:buNone/>
            </a:pPr>
            <a:r>
              <a:rPr lang="en-US" b="0" i="0" dirty="0">
                <a:solidFill>
                  <a:srgbClr val="212529"/>
                </a:solidFill>
                <a:effectLst/>
                <a:latin typeface="Courier New" panose="02070309020205020404" pitchFamily="49" charset="0"/>
              </a:rPr>
              <a:t>-- Id of the user who made the change</a:t>
            </a:r>
          </a:p>
          <a:p>
            <a:pPr algn="l">
              <a:spcBef>
                <a:spcPts val="1125"/>
              </a:spcBef>
              <a:spcAft>
                <a:spcPts val="375"/>
              </a:spcAft>
              <a:buNone/>
            </a:pPr>
            <a:r>
              <a:rPr lang="en-US" b="0" i="0" dirty="0" err="1">
                <a:solidFill>
                  <a:srgbClr val="212529"/>
                </a:solidFill>
                <a:effectLst/>
                <a:latin typeface="Courier New" panose="02070309020205020404" pitchFamily="49" charset="0"/>
              </a:rPr>
              <a:t>old_value</a:t>
            </a:r>
            <a:r>
              <a:rPr lang="en-US" b="0" i="0" dirty="0">
                <a:solidFill>
                  <a:srgbClr val="212529"/>
                </a:solidFill>
                <a:effectLst/>
                <a:latin typeface="Courier New" panose="02070309020205020404" pitchFamily="49" charset="0"/>
              </a:rPr>
              <a:t> JSONB,</a:t>
            </a:r>
          </a:p>
          <a:p>
            <a:pPr algn="l">
              <a:spcBef>
                <a:spcPts val="1125"/>
              </a:spcBef>
              <a:spcAft>
                <a:spcPts val="375"/>
              </a:spcAft>
              <a:buNone/>
            </a:pPr>
            <a:r>
              <a:rPr lang="en-US" b="0" i="0" dirty="0">
                <a:solidFill>
                  <a:srgbClr val="212529"/>
                </a:solidFill>
                <a:effectLst/>
                <a:latin typeface="Courier New" panose="02070309020205020404" pitchFamily="49" charset="0"/>
              </a:rPr>
              <a:t>-- Previous state of the data stored as JSONB</a:t>
            </a:r>
          </a:p>
          <a:p>
            <a:pPr algn="l">
              <a:spcBef>
                <a:spcPts val="1125"/>
              </a:spcBef>
              <a:spcAft>
                <a:spcPts val="375"/>
              </a:spcAft>
              <a:buNone/>
            </a:pPr>
            <a:r>
              <a:rPr lang="en-US" b="0" i="0" dirty="0" err="1">
                <a:solidFill>
                  <a:srgbClr val="212529"/>
                </a:solidFill>
                <a:effectLst/>
                <a:latin typeface="Courier New" panose="02070309020205020404" pitchFamily="49" charset="0"/>
              </a:rPr>
              <a:t>new_value</a:t>
            </a:r>
            <a:r>
              <a:rPr lang="en-US" b="0" i="0" dirty="0">
                <a:solidFill>
                  <a:srgbClr val="212529"/>
                </a:solidFill>
                <a:effectLst/>
                <a:latin typeface="Courier New" panose="02070309020205020404" pitchFamily="49" charset="0"/>
              </a:rPr>
              <a:t> JSONB</a:t>
            </a:r>
          </a:p>
          <a:p>
            <a:pPr algn="l">
              <a:spcBef>
                <a:spcPts val="1125"/>
              </a:spcBef>
              <a:spcAft>
                <a:spcPts val="375"/>
              </a:spcAft>
              <a:buNone/>
            </a:pPr>
            <a:r>
              <a:rPr lang="en-US" b="0" i="0" dirty="0">
                <a:solidFill>
                  <a:srgbClr val="212529"/>
                </a:solidFill>
                <a:effectLst/>
                <a:latin typeface="Courier New" panose="02070309020205020404" pitchFamily="49" charset="0"/>
              </a:rPr>
              <a:t>-- Updated state of the data stored as JSONB );</a:t>
            </a:r>
          </a:p>
          <a:p>
            <a:pPr algn="l">
              <a:spcBef>
                <a:spcPts val="1125"/>
              </a:spcBef>
              <a:spcAft>
                <a:spcPts val="375"/>
              </a:spcAft>
              <a:buNone/>
            </a:pPr>
            <a:r>
              <a:rPr lang="en-US" b="0" i="0" dirty="0">
                <a:solidFill>
                  <a:srgbClr val="212529"/>
                </a:solidFill>
                <a:effectLst/>
                <a:latin typeface="Courier New" panose="02070309020205020404" pitchFamily="49" charset="0"/>
              </a:rPr>
              <a:t>Use triggers or CDC (Change Data Capture) to populate this table.</a:t>
            </a:r>
          </a:p>
        </p:txBody>
      </p:sp>
    </p:spTree>
    <p:extLst>
      <p:ext uri="{BB962C8B-B14F-4D97-AF65-F5344CB8AC3E}">
        <p14:creationId xmlns:p14="http://schemas.microsoft.com/office/powerpoint/2010/main" val="358237780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AD89-45FC-1E48-778F-3FA6064EA8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DA4872-5102-50F9-9874-0CB699B2D974}"/>
              </a:ext>
            </a:extLst>
          </p:cNvPr>
          <p:cNvSpPr txBox="1"/>
          <p:nvPr/>
        </p:nvSpPr>
        <p:spPr>
          <a:xfrm>
            <a:off x="2477069" y="1363897"/>
            <a:ext cx="4954136" cy="413703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125. You have an order table with millions of rows, and you frequently run a query that filters it by </a:t>
            </a:r>
            <a:r>
              <a:rPr lang="en-US" b="0" i="0" dirty="0" err="1">
                <a:solidFill>
                  <a:srgbClr val="272C37"/>
                </a:solidFill>
                <a:effectLst/>
                <a:latin typeface="Roboto" panose="02000000000000000000" pitchFamily="2" charset="0"/>
              </a:rPr>
              <a:t>customer_id</a:t>
            </a:r>
            <a:r>
              <a:rPr lang="en-US" b="0" i="0" dirty="0">
                <a:solidFill>
                  <a:srgbClr val="272C37"/>
                </a:solidFill>
                <a:effectLst/>
                <a:latin typeface="Roboto" panose="02000000000000000000" pitchFamily="2" charset="0"/>
              </a:rPr>
              <a:t>, </a:t>
            </a:r>
            <a:r>
              <a:rPr lang="en-US" b="0" i="0" dirty="0" err="1">
                <a:solidFill>
                  <a:srgbClr val="272C37"/>
                </a:solidFill>
                <a:effectLst/>
                <a:latin typeface="Roboto" panose="02000000000000000000" pitchFamily="2" charset="0"/>
              </a:rPr>
              <a:t>order_date</a:t>
            </a:r>
            <a:r>
              <a:rPr lang="en-US" b="0" i="0" dirty="0">
                <a:solidFill>
                  <a:srgbClr val="272C37"/>
                </a:solidFill>
                <a:effectLst/>
                <a:latin typeface="Roboto" panose="02000000000000000000" pitchFamily="2" charset="0"/>
              </a:rPr>
              <a:t>, and status. What indexes would you create to optimize this query, and why?</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We need to create a composite index on columns that are frequently used for filtering.</a:t>
            </a:r>
          </a:p>
          <a:p>
            <a:pPr algn="l">
              <a:spcBef>
                <a:spcPts val="1125"/>
              </a:spcBef>
              <a:spcAft>
                <a:spcPts val="375"/>
              </a:spcAft>
              <a:buNone/>
            </a:pPr>
            <a:r>
              <a:rPr lang="en-US" b="0" i="0" dirty="0">
                <a:solidFill>
                  <a:srgbClr val="212529"/>
                </a:solidFill>
                <a:effectLst/>
                <a:latin typeface="Courier New" panose="02070309020205020404" pitchFamily="49" charset="0"/>
              </a:rPr>
              <a:t>CREATE INDEX </a:t>
            </a:r>
            <a:r>
              <a:rPr lang="en-US" b="0" i="0" dirty="0" err="1">
                <a:solidFill>
                  <a:srgbClr val="212529"/>
                </a:solidFill>
                <a:effectLst/>
                <a:latin typeface="Courier New" panose="02070309020205020404" pitchFamily="49" charset="0"/>
              </a:rPr>
              <a:t>idx_orders_customer_date_status</a:t>
            </a: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ON orders (</a:t>
            </a:r>
            <a:r>
              <a:rPr lang="en-US" b="0" i="0" dirty="0" err="1">
                <a:solidFill>
                  <a:srgbClr val="212529"/>
                </a:solidFill>
                <a:effectLst/>
                <a:latin typeface="Courier New" panose="02070309020205020404" pitchFamily="49" charset="0"/>
              </a:rPr>
              <a:t>customer_id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order_date</a:t>
            </a:r>
            <a:r>
              <a:rPr lang="en-US" b="0" i="0" dirty="0">
                <a:solidFill>
                  <a:srgbClr val="212529"/>
                </a:solidFill>
                <a:effectLst/>
                <a:latin typeface="Courier New" panose="02070309020205020404" pitchFamily="49" charset="0"/>
              </a:rPr>
              <a:t>, status); </a:t>
            </a:r>
          </a:p>
        </p:txBody>
      </p:sp>
    </p:spTree>
    <p:extLst>
      <p:ext uri="{BB962C8B-B14F-4D97-AF65-F5344CB8AC3E}">
        <p14:creationId xmlns:p14="http://schemas.microsoft.com/office/powerpoint/2010/main" val="32251508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D712D-1A98-FFDD-FB5B-7E62F652C1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E3B653-7DC4-BDD8-D619-08CC6A8A3028}"/>
              </a:ext>
            </a:extLst>
          </p:cNvPr>
          <p:cNvSpPr txBox="1"/>
          <p:nvPr/>
        </p:nvSpPr>
        <p:spPr>
          <a:xfrm>
            <a:off x="2477069" y="635493"/>
            <a:ext cx="4954136" cy="55938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126. What is Denormalization, and when is it used?</a:t>
            </a:r>
          </a:p>
          <a:p>
            <a:pPr algn="just">
              <a:lnSpc>
                <a:spcPts val="2100"/>
              </a:lnSpc>
              <a:spcBef>
                <a:spcPts val="1650"/>
              </a:spcBef>
              <a:buNone/>
            </a:pPr>
            <a:r>
              <a:rPr lang="en-US" b="0" i="0" dirty="0">
                <a:solidFill>
                  <a:srgbClr val="3A3A3A"/>
                </a:solidFill>
                <a:effectLst/>
                <a:latin typeface="Roboto" panose="02000000000000000000" pitchFamily="2" charset="0"/>
              </a:rPr>
              <a:t>Denormalization is the process of intentionally introducing redundancy into a database by combining tables to improve query performance.</a:t>
            </a:r>
          </a:p>
          <a:p>
            <a:pPr algn="just">
              <a:lnSpc>
                <a:spcPts val="2100"/>
              </a:lnSpc>
              <a:spcBef>
                <a:spcPts val="750"/>
              </a:spcBef>
              <a:buNone/>
            </a:pPr>
            <a:r>
              <a:rPr lang="en-US" b="0" i="0" dirty="0">
                <a:solidFill>
                  <a:srgbClr val="3A3A3A"/>
                </a:solidFill>
                <a:effectLst/>
                <a:latin typeface="Roboto" panose="02000000000000000000" pitchFamily="2" charset="0"/>
              </a:rPr>
              <a:t>While normalization focuses on reducing data duplication, denormalization is used when read performance is more important than storage efficiency.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Reduces the need for complex joins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Improves read and reporting performance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Commonly used in data warehouses and OLAP systems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May increase data redundancy and update complexity</a:t>
            </a:r>
          </a:p>
        </p:txBody>
      </p:sp>
    </p:spTree>
    <p:extLst>
      <p:ext uri="{BB962C8B-B14F-4D97-AF65-F5344CB8AC3E}">
        <p14:creationId xmlns:p14="http://schemas.microsoft.com/office/powerpoint/2010/main" val="22108371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EF61-537E-B42B-A7D9-4DDCA44B18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BFEA23-EDFC-566E-35DC-792F8DCEE45D}"/>
              </a:ext>
            </a:extLst>
          </p:cNvPr>
          <p:cNvSpPr txBox="1"/>
          <p:nvPr/>
        </p:nvSpPr>
        <p:spPr>
          <a:xfrm>
            <a:off x="348018" y="468696"/>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127. What is a View? How is it different from a Materialized View?</a:t>
            </a:r>
          </a:p>
          <a:p>
            <a:pPr algn="just">
              <a:lnSpc>
                <a:spcPts val="2100"/>
              </a:lnSpc>
              <a:spcBef>
                <a:spcPts val="1650"/>
              </a:spcBef>
              <a:buNone/>
            </a:pPr>
            <a:r>
              <a:rPr lang="en-US" b="0" i="0" dirty="0">
                <a:solidFill>
                  <a:srgbClr val="3A3A3A"/>
                </a:solidFill>
                <a:effectLst/>
                <a:latin typeface="Roboto" panose="02000000000000000000" pitchFamily="2" charset="0"/>
              </a:rPr>
              <a:t>A View is a virtual table created from a SQL query, whereas a Materialized View stores the query result physically on disk.</a:t>
            </a:r>
          </a:p>
        </p:txBody>
      </p:sp>
      <p:graphicFrame>
        <p:nvGraphicFramePr>
          <p:cNvPr id="4" name="Table 3">
            <a:extLst>
              <a:ext uri="{FF2B5EF4-FFF2-40B4-BE49-F238E27FC236}">
                <a16:creationId xmlns:a16="http://schemas.microsoft.com/office/drawing/2014/main" id="{6CF32207-FF13-0E94-1C3A-BF709307FD88}"/>
              </a:ext>
            </a:extLst>
          </p:cNvPr>
          <p:cNvGraphicFramePr>
            <a:graphicFrameLocks noGrp="1"/>
          </p:cNvGraphicFramePr>
          <p:nvPr/>
        </p:nvGraphicFramePr>
        <p:xfrm>
          <a:off x="681038" y="3086894"/>
          <a:ext cx="8543925" cy="1828800"/>
        </p:xfrm>
        <a:graphic>
          <a:graphicData uri="http://schemas.openxmlformats.org/drawingml/2006/table">
            <a:tbl>
              <a:tblPr/>
              <a:tblGrid>
                <a:gridCol w="2847975">
                  <a:extLst>
                    <a:ext uri="{9D8B030D-6E8A-4147-A177-3AD203B41FA5}">
                      <a16:colId xmlns:a16="http://schemas.microsoft.com/office/drawing/2014/main" val="4080644809"/>
                    </a:ext>
                  </a:extLst>
                </a:gridCol>
                <a:gridCol w="2847975">
                  <a:extLst>
                    <a:ext uri="{9D8B030D-6E8A-4147-A177-3AD203B41FA5}">
                      <a16:colId xmlns:a16="http://schemas.microsoft.com/office/drawing/2014/main" val="1267128117"/>
                    </a:ext>
                  </a:extLst>
                </a:gridCol>
                <a:gridCol w="2847975">
                  <a:extLst>
                    <a:ext uri="{9D8B030D-6E8A-4147-A177-3AD203B41FA5}">
                      <a16:colId xmlns:a16="http://schemas.microsoft.com/office/drawing/2014/main" val="1391435366"/>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View</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Materialized View</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443659392"/>
                  </a:ext>
                </a:extLst>
              </a:tr>
              <a:tr h="0">
                <a:tc>
                  <a:txBody>
                    <a:bodyPr/>
                    <a:lstStyle/>
                    <a:p>
                      <a:pPr fontAlgn="t">
                        <a:buNone/>
                      </a:pPr>
                      <a:r>
                        <a:rPr lang="en-US">
                          <a:effectLst/>
                        </a:rPr>
                        <a:t>Storage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Virtual (no data stored)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Physical data stored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25904126"/>
                  </a:ext>
                </a:extLst>
              </a:tr>
              <a:tr h="0">
                <a:tc>
                  <a:txBody>
                    <a:bodyPr/>
                    <a:lstStyle/>
                    <a:p>
                      <a:pPr fontAlgn="t">
                        <a:buNone/>
                      </a:pPr>
                      <a:r>
                        <a:rPr lang="en-US">
                          <a:effectLst/>
                        </a:rPr>
                        <a:t>Performance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Slower for complex queries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Faster query performance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68708977"/>
                  </a:ext>
                </a:extLst>
              </a:tr>
              <a:tr h="0">
                <a:tc>
                  <a:txBody>
                    <a:bodyPr/>
                    <a:lstStyle/>
                    <a:p>
                      <a:pPr fontAlgn="t">
                        <a:buNone/>
                      </a:pPr>
                      <a:r>
                        <a:rPr lang="en-US">
                          <a:effectLst/>
                        </a:rPr>
                        <a:t>Refresh Required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92847227"/>
                  </a:ext>
                </a:extLst>
              </a:tr>
              <a:tr h="0">
                <a:tc>
                  <a:txBody>
                    <a:bodyPr/>
                    <a:lstStyle/>
                    <a:p>
                      <a:pPr fontAlgn="t">
                        <a:buNone/>
                      </a:pPr>
                      <a:r>
                        <a:rPr lang="en-US">
                          <a:effectLst/>
                        </a:rPr>
                        <a:t>Use Case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Security and abstraction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Reporting and analytics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38647002"/>
                  </a:ext>
                </a:extLst>
              </a:tr>
            </a:tbl>
          </a:graphicData>
        </a:graphic>
      </p:graphicFrame>
    </p:spTree>
    <p:extLst>
      <p:ext uri="{BB962C8B-B14F-4D97-AF65-F5344CB8AC3E}">
        <p14:creationId xmlns:p14="http://schemas.microsoft.com/office/powerpoint/2010/main" val="122489964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E3696-0629-F413-5EBA-57E296D088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491F49-73E1-9794-F45F-61A6EBF33778}"/>
              </a:ext>
            </a:extLst>
          </p:cNvPr>
          <p:cNvSpPr txBox="1"/>
          <p:nvPr/>
        </p:nvSpPr>
        <p:spPr>
          <a:xfrm>
            <a:off x="2477069" y="1039449"/>
            <a:ext cx="4954136" cy="478592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128. What is a Cursor? Why should you avoid using them?</a:t>
            </a:r>
          </a:p>
          <a:p>
            <a:pPr algn="just">
              <a:lnSpc>
                <a:spcPts val="2100"/>
              </a:lnSpc>
              <a:spcBef>
                <a:spcPts val="1650"/>
              </a:spcBef>
              <a:buNone/>
            </a:pPr>
            <a:r>
              <a:rPr lang="en-US" b="0" i="0" dirty="0">
                <a:solidFill>
                  <a:srgbClr val="3A3A3A"/>
                </a:solidFill>
                <a:effectLst/>
                <a:latin typeface="Roboto" panose="02000000000000000000" pitchFamily="2" charset="0"/>
              </a:rPr>
              <a:t>A Cursor is a database object used to retrieve and process rows one at a time instead of processing them as a set.</a:t>
            </a:r>
          </a:p>
          <a:p>
            <a:pPr algn="just">
              <a:lnSpc>
                <a:spcPts val="2100"/>
              </a:lnSpc>
              <a:spcBef>
                <a:spcPts val="750"/>
              </a:spcBef>
              <a:buNone/>
            </a:pPr>
            <a:r>
              <a:rPr lang="en-US" b="0" i="0" dirty="0">
                <a:solidFill>
                  <a:srgbClr val="3A3A3A"/>
                </a:solidFill>
                <a:effectLst/>
                <a:latin typeface="Roboto" panose="02000000000000000000" pitchFamily="2" charset="0"/>
              </a:rPr>
              <a:t>Cursors should generally be avoided because they significantly impact performance compared to set-based operations.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Processes rows sequentially (row-by-row)</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Consumes more memory and CPU</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Slower than set-based SQL operations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Used only when row-level processing is unavoidable</a:t>
            </a:r>
          </a:p>
        </p:txBody>
      </p:sp>
    </p:spTree>
    <p:extLst>
      <p:ext uri="{BB962C8B-B14F-4D97-AF65-F5344CB8AC3E}">
        <p14:creationId xmlns:p14="http://schemas.microsoft.com/office/powerpoint/2010/main" val="36384600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4DDC-4FE9-6BCE-A176-A3776819AEE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10F4CF7-830B-C1E1-C2B4-82053C3633AE}"/>
              </a:ext>
            </a:extLst>
          </p:cNvPr>
          <p:cNvSpPr txBox="1"/>
          <p:nvPr/>
        </p:nvSpPr>
        <p:spPr>
          <a:xfrm>
            <a:off x="293428" y="468695"/>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129. Explain Window Functions (RANK vs DENSE_RANK vs ROW_NUMBER)</a:t>
            </a:r>
          </a:p>
          <a:p>
            <a:pPr algn="just">
              <a:lnSpc>
                <a:spcPts val="2100"/>
              </a:lnSpc>
              <a:spcBef>
                <a:spcPts val="1650"/>
              </a:spcBef>
              <a:buNone/>
            </a:pPr>
            <a:r>
              <a:rPr lang="en-US" b="0" i="0" dirty="0">
                <a:solidFill>
                  <a:srgbClr val="3A3A3A"/>
                </a:solidFill>
                <a:effectLst/>
                <a:latin typeface="Roboto" panose="02000000000000000000" pitchFamily="2" charset="0"/>
              </a:rPr>
              <a:t>Window functions perform calculations across a set of rows related to the current row without collapsing the result set.</a:t>
            </a:r>
          </a:p>
        </p:txBody>
      </p:sp>
      <p:graphicFrame>
        <p:nvGraphicFramePr>
          <p:cNvPr id="6" name="Table 5">
            <a:extLst>
              <a:ext uri="{FF2B5EF4-FFF2-40B4-BE49-F238E27FC236}">
                <a16:creationId xmlns:a16="http://schemas.microsoft.com/office/drawing/2014/main" id="{09B93DA4-73C9-F8AC-B0E7-434D7A696816}"/>
              </a:ext>
            </a:extLst>
          </p:cNvPr>
          <p:cNvGraphicFramePr>
            <a:graphicFrameLocks noGrp="1"/>
          </p:cNvGraphicFramePr>
          <p:nvPr/>
        </p:nvGraphicFramePr>
        <p:xfrm>
          <a:off x="681038" y="2812574"/>
          <a:ext cx="8543924" cy="2377440"/>
        </p:xfrm>
        <a:graphic>
          <a:graphicData uri="http://schemas.openxmlformats.org/drawingml/2006/table">
            <a:tbl>
              <a:tblPr/>
              <a:tblGrid>
                <a:gridCol w="2135981">
                  <a:extLst>
                    <a:ext uri="{9D8B030D-6E8A-4147-A177-3AD203B41FA5}">
                      <a16:colId xmlns:a16="http://schemas.microsoft.com/office/drawing/2014/main" val="2936653076"/>
                    </a:ext>
                  </a:extLst>
                </a:gridCol>
                <a:gridCol w="2135981">
                  <a:extLst>
                    <a:ext uri="{9D8B030D-6E8A-4147-A177-3AD203B41FA5}">
                      <a16:colId xmlns:a16="http://schemas.microsoft.com/office/drawing/2014/main" val="1262466910"/>
                    </a:ext>
                  </a:extLst>
                </a:gridCol>
                <a:gridCol w="2135981">
                  <a:extLst>
                    <a:ext uri="{9D8B030D-6E8A-4147-A177-3AD203B41FA5}">
                      <a16:colId xmlns:a16="http://schemas.microsoft.com/office/drawing/2014/main" val="293269921"/>
                    </a:ext>
                  </a:extLst>
                </a:gridCol>
                <a:gridCol w="2135981">
                  <a:extLst>
                    <a:ext uri="{9D8B030D-6E8A-4147-A177-3AD203B41FA5}">
                      <a16:colId xmlns:a16="http://schemas.microsoft.com/office/drawing/2014/main" val="1088110192"/>
                    </a:ext>
                  </a:extLst>
                </a:gridCol>
              </a:tblGrid>
              <a:tr h="0">
                <a:tc>
                  <a:txBody>
                    <a:bodyPr/>
                    <a:lstStyle/>
                    <a:p>
                      <a:pPr algn="ctr" fontAlgn="t">
                        <a:buNone/>
                      </a:pPr>
                      <a:r>
                        <a:rPr lang="en-US" b="0">
                          <a:solidFill>
                            <a:srgbClr val="FFFFFF"/>
                          </a:solidFill>
                          <a:effectLst/>
                        </a:rPr>
                        <a:t>Feature</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RANK</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DENSE_RANK</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ROW_NUMBER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1282480426"/>
                  </a:ext>
                </a:extLst>
              </a:tr>
              <a:tr h="0">
                <a:tc>
                  <a:txBody>
                    <a:bodyPr/>
                    <a:lstStyle/>
                    <a:p>
                      <a:pPr fontAlgn="t">
                        <a:buNone/>
                      </a:pPr>
                      <a:r>
                        <a:rPr lang="en-US">
                          <a:effectLst/>
                        </a:rPr>
                        <a:t>Handles Duplicates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88452513"/>
                  </a:ext>
                </a:extLst>
              </a:tr>
              <a:tr h="0">
                <a:tc>
                  <a:txBody>
                    <a:bodyPr/>
                    <a:lstStyle/>
                    <a:p>
                      <a:pPr fontAlgn="t">
                        <a:buNone/>
                      </a:pPr>
                      <a:r>
                        <a:rPr lang="en-US">
                          <a:effectLst/>
                        </a:rPr>
                        <a:t>Gap in Ranking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850515890"/>
                  </a:ext>
                </a:extLst>
              </a:tr>
              <a:tr h="0">
                <a:tc>
                  <a:txBody>
                    <a:bodyPr/>
                    <a:lstStyle/>
                    <a:p>
                      <a:pPr fontAlgn="t">
                        <a:buNone/>
                      </a:pPr>
                      <a:r>
                        <a:rPr lang="en-US">
                          <a:effectLst/>
                        </a:rPr>
                        <a:t>Unique Row Number</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96125616"/>
                  </a:ext>
                </a:extLst>
              </a:tr>
              <a:tr h="0">
                <a:tc>
                  <a:txBody>
                    <a:bodyPr/>
                    <a:lstStyle/>
                    <a:p>
                      <a:pPr fontAlgn="t">
                        <a:buNone/>
                      </a:pPr>
                      <a:r>
                        <a:rPr lang="en-US">
                          <a:effectLst/>
                        </a:rPr>
                        <a:t>Common Use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Leaderboard ranking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Nth highest value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Remove duplicates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817840416"/>
                  </a:ext>
                </a:extLst>
              </a:tr>
            </a:tbl>
          </a:graphicData>
        </a:graphic>
      </p:graphicFrame>
    </p:spTree>
    <p:extLst>
      <p:ext uri="{BB962C8B-B14F-4D97-AF65-F5344CB8AC3E}">
        <p14:creationId xmlns:p14="http://schemas.microsoft.com/office/powerpoint/2010/main" val="280294915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74BF1-C844-06F8-77BD-924C7C6203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8DEFE1-C7A4-468D-2A8B-3AA9912C9981}"/>
              </a:ext>
            </a:extLst>
          </p:cNvPr>
          <p:cNvSpPr txBox="1"/>
          <p:nvPr/>
        </p:nvSpPr>
        <p:spPr>
          <a:xfrm>
            <a:off x="2477069" y="488016"/>
            <a:ext cx="4954136" cy="58887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130. How does an Index work internally?</a:t>
            </a:r>
          </a:p>
          <a:p>
            <a:pPr algn="just">
              <a:lnSpc>
                <a:spcPts val="2100"/>
              </a:lnSpc>
              <a:spcBef>
                <a:spcPts val="1650"/>
              </a:spcBef>
              <a:buNone/>
            </a:pPr>
            <a:r>
              <a:rPr lang="en-US" b="0" i="0" dirty="0">
                <a:solidFill>
                  <a:srgbClr val="3A3A3A"/>
                </a:solidFill>
                <a:effectLst/>
                <a:latin typeface="Roboto" panose="02000000000000000000" pitchFamily="2" charset="0"/>
              </a:rPr>
              <a:t>An Index improves query performance by allowing the database to locate rows quickly without scanning the entire table.</a:t>
            </a:r>
          </a:p>
          <a:p>
            <a:pPr algn="just">
              <a:lnSpc>
                <a:spcPts val="2100"/>
              </a:lnSpc>
              <a:spcBef>
                <a:spcPts val="750"/>
              </a:spcBef>
              <a:buNone/>
            </a:pPr>
            <a:r>
              <a:rPr lang="en-US" b="0" i="0" dirty="0">
                <a:solidFill>
                  <a:srgbClr val="3A3A3A"/>
                </a:solidFill>
                <a:effectLst/>
                <a:latin typeface="Roboto" panose="02000000000000000000" pitchFamily="2" charset="0"/>
              </a:rPr>
              <a:t>Most relational databases implement indexes using B-Tree data structures.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B-Trees keep data sorted and balanced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Search, insert, and delete operations run in logarithmic time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Indexes store key values and pointers to actual rows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Excessive indexing can slow down write operations</a:t>
            </a:r>
          </a:p>
          <a:p>
            <a:pPr algn="just">
              <a:lnSpc>
                <a:spcPts val="2100"/>
              </a:lnSpc>
              <a:spcBef>
                <a:spcPts val="1650"/>
              </a:spcBef>
              <a:buNone/>
            </a:pPr>
            <a:r>
              <a:rPr lang="en-US" b="0" i="0" dirty="0">
                <a:solidFill>
                  <a:srgbClr val="3A3A3A"/>
                </a:solidFill>
                <a:effectLst/>
                <a:latin typeface="Roboto" panose="02000000000000000000" pitchFamily="2" charset="0"/>
              </a:rPr>
              <a:t>Indexes significantly speed up SELECT queries but should be used carefully to balance performance.</a:t>
            </a:r>
          </a:p>
        </p:txBody>
      </p:sp>
    </p:spTree>
    <p:extLst>
      <p:ext uri="{BB962C8B-B14F-4D97-AF65-F5344CB8AC3E}">
        <p14:creationId xmlns:p14="http://schemas.microsoft.com/office/powerpoint/2010/main" val="21600049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B3168-6B52-DD01-3769-7D5A1DD951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60CCD1-AB80-1797-39F7-BE147514C738}"/>
              </a:ext>
            </a:extLst>
          </p:cNvPr>
          <p:cNvSpPr txBox="1"/>
          <p:nvPr/>
        </p:nvSpPr>
        <p:spPr>
          <a:xfrm>
            <a:off x="2477069" y="1719123"/>
            <a:ext cx="4954136" cy="34265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131. Explain the CAP Theorem.</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CAP Theorem, also known as Brewer’s Theorem, which is a key concept in distributed systems that states all three properties cannot be guaranteed at the same time: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Consistency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Availability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Partition Tolerance</a:t>
            </a:r>
          </a:p>
        </p:txBody>
      </p:sp>
    </p:spTree>
    <p:extLst>
      <p:ext uri="{BB962C8B-B14F-4D97-AF65-F5344CB8AC3E}">
        <p14:creationId xmlns:p14="http://schemas.microsoft.com/office/powerpoint/2010/main" val="19943799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65808-689E-A000-F19B-3BE61BE0FF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6A0FA2-78FF-DCB0-63E6-2625A02DDECB}"/>
              </a:ext>
            </a:extLst>
          </p:cNvPr>
          <p:cNvSpPr txBox="1"/>
          <p:nvPr/>
        </p:nvSpPr>
        <p:spPr>
          <a:xfrm>
            <a:off x="2477069" y="2488564"/>
            <a:ext cx="4954136" cy="18876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132. What is a stored procedure?</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a:t>
            </a:r>
            <a:r>
              <a:rPr lang="en-US" b="0" i="0" u="none" strike="noStrike" dirty="0">
                <a:solidFill>
                  <a:srgbClr val="0F5A9E"/>
                </a:solidFill>
                <a:effectLst/>
                <a:latin typeface="Roboto" panose="02000000000000000000" pitchFamily="2" charset="0"/>
                <a:hlinkClick r:id="rId2"/>
              </a:rPr>
              <a:t>stored procedure</a:t>
            </a:r>
            <a:r>
              <a:rPr lang="en-US" b="0" i="0" dirty="0">
                <a:solidFill>
                  <a:srgbClr val="3A3A3A"/>
                </a:solidFill>
                <a:effectLst/>
                <a:latin typeface="Roboto" panose="02000000000000000000" pitchFamily="2" charset="0"/>
              </a:rPr>
              <a:t> is a set of SQL statements stored in the database that can be reused, promoting modular programming.</a:t>
            </a:r>
          </a:p>
        </p:txBody>
      </p:sp>
    </p:spTree>
    <p:extLst>
      <p:ext uri="{BB962C8B-B14F-4D97-AF65-F5344CB8AC3E}">
        <p14:creationId xmlns:p14="http://schemas.microsoft.com/office/powerpoint/2010/main" val="251738271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08875-0B11-5FA6-14B9-E380932248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5BA510-4D2E-F8E1-41CB-33D95F6A1026}"/>
              </a:ext>
            </a:extLst>
          </p:cNvPr>
          <p:cNvSpPr txBox="1"/>
          <p:nvPr/>
        </p:nvSpPr>
        <p:spPr>
          <a:xfrm>
            <a:off x="2477069" y="1174102"/>
            <a:ext cx="4954136" cy="451662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133. Explain the GROUP BY and HAVING clauses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GROUP BY: GROUP BY aggregates data into groups based on specified columns (like department or date).</a:t>
            </a:r>
          </a:p>
          <a:p>
            <a:pPr algn="just">
              <a:lnSpc>
                <a:spcPts val="2100"/>
              </a:lnSpc>
              <a:spcBef>
                <a:spcPts val="750"/>
              </a:spcBef>
              <a:buNone/>
            </a:pPr>
            <a:r>
              <a:rPr lang="en-US" b="0" i="0" dirty="0">
                <a:solidFill>
                  <a:srgbClr val="3A3A3A"/>
                </a:solidFill>
                <a:effectLst/>
                <a:latin typeface="Roboto" panose="02000000000000000000" pitchFamily="2" charset="0"/>
              </a:rPr>
              <a:t>HAVING: HAVING filters these groups after aggregation, similar to WHERE for individual rows.</a:t>
            </a:r>
          </a:p>
          <a:p>
            <a:pPr algn="just">
              <a:lnSpc>
                <a:spcPts val="2100"/>
              </a:lnSpc>
              <a:spcBef>
                <a:spcPts val="750"/>
              </a:spcBef>
              <a:buNone/>
            </a:pPr>
            <a:r>
              <a:rPr lang="en-US" b="0" i="0" dirty="0">
                <a:solidFill>
                  <a:srgbClr val="3A3A3A"/>
                </a:solidFill>
                <a:effectLst/>
                <a:latin typeface="Roboto" panose="02000000000000000000" pitchFamily="2" charset="0"/>
              </a:rPr>
              <a:t>Example: SELECT department, AVG(salary) FROM employees GROUP BY department HAVING AVG(salary) &gt; 80000 shows only departments with an average salary above 60k.</a:t>
            </a:r>
          </a:p>
        </p:txBody>
      </p:sp>
    </p:spTree>
    <p:extLst>
      <p:ext uri="{BB962C8B-B14F-4D97-AF65-F5344CB8AC3E}">
        <p14:creationId xmlns:p14="http://schemas.microsoft.com/office/powerpoint/2010/main" val="61776864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19E9C-D670-24D7-CE51-BE063E52F7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BF4A36-B91D-7A5E-FE5D-484FA728CD6E}"/>
              </a:ext>
            </a:extLst>
          </p:cNvPr>
          <p:cNvSpPr txBox="1"/>
          <p:nvPr/>
        </p:nvSpPr>
        <p:spPr>
          <a:xfrm>
            <a:off x="2477069" y="45588"/>
            <a:ext cx="4954136" cy="677364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134. What are the different types of SQL commands?</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SQL commands are broadly classified into five categories: DDL (Data Definition Language), DML (Data Manipulation Language), DCL (Data Control Language), TCL (Transaction Control Language), and DQL (Data Query Language).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DDL consists of commands such as CREATE, ALTER, and DROP.</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DML consists of INSERT, UPDATE, and DELETE.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DCL consists of GRANT and REVOKE.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TCL consists of COMMIT, ROLLBACK, and SAVEPOINT.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DQL is mainly the SELECT command.</a:t>
            </a:r>
          </a:p>
          <a:p>
            <a:pPr algn="just">
              <a:lnSpc>
                <a:spcPts val="2100"/>
              </a:lnSpc>
              <a:spcBef>
                <a:spcPts val="1650"/>
              </a:spcBef>
              <a:buNone/>
            </a:pPr>
            <a:r>
              <a:rPr lang="en-US" b="0" i="0" dirty="0">
                <a:solidFill>
                  <a:srgbClr val="3A3A3A"/>
                </a:solidFill>
                <a:effectLst/>
                <a:latin typeface="Roboto" panose="02000000000000000000" pitchFamily="2" charset="0"/>
              </a:rPr>
              <a:t>The SQL command types are various ways to handle the database structure, perform data operations, and regulate access.</a:t>
            </a:r>
          </a:p>
        </p:txBody>
      </p:sp>
    </p:spTree>
    <p:extLst>
      <p:ext uri="{BB962C8B-B14F-4D97-AF65-F5344CB8AC3E}">
        <p14:creationId xmlns:p14="http://schemas.microsoft.com/office/powerpoint/2010/main" val="22989548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205F9-528A-EF62-CD45-72763AE5B5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BDC39B-E893-4052-C2A4-E03C59666DCC}"/>
              </a:ext>
            </a:extLst>
          </p:cNvPr>
          <p:cNvSpPr txBox="1"/>
          <p:nvPr/>
        </p:nvSpPr>
        <p:spPr>
          <a:xfrm>
            <a:off x="2477069" y="2623216"/>
            <a:ext cx="4954136" cy="161839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135. What is a subquery?</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A subquery is a </a:t>
            </a:r>
            <a:r>
              <a:rPr lang="en-US" b="0" i="0" u="none" strike="noStrike" dirty="0">
                <a:solidFill>
                  <a:srgbClr val="0F5A9E"/>
                </a:solidFill>
                <a:effectLst/>
                <a:latin typeface="Roboto" panose="02000000000000000000" pitchFamily="2" charset="0"/>
                <a:hlinkClick r:id="rId2"/>
              </a:rPr>
              <a:t>query nested</a:t>
            </a:r>
            <a:r>
              <a:rPr lang="en-US" b="0" i="0" dirty="0">
                <a:solidFill>
                  <a:srgbClr val="3A3A3A"/>
                </a:solidFill>
                <a:effectLst/>
                <a:latin typeface="Roboto" panose="02000000000000000000" pitchFamily="2" charset="0"/>
              </a:rPr>
              <a:t> within another query, enabling more complex data retrieval.</a:t>
            </a:r>
          </a:p>
        </p:txBody>
      </p:sp>
    </p:spTree>
    <p:extLst>
      <p:ext uri="{BB962C8B-B14F-4D97-AF65-F5344CB8AC3E}">
        <p14:creationId xmlns:p14="http://schemas.microsoft.com/office/powerpoint/2010/main" val="9233708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D125A-7C4D-A49A-5BCC-75AD73CFF1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D11CF2-CC77-AAAA-1B03-0D100E2B5ABA}"/>
              </a:ext>
            </a:extLst>
          </p:cNvPr>
          <p:cNvSpPr txBox="1"/>
          <p:nvPr/>
        </p:nvSpPr>
        <p:spPr>
          <a:xfrm>
            <a:off x="2477069" y="1621660"/>
            <a:ext cx="4954136" cy="36215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136. Explain the difference between a correlated subquery and a nested subquery.</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Correlated Subquery: References data from the outer query in its WHERE clause.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Nested Subquery: This can be placed anywhere in the outer query and does not directly reference the outer table.</a:t>
            </a:r>
          </a:p>
          <a:p>
            <a:pPr>
              <a:buNone/>
            </a:pPr>
            <a:br>
              <a:rPr lang="en-US" dirty="0"/>
            </a:br>
            <a:endParaRPr lang="en-US" dirty="0"/>
          </a:p>
        </p:txBody>
      </p:sp>
    </p:spTree>
    <p:extLst>
      <p:ext uri="{BB962C8B-B14F-4D97-AF65-F5344CB8AC3E}">
        <p14:creationId xmlns:p14="http://schemas.microsoft.com/office/powerpoint/2010/main" val="410668424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273BA-F2AD-9CD3-335D-622CAFABC4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491A47-BD04-FEC4-F1C2-89AD8A6EBF4A}"/>
              </a:ext>
            </a:extLst>
          </p:cNvPr>
          <p:cNvSpPr txBox="1"/>
          <p:nvPr/>
        </p:nvSpPr>
        <p:spPr>
          <a:xfrm>
            <a:off x="2477069" y="1629355"/>
            <a:ext cx="4954136" cy="36061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137. How do window functions work?</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Window functions perform calculations across related rows without collapsing them like GROUP BY.</a:t>
            </a:r>
          </a:p>
          <a:p>
            <a:pPr algn="just">
              <a:lnSpc>
                <a:spcPts val="2100"/>
              </a:lnSpc>
              <a:spcBef>
                <a:spcPts val="750"/>
              </a:spcBef>
              <a:buNone/>
            </a:pPr>
            <a:r>
              <a:rPr lang="en-US" b="0" i="0" dirty="0">
                <a:solidFill>
                  <a:srgbClr val="3A3A3A"/>
                </a:solidFill>
                <a:effectLst/>
                <a:latin typeface="Roboto" panose="02000000000000000000" pitchFamily="2" charset="0"/>
              </a:rPr>
              <a:t>Example: RANK() OVER (PARTITION BY department ORDER BY salary DESC) ranks salaries within each department. They’re powerful for </a:t>
            </a:r>
            <a:r>
              <a:rPr lang="en-US" b="0" i="0" u="none" strike="noStrike" dirty="0">
                <a:solidFill>
                  <a:srgbClr val="0F5A9E"/>
                </a:solidFill>
                <a:effectLst/>
                <a:latin typeface="Roboto" panose="02000000000000000000" pitchFamily="2" charset="0"/>
                <a:hlinkClick r:id="rId2"/>
              </a:rPr>
              <a:t>running totals</a:t>
            </a:r>
            <a:r>
              <a:rPr lang="en-US" b="0" i="0" dirty="0">
                <a:solidFill>
                  <a:srgbClr val="3A3A3A"/>
                </a:solidFill>
                <a:effectLst/>
                <a:latin typeface="Roboto" panose="02000000000000000000" pitchFamily="2" charset="0"/>
              </a:rPr>
              <a:t>, rankings, and moving averages while preserving original rows.</a:t>
            </a:r>
          </a:p>
        </p:txBody>
      </p:sp>
    </p:spTree>
    <p:extLst>
      <p:ext uri="{BB962C8B-B14F-4D97-AF65-F5344CB8AC3E}">
        <p14:creationId xmlns:p14="http://schemas.microsoft.com/office/powerpoint/2010/main" val="39966227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E1774-BD2B-CB39-6F75-B33A349F55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63F2DD-BDAD-C937-CD05-F75365E4B2B5}"/>
              </a:ext>
            </a:extLst>
          </p:cNvPr>
          <p:cNvSpPr txBox="1"/>
          <p:nvPr/>
        </p:nvSpPr>
        <p:spPr>
          <a:xfrm>
            <a:off x="2477069" y="1606271"/>
            <a:ext cx="4954136" cy="365228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138. What is a trigger?</a:t>
            </a:r>
            <a:br>
              <a:rPr lang="en-US" b="0" i="0" dirty="0">
                <a:solidFill>
                  <a:srgbClr val="272C37"/>
                </a:solidFill>
                <a:effectLst/>
                <a:latin typeface="Roboto" panose="02000000000000000000" pitchFamily="2" charset="0"/>
              </a:rPr>
            </a:br>
            <a:endParaRPr lang="en-US" b="0" i="0" dirty="0">
              <a:solidFill>
                <a:srgbClr val="272C37"/>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u="none" strike="noStrike" dirty="0">
                <a:solidFill>
                  <a:srgbClr val="0F5A9E"/>
                </a:solidFill>
                <a:effectLst/>
                <a:latin typeface="Roboto" panose="02000000000000000000" pitchFamily="2" charset="0"/>
                <a:hlinkClick r:id="rId2"/>
              </a:rPr>
              <a:t>trigger</a:t>
            </a:r>
            <a:r>
              <a:rPr lang="en-US" b="0" i="0" dirty="0">
                <a:solidFill>
                  <a:srgbClr val="3A3A3A"/>
                </a:solidFill>
                <a:effectLst/>
                <a:latin typeface="Roboto" panose="02000000000000000000" pitchFamily="2" charset="0"/>
              </a:rPr>
              <a:t> is used to do an automatic process when a particular event happens in the database or table. It helps in maintaining the integrity of the table and associated tables. The trigger can be activated when SQL commands like insert, update, and delete are fired. The syntax used to generate the trigger function is as follows:</a:t>
            </a:r>
          </a:p>
          <a:p>
            <a:pPr algn="l">
              <a:spcBef>
                <a:spcPts val="1125"/>
              </a:spcBef>
              <a:spcAft>
                <a:spcPts val="375"/>
              </a:spcAft>
              <a:buNone/>
            </a:pPr>
            <a:r>
              <a:rPr lang="en-US" b="0" i="0" dirty="0">
                <a:solidFill>
                  <a:srgbClr val="212529"/>
                </a:solidFill>
                <a:effectLst/>
                <a:latin typeface="Courier New" panose="02070309020205020404" pitchFamily="49" charset="0"/>
              </a:rPr>
              <a:t>CREATE TRIGGER </a:t>
            </a:r>
            <a:r>
              <a:rPr lang="en-US" b="0" i="0" dirty="0" err="1">
                <a:solidFill>
                  <a:srgbClr val="212529"/>
                </a:solidFill>
                <a:effectLst/>
                <a:latin typeface="Courier New" panose="02070309020205020404" pitchFamily="49" charset="0"/>
              </a:rPr>
              <a:t>trigger_name</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4077693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53F70-5A1A-E6E3-D83B-4411555A1C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CF6103-FBF3-8DE5-030D-919701F4FBCF}"/>
              </a:ext>
            </a:extLst>
          </p:cNvPr>
          <p:cNvSpPr txBox="1"/>
          <p:nvPr/>
        </p:nvSpPr>
        <p:spPr>
          <a:xfrm>
            <a:off x="532262" y="407562"/>
            <a:ext cx="6980829" cy="55964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139. How would you track changes to sensitive data for auditing?</a:t>
            </a:r>
          </a:p>
          <a:p>
            <a:pPr algn="l">
              <a:spcBef>
                <a:spcPts val="1125"/>
              </a:spcBef>
              <a:spcAft>
                <a:spcPts val="375"/>
              </a:spcAft>
              <a:buNone/>
            </a:pPr>
            <a:r>
              <a:rPr lang="en-US" b="0" i="0" dirty="0">
                <a:solidFill>
                  <a:srgbClr val="212529"/>
                </a:solidFill>
                <a:effectLst/>
                <a:latin typeface="Courier New" panose="02070309020205020404" pitchFamily="49" charset="0"/>
              </a:rPr>
              <a:t>-- Create a table named '</a:t>
            </a:r>
            <a:r>
              <a:rPr lang="en-US" b="0" i="0" dirty="0" err="1">
                <a:solidFill>
                  <a:srgbClr val="212529"/>
                </a:solidFill>
                <a:effectLst/>
                <a:latin typeface="Courier New" panose="02070309020205020404" pitchFamily="49" charset="0"/>
              </a:rPr>
              <a:t>audit_log</a:t>
            </a:r>
            <a:r>
              <a:rPr lang="en-US" b="0" i="0" dirty="0">
                <a:solidFill>
                  <a:srgbClr val="212529"/>
                </a:solidFill>
                <a:effectLst/>
                <a:latin typeface="Courier New" panose="02070309020205020404" pitchFamily="49" charset="0"/>
              </a:rPr>
              <a:t>' to track changes in data</a:t>
            </a:r>
          </a:p>
          <a:p>
            <a:pPr algn="l">
              <a:spcBef>
                <a:spcPts val="1125"/>
              </a:spcBef>
              <a:spcAft>
                <a:spcPts val="375"/>
              </a:spcAft>
              <a:buNone/>
            </a:pPr>
            <a:r>
              <a:rPr lang="en-US" b="0" i="0" dirty="0">
                <a:solidFill>
                  <a:srgbClr val="212529"/>
                </a:solidFill>
                <a:effectLst/>
                <a:latin typeface="Courier New" panose="02070309020205020404" pitchFamily="49" charset="0"/>
              </a:rPr>
              <a:t>CREATE TABLE </a:t>
            </a:r>
            <a:r>
              <a:rPr lang="en-US" b="0" i="0" dirty="0" err="1">
                <a:solidFill>
                  <a:srgbClr val="212529"/>
                </a:solidFill>
                <a:effectLst/>
                <a:latin typeface="Courier New" panose="02070309020205020404" pitchFamily="49" charset="0"/>
              </a:rPr>
              <a:t>audit_log</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change_time</a:t>
            </a:r>
            <a:r>
              <a:rPr lang="en-US" b="0" i="0" dirty="0">
                <a:solidFill>
                  <a:srgbClr val="212529"/>
                </a:solidFill>
                <a:effectLst/>
                <a:latin typeface="Courier New" panose="02070309020205020404" pitchFamily="49" charset="0"/>
              </a:rPr>
              <a:t> TIMESTAMP,</a:t>
            </a:r>
          </a:p>
          <a:p>
            <a:pPr algn="l">
              <a:spcBef>
                <a:spcPts val="1125"/>
              </a:spcBef>
              <a:spcAft>
                <a:spcPts val="375"/>
              </a:spcAft>
              <a:buNone/>
            </a:pPr>
            <a:r>
              <a:rPr lang="en-US" b="0" i="0" dirty="0">
                <a:solidFill>
                  <a:srgbClr val="212529"/>
                </a:solidFill>
                <a:effectLst/>
                <a:latin typeface="Courier New" panose="02070309020205020404" pitchFamily="49" charset="0"/>
              </a:rPr>
              <a:t>-- Timestamp of when the change occurred   </a:t>
            </a:r>
            <a:r>
              <a:rPr lang="en-US" b="0" i="0" dirty="0" err="1">
                <a:solidFill>
                  <a:srgbClr val="212529"/>
                </a:solidFill>
                <a:effectLst/>
                <a:latin typeface="Courier New" panose="02070309020205020404" pitchFamily="49" charset="0"/>
              </a:rPr>
              <a:t>user_id</a:t>
            </a:r>
            <a:r>
              <a:rPr lang="en-US" b="0" i="0" dirty="0">
                <a:solidFill>
                  <a:srgbClr val="212529"/>
                </a:solidFill>
                <a:effectLst/>
                <a:latin typeface="Courier New" panose="02070309020205020404" pitchFamily="49" charset="0"/>
              </a:rPr>
              <a:t> INT,</a:t>
            </a:r>
          </a:p>
          <a:p>
            <a:pPr algn="l">
              <a:spcBef>
                <a:spcPts val="1125"/>
              </a:spcBef>
              <a:spcAft>
                <a:spcPts val="375"/>
              </a:spcAft>
              <a:buNone/>
            </a:pPr>
            <a:r>
              <a:rPr lang="en-US" b="0" i="0" dirty="0">
                <a:solidFill>
                  <a:srgbClr val="212529"/>
                </a:solidFill>
                <a:effectLst/>
                <a:latin typeface="Courier New" panose="02070309020205020404" pitchFamily="49" charset="0"/>
              </a:rPr>
              <a:t>-- Id of the user who made the change   </a:t>
            </a:r>
            <a:r>
              <a:rPr lang="en-US" b="0" i="0" dirty="0" err="1">
                <a:solidFill>
                  <a:srgbClr val="212529"/>
                </a:solidFill>
                <a:effectLst/>
                <a:latin typeface="Courier New" panose="02070309020205020404" pitchFamily="49" charset="0"/>
              </a:rPr>
              <a:t>old_value</a:t>
            </a:r>
            <a:r>
              <a:rPr lang="en-US" b="0" i="0" dirty="0">
                <a:solidFill>
                  <a:srgbClr val="212529"/>
                </a:solidFill>
                <a:effectLst/>
                <a:latin typeface="Courier New" panose="02070309020205020404" pitchFamily="49" charset="0"/>
              </a:rPr>
              <a:t> JSONB,</a:t>
            </a:r>
          </a:p>
          <a:p>
            <a:pPr algn="l">
              <a:spcBef>
                <a:spcPts val="1125"/>
              </a:spcBef>
              <a:spcAft>
                <a:spcPts val="375"/>
              </a:spcAft>
              <a:buNone/>
            </a:pPr>
            <a:r>
              <a:rPr lang="en-US" b="0" i="0" dirty="0">
                <a:solidFill>
                  <a:srgbClr val="212529"/>
                </a:solidFill>
                <a:effectLst/>
                <a:latin typeface="Courier New" panose="02070309020205020404" pitchFamily="49" charset="0"/>
              </a:rPr>
              <a:t>-- Previous state of the data stored as JSONB</a:t>
            </a:r>
          </a:p>
          <a:p>
            <a:pPr algn="l">
              <a:spcBef>
                <a:spcPts val="1125"/>
              </a:spcBef>
              <a:spcAft>
                <a:spcPts val="375"/>
              </a:spcAft>
              <a:buNone/>
            </a:pPr>
            <a:r>
              <a:rPr lang="en-US" b="0" i="0" dirty="0" err="1">
                <a:solidFill>
                  <a:srgbClr val="212529"/>
                </a:solidFill>
                <a:effectLst/>
                <a:latin typeface="Courier New" panose="02070309020205020404" pitchFamily="49" charset="0"/>
              </a:rPr>
              <a:t>new_value</a:t>
            </a:r>
            <a:r>
              <a:rPr lang="en-US" b="0" i="0" dirty="0">
                <a:solidFill>
                  <a:srgbClr val="212529"/>
                </a:solidFill>
                <a:effectLst/>
                <a:latin typeface="Courier New" panose="02070309020205020404" pitchFamily="49" charset="0"/>
              </a:rPr>
              <a:t> JSONB</a:t>
            </a:r>
          </a:p>
          <a:p>
            <a:pPr algn="l">
              <a:spcBef>
                <a:spcPts val="1125"/>
              </a:spcBef>
              <a:spcAft>
                <a:spcPts val="375"/>
              </a:spcAft>
              <a:buNone/>
            </a:pPr>
            <a:r>
              <a:rPr lang="en-US" b="0" i="0" dirty="0">
                <a:solidFill>
                  <a:srgbClr val="212529"/>
                </a:solidFill>
                <a:effectLst/>
                <a:latin typeface="Courier New" panose="02070309020205020404" pitchFamily="49" charset="0"/>
              </a:rPr>
              <a:t>-- Updated state of the data stored as JSONB );</a:t>
            </a:r>
          </a:p>
          <a:p>
            <a:pPr algn="l">
              <a:spcBef>
                <a:spcPts val="1125"/>
              </a:spcBef>
              <a:spcAft>
                <a:spcPts val="375"/>
              </a:spcAft>
              <a:buNone/>
            </a:pPr>
            <a:r>
              <a:rPr lang="en-US" b="0" i="0" dirty="0">
                <a:solidFill>
                  <a:srgbClr val="212529"/>
                </a:solidFill>
                <a:effectLst/>
                <a:latin typeface="Courier New" panose="02070309020205020404" pitchFamily="49" charset="0"/>
              </a:rPr>
              <a:t>Use triggers or CDC (Change Data Capture)</a:t>
            </a:r>
          </a:p>
          <a:p>
            <a:pPr algn="l">
              <a:spcBef>
                <a:spcPts val="1125"/>
              </a:spcBef>
              <a:spcAft>
                <a:spcPts val="375"/>
              </a:spcAft>
              <a:buNone/>
            </a:pPr>
            <a:r>
              <a:rPr lang="en-US" b="0" i="0" dirty="0">
                <a:solidFill>
                  <a:srgbClr val="212529"/>
                </a:solidFill>
                <a:effectLst/>
                <a:latin typeface="Courier New" panose="02070309020205020404" pitchFamily="49" charset="0"/>
              </a:rPr>
              <a:t>to populate this table. </a:t>
            </a:r>
          </a:p>
        </p:txBody>
      </p:sp>
    </p:spTree>
    <p:extLst>
      <p:ext uri="{BB962C8B-B14F-4D97-AF65-F5344CB8AC3E}">
        <p14:creationId xmlns:p14="http://schemas.microsoft.com/office/powerpoint/2010/main" val="126632347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D0EF0-7E58-EC3F-B0A4-8FB4E20DB8FE}"/>
            </a:ext>
          </a:extLst>
        </p:cNvPr>
        <p:cNvGrpSpPr/>
        <p:nvPr/>
      </p:nvGrpSpPr>
      <p:grpSpPr>
        <a:xfrm>
          <a:off x="0" y="0"/>
          <a:ext cx="0" cy="0"/>
          <a:chOff x="0" y="0"/>
          <a:chExt cx="0" cy="0"/>
        </a:xfrm>
      </p:grpSpPr>
    </p:spTree>
    <p:extLst>
      <p:ext uri="{BB962C8B-B14F-4D97-AF65-F5344CB8AC3E}">
        <p14:creationId xmlns:p14="http://schemas.microsoft.com/office/powerpoint/2010/main" val="112244327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03615-3A40-DDB9-A5E6-5D245B0DBD18}"/>
            </a:ext>
          </a:extLst>
        </p:cNvPr>
        <p:cNvGrpSpPr/>
        <p:nvPr/>
      </p:nvGrpSpPr>
      <p:grpSpPr>
        <a:xfrm>
          <a:off x="0" y="0"/>
          <a:ext cx="0" cy="0"/>
          <a:chOff x="0" y="0"/>
          <a:chExt cx="0" cy="0"/>
        </a:xfrm>
      </p:grpSpPr>
    </p:spTree>
    <p:extLst>
      <p:ext uri="{BB962C8B-B14F-4D97-AF65-F5344CB8AC3E}">
        <p14:creationId xmlns:p14="http://schemas.microsoft.com/office/powerpoint/2010/main" val="203754462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A7C4F-740E-CDC3-D012-CB44A45AA33B}"/>
            </a:ext>
          </a:extLst>
        </p:cNvPr>
        <p:cNvGrpSpPr/>
        <p:nvPr/>
      </p:nvGrpSpPr>
      <p:grpSpPr>
        <a:xfrm>
          <a:off x="0" y="0"/>
          <a:ext cx="0" cy="0"/>
          <a:chOff x="0" y="0"/>
          <a:chExt cx="0" cy="0"/>
        </a:xfrm>
      </p:grpSpPr>
    </p:spTree>
    <p:extLst>
      <p:ext uri="{BB962C8B-B14F-4D97-AF65-F5344CB8AC3E}">
        <p14:creationId xmlns:p14="http://schemas.microsoft.com/office/powerpoint/2010/main" val="365168189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4C92B-C50A-B8B3-17EC-C4F25832F8A2}"/>
            </a:ext>
          </a:extLst>
        </p:cNvPr>
        <p:cNvGrpSpPr/>
        <p:nvPr/>
      </p:nvGrpSpPr>
      <p:grpSpPr>
        <a:xfrm>
          <a:off x="0" y="0"/>
          <a:ext cx="0" cy="0"/>
          <a:chOff x="0" y="0"/>
          <a:chExt cx="0" cy="0"/>
        </a:xfrm>
      </p:grpSpPr>
    </p:spTree>
    <p:extLst>
      <p:ext uri="{BB962C8B-B14F-4D97-AF65-F5344CB8AC3E}">
        <p14:creationId xmlns:p14="http://schemas.microsoft.com/office/powerpoint/2010/main" val="16086358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3F47-F525-8534-AA8A-7A13E41178FF}"/>
            </a:ext>
          </a:extLst>
        </p:cNvPr>
        <p:cNvGrpSpPr/>
        <p:nvPr/>
      </p:nvGrpSpPr>
      <p:grpSpPr>
        <a:xfrm>
          <a:off x="0" y="0"/>
          <a:ext cx="0" cy="0"/>
          <a:chOff x="0" y="0"/>
          <a:chExt cx="0" cy="0"/>
        </a:xfrm>
      </p:grpSpPr>
    </p:spTree>
    <p:extLst>
      <p:ext uri="{BB962C8B-B14F-4D97-AF65-F5344CB8AC3E}">
        <p14:creationId xmlns:p14="http://schemas.microsoft.com/office/powerpoint/2010/main" val="35382186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515A-79E7-30F4-4B2B-29C3C907D746}"/>
            </a:ext>
          </a:extLst>
        </p:cNvPr>
        <p:cNvGrpSpPr/>
        <p:nvPr/>
      </p:nvGrpSpPr>
      <p:grpSpPr>
        <a:xfrm>
          <a:off x="0" y="0"/>
          <a:ext cx="0" cy="0"/>
          <a:chOff x="0" y="0"/>
          <a:chExt cx="0" cy="0"/>
        </a:xfrm>
      </p:grpSpPr>
    </p:spTree>
    <p:extLst>
      <p:ext uri="{BB962C8B-B14F-4D97-AF65-F5344CB8AC3E}">
        <p14:creationId xmlns:p14="http://schemas.microsoft.com/office/powerpoint/2010/main" val="38628844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17F2-52F9-1D60-F79D-BE79B78721CC}"/>
            </a:ext>
          </a:extLst>
        </p:cNvPr>
        <p:cNvGrpSpPr/>
        <p:nvPr/>
      </p:nvGrpSpPr>
      <p:grpSpPr>
        <a:xfrm>
          <a:off x="0" y="0"/>
          <a:ext cx="0" cy="0"/>
          <a:chOff x="0" y="0"/>
          <a:chExt cx="0" cy="0"/>
        </a:xfrm>
      </p:grpSpPr>
    </p:spTree>
    <p:extLst>
      <p:ext uri="{BB962C8B-B14F-4D97-AF65-F5344CB8AC3E}">
        <p14:creationId xmlns:p14="http://schemas.microsoft.com/office/powerpoint/2010/main" val="401681654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EF811-B89B-625F-784A-C07D9171B87F}"/>
            </a:ext>
          </a:extLst>
        </p:cNvPr>
        <p:cNvGrpSpPr/>
        <p:nvPr/>
      </p:nvGrpSpPr>
      <p:grpSpPr>
        <a:xfrm>
          <a:off x="0" y="0"/>
          <a:ext cx="0" cy="0"/>
          <a:chOff x="0" y="0"/>
          <a:chExt cx="0" cy="0"/>
        </a:xfrm>
      </p:grpSpPr>
    </p:spTree>
    <p:extLst>
      <p:ext uri="{BB962C8B-B14F-4D97-AF65-F5344CB8AC3E}">
        <p14:creationId xmlns:p14="http://schemas.microsoft.com/office/powerpoint/2010/main" val="214032468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59271-7B26-8E5F-69A5-92BAD4E2A156}"/>
            </a:ext>
          </a:extLst>
        </p:cNvPr>
        <p:cNvGrpSpPr/>
        <p:nvPr/>
      </p:nvGrpSpPr>
      <p:grpSpPr>
        <a:xfrm>
          <a:off x="0" y="0"/>
          <a:ext cx="0" cy="0"/>
          <a:chOff x="0" y="0"/>
          <a:chExt cx="0" cy="0"/>
        </a:xfrm>
      </p:grpSpPr>
    </p:spTree>
    <p:extLst>
      <p:ext uri="{BB962C8B-B14F-4D97-AF65-F5344CB8AC3E}">
        <p14:creationId xmlns:p14="http://schemas.microsoft.com/office/powerpoint/2010/main" val="251071969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8DC44-11DD-9E05-13B6-8CA326ECEB8D}"/>
            </a:ext>
          </a:extLst>
        </p:cNvPr>
        <p:cNvGrpSpPr/>
        <p:nvPr/>
      </p:nvGrpSpPr>
      <p:grpSpPr>
        <a:xfrm>
          <a:off x="0" y="0"/>
          <a:ext cx="0" cy="0"/>
          <a:chOff x="0" y="0"/>
          <a:chExt cx="0" cy="0"/>
        </a:xfrm>
      </p:grpSpPr>
    </p:spTree>
    <p:extLst>
      <p:ext uri="{BB962C8B-B14F-4D97-AF65-F5344CB8AC3E}">
        <p14:creationId xmlns:p14="http://schemas.microsoft.com/office/powerpoint/2010/main" val="28287609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B2E2D-D0F4-599B-437C-D360A6EA82BF}"/>
            </a:ext>
          </a:extLst>
        </p:cNvPr>
        <p:cNvGrpSpPr/>
        <p:nvPr/>
      </p:nvGrpSpPr>
      <p:grpSpPr>
        <a:xfrm>
          <a:off x="0" y="0"/>
          <a:ext cx="0" cy="0"/>
          <a:chOff x="0" y="0"/>
          <a:chExt cx="0" cy="0"/>
        </a:xfrm>
      </p:grpSpPr>
    </p:spTree>
    <p:extLst>
      <p:ext uri="{BB962C8B-B14F-4D97-AF65-F5344CB8AC3E}">
        <p14:creationId xmlns:p14="http://schemas.microsoft.com/office/powerpoint/2010/main" val="58978933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48D1-4EA2-F390-F4C6-DF395613A1F7}"/>
            </a:ext>
          </a:extLst>
        </p:cNvPr>
        <p:cNvGrpSpPr/>
        <p:nvPr/>
      </p:nvGrpSpPr>
      <p:grpSpPr>
        <a:xfrm>
          <a:off x="0" y="0"/>
          <a:ext cx="0" cy="0"/>
          <a:chOff x="0" y="0"/>
          <a:chExt cx="0" cy="0"/>
        </a:xfrm>
      </p:grpSpPr>
    </p:spTree>
    <p:extLst>
      <p:ext uri="{BB962C8B-B14F-4D97-AF65-F5344CB8AC3E}">
        <p14:creationId xmlns:p14="http://schemas.microsoft.com/office/powerpoint/2010/main" val="191745681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1504-8049-DDD7-6B26-13E46C3236FE}"/>
            </a:ext>
          </a:extLst>
        </p:cNvPr>
        <p:cNvGrpSpPr/>
        <p:nvPr/>
      </p:nvGrpSpPr>
      <p:grpSpPr>
        <a:xfrm>
          <a:off x="0" y="0"/>
          <a:ext cx="0" cy="0"/>
          <a:chOff x="0" y="0"/>
          <a:chExt cx="0" cy="0"/>
        </a:xfrm>
      </p:grpSpPr>
    </p:spTree>
    <p:extLst>
      <p:ext uri="{BB962C8B-B14F-4D97-AF65-F5344CB8AC3E}">
        <p14:creationId xmlns:p14="http://schemas.microsoft.com/office/powerpoint/2010/main" val="285917797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A931B-B1B5-103A-D2D8-EB21F3257A47}"/>
            </a:ext>
          </a:extLst>
        </p:cNvPr>
        <p:cNvGrpSpPr/>
        <p:nvPr/>
      </p:nvGrpSpPr>
      <p:grpSpPr>
        <a:xfrm>
          <a:off x="0" y="0"/>
          <a:ext cx="0" cy="0"/>
          <a:chOff x="0" y="0"/>
          <a:chExt cx="0" cy="0"/>
        </a:xfrm>
      </p:grpSpPr>
    </p:spTree>
    <p:extLst>
      <p:ext uri="{BB962C8B-B14F-4D97-AF65-F5344CB8AC3E}">
        <p14:creationId xmlns:p14="http://schemas.microsoft.com/office/powerpoint/2010/main" val="315447005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2BCA9-18DA-20E2-00BF-0145E9FB9CC9}"/>
            </a:ext>
          </a:extLst>
        </p:cNvPr>
        <p:cNvGrpSpPr/>
        <p:nvPr/>
      </p:nvGrpSpPr>
      <p:grpSpPr>
        <a:xfrm>
          <a:off x="0" y="0"/>
          <a:ext cx="0" cy="0"/>
          <a:chOff x="0" y="0"/>
          <a:chExt cx="0" cy="0"/>
        </a:xfrm>
      </p:grpSpPr>
    </p:spTree>
    <p:extLst>
      <p:ext uri="{BB962C8B-B14F-4D97-AF65-F5344CB8AC3E}">
        <p14:creationId xmlns:p14="http://schemas.microsoft.com/office/powerpoint/2010/main" val="42102284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A3731-7E7F-6FA0-1229-9AB904A04610}"/>
            </a:ext>
          </a:extLst>
        </p:cNvPr>
        <p:cNvGrpSpPr/>
        <p:nvPr/>
      </p:nvGrpSpPr>
      <p:grpSpPr>
        <a:xfrm>
          <a:off x="0" y="0"/>
          <a:ext cx="0" cy="0"/>
          <a:chOff x="0" y="0"/>
          <a:chExt cx="0" cy="0"/>
        </a:xfrm>
      </p:grpSpPr>
    </p:spTree>
    <p:extLst>
      <p:ext uri="{BB962C8B-B14F-4D97-AF65-F5344CB8AC3E}">
        <p14:creationId xmlns:p14="http://schemas.microsoft.com/office/powerpoint/2010/main" val="6175624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180D7-9B2E-56D4-6337-853C49DEA0E8}"/>
            </a:ext>
          </a:extLst>
        </p:cNvPr>
        <p:cNvGrpSpPr/>
        <p:nvPr/>
      </p:nvGrpSpPr>
      <p:grpSpPr>
        <a:xfrm>
          <a:off x="0" y="0"/>
          <a:ext cx="0" cy="0"/>
          <a:chOff x="0" y="0"/>
          <a:chExt cx="0" cy="0"/>
        </a:xfrm>
      </p:grpSpPr>
    </p:spTree>
    <p:extLst>
      <p:ext uri="{BB962C8B-B14F-4D97-AF65-F5344CB8AC3E}">
        <p14:creationId xmlns:p14="http://schemas.microsoft.com/office/powerpoint/2010/main" val="292581681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9070B-098D-E3E8-7714-64F3ACB1E866}"/>
            </a:ext>
          </a:extLst>
        </p:cNvPr>
        <p:cNvGrpSpPr/>
        <p:nvPr/>
      </p:nvGrpSpPr>
      <p:grpSpPr>
        <a:xfrm>
          <a:off x="0" y="0"/>
          <a:ext cx="0" cy="0"/>
          <a:chOff x="0" y="0"/>
          <a:chExt cx="0" cy="0"/>
        </a:xfrm>
      </p:grpSpPr>
    </p:spTree>
    <p:extLst>
      <p:ext uri="{BB962C8B-B14F-4D97-AF65-F5344CB8AC3E}">
        <p14:creationId xmlns:p14="http://schemas.microsoft.com/office/powerpoint/2010/main" val="339550363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ECD5-4FA0-7E4C-13E6-9C3C0DF02BC1}"/>
            </a:ext>
          </a:extLst>
        </p:cNvPr>
        <p:cNvGrpSpPr/>
        <p:nvPr/>
      </p:nvGrpSpPr>
      <p:grpSpPr>
        <a:xfrm>
          <a:off x="0" y="0"/>
          <a:ext cx="0" cy="0"/>
          <a:chOff x="0" y="0"/>
          <a:chExt cx="0" cy="0"/>
        </a:xfrm>
      </p:grpSpPr>
    </p:spTree>
    <p:extLst>
      <p:ext uri="{BB962C8B-B14F-4D97-AF65-F5344CB8AC3E}">
        <p14:creationId xmlns:p14="http://schemas.microsoft.com/office/powerpoint/2010/main" val="163708319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E55B7-236A-A28D-17F4-C01CB99CE754}"/>
            </a:ext>
          </a:extLst>
        </p:cNvPr>
        <p:cNvGrpSpPr/>
        <p:nvPr/>
      </p:nvGrpSpPr>
      <p:grpSpPr>
        <a:xfrm>
          <a:off x="0" y="0"/>
          <a:ext cx="0" cy="0"/>
          <a:chOff x="0" y="0"/>
          <a:chExt cx="0" cy="0"/>
        </a:xfrm>
      </p:grpSpPr>
    </p:spTree>
    <p:extLst>
      <p:ext uri="{BB962C8B-B14F-4D97-AF65-F5344CB8AC3E}">
        <p14:creationId xmlns:p14="http://schemas.microsoft.com/office/powerpoint/2010/main" val="17692777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AB45-1D46-4F05-7E11-043FC6980D00}"/>
            </a:ext>
          </a:extLst>
        </p:cNvPr>
        <p:cNvGrpSpPr/>
        <p:nvPr/>
      </p:nvGrpSpPr>
      <p:grpSpPr>
        <a:xfrm>
          <a:off x="0" y="0"/>
          <a:ext cx="0" cy="0"/>
          <a:chOff x="0" y="0"/>
          <a:chExt cx="0" cy="0"/>
        </a:xfrm>
      </p:grpSpPr>
    </p:spTree>
    <p:extLst>
      <p:ext uri="{BB962C8B-B14F-4D97-AF65-F5344CB8AC3E}">
        <p14:creationId xmlns:p14="http://schemas.microsoft.com/office/powerpoint/2010/main" val="337990109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AB523-244F-8274-C50F-33DBF341EC01}"/>
            </a:ext>
          </a:extLst>
        </p:cNvPr>
        <p:cNvGrpSpPr/>
        <p:nvPr/>
      </p:nvGrpSpPr>
      <p:grpSpPr>
        <a:xfrm>
          <a:off x="0" y="0"/>
          <a:ext cx="0" cy="0"/>
          <a:chOff x="0" y="0"/>
          <a:chExt cx="0" cy="0"/>
        </a:xfrm>
      </p:grpSpPr>
    </p:spTree>
    <p:extLst>
      <p:ext uri="{BB962C8B-B14F-4D97-AF65-F5344CB8AC3E}">
        <p14:creationId xmlns:p14="http://schemas.microsoft.com/office/powerpoint/2010/main" val="381324210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52EC7-8D8B-7D31-1AF2-6C3F65552D56}"/>
            </a:ext>
          </a:extLst>
        </p:cNvPr>
        <p:cNvGrpSpPr/>
        <p:nvPr/>
      </p:nvGrpSpPr>
      <p:grpSpPr>
        <a:xfrm>
          <a:off x="0" y="0"/>
          <a:ext cx="0" cy="0"/>
          <a:chOff x="0" y="0"/>
          <a:chExt cx="0" cy="0"/>
        </a:xfrm>
      </p:grpSpPr>
    </p:spTree>
    <p:extLst>
      <p:ext uri="{BB962C8B-B14F-4D97-AF65-F5344CB8AC3E}">
        <p14:creationId xmlns:p14="http://schemas.microsoft.com/office/powerpoint/2010/main" val="394523358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54BBC-1736-A10D-3591-99023289ECDB}"/>
            </a:ext>
          </a:extLst>
        </p:cNvPr>
        <p:cNvGrpSpPr/>
        <p:nvPr/>
      </p:nvGrpSpPr>
      <p:grpSpPr>
        <a:xfrm>
          <a:off x="0" y="0"/>
          <a:ext cx="0" cy="0"/>
          <a:chOff x="0" y="0"/>
          <a:chExt cx="0" cy="0"/>
        </a:xfrm>
      </p:grpSpPr>
    </p:spTree>
    <p:extLst>
      <p:ext uri="{BB962C8B-B14F-4D97-AF65-F5344CB8AC3E}">
        <p14:creationId xmlns:p14="http://schemas.microsoft.com/office/powerpoint/2010/main" val="142762372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120D2-E19D-D758-8D0C-DAB63E70B064}"/>
            </a:ext>
          </a:extLst>
        </p:cNvPr>
        <p:cNvGrpSpPr/>
        <p:nvPr/>
      </p:nvGrpSpPr>
      <p:grpSpPr>
        <a:xfrm>
          <a:off x="0" y="0"/>
          <a:ext cx="0" cy="0"/>
          <a:chOff x="0" y="0"/>
          <a:chExt cx="0" cy="0"/>
        </a:xfrm>
      </p:grpSpPr>
    </p:spTree>
    <p:extLst>
      <p:ext uri="{BB962C8B-B14F-4D97-AF65-F5344CB8AC3E}">
        <p14:creationId xmlns:p14="http://schemas.microsoft.com/office/powerpoint/2010/main" val="36217445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FEBB-23F3-6916-1C72-52D24A741C06}"/>
            </a:ext>
          </a:extLst>
        </p:cNvPr>
        <p:cNvGrpSpPr/>
        <p:nvPr/>
      </p:nvGrpSpPr>
      <p:grpSpPr>
        <a:xfrm>
          <a:off x="0" y="0"/>
          <a:ext cx="0" cy="0"/>
          <a:chOff x="0" y="0"/>
          <a:chExt cx="0" cy="0"/>
        </a:xfrm>
      </p:grpSpPr>
    </p:spTree>
    <p:extLst>
      <p:ext uri="{BB962C8B-B14F-4D97-AF65-F5344CB8AC3E}">
        <p14:creationId xmlns:p14="http://schemas.microsoft.com/office/powerpoint/2010/main" val="26312600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EC0EB-5016-42CD-148B-B5F6F722ED1D}"/>
            </a:ext>
          </a:extLst>
        </p:cNvPr>
        <p:cNvGrpSpPr/>
        <p:nvPr/>
      </p:nvGrpSpPr>
      <p:grpSpPr>
        <a:xfrm>
          <a:off x="0" y="0"/>
          <a:ext cx="0" cy="0"/>
          <a:chOff x="0" y="0"/>
          <a:chExt cx="0" cy="0"/>
        </a:xfrm>
      </p:grpSpPr>
    </p:spTree>
    <p:extLst>
      <p:ext uri="{BB962C8B-B14F-4D97-AF65-F5344CB8AC3E}">
        <p14:creationId xmlns:p14="http://schemas.microsoft.com/office/powerpoint/2010/main" val="264254599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3D840-11AC-9797-8388-A46EA90A1104}"/>
            </a:ext>
          </a:extLst>
        </p:cNvPr>
        <p:cNvGrpSpPr/>
        <p:nvPr/>
      </p:nvGrpSpPr>
      <p:grpSpPr>
        <a:xfrm>
          <a:off x="0" y="0"/>
          <a:ext cx="0" cy="0"/>
          <a:chOff x="0" y="0"/>
          <a:chExt cx="0" cy="0"/>
        </a:xfrm>
      </p:grpSpPr>
    </p:spTree>
    <p:extLst>
      <p:ext uri="{BB962C8B-B14F-4D97-AF65-F5344CB8AC3E}">
        <p14:creationId xmlns:p14="http://schemas.microsoft.com/office/powerpoint/2010/main" val="371851615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79E5-1F8F-22B1-CCD9-6ACC6BE26CF5}"/>
            </a:ext>
          </a:extLst>
        </p:cNvPr>
        <p:cNvGrpSpPr/>
        <p:nvPr/>
      </p:nvGrpSpPr>
      <p:grpSpPr>
        <a:xfrm>
          <a:off x="0" y="0"/>
          <a:ext cx="0" cy="0"/>
          <a:chOff x="0" y="0"/>
          <a:chExt cx="0" cy="0"/>
        </a:xfrm>
      </p:grpSpPr>
    </p:spTree>
    <p:extLst>
      <p:ext uri="{BB962C8B-B14F-4D97-AF65-F5344CB8AC3E}">
        <p14:creationId xmlns:p14="http://schemas.microsoft.com/office/powerpoint/2010/main" val="214264402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DBA0-0EEF-21AD-8A91-43650E322C82}"/>
            </a:ext>
          </a:extLst>
        </p:cNvPr>
        <p:cNvGrpSpPr/>
        <p:nvPr/>
      </p:nvGrpSpPr>
      <p:grpSpPr>
        <a:xfrm>
          <a:off x="0" y="0"/>
          <a:ext cx="0" cy="0"/>
          <a:chOff x="0" y="0"/>
          <a:chExt cx="0" cy="0"/>
        </a:xfrm>
      </p:grpSpPr>
    </p:spTree>
    <p:extLst>
      <p:ext uri="{BB962C8B-B14F-4D97-AF65-F5344CB8AC3E}">
        <p14:creationId xmlns:p14="http://schemas.microsoft.com/office/powerpoint/2010/main" val="91632080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0CD63-C2F3-37AF-AE46-F8842A934B19}"/>
            </a:ext>
          </a:extLst>
        </p:cNvPr>
        <p:cNvGrpSpPr/>
        <p:nvPr/>
      </p:nvGrpSpPr>
      <p:grpSpPr>
        <a:xfrm>
          <a:off x="0" y="0"/>
          <a:ext cx="0" cy="0"/>
          <a:chOff x="0" y="0"/>
          <a:chExt cx="0" cy="0"/>
        </a:xfrm>
      </p:grpSpPr>
    </p:spTree>
    <p:extLst>
      <p:ext uri="{BB962C8B-B14F-4D97-AF65-F5344CB8AC3E}">
        <p14:creationId xmlns:p14="http://schemas.microsoft.com/office/powerpoint/2010/main" val="296329793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04E33-5744-E864-DCD4-0009326FE5E4}"/>
            </a:ext>
          </a:extLst>
        </p:cNvPr>
        <p:cNvGrpSpPr/>
        <p:nvPr/>
      </p:nvGrpSpPr>
      <p:grpSpPr>
        <a:xfrm>
          <a:off x="0" y="0"/>
          <a:ext cx="0" cy="0"/>
          <a:chOff x="0" y="0"/>
          <a:chExt cx="0" cy="0"/>
        </a:xfrm>
      </p:grpSpPr>
    </p:spTree>
    <p:extLst>
      <p:ext uri="{BB962C8B-B14F-4D97-AF65-F5344CB8AC3E}">
        <p14:creationId xmlns:p14="http://schemas.microsoft.com/office/powerpoint/2010/main" val="71338419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D06BD-291F-7046-4E91-D11B3BE3DC2C}"/>
            </a:ext>
          </a:extLst>
        </p:cNvPr>
        <p:cNvGrpSpPr/>
        <p:nvPr/>
      </p:nvGrpSpPr>
      <p:grpSpPr>
        <a:xfrm>
          <a:off x="0" y="0"/>
          <a:ext cx="0" cy="0"/>
          <a:chOff x="0" y="0"/>
          <a:chExt cx="0" cy="0"/>
        </a:xfrm>
      </p:grpSpPr>
    </p:spTree>
    <p:extLst>
      <p:ext uri="{BB962C8B-B14F-4D97-AF65-F5344CB8AC3E}">
        <p14:creationId xmlns:p14="http://schemas.microsoft.com/office/powerpoint/2010/main" val="31029170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349</TotalTime>
  <Words>11304</Words>
  <Application>Microsoft Office PowerPoint</Application>
  <PresentationFormat>A4 Paper (210x297 mm)</PresentationFormat>
  <Paragraphs>1097</Paragraphs>
  <Slides>172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172</vt:i4>
      </vt:variant>
    </vt:vector>
  </HeadingPairs>
  <TitlesOfParts>
    <vt:vector size="178" baseType="lpstr">
      <vt:lpstr>Aptos</vt:lpstr>
      <vt:lpstr>Aptos Display</vt:lpstr>
      <vt:lpstr>Arial</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64</cp:revision>
  <dcterms:created xsi:type="dcterms:W3CDTF">2026-02-06T21:19:28Z</dcterms:created>
  <dcterms:modified xsi:type="dcterms:W3CDTF">2026-02-22T20:51:46Z</dcterms:modified>
</cp:coreProperties>
</file>